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62"/>
  </p:notesMasterIdLst>
  <p:handoutMasterIdLst>
    <p:handoutMasterId r:id="rId63"/>
  </p:handoutMasterIdLst>
  <p:sldIdLst>
    <p:sldId id="1134" r:id="rId2"/>
    <p:sldId id="1202" r:id="rId3"/>
    <p:sldId id="1124" r:id="rId4"/>
    <p:sldId id="1125" r:id="rId5"/>
    <p:sldId id="1128" r:id="rId6"/>
    <p:sldId id="1196" r:id="rId7"/>
    <p:sldId id="1131" r:id="rId8"/>
    <p:sldId id="1103" r:id="rId9"/>
    <p:sldId id="1197" r:id="rId10"/>
    <p:sldId id="1198" r:id="rId11"/>
    <p:sldId id="1199" r:id="rId12"/>
    <p:sldId id="1200" r:id="rId13"/>
    <p:sldId id="1201" r:id="rId14"/>
    <p:sldId id="1039" r:id="rId15"/>
    <p:sldId id="1147" r:id="rId16"/>
    <p:sldId id="1148" r:id="rId17"/>
    <p:sldId id="1149" r:id="rId18"/>
    <p:sldId id="1150" r:id="rId19"/>
    <p:sldId id="1152" r:id="rId20"/>
    <p:sldId id="1153" r:id="rId21"/>
    <p:sldId id="1154" r:id="rId22"/>
    <p:sldId id="1155" r:id="rId23"/>
    <p:sldId id="1156" r:id="rId24"/>
    <p:sldId id="1157" r:id="rId25"/>
    <p:sldId id="1207" r:id="rId26"/>
    <p:sldId id="1158" r:id="rId27"/>
    <p:sldId id="1159" r:id="rId28"/>
    <p:sldId id="1160" r:id="rId29"/>
    <p:sldId id="1161" r:id="rId30"/>
    <p:sldId id="1162" r:id="rId31"/>
    <p:sldId id="1203" r:id="rId32"/>
    <p:sldId id="1164" r:id="rId33"/>
    <p:sldId id="1165" r:id="rId34"/>
    <p:sldId id="1166" r:id="rId35"/>
    <p:sldId id="1167" r:id="rId36"/>
    <p:sldId id="1168" r:id="rId37"/>
    <p:sldId id="1169" r:id="rId38"/>
    <p:sldId id="1170" r:id="rId39"/>
    <p:sldId id="1171" r:id="rId40"/>
    <p:sldId id="1172" r:id="rId41"/>
    <p:sldId id="1173" r:id="rId42"/>
    <p:sldId id="1174" r:id="rId43"/>
    <p:sldId id="1175" r:id="rId44"/>
    <p:sldId id="1204" r:id="rId45"/>
    <p:sldId id="1205" r:id="rId46"/>
    <p:sldId id="1193" r:id="rId47"/>
    <p:sldId id="1206" r:id="rId48"/>
    <p:sldId id="1178" r:id="rId49"/>
    <p:sldId id="1180" r:id="rId50"/>
    <p:sldId id="1181" r:id="rId51"/>
    <p:sldId id="1185" r:id="rId52"/>
    <p:sldId id="1186" r:id="rId53"/>
    <p:sldId id="1187" r:id="rId54"/>
    <p:sldId id="1188" r:id="rId55"/>
    <p:sldId id="1189" r:id="rId56"/>
    <p:sldId id="1190" r:id="rId57"/>
    <p:sldId id="1191" r:id="rId58"/>
    <p:sldId id="1192" r:id="rId59"/>
    <p:sldId id="1194" r:id="rId60"/>
    <p:sldId id="1195" r:id="rId6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2DE3B8"/>
    <a:srgbClr val="56E8C5"/>
    <a:srgbClr val="3BE5BD"/>
    <a:srgbClr val="35E2EB"/>
    <a:srgbClr val="00CC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309" autoAdjust="0"/>
  </p:normalViewPr>
  <p:slideViewPr>
    <p:cSldViewPr>
      <p:cViewPr>
        <p:scale>
          <a:sx n="150" d="100"/>
          <a:sy n="150" d="100"/>
        </p:scale>
        <p:origin x="133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矩形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5" name="矩形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6" name="矩形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7" name="矩形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EF99D79-75DE-49ED-8806-60820F95F5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矩形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矩形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矩形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8678" name="矩形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9" name="矩形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ED3B4BA-DCD8-4F6D-A0E0-FDE7D729BE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variable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B88314F-8330-4E4D-8D15-53C958A252E6}" type="slidenum">
              <a:rPr lang="zh-CN" altLang="en-US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8571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预测值与真实值总是存在误差的，</a:t>
            </a:r>
            <a:r>
              <a:rPr lang="zh-CN" altLang="en-US" sz="1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自然的想法是使两者的误差尽量小。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2092-480E-4C97-87D2-2B5C4EA505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369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权重系数随</a:t>
            </a:r>
            <a:r>
              <a:rPr kumimoji="1" lang="en-US" altLang="zh-CN" dirty="0"/>
              <a:t>lambda</a:t>
            </a:r>
            <a:r>
              <a:rPr kumimoji="1" lang="zh-CN" altLang="en-US" dirty="0"/>
              <a:t>变化呈山脊状，等于零时为最小二乘。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2092-480E-4C97-87D2-2B5C4EA5055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272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dirty="0"/>
              <a:t>瞬間潮了起來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062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Ignore</a:t>
            </a:r>
            <a:r>
              <a:rPr lang="en-US" altLang="zh-TW" baseline="0" dirty="0"/>
              <a:t> +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788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400" dirty="0"/>
              <a:t>You can connect the neurons by other ways you like </a:t>
            </a:r>
            <a:r>
              <a:rPr lang="en-US" altLang="zh-TW" sz="1400" dirty="0">
                <a:sym typeface="Wingdings" panose="05000000000000000000" pitchFamily="2" charset="2"/>
              </a:rPr>
              <a:t></a:t>
            </a:r>
          </a:p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1400" dirty="0">
              <a:sym typeface="Wingdings" panose="05000000000000000000" pitchFamily="2" charset="2"/>
            </a:endParaRPr>
          </a:p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400" dirty="0">
                <a:sym typeface="Wingdings" panose="05000000000000000000" pitchFamily="2" charset="2"/>
              </a:rPr>
              <a:t>How many layer is deep?</a:t>
            </a:r>
            <a:endParaRPr lang="zh-TW" altLang="en-US" sz="1400" dirty="0"/>
          </a:p>
          <a:p>
            <a:endParaRPr lang="en-US" altLang="zh-TW" sz="1400" dirty="0"/>
          </a:p>
          <a:p>
            <a:endParaRPr lang="en-US" altLang="zh-TW" sz="1400" dirty="0"/>
          </a:p>
          <a:p>
            <a:r>
              <a:rPr lang="en-US" altLang="zh-TW" sz="1400" dirty="0"/>
              <a:t>CNN just another way to connect the neuros.</a:t>
            </a:r>
            <a:endParaRPr lang="zh-TW" altLang="en-US" sz="1400" dirty="0"/>
          </a:p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1400" dirty="0">
              <a:solidFill>
                <a:srgbClr val="0000FF"/>
              </a:solidFill>
            </a:endParaRPr>
          </a:p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1400" dirty="0">
              <a:solidFill>
                <a:srgbClr val="0000FF"/>
              </a:solidFill>
            </a:endParaRPr>
          </a:p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You can always connect the neurons in your own way.</a:t>
            </a:r>
            <a:endParaRPr lang="zh-TW" altLang="en-US" sz="1400" dirty="0">
              <a:solidFill>
                <a:srgbClr val="0000FF"/>
              </a:solidFill>
            </a:endParaRPr>
          </a:p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1400" dirty="0"/>
          </a:p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1400" dirty="0"/>
          </a:p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400" dirty="0"/>
              <a:t>“+” is ignored</a:t>
            </a:r>
          </a:p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400" dirty="0"/>
              <a:t>Each dimension corresponds to a digit (10 dimension is needed)</a:t>
            </a:r>
            <a:endParaRPr lang="zh-TW" altLang="en-US" sz="14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05C0D-00F1-4D27-9FA2-F1BC4B0526DB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281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Draw it?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756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The</a:t>
            </a:r>
            <a:r>
              <a:rPr lang="en-US" altLang="zh-TW" baseline="0" dirty="0"/>
              <a:t> same approach for other cases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709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普通的神经网络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530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CD4B15-A56A-44FA-9B73-183178B7B7E2}" type="slidenum">
              <a:rPr lang="en-GB" altLang="zh-CN" smtClean="0"/>
              <a:pPr>
                <a:defRPr/>
              </a:pPr>
              <a:t>27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884199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66700" algn="l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0" dirty="0">
                <a:effectLst/>
                <a:latin typeface="Calibri"/>
                <a:ea typeface="微软雅黑"/>
                <a:cs typeface="Arial"/>
              </a:rPr>
              <a:t>这里有个简单的解决办法。我们可以</a:t>
            </a:r>
            <a:r>
              <a:rPr lang="zh-CN" altLang="zh-CN" sz="1800" b="1" kern="0" dirty="0">
                <a:solidFill>
                  <a:srgbClr val="FF0000"/>
                </a:solidFill>
                <a:effectLst/>
                <a:latin typeface="Calibri"/>
                <a:ea typeface="微软雅黑"/>
                <a:cs typeface="Arial"/>
              </a:rPr>
              <a:t>对编码器添加约束，就是强迫它产生</a:t>
            </a:r>
            <a:r>
              <a:rPr lang="zh-CN" altLang="zh-CN" sz="2400" b="1" u="sng" kern="0" dirty="0">
                <a:solidFill>
                  <a:srgbClr val="FF0000"/>
                </a:solidFill>
                <a:effectLst/>
                <a:latin typeface="Calibri"/>
                <a:ea typeface="微软雅黑"/>
                <a:cs typeface="Arial"/>
              </a:rPr>
              <a:t>服从单位高斯分布的潜在变量</a:t>
            </a:r>
            <a:r>
              <a:rPr lang="zh-CN" altLang="zh-CN" sz="1800" b="1" kern="0" dirty="0">
                <a:solidFill>
                  <a:srgbClr val="FF0000"/>
                </a:solidFill>
                <a:effectLst/>
                <a:latin typeface="Calibri"/>
                <a:ea typeface="微软雅黑"/>
                <a:cs typeface="Arial"/>
              </a:rPr>
              <a:t>。</a:t>
            </a:r>
            <a:r>
              <a:rPr lang="zh-CN" altLang="zh-CN" sz="1200" kern="0" dirty="0">
                <a:effectLst/>
                <a:latin typeface="Calibri"/>
                <a:ea typeface="微软雅黑"/>
                <a:cs typeface="Arial"/>
              </a:rPr>
              <a:t>正式这种约束，把</a:t>
            </a:r>
            <a:r>
              <a:rPr lang="en-US" altLang="zh-CN" sz="1200" kern="0" dirty="0">
                <a:effectLst/>
                <a:latin typeface="Calibri"/>
                <a:ea typeface="微软雅黑"/>
                <a:cs typeface="Arial"/>
              </a:rPr>
              <a:t>VAE</a:t>
            </a:r>
            <a:r>
              <a:rPr lang="zh-CN" altLang="zh-CN" sz="1200" kern="0" dirty="0">
                <a:effectLst/>
                <a:latin typeface="Calibri"/>
                <a:ea typeface="微软雅黑"/>
                <a:cs typeface="Arial"/>
              </a:rPr>
              <a:t>和标准自编码器给区分开来了。现在，产生新的图片也变得容易：</a:t>
            </a:r>
            <a:r>
              <a:rPr lang="zh-CN" altLang="zh-CN" sz="1200" b="1" kern="0" dirty="0">
                <a:effectLst/>
                <a:latin typeface="Calibri"/>
                <a:ea typeface="微软雅黑"/>
                <a:cs typeface="Arial"/>
              </a:rPr>
              <a:t>我们只要从单位高斯分布中进行采样，然后把它传给解码器就可以了。</a:t>
            </a:r>
            <a:r>
              <a:rPr lang="zh-CN" altLang="zh-CN" sz="1200" kern="0" dirty="0">
                <a:effectLst/>
                <a:latin typeface="Calibri"/>
                <a:ea typeface="微软雅黑"/>
                <a:cs typeface="Arial"/>
              </a:rPr>
              <a:t>事实上，我们还需要在</a:t>
            </a:r>
            <a:r>
              <a:rPr lang="zh-CN" altLang="zh-CN" sz="1800" kern="0" dirty="0">
                <a:solidFill>
                  <a:srgbClr val="FF0000"/>
                </a:solidFill>
                <a:effectLst/>
                <a:latin typeface="Calibri"/>
                <a:ea typeface="微软雅黑"/>
                <a:cs typeface="Arial"/>
              </a:rPr>
              <a:t>重构图片的精确度和单位高斯分布的拟合度上进行权衡</a:t>
            </a:r>
            <a:r>
              <a:rPr lang="zh-CN" altLang="zh-CN" sz="1800" kern="0" dirty="0">
                <a:effectLst/>
                <a:latin typeface="Calibri"/>
                <a:ea typeface="微软雅黑"/>
                <a:cs typeface="Arial"/>
              </a:rPr>
              <a:t>。</a:t>
            </a:r>
            <a:endParaRPr lang="en-US" altLang="zh-CN" sz="1800" kern="0" dirty="0">
              <a:effectLst/>
              <a:latin typeface="Calibri"/>
              <a:ea typeface="微软雅黑"/>
              <a:cs typeface="Arial"/>
            </a:endParaRPr>
          </a:p>
          <a:p>
            <a:pPr indent="266700" algn="l">
              <a:lnSpc>
                <a:spcPct val="150000"/>
              </a:lnSpc>
              <a:spcAft>
                <a:spcPts val="0"/>
              </a:spcAft>
            </a:pPr>
            <a:endParaRPr lang="en-US" altLang="zh-CN" sz="1800" kern="0" dirty="0">
              <a:effectLst/>
              <a:latin typeface="Calibri"/>
              <a:ea typeface="微软雅黑"/>
              <a:cs typeface="Arial"/>
            </a:endParaRPr>
          </a:p>
          <a:p>
            <a:pPr indent="266700" algn="l">
              <a:lnSpc>
                <a:spcPct val="150000"/>
              </a:lnSpc>
              <a:spcAft>
                <a:spcPts val="0"/>
              </a:spcAft>
            </a:pPr>
            <a:r>
              <a:rPr kumimoji="1" lang="en-US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VAE</a:t>
            </a:r>
            <a:r>
              <a:rPr kumimoji="1" lang="zh-CN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的编码器会产生两个向量</a:t>
            </a:r>
            <a:r>
              <a:rPr kumimoji="1" lang="en-US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:</a:t>
            </a:r>
            <a:r>
              <a:rPr kumimoji="1" lang="zh-CN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一个是均值向量，一个是标准差向量。</a:t>
            </a:r>
            <a:endParaRPr kumimoji="1" lang="en-US" altLang="zh-CN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indent="266700" algn="l">
              <a:lnSpc>
                <a:spcPct val="150000"/>
              </a:lnSpc>
              <a:spcAft>
                <a:spcPts val="0"/>
              </a:spcAft>
            </a:pPr>
            <a:endParaRPr kumimoji="1" lang="en-US" altLang="zh-CN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indent="266700" algn="l">
              <a:lnSpc>
                <a:spcPct val="150000"/>
              </a:lnSpc>
              <a:spcAft>
                <a:spcPts val="0"/>
              </a:spcAft>
            </a:pPr>
            <a:r>
              <a:rPr kumimoji="1" lang="zh-CN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如果某人给你一个实数的时候其实是加了高斯噪声的呢？比如你接受到了</a:t>
            </a:r>
            <a:r>
              <a:rPr kumimoji="1" lang="en-US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5.43</a:t>
            </a:r>
            <a:r>
              <a:rPr kumimoji="1" lang="zh-CN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，原始的数值可能是</a:t>
            </a:r>
            <a:r>
              <a:rPr kumimoji="1" lang="en-US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[4.4 ~ 6.4]</a:t>
            </a:r>
            <a:r>
              <a:rPr kumimoji="1" lang="zh-CN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之间的任意一个数，真实值可能是</a:t>
            </a:r>
            <a:r>
              <a:rPr kumimoji="1" lang="en-US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5.44(</a:t>
            </a:r>
            <a:r>
              <a:rPr kumimoji="1" lang="zh-CN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香蕉</a:t>
            </a:r>
            <a:r>
              <a:rPr kumimoji="1" lang="en-US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)</a:t>
            </a:r>
            <a:r>
              <a:rPr kumimoji="1" lang="zh-CN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。如果给的方差越大，那么这个平均值向量所携带的可用信息就越少。</a:t>
            </a:r>
            <a:endParaRPr lang="zh-CN" altLang="zh-CN" sz="1200" kern="100" dirty="0">
              <a:effectLst/>
              <a:latin typeface="Calibri"/>
              <a:ea typeface="+mn-ea"/>
              <a:cs typeface="Times New Roman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CD4B15-A56A-44FA-9B73-183178B7B7E2}" type="slidenum">
              <a:rPr lang="en-GB" altLang="zh-CN" smtClean="0"/>
              <a:pPr>
                <a:defRPr/>
              </a:pPr>
              <a:t>29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082972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zh-CN" sz="1200" b="1" u="sng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其隐藏代码来自于训练期间学习到的概率分布</a:t>
            </a:r>
            <a:endParaRPr kumimoji="1" lang="en-US" altLang="zh-CN" sz="1200" u="none" strike="noStrike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  <a:hlinkClick r:id="" action="ppaction://noaction"/>
            </a:endParaRPr>
          </a:p>
          <a:p>
            <a:endParaRPr kumimoji="1" lang="en-US" altLang="zh-CN" sz="1200" u="none" strike="noStrike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  <a:hlinkClick r:id="" action="ppaction://noaction"/>
            </a:endParaRPr>
          </a:p>
          <a:p>
            <a:r>
              <a:rPr kumimoji="1" lang="en-US" altLang="zh-CN" sz="1200" u="none" strike="noStrike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" action="ppaction://noaction"/>
              </a:rPr>
              <a:t>概率解释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通过假设每个参数的概率分布来</a:t>
            </a:r>
            <a:r>
              <a:rPr kumimoji="1" lang="zh-CN" altLang="zh-C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降低网络中每个参数的单个值的刚性约束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。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kumimoji="1" lang="en-US" altLang="zh-CN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例如，如果在经典神经网络中计算权重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w_i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=0.7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，在概率版本中，计算均值大约为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u_i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= 0.7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和方差为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v_i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= 0.1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的高斯分布，即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wi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=N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（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0.7,0.1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）。这个假设将输入，隐藏表示以及神经网络的输出转换为</a:t>
            </a:r>
            <a:r>
              <a:rPr kumimoji="1" lang="en-US" altLang="zh-CN" sz="120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概率随机变量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。这类网络被称为贝叶斯神经网络或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BNN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CD4B15-A56A-44FA-9B73-183178B7B7E2}" type="slidenum">
              <a:rPr lang="en-GB" altLang="zh-CN" smtClean="0"/>
              <a:pPr>
                <a:defRPr/>
              </a:pPr>
              <a:t>30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679643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卷积神经网络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0026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6945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5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/>
              <a:t>General idea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9684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To determine </a:t>
            </a:r>
            <a:r>
              <a:rPr lang="en-US" altLang="zh-TW" dirty="0" err="1"/>
              <a:t>yi</a:t>
            </a:r>
            <a:r>
              <a:rPr lang="en-US" altLang="zh-TW" dirty="0"/>
              <a:t>, you have to consider a lot ……</a:t>
            </a:r>
          </a:p>
          <a:p>
            <a:endParaRPr lang="en-US" altLang="zh-TW" dirty="0"/>
          </a:p>
          <a:p>
            <a:r>
              <a:rPr lang="en-US" altLang="zh-TW" dirty="0"/>
              <a:t>You should see</a:t>
            </a:r>
            <a:r>
              <a:rPr lang="en-US" altLang="zh-TW" baseline="0" dirty="0"/>
              <a:t> the whole sequence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111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Normal neuron</a:t>
            </a:r>
          </a:p>
          <a:p>
            <a:r>
              <a:rPr lang="en-US" altLang="zh-TW" dirty="0"/>
              <a:t>1</a:t>
            </a:r>
            <a:r>
              <a:rPr lang="en-US" altLang="zh-TW" baseline="0" dirty="0"/>
              <a:t> input, 1 output</a:t>
            </a:r>
          </a:p>
          <a:p>
            <a:endParaRPr lang="en-US" altLang="zh-TW" baseline="0" dirty="0"/>
          </a:p>
          <a:p>
            <a:r>
              <a:rPr lang="en-US" altLang="zh-TW" baseline="0" dirty="0"/>
              <a:t>This one</a:t>
            </a:r>
          </a:p>
          <a:p>
            <a:r>
              <a:rPr lang="en-US" altLang="zh-TW" baseline="0" dirty="0"/>
              <a:t>4 input, 1 output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8247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0693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8628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yu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646" y="1085555"/>
            <a:ext cx="8627897" cy="5403216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7443"/>
            <a:ext cx="9144000" cy="93610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459721"/>
      </p:ext>
    </p:extLst>
  </p:cSld>
  <p:clrMapOvr>
    <a:masterClrMapping/>
  </p:clrMapOvr>
  <p:transition spd="slow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u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77443"/>
            <a:ext cx="9144000" cy="93610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911087"/>
      </p:ext>
    </p:extLst>
  </p:cSld>
  <p:clrMapOvr>
    <a:masterClrMapping/>
  </p:clrMapOvr>
  <p:transition spd="slow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u_全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7" name="矩形 14"/>
          <p:cNvSpPr txBox="1">
            <a:spLocks noChangeArrowheads="1"/>
          </p:cNvSpPr>
          <p:nvPr userDrawn="1"/>
        </p:nvSpPr>
        <p:spPr bwMode="auto">
          <a:xfrm>
            <a:off x="7010400" y="6434062"/>
            <a:ext cx="2133600" cy="406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C3A4C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AA8CF565-2697-4D8A-9440-517CC2056E4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4900786"/>
      </p:ext>
    </p:extLst>
  </p:cSld>
  <p:clrMapOvr>
    <a:masterClrMapping/>
  </p:clrMapOvr>
  <p:transition spd="slow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yu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95325" y="1196752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66589061"/>
      </p:ext>
    </p:extLst>
  </p:cSld>
  <p:clrMapOvr>
    <a:masterClrMapping/>
  </p:clrMapOvr>
  <p:transition spd="slow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BEC4-4D9D-4E92-9D5A-C82CDCAD1803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F5071-8BAD-4070-89C4-23EA95D570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079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矩形 6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1031" name="矩形 7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1032" name="矩形 8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1033" name="矩形 9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1034" name="矩形 10"/>
          <p:cNvSpPr>
            <a:spLocks noChangeArrowheads="1"/>
          </p:cNvSpPr>
          <p:nvPr/>
        </p:nvSpPr>
        <p:spPr bwMode="gray">
          <a:xfrm>
            <a:off x="304800" y="980728"/>
            <a:ext cx="8410575" cy="46037"/>
          </a:xfrm>
          <a:prstGeom prst="rect">
            <a:avLst/>
          </a:prstGeom>
          <a:gradFill rotWithShape="1">
            <a:gsLst>
              <a:gs pos="0">
                <a:srgbClr val="800000">
                  <a:alpha val="50000"/>
                </a:srgbClr>
              </a:gs>
              <a:gs pos="100000">
                <a:srgbClr val="FAE2F6">
                  <a:alpha val="5000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pic>
        <p:nvPicPr>
          <p:cNvPr id="1035" name="图片 2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3414713"/>
            <a:ext cx="38100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 txBox="1">
            <a:spLocks noChangeArrowheads="1"/>
          </p:cNvSpPr>
          <p:nvPr userDrawn="1"/>
        </p:nvSpPr>
        <p:spPr bwMode="auto">
          <a:xfrm>
            <a:off x="7010400" y="6434062"/>
            <a:ext cx="2133600" cy="406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C3A4C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AA8CF565-2697-4D8A-9440-517CC2056E4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3" r:id="rId1"/>
    <p:sldLayoutId id="2147484566" r:id="rId2"/>
    <p:sldLayoutId id="2147484567" r:id="rId3"/>
    <p:sldLayoutId id="2147484565" r:id="rId4"/>
    <p:sldLayoutId id="2147484569" r:id="rId5"/>
  </p:sldLayoutIdLst>
  <p:transition spd="slow">
    <p:circl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0">
          <a:solidFill>
            <a:srgbClr val="FF0000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2D7693"/>
        </a:buClr>
        <a:buSzPct val="70000"/>
        <a:buFont typeface="Wingdings" panose="05000000000000000000" pitchFamily="2" charset="2"/>
        <a:buChar char="n"/>
        <a:defRPr sz="24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FC3A4C"/>
        </a:buClr>
        <a:buSzPct val="70000"/>
        <a:buFont typeface="Wingdings" panose="05000000000000000000" pitchFamily="2" charset="2"/>
        <a:buChar char="Ø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0FF"/>
        </a:buClr>
        <a:buSzPct val="7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p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p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liang.li@ict.ac.c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gif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8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14.wmf"/><Relationship Id="rId15" Type="http://schemas.openxmlformats.org/officeDocument/2006/relationships/image" Target="../media/image17.png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0.bin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slideLayout" Target="../slideLayouts/slideLayout1.xml"/><Relationship Id="rId16" Type="http://schemas.openxmlformats.org/officeDocument/2006/relationships/image" Target="NUL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wmf"/><Relationship Id="rId11" Type="http://schemas.openxmlformats.org/officeDocument/2006/relationships/image" Target="NULL"/><Relationship Id="rId5" Type="http://schemas.openxmlformats.org/officeDocument/2006/relationships/oleObject" Target="../embeddings/oleObject9.bin"/><Relationship Id="rId15" Type="http://schemas.openxmlformats.org/officeDocument/2006/relationships/image" Target="NULL"/><Relationship Id="rId10" Type="http://schemas.openxmlformats.org/officeDocument/2006/relationships/image" Target="../media/image20.wmf"/><Relationship Id="rId4" Type="http://schemas.openxmlformats.org/officeDocument/2006/relationships/image" Target="../media/image21.png"/><Relationship Id="rId9" Type="http://schemas.openxmlformats.org/officeDocument/2006/relationships/oleObject" Target="../embeddings/oleObject11.bin"/><Relationship Id="rId1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3.wmf"/><Relationship Id="rId12" Type="http://schemas.openxmlformats.org/officeDocument/2006/relationships/image" Target="NUL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11" Type="http://schemas.openxmlformats.org/officeDocument/2006/relationships/image" Target="NULL"/><Relationship Id="rId5" Type="http://schemas.openxmlformats.org/officeDocument/2006/relationships/image" Target="../media/image22.wmf"/><Relationship Id="rId10" Type="http://schemas.openxmlformats.org/officeDocument/2006/relationships/image" Target="NULL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4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6.wmf"/><Relationship Id="rId4" Type="http://schemas.openxmlformats.org/officeDocument/2006/relationships/image" Target="../media/image27.png"/><Relationship Id="rId9" Type="http://schemas.openxmlformats.org/officeDocument/2006/relationships/oleObject" Target="../embeddings/oleObject2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gif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://ufldl.stanford.edu/wiki/index.php/File:Stacked_Combined.png" TargetMode="External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hyperlink" Target="http://ufldl.stanford.edu/wiki/index.php/File:Stacked_SparseAE_Features1.pn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ufldl.stanford.edu/wiki/index.php/File:Stacked_Softmax_Classifier.png" TargetMode="External"/><Relationship Id="rId5" Type="http://schemas.openxmlformats.org/officeDocument/2006/relationships/image" Target="../media/image51.png"/><Relationship Id="rId4" Type="http://schemas.openxmlformats.org/officeDocument/2006/relationships/hyperlink" Target="http://ufldl.stanford.edu/wiki/index.php/File:Stacked_SparseAE_Features2.png" TargetMode="External"/><Relationship Id="rId9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65.png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64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tmp"/><Relationship Id="rId5" Type="http://schemas.openxmlformats.org/officeDocument/2006/relationships/image" Target="../media/image88.tmp"/><Relationship Id="rId4" Type="http://schemas.openxmlformats.org/officeDocument/2006/relationships/image" Target="../media/image87.tm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Box 3"/>
          <p:cNvSpPr txBox="1">
            <a:spLocks noChangeArrowheads="1"/>
          </p:cNvSpPr>
          <p:nvPr/>
        </p:nvSpPr>
        <p:spPr bwMode="auto">
          <a:xfrm>
            <a:off x="367867" y="1729092"/>
            <a:ext cx="842493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None/>
            </a:pPr>
            <a:r>
              <a:rPr lang="zh-CN" altLang="en-US" sz="5400" dirty="0">
                <a:solidFill>
                  <a:srgbClr val="FF0000"/>
                </a:solidFill>
                <a:latin typeface="华文中宋" panose="02010600040101010101" pitchFamily="2" charset="-122"/>
              </a:rPr>
              <a:t>第</a:t>
            </a:r>
            <a:r>
              <a:rPr lang="en-US" altLang="zh-CN" sz="5400" dirty="0">
                <a:solidFill>
                  <a:srgbClr val="FF0000"/>
                </a:solidFill>
                <a:latin typeface="华文中宋" panose="02010600040101010101" pitchFamily="2" charset="-122"/>
              </a:rPr>
              <a:t>2</a:t>
            </a:r>
            <a:r>
              <a:rPr lang="zh-CN" altLang="en-US" sz="5400" dirty="0">
                <a:solidFill>
                  <a:srgbClr val="FF0000"/>
                </a:solidFill>
                <a:latin typeface="华文中宋" panose="02010600040101010101" pitchFamily="2" charset="-122"/>
              </a:rPr>
              <a:t>讲 深度学习</a:t>
            </a:r>
          </a:p>
        </p:txBody>
      </p:sp>
      <p:sp>
        <p:nvSpPr>
          <p:cNvPr id="6" name="矩形 5"/>
          <p:cNvSpPr/>
          <p:nvPr/>
        </p:nvSpPr>
        <p:spPr>
          <a:xfrm>
            <a:off x="179512" y="337201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Aft>
                <a:spcPts val="18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大数据推荐与决策 </a:t>
            </a:r>
            <a:r>
              <a:rPr lang="en-US" altLang="zh-CN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(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二</a:t>
            </a:r>
            <a:r>
              <a:rPr lang="en-US" altLang="zh-CN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 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技术篇</a:t>
            </a:r>
            <a:endParaRPr lang="en-US" altLang="zh-CN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539552" y="3298626"/>
            <a:ext cx="8001223" cy="315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sz="5400" dirty="0">
                <a:latin typeface="华文中宋" panose="02010600040101010101" pitchFamily="2" charset="-122"/>
              </a:rPr>
              <a:t>余力 </a:t>
            </a:r>
            <a:r>
              <a:rPr lang="zh-CN" altLang="en-US" sz="4000" dirty="0">
                <a:latin typeface="华文中宋" panose="02010600040101010101" pitchFamily="2" charset="-122"/>
              </a:rPr>
              <a:t>博士</a:t>
            </a:r>
            <a:endParaRPr lang="en-US" altLang="zh-CN" sz="4000" dirty="0">
              <a:latin typeface="华文中宋" panose="02010600040101010101" pitchFamily="2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教授、博士生导师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大数据分析与智能决策实验室  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en-US" altLang="zh-CN" sz="3600" b="0" dirty="0">
                <a:latin typeface="+mn-lt"/>
              </a:rPr>
              <a:t>buaayuli@ruc.edu.cn</a:t>
            </a:r>
          </a:p>
        </p:txBody>
      </p:sp>
    </p:spTree>
    <p:extLst>
      <p:ext uri="{BB962C8B-B14F-4D97-AF65-F5344CB8AC3E}">
        <p14:creationId xmlns:p14="http://schemas.microsoft.com/office/powerpoint/2010/main" val="2383247532"/>
      </p:ext>
    </p:extLst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0" dirty="0"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2498" y="1628800"/>
            <a:ext cx="4537075" cy="4752528"/>
          </a:xfrm>
        </p:spPr>
        <p:txBody>
          <a:bodyPr/>
          <a:lstStyle/>
          <a:p>
            <a:pPr marL="571500" indent="-571500" eaLnBrk="1" hangingPunct="1">
              <a:lnSpc>
                <a:spcPct val="200000"/>
              </a:lnSpc>
              <a:buClr>
                <a:schemeClr val="tx1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3200" dirty="0"/>
              <a:t>深度学习概述</a:t>
            </a:r>
            <a:endParaRPr lang="en-US" altLang="zh-CN" sz="3200" b="0" dirty="0"/>
          </a:p>
          <a:p>
            <a:pPr marL="571500" indent="-571500" eaLnBrk="1" hangingPunct="1">
              <a:lnSpc>
                <a:spcPct val="200000"/>
              </a:lnSpc>
              <a:buClr>
                <a:schemeClr val="tx1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3200" b="0" dirty="0"/>
              <a:t>从回归说起</a:t>
            </a:r>
            <a:endParaRPr lang="en-US" altLang="zh-CN" sz="3200" b="0" dirty="0"/>
          </a:p>
          <a:p>
            <a:pPr marL="571500" indent="-571500" eaLnBrk="1" hangingPunct="1">
              <a:lnSpc>
                <a:spcPct val="200000"/>
              </a:lnSpc>
              <a:buClr>
                <a:schemeClr val="tx1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3200" b="0" dirty="0"/>
              <a:t>神经网络</a:t>
            </a:r>
            <a:endParaRPr lang="en-US" altLang="zh-CN" sz="3200" b="0" dirty="0"/>
          </a:p>
          <a:p>
            <a:pPr marL="571500" indent="-571500" eaLnBrk="1" hangingPunct="1">
              <a:lnSpc>
                <a:spcPct val="200000"/>
              </a:lnSpc>
              <a:buClr>
                <a:schemeClr val="tx1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3200" dirty="0"/>
              <a:t>经典深度学习</a:t>
            </a:r>
            <a:endParaRPr lang="en-US" altLang="zh-CN" sz="3200" b="0" dirty="0"/>
          </a:p>
        </p:txBody>
      </p:sp>
    </p:spTree>
    <p:extLst>
      <p:ext uri="{BB962C8B-B14F-4D97-AF65-F5344CB8AC3E}">
        <p14:creationId xmlns:p14="http://schemas.microsoft.com/office/powerpoint/2010/main" val="1671436299"/>
      </p:ext>
    </p:extLst>
  </p:cSld>
  <p:clrMapOvr>
    <a:masterClrMapping/>
  </p:clrMapOvr>
  <p:transition spd="slow"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深度学习概述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52451"/>
      </p:ext>
    </p:extLst>
  </p:cSld>
  <p:clrMapOvr>
    <a:masterClrMapping/>
  </p:clrMapOvr>
  <p:transition spd="slow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7443"/>
            <a:ext cx="9144000" cy="6516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 err="1"/>
              <a:t>传统机器学习</a:t>
            </a:r>
            <a:r>
              <a:rPr lang="zh-CN" altLang="en-US" spc="43" dirty="0"/>
              <a:t>与深度学习</a:t>
            </a:r>
            <a:endParaRPr spc="43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2"/>
              </a:rPr>
              <a:t> </a:t>
            </a:r>
            <a:endParaRPr spc="-4" dirty="0">
              <a:hlinkClick r:id="rId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B0D1596-C2D1-40FE-A1F9-73AFA1D50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412776"/>
            <a:ext cx="7853567" cy="491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25326"/>
      </p:ext>
    </p:extLst>
  </p:cSld>
  <p:clrMapOvr>
    <a:masterClrMapping/>
  </p:clrMapOvr>
  <p:transition spd="slow"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传统机器学</a:t>
            </a:r>
            <a:r>
              <a:rPr dirty="0"/>
              <a:t>习</a:t>
            </a:r>
            <a:r>
              <a:rPr spc="13" dirty="0"/>
              <a:t> VS</a:t>
            </a:r>
            <a:r>
              <a:rPr spc="-9" dirty="0"/>
              <a:t> </a:t>
            </a:r>
            <a:r>
              <a:rPr spc="43" dirty="0"/>
              <a:t>深度学习</a:t>
            </a:r>
          </a:p>
        </p:txBody>
      </p:sp>
      <p:sp>
        <p:nvSpPr>
          <p:cNvPr id="3" name="object 3"/>
          <p:cNvSpPr/>
          <p:nvPr/>
        </p:nvSpPr>
        <p:spPr>
          <a:xfrm>
            <a:off x="1018377" y="4941168"/>
            <a:ext cx="1893401" cy="10069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3220046" y="5515982"/>
            <a:ext cx="71132" cy="177559"/>
          </a:xfrm>
          <a:custGeom>
            <a:avLst/>
            <a:gdLst/>
            <a:ahLst/>
            <a:cxnLst/>
            <a:rect l="l" t="t" r="r" b="b"/>
            <a:pathLst>
              <a:path w="83185" h="207645">
                <a:moveTo>
                  <a:pt x="82779" y="0"/>
                </a:moveTo>
                <a:lnTo>
                  <a:pt x="0" y="0"/>
                </a:lnTo>
                <a:lnTo>
                  <a:pt x="0" y="207313"/>
                </a:lnTo>
                <a:lnTo>
                  <a:pt x="82779" y="207313"/>
                </a:lnTo>
                <a:lnTo>
                  <a:pt x="82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/>
          <p:nvPr/>
        </p:nvSpPr>
        <p:spPr>
          <a:xfrm>
            <a:off x="3042848" y="5445165"/>
            <a:ext cx="425706" cy="71132"/>
          </a:xfrm>
          <a:custGeom>
            <a:avLst/>
            <a:gdLst/>
            <a:ahLst/>
            <a:cxnLst/>
            <a:rect l="l" t="t" r="r" b="b"/>
            <a:pathLst>
              <a:path w="497839" h="83185">
                <a:moveTo>
                  <a:pt x="497222" y="0"/>
                </a:moveTo>
                <a:lnTo>
                  <a:pt x="0" y="0"/>
                </a:lnTo>
                <a:lnTo>
                  <a:pt x="0" y="82816"/>
                </a:lnTo>
                <a:lnTo>
                  <a:pt x="497222" y="82816"/>
                </a:lnTo>
                <a:lnTo>
                  <a:pt x="4972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/>
          <p:nvPr/>
        </p:nvSpPr>
        <p:spPr>
          <a:xfrm>
            <a:off x="3220046" y="5267888"/>
            <a:ext cx="71132" cy="177559"/>
          </a:xfrm>
          <a:custGeom>
            <a:avLst/>
            <a:gdLst/>
            <a:ahLst/>
            <a:cxnLst/>
            <a:rect l="l" t="t" r="r" b="b"/>
            <a:pathLst>
              <a:path w="83185" h="207645">
                <a:moveTo>
                  <a:pt x="82779" y="0"/>
                </a:moveTo>
                <a:lnTo>
                  <a:pt x="0" y="0"/>
                </a:lnTo>
                <a:lnTo>
                  <a:pt x="0" y="207314"/>
                </a:lnTo>
                <a:lnTo>
                  <a:pt x="82779" y="207314"/>
                </a:lnTo>
                <a:lnTo>
                  <a:pt x="82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/>
          <p:nvPr/>
        </p:nvSpPr>
        <p:spPr>
          <a:xfrm>
            <a:off x="3598617" y="4941169"/>
            <a:ext cx="1893416" cy="1007252"/>
          </a:xfrm>
          <a:custGeom>
            <a:avLst/>
            <a:gdLst/>
            <a:ahLst/>
            <a:cxnLst/>
            <a:rect l="l" t="t" r="r" b="b"/>
            <a:pathLst>
              <a:path w="2214245" h="1177925">
                <a:moveTo>
                  <a:pt x="0" y="1177519"/>
                </a:moveTo>
                <a:lnTo>
                  <a:pt x="2214227" y="1177519"/>
                </a:lnTo>
                <a:lnTo>
                  <a:pt x="2214227" y="0"/>
                </a:lnTo>
                <a:lnTo>
                  <a:pt x="0" y="0"/>
                </a:lnTo>
                <a:lnTo>
                  <a:pt x="0" y="1177519"/>
                </a:lnTo>
                <a:close/>
              </a:path>
            </a:pathLst>
          </a:custGeom>
          <a:solidFill>
            <a:srgbClr val="ADB9CA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8"/>
          <p:cNvSpPr txBox="1"/>
          <p:nvPr/>
        </p:nvSpPr>
        <p:spPr>
          <a:xfrm>
            <a:off x="4042520" y="5050454"/>
            <a:ext cx="1017569" cy="726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 marR="4344">
              <a:lnSpc>
                <a:spcPct val="119600"/>
              </a:lnSpc>
            </a:pPr>
            <a:r>
              <a:rPr sz="1967" b="1" spc="-9" dirty="0">
                <a:solidFill>
                  <a:srgbClr val="C00000"/>
                </a:solidFill>
                <a:latin typeface="微软雅黑"/>
                <a:cs typeface="微软雅黑"/>
              </a:rPr>
              <a:t>专家选择 深度模型</a:t>
            </a:r>
            <a:endParaRPr sz="1967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68547" y="5473747"/>
            <a:ext cx="71132" cy="177559"/>
          </a:xfrm>
          <a:custGeom>
            <a:avLst/>
            <a:gdLst/>
            <a:ahLst/>
            <a:cxnLst/>
            <a:rect l="l" t="t" r="r" b="b"/>
            <a:pathLst>
              <a:path w="83184" h="207645">
                <a:moveTo>
                  <a:pt x="82779" y="0"/>
                </a:moveTo>
                <a:lnTo>
                  <a:pt x="0" y="0"/>
                </a:lnTo>
                <a:lnTo>
                  <a:pt x="0" y="207314"/>
                </a:lnTo>
                <a:lnTo>
                  <a:pt x="82779" y="207314"/>
                </a:lnTo>
                <a:lnTo>
                  <a:pt x="82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" name="object 10"/>
          <p:cNvSpPr/>
          <p:nvPr/>
        </p:nvSpPr>
        <p:spPr>
          <a:xfrm>
            <a:off x="5591350" y="5402931"/>
            <a:ext cx="425706" cy="71132"/>
          </a:xfrm>
          <a:custGeom>
            <a:avLst/>
            <a:gdLst/>
            <a:ahLst/>
            <a:cxnLst/>
            <a:rect l="l" t="t" r="r" b="b"/>
            <a:pathLst>
              <a:path w="497840" h="83185">
                <a:moveTo>
                  <a:pt x="497222" y="0"/>
                </a:moveTo>
                <a:lnTo>
                  <a:pt x="0" y="0"/>
                </a:lnTo>
                <a:lnTo>
                  <a:pt x="0" y="82816"/>
                </a:lnTo>
                <a:lnTo>
                  <a:pt x="497222" y="82816"/>
                </a:lnTo>
                <a:lnTo>
                  <a:pt x="4972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11"/>
          <p:cNvSpPr/>
          <p:nvPr/>
        </p:nvSpPr>
        <p:spPr>
          <a:xfrm>
            <a:off x="5768547" y="5225655"/>
            <a:ext cx="71132" cy="177559"/>
          </a:xfrm>
          <a:custGeom>
            <a:avLst/>
            <a:gdLst/>
            <a:ahLst/>
            <a:cxnLst/>
            <a:rect l="l" t="t" r="r" b="b"/>
            <a:pathLst>
              <a:path w="83184" h="207645">
                <a:moveTo>
                  <a:pt x="82779" y="0"/>
                </a:moveTo>
                <a:lnTo>
                  <a:pt x="0" y="0"/>
                </a:lnTo>
                <a:lnTo>
                  <a:pt x="0" y="207313"/>
                </a:lnTo>
                <a:lnTo>
                  <a:pt x="82779" y="207313"/>
                </a:lnTo>
                <a:lnTo>
                  <a:pt x="827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12"/>
          <p:cNvSpPr/>
          <p:nvPr/>
        </p:nvSpPr>
        <p:spPr>
          <a:xfrm>
            <a:off x="6179093" y="4941168"/>
            <a:ext cx="1893416" cy="1007252"/>
          </a:xfrm>
          <a:custGeom>
            <a:avLst/>
            <a:gdLst/>
            <a:ahLst/>
            <a:cxnLst/>
            <a:rect l="l" t="t" r="r" b="b"/>
            <a:pathLst>
              <a:path w="2214245" h="1177925">
                <a:moveTo>
                  <a:pt x="0" y="1177519"/>
                </a:moveTo>
                <a:lnTo>
                  <a:pt x="2214227" y="1177519"/>
                </a:lnTo>
                <a:lnTo>
                  <a:pt x="2214227" y="0"/>
                </a:lnTo>
                <a:lnTo>
                  <a:pt x="0" y="0"/>
                </a:lnTo>
                <a:lnTo>
                  <a:pt x="0" y="1177519"/>
                </a:lnTo>
                <a:close/>
              </a:path>
            </a:pathLst>
          </a:custGeom>
          <a:solidFill>
            <a:srgbClr val="ADB9CA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13"/>
          <p:cNvSpPr txBox="1"/>
          <p:nvPr/>
        </p:nvSpPr>
        <p:spPr>
          <a:xfrm>
            <a:off x="6179093" y="4941168"/>
            <a:ext cx="1893416" cy="836689"/>
          </a:xfrm>
          <a:prstGeom prst="rect">
            <a:avLst/>
          </a:prstGeom>
        </p:spPr>
        <p:txBody>
          <a:bodyPr vert="horz" wrap="square" lIns="0" tIns="109142" rIns="0" bIns="0" rtlCol="0">
            <a:spAutoFit/>
          </a:bodyPr>
          <a:lstStyle/>
          <a:p>
            <a:pPr marL="454481" marR="436563">
              <a:lnSpc>
                <a:spcPct val="119600"/>
              </a:lnSpc>
              <a:spcBef>
                <a:spcPts val="859"/>
              </a:spcBef>
            </a:pPr>
            <a:r>
              <a:rPr sz="1967" b="1" spc="-9" dirty="0">
                <a:solidFill>
                  <a:srgbClr val="C00000"/>
                </a:solidFill>
                <a:latin typeface="微软雅黑"/>
                <a:cs typeface="微软雅黑"/>
              </a:rPr>
              <a:t>机器优化 深度模型</a:t>
            </a:r>
            <a:endParaRPr sz="1967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1560" y="1381994"/>
            <a:ext cx="7789181" cy="24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2400" b="1" spc="26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深度学习</a:t>
            </a:r>
            <a:r>
              <a:rPr sz="2400" b="1" spc="26" dirty="0">
                <a:solidFill>
                  <a:srgbClr val="558E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时代，我们这么做</a:t>
            </a:r>
            <a:r>
              <a:rPr sz="2400" b="1" dirty="0">
                <a:solidFill>
                  <a:srgbClr val="558E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…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456110">
              <a:lnSpc>
                <a:spcPct val="150000"/>
              </a:lnSpc>
              <a:spcBef>
                <a:spcPts val="3138"/>
              </a:spcBef>
            </a:pP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步骤</a:t>
            </a:r>
            <a:r>
              <a:rPr b="0" spc="-2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1</a:t>
            </a:r>
            <a:r>
              <a:rPr b="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</a:t>
            </a: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花几个星期时间收集并标注</a:t>
            </a:r>
            <a:r>
              <a:rPr b="0" spc="-13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(</a:t>
            </a: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框出狗屎位置</a:t>
            </a:r>
            <a:r>
              <a:rPr b="0" spc="-13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)</a:t>
            </a: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数万张便便图</a:t>
            </a:r>
            <a:endParaRPr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456110">
              <a:lnSpc>
                <a:spcPct val="150000"/>
              </a:lnSpc>
              <a:spcBef>
                <a:spcPts val="1385"/>
              </a:spcBef>
            </a:pP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步骤</a:t>
            </a:r>
            <a:r>
              <a:rPr b="0" spc="-2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2</a:t>
            </a:r>
            <a:r>
              <a:rPr b="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</a:t>
            </a: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花</a:t>
            </a:r>
            <a:r>
              <a:rPr b="0" spc="-1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1</a:t>
            </a: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个星期，挑几个深度模型，选几组模型超参数</a:t>
            </a:r>
            <a:endParaRPr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456110">
              <a:lnSpc>
                <a:spcPct val="150000"/>
              </a:lnSpc>
              <a:spcBef>
                <a:spcPts val="1300"/>
              </a:spcBef>
            </a:pP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步骤</a:t>
            </a:r>
            <a:r>
              <a:rPr b="0" spc="-2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3</a:t>
            </a:r>
            <a:r>
              <a:rPr b="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</a:t>
            </a: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交给</a:t>
            </a:r>
            <a:r>
              <a:rPr b="0" spc="-26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机器绞尽脑汁</a:t>
            </a: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优化学模型中的数千万</a:t>
            </a:r>
            <a:r>
              <a:rPr b="0" spc="-13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/</a:t>
            </a:r>
            <a:r>
              <a:rPr b="0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数亿权重参数</a:t>
            </a:r>
            <a:endParaRPr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21692" y="3371775"/>
            <a:ext cx="191676" cy="259008"/>
          </a:xfrm>
          <a:custGeom>
            <a:avLst/>
            <a:gdLst/>
            <a:ahLst/>
            <a:cxnLst/>
            <a:rect l="l" t="t" r="r" b="b"/>
            <a:pathLst>
              <a:path w="224154" h="302895">
                <a:moveTo>
                  <a:pt x="152401" y="57893"/>
                </a:moveTo>
                <a:lnTo>
                  <a:pt x="60753" y="57893"/>
                </a:lnTo>
                <a:lnTo>
                  <a:pt x="69604" y="59191"/>
                </a:lnTo>
                <a:lnTo>
                  <a:pt x="78413" y="62417"/>
                </a:lnTo>
                <a:lnTo>
                  <a:pt x="103841" y="90804"/>
                </a:lnTo>
                <a:lnTo>
                  <a:pt x="111874" y="136021"/>
                </a:lnTo>
                <a:lnTo>
                  <a:pt x="110945" y="152897"/>
                </a:lnTo>
                <a:lnTo>
                  <a:pt x="107015" y="174979"/>
                </a:lnTo>
                <a:lnTo>
                  <a:pt x="98890" y="206574"/>
                </a:lnTo>
                <a:lnTo>
                  <a:pt x="86569" y="247681"/>
                </a:lnTo>
                <a:lnTo>
                  <a:pt x="70051" y="298301"/>
                </a:lnTo>
                <a:lnTo>
                  <a:pt x="71696" y="302494"/>
                </a:lnTo>
                <a:lnTo>
                  <a:pt x="223697" y="242748"/>
                </a:lnTo>
                <a:lnTo>
                  <a:pt x="221419" y="230405"/>
                </a:lnTo>
                <a:lnTo>
                  <a:pt x="108488" y="230405"/>
                </a:lnTo>
                <a:lnTo>
                  <a:pt x="126332" y="188996"/>
                </a:lnTo>
                <a:lnTo>
                  <a:pt x="139850" y="153302"/>
                </a:lnTo>
                <a:lnTo>
                  <a:pt x="149042" y="123323"/>
                </a:lnTo>
                <a:lnTo>
                  <a:pt x="153908" y="99057"/>
                </a:lnTo>
                <a:lnTo>
                  <a:pt x="154972" y="83628"/>
                </a:lnTo>
                <a:lnTo>
                  <a:pt x="154311" y="68986"/>
                </a:lnTo>
                <a:lnTo>
                  <a:pt x="152401" y="57893"/>
                </a:lnTo>
                <a:close/>
              </a:path>
              <a:path w="224154" h="302895">
                <a:moveTo>
                  <a:pt x="208863" y="162358"/>
                </a:moveTo>
                <a:lnTo>
                  <a:pt x="202007" y="165053"/>
                </a:lnTo>
                <a:lnTo>
                  <a:pt x="201129" y="175516"/>
                </a:lnTo>
                <a:lnTo>
                  <a:pt x="199892" y="182637"/>
                </a:lnTo>
                <a:lnTo>
                  <a:pt x="164298" y="208469"/>
                </a:lnTo>
                <a:lnTo>
                  <a:pt x="108488" y="230405"/>
                </a:lnTo>
                <a:lnTo>
                  <a:pt x="221419" y="230405"/>
                </a:lnTo>
                <a:lnTo>
                  <a:pt x="208863" y="162358"/>
                </a:lnTo>
                <a:close/>
              </a:path>
              <a:path w="224154" h="302895">
                <a:moveTo>
                  <a:pt x="81926" y="0"/>
                </a:moveTo>
                <a:lnTo>
                  <a:pt x="39527" y="11990"/>
                </a:lnTo>
                <a:lnTo>
                  <a:pt x="10905" y="42212"/>
                </a:lnTo>
                <a:lnTo>
                  <a:pt x="0" y="89224"/>
                </a:lnTo>
                <a:lnTo>
                  <a:pt x="901" y="108610"/>
                </a:lnTo>
                <a:lnTo>
                  <a:pt x="8920" y="108317"/>
                </a:lnTo>
                <a:lnTo>
                  <a:pt x="12799" y="91973"/>
                </a:lnTo>
                <a:lnTo>
                  <a:pt x="19761" y="78651"/>
                </a:lnTo>
                <a:lnTo>
                  <a:pt x="29805" y="68353"/>
                </a:lnTo>
                <a:lnTo>
                  <a:pt x="42930" y="61077"/>
                </a:lnTo>
                <a:lnTo>
                  <a:pt x="51862" y="58522"/>
                </a:lnTo>
                <a:lnTo>
                  <a:pt x="60753" y="57893"/>
                </a:lnTo>
                <a:lnTo>
                  <a:pt x="152401" y="57893"/>
                </a:lnTo>
                <a:lnTo>
                  <a:pt x="151925" y="55132"/>
                </a:lnTo>
                <a:lnTo>
                  <a:pt x="126971" y="15836"/>
                </a:lnTo>
                <a:lnTo>
                  <a:pt x="91806" y="735"/>
                </a:lnTo>
                <a:lnTo>
                  <a:pt x="819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4112356927"/>
      </p:ext>
    </p:extLst>
  </p:cSld>
  <p:clrMapOvr>
    <a:masterClrMapping/>
  </p:clrMapOvr>
  <p:transition spd="slow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3084770" y="3195880"/>
            <a:ext cx="1841326" cy="468900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</a:rPr>
              <a:t>Auto-Encoder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42522" y="3212976"/>
            <a:ext cx="86409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NN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566658" y="3212976"/>
            <a:ext cx="86409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MLP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104688" y="2286323"/>
            <a:ext cx="86409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</a:rPr>
              <a:t>RNN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432120" y="2281461"/>
            <a:ext cx="86409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</a:rPr>
              <a:t>LSTM</a:t>
            </a:r>
            <a:endParaRPr lang="zh-CN" altLang="en-US" sz="2000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797394" y="2276872"/>
            <a:ext cx="1181844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</a:rPr>
              <a:t>Seq2Seq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121274" y="4077072"/>
            <a:ext cx="86409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</a:rPr>
              <a:t>CNN</a:t>
            </a:r>
            <a:endParaRPr lang="zh-CN" altLang="en-US" sz="2000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3152214" y="4941168"/>
            <a:ext cx="101267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</a:rPr>
              <a:t>GAN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104688" y="1412776"/>
            <a:ext cx="1253281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</a:rPr>
              <a:t>Attention</a:t>
            </a:r>
            <a:endParaRPr lang="zh-CN" altLang="en-US" sz="2000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4814753" y="1412776"/>
            <a:ext cx="158417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</a:rPr>
              <a:t>Transformer</a:t>
            </a:r>
            <a:endParaRPr lang="zh-CN" altLang="en-US" sz="2000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148064" y="3217838"/>
            <a:ext cx="808087" cy="427186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DAE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7164288" y="3217838"/>
            <a:ext cx="808087" cy="427186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VAR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7" name="直接箭头连接符 16"/>
          <p:cNvCxnSpPr>
            <a:stCxn id="6" idx="3"/>
            <a:endCxn id="7" idx="1"/>
          </p:cNvCxnSpPr>
          <p:nvPr/>
        </p:nvCxnSpPr>
        <p:spPr bwMode="auto">
          <a:xfrm flipV="1">
            <a:off x="2430754" y="2502347"/>
            <a:ext cx="673934" cy="926653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6" idx="3"/>
            <a:endCxn id="4" idx="1"/>
          </p:cNvCxnSpPr>
          <p:nvPr/>
        </p:nvCxnSpPr>
        <p:spPr bwMode="auto">
          <a:xfrm>
            <a:off x="2430754" y="3429000"/>
            <a:ext cx="654016" cy="1330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6" idx="3"/>
            <a:endCxn id="11" idx="1"/>
          </p:cNvCxnSpPr>
          <p:nvPr/>
        </p:nvCxnSpPr>
        <p:spPr bwMode="auto">
          <a:xfrm>
            <a:off x="2430754" y="3429000"/>
            <a:ext cx="721460" cy="1728192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5" idx="3"/>
            <a:endCxn id="6" idx="1"/>
          </p:cNvCxnSpPr>
          <p:nvPr/>
        </p:nvCxnSpPr>
        <p:spPr bwMode="auto">
          <a:xfrm>
            <a:off x="1206618" y="3429000"/>
            <a:ext cx="360040" cy="0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 bwMode="auto">
          <a:xfrm>
            <a:off x="4427984" y="4077072"/>
            <a:ext cx="1434151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36000" rIns="91440" bIns="108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</a:rPr>
              <a:t>Text-CNN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6156176" y="3217838"/>
            <a:ext cx="808087" cy="427186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SAE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48" name="直接连接符 47"/>
          <p:cNvCxnSpPr>
            <a:stCxn id="8" idx="3"/>
            <a:endCxn id="9" idx="1"/>
          </p:cNvCxnSpPr>
          <p:nvPr/>
        </p:nvCxnSpPr>
        <p:spPr bwMode="auto">
          <a:xfrm flipV="1">
            <a:off x="5296216" y="2492896"/>
            <a:ext cx="501178" cy="4589"/>
          </a:xfrm>
          <a:prstGeom prst="line">
            <a:avLst/>
          </a:prstGeom>
          <a:ln>
            <a:headEnd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7" idx="3"/>
            <a:endCxn id="8" idx="1"/>
          </p:cNvCxnSpPr>
          <p:nvPr/>
        </p:nvCxnSpPr>
        <p:spPr bwMode="auto">
          <a:xfrm flipV="1">
            <a:off x="3968784" y="2497485"/>
            <a:ext cx="463336" cy="4862"/>
          </a:xfrm>
          <a:prstGeom prst="line">
            <a:avLst/>
          </a:prstGeom>
          <a:ln>
            <a:headEnd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10" idx="3"/>
            <a:endCxn id="20" idx="1"/>
          </p:cNvCxnSpPr>
          <p:nvPr/>
        </p:nvCxnSpPr>
        <p:spPr bwMode="auto">
          <a:xfrm>
            <a:off x="3985370" y="4293096"/>
            <a:ext cx="442614" cy="0"/>
          </a:xfrm>
          <a:prstGeom prst="line">
            <a:avLst/>
          </a:prstGeom>
          <a:ln>
            <a:headEnd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12" idx="3"/>
            <a:endCxn id="13" idx="1"/>
          </p:cNvCxnSpPr>
          <p:nvPr/>
        </p:nvCxnSpPr>
        <p:spPr bwMode="auto">
          <a:xfrm>
            <a:off x="4357969" y="1628800"/>
            <a:ext cx="456784" cy="0"/>
          </a:xfrm>
          <a:prstGeom prst="line">
            <a:avLst/>
          </a:prstGeom>
          <a:ln>
            <a:headEnd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stCxn id="6" idx="3"/>
            <a:endCxn id="10" idx="1"/>
          </p:cNvCxnSpPr>
          <p:nvPr/>
        </p:nvCxnSpPr>
        <p:spPr bwMode="auto">
          <a:xfrm>
            <a:off x="2430754" y="3429000"/>
            <a:ext cx="690520" cy="864096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6" idx="3"/>
            <a:endCxn id="12" idx="1"/>
          </p:cNvCxnSpPr>
          <p:nvPr/>
        </p:nvCxnSpPr>
        <p:spPr bwMode="auto">
          <a:xfrm flipV="1">
            <a:off x="2430754" y="1628800"/>
            <a:ext cx="673934" cy="1800200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 bwMode="auto">
          <a:xfrm>
            <a:off x="3152214" y="5805264"/>
            <a:ext cx="86409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</a:rPr>
              <a:t>RL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</a:endParaRPr>
          </a:p>
        </p:txBody>
      </p:sp>
      <p:sp>
        <p:nvSpPr>
          <p:cNvPr id="53" name="矩形 52"/>
          <p:cNvSpPr/>
          <p:nvPr/>
        </p:nvSpPr>
        <p:spPr bwMode="auto">
          <a:xfrm>
            <a:off x="4577961" y="4941168"/>
            <a:ext cx="86409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TL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5" name="直接箭头连接符 54"/>
          <p:cNvCxnSpPr>
            <a:stCxn id="6" idx="3"/>
            <a:endCxn id="33" idx="1"/>
          </p:cNvCxnSpPr>
          <p:nvPr/>
        </p:nvCxnSpPr>
        <p:spPr bwMode="auto">
          <a:xfrm>
            <a:off x="2430754" y="3429000"/>
            <a:ext cx="721460" cy="2592288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4" idx="3"/>
            <a:endCxn id="14" idx="1"/>
          </p:cNvCxnSpPr>
          <p:nvPr/>
        </p:nvCxnSpPr>
        <p:spPr bwMode="auto">
          <a:xfrm>
            <a:off x="4926096" y="3430330"/>
            <a:ext cx="221968" cy="1101"/>
          </a:xfrm>
          <a:prstGeom prst="line">
            <a:avLst/>
          </a:prstGeom>
          <a:ln>
            <a:headEnd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14" idx="3"/>
            <a:endCxn id="25" idx="1"/>
          </p:cNvCxnSpPr>
          <p:nvPr/>
        </p:nvCxnSpPr>
        <p:spPr bwMode="auto">
          <a:xfrm>
            <a:off x="5956151" y="3431431"/>
            <a:ext cx="200025" cy="0"/>
          </a:xfrm>
          <a:prstGeom prst="line">
            <a:avLst/>
          </a:prstGeom>
          <a:ln>
            <a:headEnd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25" idx="3"/>
            <a:endCxn id="15" idx="1"/>
          </p:cNvCxnSpPr>
          <p:nvPr/>
        </p:nvCxnSpPr>
        <p:spPr bwMode="auto">
          <a:xfrm>
            <a:off x="6964263" y="3431431"/>
            <a:ext cx="200025" cy="0"/>
          </a:xfrm>
          <a:prstGeom prst="line">
            <a:avLst/>
          </a:prstGeom>
          <a:ln>
            <a:headEnd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 bwMode="auto">
          <a:xfrm>
            <a:off x="4510198" y="5805264"/>
            <a:ext cx="931859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36000" rIns="91440" bIns="108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</a:rPr>
              <a:t>DQN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</a:endParaRPr>
          </a:p>
        </p:txBody>
      </p:sp>
      <p:cxnSp>
        <p:nvCxnSpPr>
          <p:cNvPr id="73" name="直接连接符 72"/>
          <p:cNvCxnSpPr>
            <a:endCxn id="72" idx="1"/>
          </p:cNvCxnSpPr>
          <p:nvPr/>
        </p:nvCxnSpPr>
        <p:spPr bwMode="auto">
          <a:xfrm>
            <a:off x="4016310" y="6021288"/>
            <a:ext cx="493888" cy="0"/>
          </a:xfrm>
          <a:prstGeom prst="line">
            <a:avLst/>
          </a:prstGeom>
          <a:ln>
            <a:headEnd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標題 1"/>
          <p:cNvSpPr txBox="1">
            <a:spLocks/>
          </p:cNvSpPr>
          <p:nvPr/>
        </p:nvSpPr>
        <p:spPr>
          <a:xfrm>
            <a:off x="0" y="260648"/>
            <a:ext cx="9144000" cy="62399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zh-CN" altLang="en-US" sz="3200" b="0" kern="0" dirty="0">
                <a:effectLst/>
                <a:latin typeface="微软雅黑" pitchFamily="34" charset="-122"/>
                <a:ea typeface="微软雅黑" pitchFamily="34" charset="-122"/>
              </a:rPr>
              <a:t>深度学习技术概览</a:t>
            </a:r>
            <a:endParaRPr lang="zh-TW" altLang="en-US" sz="3200" b="0" kern="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6390367" y="4073441"/>
            <a:ext cx="86409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GNN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8172400" y="3226350"/>
            <a:ext cx="864096" cy="432048"/>
          </a:xfrm>
          <a:prstGeom prst="rect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RBM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474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从回归说起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08722"/>
      </p:ext>
    </p:extLst>
  </p:cSld>
  <p:clrMapOvr>
    <a:masterClrMapping/>
  </p:clrMapOvr>
  <p:transition spd="slow"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99761" y="262389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6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sz="3200" dirty="0"/>
              <a:t>一个简单的例子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16721"/>
            <a:ext cx="8280920" cy="529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31959"/>
      </p:ext>
    </p:extLst>
  </p:cSld>
  <p:clrMapOvr>
    <a:masterClrMapping/>
  </p:clrMapOvr>
  <p:transition advTm="0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51519" y="1556792"/>
                <a:ext cx="5034539" cy="3647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线性回归：寻找</a:t>
                </a:r>
                <a:r>
                  <a:rPr lang="en-US" altLang="zh-CN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之间的关系</a:t>
                </a:r>
                <a:endPara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微软雅黑" panose="020B0503020204020204" pitchFamily="34" charset="-122"/>
                        </a:rPr>
                        <m:t>𝑌</m:t>
                      </m:r>
                      <m:r>
                        <a:rPr lang="mr-IN" altLang="zh-CN" sz="24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∗</m:t>
                      </m:r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策略：误差平方和最小化准则：</a:t>
                </a:r>
                <a:endPara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charset="0"/>
                        <a:ea typeface="微软雅黑" panose="020B0503020204020204" pitchFamily="34" charset="-122"/>
                      </a:rPr>
                      <m:t>𝑱</m:t>
                    </m:r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)=</m:t>
                    </m:r>
                    <m:f>
                      <m:fPr>
                        <m:ctrlPr>
                          <a:rPr lang="mr-IN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nary>
                      <m:naryPr>
                        <m:chr m:val="∑"/>
                        <m:ctrlPr>
                          <a:rPr lang="is-I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charset="0"/>
                            <a:ea typeface="微软雅黑" panose="020B0503020204020204" pitchFamily="34" charset="-122"/>
                          </a:rPr>
                          <m:t>𝒎</m:t>
                        </m:r>
                      </m:sup>
                      <m:e>
                        <m:d>
                          <m:dPr>
                            <m:begChr m:val="（"/>
                            <m:endChr m:val="）"/>
                            <m:ctrlPr>
                              <a:rPr lang="zh-CN" altLang="en-US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1" i="1" dirty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微软雅黑" panose="020B0503020204020204" pitchFamily="34" charset="-122"/>
                                  </a:rPr>
                                  <m:t>𝒀</m:t>
                                </m:r>
                              </m:e>
                            </m:acc>
                            <m:r>
                              <a:rPr lang="zh-CN" altLang="en-US" sz="2400" b="1" i="1" baseline="30000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微软雅黑" panose="020B0503020204020204" pitchFamily="34" charset="-122"/>
                              </a:rPr>
                              <m:t>（</m:t>
                            </m:r>
                            <m:r>
                              <a:rPr lang="en-US" altLang="zh-CN" sz="2400" b="1" i="1" baseline="30000" dirty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  <m:r>
                              <a:rPr lang="zh-CN" altLang="en-US" sz="2400" b="1" i="1" baseline="30000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微软雅黑" panose="020B0503020204020204" pitchFamily="34" charset="-122"/>
                              </a:rPr>
                              <m:t>）</m:t>
                            </m:r>
                            <m:r>
                              <a:rPr lang="en-US" altLang="zh-CN" sz="2400" b="1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微软雅黑" panose="020B0503020204020204" pitchFamily="34" charset="-122"/>
                              </a:rPr>
                              <m:t>𝒀</m:t>
                            </m:r>
                            <m:r>
                              <a:rPr lang="zh-CN" altLang="en-US" sz="2400" b="1" i="1" baseline="30000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微软雅黑" panose="020B0503020204020204" pitchFamily="34" charset="-122"/>
                              </a:rPr>
                              <m:t>（</m:t>
                            </m:r>
                            <m:r>
                              <a:rPr lang="en-US" altLang="zh-CN" sz="2400" b="1" i="1" baseline="30000" dirty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  <m:r>
                              <a:rPr lang="zh-CN" altLang="en-US" sz="2400" b="1" i="1" baseline="30000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微软雅黑" panose="020B0503020204020204" pitchFamily="34" charset="-122"/>
                              </a:rPr>
                              <m:t>）</m:t>
                            </m:r>
                          </m:e>
                        </m:d>
                        <m:r>
                          <a:rPr lang="en-US" altLang="zh-CN" sz="2400" b="1" i="1" baseline="30000" dirty="0" smtClean="0">
                            <a:solidFill>
                              <a:schemeClr val="tx1"/>
                            </a:solidFill>
                            <a:latin typeface="Cambria Math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nary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微软雅黑" panose="020B0503020204020204" pitchFamily="34" charset="-122"/>
                            </a:rPr>
                            <m:t>𝒎𝒊𝒏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tx1"/>
                          </a:solidFill>
                          <a:latin typeface="Cambria Math" charset="0"/>
                          <a:ea typeface="微软雅黑" panose="020B0503020204020204" pitchFamily="34" charset="-122"/>
                        </a:rPr>
                        <m:t>  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微软雅黑" panose="020B0503020204020204" pitchFamily="34" charset="-122"/>
                            </a:rPr>
                            <m:t>𝑱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sub>
                      </m:sSub>
                    </m:oMath>
                  </m:oMathPara>
                </a14:m>
                <a:endParaRPr lang="en-US" altLang="zh-CN" baseline="-25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19" y="1556792"/>
                <a:ext cx="5034539" cy="3647217"/>
              </a:xfrm>
              <a:prstGeom prst="rect">
                <a:avLst/>
              </a:prstGeom>
              <a:blipFill>
                <a:blip r:embed="rId3"/>
                <a:stretch>
                  <a:fillRect l="-15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云形标注 2"/>
          <p:cNvSpPr/>
          <p:nvPr/>
        </p:nvSpPr>
        <p:spPr>
          <a:xfrm>
            <a:off x="5654972" y="1556792"/>
            <a:ext cx="2881931" cy="904137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800" dirty="0"/>
              <a:t>理想的拟合直线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140968"/>
            <a:ext cx="3973778" cy="28803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59917" y="24908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6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sz="3200" dirty="0"/>
              <a:t>线性回归</a:t>
            </a:r>
          </a:p>
        </p:txBody>
      </p:sp>
    </p:spTree>
    <p:extLst>
      <p:ext uri="{BB962C8B-B14F-4D97-AF65-F5344CB8AC3E}">
        <p14:creationId xmlns:p14="http://schemas.microsoft.com/office/powerpoint/2010/main" val="3582536460"/>
      </p:ext>
    </p:extLst>
  </p:cSld>
  <p:clrMapOvr>
    <a:masterClrMapping/>
  </p:clrMapOvr>
  <p:transition advTm="0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04949" y="25371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6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sz="3200" dirty="0"/>
              <a:t>最小二乘算法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93524" y="5094642"/>
                <a:ext cx="3854549" cy="1008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charset="0"/>
                        </a:rPr>
                        <m:t>𝐽</m:t>
                      </m:r>
                      <m:d>
                        <m:dPr>
                          <m:begChr m:val="（"/>
                          <m:endChr m:val="）"/>
                          <m:ctrlPr>
                            <a:rPr kumimoji="1"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sz="2400" i="1">
                              <a:latin typeface="Cambria Math" charset="0"/>
                            </a:rPr>
                            <m:t>B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kumimoji="1" lang="mr-IN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is-I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4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sz="2400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kumimoji="1"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400" b="0" i="1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2400" b="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24" y="5094642"/>
                <a:ext cx="3854549" cy="1008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6476" y="2670434"/>
                <a:ext cx="4188647" cy="838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kumimoji="1" lang="mr-IN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>
                              <a:latin typeface="Cambria Math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b="1" i="1">
                              <a:latin typeface="Cambria Math" charset="0"/>
                            </a:rPr>
                            <m:t>𝟐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is-I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1" i="1">
                              <a:latin typeface="Cambria Math" charset="0"/>
                            </a:rPr>
                            <m:t>𝒊</m:t>
                          </m:r>
                          <m:r>
                            <a:rPr kumimoji="1" lang="en-US" altLang="zh-CN" b="1" i="1">
                              <a:latin typeface="Cambria Math" charset="0"/>
                            </a:rPr>
                            <m:t>=</m:t>
                          </m:r>
                          <m:r>
                            <a:rPr kumimoji="1" lang="en-US" altLang="zh-CN" b="1" i="1">
                              <a:latin typeface="Cambria Math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b="1" i="1">
                              <a:latin typeface="Cambria Math" charset="0"/>
                            </a:rPr>
                            <m:t>𝒎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1" i="1" smtClean="0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kumimoji="1" lang="en-US" altLang="zh-CN" b="1" i="1" smtClean="0">
                                  <a:latin typeface="Cambria Math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𝟏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kumimoji="1"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b="1" i="1" smtClean="0">
                                      <a:latin typeface="Cambria Math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1" lang="en-US" altLang="zh-CN" b="1" i="1" smtClean="0">
                                      <a:latin typeface="Cambria Math" charset="0"/>
                                    </a:rPr>
                                    <m:t>𝟏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kumimoji="1"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b="1" i="1" smtClean="0">
                                          <a:latin typeface="Cambria Math" charset="0"/>
                                        </a:rPr>
                                        <m:t>𝒊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kumimoji="1" lang="en-US" altLang="zh-CN" b="1" i="1" smtClean="0">
                                  <a:latin typeface="Cambria Math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solidFill>
                                        <a:prstClr val="black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𝟐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kumimoji="1"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b="1" i="1" smtClean="0">
                                      <a:latin typeface="Cambria Math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1" lang="en-US" altLang="zh-CN" b="1" i="1" smtClean="0">
                                      <a:latin typeface="Cambria Math" charset="0"/>
                                    </a:rPr>
                                    <m:t>𝟐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kumimoji="1"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b="1" i="1" smtClean="0">
                                          <a:latin typeface="Cambria Math" charset="0"/>
                                        </a:rPr>
                                        <m:t>𝒊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kumimoji="1" lang="en-US" altLang="zh-CN" b="1" i="1" smtClean="0">
                                  <a:latin typeface="Cambria Math" charset="0"/>
                                </a:rPr>
                                <m:t> −</m:t>
                              </m:r>
                              <m:sSup>
                                <m:sSupPr>
                                  <m:ctrlPr>
                                    <a:rPr kumimoji="1"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b="1" i="1">
                                      <a:latin typeface="Cambria Math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kumimoji="1" lang="en-US" altLang="zh-CN" b="1" i="1" smtClean="0">
                                      <a:latin typeface="Cambria Math" charset="0"/>
                                    </a:rPr>
                                    <m:t>(</m:t>
                                  </m:r>
                                  <m:r>
                                    <a:rPr kumimoji="1" lang="en-US" altLang="zh-CN" b="1" i="1" smtClean="0">
                                      <a:latin typeface="Cambria Math" charset="0"/>
                                    </a:rPr>
                                    <m:t>𝒊</m:t>
                                  </m:r>
                                  <m:r>
                                    <a:rPr kumimoji="1" lang="en-US" altLang="zh-CN" b="1" i="1" smtClean="0">
                                      <a:latin typeface="Cambria Math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kumimoji="1" lang="en-US" altLang="zh-CN" b="1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b="1" i="1" smtClean="0">
                                  <a:latin typeface="Cambria Math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6" y="2670434"/>
                <a:ext cx="4188647" cy="8388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12996" y="2597521"/>
                <a:ext cx="4542013" cy="1125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800" i="1">
                              <a:latin typeface="Cambria Math" charset="0"/>
                            </a:rPr>
                            <m:t>𝐽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zh-CN" sz="1800" i="1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180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800" i="1">
                              <a:latin typeface="Cambria Math" charset="0"/>
                            </a:rPr>
                            <m:t>𝑖</m:t>
                          </m:r>
                          <m:r>
                            <a:rPr kumimoji="1" lang="en-US" altLang="zh-CN" sz="18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1800" i="1">
                              <a:latin typeface="Cambria Math" charset="0"/>
                            </a:rPr>
                            <m:t>m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kumimoji="1" lang="en-US" altLang="zh-CN" sz="1800" i="1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CN" sz="1800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sz="1800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sz="1800" i="1">
                              <a:latin typeface="Cambria Math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1800" i="1">
                                  <a:latin typeface="Cambria Math" charset="0"/>
                                </a:rPr>
                                <m:t>y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US" altLang="zh-CN" sz="1800" i="1">
                              <a:latin typeface="Cambria Math" charset="0"/>
                            </a:rPr>
                            <m:t>)</m:t>
                          </m:r>
                        </m:e>
                      </m:nary>
                      <m:r>
                        <m:rPr>
                          <m:nor/>
                        </m:rPr>
                        <a:rPr kumimoji="1"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996" y="2597521"/>
                <a:ext cx="4542013" cy="1125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543908" y="3861048"/>
                <a:ext cx="4542013" cy="1125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800" i="1">
                              <a:latin typeface="Cambria Math" charset="0"/>
                            </a:rPr>
                            <m:t>𝐽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zh-CN" sz="1800" i="1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180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800" i="1">
                              <a:latin typeface="Cambria Math" charset="0"/>
                            </a:rPr>
                            <m:t>𝑖</m:t>
                          </m:r>
                          <m:r>
                            <a:rPr kumimoji="1" lang="en-US" altLang="zh-CN" sz="18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1800" i="1">
                              <a:latin typeface="Cambria Math" charset="0"/>
                            </a:rPr>
                            <m:t>m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kumimoji="1" lang="en-US" altLang="zh-CN" sz="1800" i="1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CN" sz="1800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sz="1800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sz="1800" i="1">
                              <a:latin typeface="Cambria Math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1800" i="1">
                                  <a:latin typeface="Cambria Math" charset="0"/>
                                </a:rPr>
                                <m:t>y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US" altLang="zh-CN" sz="1800" i="1">
                              <a:latin typeface="Cambria Math" charset="0"/>
                            </a:rPr>
                            <m:t>)</m:t>
                          </m:r>
                        </m:e>
                      </m:nary>
                      <m:r>
                        <m:rPr>
                          <m:nor/>
                        </m:rPr>
                        <a:rPr kumimoji="1"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08" y="3861048"/>
                <a:ext cx="4542013" cy="1125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4543908" y="1350317"/>
                <a:ext cx="4451021" cy="1125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800" i="1">
                              <a:latin typeface="Cambria Math" charset="0"/>
                            </a:rPr>
                            <m:t>𝐽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b="0" i="1" smtClean="0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zh-CN" sz="1800" i="1">
                              <a:latin typeface="Cambria Math" charset="0"/>
                            </a:rPr>
                            <m:t>′</m:t>
                          </m:r>
                        </m:sup>
                      </m:sSubSup>
                      <m:r>
                        <a:rPr kumimoji="1" lang="en-US" altLang="zh-CN" sz="180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is-I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800" i="1">
                              <a:latin typeface="Cambria Math" charset="0"/>
                            </a:rPr>
                            <m:t>𝑖</m:t>
                          </m:r>
                          <m:r>
                            <a:rPr kumimoji="1" lang="en-US" altLang="zh-CN" sz="18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1800" i="1">
                              <a:latin typeface="Cambria Math" charset="0"/>
                            </a:rPr>
                            <m:t>m</m:t>
                          </m:r>
                        </m:sup>
                        <m:e>
                          <m:r>
                            <a:rPr kumimoji="1" lang="en-US" altLang="zh-CN" sz="1800" i="1" smtClean="0">
                              <a:latin typeface="Cambria Math" charset="0"/>
                            </a:rPr>
                            <m:t> </m:t>
                          </m:r>
                          <m:r>
                            <a:rPr kumimoji="1" lang="en-US" altLang="zh-CN" sz="1800" i="1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en-US" altLang="zh-CN" sz="1800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sz="1800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kumimoji="1" lang="en-US" altLang="zh-CN" sz="1800" i="1">
                              <a:latin typeface="Cambria Math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1800" i="1">
                                  <a:latin typeface="Cambria Math" charset="0"/>
                                </a:rPr>
                                <m:t>y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1800" i="1">
                                      <a:latin typeface="Cambria Math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kumimoji="1" lang="en-US" altLang="zh-CN" sz="1800" i="1">
                              <a:latin typeface="Cambria Math" charset="0"/>
                            </a:rPr>
                            <m:t>)</m:t>
                          </m:r>
                        </m:e>
                      </m:nary>
                      <m:r>
                        <m:rPr>
                          <m:nor/>
                        </m:rPr>
                        <a:rPr kumimoji="1"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908" y="1350317"/>
                <a:ext cx="4451021" cy="11255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右箭头 11"/>
          <p:cNvSpPr/>
          <p:nvPr/>
        </p:nvSpPr>
        <p:spPr>
          <a:xfrm rot="16200000">
            <a:off x="1650663" y="4010897"/>
            <a:ext cx="937114" cy="1014317"/>
          </a:xfrm>
          <a:prstGeom prst="rightArrow">
            <a:avLst>
              <a:gd name="adj1" fmla="val 50000"/>
              <a:gd name="adj2" fmla="val 5139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651827" y="5895070"/>
                <a:ext cx="2624287" cy="6695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mr-IN" altLang="zh-CN" sz="24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mr-IN" altLang="zh-CN" sz="2400" i="1" dirty="0" smtClean="0">
                              <a:solidFill>
                                <a:prstClr val="black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acc>
                      <m:r>
                        <a:rPr lang="mr-IN" altLang="zh-CN" sz="2400" dirty="0">
                          <a:solidFill>
                            <a:prstClr val="black"/>
                          </a:solidFill>
                          <a:latin typeface="Cambria Math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mr-IN" altLang="zh-CN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dirty="0">
                              <a:solidFill>
                                <a:prstClr val="black"/>
                              </a:solidFill>
                              <a:latin typeface="Cambria Math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solidFill>
                                    <a:prstClr val="black"/>
                                  </a:solidFill>
                                  <a:latin typeface="Cambria Math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altLang="zh-CN" sz="2400" dirty="0">
                                  <a:solidFill>
                                    <a:prstClr val="black"/>
                                  </a:solidFill>
                                  <a:latin typeface="Cambria Math" charset="0"/>
                                  <a:ea typeface="微软雅黑" panose="020B0503020204020204" pitchFamily="34" charset="-122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prstClr val="black"/>
                              </a:solidFill>
                              <a:latin typeface="Cambria Math" charset="0"/>
                              <a:ea typeface="微软雅黑" panose="020B0503020204020204" pitchFamily="34" charset="-122"/>
                            </a:rPr>
                            <m:t>X</m:t>
                          </m:r>
                          <m:r>
                            <a:rPr lang="en-US" altLang="zh-CN" sz="2400" dirty="0">
                              <a:solidFill>
                                <a:prstClr val="black"/>
                              </a:solidFill>
                              <a:latin typeface="Cambria Math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dirty="0">
                              <a:solidFill>
                                <a:prstClr val="black"/>
                              </a:solidFill>
                              <a:latin typeface="Cambria Math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mr-IN" altLang="zh-CN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dirty="0">
                              <a:solidFill>
                                <a:prstClr val="black"/>
                              </a:solidFill>
                              <a:latin typeface="Cambria Math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dirty="0">
                              <a:solidFill>
                                <a:prstClr val="black"/>
                              </a:solidFill>
                              <a:latin typeface="Cambria Math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dirty="0">
                          <a:solidFill>
                            <a:prstClr val="black"/>
                          </a:solidFill>
                          <a:latin typeface="Cambria Math" charset="0"/>
                          <a:ea typeface="微软雅黑" panose="020B0503020204020204" pitchFamily="34" charset="-122"/>
                        </a:rPr>
                        <m:t>𝑌</m:t>
                      </m:r>
                    </m:oMath>
                  </m:oMathPara>
                </a14:m>
                <a:endParaRPr lang="en-US" altLang="zh-CN" sz="2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827" y="5895070"/>
                <a:ext cx="2624287" cy="6695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左大括号 5"/>
          <p:cNvSpPr/>
          <p:nvPr/>
        </p:nvSpPr>
        <p:spPr bwMode="auto">
          <a:xfrm>
            <a:off x="4211960" y="1864439"/>
            <a:ext cx="301036" cy="2365805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右箭头 12"/>
          <p:cNvSpPr/>
          <p:nvPr/>
        </p:nvSpPr>
        <p:spPr>
          <a:xfrm rot="5400000">
            <a:off x="6626825" y="4830559"/>
            <a:ext cx="937114" cy="1014317"/>
          </a:xfrm>
          <a:prstGeom prst="rightArrow">
            <a:avLst>
              <a:gd name="adj1" fmla="val 50000"/>
              <a:gd name="adj2" fmla="val 5139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6753036"/>
      </p:ext>
    </p:extLst>
  </p:cSld>
  <p:clrMapOvr>
    <a:masterClrMapping/>
  </p:clrMapOvr>
  <p:transition advTm="0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99769" y="22540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6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kumimoji="1" lang="zh-CN" altLang="en-US" sz="3200" dirty="0">
                <a:latin typeface="Microsoft YaHei" charset="-122"/>
                <a:ea typeface="Microsoft YaHei" charset="-122"/>
                <a:cs typeface="Microsoft YaHei" charset="-122"/>
              </a:rPr>
              <a:t>过拟合与欠拟合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6624084" y="-198475"/>
            <a:ext cx="184731" cy="400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1702" y="1113528"/>
            <a:ext cx="856070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200" dirty="0">
                <a:latin typeface="Microsoft YaHei" charset="-122"/>
                <a:ea typeface="Microsoft YaHei" charset="-122"/>
                <a:cs typeface="Microsoft YaHei" charset="-122"/>
              </a:rPr>
              <a:t> 过拟合</a:t>
            </a:r>
            <a:r>
              <a:rPr kumimoji="1" lang="en-US" altLang="zh-CN" sz="2200" dirty="0">
                <a:latin typeface="Microsoft YaHei" charset="-122"/>
                <a:ea typeface="Microsoft YaHei" charset="-122"/>
                <a:cs typeface="Microsoft YaHei" charset="-122"/>
              </a:rPr>
              <a:t>(overfitting)</a:t>
            </a:r>
            <a:r>
              <a:rPr kumimoji="1" lang="zh-CN" altLang="en-US" sz="2200" dirty="0">
                <a:latin typeface="Microsoft YaHei" charset="-122"/>
                <a:ea typeface="Microsoft YaHei" charset="-122"/>
                <a:cs typeface="Microsoft YaHei" charset="-122"/>
              </a:rPr>
              <a:t>：</a:t>
            </a:r>
            <a:r>
              <a:rPr kumimoji="1" lang="zh-CN" altLang="en-US" sz="2200" b="0" dirty="0">
                <a:latin typeface="Microsoft YaHei" charset="-122"/>
                <a:ea typeface="Microsoft YaHei" charset="-122"/>
                <a:cs typeface="Microsoft YaHei" charset="-122"/>
              </a:rPr>
              <a:t>模型学的“太好”，把样本自身的一些特点当作所有潜在样本都会具有的一般性质，泛化性能很差。 </a:t>
            </a:r>
            <a:endParaRPr kumimoji="1" lang="en-US" altLang="zh-CN" sz="2200" b="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200" dirty="0">
                <a:latin typeface="Microsoft YaHei" charset="-122"/>
                <a:ea typeface="Microsoft YaHei" charset="-122"/>
                <a:cs typeface="Microsoft YaHei" charset="-122"/>
              </a:rPr>
              <a:t>欠拟合</a:t>
            </a:r>
            <a:r>
              <a:rPr kumimoji="1" lang="en-US" altLang="zh-CN" sz="2200" dirty="0">
                <a:latin typeface="Microsoft YaHei" charset="-122"/>
                <a:ea typeface="Microsoft YaHei" charset="-122"/>
                <a:cs typeface="Microsoft YaHei" charset="-122"/>
              </a:rPr>
              <a:t>(</a:t>
            </a:r>
            <a:r>
              <a:rPr kumimoji="1" lang="en-US" altLang="zh-CN" sz="2200" dirty="0" err="1">
                <a:latin typeface="Microsoft YaHei" charset="-122"/>
                <a:ea typeface="Microsoft YaHei" charset="-122"/>
                <a:cs typeface="Microsoft YaHei" charset="-122"/>
              </a:rPr>
              <a:t>underfitting</a:t>
            </a:r>
            <a:r>
              <a:rPr kumimoji="1" lang="en-US" altLang="zh-CN" sz="2200" dirty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r>
              <a:rPr kumimoji="1" lang="zh-CN" altLang="en-US" sz="2200" dirty="0">
                <a:latin typeface="Microsoft YaHei" charset="-122"/>
                <a:ea typeface="Microsoft YaHei" charset="-122"/>
                <a:cs typeface="Microsoft YaHei" charset="-122"/>
              </a:rPr>
              <a:t>：</a:t>
            </a:r>
            <a:r>
              <a:rPr kumimoji="1" lang="zh-CN" altLang="en-US" sz="2200" b="0" dirty="0">
                <a:latin typeface="Microsoft YaHei" charset="-122"/>
                <a:ea typeface="Microsoft YaHei" charset="-122"/>
                <a:cs typeface="Microsoft YaHei" charset="-122"/>
              </a:rPr>
              <a:t>对训练样本的一般性质尚未学好。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02" y="3789040"/>
            <a:ext cx="8856983" cy="232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62863"/>
      </p:ext>
    </p:extLst>
  </p:cSld>
  <p:clrMapOvr>
    <a:masterClrMapping/>
  </p:clrMapOvr>
  <p:transition advTm="0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33697" y="22540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6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sz="3200" dirty="0"/>
              <a:t>正则化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24084" y="-198475"/>
            <a:ext cx="184731" cy="400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707904" y="1451440"/>
                <a:ext cx="4784311" cy="10545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charset="0"/>
                        </a:rPr>
                        <m:t>𝐽</m:t>
                      </m:r>
                      <m:d>
                        <m:dPr>
                          <m:begChr m:val="（"/>
                          <m:endChr m:val="）"/>
                          <m:ctrlPr>
                            <a:rPr kumimoji="1"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kumimoji="1" lang="mr-IN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is-I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4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sz="2400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kumimoji="1"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400" b="0" i="1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zh-CN" sz="2400" b="0" i="1" smtClean="0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kumimoji="1" lang="mr-IN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zh-CN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is-I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kumimoji="1" lang="en-US" altLang="zh-CN" sz="2400" i="1">
                              <a:latin typeface="Cambria Math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2400" i="1">
                              <a:latin typeface="Cambria Math" charset="0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 i="1">
                                  <a:latin typeface="Cambria Math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kumimoji="1" lang="en-US" altLang="zh-CN" sz="2400" b="0" i="1" dirty="0"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451440"/>
                <a:ext cx="4784311" cy="10545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683568" y="1674962"/>
            <a:ext cx="27294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Ridge Regression</a:t>
            </a:r>
          </a:p>
          <a:p>
            <a:pPr algn="ctr"/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（岭回归）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72330" y="3255448"/>
            <a:ext cx="2687723" cy="83099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it-IT" altLang="zh-CN" dirty="0"/>
              <a:t>Lasso Regression</a:t>
            </a:r>
          </a:p>
          <a:p>
            <a:r>
              <a:rPr lang="zh-CN" altLang="en-US" dirty="0"/>
              <a:t>（套索回归）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707904" y="3143688"/>
                <a:ext cx="4824536" cy="10545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charset="0"/>
                        </a:rPr>
                        <m:t>𝐽</m:t>
                      </m:r>
                      <m:d>
                        <m:dPr>
                          <m:begChr m:val="（"/>
                          <m:endChr m:val="）"/>
                          <m:ctrlPr>
                            <a:rPr kumimoji="1"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kumimoji="1" lang="mr-IN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is-I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4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sz="2400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kumimoji="1"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400" b="0" i="1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zh-CN" sz="2400" b="0" i="1" smtClean="0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kumimoji="1" lang="mr-IN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mr-IN" altLang="zh-CN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is-I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kumimoji="1" lang="en-US" altLang="zh-CN" sz="2400" i="1">
                              <a:latin typeface="Cambria Math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2400" i="1">
                              <a:latin typeface="Cambria Math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charset="0"/>
                                </a:rPr>
                                <m:t>|</m:t>
                              </m:r>
                              <m:r>
                                <a:rPr kumimoji="1" lang="en-US" altLang="zh-CN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 i="1">
                                  <a:latin typeface="Cambria Math" charset="0"/>
                                </a:rPr>
                                <m:t>j</m:t>
                              </m:r>
                            </m:sub>
                          </m:sSub>
                          <m:r>
                            <a:rPr kumimoji="1" lang="en-US" altLang="zh-CN" sz="2400" b="0" i="1" smtClean="0">
                              <a:latin typeface="Cambria Math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en-US" altLang="zh-CN" sz="2400" b="0" i="1" dirty="0">
                  <a:latin typeface="Cambria Math" charset="0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3143688"/>
                <a:ext cx="4824536" cy="10545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1115616" y="4760761"/>
            <a:ext cx="2031325" cy="83099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Elastic</a:t>
            </a:r>
            <a:r>
              <a:rPr lang="zh-CN" altLang="en-US" dirty="0"/>
              <a:t> </a:t>
            </a:r>
            <a:r>
              <a:rPr lang="en-US" altLang="zh-CN" dirty="0"/>
              <a:t>Net</a:t>
            </a:r>
          </a:p>
          <a:p>
            <a:r>
              <a:rPr lang="zh-CN" altLang="en-US" dirty="0"/>
              <a:t>（弹性网络）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5661248"/>
            <a:ext cx="7128792" cy="77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59391"/>
      </p:ext>
    </p:extLst>
  </p:cSld>
  <p:clrMapOvr>
    <a:masterClrMapping/>
  </p:clrMapOvr>
  <p:transition advTm="0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逻辑回归</a:t>
            </a:r>
          </a:p>
        </p:txBody>
      </p:sp>
      <p:pic>
        <p:nvPicPr>
          <p:cNvPr id="4" name="图片 3" descr="技术分享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456"/>
          <a:stretch/>
        </p:blipFill>
        <p:spPr bwMode="auto">
          <a:xfrm>
            <a:off x="461443" y="1142800"/>
            <a:ext cx="3240360" cy="3389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3789040"/>
            <a:ext cx="2965644" cy="400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4032">
            <a:off x="4819113" y="3849242"/>
            <a:ext cx="597764" cy="2796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4032">
            <a:off x="4499609" y="3653795"/>
            <a:ext cx="597764" cy="2796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4032">
            <a:off x="7442917" y="3703704"/>
            <a:ext cx="597764" cy="27964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529" y="1183638"/>
            <a:ext cx="324714" cy="163767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1133655"/>
            <a:ext cx="4672957" cy="3375318"/>
          </a:xfrm>
          <a:prstGeom prst="rect">
            <a:avLst/>
          </a:prstGeom>
        </p:spPr>
      </p:pic>
      <p:pic>
        <p:nvPicPr>
          <p:cNvPr id="5" name="内容占位符 4" descr="clip_image006"/>
          <p:cNvPicPr>
            <a:picLocks noGrp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12" y="4141148"/>
            <a:ext cx="3456384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479" y="4605470"/>
            <a:ext cx="6308082" cy="20613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1398" y="6525344"/>
            <a:ext cx="89146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0" dirty="0"/>
              <a:t>https://github.com/NLP-LOVE/ML-NLP/tree/master/Machine%20Learning/Liner%20Regression/demo</a:t>
            </a:r>
            <a:endParaRPr lang="zh-CN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217507657"/>
      </p:ext>
    </p:extLst>
  </p:cSld>
  <p:clrMapOvr>
    <a:masterClrMapping/>
  </p:clrMapOvr>
  <p:transition spd="slow">
    <p:circl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12441"/>
      </p:ext>
    </p:extLst>
  </p:cSld>
  <p:clrMapOvr>
    <a:masterClrMapping/>
  </p:clrMapOvr>
  <p:transition spd="slow">
    <p:circl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ffectLst/>
                <a:latin typeface="微软雅黑" pitchFamily="34" charset="-122"/>
                <a:ea typeface="微软雅黑" pitchFamily="34" charset="-122"/>
              </a:rPr>
              <a:t>Neural Network </a:t>
            </a:r>
            <a:endParaRPr lang="zh-TW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9" name="群組 38"/>
          <p:cNvGrpSpPr/>
          <p:nvPr/>
        </p:nvGrpSpPr>
        <p:grpSpPr>
          <a:xfrm>
            <a:off x="3076268" y="1911812"/>
            <a:ext cx="2416814" cy="1897458"/>
            <a:chOff x="3223753" y="2941320"/>
            <a:chExt cx="2416814" cy="1897458"/>
          </a:xfrm>
        </p:grpSpPr>
        <p:grpSp>
          <p:nvGrpSpPr>
            <p:cNvPr id="38" name="群組 37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32" name="直線單箭頭接點 31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橢圓 21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p:cxnSp>
            <p:nvCxnSpPr>
              <p:cNvPr id="23" name="直線單箭頭接點 22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9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2" name="方程式" r:id="rId4" imgW="317160" imgH="215640" progId="Equation.3">
                      <p:embed/>
                    </p:oleObj>
                  </mc:Choice>
                  <mc:Fallback>
                    <p:oleObj name="方程式" r:id="rId4" imgW="317160" imgH="215640" progId="Equation.3">
                      <p:embed/>
                      <p:pic>
                        <p:nvPicPr>
                          <p:cNvPr id="29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1" name="直線單箭頭接點 20"/>
            <p:cNvCxnSpPr/>
            <p:nvPr/>
          </p:nvCxnSpPr>
          <p:spPr>
            <a:xfrm flipV="1">
              <a:off x="3234600" y="3780105"/>
              <a:ext cx="674268" cy="906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/>
            <p:nvPr/>
          </p:nvCxnSpPr>
          <p:spPr>
            <a:xfrm>
              <a:off x="3223753" y="2941320"/>
              <a:ext cx="704573" cy="6913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群組 24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27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3" name="方程式" r:id="rId6" imgW="139680" imgH="139680" progId="Equation.3">
                      <p:embed/>
                    </p:oleObj>
                  </mc:Choice>
                  <mc:Fallback>
                    <p:oleObj name="方程式" r:id="rId6" imgW="139680" imgH="139680" progId="Equation.3">
                      <p:embed/>
                      <p:pic>
                        <p:nvPicPr>
                          <p:cNvPr id="27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" name="群組 36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8" name="直線單箭頭接點 27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線單箭頭接點 32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群組 41"/>
          <p:cNvGrpSpPr/>
          <p:nvPr/>
        </p:nvGrpSpPr>
        <p:grpSpPr>
          <a:xfrm>
            <a:off x="611560" y="1154707"/>
            <a:ext cx="2416814" cy="1897458"/>
            <a:chOff x="3223753" y="2941320"/>
            <a:chExt cx="2416814" cy="1897458"/>
          </a:xfrm>
        </p:grpSpPr>
        <p:grpSp>
          <p:nvGrpSpPr>
            <p:cNvPr id="43" name="群組 42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53" name="直線單箭頭接點 52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橢圓 53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p:cxnSp>
            <p:nvCxnSpPr>
              <p:cNvPr id="55" name="直線單箭頭接點 54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6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4" name="方程式" r:id="rId8" imgW="317160" imgH="215640" progId="Equation.3">
                      <p:embed/>
                    </p:oleObj>
                  </mc:Choice>
                  <mc:Fallback>
                    <p:oleObj name="方程式" r:id="rId8" imgW="317160" imgH="215640" progId="Equation.3">
                      <p:embed/>
                      <p:pic>
                        <p:nvPicPr>
                          <p:cNvPr id="5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4" name="直線單箭頭接點 43"/>
            <p:cNvCxnSpPr/>
            <p:nvPr/>
          </p:nvCxnSpPr>
          <p:spPr>
            <a:xfrm flipV="1">
              <a:off x="3405107" y="3780105"/>
              <a:ext cx="503761" cy="6770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3223753" y="2941320"/>
              <a:ext cx="704573" cy="6913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群組 45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52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5" name="方程式" r:id="rId9" imgW="139680" imgH="139680" progId="Equation.3">
                      <p:embed/>
                    </p:oleObj>
                  </mc:Choice>
                  <mc:Fallback>
                    <p:oleObj name="方程式" r:id="rId9" imgW="139680" imgH="139680" progId="Equation.3">
                      <p:embed/>
                      <p:pic>
                        <p:nvPicPr>
                          <p:cNvPr id="5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7" name="群組 46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0" name="直線單箭頭接點 49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直線單箭頭接點 47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群組 56"/>
          <p:cNvGrpSpPr/>
          <p:nvPr/>
        </p:nvGrpSpPr>
        <p:grpSpPr>
          <a:xfrm>
            <a:off x="640954" y="3015152"/>
            <a:ext cx="2405967" cy="1782000"/>
            <a:chOff x="3234600" y="3056778"/>
            <a:chExt cx="2405967" cy="1782000"/>
          </a:xfrm>
        </p:grpSpPr>
        <p:grpSp>
          <p:nvGrpSpPr>
            <p:cNvPr id="58" name="群組 57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68" name="直線單箭頭接點 67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橢圓 68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p:cxnSp>
            <p:nvCxnSpPr>
              <p:cNvPr id="70" name="直線單箭頭接點 69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71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6" name="方程式" r:id="rId10" imgW="317160" imgH="215640" progId="Equation.3">
                      <p:embed/>
                    </p:oleObj>
                  </mc:Choice>
                  <mc:Fallback>
                    <p:oleObj name="方程式" r:id="rId10" imgW="317160" imgH="215640" progId="Equation.3">
                      <p:embed/>
                      <p:pic>
                        <p:nvPicPr>
                          <p:cNvPr id="71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9" name="直線單箭頭接點 58"/>
            <p:cNvCxnSpPr/>
            <p:nvPr/>
          </p:nvCxnSpPr>
          <p:spPr>
            <a:xfrm flipV="1">
              <a:off x="3234600" y="3780105"/>
              <a:ext cx="674268" cy="906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3341416" y="3056778"/>
              <a:ext cx="586910" cy="57590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群組 60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67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7" name="方程式" r:id="rId11" imgW="139680" imgH="139680" progId="Equation.3">
                      <p:embed/>
                    </p:oleObj>
                  </mc:Choice>
                  <mc:Fallback>
                    <p:oleObj name="方程式" r:id="rId11" imgW="139680" imgH="139680" progId="Equation.3">
                      <p:embed/>
                      <p:pic>
                        <p:nvPicPr>
                          <p:cNvPr id="67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2" name="群組 61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5" name="直線單箭頭接點 64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直線單箭頭接點 62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5585624" y="1899896"/>
            <a:ext cx="2416814" cy="1897458"/>
            <a:chOff x="3223753" y="2941320"/>
            <a:chExt cx="2416814" cy="1897458"/>
          </a:xfrm>
        </p:grpSpPr>
        <p:grpSp>
          <p:nvGrpSpPr>
            <p:cNvPr id="73" name="群組 72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83" name="直線單箭頭接點 82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橢圓 83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p:cxnSp>
            <p:nvCxnSpPr>
              <p:cNvPr id="85" name="直線單箭頭接點 84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86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8" name="方程式" r:id="rId12" imgW="317160" imgH="215640" progId="Equation.3">
                      <p:embed/>
                    </p:oleObj>
                  </mc:Choice>
                  <mc:Fallback>
                    <p:oleObj name="方程式" r:id="rId12" imgW="317160" imgH="215640" progId="Equation.3">
                      <p:embed/>
                      <p:pic>
                        <p:nvPicPr>
                          <p:cNvPr id="8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74" name="直線單箭頭接點 73"/>
            <p:cNvCxnSpPr/>
            <p:nvPr/>
          </p:nvCxnSpPr>
          <p:spPr>
            <a:xfrm flipV="1">
              <a:off x="3234600" y="3780105"/>
              <a:ext cx="674268" cy="906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3223753" y="2941320"/>
              <a:ext cx="704573" cy="6913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群組 75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aphicFrame>
            <p:nvGraphicFramePr>
              <p:cNvPr id="82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69" name="方程式" r:id="rId13" imgW="139680" imgH="139680" progId="Equation.3">
                      <p:embed/>
                    </p:oleObj>
                  </mc:Choice>
                  <mc:Fallback>
                    <p:oleObj name="方程式" r:id="rId13" imgW="139680" imgH="139680" progId="Equation.3">
                      <p:embed/>
                      <p:pic>
                        <p:nvPicPr>
                          <p:cNvPr id="8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7" name="群組 76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0" name="直線單箭頭接點 79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直線單箭頭接點 77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/>
          <p:cNvSpPr txBox="1"/>
          <p:nvPr/>
        </p:nvSpPr>
        <p:spPr>
          <a:xfrm>
            <a:off x="3342727" y="3933402"/>
            <a:ext cx="2381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软雅黑" pitchFamily="34" charset="-122"/>
                <a:ea typeface="微软雅黑" pitchFamily="34" charset="-122"/>
              </a:rPr>
              <a:t>“Neuron”</a:t>
            </a:r>
            <a:endParaRPr lang="zh-TW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28374" y="1867819"/>
            <a:ext cx="2493685" cy="19295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9FC3FB6-E3BB-4310-83D8-A48906AB9F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9032" y="4390551"/>
            <a:ext cx="4272237" cy="23984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7DCF799-B210-4389-BF78-98847C10EC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3904" y="6329032"/>
            <a:ext cx="2876527" cy="4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群組 128"/>
          <p:cNvGrpSpPr/>
          <p:nvPr/>
        </p:nvGrpSpPr>
        <p:grpSpPr>
          <a:xfrm>
            <a:off x="6906115" y="3813978"/>
            <a:ext cx="458287" cy="831947"/>
            <a:chOff x="10102194" y="1939763"/>
            <a:chExt cx="458287" cy="831947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群組 104"/>
          <p:cNvGrpSpPr/>
          <p:nvPr/>
        </p:nvGrpSpPr>
        <p:grpSpPr>
          <a:xfrm>
            <a:off x="4676173" y="3786657"/>
            <a:ext cx="458287" cy="831947"/>
            <a:chOff x="10102194" y="1939763"/>
            <a:chExt cx="458287" cy="831947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ffectLst/>
                <a:latin typeface="微软雅黑" pitchFamily="34" charset="-122"/>
                <a:ea typeface="微软雅黑" pitchFamily="34" charset="-122"/>
              </a:rPr>
              <a:t>Neural Network </a:t>
            </a:r>
            <a:endParaRPr lang="zh-TW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7621461" y="3766881"/>
            <a:ext cx="6556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621461" y="2107285"/>
            <a:ext cx="6490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48793" y="199166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717550" y="3633436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2725104" y="1896413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2713821" y="34441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928526" y="1865715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4947448" y="3438391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082219" y="183848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123909" y="343839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4" name="群組 83"/>
          <p:cNvGrpSpPr/>
          <p:nvPr/>
        </p:nvGrpSpPr>
        <p:grpSpPr>
          <a:xfrm>
            <a:off x="1108899" y="2172641"/>
            <a:ext cx="1588876" cy="163830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3327206" y="2157954"/>
            <a:ext cx="1588876" cy="163830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5527144" y="2138036"/>
            <a:ext cx="1588876" cy="163830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群組 2"/>
          <p:cNvGrpSpPr/>
          <p:nvPr/>
        </p:nvGrpSpPr>
        <p:grpSpPr>
          <a:xfrm>
            <a:off x="4673795" y="5141242"/>
            <a:ext cx="4218685" cy="1523628"/>
            <a:chOff x="3615463" y="4585976"/>
            <a:chExt cx="5297714" cy="2078894"/>
          </a:xfrm>
        </p:grpSpPr>
        <p:sp>
          <p:nvSpPr>
            <p:cNvPr id="137" name="圓角矩形圖說文字 136"/>
            <p:cNvSpPr/>
            <p:nvPr/>
          </p:nvSpPr>
          <p:spPr>
            <a:xfrm>
              <a:off x="3615463" y="4585976"/>
              <a:ext cx="5297714" cy="2078894"/>
            </a:xfrm>
            <a:prstGeom prst="wedgeRoundRectCallout">
              <a:avLst>
                <a:gd name="adj1" fmla="val -72388"/>
                <a:gd name="adj2" fmla="val -140175"/>
                <a:gd name="adj3" fmla="val 16667"/>
              </a:avLst>
            </a:prstGeom>
            <a:solidFill>
              <a:schemeClr val="bg1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4" name="群組 3"/>
            <p:cNvGrpSpPr/>
            <p:nvPr/>
          </p:nvGrpSpPr>
          <p:grpSpPr>
            <a:xfrm>
              <a:off x="5943645" y="4731685"/>
              <a:ext cx="2743688" cy="1838325"/>
              <a:chOff x="4096343" y="4657321"/>
              <a:chExt cx="2743688" cy="1838325"/>
            </a:xfrm>
          </p:grpSpPr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6343" y="4657321"/>
                <a:ext cx="2571750" cy="1838325"/>
              </a:xfrm>
              <a:prstGeom prst="rect">
                <a:avLst/>
              </a:prstGeom>
            </p:spPr>
          </p:pic>
          <p:graphicFrame>
            <p:nvGraphicFramePr>
              <p:cNvPr id="6" name="Object 12"/>
              <p:cNvGraphicFramePr>
                <a:graphicFrameLocks noChangeAspect="1"/>
              </p:cNvGraphicFramePr>
              <p:nvPr/>
            </p:nvGraphicFramePr>
            <p:xfrm>
              <a:off x="4474734" y="4768231"/>
              <a:ext cx="717072" cy="4897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3" name="方程式" r:id="rId5" imgW="317160" imgH="215640" progId="Equation.3">
                      <p:embed/>
                    </p:oleObj>
                  </mc:Choice>
                  <mc:Fallback>
                    <p:oleObj name="方程式" r:id="rId5" imgW="317160" imgH="215640" progId="Equation.3">
                      <p:embed/>
                      <p:pic>
                        <p:nvPicPr>
                          <p:cNvPr id="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4734" y="4768231"/>
                            <a:ext cx="717072" cy="48974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12"/>
              <p:cNvGraphicFramePr>
                <a:graphicFrameLocks noChangeAspect="1"/>
              </p:cNvGraphicFramePr>
              <p:nvPr/>
            </p:nvGraphicFramePr>
            <p:xfrm>
              <a:off x="6512897" y="6101982"/>
              <a:ext cx="327134" cy="325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4" name="方程式" r:id="rId7" imgW="126720" imgH="126720" progId="Equation.3">
                      <p:embed/>
                    </p:oleObj>
                  </mc:Choice>
                  <mc:Fallback>
                    <p:oleObj name="方程式" r:id="rId7" imgW="126720" imgH="126720" progId="Equation.3">
                      <p:embed/>
                      <p:pic>
                        <p:nvPicPr>
                          <p:cNvPr id="7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12897" y="6101982"/>
                            <a:ext cx="327134" cy="32566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9" name="Object 12"/>
            <p:cNvGraphicFramePr>
              <a:graphicFrameLocks noChangeAspect="1"/>
            </p:cNvGraphicFramePr>
            <p:nvPr/>
          </p:nvGraphicFramePr>
          <p:xfrm>
            <a:off x="3800520" y="5368768"/>
            <a:ext cx="2143125" cy="973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5" name="方程式" r:id="rId9" imgW="863280" imgH="393480" progId="Equation.3">
                    <p:embed/>
                  </p:oleObj>
                </mc:Choice>
                <mc:Fallback>
                  <p:oleObj name="方程式" r:id="rId9" imgW="863280" imgH="393480" progId="Equation.3">
                    <p:embed/>
                    <p:pic>
                      <p:nvPicPr>
                        <p:cNvPr id="7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520" y="5368768"/>
                          <a:ext cx="2143125" cy="9731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文字方塊 102"/>
            <p:cNvSpPr txBox="1"/>
            <p:nvPr/>
          </p:nvSpPr>
          <p:spPr>
            <a:xfrm>
              <a:off x="3704855" y="4711607"/>
              <a:ext cx="2645984" cy="545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Sigmoid Function</a:t>
              </a:r>
              <a:endParaRPr lang="zh-TW" altLang="en-US" sz="2000" dirty="0"/>
            </a:p>
          </p:txBody>
        </p:sp>
      </p:grpSp>
      <p:sp>
        <p:nvSpPr>
          <p:cNvPr id="104" name="手繪多邊形 103"/>
          <p:cNvSpPr/>
          <p:nvPr/>
        </p:nvSpPr>
        <p:spPr>
          <a:xfrm>
            <a:off x="2780137" y="3569921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手繪多邊形 105"/>
          <p:cNvSpPr/>
          <p:nvPr/>
        </p:nvSpPr>
        <p:spPr>
          <a:xfrm>
            <a:off x="2761527" y="198048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手繪多邊形 106"/>
          <p:cNvSpPr/>
          <p:nvPr/>
        </p:nvSpPr>
        <p:spPr>
          <a:xfrm>
            <a:off x="4990449" y="199166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手繪多邊形 107"/>
          <p:cNvSpPr/>
          <p:nvPr/>
        </p:nvSpPr>
        <p:spPr>
          <a:xfrm>
            <a:off x="5006793" y="3514992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手繪多邊形 108"/>
          <p:cNvSpPr/>
          <p:nvPr/>
        </p:nvSpPr>
        <p:spPr>
          <a:xfrm>
            <a:off x="7139390" y="1930243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手繪多邊形 109"/>
          <p:cNvSpPr/>
          <p:nvPr/>
        </p:nvSpPr>
        <p:spPr>
          <a:xfrm>
            <a:off x="7186477" y="354842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/>
          <p:cNvSpPr txBox="1"/>
          <p:nvPr/>
        </p:nvSpPr>
        <p:spPr>
          <a:xfrm>
            <a:off x="760961" y="197820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655177" y="3577639"/>
            <a:ext cx="48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1707829" y="16932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1874920" y="2281596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1572624" y="3798726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1724903" y="3228414"/>
            <a:ext cx="7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7" name="矩形 116"/>
          <p:cNvSpPr/>
          <p:nvPr/>
        </p:nvSpPr>
        <p:spPr>
          <a:xfrm>
            <a:off x="2471151" y="2657649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2698053" y="2274449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2493998" y="2644731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32" name="矩形 131"/>
          <p:cNvSpPr/>
          <p:nvPr/>
        </p:nvSpPr>
        <p:spPr>
          <a:xfrm>
            <a:off x="2480676" y="4206988"/>
            <a:ext cx="458287" cy="44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2707578" y="3823788"/>
            <a:ext cx="0" cy="3841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2497284" y="4200528"/>
            <a:ext cx="4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35" name="文字方塊 134"/>
          <p:cNvSpPr txBox="1"/>
          <p:nvPr/>
        </p:nvSpPr>
        <p:spPr>
          <a:xfrm>
            <a:off x="2410434" y="1640959"/>
            <a:ext cx="43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2296396" y="3244826"/>
            <a:ext cx="682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-2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3109050" y="1602027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0.98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3131369" y="3207558"/>
            <a:ext cx="81164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0.12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4673795" y="2262334"/>
            <a:ext cx="458287" cy="831947"/>
            <a:chOff x="10102194" y="1939763"/>
            <a:chExt cx="458287" cy="831947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群組 124"/>
          <p:cNvGrpSpPr/>
          <p:nvPr/>
        </p:nvGrpSpPr>
        <p:grpSpPr>
          <a:xfrm>
            <a:off x="6852035" y="2257142"/>
            <a:ext cx="458287" cy="831947"/>
            <a:chOff x="10102194" y="1939763"/>
            <a:chExt cx="458287" cy="831947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"/>
              <p:cNvSpPr txBox="1"/>
              <p:nvPr/>
            </p:nvSpPr>
            <p:spPr>
              <a:xfrm>
                <a:off x="-123378" y="5073418"/>
                <a:ext cx="357370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3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378" y="5073418"/>
                <a:ext cx="3573702" cy="430887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2"/>
              <p:cNvSpPr txBox="1"/>
              <p:nvPr/>
            </p:nvSpPr>
            <p:spPr>
              <a:xfrm>
                <a:off x="1763688" y="4932535"/>
                <a:ext cx="700896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4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4932535"/>
                <a:ext cx="700896" cy="613438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69"/>
              <p:cNvSpPr txBox="1"/>
              <p:nvPr/>
            </p:nvSpPr>
            <p:spPr>
              <a:xfrm>
                <a:off x="395536" y="4931041"/>
                <a:ext cx="1407821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5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31041"/>
                <a:ext cx="1407821" cy="613438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0"/>
              <p:cNvSpPr txBox="1"/>
              <p:nvPr/>
            </p:nvSpPr>
            <p:spPr>
              <a:xfrm>
                <a:off x="2483768" y="5085249"/>
                <a:ext cx="3061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6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5085249"/>
                <a:ext cx="306174" cy="369332"/>
              </a:xfrm>
              <a:prstGeom prst="rect">
                <a:avLst/>
              </a:prstGeom>
              <a:blipFill rotWithShape="1">
                <a:blip r:embed="rId14"/>
                <a:stretch>
                  <a:fillRect l="-17647" r="-17647"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66"/>
              <p:cNvSpPr txBox="1"/>
              <p:nvPr/>
            </p:nvSpPr>
            <p:spPr>
              <a:xfrm>
                <a:off x="2699792" y="4921977"/>
                <a:ext cx="625556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dirty="0">
                    <a:solidFill>
                      <a:srgbClr val="00B05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7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921977"/>
                <a:ext cx="625556" cy="61581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67"/>
              <p:cNvSpPr txBox="1"/>
              <p:nvPr/>
            </p:nvSpPr>
            <p:spPr>
              <a:xfrm>
                <a:off x="3491880" y="4973430"/>
                <a:ext cx="874021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.98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4973430"/>
                <a:ext cx="874021" cy="61581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/>
              <p:cNvSpPr/>
              <p:nvPr/>
            </p:nvSpPr>
            <p:spPr>
              <a:xfrm>
                <a:off x="3131840" y="5055567"/>
                <a:ext cx="4908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1" name="矩形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5055567"/>
                <a:ext cx="490839" cy="46166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96"/>
              <p:cNvSpPr txBox="1"/>
              <p:nvPr/>
            </p:nvSpPr>
            <p:spPr>
              <a:xfrm>
                <a:off x="1907704" y="5992672"/>
                <a:ext cx="700896" cy="612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5992672"/>
                <a:ext cx="700896" cy="612091"/>
              </a:xfrm>
              <a:prstGeom prst="rect">
                <a:avLst/>
              </a:prstGeom>
              <a:blipFill rotWithShape="1">
                <a:blip r:embed="rId18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右大括弧 8"/>
          <p:cNvSpPr/>
          <p:nvPr/>
        </p:nvSpPr>
        <p:spPr>
          <a:xfrm rot="5400000">
            <a:off x="2214941" y="4000576"/>
            <a:ext cx="250336" cy="3591891"/>
          </a:xfrm>
          <a:prstGeom prst="rightBrace">
            <a:avLst>
              <a:gd name="adj1" fmla="val 1153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</p:spTree>
    <p:extLst>
      <p:ext uri="{BB962C8B-B14F-4D97-AF65-F5344CB8AC3E}">
        <p14:creationId xmlns:p14="http://schemas.microsoft.com/office/powerpoint/2010/main" val="18349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  <p:bldP spid="114" grpId="0"/>
      <p:bldP spid="115" grpId="0"/>
      <p:bldP spid="116" grpId="0"/>
      <p:bldP spid="120" grpId="0"/>
      <p:bldP spid="134" grpId="0"/>
      <p:bldP spid="135" grpId="0"/>
      <p:bldP spid="136" grpId="0"/>
      <p:bldP spid="138" grpId="0" animBg="1"/>
      <p:bldP spid="139" grpId="0" animBg="1"/>
      <p:bldP spid="73" grpId="0"/>
      <p:bldP spid="74" grpId="0"/>
      <p:bldP spid="75" grpId="0"/>
      <p:bldP spid="76" grpId="0"/>
      <p:bldP spid="77" grpId="0"/>
      <p:bldP spid="78" grpId="0"/>
      <p:bldP spid="81" grpId="0"/>
      <p:bldP spid="82" grpId="0"/>
      <p:bldP spid="10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字方塊 63"/>
          <p:cNvSpPr txBox="1"/>
          <p:nvPr/>
        </p:nvSpPr>
        <p:spPr>
          <a:xfrm>
            <a:off x="5886802" y="5262299"/>
            <a:ext cx="1300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+mn-lt"/>
              </a:rPr>
              <a:t>Output Layer</a:t>
            </a:r>
            <a:endParaRPr lang="zh-TW" altLang="en-US" sz="2400" b="1" dirty="0">
              <a:latin typeface="+mn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2933548" y="5301208"/>
            <a:ext cx="2066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+mn-lt"/>
              </a:rPr>
              <a:t>Hidden Layers</a:t>
            </a:r>
            <a:endParaRPr lang="zh-TW" altLang="en-US" sz="2400" b="1" dirty="0">
              <a:latin typeface="+mn-lt"/>
            </a:endParaRPr>
          </a:p>
        </p:txBody>
      </p:sp>
      <p:sp>
        <p:nvSpPr>
          <p:cNvPr id="66" name="右大括弧 65"/>
          <p:cNvSpPr/>
          <p:nvPr/>
        </p:nvSpPr>
        <p:spPr>
          <a:xfrm rot="5400000">
            <a:off x="3894468" y="3771739"/>
            <a:ext cx="181728" cy="2939290"/>
          </a:xfrm>
          <a:prstGeom prst="rightBrace">
            <a:avLst>
              <a:gd name="adj1" fmla="val 175868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1371094" y="2499445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1043608" y="5262299"/>
            <a:ext cx="1055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+mn-lt"/>
              </a:rPr>
              <a:t>Input Layer</a:t>
            </a:r>
            <a:endParaRPr lang="zh-TW" altLang="en-US" sz="2400" b="1" dirty="0">
              <a:latin typeface="+mn-lt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ffectLst/>
                <a:latin typeface="微软雅黑" pitchFamily="34" charset="-122"/>
                <a:ea typeface="微软雅黑" pitchFamily="34" charset="-122"/>
              </a:rPr>
              <a:t>Neural Network </a:t>
            </a:r>
            <a:endParaRPr lang="zh-TW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043608" y="2017661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+mn-lt"/>
              </a:rPr>
              <a:t>Input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7187650" y="2017661"/>
            <a:ext cx="1416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+mn-lt"/>
              </a:rPr>
              <a:t>Output</a:t>
            </a: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6483368" y="3520224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6592684" y="4766114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6459484" y="2741421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439482" y="321713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445300" y="264680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1457999" y="255155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999" y="255155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1463295" y="3134288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1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295" y="3134288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" name="群組 77"/>
          <p:cNvGrpSpPr/>
          <p:nvPr/>
        </p:nvGrpSpPr>
        <p:grpSpPr>
          <a:xfrm>
            <a:off x="2381769" y="2017661"/>
            <a:ext cx="1134648" cy="3130011"/>
            <a:chOff x="2332137" y="1770729"/>
            <a:chExt cx="1134648" cy="3130011"/>
          </a:xfrm>
        </p:grpSpPr>
        <p:sp>
          <p:nvSpPr>
            <p:cNvPr id="61" name="矩形 60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2332137" y="1770729"/>
              <a:ext cx="11346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+mn-lt"/>
                </a:rPr>
                <a:t>Layer 1</a:t>
              </a:r>
              <a:endParaRPr lang="zh-TW" altLang="en-US" sz="2400" dirty="0">
                <a:latin typeface="+mn-lt"/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文字方塊 20"/>
            <p:cNvSpPr txBox="1"/>
            <p:nvPr/>
          </p:nvSpPr>
          <p:spPr>
            <a:xfrm rot="5400000">
              <a:off x="2589637" y="3449306"/>
              <a:ext cx="76925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+mn-lt"/>
                </a:rPr>
                <a:t>……</a:t>
              </a:r>
              <a:endParaRPr lang="zh-TW" altLang="en-US" sz="2800" dirty="0">
                <a:latin typeface="+mn-lt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449007" y="461489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1445891" y="4518641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方程式" r:id="rId8" imgW="190440" imgH="228600" progId="Equation.3">
                  <p:embed/>
                </p:oleObj>
              </mc:Choice>
              <mc:Fallback>
                <p:oleObj name="方程式" r:id="rId8" imgW="190440" imgH="2286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891" y="4518641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字方塊 23"/>
          <p:cNvSpPr txBox="1"/>
          <p:nvPr/>
        </p:nvSpPr>
        <p:spPr>
          <a:xfrm rot="5400000">
            <a:off x="1324939" y="3684394"/>
            <a:ext cx="76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+mn-lt"/>
              </a:rPr>
              <a:t>……</a:t>
            </a:r>
            <a:endParaRPr lang="zh-TW" altLang="en-US" sz="2800" dirty="0">
              <a:latin typeface="+mn-lt"/>
            </a:endParaRPr>
          </a:p>
        </p:txBody>
      </p:sp>
      <p:grpSp>
        <p:nvGrpSpPr>
          <p:cNvPr id="79" name="群組 78"/>
          <p:cNvGrpSpPr/>
          <p:nvPr/>
        </p:nvGrpSpPr>
        <p:grpSpPr>
          <a:xfrm>
            <a:off x="3706667" y="2017661"/>
            <a:ext cx="1134648" cy="3113664"/>
            <a:chOff x="3657035" y="1770729"/>
            <a:chExt cx="1134648" cy="3113664"/>
          </a:xfrm>
        </p:grpSpPr>
        <p:sp>
          <p:nvSpPr>
            <p:cNvPr id="62" name="矩形 61"/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3657035" y="1770729"/>
              <a:ext cx="11346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+mn-lt"/>
                </a:rPr>
                <a:t>Layer 2</a:t>
              </a:r>
              <a:endParaRPr lang="zh-TW" altLang="en-US" sz="2400" dirty="0">
                <a:latin typeface="+mn-lt"/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/>
            <p:cNvSpPr txBox="1"/>
            <p:nvPr/>
          </p:nvSpPr>
          <p:spPr>
            <a:xfrm rot="5400000">
              <a:off x="3905199" y="3449306"/>
              <a:ext cx="76925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+mn-lt"/>
                </a:rPr>
                <a:t>……</a:t>
              </a:r>
              <a:endParaRPr lang="zh-TW" altLang="en-US" sz="2800" dirty="0">
                <a:latin typeface="+mn-lt"/>
              </a:endParaRPr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5918013" y="2017661"/>
            <a:ext cx="1134648" cy="3130011"/>
            <a:chOff x="5868381" y="1770729"/>
            <a:chExt cx="1134648" cy="3130011"/>
          </a:xfrm>
        </p:grpSpPr>
        <p:sp>
          <p:nvSpPr>
            <p:cNvPr id="63" name="矩形 62"/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5868381" y="1770729"/>
              <a:ext cx="11346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+mn-lt"/>
                </a:rPr>
                <a:t>Layer L</a:t>
              </a:r>
              <a:endParaRPr lang="zh-TW" altLang="en-US" sz="2400" dirty="0">
                <a:latin typeface="+mn-lt"/>
              </a:endParaRPr>
            </a:p>
          </p:txBody>
        </p:sp>
        <p:sp>
          <p:nvSpPr>
            <p:cNvPr id="29" name="橢圓 28"/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文字方塊 31"/>
            <p:cNvSpPr txBox="1"/>
            <p:nvPr/>
          </p:nvSpPr>
          <p:spPr>
            <a:xfrm rot="5400000">
              <a:off x="6129396" y="3427035"/>
              <a:ext cx="76925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+mn-lt"/>
                </a:rPr>
                <a:t>……</a:t>
              </a:r>
              <a:endParaRPr lang="zh-TW" altLang="en-US" sz="2800" dirty="0">
                <a:latin typeface="+mn-lt"/>
              </a:endParaRPr>
            </a:p>
          </p:txBody>
        </p:sp>
      </p:grpSp>
      <p:sp>
        <p:nvSpPr>
          <p:cNvPr id="33" name="文字方塊 32"/>
          <p:cNvSpPr txBox="1"/>
          <p:nvPr/>
        </p:nvSpPr>
        <p:spPr>
          <a:xfrm>
            <a:off x="4649755" y="2438794"/>
            <a:ext cx="76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+mn-lt"/>
              </a:rPr>
              <a:t>……</a:t>
            </a:r>
            <a:endParaRPr lang="zh-TW" altLang="en-US" sz="2800" dirty="0">
              <a:latin typeface="+mn-lt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656704" y="3199781"/>
            <a:ext cx="76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+mn-lt"/>
              </a:rPr>
              <a:t>……</a:t>
            </a:r>
            <a:endParaRPr lang="zh-TW" altLang="en-US" sz="2800" dirty="0">
              <a:latin typeface="+mn-lt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685720" y="4415116"/>
            <a:ext cx="76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+mn-lt"/>
              </a:rPr>
              <a:t>……</a:t>
            </a:r>
            <a:endParaRPr lang="zh-TW" altLang="en-US" sz="2800" dirty="0">
              <a:latin typeface="+mn-lt"/>
            </a:endParaRPr>
          </a:p>
        </p:txBody>
      </p:sp>
      <p:grpSp>
        <p:nvGrpSpPr>
          <p:cNvPr id="81" name="群組 80"/>
          <p:cNvGrpSpPr/>
          <p:nvPr/>
        </p:nvGrpSpPr>
        <p:grpSpPr>
          <a:xfrm>
            <a:off x="3194366" y="2769885"/>
            <a:ext cx="772503" cy="2013721"/>
            <a:chOff x="3144734" y="2522953"/>
            <a:chExt cx="772503" cy="2013721"/>
          </a:xfrm>
        </p:grpSpPr>
        <p:cxnSp>
          <p:nvCxnSpPr>
            <p:cNvPr id="36" name="直線單箭頭接點 35"/>
            <p:cNvCxnSpPr>
              <a:stCxn id="18" idx="6"/>
              <a:endCxn id="25" idx="2"/>
            </p:cNvCxnSpPr>
            <p:nvPr/>
          </p:nvCxnSpPr>
          <p:spPr>
            <a:xfrm>
              <a:off x="3154025" y="2522953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>
              <a:off x="3175833" y="331470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/>
            <p:nvPr/>
          </p:nvCxnSpPr>
          <p:spPr>
            <a:xfrm>
              <a:off x="3166542" y="453667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19" idx="6"/>
              <a:endCxn id="25" idx="2"/>
            </p:cNvCxnSpPr>
            <p:nvPr/>
          </p:nvCxnSpPr>
          <p:spPr>
            <a:xfrm flipV="1">
              <a:off x="3156367" y="2522953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18" idx="6"/>
              <a:endCxn id="26" idx="2"/>
            </p:cNvCxnSpPr>
            <p:nvPr/>
          </p:nvCxnSpPr>
          <p:spPr>
            <a:xfrm>
              <a:off x="3154025" y="2522953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18" idx="6"/>
              <a:endCxn id="27" idx="2"/>
            </p:cNvCxnSpPr>
            <p:nvPr/>
          </p:nvCxnSpPr>
          <p:spPr>
            <a:xfrm>
              <a:off x="3154025" y="2522953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>
              <a:stCxn id="19" idx="6"/>
              <a:endCxn id="27" idx="2"/>
            </p:cNvCxnSpPr>
            <p:nvPr/>
          </p:nvCxnSpPr>
          <p:spPr>
            <a:xfrm>
              <a:off x="3156367" y="3301523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20" idx="6"/>
              <a:endCxn id="25" idx="2"/>
            </p:cNvCxnSpPr>
            <p:nvPr/>
          </p:nvCxnSpPr>
          <p:spPr>
            <a:xfrm flipV="1">
              <a:off x="3144734" y="2522953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>
              <a:stCxn id="20" idx="6"/>
              <a:endCxn id="26" idx="2"/>
            </p:cNvCxnSpPr>
            <p:nvPr/>
          </p:nvCxnSpPr>
          <p:spPr>
            <a:xfrm flipV="1">
              <a:off x="3144734" y="3301523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線單箭頭接點 44"/>
          <p:cNvCxnSpPr>
            <a:endCxn id="18" idx="2"/>
          </p:cNvCxnSpPr>
          <p:nvPr/>
        </p:nvCxnSpPr>
        <p:spPr>
          <a:xfrm flipV="1">
            <a:off x="1791907" y="2769885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15" idx="3"/>
            <a:endCxn id="19" idx="2"/>
          </p:cNvCxnSpPr>
          <p:nvPr/>
        </p:nvCxnSpPr>
        <p:spPr>
          <a:xfrm>
            <a:off x="1788200" y="2818259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5" idx="3"/>
            <a:endCxn id="20" idx="2"/>
          </p:cNvCxnSpPr>
          <p:nvPr/>
        </p:nvCxnSpPr>
        <p:spPr>
          <a:xfrm>
            <a:off x="1788200" y="2818259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17" idx="3"/>
            <a:endCxn id="18" idx="2"/>
          </p:cNvCxnSpPr>
          <p:nvPr/>
        </p:nvCxnSpPr>
        <p:spPr>
          <a:xfrm flipV="1">
            <a:off x="1815720" y="2769885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4" idx="3"/>
            <a:endCxn id="19" idx="2"/>
          </p:cNvCxnSpPr>
          <p:nvPr/>
        </p:nvCxnSpPr>
        <p:spPr>
          <a:xfrm>
            <a:off x="1782382" y="3388588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4" idx="3"/>
            <a:endCxn id="20" idx="2"/>
          </p:cNvCxnSpPr>
          <p:nvPr/>
        </p:nvCxnSpPr>
        <p:spPr>
          <a:xfrm>
            <a:off x="1782382" y="3388588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23" idx="3"/>
            <a:endCxn id="18" idx="2"/>
          </p:cNvCxnSpPr>
          <p:nvPr/>
        </p:nvCxnSpPr>
        <p:spPr>
          <a:xfrm flipV="1">
            <a:off x="1853879" y="2769885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23" idx="3"/>
            <a:endCxn id="19" idx="2"/>
          </p:cNvCxnSpPr>
          <p:nvPr/>
        </p:nvCxnSpPr>
        <p:spPr>
          <a:xfrm flipV="1">
            <a:off x="1827510" y="3548455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23" idx="3"/>
            <a:endCxn id="20" idx="2"/>
          </p:cNvCxnSpPr>
          <p:nvPr/>
        </p:nvCxnSpPr>
        <p:spPr>
          <a:xfrm>
            <a:off x="1827510" y="4763061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 rot="5400000">
            <a:off x="7452046" y="3704939"/>
            <a:ext cx="76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+mn-lt"/>
              </a:rPr>
              <a:t>……</a:t>
            </a:r>
            <a:endParaRPr lang="zh-TW" altLang="en-US" sz="2800" dirty="0">
              <a:latin typeface="+mn-lt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521139" y="240156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+mn-lt"/>
              </a:rPr>
              <a:t>y</a:t>
            </a:r>
            <a:r>
              <a:rPr lang="en-US" altLang="zh-TW" sz="2800" baseline="-25000" dirty="0">
                <a:latin typeface="+mn-lt"/>
              </a:rPr>
              <a:t>1</a:t>
            </a:r>
            <a:endParaRPr lang="zh-TW" altLang="en-US" sz="2800" baseline="-25000" dirty="0">
              <a:latin typeface="+mn-lt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7509856" y="3199781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+mn-lt"/>
              </a:rPr>
              <a:t>y</a:t>
            </a:r>
            <a:r>
              <a:rPr lang="en-US" altLang="zh-TW" sz="2800" baseline="-25000" dirty="0">
                <a:latin typeface="+mn-lt"/>
              </a:rPr>
              <a:t>2</a:t>
            </a:r>
            <a:endParaRPr lang="zh-TW" altLang="en-US" sz="2800" baseline="-25000" dirty="0">
              <a:latin typeface="+mn-lt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7509856" y="4466013"/>
            <a:ext cx="631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>
                <a:latin typeface="+mn-lt"/>
              </a:rPr>
              <a:t>y</a:t>
            </a:r>
            <a:r>
              <a:rPr lang="en-US" altLang="zh-TW" sz="2800" baseline="-25000" dirty="0" err="1">
                <a:latin typeface="+mn-lt"/>
              </a:rPr>
              <a:t>M</a:t>
            </a:r>
            <a:endParaRPr lang="zh-TW" altLang="en-US" sz="2800" baseline="-25000" dirty="0">
              <a:latin typeface="+mn-lt"/>
            </a:endParaRPr>
          </a:p>
        </p:txBody>
      </p:sp>
      <p:grpSp>
        <p:nvGrpSpPr>
          <p:cNvPr id="82" name="群組 81"/>
          <p:cNvGrpSpPr/>
          <p:nvPr/>
        </p:nvGrpSpPr>
        <p:grpSpPr>
          <a:xfrm>
            <a:off x="5406726" y="2762746"/>
            <a:ext cx="753037" cy="2013721"/>
            <a:chOff x="5357094" y="2515814"/>
            <a:chExt cx="753037" cy="2013721"/>
          </a:xfrm>
        </p:grpSpPr>
        <p:cxnSp>
          <p:nvCxnSpPr>
            <p:cNvPr id="67" name="直線單箭頭接點 6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/>
          <p:cNvSpPr txBox="1"/>
          <p:nvPr/>
        </p:nvSpPr>
        <p:spPr>
          <a:xfrm>
            <a:off x="5034383" y="1412776"/>
            <a:ext cx="1425101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</a:rPr>
              <a:t>neuron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>
            <a:endCxn id="3" idx="2"/>
          </p:cNvCxnSpPr>
          <p:nvPr/>
        </p:nvCxnSpPr>
        <p:spPr>
          <a:xfrm flipV="1">
            <a:off x="4209256" y="1874441"/>
            <a:ext cx="1537678" cy="94381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71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 animBg="1"/>
      <p:bldP spid="59" grpId="0" animBg="1"/>
      <p:bldP spid="60" grpId="0"/>
      <p:bldP spid="7" grpId="0"/>
      <p:bldP spid="8" grpId="0"/>
      <p:bldP spid="14" grpId="0" animBg="1"/>
      <p:bldP spid="15" grpId="0" animBg="1"/>
      <p:bldP spid="22" grpId="0" animBg="1"/>
      <p:bldP spid="24" grpId="0"/>
      <p:bldP spid="33" grpId="0"/>
      <p:bldP spid="34" grpId="0"/>
      <p:bldP spid="35" grpId="0"/>
      <p:bldP spid="54" grpId="0"/>
      <p:bldP spid="55" grpId="0"/>
      <p:bldP spid="56" grpId="0"/>
      <p:bldP spid="57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7180166" y="1554096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4" name="矩形 73"/>
          <p:cNvSpPr/>
          <p:nvPr/>
        </p:nvSpPr>
        <p:spPr>
          <a:xfrm>
            <a:off x="3029726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5" name="矩形 74"/>
          <p:cNvSpPr/>
          <p:nvPr/>
        </p:nvSpPr>
        <p:spPr>
          <a:xfrm>
            <a:off x="4355312" y="1590167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6" name="矩形 75"/>
          <p:cNvSpPr/>
          <p:nvPr/>
        </p:nvSpPr>
        <p:spPr>
          <a:xfrm>
            <a:off x="5766871" y="1606514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7" name="矩形 76"/>
          <p:cNvSpPr/>
          <p:nvPr/>
        </p:nvSpPr>
        <p:spPr>
          <a:xfrm>
            <a:off x="1846623" y="1634155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6153678" y="2654934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6262994" y="3900824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6129794" y="1876131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1915011" y="2351848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97" name="矩形 96"/>
          <p:cNvSpPr/>
          <p:nvPr/>
        </p:nvSpPr>
        <p:spPr>
          <a:xfrm>
            <a:off x="1920829" y="178151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graphicFrame>
        <p:nvGraphicFramePr>
          <p:cNvPr id="98" name="Object 12"/>
          <p:cNvGraphicFramePr>
            <a:graphicFrameLocks noChangeAspect="1"/>
          </p:cNvGraphicFramePr>
          <p:nvPr/>
        </p:nvGraphicFramePr>
        <p:xfrm>
          <a:off x="1933528" y="1686269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9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28" y="1686269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2"/>
          <p:cNvGraphicFramePr>
            <a:graphicFrameLocks noChangeAspect="1"/>
          </p:cNvGraphicFramePr>
          <p:nvPr/>
        </p:nvGraphicFramePr>
        <p:xfrm>
          <a:off x="1938824" y="2268998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9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824" y="2268998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橢圓 99"/>
          <p:cNvSpPr/>
          <p:nvPr/>
        </p:nvSpPr>
        <p:spPr>
          <a:xfrm>
            <a:off x="3126836" y="16175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1" name="橢圓 100"/>
          <p:cNvSpPr/>
          <p:nvPr/>
        </p:nvSpPr>
        <p:spPr>
          <a:xfrm>
            <a:off x="3129178" y="239608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2" name="橢圓 101"/>
          <p:cNvSpPr/>
          <p:nvPr/>
        </p:nvSpPr>
        <p:spPr>
          <a:xfrm>
            <a:off x="3117545" y="362409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3" name="文字方塊 102"/>
          <p:cNvSpPr txBox="1"/>
          <p:nvPr/>
        </p:nvSpPr>
        <p:spPr>
          <a:xfrm rot="5400000">
            <a:off x="3114798" y="2892503"/>
            <a:ext cx="769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sp>
        <p:nvSpPr>
          <p:cNvPr id="104" name="矩形 103"/>
          <p:cNvSpPr/>
          <p:nvPr/>
        </p:nvSpPr>
        <p:spPr>
          <a:xfrm>
            <a:off x="1924536" y="3749605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graphicFrame>
        <p:nvGraphicFramePr>
          <p:cNvPr id="105" name="Object 12"/>
          <p:cNvGraphicFramePr>
            <a:graphicFrameLocks noChangeAspect="1"/>
          </p:cNvGraphicFramePr>
          <p:nvPr/>
        </p:nvGraphicFramePr>
        <p:xfrm>
          <a:off x="1921420" y="3653351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方程式" r:id="rId8" imgW="190440" imgH="228600" progId="Equation.3">
                  <p:embed/>
                </p:oleObj>
              </mc:Choice>
              <mc:Fallback>
                <p:oleObj name="方程式" r:id="rId8" imgW="190440" imgH="228600" progId="Equation.3">
                  <p:embed/>
                  <p:pic>
                    <p:nvPicPr>
                      <p:cNvPr id="10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420" y="3653351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文字方塊 105"/>
          <p:cNvSpPr txBox="1"/>
          <p:nvPr/>
        </p:nvSpPr>
        <p:spPr>
          <a:xfrm rot="5400000">
            <a:off x="1800468" y="2880659"/>
            <a:ext cx="769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sp>
        <p:nvSpPr>
          <p:cNvPr id="107" name="橢圓 106"/>
          <p:cNvSpPr/>
          <p:nvPr/>
        </p:nvSpPr>
        <p:spPr>
          <a:xfrm>
            <a:off x="4442398" y="161751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8" name="橢圓 107"/>
          <p:cNvSpPr/>
          <p:nvPr/>
        </p:nvSpPr>
        <p:spPr>
          <a:xfrm>
            <a:off x="4444740" y="2396086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9" name="橢圓 108"/>
          <p:cNvSpPr/>
          <p:nvPr/>
        </p:nvSpPr>
        <p:spPr>
          <a:xfrm>
            <a:off x="4433107" y="362409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0" name="文字方塊 109"/>
          <p:cNvSpPr txBox="1"/>
          <p:nvPr/>
        </p:nvSpPr>
        <p:spPr>
          <a:xfrm rot="5400000">
            <a:off x="4430360" y="2892503"/>
            <a:ext cx="769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sp>
        <p:nvSpPr>
          <p:cNvPr id="111" name="橢圓 110"/>
          <p:cNvSpPr/>
          <p:nvPr/>
        </p:nvSpPr>
        <p:spPr>
          <a:xfrm>
            <a:off x="5842715" y="159840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2" name="橢圓 111"/>
          <p:cNvSpPr/>
          <p:nvPr/>
        </p:nvSpPr>
        <p:spPr>
          <a:xfrm>
            <a:off x="5845057" y="2358317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3" name="橢圓 112"/>
          <p:cNvSpPr/>
          <p:nvPr/>
        </p:nvSpPr>
        <p:spPr>
          <a:xfrm>
            <a:off x="5852085" y="3604990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4" name="文字方塊 113"/>
          <p:cNvSpPr txBox="1"/>
          <p:nvPr/>
        </p:nvSpPr>
        <p:spPr>
          <a:xfrm rot="5400000">
            <a:off x="5849338" y="2870232"/>
            <a:ext cx="769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5014443" y="1558932"/>
            <a:ext cx="769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5032066" y="2344431"/>
            <a:ext cx="769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5044246" y="3600723"/>
            <a:ext cx="769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cxnSp>
        <p:nvCxnSpPr>
          <p:cNvPr id="118" name="直線單箭頭接點 117"/>
          <p:cNvCxnSpPr>
            <a:stCxn id="100" idx="6"/>
            <a:endCxn id="107" idx="2"/>
          </p:cNvCxnSpPr>
          <p:nvPr/>
        </p:nvCxnSpPr>
        <p:spPr>
          <a:xfrm>
            <a:off x="3700994" y="1904595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3700994" y="269634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>
            <a:off x="3691703" y="3918316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01" idx="6"/>
            <a:endCxn id="107" idx="2"/>
          </p:cNvCxnSpPr>
          <p:nvPr/>
        </p:nvCxnSpPr>
        <p:spPr>
          <a:xfrm flipV="1">
            <a:off x="3703336" y="1904595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00" idx="6"/>
            <a:endCxn id="108" idx="2"/>
          </p:cNvCxnSpPr>
          <p:nvPr/>
        </p:nvCxnSpPr>
        <p:spPr>
          <a:xfrm>
            <a:off x="3700994" y="1904595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0" idx="6"/>
            <a:endCxn id="109" idx="2"/>
          </p:cNvCxnSpPr>
          <p:nvPr/>
        </p:nvCxnSpPr>
        <p:spPr>
          <a:xfrm>
            <a:off x="3700994" y="1904595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01" idx="6"/>
            <a:endCxn id="109" idx="2"/>
          </p:cNvCxnSpPr>
          <p:nvPr/>
        </p:nvCxnSpPr>
        <p:spPr>
          <a:xfrm>
            <a:off x="3703336" y="2683165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2" idx="6"/>
            <a:endCxn id="107" idx="2"/>
          </p:cNvCxnSpPr>
          <p:nvPr/>
        </p:nvCxnSpPr>
        <p:spPr>
          <a:xfrm flipV="1">
            <a:off x="3691703" y="1904595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2" idx="6"/>
            <a:endCxn id="108" idx="2"/>
          </p:cNvCxnSpPr>
          <p:nvPr/>
        </p:nvCxnSpPr>
        <p:spPr>
          <a:xfrm flipV="1">
            <a:off x="3691703" y="2683165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>
            <a:endCxn id="100" idx="2"/>
          </p:cNvCxnSpPr>
          <p:nvPr/>
        </p:nvCxnSpPr>
        <p:spPr>
          <a:xfrm flipV="1">
            <a:off x="2267436" y="1904595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>
            <a:stCxn id="97" idx="3"/>
            <a:endCxn id="101" idx="2"/>
          </p:cNvCxnSpPr>
          <p:nvPr/>
        </p:nvCxnSpPr>
        <p:spPr>
          <a:xfrm>
            <a:off x="2263729" y="1952969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97" idx="3"/>
            <a:endCxn id="102" idx="2"/>
          </p:cNvCxnSpPr>
          <p:nvPr/>
        </p:nvCxnSpPr>
        <p:spPr>
          <a:xfrm>
            <a:off x="2263729" y="1952969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>
            <a:stCxn id="99" idx="3"/>
            <a:endCxn id="100" idx="2"/>
          </p:cNvCxnSpPr>
          <p:nvPr/>
        </p:nvCxnSpPr>
        <p:spPr>
          <a:xfrm flipV="1">
            <a:off x="2291249" y="1904595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>
            <a:stCxn id="96" idx="3"/>
            <a:endCxn id="101" idx="2"/>
          </p:cNvCxnSpPr>
          <p:nvPr/>
        </p:nvCxnSpPr>
        <p:spPr>
          <a:xfrm>
            <a:off x="2257911" y="2523298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>
            <a:stCxn id="96" idx="3"/>
            <a:endCxn id="102" idx="2"/>
          </p:cNvCxnSpPr>
          <p:nvPr/>
        </p:nvCxnSpPr>
        <p:spPr>
          <a:xfrm>
            <a:off x="2257911" y="2523298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>
            <a:stCxn id="105" idx="3"/>
            <a:endCxn id="100" idx="2"/>
          </p:cNvCxnSpPr>
          <p:nvPr/>
        </p:nvCxnSpPr>
        <p:spPr>
          <a:xfrm flipV="1">
            <a:off x="2329408" y="1904595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>
            <a:stCxn id="105" idx="3"/>
            <a:endCxn id="101" idx="2"/>
          </p:cNvCxnSpPr>
          <p:nvPr/>
        </p:nvCxnSpPr>
        <p:spPr>
          <a:xfrm flipV="1">
            <a:off x="2303039" y="2683165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>
            <a:stCxn id="105" idx="3"/>
            <a:endCxn id="102" idx="2"/>
          </p:cNvCxnSpPr>
          <p:nvPr/>
        </p:nvCxnSpPr>
        <p:spPr>
          <a:xfrm>
            <a:off x="2303039" y="3897771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 rot="5400000">
            <a:off x="7122356" y="2901204"/>
            <a:ext cx="769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……</a:t>
            </a:r>
            <a:endParaRPr lang="zh-TW" altLang="en-US" sz="2400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7191449" y="1536271"/>
            <a:ext cx="63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y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7180166" y="2334491"/>
            <a:ext cx="63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y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7180166" y="3600723"/>
            <a:ext cx="63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y</a:t>
            </a:r>
            <a:r>
              <a:rPr lang="en-US" altLang="zh-TW" sz="2400" baseline="-25000" dirty="0" err="1"/>
              <a:t>M</a:t>
            </a:r>
            <a:endParaRPr lang="zh-TW" altLang="en-US" sz="2400" baseline="-25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ffectLst/>
                <a:latin typeface="微软雅黑" pitchFamily="34" charset="-122"/>
                <a:ea typeface="微软雅黑" pitchFamily="34" charset="-122"/>
              </a:rPr>
              <a:t>Neural Network </a:t>
            </a:r>
            <a:endParaRPr lang="zh-TW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318544" y="2185783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</a:t>
            </a:r>
            <a:r>
              <a:rPr lang="en-US" altLang="zh-TW" baseline="30000" dirty="0"/>
              <a:t>1</a:t>
            </a:r>
            <a:endParaRPr lang="zh-TW" altLang="en-US" baseline="30000" dirty="0"/>
          </a:p>
        </p:txBody>
      </p:sp>
      <p:sp>
        <p:nvSpPr>
          <p:cNvPr id="79" name="矩形 78"/>
          <p:cNvSpPr/>
          <p:nvPr/>
        </p:nvSpPr>
        <p:spPr>
          <a:xfrm>
            <a:off x="3706747" y="2193987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</a:t>
            </a:r>
            <a:r>
              <a:rPr lang="en-US" altLang="zh-TW" baseline="30000" dirty="0"/>
              <a:t>2</a:t>
            </a:r>
            <a:endParaRPr lang="zh-TW" altLang="en-US" baseline="30000" dirty="0"/>
          </a:p>
        </p:txBody>
      </p:sp>
      <p:sp>
        <p:nvSpPr>
          <p:cNvPr id="80" name="矩形 79"/>
          <p:cNvSpPr/>
          <p:nvPr/>
        </p:nvSpPr>
        <p:spPr>
          <a:xfrm>
            <a:off x="5172752" y="2187088"/>
            <a:ext cx="807843" cy="8323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</a:t>
            </a:r>
            <a:r>
              <a:rPr lang="en-US" altLang="zh-TW" baseline="30000" dirty="0"/>
              <a:t>L</a:t>
            </a:r>
            <a:endParaRPr lang="zh-TW" altLang="en-US" baseline="30000" dirty="0"/>
          </a:p>
        </p:txBody>
      </p:sp>
      <p:sp>
        <p:nvSpPr>
          <p:cNvPr id="82" name="矩形 81"/>
          <p:cNvSpPr/>
          <p:nvPr/>
        </p:nvSpPr>
        <p:spPr>
          <a:xfrm>
            <a:off x="4322227" y="2527382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r>
              <a:rPr lang="en-US" altLang="zh-TW" baseline="30000" dirty="0"/>
              <a:t>2</a:t>
            </a:r>
            <a:endParaRPr lang="zh-TW" altLang="en-US" baseline="30000" dirty="0"/>
          </a:p>
        </p:txBody>
      </p:sp>
      <p:sp>
        <p:nvSpPr>
          <p:cNvPr id="83" name="矩形 82"/>
          <p:cNvSpPr/>
          <p:nvPr/>
        </p:nvSpPr>
        <p:spPr>
          <a:xfrm>
            <a:off x="5812126" y="2503875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b</a:t>
            </a:r>
            <a:r>
              <a:rPr lang="en-US" altLang="zh-TW" baseline="30000" dirty="0" err="1"/>
              <a:t>L</a:t>
            </a:r>
            <a:endParaRPr lang="zh-TW" altLang="en-US" baseline="30000" dirty="0"/>
          </a:p>
        </p:txBody>
      </p:sp>
      <p:sp>
        <p:nvSpPr>
          <p:cNvPr id="88" name="矩形 87"/>
          <p:cNvSpPr/>
          <p:nvPr/>
        </p:nvSpPr>
        <p:spPr>
          <a:xfrm>
            <a:off x="2230673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</a:t>
            </a:r>
            <a:endParaRPr lang="zh-TW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3540087" y="358102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</a:t>
            </a:r>
            <a:r>
              <a:rPr lang="en-US" altLang="zh-TW" baseline="30000" dirty="0"/>
              <a:t>1</a:t>
            </a:r>
            <a:endParaRPr lang="zh-TW" altLang="en-US" baseline="30000" dirty="0"/>
          </a:p>
        </p:txBody>
      </p:sp>
      <p:sp>
        <p:nvSpPr>
          <p:cNvPr id="90" name="矩形 89"/>
          <p:cNvSpPr/>
          <p:nvPr/>
        </p:nvSpPr>
        <p:spPr>
          <a:xfrm>
            <a:off x="4875211" y="3594769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</a:t>
            </a:r>
            <a:r>
              <a:rPr lang="en-US" altLang="zh-TW" baseline="30000" dirty="0"/>
              <a:t>2</a:t>
            </a:r>
            <a:endParaRPr lang="zh-TW" altLang="en-US" baseline="30000" dirty="0"/>
          </a:p>
        </p:txBody>
      </p:sp>
      <p:sp>
        <p:nvSpPr>
          <p:cNvPr id="92" name="矩形 91"/>
          <p:cNvSpPr/>
          <p:nvPr/>
        </p:nvSpPr>
        <p:spPr>
          <a:xfrm>
            <a:off x="6464825" y="3589712"/>
            <a:ext cx="441359" cy="8770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</a:t>
            </a:r>
            <a:endParaRPr lang="zh-TW" altLang="en-US" baseline="30000" dirty="0"/>
          </a:p>
        </p:txBody>
      </p:sp>
      <p:grpSp>
        <p:nvGrpSpPr>
          <p:cNvPr id="4" name="群組 3"/>
          <p:cNvGrpSpPr/>
          <p:nvPr/>
        </p:nvGrpSpPr>
        <p:grpSpPr>
          <a:xfrm>
            <a:off x="214625" y="4820851"/>
            <a:ext cx="2965107" cy="877076"/>
            <a:chOff x="574589" y="4911258"/>
            <a:chExt cx="2965107" cy="877076"/>
          </a:xfrm>
        </p:grpSpPr>
        <p:sp>
          <p:nvSpPr>
            <p:cNvPr id="71" name="矩形 70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b</a:t>
              </a:r>
              <a:r>
                <a:rPr lang="en-US" altLang="zh-TW" baseline="30000" dirty="0"/>
                <a:t>1</a:t>
              </a:r>
              <a:endParaRPr lang="zh-TW" altLang="en-US" baseline="30000" dirty="0"/>
            </a:p>
          </p:txBody>
        </p:sp>
        <p:sp>
          <p:nvSpPr>
            <p:cNvPr id="143" name="矩形 142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W</a:t>
              </a:r>
              <a:r>
                <a:rPr lang="en-US" altLang="zh-TW" baseline="30000" dirty="0"/>
                <a:t>1</a:t>
              </a:r>
              <a:endParaRPr lang="zh-TW" altLang="en-US" baseline="30000" dirty="0"/>
            </a:p>
          </p:txBody>
        </p:sp>
        <p:sp>
          <p:nvSpPr>
            <p:cNvPr id="144" name="矩形 143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x</a:t>
              </a:r>
              <a:endParaRPr lang="zh-TW" altLang="en-US" dirty="0"/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2384389" y="5106861"/>
              <a:ext cx="3606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+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/>
                <p:cNvSpPr txBox="1"/>
                <p:nvPr/>
              </p:nvSpPr>
              <p:spPr>
                <a:xfrm>
                  <a:off x="574589" y="5165130"/>
                  <a:ext cx="296510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45" name="文字方塊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589" y="5165130"/>
                  <a:ext cx="2965107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9" name="群組 158"/>
          <p:cNvGrpSpPr/>
          <p:nvPr/>
        </p:nvGrpSpPr>
        <p:grpSpPr>
          <a:xfrm>
            <a:off x="3282429" y="5192193"/>
            <a:ext cx="2796791" cy="877076"/>
            <a:chOff x="639904" y="4911258"/>
            <a:chExt cx="2796791" cy="877076"/>
          </a:xfrm>
        </p:grpSpPr>
        <p:sp>
          <p:nvSpPr>
            <p:cNvPr id="160" name="矩形 159"/>
            <p:cNvSpPr/>
            <p:nvPr/>
          </p:nvSpPr>
          <p:spPr>
            <a:xfrm>
              <a:off x="280429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b</a:t>
              </a:r>
              <a:r>
                <a:rPr lang="en-US" altLang="zh-TW" baseline="30000" dirty="0"/>
                <a:t>2</a:t>
              </a:r>
              <a:endParaRPr lang="zh-TW" altLang="en-US" baseline="30000" dirty="0"/>
            </a:p>
          </p:txBody>
        </p:sp>
        <p:sp>
          <p:nvSpPr>
            <p:cNvPr id="161" name="矩形 160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W</a:t>
              </a:r>
              <a:r>
                <a:rPr lang="en-US" altLang="zh-TW" baseline="30000" dirty="0"/>
                <a:t>2</a:t>
              </a:r>
              <a:endParaRPr lang="zh-TW" altLang="en-US" baseline="30000" dirty="0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r>
                <a:rPr lang="en-US" altLang="zh-TW" baseline="30000" dirty="0"/>
                <a:t>1</a:t>
              </a:r>
              <a:endParaRPr lang="zh-TW" altLang="en-US" baseline="30000" dirty="0"/>
            </a:p>
          </p:txBody>
        </p:sp>
        <p:sp>
          <p:nvSpPr>
            <p:cNvPr id="163" name="文字方塊 162"/>
            <p:cNvSpPr txBox="1"/>
            <p:nvPr/>
          </p:nvSpPr>
          <p:spPr>
            <a:xfrm>
              <a:off x="2384389" y="5106861"/>
              <a:ext cx="3606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+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字方塊 163"/>
                <p:cNvSpPr txBox="1"/>
                <p:nvPr/>
              </p:nvSpPr>
              <p:spPr>
                <a:xfrm>
                  <a:off x="639904" y="5165130"/>
                  <a:ext cx="279679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4" name="文字方塊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904" y="5165130"/>
                  <a:ext cx="2796791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436" b="-19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群組 164"/>
          <p:cNvGrpSpPr/>
          <p:nvPr/>
        </p:nvGrpSpPr>
        <p:grpSpPr>
          <a:xfrm>
            <a:off x="6134009" y="5784539"/>
            <a:ext cx="2740687" cy="877076"/>
            <a:chOff x="652967" y="4911258"/>
            <a:chExt cx="2740687" cy="877076"/>
          </a:xfrm>
        </p:grpSpPr>
        <p:sp>
          <p:nvSpPr>
            <p:cNvPr id="166" name="矩形 165"/>
            <p:cNvSpPr/>
            <p:nvPr/>
          </p:nvSpPr>
          <p:spPr>
            <a:xfrm>
              <a:off x="2743512" y="4913061"/>
              <a:ext cx="450868" cy="85455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b</a:t>
              </a:r>
              <a:r>
                <a:rPr lang="en-US" altLang="zh-TW" baseline="30000" dirty="0" err="1"/>
                <a:t>L</a:t>
              </a:r>
              <a:endParaRPr lang="zh-TW" altLang="en-US" baseline="30000" dirty="0"/>
            </a:p>
          </p:txBody>
        </p:sp>
        <p:sp>
          <p:nvSpPr>
            <p:cNvPr id="167" name="矩形 166"/>
            <p:cNvSpPr/>
            <p:nvPr/>
          </p:nvSpPr>
          <p:spPr>
            <a:xfrm>
              <a:off x="982807" y="4935213"/>
              <a:ext cx="807843" cy="8323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W</a:t>
              </a:r>
              <a:r>
                <a:rPr lang="en-US" altLang="zh-TW" baseline="30000" dirty="0"/>
                <a:t>L</a:t>
              </a:r>
              <a:endParaRPr lang="zh-TW" altLang="en-US" baseline="30000" dirty="0"/>
            </a:p>
          </p:txBody>
        </p:sp>
        <p:sp>
          <p:nvSpPr>
            <p:cNvPr id="168" name="矩形 167"/>
            <p:cNvSpPr/>
            <p:nvPr/>
          </p:nvSpPr>
          <p:spPr>
            <a:xfrm>
              <a:off x="1883749" y="4911258"/>
              <a:ext cx="441359" cy="87707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aseline="30000" dirty="0"/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2384389" y="5106861"/>
              <a:ext cx="3606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+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字方塊 169"/>
                <p:cNvSpPr txBox="1"/>
                <p:nvPr/>
              </p:nvSpPr>
              <p:spPr>
                <a:xfrm>
                  <a:off x="652967" y="5165130"/>
                  <a:ext cx="274068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70" name="文字方塊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967" y="5165130"/>
                  <a:ext cx="2740687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444" b="-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單箭頭接點 6"/>
          <p:cNvCxnSpPr>
            <a:stCxn id="145" idx="3"/>
            <a:endCxn id="89" idx="2"/>
          </p:cNvCxnSpPr>
          <p:nvPr/>
        </p:nvCxnSpPr>
        <p:spPr>
          <a:xfrm flipV="1">
            <a:off x="3179732" y="4458105"/>
            <a:ext cx="581035" cy="7705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307047" y="5985200"/>
            <a:ext cx="583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/>
              <a:t>a</a:t>
            </a:r>
            <a:r>
              <a:rPr lang="en-US" altLang="zh-TW" baseline="30000" dirty="0"/>
              <a:t>L-1</a:t>
            </a:r>
            <a:endParaRPr lang="zh-TW" altLang="en-US" baseline="30000" dirty="0"/>
          </a:p>
        </p:txBody>
      </p:sp>
      <p:sp>
        <p:nvSpPr>
          <p:cNvPr id="173" name="矩形 172"/>
          <p:cNvSpPr/>
          <p:nvPr/>
        </p:nvSpPr>
        <p:spPr>
          <a:xfrm>
            <a:off x="2881004" y="2531687"/>
            <a:ext cx="450868" cy="854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r>
              <a:rPr lang="en-US" altLang="zh-TW" baseline="30000" dirty="0"/>
              <a:t>1</a:t>
            </a:r>
            <a:endParaRPr lang="zh-TW" altLang="en-US" baseline="30000" dirty="0"/>
          </a:p>
        </p:txBody>
      </p:sp>
      <p:sp>
        <p:nvSpPr>
          <p:cNvPr id="24" name="手繪多邊形 23"/>
          <p:cNvSpPr/>
          <p:nvPr/>
        </p:nvSpPr>
        <p:spPr>
          <a:xfrm>
            <a:off x="5351489" y="4437089"/>
            <a:ext cx="882753" cy="1169232"/>
          </a:xfrm>
          <a:custGeom>
            <a:avLst/>
            <a:gdLst>
              <a:gd name="connsiteX0" fmla="*/ 749508 w 882753"/>
              <a:gd name="connsiteY0" fmla="*/ 1169232 h 1169232"/>
              <a:gd name="connsiteX1" fmla="*/ 824459 w 882753"/>
              <a:gd name="connsiteY1" fmla="*/ 779488 h 1169232"/>
              <a:gd name="connsiteX2" fmla="*/ 0 w 882753"/>
              <a:gd name="connsiteY2" fmla="*/ 0 h 116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753" h="1169232">
                <a:moveTo>
                  <a:pt x="749508" y="1169232"/>
                </a:moveTo>
                <a:cubicBezTo>
                  <a:pt x="849442" y="1071796"/>
                  <a:pt x="949377" y="974360"/>
                  <a:pt x="824459" y="779488"/>
                </a:cubicBezTo>
                <a:cubicBezTo>
                  <a:pt x="699541" y="584616"/>
                  <a:pt x="349770" y="292308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5" name="手繪多邊形 24"/>
          <p:cNvSpPr/>
          <p:nvPr/>
        </p:nvSpPr>
        <p:spPr>
          <a:xfrm>
            <a:off x="6925456" y="4407108"/>
            <a:ext cx="2027943" cy="1783830"/>
          </a:xfrm>
          <a:custGeom>
            <a:avLst/>
            <a:gdLst>
              <a:gd name="connsiteX0" fmla="*/ 1933731 w 2027943"/>
              <a:gd name="connsiteY0" fmla="*/ 1783830 h 1783830"/>
              <a:gd name="connsiteX1" fmla="*/ 1993692 w 2027943"/>
              <a:gd name="connsiteY1" fmla="*/ 1319135 h 1783830"/>
              <a:gd name="connsiteX2" fmla="*/ 1469036 w 2027943"/>
              <a:gd name="connsiteY2" fmla="*/ 449705 h 1783830"/>
              <a:gd name="connsiteX3" fmla="*/ 0 w 2027943"/>
              <a:gd name="connsiteY3" fmla="*/ 0 h 178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7943" h="1783830">
                <a:moveTo>
                  <a:pt x="1933731" y="1783830"/>
                </a:moveTo>
                <a:cubicBezTo>
                  <a:pt x="2002436" y="1662659"/>
                  <a:pt x="2071141" y="1541489"/>
                  <a:pt x="1993692" y="1319135"/>
                </a:cubicBezTo>
                <a:cubicBezTo>
                  <a:pt x="1916243" y="1096781"/>
                  <a:pt x="1801318" y="669561"/>
                  <a:pt x="1469036" y="449705"/>
                </a:cubicBezTo>
                <a:cubicBezTo>
                  <a:pt x="1136754" y="229849"/>
                  <a:pt x="568377" y="11492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60575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9" grpId="0" animBg="1"/>
      <p:bldP spid="80" grpId="0" animBg="1"/>
      <p:bldP spid="82" grpId="0" animBg="1"/>
      <p:bldP spid="83" grpId="0" animBg="1"/>
      <p:bldP spid="88" grpId="0" animBg="1"/>
      <p:bldP spid="89" grpId="0" animBg="1"/>
      <p:bldP spid="90" grpId="0" animBg="1"/>
      <p:bldP spid="92" grpId="0" animBg="1"/>
      <p:bldP spid="14" grpId="0"/>
      <p:bldP spid="17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ffectLst/>
                <a:latin typeface="微软雅黑" pitchFamily="34" charset="-122"/>
                <a:ea typeface="微软雅黑" pitchFamily="34" charset="-122"/>
              </a:rPr>
              <a:t>Multilayer Perceptron (MLP)</a:t>
            </a:r>
            <a:endParaRPr lang="zh-CN" altLang="en-US" sz="3200" dirty="0">
              <a:effectLst/>
            </a:endParaRPr>
          </a:p>
        </p:txBody>
      </p:sp>
      <p:pic>
        <p:nvPicPr>
          <p:cNvPr id="5" name="图片 4" descr="https://mmbiz.qpic.cn/mmbiz_jpg/YicUhk5aAGtDlq23aib5RPx9icONzmjtNx4ibblNpmiaxFtAibGbuLPg4phx6cGJyLVChEDy8HYZw4Rwkshf28ficFlcg/640?wx_fmt=jpeg&amp;wxfrom=5&amp;wx_lazy=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9" t="23693" r="8423" b="12284"/>
          <a:stretch/>
        </p:blipFill>
        <p:spPr bwMode="auto">
          <a:xfrm>
            <a:off x="251520" y="1556792"/>
            <a:ext cx="8784976" cy="43924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57500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effectLst/>
                <a:latin typeface="微软雅黑" pitchFamily="34" charset="-122"/>
                <a:ea typeface="微软雅黑" pitchFamily="34" charset="-122"/>
              </a:rPr>
              <a:t>Example Application</a:t>
            </a:r>
            <a:endParaRPr lang="zh-TW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585600"/>
            <a:ext cx="2178506" cy="216463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538700" y="2600114"/>
            <a:ext cx="2034073" cy="15167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Machine</a:t>
            </a:r>
            <a:endParaRPr lang="zh-TW" altLang="en-US" sz="2400" dirty="0"/>
          </a:p>
        </p:txBody>
      </p:sp>
      <p:sp>
        <p:nvSpPr>
          <p:cNvPr id="8" name="向右箭號 7"/>
          <p:cNvSpPr/>
          <p:nvPr/>
        </p:nvSpPr>
        <p:spPr>
          <a:xfrm>
            <a:off x="2809498" y="2945918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9" name="向右箭號 8"/>
          <p:cNvSpPr/>
          <p:nvPr/>
        </p:nvSpPr>
        <p:spPr>
          <a:xfrm>
            <a:off x="5665441" y="2955784"/>
            <a:ext cx="714688" cy="847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" name="文字方塊 9"/>
          <p:cNvSpPr txBox="1"/>
          <p:nvPr/>
        </p:nvSpPr>
        <p:spPr>
          <a:xfrm>
            <a:off x="6380130" y="3087169"/>
            <a:ext cx="721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+mn-lt"/>
              </a:rPr>
              <a:t>“2”</a:t>
            </a:r>
            <a:endParaRPr lang="zh-TW" altLang="en-US" sz="2800" dirty="0">
              <a:latin typeface="+mn-lt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2175798" y="1700808"/>
            <a:ext cx="909159" cy="3240360"/>
            <a:chOff x="2462115" y="2538616"/>
            <a:chExt cx="550502" cy="2625052"/>
          </a:xfrm>
        </p:grpSpPr>
        <p:sp>
          <p:nvSpPr>
            <p:cNvPr id="12" name="矩形 11"/>
            <p:cNvSpPr/>
            <p:nvPr/>
          </p:nvSpPr>
          <p:spPr>
            <a:xfrm>
              <a:off x="2462115" y="253861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30503" y="325630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2536321" y="268598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  <p:graphicFrame>
          <p:nvGraphicFramePr>
            <p:cNvPr id="15" name="Object 12"/>
            <p:cNvGraphicFramePr>
              <a:graphicFrameLocks noChangeAspect="1"/>
            </p:cNvGraphicFramePr>
            <p:nvPr/>
          </p:nvGraphicFramePr>
          <p:xfrm>
            <a:off x="2549020" y="259073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5" name="方程式" r:id="rId5" imgW="152280" imgH="215640" progId="Equation.3">
                    <p:embed/>
                  </p:oleObj>
                </mc:Choice>
                <mc:Fallback>
                  <p:oleObj name="方程式" r:id="rId5" imgW="152280" imgH="215640" progId="Equation.3">
                    <p:embed/>
                    <p:pic>
                      <p:nvPicPr>
                        <p:cNvPr id="1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9020" y="259073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2554316" y="317345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" name="方程式" r:id="rId7" imgW="164880" imgH="215640" progId="Equation.3">
                    <p:embed/>
                  </p:oleObj>
                </mc:Choice>
                <mc:Fallback>
                  <p:oleObj name="方程式" r:id="rId7" imgW="164880" imgH="21564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316" y="317345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/>
            <p:cNvSpPr/>
            <p:nvPr/>
          </p:nvSpPr>
          <p:spPr>
            <a:xfrm>
              <a:off x="2540028" y="465406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  <p:graphicFrame>
          <p:nvGraphicFramePr>
            <p:cNvPr id="18" name="Object 12"/>
            <p:cNvGraphicFramePr>
              <a:graphicFrameLocks noChangeAspect="1"/>
            </p:cNvGraphicFramePr>
            <p:nvPr/>
          </p:nvGraphicFramePr>
          <p:xfrm>
            <a:off x="2468105" y="4557299"/>
            <a:ext cx="544512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7" name="方程式" r:id="rId9" imgW="253800" imgH="228600" progId="Equation.3">
                    <p:embed/>
                  </p:oleObj>
                </mc:Choice>
                <mc:Fallback>
                  <p:oleObj name="方程式" r:id="rId9" imgW="253800" imgH="228600" progId="Equation.3">
                    <p:embed/>
                    <p:pic>
                      <p:nvPicPr>
                        <p:cNvPr id="1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8105" y="4557299"/>
                          <a:ext cx="544512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字方塊 18"/>
            <p:cNvSpPr txBox="1"/>
            <p:nvPr/>
          </p:nvSpPr>
          <p:spPr>
            <a:xfrm rot="5400000">
              <a:off x="2415960" y="4060846"/>
              <a:ext cx="769257" cy="279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+mn-lt"/>
                </a:rPr>
                <a:t>……</a:t>
              </a:r>
              <a:endParaRPr lang="zh-TW" altLang="en-US" sz="2400" dirty="0">
                <a:latin typeface="+mn-lt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228185" y="1700808"/>
            <a:ext cx="799962" cy="3240360"/>
            <a:chOff x="7142066" y="1987121"/>
            <a:chExt cx="642352" cy="2642877"/>
          </a:xfrm>
        </p:grpSpPr>
        <p:sp>
          <p:nvSpPr>
            <p:cNvPr id="21" name="矩形 20"/>
            <p:cNvSpPr/>
            <p:nvPr/>
          </p:nvSpPr>
          <p:spPr>
            <a:xfrm>
              <a:off x="7142066" y="2004946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7084256" y="3582198"/>
              <a:ext cx="769257" cy="370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+mn-lt"/>
                </a:rPr>
                <a:t>……</a:t>
              </a:r>
              <a:endParaRPr lang="zh-TW" altLang="en-US" sz="2400" dirty="0">
                <a:latin typeface="+mn-lt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153349" y="1987121"/>
              <a:ext cx="631069" cy="376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+mn-lt"/>
                </a:rPr>
                <a:t>y</a:t>
              </a:r>
              <a:r>
                <a:rPr lang="en-US" altLang="zh-TW" sz="2400" baseline="-25000" dirty="0">
                  <a:latin typeface="+mn-lt"/>
                </a:rPr>
                <a:t>1</a:t>
              </a:r>
              <a:endParaRPr lang="zh-TW" altLang="en-US" sz="2400" baseline="-25000" dirty="0">
                <a:latin typeface="+mn-lt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7142066" y="2785341"/>
              <a:ext cx="631069" cy="376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+mn-lt"/>
                </a:rPr>
                <a:t>y</a:t>
              </a:r>
              <a:r>
                <a:rPr lang="en-US" altLang="zh-TW" sz="2400" baseline="-25000" dirty="0">
                  <a:latin typeface="+mn-lt"/>
                </a:rPr>
                <a:t>2</a:t>
              </a:r>
              <a:endParaRPr lang="zh-TW" altLang="en-US" sz="2400" baseline="-25000" dirty="0">
                <a:latin typeface="+mn-lt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142066" y="4051573"/>
              <a:ext cx="631069" cy="376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+mn-lt"/>
                </a:rPr>
                <a:t>y</a:t>
              </a:r>
              <a:r>
                <a:rPr lang="en-US" altLang="zh-TW" sz="2400" baseline="-25000" dirty="0">
                  <a:latin typeface="+mn-lt"/>
                </a:rPr>
                <a:t>10</a:t>
              </a:r>
              <a:endParaRPr lang="zh-TW" altLang="en-US" sz="2400" baseline="-25000" dirty="0">
                <a:latin typeface="+mn-lt"/>
              </a:endParaRPr>
            </a:p>
          </p:txBody>
        </p:sp>
      </p:grpSp>
      <p:sp>
        <p:nvSpPr>
          <p:cNvPr id="26" name="文字方塊 25"/>
          <p:cNvSpPr txBox="1"/>
          <p:nvPr/>
        </p:nvSpPr>
        <p:spPr>
          <a:xfrm>
            <a:off x="7174546" y="1772816"/>
            <a:ext cx="861633" cy="4001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is 1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7181855" y="2708920"/>
            <a:ext cx="847013" cy="4001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is 2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181855" y="4335487"/>
            <a:ext cx="834766" cy="4001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is 0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7122190" y="3557282"/>
            <a:ext cx="1153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+mn-lt"/>
              </a:rPr>
              <a:t>……</a:t>
            </a:r>
            <a:endParaRPr lang="zh-TW" altLang="en-US" sz="2400" dirty="0">
              <a:latin typeface="+mn-lt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122639" y="4144209"/>
            <a:ext cx="2932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+mn-lt"/>
              </a:rPr>
              <a:t>What is needed is a function ……</a:t>
            </a:r>
            <a:endParaRPr lang="zh-TW" altLang="en-US" dirty="0">
              <a:latin typeface="+mn-lt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39553" y="5290872"/>
            <a:ext cx="2928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+mn-lt"/>
              </a:rPr>
              <a:t>Input: </a:t>
            </a:r>
          </a:p>
          <a:p>
            <a:pPr algn="ctr"/>
            <a:r>
              <a:rPr lang="en-US" altLang="zh-TW" b="1" dirty="0">
                <a:latin typeface="+mn-lt"/>
              </a:rPr>
              <a:t>256-dim vector</a:t>
            </a:r>
            <a:endParaRPr lang="zh-TW" altLang="en-US" b="1" dirty="0">
              <a:latin typeface="+mn-lt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5675945" y="5285696"/>
            <a:ext cx="2153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+mn-lt"/>
              </a:rPr>
              <a:t>output: </a:t>
            </a:r>
          </a:p>
          <a:p>
            <a:pPr algn="ctr"/>
            <a:r>
              <a:rPr lang="en-US" altLang="zh-TW" b="1" dirty="0">
                <a:latin typeface="+mn-lt"/>
              </a:rPr>
              <a:t>10-dim vector</a:t>
            </a:r>
            <a:endParaRPr lang="zh-TW" altLang="en-US" b="1" dirty="0">
              <a:latin typeface="+mn-lt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788115" y="2945918"/>
            <a:ext cx="1609082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Neural</a:t>
            </a:r>
          </a:p>
          <a:p>
            <a:pPr algn="ctr"/>
            <a:r>
              <a:rPr lang="en-US" altLang="zh-TW" sz="2400" dirty="0"/>
              <a:t>Network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8901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0" grpId="0"/>
      <p:bldP spid="11" grpId="0"/>
      <p:bldP spid="31" grpId="0"/>
      <p:bldP spid="33" grpId="0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激活函数</a:t>
            </a:r>
          </a:p>
        </p:txBody>
      </p:sp>
      <p:pic>
        <p:nvPicPr>
          <p:cNvPr id="3" name="图片 2" descr="https://img-blog.csdn.net/2017121517502436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645" y="1197098"/>
            <a:ext cx="1944216" cy="78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 descr="https://img-blog.csdn.net/2017121517502739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36" y="2071899"/>
            <a:ext cx="2412268" cy="124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147996" y="1124744"/>
            <a:ext cx="1362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sigmoid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4471717" y="1196752"/>
            <a:ext cx="14539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cs typeface="Helvetica" panose="020B0604020202020204" pitchFamily="34" charset="0"/>
              </a:rPr>
              <a:t>softmax</a:t>
            </a:r>
            <a:endParaRPr lang="zh-CN" altLang="en-US" sz="2400" dirty="0"/>
          </a:p>
        </p:txBody>
      </p:sp>
      <p:pic>
        <p:nvPicPr>
          <p:cNvPr id="7" name="图片 6" descr="https://pic1.zhimg.com/50/v2-87b232ab0e292a536e94b73952caadd0_hd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244" y="1595672"/>
            <a:ext cx="5082736" cy="294828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154489" y="3671170"/>
            <a:ext cx="23184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4F4F4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正切函数（</a:t>
            </a:r>
            <a:r>
              <a:rPr lang="en-US" altLang="zh-CN" dirty="0" err="1">
                <a:solidFill>
                  <a:srgbClr val="4F4F4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Tanh</a:t>
            </a:r>
            <a:r>
              <a:rPr lang="zh-CN" altLang="zh-CN" dirty="0">
                <a:solidFill>
                  <a:srgbClr val="4F4F4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pic>
        <p:nvPicPr>
          <p:cNvPr id="9" name="图片 8" descr="https://img-blog.csdn.net/20171215175031284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33" y="4183390"/>
            <a:ext cx="2233511" cy="7925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0" name="图片 9" descr="https://img-blog.csdn.net/2017121517503480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42" y="5084936"/>
            <a:ext cx="2024856" cy="16045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矩形 10"/>
          <p:cNvSpPr/>
          <p:nvPr/>
        </p:nvSpPr>
        <p:spPr>
          <a:xfrm>
            <a:off x="4075463" y="4599116"/>
            <a:ext cx="29081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4F4F4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线性整流函数（</a:t>
            </a:r>
            <a:r>
              <a:rPr lang="en-US" altLang="zh-CN" dirty="0" err="1">
                <a:solidFill>
                  <a:srgbClr val="4F4F4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ReLU</a:t>
            </a:r>
            <a:r>
              <a:rPr lang="zh-CN" altLang="zh-CN" dirty="0">
                <a:solidFill>
                  <a:srgbClr val="4F4F4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pic>
        <p:nvPicPr>
          <p:cNvPr id="12" name="图片 11" descr="https://img-blog.csdn.net/20171215175038298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903" y="5426207"/>
            <a:ext cx="1999615" cy="922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3" name="图片 12" descr="https://img-blog.csdn.net/20171215175043365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357" y="4975919"/>
            <a:ext cx="2329815" cy="1571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2993964"/>
      </p:ext>
    </p:extLst>
  </p:cSld>
  <p:clrMapOvr>
    <a:masterClrMapping/>
  </p:clrMapOvr>
  <p:transition spd="slow">
    <p:circl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目标函数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088" y="2032552"/>
            <a:ext cx="2450332" cy="772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16" y="3707862"/>
            <a:ext cx="3689199" cy="7892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16" y="4943491"/>
            <a:ext cx="3650109" cy="5988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067" y="2209482"/>
            <a:ext cx="3041660" cy="70771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9130" y="3484962"/>
            <a:ext cx="3020652" cy="7699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016" y="5013176"/>
            <a:ext cx="4017763" cy="585924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084168" y="1525489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交叉熵</a:t>
            </a:r>
          </a:p>
        </p:txBody>
      </p:sp>
      <p:sp>
        <p:nvSpPr>
          <p:cNvPr id="14" name="矩形 13"/>
          <p:cNvSpPr/>
          <p:nvPr/>
        </p:nvSpPr>
        <p:spPr>
          <a:xfrm>
            <a:off x="366385" y="1781369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均方差</a:t>
            </a:r>
          </a:p>
        </p:txBody>
      </p:sp>
      <p:sp>
        <p:nvSpPr>
          <p:cNvPr id="15" name="矩形 14"/>
          <p:cNvSpPr/>
          <p:nvPr/>
        </p:nvSpPr>
        <p:spPr>
          <a:xfrm>
            <a:off x="864046" y="1315659"/>
            <a:ext cx="35750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dirty="0">
                <a:solidFill>
                  <a:srgbClr val="4D4D4D"/>
                </a:solidFill>
                <a:cs typeface="Arial" panose="020B0604020202020204" pitchFamily="34" charset="0"/>
              </a:rPr>
              <a:t>MSE</a:t>
            </a:r>
            <a:r>
              <a:rPr lang="zh-CN" altLang="en-US" b="0" dirty="0">
                <a:solidFill>
                  <a:srgbClr val="4D4D4D"/>
                </a:solidFill>
                <a:cs typeface="Arial" panose="020B0604020202020204" pitchFamily="34" charset="0"/>
              </a:rPr>
              <a:t>（</a:t>
            </a:r>
            <a:r>
              <a:rPr lang="en-US" altLang="zh-CN" b="0" dirty="0">
                <a:solidFill>
                  <a:srgbClr val="4D4D4D"/>
                </a:solidFill>
                <a:cs typeface="Arial" panose="020B0604020202020204" pitchFamily="34" charset="0"/>
              </a:rPr>
              <a:t>Mean Squared Error</a:t>
            </a:r>
            <a:r>
              <a:rPr lang="zh-CN" altLang="en-US" b="0" dirty="0">
                <a:solidFill>
                  <a:srgbClr val="4D4D4D"/>
                </a:solidFill>
                <a:cs typeface="Arial" panose="020B0604020202020204" pitchFamily="34" charset="0"/>
              </a:rPr>
              <a:t>）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57985" y="4743436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多分类</a:t>
            </a:r>
          </a:p>
        </p:txBody>
      </p:sp>
      <p:sp>
        <p:nvSpPr>
          <p:cNvPr id="18" name="矩形 17"/>
          <p:cNvSpPr/>
          <p:nvPr/>
        </p:nvSpPr>
        <p:spPr>
          <a:xfrm>
            <a:off x="395536" y="3100898"/>
            <a:ext cx="23230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相对熵（</a:t>
            </a:r>
            <a:r>
              <a:rPr lang="en-US" altLang="zh-CN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KL</a:t>
            </a:r>
            <a:r>
              <a:rPr lang="zh-CN" altLang="zh-CN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散度）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808162"/>
      </p:ext>
    </p:extLst>
  </p:cSld>
  <p:clrMapOvr>
    <a:masterClrMapping/>
  </p:clrMapOvr>
  <p:transition spd="slow">
    <p:circl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单分类与多分类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07" y="1308609"/>
            <a:ext cx="8627244" cy="11521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76" y="4142050"/>
            <a:ext cx="8582707" cy="11521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491" y="5325627"/>
            <a:ext cx="4769669" cy="9135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5493" y="6165304"/>
            <a:ext cx="5119320" cy="51193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1674" y="2485735"/>
            <a:ext cx="3020652" cy="769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1443" y="3300414"/>
            <a:ext cx="4017763" cy="585924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 bwMode="auto">
          <a:xfrm>
            <a:off x="2987824" y="4112380"/>
            <a:ext cx="812445" cy="1152128"/>
          </a:xfrm>
          <a:prstGeom prst="roundRect">
            <a:avLst/>
          </a:prstGeom>
          <a:solidFill>
            <a:srgbClr val="FF0000">
              <a:alpha val="24000"/>
            </a:srgbClr>
          </a:solidFill>
          <a:ln w="3175" cap="flat" cmpd="sng" algn="ctr">
            <a:solidFill>
              <a:srgbClr val="FF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5235114" y="4159155"/>
            <a:ext cx="812445" cy="1152128"/>
          </a:xfrm>
          <a:prstGeom prst="roundRect">
            <a:avLst/>
          </a:prstGeom>
          <a:solidFill>
            <a:srgbClr val="FF0000">
              <a:alpha val="24000"/>
            </a:srgbClr>
          </a:solidFill>
          <a:ln w="3175" cap="flat" cmpd="sng" algn="ctr">
            <a:solidFill>
              <a:srgbClr val="FF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7697116" y="4171720"/>
            <a:ext cx="812445" cy="1152128"/>
          </a:xfrm>
          <a:prstGeom prst="roundRect">
            <a:avLst/>
          </a:prstGeom>
          <a:solidFill>
            <a:srgbClr val="FF0000">
              <a:alpha val="24000"/>
            </a:srgbClr>
          </a:solidFill>
          <a:ln w="3175" cap="flat" cmpd="sng" algn="ctr">
            <a:solidFill>
              <a:srgbClr val="FF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43731"/>
      </p:ext>
    </p:extLst>
  </p:cSld>
  <p:clrMapOvr>
    <a:masterClrMapping/>
  </p:clrMapOvr>
  <p:transition spd="slow">
    <p:circl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课后阅读</a:t>
            </a:r>
          </a:p>
        </p:txBody>
      </p:sp>
      <p:sp>
        <p:nvSpPr>
          <p:cNvPr id="3" name="矩形 2"/>
          <p:cNvSpPr/>
          <p:nvPr/>
        </p:nvSpPr>
        <p:spPr>
          <a:xfrm>
            <a:off x="683568" y="6021288"/>
            <a:ext cx="82089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https://mp.weixin.qq.com/s/WS9k3vmO07i660cGYRX8ZA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92062"/>
            <a:ext cx="7848872" cy="484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38029"/>
      </p:ext>
    </p:extLst>
  </p:cSld>
  <p:clrMapOvr>
    <a:masterClrMapping/>
  </p:clrMapOvr>
  <p:transition spd="slow">
    <p:circl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7DBA1-03F1-4BBC-8776-0AE6941E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Dropout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9F610E-FF9E-489D-AD19-20AB0EF3FD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138"/>
          <a:stretch/>
        </p:blipFill>
        <p:spPr>
          <a:xfrm>
            <a:off x="0" y="1268760"/>
            <a:ext cx="9144000" cy="39604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CB0A133-3F83-40BA-A488-4065E00C092B}"/>
              </a:ext>
            </a:extLst>
          </p:cNvPr>
          <p:cNvSpPr txBox="1"/>
          <p:nvPr/>
        </p:nvSpPr>
        <p:spPr>
          <a:xfrm>
            <a:off x="1115616" y="5229200"/>
            <a:ext cx="2088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普通的神经网络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1B77B5-23E7-4AFE-B105-641562BECDDE}"/>
              </a:ext>
            </a:extLst>
          </p:cNvPr>
          <p:cNvSpPr txBox="1"/>
          <p:nvPr/>
        </p:nvSpPr>
        <p:spPr>
          <a:xfrm>
            <a:off x="5436096" y="5229200"/>
            <a:ext cx="3240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dropout</a:t>
            </a:r>
            <a:r>
              <a:rPr lang="zh-CN" altLang="en-US" dirty="0"/>
              <a:t>的神经网络</a:t>
            </a:r>
          </a:p>
        </p:txBody>
      </p:sp>
    </p:spTree>
    <p:extLst>
      <p:ext uri="{BB962C8B-B14F-4D97-AF65-F5344CB8AC3E}">
        <p14:creationId xmlns:p14="http://schemas.microsoft.com/office/powerpoint/2010/main" val="3593755881"/>
      </p:ext>
    </p:extLst>
  </p:cSld>
  <p:clrMapOvr>
    <a:masterClrMapping/>
  </p:clrMapOvr>
  <p:transition spd="slow">
    <p:circl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11908"/>
            <a:ext cx="7886700" cy="1325563"/>
          </a:xfrm>
        </p:spPr>
        <p:txBody>
          <a:bodyPr/>
          <a:lstStyle/>
          <a:p>
            <a:pPr algn="ctr"/>
            <a:r>
              <a:rPr lang="en-US" altLang="zh-CN" sz="3200" dirty="0">
                <a:effectLst/>
                <a:latin typeface="微软雅黑" pitchFamily="34" charset="-122"/>
                <a:ea typeface="微软雅黑" pitchFamily="34" charset="-122"/>
              </a:rPr>
              <a:t>Auto-Encoders</a:t>
            </a:r>
            <a:endParaRPr lang="zh-CN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 descr="0324a99f1be1f83b526cfc9852f6850c6a2aeefb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12"/>
          <a:stretch/>
        </p:blipFill>
        <p:spPr bwMode="auto">
          <a:xfrm>
            <a:off x="899592" y="1295400"/>
            <a:ext cx="6911205" cy="4313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http://images2015.cnblogs.com/blog/798706/201612/798706-20161222104624698-1535183634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35" y="5225256"/>
            <a:ext cx="6768752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6765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1192" y="252585"/>
            <a:ext cx="7886700" cy="512119"/>
          </a:xfr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3200" dirty="0" err="1">
                <a:effectLst/>
                <a:latin typeface="微软雅黑" pitchFamily="34" charset="-122"/>
                <a:ea typeface="微软雅黑" pitchFamily="34" charset="-122"/>
              </a:rPr>
              <a:t>Denoising</a:t>
            </a:r>
            <a:r>
              <a:rPr lang="en-US" altLang="zh-CN" sz="3200" dirty="0">
                <a:effectLst/>
                <a:latin typeface="微软雅黑" pitchFamily="34" charset="-122"/>
                <a:ea typeface="微软雅黑" pitchFamily="34" charset="-122"/>
              </a:rPr>
              <a:t> Auto-Encoder</a:t>
            </a:r>
            <a:endParaRPr lang="zh-CN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4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7920879" cy="4900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877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9756" y="134792"/>
            <a:ext cx="7886700" cy="1325563"/>
          </a:xfrm>
        </p:spPr>
        <p:txBody>
          <a:bodyPr/>
          <a:lstStyle/>
          <a:p>
            <a:pPr algn="ctr"/>
            <a:r>
              <a:rPr lang="en-US" altLang="zh-CN" sz="3200" dirty="0">
                <a:effectLst/>
                <a:latin typeface="微软雅黑" pitchFamily="34" charset="-122"/>
                <a:ea typeface="微软雅黑" pitchFamily="34" charset="-122"/>
              </a:rPr>
              <a:t>Stacked Auto-Encoders(SAE)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 descr="Stacked SparseAE Features1.png">
            <a:hlinkClick r:id="rId2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33"/>
          <a:stretch/>
        </p:blipFill>
        <p:spPr bwMode="auto">
          <a:xfrm>
            <a:off x="251520" y="1377330"/>
            <a:ext cx="2620645" cy="3275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Stacked SparseAE Features2.png">
            <a:hlinkClick r:id="rId4"/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22"/>
          <a:stretch/>
        </p:blipFill>
        <p:spPr bwMode="auto">
          <a:xfrm>
            <a:off x="3211051" y="1637556"/>
            <a:ext cx="2585085" cy="2367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Stacked Softmax Classifier.png">
            <a:hlinkClick r:id="rId6"/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366" y="1990462"/>
            <a:ext cx="2371090" cy="2086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Stacked Combined.png">
            <a:hlinkClick r:id="rId8"/>
          </p:cNvPr>
          <p:cNvPicPr/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15"/>
          <a:stretch/>
        </p:blipFill>
        <p:spPr bwMode="auto">
          <a:xfrm>
            <a:off x="2872165" y="4054030"/>
            <a:ext cx="3644051" cy="2780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4142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5205"/>
            <a:ext cx="7886700" cy="1325563"/>
          </a:xfrm>
        </p:spPr>
        <p:txBody>
          <a:bodyPr/>
          <a:lstStyle/>
          <a:p>
            <a:pPr algn="ctr"/>
            <a:r>
              <a:rPr lang="en-US" altLang="zh-CN" sz="3200" dirty="0" err="1">
                <a:effectLst/>
                <a:latin typeface="微软雅黑" pitchFamily="34" charset="-122"/>
                <a:ea typeface="微软雅黑" pitchFamily="34" charset="-122"/>
              </a:rPr>
              <a:t>Variational</a:t>
            </a:r>
            <a:r>
              <a:rPr lang="en-US" altLang="zh-CN" sz="3200" dirty="0">
                <a:effectLst/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dirty="0" err="1">
                <a:effectLst/>
                <a:latin typeface="微软雅黑" pitchFamily="34" charset="-122"/>
                <a:ea typeface="微软雅黑" pitchFamily="34" charset="-122"/>
              </a:rPr>
              <a:t>Autoencoder</a:t>
            </a:r>
            <a:r>
              <a:rPr lang="zh-CN" altLang="zh-CN" sz="3200" dirty="0">
                <a:effectLst/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dirty="0">
                <a:effectLst/>
                <a:latin typeface="微软雅黑" pitchFamily="34" charset="-122"/>
                <a:ea typeface="微软雅黑" pitchFamily="34" charset="-122"/>
              </a:rPr>
              <a:t>VAE</a:t>
            </a:r>
            <a:r>
              <a:rPr lang="zh-CN" altLang="zh-CN" sz="3200" dirty="0">
                <a:effectLst/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dirty="0"/>
          </a:p>
        </p:txBody>
      </p:sp>
      <p:pic>
        <p:nvPicPr>
          <p:cNvPr id="5" name="图片 4" descr="http://images2015.cnblogs.com/blog/798706/201612/798706-20161222110521495-412598726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56992"/>
            <a:ext cx="8280920" cy="328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http://images2015.cnblogs.com/blog/798706/201612/798706-20161222104624698-1535183634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7776864" cy="1800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6478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7462" y="87213"/>
            <a:ext cx="7886700" cy="1325563"/>
          </a:xfrm>
        </p:spPr>
        <p:txBody>
          <a:bodyPr/>
          <a:lstStyle/>
          <a:p>
            <a:pPr algn="ctr"/>
            <a:r>
              <a:rPr lang="en-US" altLang="zh-CN" sz="3200" dirty="0" err="1">
                <a:effectLst/>
                <a:latin typeface="微软雅黑" pitchFamily="34" charset="-122"/>
                <a:ea typeface="微软雅黑" pitchFamily="34" charset="-122"/>
              </a:rPr>
              <a:t>Variational</a:t>
            </a:r>
            <a:r>
              <a:rPr lang="en-US" altLang="zh-CN" sz="3200" dirty="0">
                <a:effectLst/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dirty="0" err="1">
                <a:effectLst/>
                <a:latin typeface="微软雅黑" pitchFamily="34" charset="-122"/>
                <a:ea typeface="微软雅黑" pitchFamily="34" charset="-122"/>
              </a:rPr>
              <a:t>Autoencoder</a:t>
            </a:r>
            <a:r>
              <a:rPr lang="zh-CN" altLang="zh-CN" sz="3200" dirty="0">
                <a:effectLst/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dirty="0">
                <a:effectLst/>
                <a:latin typeface="微软雅黑" pitchFamily="34" charset="-122"/>
                <a:ea typeface="微软雅黑" pitchFamily="34" charset="-122"/>
              </a:rPr>
              <a:t>VAE</a:t>
            </a:r>
            <a:r>
              <a:rPr lang="zh-CN" altLang="zh-CN" sz="3200" dirty="0">
                <a:effectLst/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 descr="VAE overview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3" y="1312812"/>
            <a:ext cx="6120680" cy="505628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5724128" y="1212850"/>
            <a:ext cx="3250704" cy="525621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VAE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有什么用？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数据生成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高维数据可视化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缺失数据填补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半监督学习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z_xent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0" r="17183"/>
          <a:stretch/>
        </p:blipFill>
        <p:spPr bwMode="auto">
          <a:xfrm>
            <a:off x="6204718" y="4725144"/>
            <a:ext cx="2899094" cy="15567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3033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经典深度学习算法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22442"/>
      </p:ext>
    </p:extLst>
  </p:cSld>
  <p:clrMapOvr>
    <a:masterClrMapping/>
  </p:clrMapOvr>
  <p:transition spd="slow">
    <p:circl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Convolutional Neural Network</a:t>
            </a:r>
            <a:endParaRPr lang="zh-TW" altLang="en-US" dirty="0"/>
          </a:p>
        </p:txBody>
      </p:sp>
      <p:pic>
        <p:nvPicPr>
          <p:cNvPr id="15" name="Picture 4" descr="https://upload.wikimedia.org/wikipedia/commons/5/5e/Silverbird_in_Murchison_Falls_National_Park,_Ugand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429" y="4692617"/>
            <a:ext cx="2485663" cy="165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8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492" y="4738634"/>
            <a:ext cx="1296890" cy="1139691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720" y="4656461"/>
            <a:ext cx="2151234" cy="1279848"/>
          </a:xfrm>
          <a:prstGeom prst="rect">
            <a:avLst/>
          </a:prstGeom>
        </p:spPr>
      </p:pic>
      <p:sp>
        <p:nvSpPr>
          <p:cNvPr id="43" name="圓角矩形圖說文字 42"/>
          <p:cNvSpPr/>
          <p:nvPr/>
        </p:nvSpPr>
        <p:spPr>
          <a:xfrm>
            <a:off x="6259915" y="5722671"/>
            <a:ext cx="2423235" cy="601661"/>
          </a:xfrm>
          <a:prstGeom prst="wedgeRoundRectCallout">
            <a:avLst>
              <a:gd name="adj1" fmla="val -16286"/>
              <a:gd name="adj2" fmla="val -92191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“beak”</a:t>
            </a:r>
            <a:r>
              <a:rPr lang="zh-TW" altLang="en-US" sz="2400" dirty="0"/>
              <a:t> </a:t>
            </a:r>
            <a:r>
              <a:rPr lang="en-US" altLang="zh-TW" sz="2400" dirty="0"/>
              <a:t>detector</a:t>
            </a:r>
            <a:endParaRPr lang="zh-TW" altLang="en-US" sz="2400" dirty="0"/>
          </a:p>
        </p:txBody>
      </p:sp>
      <p:sp>
        <p:nvSpPr>
          <p:cNvPr id="44" name="矩形 43"/>
          <p:cNvSpPr/>
          <p:nvPr/>
        </p:nvSpPr>
        <p:spPr>
          <a:xfrm>
            <a:off x="1473830" y="4738634"/>
            <a:ext cx="406400" cy="3794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單箭頭接點 45"/>
          <p:cNvCxnSpPr>
            <a:stCxn id="44" idx="3"/>
            <a:endCxn id="16" idx="1"/>
          </p:cNvCxnSpPr>
          <p:nvPr/>
        </p:nvCxnSpPr>
        <p:spPr>
          <a:xfrm>
            <a:off x="1880230" y="4928364"/>
            <a:ext cx="2214262" cy="38011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2FEE416B-0AC0-4110-87EC-F827C01B5B5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50" t="7539" r="18500" b="24501"/>
          <a:stretch/>
        </p:blipFill>
        <p:spPr>
          <a:xfrm>
            <a:off x="827584" y="1053214"/>
            <a:ext cx="7200800" cy="348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1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929215" y="2385544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1200329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FF0000"/>
                  </a:solidFill>
                </a:rPr>
                <a:t>Fully Connected Feedforward network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154" y="302726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456967" y="1817166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 dog ……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5429435" y="2040702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Convolution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29435" y="3140714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Max Pooling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429435" y="420892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Convolution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429435" y="5242179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Max Pooling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503730" y="6166863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6049132" y="1562957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8" name="向下箭號 17"/>
          <p:cNvSpPr/>
          <p:nvPr/>
        </p:nvSpPr>
        <p:spPr>
          <a:xfrm>
            <a:off x="6049132" y="2673739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9" name="向下箭號 18"/>
          <p:cNvSpPr/>
          <p:nvPr/>
        </p:nvSpPr>
        <p:spPr>
          <a:xfrm>
            <a:off x="6049132" y="376538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20" name="向下箭號 19"/>
          <p:cNvSpPr/>
          <p:nvPr/>
        </p:nvSpPr>
        <p:spPr>
          <a:xfrm>
            <a:off x="6049132" y="480037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7" name="右彎箭號 16"/>
          <p:cNvSpPr/>
          <p:nvPr/>
        </p:nvSpPr>
        <p:spPr>
          <a:xfrm rot="10800000">
            <a:off x="5060721" y="5864599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2333726" y="5452109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604480" y="3525955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7205761" y="1917738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8956" y="1222948"/>
            <a:ext cx="38459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Convolutional Neural Network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081437" y="431988"/>
            <a:ext cx="26564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</a:t>
            </a:r>
          </a:p>
        </p:txBody>
      </p:sp>
    </p:spTree>
    <p:extLst>
      <p:ext uri="{BB962C8B-B14F-4D97-AF65-F5344CB8AC3E}">
        <p14:creationId xmlns:p14="http://schemas.microsoft.com/office/powerpoint/2010/main" val="950277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4" grpId="0" animBg="1"/>
      <p:bldP spid="15" grpId="0" animBg="1"/>
      <p:bldP spid="16" grpId="0" animBg="1"/>
      <p:bldP spid="12" grpId="0" animBg="1"/>
      <p:bldP spid="18" grpId="0" animBg="1"/>
      <p:bldP spid="19" grpId="0" animBg="1"/>
      <p:bldP spid="20" grpId="0" animBg="1"/>
      <p:bldP spid="17" grpId="0" animBg="1"/>
      <p:bldP spid="22" grpId="0" animBg="1"/>
      <p:bldP spid="21" grpId="0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259953" y="2068862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791447" y="2421240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259953" y="369360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791447" y="4032874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 rot="5400000">
            <a:off x="5830067" y="5234841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/>
              <a:t>……</a:t>
            </a:r>
            <a:endParaRPr lang="zh-TW" altLang="en-US" sz="2800" b="1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572000" y="1117453"/>
            <a:ext cx="4197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Those are the network parameters to be learned.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002036" y="2879557"/>
            <a:ext cx="1237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Matrix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002037" y="4449636"/>
            <a:ext cx="128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Matrix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213996" y="5850635"/>
            <a:ext cx="3555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Each filter detects a small pattern (3 x 3). 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3678266" y="6013393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Property 1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40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1" grpId="0"/>
      <p:bldP spid="3" grpId="0"/>
      <p:bldP spid="12" grpId="0"/>
      <p:bldP spid="13" grpId="0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4294967295"/>
          </p:nvPr>
        </p:nvGraphicFramePr>
        <p:xfrm>
          <a:off x="977950" y="2398713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563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186046" y="93337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1963015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1167364" y="1732534"/>
            <a:ext cx="1447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If s</a:t>
            </a:r>
            <a:r>
              <a:rPr lang="zh-TW" altLang="en-US" sz="2400" dirty="0"/>
              <a:t>tride</a:t>
            </a:r>
            <a:r>
              <a:rPr lang="en-US" altLang="zh-TW" sz="2400" dirty="0"/>
              <a:t>=2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202911" y="4481651"/>
            <a:ext cx="2972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We set s</a:t>
            </a:r>
            <a:r>
              <a:rPr lang="zh-TW" altLang="en-US" sz="2400" dirty="0"/>
              <a:t>tride</a:t>
            </a:r>
            <a:r>
              <a:rPr lang="en-US" altLang="zh-TW" sz="2400" dirty="0"/>
              <a:t>=1 below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8062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28" grpId="0" animBg="1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15332" y="492688"/>
            <a:ext cx="5039401" cy="935037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84808677"/>
              </p:ext>
            </p:extLst>
          </p:nvPr>
        </p:nvGraphicFramePr>
        <p:xfrm>
          <a:off x="985110" y="240998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563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186046" y="93337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6405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7247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4722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5563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6405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7247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4722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5563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6405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7247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4732036" y="5259802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5563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6405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7247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1484714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1930824" y="2402206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2432953" y="2405350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985111" y="2810239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1167364" y="1732534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s</a:t>
            </a:r>
            <a:r>
              <a:rPr lang="zh-TW" altLang="en-US" sz="2400" dirty="0"/>
              <a:t>tride</a:t>
            </a:r>
            <a:r>
              <a:rPr lang="en-US" altLang="zh-TW" sz="2400" dirty="0"/>
              <a:t>=1</a:t>
            </a:r>
            <a:endParaRPr lang="zh-TW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2432953" y="3767518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563890" y="478405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6120535" y="936720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6645024" y="1405708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>
            <a:off x="5563890" y="478405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713060" y="2785871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4732036" y="5262585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/>
          <p:nvPr/>
        </p:nvCxnSpPr>
        <p:spPr>
          <a:xfrm>
            <a:off x="929397" y="2425786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880630" y="3761564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21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0" y="601644"/>
            <a:ext cx="4572000" cy="935037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4294967295"/>
          </p:nvPr>
        </p:nvGraphicFramePr>
        <p:xfrm>
          <a:off x="971600" y="2398713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6405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7247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4722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5563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6405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7247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4722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5563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6405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7247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4722062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5563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6405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7247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687103" y="365126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7309257" y="820093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37" name="矩形 36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>
            <a:off x="1488818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1930824" y="2400838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2406593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985111" y="2810239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4905599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3" name="橢圓 42"/>
          <p:cNvSpPr/>
          <p:nvPr/>
        </p:nvSpPr>
        <p:spPr>
          <a:xfrm>
            <a:off x="5747428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4" name="橢圓 43"/>
          <p:cNvSpPr/>
          <p:nvPr/>
        </p:nvSpPr>
        <p:spPr>
          <a:xfrm>
            <a:off x="6589257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5" name="橢圓 44"/>
          <p:cNvSpPr/>
          <p:nvPr/>
        </p:nvSpPr>
        <p:spPr>
          <a:xfrm>
            <a:off x="7431086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6" name="橢圓 45"/>
          <p:cNvSpPr/>
          <p:nvPr/>
        </p:nvSpPr>
        <p:spPr>
          <a:xfrm>
            <a:off x="4905599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7" name="橢圓 46"/>
          <p:cNvSpPr/>
          <p:nvPr/>
        </p:nvSpPr>
        <p:spPr>
          <a:xfrm>
            <a:off x="5747428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8" name="橢圓 47"/>
          <p:cNvSpPr/>
          <p:nvPr/>
        </p:nvSpPr>
        <p:spPr>
          <a:xfrm>
            <a:off x="6589257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49" name="橢圓 48"/>
          <p:cNvSpPr/>
          <p:nvPr/>
        </p:nvSpPr>
        <p:spPr>
          <a:xfrm>
            <a:off x="7431086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0" name="橢圓 49"/>
          <p:cNvSpPr/>
          <p:nvPr/>
        </p:nvSpPr>
        <p:spPr>
          <a:xfrm>
            <a:off x="4905599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1" name="橢圓 50"/>
          <p:cNvSpPr/>
          <p:nvPr/>
        </p:nvSpPr>
        <p:spPr>
          <a:xfrm>
            <a:off x="5747428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2" name="橢圓 51"/>
          <p:cNvSpPr/>
          <p:nvPr/>
        </p:nvSpPr>
        <p:spPr>
          <a:xfrm>
            <a:off x="6589257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53" name="橢圓 52"/>
          <p:cNvSpPr/>
          <p:nvPr/>
        </p:nvSpPr>
        <p:spPr>
          <a:xfrm>
            <a:off x="7431086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4" name="橢圓 53"/>
          <p:cNvSpPr/>
          <p:nvPr/>
        </p:nvSpPr>
        <p:spPr>
          <a:xfrm>
            <a:off x="4905599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5" name="橢圓 54"/>
          <p:cNvSpPr/>
          <p:nvPr/>
        </p:nvSpPr>
        <p:spPr>
          <a:xfrm>
            <a:off x="5747428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6" name="橢圓 55"/>
          <p:cNvSpPr/>
          <p:nvPr/>
        </p:nvSpPr>
        <p:spPr>
          <a:xfrm>
            <a:off x="6589257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-4</a:t>
            </a:r>
            <a:endParaRPr lang="zh-TW" altLang="en-US" sz="2400" dirty="0"/>
          </a:p>
        </p:txBody>
      </p:sp>
      <p:sp>
        <p:nvSpPr>
          <p:cNvPr id="57" name="橢圓 56"/>
          <p:cNvSpPr/>
          <p:nvPr/>
        </p:nvSpPr>
        <p:spPr>
          <a:xfrm>
            <a:off x="7431086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4572000" y="1789385"/>
            <a:ext cx="3793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0000FF"/>
                </a:solidFill>
              </a:rPr>
              <a:t>Do the same process for every filter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15409" y="3783331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1167364" y="1732534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s</a:t>
            </a:r>
            <a:r>
              <a:rPr lang="zh-TW" altLang="en-US" sz="2400" dirty="0"/>
              <a:t>tride</a:t>
            </a:r>
            <a:r>
              <a:rPr lang="en-US" altLang="zh-TW" sz="2400" dirty="0"/>
              <a:t>=1</a:t>
            </a:r>
            <a:endParaRPr lang="zh-TW" altLang="en-US" sz="24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415744" y="6174168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 x 4 image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15799" y="4052684"/>
            <a:ext cx="2320707" cy="9724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Feature</a:t>
            </a:r>
          </a:p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Map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3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3" grpId="0"/>
      <p:bldP spid="58" grpId="0" animBg="1"/>
      <p:bldP spid="60" grpId="0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Colorful image</a:t>
            </a:r>
            <a:endParaRPr lang="zh-TW" altLang="en-US" dirty="0"/>
          </a:p>
        </p:txBody>
      </p:sp>
      <p:graphicFrame>
        <p:nvGraphicFramePr>
          <p:cNvPr id="6" name="內容版面配置區 3"/>
          <p:cNvGraphicFramePr>
            <a:graphicFrameLocks/>
          </p:cNvGraphicFramePr>
          <p:nvPr/>
        </p:nvGraphicFramePr>
        <p:xfrm>
          <a:off x="4953907" y="3442427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內容版面配置區 3"/>
          <p:cNvGraphicFramePr>
            <a:graphicFrameLocks/>
          </p:cNvGraphicFramePr>
          <p:nvPr/>
        </p:nvGraphicFramePr>
        <p:xfrm>
          <a:off x="5117572" y="3647290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/>
        </p:nvGraphicFramePr>
        <p:xfrm>
          <a:off x="5324483" y="384990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8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967403" y="161477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676035" y="2341867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971758" y="157268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7680922" y="2301169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119803" y="176717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3272203" y="18823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124690" y="1708736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6277090" y="1861136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4295788" y="4380417"/>
            <a:ext cx="508522" cy="867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353684" y="3059766"/>
            <a:ext cx="3927508" cy="3629534"/>
            <a:chOff x="353684" y="3059766"/>
            <a:chExt cx="3927508" cy="3629534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122" y="3442427"/>
              <a:ext cx="3907070" cy="3246873"/>
            </a:xfrm>
            <a:prstGeom prst="rect">
              <a:avLst/>
            </a:prstGeom>
          </p:spPr>
        </p:pic>
        <p:sp>
          <p:nvSpPr>
            <p:cNvPr id="17" name="文字方塊 16"/>
            <p:cNvSpPr txBox="1"/>
            <p:nvPr/>
          </p:nvSpPr>
          <p:spPr>
            <a:xfrm>
              <a:off x="353684" y="3059766"/>
              <a:ext cx="19976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Colorful image</a:t>
              </a:r>
              <a:endParaRPr lang="zh-TW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551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450294" y="1355954"/>
          <a:ext cx="1805646" cy="1723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729795" y="3079442"/>
            <a:ext cx="1246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image</a:t>
            </a:r>
            <a:endParaRPr lang="zh-TW" altLang="en-US" sz="24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849" y="1379546"/>
            <a:ext cx="1915672" cy="1873101"/>
          </a:xfrm>
          <a:prstGeom prst="rect">
            <a:avLst/>
          </a:prstGeom>
        </p:spPr>
      </p:pic>
      <p:sp>
        <p:nvSpPr>
          <p:cNvPr id="7" name="向右箭號 62"/>
          <p:cNvSpPr/>
          <p:nvPr/>
        </p:nvSpPr>
        <p:spPr>
          <a:xfrm>
            <a:off x="3674008" y="2217698"/>
            <a:ext cx="1880625" cy="666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729707" y="2696372"/>
            <a:ext cx="1704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convolution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86226" y="1334629"/>
          <a:ext cx="964038" cy="815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7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503901" y="1339382"/>
          <a:ext cx="947868" cy="802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1040889" y="1112496"/>
            <a:ext cx="7090673" cy="26045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5271968" y="3898279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5340356" y="4615972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5346174" y="405270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3" name="Object 12"/>
          <p:cNvGraphicFramePr>
            <a:graphicFrameLocks noChangeAspect="1"/>
          </p:cNvGraphicFramePr>
          <p:nvPr/>
        </p:nvGraphicFramePr>
        <p:xfrm>
          <a:off x="5358873" y="3957450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4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8873" y="3957450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2"/>
          <p:cNvGraphicFramePr>
            <a:graphicFrameLocks noChangeAspect="1"/>
          </p:cNvGraphicFramePr>
          <p:nvPr/>
        </p:nvGraphicFramePr>
        <p:xfrm>
          <a:off x="5364169" y="4533122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9" y="4533122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/>
          <p:cNvSpPr/>
          <p:nvPr/>
        </p:nvSpPr>
        <p:spPr>
          <a:xfrm>
            <a:off x="6826131" y="3870638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>
            <a:off x="6923241" y="3888697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6925583" y="4660210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6913950" y="5888222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6911203" y="531051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0" name="矩形 49"/>
          <p:cNvSpPr/>
          <p:nvPr/>
        </p:nvSpPr>
        <p:spPr>
          <a:xfrm>
            <a:off x="5349881" y="601372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1" name="Object 12"/>
          <p:cNvGraphicFramePr>
            <a:graphicFrameLocks noChangeAspect="1"/>
          </p:cNvGraphicFramePr>
          <p:nvPr/>
        </p:nvGraphicFramePr>
        <p:xfrm>
          <a:off x="5319713" y="5918269"/>
          <a:ext cx="4619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方程式" r:id="rId8" imgW="215640" imgH="228600" progId="Equation.3">
                  <p:embed/>
                </p:oleObj>
              </mc:Choice>
              <mc:Fallback>
                <p:oleObj name="方程式" r:id="rId8" imgW="215640" imgH="228600" progId="Equation.3">
                  <p:embed/>
                  <p:pic>
                    <p:nvPicPr>
                      <p:cNvPr id="5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713" y="5918269"/>
                        <a:ext cx="46196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字方塊 51"/>
          <p:cNvSpPr txBox="1"/>
          <p:nvPr/>
        </p:nvSpPr>
        <p:spPr>
          <a:xfrm rot="5400000">
            <a:off x="5240926" y="525947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53" name="直線單箭頭接點 52"/>
          <p:cNvCxnSpPr>
            <a:stCxn id="43" idx="3"/>
            <a:endCxn id="46" idx="2"/>
          </p:cNvCxnSpPr>
          <p:nvPr/>
        </p:nvCxnSpPr>
        <p:spPr>
          <a:xfrm flipV="1">
            <a:off x="5684311" y="4175776"/>
            <a:ext cx="1238930" cy="126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42" idx="3"/>
            <a:endCxn id="47" idx="2"/>
          </p:cNvCxnSpPr>
          <p:nvPr/>
        </p:nvCxnSpPr>
        <p:spPr>
          <a:xfrm>
            <a:off x="5689074" y="4217093"/>
            <a:ext cx="123650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42" idx="3"/>
            <a:endCxn id="48" idx="2"/>
          </p:cNvCxnSpPr>
          <p:nvPr/>
        </p:nvCxnSpPr>
        <p:spPr>
          <a:xfrm>
            <a:off x="5689074" y="4217093"/>
            <a:ext cx="122487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endCxn id="46" idx="2"/>
          </p:cNvCxnSpPr>
          <p:nvPr/>
        </p:nvCxnSpPr>
        <p:spPr>
          <a:xfrm flipV="1">
            <a:off x="5716594" y="4175776"/>
            <a:ext cx="120664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41" idx="3"/>
            <a:endCxn id="47" idx="2"/>
          </p:cNvCxnSpPr>
          <p:nvPr/>
        </p:nvCxnSpPr>
        <p:spPr>
          <a:xfrm>
            <a:off x="5683256" y="4787422"/>
            <a:ext cx="124232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41" idx="3"/>
            <a:endCxn id="48" idx="2"/>
          </p:cNvCxnSpPr>
          <p:nvPr/>
        </p:nvCxnSpPr>
        <p:spPr>
          <a:xfrm>
            <a:off x="5683256" y="4787422"/>
            <a:ext cx="123069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51" idx="3"/>
            <a:endCxn id="46" idx="2"/>
          </p:cNvCxnSpPr>
          <p:nvPr/>
        </p:nvCxnSpPr>
        <p:spPr>
          <a:xfrm flipV="1">
            <a:off x="5781675" y="4168719"/>
            <a:ext cx="1141566" cy="19940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1" idx="3"/>
            <a:endCxn id="47" idx="2"/>
          </p:cNvCxnSpPr>
          <p:nvPr/>
        </p:nvCxnSpPr>
        <p:spPr>
          <a:xfrm flipV="1">
            <a:off x="5781675" y="4947289"/>
            <a:ext cx="1143908" cy="12154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51" idx="3"/>
            <a:endCxn id="48" idx="2"/>
          </p:cNvCxnSpPr>
          <p:nvPr/>
        </p:nvCxnSpPr>
        <p:spPr>
          <a:xfrm>
            <a:off x="5781675" y="6162744"/>
            <a:ext cx="1132275" cy="125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內容版面配置區 3"/>
          <p:cNvGraphicFramePr>
            <a:graphicFrameLocks/>
          </p:cNvGraphicFramePr>
          <p:nvPr/>
        </p:nvGraphicFramePr>
        <p:xfrm>
          <a:off x="3331975" y="4274711"/>
          <a:ext cx="1805646" cy="1723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9" name="矩形 68"/>
          <p:cNvSpPr/>
          <p:nvPr/>
        </p:nvSpPr>
        <p:spPr>
          <a:xfrm>
            <a:off x="318572" y="150071"/>
            <a:ext cx="563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i="1" u="sng" dirty="0"/>
              <a:t>Convolution </a:t>
            </a:r>
            <a:r>
              <a:rPr lang="en-US" altLang="zh-TW" sz="3200" b="1" i="1" u="sng" dirty="0" err="1"/>
              <a:t>v.s</a:t>
            </a:r>
            <a:r>
              <a:rPr lang="en-US" altLang="zh-TW" sz="3200" b="1" i="1" u="sng" dirty="0"/>
              <a:t>. Fully Connected</a:t>
            </a:r>
            <a:endParaRPr lang="zh-TW" altLang="en-US" sz="3200" b="1" i="1" u="sng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187624" y="4688677"/>
            <a:ext cx="2224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Fully-connected</a:t>
            </a:r>
            <a:endParaRPr lang="zh-TW" altLang="en-US" sz="2800" dirty="0"/>
          </a:p>
        </p:txBody>
      </p:sp>
      <p:sp>
        <p:nvSpPr>
          <p:cNvPr id="72" name="矩形 71"/>
          <p:cNvSpPr/>
          <p:nvPr/>
        </p:nvSpPr>
        <p:spPr>
          <a:xfrm>
            <a:off x="6732391" y="3797230"/>
            <a:ext cx="916129" cy="274927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5666879" y="1299578"/>
            <a:ext cx="2085643" cy="205884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18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399969" y="185000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99969" y="15203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022123" y="606997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911332" y="1834394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5445337" y="49450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1: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5445337" y="511115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2: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5445337" y="960797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3: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 rot="5400000">
            <a:off x="5308019" y="1810764"/>
            <a:ext cx="8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5461374" y="2239708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7:</a:t>
            </a:r>
            <a:endParaRPr lang="zh-TW" altLang="en-US" sz="24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5461374" y="2701373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8:</a:t>
            </a:r>
            <a:endParaRPr lang="zh-TW" altLang="en-US" sz="24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5461374" y="3151055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9:</a:t>
            </a:r>
            <a:endParaRPr lang="zh-TW" altLang="en-US" sz="2400" dirty="0"/>
          </a:p>
        </p:txBody>
      </p:sp>
      <p:sp>
        <p:nvSpPr>
          <p:cNvPr id="45" name="文字方塊 44"/>
          <p:cNvSpPr txBox="1"/>
          <p:nvPr/>
        </p:nvSpPr>
        <p:spPr>
          <a:xfrm rot="5400000">
            <a:off x="5447334" y="3988283"/>
            <a:ext cx="53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301903" y="4438478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13:</a:t>
            </a:r>
            <a:endParaRPr lang="zh-TW" altLang="en-US" sz="24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5296320" y="4902670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14:</a:t>
            </a:r>
            <a:endParaRPr lang="zh-TW" altLang="en-US" sz="24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5296320" y="5380352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15: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5494533" y="6217727"/>
            <a:ext cx="42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455404" y="1408214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4: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5228900" y="3562359"/>
            <a:ext cx="63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10: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5291125" y="5789241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16:</a:t>
            </a:r>
            <a:endParaRPr lang="zh-TW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5887504" y="145282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6" name="矩形 55"/>
          <p:cNvSpPr/>
          <p:nvPr/>
        </p:nvSpPr>
        <p:spPr>
          <a:xfrm>
            <a:off x="5887504" y="6142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矩形 56"/>
          <p:cNvSpPr/>
          <p:nvPr/>
        </p:nvSpPr>
        <p:spPr>
          <a:xfrm>
            <a:off x="5887504" y="1056629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8" name="矩形 57"/>
          <p:cNvSpPr/>
          <p:nvPr/>
        </p:nvSpPr>
        <p:spPr>
          <a:xfrm>
            <a:off x="5887504" y="1518425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9" name="矩形 58"/>
          <p:cNvSpPr/>
          <p:nvPr/>
        </p:nvSpPr>
        <p:spPr>
          <a:xfrm>
            <a:off x="5887504" y="235632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0" name="矩形 59"/>
          <p:cNvSpPr/>
          <p:nvPr/>
        </p:nvSpPr>
        <p:spPr>
          <a:xfrm>
            <a:off x="5887504" y="282531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1" name="矩形 60"/>
          <p:cNvSpPr/>
          <p:nvPr/>
        </p:nvSpPr>
        <p:spPr>
          <a:xfrm>
            <a:off x="5887504" y="32676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2" name="矩形 61"/>
          <p:cNvSpPr/>
          <p:nvPr/>
        </p:nvSpPr>
        <p:spPr>
          <a:xfrm>
            <a:off x="5887504" y="372946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3" name="矩形 62"/>
          <p:cNvSpPr/>
          <p:nvPr/>
        </p:nvSpPr>
        <p:spPr>
          <a:xfrm>
            <a:off x="5887504" y="451957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4" name="矩形 63"/>
          <p:cNvSpPr/>
          <p:nvPr/>
        </p:nvSpPr>
        <p:spPr>
          <a:xfrm>
            <a:off x="5887504" y="498856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5" name="矩形 64"/>
          <p:cNvSpPr/>
          <p:nvPr/>
        </p:nvSpPr>
        <p:spPr>
          <a:xfrm>
            <a:off x="5887504" y="543092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6" name="矩形 65"/>
          <p:cNvSpPr/>
          <p:nvPr/>
        </p:nvSpPr>
        <p:spPr>
          <a:xfrm>
            <a:off x="5887504" y="589271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68" name="直線單箭頭接點 67"/>
          <p:cNvCxnSpPr>
            <a:stCxn id="55" idx="3"/>
          </p:cNvCxnSpPr>
          <p:nvPr/>
        </p:nvCxnSpPr>
        <p:spPr>
          <a:xfrm>
            <a:off x="6157504" y="280282"/>
            <a:ext cx="1421404" cy="12773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6" idx="3"/>
          </p:cNvCxnSpPr>
          <p:nvPr/>
        </p:nvCxnSpPr>
        <p:spPr>
          <a:xfrm>
            <a:off x="6157504" y="749270"/>
            <a:ext cx="1421404" cy="808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57" idx="3"/>
          </p:cNvCxnSpPr>
          <p:nvPr/>
        </p:nvCxnSpPr>
        <p:spPr>
          <a:xfrm>
            <a:off x="6157504" y="1191629"/>
            <a:ext cx="1421404" cy="36596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6177394" y="1596965"/>
            <a:ext cx="1351279" cy="89443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109" idx="2"/>
          </p:cNvCxnSpPr>
          <p:nvPr/>
        </p:nvCxnSpPr>
        <p:spPr>
          <a:xfrm flipV="1">
            <a:off x="6177393" y="1537263"/>
            <a:ext cx="1371154" cy="141580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109" idx="2"/>
          </p:cNvCxnSpPr>
          <p:nvPr/>
        </p:nvCxnSpPr>
        <p:spPr>
          <a:xfrm flipV="1">
            <a:off x="6177393" y="1537263"/>
            <a:ext cx="1371154" cy="18631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63" idx="3"/>
          </p:cNvCxnSpPr>
          <p:nvPr/>
        </p:nvCxnSpPr>
        <p:spPr>
          <a:xfrm flipV="1">
            <a:off x="6157504" y="1644696"/>
            <a:ext cx="1351280" cy="300987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109" idx="2"/>
          </p:cNvCxnSpPr>
          <p:nvPr/>
        </p:nvCxnSpPr>
        <p:spPr>
          <a:xfrm flipV="1">
            <a:off x="6157503" y="1537263"/>
            <a:ext cx="1391044" cy="35651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109" idx="2"/>
          </p:cNvCxnSpPr>
          <p:nvPr/>
        </p:nvCxnSpPr>
        <p:spPr>
          <a:xfrm flipV="1">
            <a:off x="6157503" y="1537263"/>
            <a:ext cx="1391044" cy="401242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7548547" y="117726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10" name="橢圓 109"/>
          <p:cNvSpPr/>
          <p:nvPr/>
        </p:nvSpPr>
        <p:spPr>
          <a:xfrm>
            <a:off x="7528673" y="29734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7" name="橢圓 116"/>
          <p:cNvSpPr/>
          <p:nvPr/>
        </p:nvSpPr>
        <p:spPr>
          <a:xfrm>
            <a:off x="446463" y="160780"/>
            <a:ext cx="454965" cy="454965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/>
          <p:cNvSpPr/>
          <p:nvPr/>
        </p:nvSpPr>
        <p:spPr>
          <a:xfrm>
            <a:off x="998655" y="132552"/>
            <a:ext cx="454965" cy="45496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/>
          <p:cNvSpPr/>
          <p:nvPr/>
        </p:nvSpPr>
        <p:spPr>
          <a:xfrm>
            <a:off x="1509844" y="145282"/>
            <a:ext cx="454965" cy="45496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/>
          <p:cNvSpPr/>
          <p:nvPr/>
        </p:nvSpPr>
        <p:spPr>
          <a:xfrm>
            <a:off x="446463" y="619044"/>
            <a:ext cx="454965" cy="45496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/>
          <p:cNvSpPr/>
          <p:nvPr/>
        </p:nvSpPr>
        <p:spPr>
          <a:xfrm>
            <a:off x="998655" y="590816"/>
            <a:ext cx="454965" cy="454965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橢圓 121"/>
          <p:cNvSpPr/>
          <p:nvPr/>
        </p:nvSpPr>
        <p:spPr>
          <a:xfrm>
            <a:off x="1509844" y="603546"/>
            <a:ext cx="454965" cy="45496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橢圓 122"/>
          <p:cNvSpPr/>
          <p:nvPr/>
        </p:nvSpPr>
        <p:spPr>
          <a:xfrm>
            <a:off x="459086" y="1075126"/>
            <a:ext cx="454965" cy="454965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橢圓 123"/>
          <p:cNvSpPr/>
          <p:nvPr/>
        </p:nvSpPr>
        <p:spPr>
          <a:xfrm>
            <a:off x="1011278" y="1046898"/>
            <a:ext cx="454965" cy="454965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橢圓 124"/>
          <p:cNvSpPr/>
          <p:nvPr/>
        </p:nvSpPr>
        <p:spPr>
          <a:xfrm>
            <a:off x="1522467" y="1059628"/>
            <a:ext cx="454965" cy="454965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/>
          <p:cNvSpPr txBox="1"/>
          <p:nvPr/>
        </p:nvSpPr>
        <p:spPr>
          <a:xfrm>
            <a:off x="6515549" y="5760325"/>
            <a:ext cx="2126717" cy="4001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/>
              <a:t>Shared weights</a:t>
            </a:r>
            <a:endParaRPr lang="zh-TW" altLang="en-US" dirty="0"/>
          </a:p>
        </p:txBody>
      </p:sp>
      <p:cxnSp>
        <p:nvCxnSpPr>
          <p:cNvPr id="72" name="直線單箭頭接點 71"/>
          <p:cNvCxnSpPr>
            <a:stCxn id="56" idx="3"/>
            <a:endCxn id="110" idx="2"/>
          </p:cNvCxnSpPr>
          <p:nvPr/>
        </p:nvCxnSpPr>
        <p:spPr>
          <a:xfrm>
            <a:off x="6157504" y="749270"/>
            <a:ext cx="1371169" cy="25841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57" idx="3"/>
            <a:endCxn id="110" idx="2"/>
          </p:cNvCxnSpPr>
          <p:nvPr/>
        </p:nvCxnSpPr>
        <p:spPr>
          <a:xfrm>
            <a:off x="6157504" y="1191629"/>
            <a:ext cx="1371169" cy="21418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58" idx="3"/>
            <a:endCxn id="110" idx="2"/>
          </p:cNvCxnSpPr>
          <p:nvPr/>
        </p:nvCxnSpPr>
        <p:spPr>
          <a:xfrm>
            <a:off x="6157504" y="1653425"/>
            <a:ext cx="1371169" cy="168004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110" idx="2"/>
          </p:cNvCxnSpPr>
          <p:nvPr/>
        </p:nvCxnSpPr>
        <p:spPr>
          <a:xfrm>
            <a:off x="6186794" y="2980636"/>
            <a:ext cx="1341879" cy="35283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110" idx="2"/>
          </p:cNvCxnSpPr>
          <p:nvPr/>
        </p:nvCxnSpPr>
        <p:spPr>
          <a:xfrm flipV="1">
            <a:off x="6173541" y="3333466"/>
            <a:ext cx="1355132" cy="12503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110" idx="2"/>
          </p:cNvCxnSpPr>
          <p:nvPr/>
        </p:nvCxnSpPr>
        <p:spPr>
          <a:xfrm flipV="1">
            <a:off x="6173556" y="3333466"/>
            <a:ext cx="1355117" cy="56999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64" idx="3"/>
          </p:cNvCxnSpPr>
          <p:nvPr/>
        </p:nvCxnSpPr>
        <p:spPr>
          <a:xfrm flipV="1">
            <a:off x="6157504" y="3361033"/>
            <a:ext cx="1336956" cy="176252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65" idx="3"/>
          </p:cNvCxnSpPr>
          <p:nvPr/>
        </p:nvCxnSpPr>
        <p:spPr>
          <a:xfrm flipV="1">
            <a:off x="6157504" y="3326993"/>
            <a:ext cx="1359292" cy="223892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66" idx="3"/>
          </p:cNvCxnSpPr>
          <p:nvPr/>
        </p:nvCxnSpPr>
        <p:spPr>
          <a:xfrm flipV="1">
            <a:off x="6157504" y="3389926"/>
            <a:ext cx="1344118" cy="263779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708602" y="4640718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pic>
        <p:nvPicPr>
          <p:cNvPr id="87" name="圖片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876" y="1215655"/>
            <a:ext cx="2229885" cy="2242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5" name="直線單箭頭接點 34"/>
          <p:cNvCxnSpPr/>
          <p:nvPr/>
        </p:nvCxnSpPr>
        <p:spPr>
          <a:xfrm flipV="1">
            <a:off x="2328458" y="1557594"/>
            <a:ext cx="945481" cy="9338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2022123" y="837829"/>
            <a:ext cx="1251816" cy="6858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80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6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Max Pooling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895269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1737098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2578927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3420756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895269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1737098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2578927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3420756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895269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1737098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2578927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3420756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895269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1737098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2578927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3420756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711842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7200612" y="208662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42" name="橢圓 41"/>
          <p:cNvSpPr/>
          <p:nvPr/>
        </p:nvSpPr>
        <p:spPr>
          <a:xfrm>
            <a:off x="5064249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3" name="橢圓 42"/>
          <p:cNvSpPr/>
          <p:nvPr/>
        </p:nvSpPr>
        <p:spPr>
          <a:xfrm>
            <a:off x="5906078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4" name="橢圓 43"/>
          <p:cNvSpPr/>
          <p:nvPr/>
        </p:nvSpPr>
        <p:spPr>
          <a:xfrm>
            <a:off x="6747907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5" name="橢圓 44"/>
          <p:cNvSpPr/>
          <p:nvPr/>
        </p:nvSpPr>
        <p:spPr>
          <a:xfrm>
            <a:off x="7589736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6" name="橢圓 45"/>
          <p:cNvSpPr/>
          <p:nvPr/>
        </p:nvSpPr>
        <p:spPr>
          <a:xfrm>
            <a:off x="5064249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7" name="橢圓 46"/>
          <p:cNvSpPr/>
          <p:nvPr/>
        </p:nvSpPr>
        <p:spPr>
          <a:xfrm>
            <a:off x="5906078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8" name="橢圓 47"/>
          <p:cNvSpPr/>
          <p:nvPr/>
        </p:nvSpPr>
        <p:spPr>
          <a:xfrm>
            <a:off x="6747907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49" name="橢圓 48"/>
          <p:cNvSpPr/>
          <p:nvPr/>
        </p:nvSpPr>
        <p:spPr>
          <a:xfrm>
            <a:off x="7589736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0" name="橢圓 49"/>
          <p:cNvSpPr/>
          <p:nvPr/>
        </p:nvSpPr>
        <p:spPr>
          <a:xfrm>
            <a:off x="5064249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1" name="橢圓 50"/>
          <p:cNvSpPr/>
          <p:nvPr/>
        </p:nvSpPr>
        <p:spPr>
          <a:xfrm>
            <a:off x="5906078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2" name="橢圓 51"/>
          <p:cNvSpPr/>
          <p:nvPr/>
        </p:nvSpPr>
        <p:spPr>
          <a:xfrm>
            <a:off x="6747907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53" name="橢圓 52"/>
          <p:cNvSpPr/>
          <p:nvPr/>
        </p:nvSpPr>
        <p:spPr>
          <a:xfrm>
            <a:off x="7589736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4" name="橢圓 53"/>
          <p:cNvSpPr/>
          <p:nvPr/>
        </p:nvSpPr>
        <p:spPr>
          <a:xfrm>
            <a:off x="5064249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5" name="橢圓 54"/>
          <p:cNvSpPr/>
          <p:nvPr/>
        </p:nvSpPr>
        <p:spPr>
          <a:xfrm>
            <a:off x="5906078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6" name="橢圓 55"/>
          <p:cNvSpPr/>
          <p:nvPr/>
        </p:nvSpPr>
        <p:spPr>
          <a:xfrm>
            <a:off x="6747907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-4</a:t>
            </a:r>
            <a:endParaRPr lang="zh-TW" altLang="en-US" sz="2400" dirty="0"/>
          </a:p>
        </p:txBody>
      </p:sp>
      <p:sp>
        <p:nvSpPr>
          <p:cNvPr id="57" name="橢圓 56"/>
          <p:cNvSpPr/>
          <p:nvPr/>
        </p:nvSpPr>
        <p:spPr>
          <a:xfrm>
            <a:off x="7589736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1706936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3329090" y="207236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895269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2578926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895269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/>
        </p:nvSpPr>
        <p:spPr>
          <a:xfrm>
            <a:off x="2578926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/>
        </p:nvSpPr>
        <p:spPr>
          <a:xfrm>
            <a:off x="5064250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/>
        </p:nvSpPr>
        <p:spPr>
          <a:xfrm>
            <a:off x="6747907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5064250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6747907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11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6" grpId="0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48" grpId="1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6" grpId="0" animBg="1"/>
      <p:bldP spid="56" grpId="1" animBg="1"/>
      <p:bldP spid="57" grpId="0" animBg="1"/>
      <p:bldP spid="59" grpId="0"/>
      <p:bldP spid="3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Max Pooling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338635" y="2246978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2107" y="5236886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sp>
        <p:nvSpPr>
          <p:cNvPr id="6" name="橢圓 5"/>
          <p:cNvSpPr/>
          <p:nvPr/>
        </p:nvSpPr>
        <p:spPr>
          <a:xfrm>
            <a:off x="6142192" y="2634822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7" name="橢圓 6"/>
          <p:cNvSpPr/>
          <p:nvPr/>
        </p:nvSpPr>
        <p:spPr>
          <a:xfrm>
            <a:off x="7570286" y="2830358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8" name="橢圓 7"/>
          <p:cNvSpPr/>
          <p:nvPr/>
        </p:nvSpPr>
        <p:spPr>
          <a:xfrm>
            <a:off x="7570286" y="393865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9" name="橢圓 8"/>
          <p:cNvSpPr/>
          <p:nvPr/>
        </p:nvSpPr>
        <p:spPr>
          <a:xfrm>
            <a:off x="6598679" y="393865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0" name="橢圓 9"/>
          <p:cNvSpPr/>
          <p:nvPr/>
        </p:nvSpPr>
        <p:spPr>
          <a:xfrm>
            <a:off x="6788771" y="3047117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" name="橢圓 10"/>
          <p:cNvSpPr/>
          <p:nvPr/>
        </p:nvSpPr>
        <p:spPr>
          <a:xfrm>
            <a:off x="7795350" y="3024815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2" name="橢圓 11"/>
          <p:cNvSpPr/>
          <p:nvPr/>
        </p:nvSpPr>
        <p:spPr>
          <a:xfrm>
            <a:off x="7795350" y="4095701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6803112" y="4098192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425893" y="49294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 x 2 image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436727" y="5443430"/>
            <a:ext cx="2267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Each filter </a:t>
            </a:r>
          </a:p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is a channel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6" name="向右箭號 15"/>
          <p:cNvSpPr/>
          <p:nvPr/>
        </p:nvSpPr>
        <p:spPr>
          <a:xfrm>
            <a:off x="3152252" y="2472862"/>
            <a:ext cx="859387" cy="84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6436727" y="1700808"/>
            <a:ext cx="2280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New image </a:t>
            </a:r>
          </a:p>
          <a:p>
            <a:pPr algn="ctr"/>
            <a:r>
              <a:rPr lang="en-US" altLang="zh-TW" sz="2800" dirty="0"/>
              <a:t>but smaller</a:t>
            </a:r>
            <a:endParaRPr lang="zh-TW" altLang="en-US" sz="2800" dirty="0"/>
          </a:p>
        </p:txBody>
      </p:sp>
      <p:sp>
        <p:nvSpPr>
          <p:cNvPr id="19" name="矩形 18"/>
          <p:cNvSpPr/>
          <p:nvPr/>
        </p:nvSpPr>
        <p:spPr>
          <a:xfrm>
            <a:off x="4014707" y="2354014"/>
            <a:ext cx="1375221" cy="106705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Conv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011639" y="3931513"/>
            <a:ext cx="1378290" cy="10670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Max</a:t>
            </a:r>
          </a:p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Pooling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向右箭號 20"/>
          <p:cNvSpPr/>
          <p:nvPr/>
        </p:nvSpPr>
        <p:spPr>
          <a:xfrm>
            <a:off x="5378125" y="4032749"/>
            <a:ext cx="859387" cy="84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向右箭號 21"/>
          <p:cNvSpPr/>
          <p:nvPr/>
        </p:nvSpPr>
        <p:spPr>
          <a:xfrm rot="5400000">
            <a:off x="4454982" y="3262226"/>
            <a:ext cx="491601" cy="84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01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0" y="509347"/>
            <a:ext cx="3491880" cy="935037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Flatten</a:t>
            </a:r>
            <a:endParaRPr lang="zh-TW" alt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267012" y="2473538"/>
            <a:ext cx="1943214" cy="2049364"/>
            <a:chOff x="758373" y="2759289"/>
            <a:chExt cx="1943214" cy="2049364"/>
          </a:xfrm>
        </p:grpSpPr>
        <p:sp>
          <p:nvSpPr>
            <p:cNvPr id="6" name="橢圓 5"/>
            <p:cNvSpPr/>
            <p:nvPr/>
          </p:nvSpPr>
          <p:spPr>
            <a:xfrm>
              <a:off x="758373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1729980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1729980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758373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10" name="橢圓 9"/>
            <p:cNvSpPr/>
            <p:nvPr/>
          </p:nvSpPr>
          <p:spPr>
            <a:xfrm>
              <a:off x="936506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-1</a:t>
              </a:r>
              <a:endParaRPr lang="zh-TW" altLang="en-US" sz="2400" dirty="0"/>
            </a:p>
          </p:txBody>
        </p:sp>
        <p:sp>
          <p:nvSpPr>
            <p:cNvPr id="11" name="橢圓 10"/>
            <p:cNvSpPr/>
            <p:nvPr/>
          </p:nvSpPr>
          <p:spPr>
            <a:xfrm>
              <a:off x="1981587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1981587" y="408865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13" name="橢圓 12"/>
            <p:cNvSpPr/>
            <p:nvPr/>
          </p:nvSpPr>
          <p:spPr>
            <a:xfrm>
              <a:off x="962806" y="402712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sp>
        <p:nvSpPr>
          <p:cNvPr id="17" name="文字方塊 16"/>
          <p:cNvSpPr txBox="1"/>
          <p:nvPr/>
        </p:nvSpPr>
        <p:spPr>
          <a:xfrm>
            <a:off x="2509007" y="3902849"/>
            <a:ext cx="1364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Flatten</a:t>
            </a:r>
            <a:endParaRPr lang="zh-TW" altLang="en-US" sz="2800" dirty="0"/>
          </a:p>
        </p:txBody>
      </p:sp>
      <p:sp>
        <p:nvSpPr>
          <p:cNvPr id="21" name="橢圓 20"/>
          <p:cNvSpPr/>
          <p:nvPr/>
        </p:nvSpPr>
        <p:spPr>
          <a:xfrm>
            <a:off x="4212000" y="194885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4212000" y="10843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4212000" y="19232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4212000" y="2778220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4212000" y="3615067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4212000" y="440275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4212000" y="5204579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8" name="橢圓 27"/>
          <p:cNvSpPr/>
          <p:nvPr/>
        </p:nvSpPr>
        <p:spPr>
          <a:xfrm>
            <a:off x="4212000" y="602927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5" name="向右箭號 4"/>
          <p:cNvSpPr/>
          <p:nvPr/>
        </p:nvSpPr>
        <p:spPr>
          <a:xfrm>
            <a:off x="4987646" y="3190637"/>
            <a:ext cx="558279" cy="7287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向右箭號 32"/>
          <p:cNvSpPr/>
          <p:nvPr/>
        </p:nvSpPr>
        <p:spPr>
          <a:xfrm>
            <a:off x="7473525" y="3419072"/>
            <a:ext cx="558279" cy="7287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9" name="群組 28"/>
          <p:cNvGrpSpPr/>
          <p:nvPr/>
        </p:nvGrpSpPr>
        <p:grpSpPr>
          <a:xfrm>
            <a:off x="5761283" y="2660258"/>
            <a:ext cx="3201477" cy="2998950"/>
            <a:chOff x="-2630921" y="4440114"/>
            <a:chExt cx="3201477" cy="2998950"/>
          </a:xfrm>
        </p:grpSpPr>
        <p:pic>
          <p:nvPicPr>
            <p:cNvPr id="30" name="圖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 flipH="1">
              <a:off x="-2630921" y="4440114"/>
              <a:ext cx="3201477" cy="1701788"/>
            </a:xfrm>
            <a:prstGeom prst="rect">
              <a:avLst/>
            </a:prstGeom>
          </p:spPr>
        </p:pic>
        <p:sp>
          <p:nvSpPr>
            <p:cNvPr id="31" name="文字方塊 30"/>
            <p:cNvSpPr txBox="1"/>
            <p:nvPr/>
          </p:nvSpPr>
          <p:spPr>
            <a:xfrm>
              <a:off x="-2630921" y="6238735"/>
              <a:ext cx="2906568" cy="1200329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FF0000"/>
                  </a:solidFill>
                </a:rPr>
                <a:t>Fully Connected Feedforward network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4" name="向右箭號 33"/>
          <p:cNvSpPr/>
          <p:nvPr/>
        </p:nvSpPr>
        <p:spPr>
          <a:xfrm>
            <a:off x="2325687" y="3202044"/>
            <a:ext cx="1832676" cy="7287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20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5" grpId="0" animBg="1"/>
      <p:bldP spid="33" grpId="0" animBg="1"/>
      <p:bldP spid="3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4A26A-1603-48FF-BF37-966BEE0F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卷积神经网络总结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AAA09D-B7E4-4C0A-B89E-B78C1B5C53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846"/>
          <a:stretch/>
        </p:blipFill>
        <p:spPr>
          <a:xfrm>
            <a:off x="107504" y="1038699"/>
            <a:ext cx="8800324" cy="33123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BBFF99-0EA8-4A4F-8BE5-2E6A369C94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063"/>
          <a:stretch/>
        </p:blipFill>
        <p:spPr>
          <a:xfrm>
            <a:off x="2555776" y="4342770"/>
            <a:ext cx="4716016" cy="243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93941"/>
      </p:ext>
    </p:extLst>
  </p:cSld>
  <p:clrMapOvr>
    <a:masterClrMapping/>
  </p:clrMapOvr>
  <p:transition spd="slow">
    <p:circl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DE7C1-2A03-46BE-AF45-2E5957AC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具体模型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83D52C-44D6-44C8-8147-FDCB60F2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749" y="2132856"/>
            <a:ext cx="4032448" cy="9429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7FF8D0-A55B-47D8-852E-F16EFCAC3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508" y="1813189"/>
            <a:ext cx="4032448" cy="9429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E5FEB6-D377-4A29-A724-882D59FCE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5" y="1340768"/>
            <a:ext cx="8563349" cy="49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91314"/>
      </p:ext>
    </p:extLst>
  </p:cSld>
  <p:clrMapOvr>
    <a:masterClrMapping/>
  </p:clrMapOvr>
  <p:transition spd="slow">
    <p:circl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图卷积网络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47" y="1389537"/>
            <a:ext cx="7797105" cy="3834467"/>
          </a:xfrm>
          <a:prstGeom prst="rect">
            <a:avLst/>
          </a:prstGeom>
        </p:spPr>
      </p:pic>
      <p:pic>
        <p:nvPicPr>
          <p:cNvPr id="5" name="图片 4" descr="图片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10"/>
          <a:stretch/>
        </p:blipFill>
        <p:spPr bwMode="auto">
          <a:xfrm>
            <a:off x="1179173" y="5188113"/>
            <a:ext cx="5868224" cy="823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图片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8" b="27519"/>
          <a:stretch/>
        </p:blipFill>
        <p:spPr bwMode="auto">
          <a:xfrm>
            <a:off x="1179173" y="6011874"/>
            <a:ext cx="5904227" cy="6362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矩形 6"/>
          <p:cNvSpPr/>
          <p:nvPr/>
        </p:nvSpPr>
        <p:spPr>
          <a:xfrm>
            <a:off x="1179173" y="1143022"/>
            <a:ext cx="45817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kern="0" dirty="0">
                <a:solidFill>
                  <a:srgbClr val="FF0000"/>
                </a:solidFill>
                <a:latin typeface="微软雅黑" panose="020B0503020204020204" pitchFamily="34" charset="-122"/>
                <a:cs typeface="宋体" panose="02010600030101010101" pitchFamily="2" charset="-122"/>
              </a:rPr>
              <a:t>Graph Convolution Networks (GCN)</a:t>
            </a:r>
            <a:endParaRPr lang="zh-CN" altLang="en-US" b="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3810" y="6596390"/>
            <a:ext cx="576468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b="0" kern="0" spc="4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Semi-Supervised Classification with Graph Convolutional Networks (ICLR2017)</a:t>
            </a:r>
            <a:endParaRPr lang="zh-CN" altLang="en-US"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496480"/>
      </p:ext>
    </p:extLst>
  </p:cSld>
  <p:clrMapOvr>
    <a:masterClrMapping/>
  </p:clrMapOvr>
  <p:transition spd="slow">
    <p:circl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BB119-F79E-4DA7-A0B6-DBF0E2642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图卷积网络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6764C64-29C2-4EE3-913F-3C17B00CD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4" y="1032845"/>
            <a:ext cx="8938716" cy="4308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2F0E272-78E1-4F6F-9D7D-0B18C4B395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633"/>
          <a:stretch/>
        </p:blipFill>
        <p:spPr>
          <a:xfrm>
            <a:off x="3779912" y="3970803"/>
            <a:ext cx="5326484" cy="283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09192"/>
      </p:ext>
    </p:extLst>
  </p:cSld>
  <p:clrMapOvr>
    <a:masterClrMapping/>
  </p:clrMapOvr>
  <p:transition spd="slow">
    <p:circl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Recurrent Neural Network (RNN)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315227" y="4630746"/>
            <a:ext cx="1080000" cy="43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38" name="矩形 37"/>
          <p:cNvSpPr/>
          <p:nvPr/>
        </p:nvSpPr>
        <p:spPr>
          <a:xfrm>
            <a:off x="1303291" y="3481371"/>
            <a:ext cx="108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41" name="矩形 40"/>
          <p:cNvSpPr/>
          <p:nvPr/>
        </p:nvSpPr>
        <p:spPr>
          <a:xfrm>
            <a:off x="1315227" y="2361176"/>
            <a:ext cx="108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57" name="矩形 56"/>
          <p:cNvSpPr/>
          <p:nvPr/>
        </p:nvSpPr>
        <p:spPr>
          <a:xfrm>
            <a:off x="4085325" y="4616339"/>
            <a:ext cx="1080000" cy="43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59" name="矩形 58"/>
          <p:cNvSpPr/>
          <p:nvPr/>
        </p:nvSpPr>
        <p:spPr>
          <a:xfrm>
            <a:off x="4104374" y="3502634"/>
            <a:ext cx="108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60" name="矩形 59"/>
          <p:cNvSpPr/>
          <p:nvPr/>
        </p:nvSpPr>
        <p:spPr>
          <a:xfrm>
            <a:off x="2561443" y="3458316"/>
            <a:ext cx="1080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65" name="矩形 64"/>
          <p:cNvSpPr/>
          <p:nvPr/>
        </p:nvSpPr>
        <p:spPr>
          <a:xfrm>
            <a:off x="4104374" y="2368710"/>
            <a:ext cx="108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66" name="矩形 65"/>
          <p:cNvSpPr/>
          <p:nvPr/>
        </p:nvSpPr>
        <p:spPr>
          <a:xfrm>
            <a:off x="6902115" y="4622557"/>
            <a:ext cx="1080000" cy="43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67" name="矩形 66"/>
          <p:cNvSpPr/>
          <p:nvPr/>
        </p:nvSpPr>
        <p:spPr>
          <a:xfrm>
            <a:off x="6921164" y="3508852"/>
            <a:ext cx="1080000" cy="43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68" name="矩形 67"/>
          <p:cNvSpPr/>
          <p:nvPr/>
        </p:nvSpPr>
        <p:spPr>
          <a:xfrm>
            <a:off x="5378233" y="3502634"/>
            <a:ext cx="1080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69" name="矩形 68"/>
          <p:cNvSpPr/>
          <p:nvPr/>
        </p:nvSpPr>
        <p:spPr>
          <a:xfrm>
            <a:off x="6944117" y="2387662"/>
            <a:ext cx="1080000" cy="43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71" name="向上箭號 70"/>
          <p:cNvSpPr/>
          <p:nvPr/>
        </p:nvSpPr>
        <p:spPr>
          <a:xfrm>
            <a:off x="1659428" y="3979458"/>
            <a:ext cx="386677" cy="5794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74" name="向上箭號 73"/>
          <p:cNvSpPr/>
          <p:nvPr/>
        </p:nvSpPr>
        <p:spPr>
          <a:xfrm>
            <a:off x="1659429" y="2835874"/>
            <a:ext cx="386677" cy="579410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3" name="文字方塊 2"/>
          <p:cNvSpPr txBox="1"/>
          <p:nvPr/>
        </p:nvSpPr>
        <p:spPr>
          <a:xfrm>
            <a:off x="2684307" y="2883515"/>
            <a:ext cx="104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>
                <a:solidFill>
                  <a:srgbClr val="0000FF"/>
                </a:solidFill>
              </a:rPr>
              <a:t>store</a:t>
            </a:r>
            <a:endParaRPr lang="zh-TW" altLang="en-US" b="0" dirty="0">
              <a:solidFill>
                <a:srgbClr val="0000FF"/>
              </a:solidFill>
            </a:endParaRPr>
          </a:p>
        </p:txBody>
      </p:sp>
      <p:sp>
        <p:nvSpPr>
          <p:cNvPr id="78" name="手繪多邊形 77"/>
          <p:cNvSpPr/>
          <p:nvPr/>
        </p:nvSpPr>
        <p:spPr>
          <a:xfrm flipH="1">
            <a:off x="2339752" y="3212976"/>
            <a:ext cx="672579" cy="31961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79" name="文字方塊 78"/>
          <p:cNvSpPr txBox="1"/>
          <p:nvPr/>
        </p:nvSpPr>
        <p:spPr>
          <a:xfrm>
            <a:off x="5451296" y="2883515"/>
            <a:ext cx="104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>
                <a:solidFill>
                  <a:srgbClr val="0000FF"/>
                </a:solidFill>
              </a:rPr>
              <a:t>store</a:t>
            </a:r>
            <a:endParaRPr lang="zh-TW" altLang="en-US" b="0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449555" y="4605831"/>
            <a:ext cx="90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x</a:t>
            </a:r>
            <a:r>
              <a:rPr lang="en-US" altLang="zh-TW" b="0" baseline="30000" dirty="0"/>
              <a:t>1</a:t>
            </a:r>
            <a:endParaRPr lang="zh-TW" altLang="en-US" b="0" baseline="30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4190588" y="4616339"/>
            <a:ext cx="90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x</a:t>
            </a:r>
            <a:r>
              <a:rPr lang="en-US" altLang="zh-TW" b="0" baseline="30000" dirty="0"/>
              <a:t>2</a:t>
            </a:r>
            <a:endParaRPr lang="zh-TW" altLang="en-US" b="0" baseline="30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7030331" y="4612822"/>
            <a:ext cx="90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x</a:t>
            </a:r>
            <a:r>
              <a:rPr lang="en-US" altLang="zh-TW" b="0" baseline="30000" dirty="0"/>
              <a:t>3</a:t>
            </a:r>
            <a:endParaRPr lang="zh-TW" altLang="en-US" b="0" baseline="30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398980" y="2347272"/>
            <a:ext cx="90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y</a:t>
            </a:r>
            <a:r>
              <a:rPr lang="en-US" altLang="zh-TW" b="0" baseline="30000" dirty="0"/>
              <a:t>1</a:t>
            </a:r>
            <a:endParaRPr lang="zh-TW" altLang="en-US" b="0" baseline="30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4210837" y="2328459"/>
            <a:ext cx="90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y</a:t>
            </a:r>
            <a:r>
              <a:rPr lang="en-US" altLang="zh-TW" b="0" baseline="30000" dirty="0"/>
              <a:t>2</a:t>
            </a:r>
            <a:endParaRPr lang="zh-TW" altLang="en-US" b="0" baseline="30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7074543" y="2352720"/>
            <a:ext cx="90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y</a:t>
            </a:r>
            <a:r>
              <a:rPr lang="en-US" altLang="zh-TW" b="0" baseline="30000" dirty="0"/>
              <a:t>3</a:t>
            </a:r>
            <a:endParaRPr lang="zh-TW" altLang="en-US" b="0" baseline="30000" dirty="0"/>
          </a:p>
        </p:txBody>
      </p:sp>
      <p:sp>
        <p:nvSpPr>
          <p:cNvPr id="87" name="向上箭號 86"/>
          <p:cNvSpPr/>
          <p:nvPr/>
        </p:nvSpPr>
        <p:spPr>
          <a:xfrm>
            <a:off x="4454443" y="4006287"/>
            <a:ext cx="386677" cy="5794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88" name="向上箭號 87"/>
          <p:cNvSpPr/>
          <p:nvPr/>
        </p:nvSpPr>
        <p:spPr>
          <a:xfrm>
            <a:off x="4454444" y="2862703"/>
            <a:ext cx="386677" cy="579410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89" name="向上箭號 88"/>
          <p:cNvSpPr/>
          <p:nvPr/>
        </p:nvSpPr>
        <p:spPr>
          <a:xfrm>
            <a:off x="7272158" y="4010354"/>
            <a:ext cx="386677" cy="5794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90" name="向上箭號 89"/>
          <p:cNvSpPr/>
          <p:nvPr/>
        </p:nvSpPr>
        <p:spPr>
          <a:xfrm>
            <a:off x="7272159" y="2866770"/>
            <a:ext cx="386677" cy="579410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45" name="弧形箭號 (上彎) 44"/>
          <p:cNvSpPr/>
          <p:nvPr/>
        </p:nvSpPr>
        <p:spPr>
          <a:xfrm>
            <a:off x="3116647" y="3934141"/>
            <a:ext cx="1381017" cy="568649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>
              <a:solidFill>
                <a:schemeClr val="tx1"/>
              </a:solidFill>
            </a:endParaRPr>
          </a:p>
        </p:txBody>
      </p:sp>
      <p:sp>
        <p:nvSpPr>
          <p:cNvPr id="46" name="弧形箭號 (上彎) 45"/>
          <p:cNvSpPr/>
          <p:nvPr/>
        </p:nvSpPr>
        <p:spPr>
          <a:xfrm>
            <a:off x="5850328" y="3939403"/>
            <a:ext cx="1381017" cy="568649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>
              <a:solidFill>
                <a:schemeClr val="tx1"/>
              </a:solidFill>
            </a:endParaRPr>
          </a:p>
        </p:txBody>
      </p:sp>
      <p:sp>
        <p:nvSpPr>
          <p:cNvPr id="49" name="手繪多邊形 48"/>
          <p:cNvSpPr/>
          <p:nvPr/>
        </p:nvSpPr>
        <p:spPr>
          <a:xfrm flipH="1">
            <a:off x="5158012" y="3220222"/>
            <a:ext cx="672579" cy="31961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sp>
        <p:nvSpPr>
          <p:cNvPr id="56" name="文字方塊 55"/>
          <p:cNvSpPr txBox="1"/>
          <p:nvPr/>
        </p:nvSpPr>
        <p:spPr>
          <a:xfrm>
            <a:off x="1754068" y="3107523"/>
            <a:ext cx="90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a</a:t>
            </a:r>
            <a:r>
              <a:rPr lang="en-US" altLang="zh-TW" b="0" baseline="30000" dirty="0"/>
              <a:t>1</a:t>
            </a:r>
            <a:endParaRPr lang="zh-TW" altLang="en-US" b="0" baseline="30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2746025" y="3437452"/>
            <a:ext cx="90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a</a:t>
            </a:r>
            <a:r>
              <a:rPr lang="en-US" altLang="zh-TW" b="0" baseline="30000" dirty="0"/>
              <a:t>1</a:t>
            </a:r>
            <a:endParaRPr lang="zh-TW" altLang="en-US" b="0" baseline="30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515671" y="3475353"/>
            <a:ext cx="90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a</a:t>
            </a:r>
            <a:r>
              <a:rPr lang="en-US" altLang="zh-TW" b="0" baseline="30000" dirty="0"/>
              <a:t>2</a:t>
            </a:r>
            <a:endParaRPr lang="zh-TW" altLang="en-US" b="0" baseline="30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4686212" y="3127448"/>
            <a:ext cx="572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a</a:t>
            </a:r>
            <a:r>
              <a:rPr lang="en-US" altLang="zh-TW" b="0" baseline="30000" dirty="0"/>
              <a:t>2</a:t>
            </a:r>
            <a:endParaRPr lang="zh-TW" altLang="en-US" b="0" baseline="30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7517053" y="3119066"/>
            <a:ext cx="572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dirty="0"/>
              <a:t>a</a:t>
            </a:r>
            <a:r>
              <a:rPr lang="en-US" altLang="zh-TW" b="0" baseline="30000" dirty="0"/>
              <a:t>3</a:t>
            </a:r>
            <a:endParaRPr lang="zh-TW" altLang="en-US" b="0" baseline="30000" dirty="0"/>
          </a:p>
        </p:txBody>
      </p:sp>
      <p:sp>
        <p:nvSpPr>
          <p:cNvPr id="52" name="矩形 51"/>
          <p:cNvSpPr/>
          <p:nvPr/>
        </p:nvSpPr>
        <p:spPr>
          <a:xfrm>
            <a:off x="1928588" y="5697065"/>
            <a:ext cx="55884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b="0" dirty="0"/>
              <a:t>arrive     </a:t>
            </a:r>
            <a:r>
              <a:rPr lang="en-US" altLang="zh-TW" b="0" dirty="0">
                <a:solidFill>
                  <a:srgbClr val="FF0000"/>
                </a:solidFill>
              </a:rPr>
              <a:t>Taipei     </a:t>
            </a:r>
            <a:r>
              <a:rPr lang="en-US" altLang="zh-TW" b="0" dirty="0"/>
              <a:t>on     </a:t>
            </a:r>
            <a:r>
              <a:rPr lang="en-US" altLang="zh-TW" b="0" dirty="0">
                <a:solidFill>
                  <a:srgbClr val="0000FF"/>
                </a:solidFill>
              </a:rPr>
              <a:t>November     2</a:t>
            </a:r>
            <a:r>
              <a:rPr lang="en-US" altLang="zh-TW" b="0" baseline="30000" dirty="0">
                <a:solidFill>
                  <a:srgbClr val="0000FF"/>
                </a:solidFill>
              </a:rPr>
              <a:t>nd</a:t>
            </a:r>
            <a:r>
              <a:rPr lang="en-US" altLang="zh-TW" b="0" dirty="0"/>
              <a:t> </a:t>
            </a:r>
            <a:endParaRPr lang="en-US" altLang="zh-TW" b="0" dirty="0">
              <a:solidFill>
                <a:srgbClr val="FFC000"/>
              </a:solidFill>
            </a:endParaRPr>
          </a:p>
        </p:txBody>
      </p:sp>
      <p:pic>
        <p:nvPicPr>
          <p:cNvPr id="55" name="Picture 8" descr="User Symbol Blue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719" y="5676160"/>
            <a:ext cx="497114" cy="76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圓角矩形圖說文字 69"/>
          <p:cNvSpPr/>
          <p:nvPr/>
        </p:nvSpPr>
        <p:spPr>
          <a:xfrm>
            <a:off x="2196914" y="5676160"/>
            <a:ext cx="5320139" cy="511860"/>
          </a:xfrm>
          <a:prstGeom prst="wedgeRoundRectCallout">
            <a:avLst>
              <a:gd name="adj1" fmla="val -61795"/>
              <a:gd name="adj2" fmla="val 34144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b="0"/>
          </a:p>
        </p:txBody>
      </p:sp>
      <p:cxnSp>
        <p:nvCxnSpPr>
          <p:cNvPr id="5" name="直線單箭頭接點 4"/>
          <p:cNvCxnSpPr>
            <a:endCxn id="6" idx="2"/>
          </p:cNvCxnSpPr>
          <p:nvPr/>
        </p:nvCxnSpPr>
        <p:spPr>
          <a:xfrm flipH="1" flipV="1">
            <a:off x="1903341" y="5005941"/>
            <a:ext cx="780966" cy="6911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V="1">
            <a:off x="3732057" y="5044807"/>
            <a:ext cx="855468" cy="65225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4686212" y="5084323"/>
            <a:ext cx="2585946" cy="61274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70295" y="1421266"/>
            <a:ext cx="2697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Probability of “arrive” in each slot</a:t>
            </a:r>
            <a:endParaRPr lang="zh-TW" altLang="en-US" b="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3472185" y="1412776"/>
            <a:ext cx="2697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Probability of “</a:t>
            </a:r>
            <a:r>
              <a:rPr lang="en-US" altLang="zh-TW" b="0" dirty="0">
                <a:solidFill>
                  <a:srgbClr val="FF0000"/>
                </a:solidFill>
              </a:rPr>
              <a:t>Taipei</a:t>
            </a:r>
            <a:r>
              <a:rPr lang="en-US" altLang="zh-TW" b="0" dirty="0"/>
              <a:t>” in each slot</a:t>
            </a:r>
            <a:endParaRPr lang="zh-TW" altLang="en-US" b="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6387886" y="1423214"/>
            <a:ext cx="2331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/>
              <a:t>Probability of “on” in each slot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311659352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1" grpId="0" animBg="1"/>
      <p:bldP spid="57" grpId="0" animBg="1"/>
      <p:bldP spid="59" grpId="0" animBg="1"/>
      <p:bldP spid="60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1" grpId="0" animBg="1"/>
      <p:bldP spid="74" grpId="0" animBg="1"/>
      <p:bldP spid="3" grpId="0"/>
      <p:bldP spid="78" grpId="0" animBg="1"/>
      <p:bldP spid="79" grpId="0"/>
      <p:bldP spid="6" grpId="0"/>
      <p:bldP spid="81" grpId="0"/>
      <p:bldP spid="82" grpId="0"/>
      <p:bldP spid="83" grpId="0"/>
      <p:bldP spid="84" grpId="0"/>
      <p:bldP spid="85" grpId="0"/>
      <p:bldP spid="87" grpId="0" animBg="1"/>
      <p:bldP spid="88" grpId="0" animBg="1"/>
      <p:bldP spid="89" grpId="0" animBg="1"/>
      <p:bldP spid="90" grpId="0" animBg="1"/>
      <p:bldP spid="45" grpId="0" animBg="1"/>
      <p:bldP spid="46" grpId="0" animBg="1"/>
      <p:bldP spid="49" grpId="0" animBg="1"/>
      <p:bldP spid="56" grpId="0"/>
      <p:bldP spid="58" grpId="0"/>
      <p:bldP spid="61" grpId="0"/>
      <p:bldP spid="62" grpId="0"/>
      <p:bldP spid="63" grpId="0"/>
      <p:bldP spid="52" grpId="0"/>
      <p:bldP spid="70" grpId="0" animBg="1"/>
      <p:bldP spid="10" grpId="0"/>
      <p:bldP spid="75" grpId="0"/>
      <p:bldP spid="7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803483" y="2814908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 course it can be deep …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25478" y="5627724"/>
            <a:ext cx="1080000" cy="36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46988" y="478338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08707" y="5633988"/>
            <a:ext cx="1080000" cy="36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92132" y="478338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向上箭號 8"/>
          <p:cNvSpPr/>
          <p:nvPr/>
        </p:nvSpPr>
        <p:spPr>
          <a:xfrm>
            <a:off x="2172140" y="5185057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0" name="向上箭號 9"/>
          <p:cNvSpPr/>
          <p:nvPr/>
        </p:nvSpPr>
        <p:spPr>
          <a:xfrm>
            <a:off x="4443126" y="5189636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1" name="向右箭號 10"/>
          <p:cNvSpPr/>
          <p:nvPr/>
        </p:nvSpPr>
        <p:spPr>
          <a:xfrm>
            <a:off x="859202" y="4777250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右箭號 11"/>
          <p:cNvSpPr/>
          <p:nvPr/>
        </p:nvSpPr>
        <p:spPr>
          <a:xfrm>
            <a:off x="3086795" y="4783349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3542" y="4666455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314528" y="4635213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72901" y="5633988"/>
            <a:ext cx="1080000" cy="360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56326" y="478338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7" name="向上箭號 16"/>
          <p:cNvSpPr/>
          <p:nvPr/>
        </p:nvSpPr>
        <p:spPr>
          <a:xfrm>
            <a:off x="6707320" y="5189636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8" name="向右箭號 17"/>
          <p:cNvSpPr/>
          <p:nvPr/>
        </p:nvSpPr>
        <p:spPr>
          <a:xfrm>
            <a:off x="5350989" y="4783349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9" name="向右箭號 18"/>
          <p:cNvSpPr/>
          <p:nvPr/>
        </p:nvSpPr>
        <p:spPr>
          <a:xfrm>
            <a:off x="7491452" y="4777250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927709" y="5559623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>
                <a:solidFill>
                  <a:srgbClr val="FF0000"/>
                </a:solidFill>
              </a:rPr>
              <a:t>x</a:t>
            </a:r>
            <a:r>
              <a:rPr lang="en-US" altLang="zh-TW" sz="2400" baseline="30000" dirty="0" err="1">
                <a:solidFill>
                  <a:srgbClr val="FF0000"/>
                </a:solidFill>
              </a:rPr>
              <a:t>t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231221" y="5590120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x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t+1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525778" y="5587356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x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t+2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825478" y="3866449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4" name="向上箭號 23"/>
          <p:cNvSpPr/>
          <p:nvPr/>
        </p:nvSpPr>
        <p:spPr>
          <a:xfrm>
            <a:off x="2150630" y="4268122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5" name="向右箭號 24"/>
          <p:cNvSpPr/>
          <p:nvPr/>
        </p:nvSpPr>
        <p:spPr>
          <a:xfrm>
            <a:off x="837692" y="3860315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22032" y="3749520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 rot="5400000">
            <a:off x="1988364" y="3046503"/>
            <a:ext cx="890772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……</a:t>
            </a:r>
            <a:endParaRPr lang="zh-TW" altLang="en-US" sz="2800" baseline="-25000" dirty="0">
              <a:solidFill>
                <a:srgbClr val="FF0000"/>
              </a:solidFill>
            </a:endParaRPr>
          </a:p>
        </p:txBody>
      </p:sp>
      <p:sp>
        <p:nvSpPr>
          <p:cNvPr id="28" name="向上箭號 27"/>
          <p:cNvSpPr/>
          <p:nvPr/>
        </p:nvSpPr>
        <p:spPr>
          <a:xfrm>
            <a:off x="2150629" y="2329933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803967" y="1928302"/>
            <a:ext cx="1080000" cy="36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911692" y="187744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>
                <a:solidFill>
                  <a:srgbClr val="FF0000"/>
                </a:solidFill>
              </a:rPr>
              <a:t>y</a:t>
            </a:r>
            <a:r>
              <a:rPr lang="en-US" altLang="zh-TW" sz="2400" baseline="30000" dirty="0" err="1">
                <a:solidFill>
                  <a:srgbClr val="FF0000"/>
                </a:solidFill>
              </a:rPr>
              <a:t>t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32" name="向右箭號 31"/>
          <p:cNvSpPr/>
          <p:nvPr/>
        </p:nvSpPr>
        <p:spPr>
          <a:xfrm>
            <a:off x="815697" y="2808774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37" y="2697979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074017" y="2808774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096012" y="3860315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6" name="向上箭號 35"/>
          <p:cNvSpPr/>
          <p:nvPr/>
        </p:nvSpPr>
        <p:spPr>
          <a:xfrm>
            <a:off x="4421164" y="4261988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7" name="向右箭號 36"/>
          <p:cNvSpPr/>
          <p:nvPr/>
        </p:nvSpPr>
        <p:spPr>
          <a:xfrm>
            <a:off x="3108226" y="3854181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 rot="5400000">
            <a:off x="4258898" y="3040369"/>
            <a:ext cx="890772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……</a:t>
            </a:r>
            <a:endParaRPr lang="zh-TW" altLang="en-US" sz="2800" baseline="-25000" dirty="0">
              <a:solidFill>
                <a:srgbClr val="FF0000"/>
              </a:solidFill>
            </a:endParaRPr>
          </a:p>
        </p:txBody>
      </p:sp>
      <p:sp>
        <p:nvSpPr>
          <p:cNvPr id="39" name="向上箭號 38"/>
          <p:cNvSpPr/>
          <p:nvPr/>
        </p:nvSpPr>
        <p:spPr>
          <a:xfrm>
            <a:off x="4421163" y="2323799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074501" y="1922168"/>
            <a:ext cx="1080000" cy="36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182226" y="1871314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y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t+1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42" name="向右箭號 41"/>
          <p:cNvSpPr/>
          <p:nvPr/>
        </p:nvSpPr>
        <p:spPr>
          <a:xfrm>
            <a:off x="3086231" y="2802640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303044" y="2802640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325039" y="3854181"/>
            <a:ext cx="1080000" cy="360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5" name="向上箭號 44"/>
          <p:cNvSpPr/>
          <p:nvPr/>
        </p:nvSpPr>
        <p:spPr>
          <a:xfrm>
            <a:off x="6650191" y="4255854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6" name="向右箭號 45"/>
          <p:cNvSpPr/>
          <p:nvPr/>
        </p:nvSpPr>
        <p:spPr>
          <a:xfrm>
            <a:off x="5337253" y="3848047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7" name="文字方塊 46"/>
          <p:cNvSpPr txBox="1"/>
          <p:nvPr/>
        </p:nvSpPr>
        <p:spPr>
          <a:xfrm rot="5400000">
            <a:off x="6487925" y="3034235"/>
            <a:ext cx="890772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……</a:t>
            </a:r>
            <a:endParaRPr lang="zh-TW" altLang="en-US" sz="2800" baseline="-25000" dirty="0">
              <a:solidFill>
                <a:srgbClr val="FF0000"/>
              </a:solidFill>
            </a:endParaRPr>
          </a:p>
        </p:txBody>
      </p:sp>
      <p:sp>
        <p:nvSpPr>
          <p:cNvPr id="48" name="向上箭號 47"/>
          <p:cNvSpPr/>
          <p:nvPr/>
        </p:nvSpPr>
        <p:spPr>
          <a:xfrm>
            <a:off x="6650190" y="2317665"/>
            <a:ext cx="386677" cy="43200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303528" y="1916034"/>
            <a:ext cx="1080000" cy="360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6411253" y="1865180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y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t+2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51" name="向右箭號 50"/>
          <p:cNvSpPr/>
          <p:nvPr/>
        </p:nvSpPr>
        <p:spPr>
          <a:xfrm>
            <a:off x="5315258" y="2796506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8293712" y="3681750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53" name="向右箭號 52"/>
          <p:cNvSpPr/>
          <p:nvPr/>
        </p:nvSpPr>
        <p:spPr>
          <a:xfrm>
            <a:off x="7470636" y="3823787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8314528" y="2630915"/>
            <a:ext cx="890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……</a:t>
            </a:r>
            <a:endParaRPr lang="zh-TW" altLang="en-US" sz="2800" baseline="-25000" dirty="0">
              <a:solidFill>
                <a:srgbClr val="0000FF"/>
              </a:solidFill>
            </a:endParaRPr>
          </a:p>
        </p:txBody>
      </p:sp>
      <p:sp>
        <p:nvSpPr>
          <p:cNvPr id="55" name="向右箭號 54"/>
          <p:cNvSpPr/>
          <p:nvPr/>
        </p:nvSpPr>
        <p:spPr>
          <a:xfrm>
            <a:off x="7491452" y="2772952"/>
            <a:ext cx="900000" cy="43206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11622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2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 animBg="1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 rot="5400000" flipH="1" flipV="1">
            <a:off x="2489422" y="3849961"/>
            <a:ext cx="1057792" cy="36111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 rot="5400000" flipH="1" flipV="1">
            <a:off x="4733519" y="3873357"/>
            <a:ext cx="1057792" cy="36111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 rot="5400000" flipH="1" flipV="1">
            <a:off x="7005143" y="3848150"/>
            <a:ext cx="1057792" cy="36111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Bidirectional RNN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891181" y="3784546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y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t+1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-32272" y="4691952"/>
            <a:ext cx="9161758" cy="1358775"/>
            <a:chOff x="-79576" y="5208739"/>
            <a:chExt cx="9161758" cy="1358775"/>
          </a:xfrm>
        </p:grpSpPr>
        <p:sp>
          <p:nvSpPr>
            <p:cNvPr id="9" name="矩形 8"/>
            <p:cNvSpPr/>
            <p:nvPr/>
          </p:nvSpPr>
          <p:spPr>
            <a:xfrm>
              <a:off x="1702360" y="6201250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723870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985589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969014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向上箭號 12"/>
            <p:cNvSpPr/>
            <p:nvPr/>
          </p:nvSpPr>
          <p:spPr>
            <a:xfrm>
              <a:off x="2049022" y="5758583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向上箭號 13"/>
            <p:cNvSpPr/>
            <p:nvPr/>
          </p:nvSpPr>
          <p:spPr>
            <a:xfrm>
              <a:off x="4320008" y="5763162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向右箭號 14"/>
            <p:cNvSpPr/>
            <p:nvPr/>
          </p:nvSpPr>
          <p:spPr>
            <a:xfrm>
              <a:off x="73608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向右箭號 15"/>
            <p:cNvSpPr/>
            <p:nvPr/>
          </p:nvSpPr>
          <p:spPr>
            <a:xfrm>
              <a:off x="2963677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-79576" y="5239981"/>
              <a:ext cx="890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srgbClr val="0000FF"/>
                  </a:solidFill>
                </a:rPr>
                <a:t>……</a:t>
              </a:r>
              <a:endParaRPr lang="zh-TW" altLang="en-US" sz="28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8191410" y="5208739"/>
              <a:ext cx="890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srgbClr val="0000FF"/>
                  </a:solidFill>
                </a:rPr>
                <a:t>……</a:t>
              </a:r>
              <a:endParaRPr lang="zh-TW" altLang="en-US" sz="28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249783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233208" y="5356910"/>
              <a:ext cx="1080000" cy="360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向上箭號 20"/>
            <p:cNvSpPr/>
            <p:nvPr/>
          </p:nvSpPr>
          <p:spPr>
            <a:xfrm>
              <a:off x="6584202" y="5763162"/>
              <a:ext cx="386677" cy="432000"/>
            </a:xfrm>
            <a:prstGeom prst="up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5227871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736833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" name="群組 23"/>
          <p:cNvGrpSpPr/>
          <p:nvPr/>
        </p:nvGrpSpPr>
        <p:grpSpPr>
          <a:xfrm rot="10800000">
            <a:off x="-32272" y="1950445"/>
            <a:ext cx="9161758" cy="1358775"/>
            <a:chOff x="-79576" y="5208739"/>
            <a:chExt cx="9161758" cy="1358775"/>
          </a:xfrm>
        </p:grpSpPr>
        <p:sp>
          <p:nvSpPr>
            <p:cNvPr id="25" name="矩形 24"/>
            <p:cNvSpPr/>
            <p:nvPr/>
          </p:nvSpPr>
          <p:spPr>
            <a:xfrm>
              <a:off x="1702360" y="6201250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723870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985589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969014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向上箭號 28"/>
            <p:cNvSpPr/>
            <p:nvPr/>
          </p:nvSpPr>
          <p:spPr>
            <a:xfrm>
              <a:off x="2049022" y="5758583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向上箭號 29"/>
            <p:cNvSpPr/>
            <p:nvPr/>
          </p:nvSpPr>
          <p:spPr>
            <a:xfrm>
              <a:off x="4320008" y="5763162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向右箭號 30"/>
            <p:cNvSpPr/>
            <p:nvPr/>
          </p:nvSpPr>
          <p:spPr>
            <a:xfrm>
              <a:off x="73608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向右箭號 31"/>
            <p:cNvSpPr/>
            <p:nvPr/>
          </p:nvSpPr>
          <p:spPr>
            <a:xfrm>
              <a:off x="2963677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-79576" y="5239981"/>
              <a:ext cx="890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srgbClr val="0000FF"/>
                  </a:solidFill>
                </a:rPr>
                <a:t>……</a:t>
              </a:r>
              <a:endParaRPr lang="zh-TW" altLang="en-US" sz="28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8191410" y="5208739"/>
              <a:ext cx="890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solidFill>
                    <a:srgbClr val="0000FF"/>
                  </a:solidFill>
                </a:rPr>
                <a:t>……</a:t>
              </a:r>
              <a:endParaRPr lang="zh-TW" altLang="en-US" sz="2800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249783" y="6207514"/>
              <a:ext cx="1080000" cy="3600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233208" y="5356910"/>
              <a:ext cx="1080000" cy="36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向上箭號 36"/>
            <p:cNvSpPr/>
            <p:nvPr/>
          </p:nvSpPr>
          <p:spPr>
            <a:xfrm>
              <a:off x="6584202" y="5763162"/>
              <a:ext cx="386677" cy="432000"/>
            </a:xfrm>
            <a:prstGeom prst="upArrow">
              <a:avLst/>
            </a:prstGeom>
            <a:solidFill>
              <a:srgbClr val="FFFF00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向右箭號 37"/>
            <p:cNvSpPr/>
            <p:nvPr/>
          </p:nvSpPr>
          <p:spPr>
            <a:xfrm>
              <a:off x="5227871" y="5356875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向右箭號 38"/>
            <p:cNvSpPr/>
            <p:nvPr/>
          </p:nvSpPr>
          <p:spPr>
            <a:xfrm>
              <a:off x="7368334" y="5350776"/>
              <a:ext cx="900000" cy="432067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0" name="文字方塊 39"/>
          <p:cNvSpPr txBox="1"/>
          <p:nvPr/>
        </p:nvSpPr>
        <p:spPr>
          <a:xfrm>
            <a:off x="7194569" y="3797875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y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t+2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587793" y="3797875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>
                <a:solidFill>
                  <a:srgbClr val="FF0000"/>
                </a:solidFill>
              </a:rPr>
              <a:t>y</a:t>
            </a:r>
            <a:r>
              <a:rPr lang="en-US" altLang="zh-TW" sz="2400" baseline="30000" dirty="0" err="1">
                <a:solidFill>
                  <a:srgbClr val="FF0000"/>
                </a:solidFill>
              </a:rPr>
              <a:t>t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46" name="右彎箭號 45"/>
          <p:cNvSpPr/>
          <p:nvPr/>
        </p:nvSpPr>
        <p:spPr>
          <a:xfrm>
            <a:off x="2192758" y="4049780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1854154" y="564476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>
                <a:solidFill>
                  <a:srgbClr val="FF0000"/>
                </a:solidFill>
              </a:rPr>
              <a:t>x</a:t>
            </a:r>
            <a:r>
              <a:rPr lang="en-US" altLang="zh-TW" sz="2400" baseline="30000" dirty="0" err="1">
                <a:solidFill>
                  <a:srgbClr val="FF0000"/>
                </a:solidFill>
              </a:rPr>
              <a:t>t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4155407" y="5646859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x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t+1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6449830" y="5644767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x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t+2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854703" y="1900238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>
                <a:solidFill>
                  <a:srgbClr val="FF0000"/>
                </a:solidFill>
              </a:rPr>
              <a:t>x</a:t>
            </a:r>
            <a:r>
              <a:rPr lang="en-US" altLang="zh-TW" sz="2400" baseline="30000" dirty="0" err="1">
                <a:solidFill>
                  <a:srgbClr val="FF0000"/>
                </a:solidFill>
              </a:rPr>
              <a:t>t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126928" y="1916843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x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t+1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450379" y="1900237"/>
            <a:ext cx="907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x</a:t>
            </a:r>
            <a:r>
              <a:rPr lang="en-US" altLang="zh-TW" sz="2400" baseline="30000" dirty="0">
                <a:solidFill>
                  <a:srgbClr val="FF0000"/>
                </a:solidFill>
              </a:rPr>
              <a:t>t+2</a:t>
            </a:r>
            <a:endParaRPr lang="zh-TW" altLang="en-US" sz="2400" baseline="30000" dirty="0">
              <a:solidFill>
                <a:srgbClr val="FF0000"/>
              </a:solidFill>
            </a:endParaRPr>
          </a:p>
        </p:txBody>
      </p:sp>
      <p:sp>
        <p:nvSpPr>
          <p:cNvPr id="54" name="右彎箭號 53"/>
          <p:cNvSpPr/>
          <p:nvPr/>
        </p:nvSpPr>
        <p:spPr>
          <a:xfrm flipV="1">
            <a:off x="2203123" y="3259437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6" name="右彎箭號 55"/>
          <p:cNvSpPr/>
          <p:nvPr/>
        </p:nvSpPr>
        <p:spPr>
          <a:xfrm>
            <a:off x="4436855" y="4073176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7" name="右彎箭號 56"/>
          <p:cNvSpPr/>
          <p:nvPr/>
        </p:nvSpPr>
        <p:spPr>
          <a:xfrm flipV="1">
            <a:off x="4447220" y="3282833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9" name="右彎箭號 58"/>
          <p:cNvSpPr/>
          <p:nvPr/>
        </p:nvSpPr>
        <p:spPr>
          <a:xfrm>
            <a:off x="6708479" y="4047969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0" name="右彎箭號 59"/>
          <p:cNvSpPr/>
          <p:nvPr/>
        </p:nvSpPr>
        <p:spPr>
          <a:xfrm flipV="1">
            <a:off x="6718844" y="3257626"/>
            <a:ext cx="620509" cy="699345"/>
          </a:xfrm>
          <a:prstGeom prst="bentArrow">
            <a:avLst>
              <a:gd name="adj1" fmla="val 35233"/>
              <a:gd name="adj2" fmla="val 362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61309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55" grpId="0" animBg="1"/>
      <p:bldP spid="58" grpId="0" animBg="1"/>
      <p:bldP spid="4" grpId="0"/>
      <p:bldP spid="40" grpId="0"/>
      <p:bldP spid="44" grpId="0"/>
      <p:bldP spid="46" grpId="0" animBg="1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6" grpId="0" animBg="1"/>
      <p:bldP spid="57" grpId="0" animBg="1"/>
      <p:bldP spid="59" grpId="0" animBg="1"/>
      <p:bldP spid="6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67710" t="25391" r="8493" b="51969"/>
          <a:stretch/>
        </p:blipFill>
        <p:spPr>
          <a:xfrm>
            <a:off x="4414737" y="4429153"/>
            <a:ext cx="4669975" cy="238065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64380"/>
            <a:ext cx="9144000" cy="936104"/>
          </a:xfr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TW" sz="3200" dirty="0">
                <a:effectLst/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dirty="0">
                <a:effectLst/>
                <a:latin typeface="微软雅黑" pitchFamily="34" charset="-122"/>
                <a:ea typeface="微软雅黑" pitchFamily="34" charset="-122"/>
              </a:rPr>
              <a:t>长短记忆网络</a:t>
            </a:r>
            <a:r>
              <a:rPr lang="en-US" altLang="zh-TW" sz="3200" dirty="0">
                <a:effectLst/>
                <a:latin typeface="微软雅黑" pitchFamily="34" charset="-122"/>
                <a:ea typeface="微软雅黑" pitchFamily="34" charset="-122"/>
              </a:rPr>
              <a:t> (LSTM)</a:t>
            </a:r>
            <a:endParaRPr lang="zh-TW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2" name="图片 31" descr="http://img.ptcms.csdn.net/article/201511/25/5655a235588a8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90" y="1394566"/>
            <a:ext cx="3790678" cy="1543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5"/>
          <a:srcRect l="47233" t="35235" r="26203" b="22438"/>
          <a:stretch/>
        </p:blipFill>
        <p:spPr>
          <a:xfrm>
            <a:off x="114790" y="3257070"/>
            <a:ext cx="4323789" cy="3412290"/>
          </a:xfrm>
          <a:prstGeom prst="rect">
            <a:avLst/>
          </a:prstGeom>
        </p:spPr>
      </p:pic>
      <p:pic>
        <p:nvPicPr>
          <p:cNvPr id="40" name="图片 39" descr="http://img.ptcms.csdn.net/article/201511/25/5655a235588a8.jpg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3" r="33821"/>
          <a:stretch/>
        </p:blipFill>
        <p:spPr bwMode="auto">
          <a:xfrm>
            <a:off x="4529042" y="1173387"/>
            <a:ext cx="3888432" cy="312597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05468" y="3026239"/>
            <a:ext cx="7308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kumimoji="0" lang="en-US" altLang="zh-CN" b="1" i="1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t-1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8449660" y="3026238"/>
            <a:ext cx="7308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kumimoji="0" lang="en-US" altLang="zh-CN" b="1" i="1" u="none" strike="noStrike" cap="none" normalizeH="0" baseline="-2500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6804756" y="1971594"/>
            <a:ext cx="7308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kumimoji="0" lang="en-US" altLang="zh-CN" b="1" i="1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5481840" y="2549355"/>
            <a:ext cx="7308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kumimoji="0" lang="en-US" altLang="zh-CN" b="1" i="1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961604" y="2584833"/>
            <a:ext cx="672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0" lang="en-US" altLang="zh-CN" b="1" i="1" u="none" strike="noStrike" cap="none" normalizeH="0" baseline="-2500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501558" y="2563046"/>
            <a:ext cx="782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</a:t>
            </a:r>
            <a:r>
              <a:rPr kumimoji="0" lang="en-US" altLang="zh-CN" b="1" i="1" u="none" strike="noStrike" cap="none" normalizeH="0" baseline="-2500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3964141" y="2085952"/>
            <a:ext cx="6614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kumimoji="0" lang="en-US" altLang="zh-CN" b="1" i="1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t-1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8390851" y="2085951"/>
            <a:ext cx="7308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kumimoji="0" lang="en-US" altLang="zh-CN" b="1" i="1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72000" y="1248273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学习更长的记忆</a:t>
            </a:r>
            <a:endParaRPr lang="zh-TW" altLang="en-US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 flipH="1">
            <a:off x="6067580" y="4472268"/>
            <a:ext cx="360040" cy="364869"/>
          </a:xfrm>
          <a:prstGeom prst="rect">
            <a:avLst/>
          </a:prstGeom>
          <a:solidFill>
            <a:srgbClr val="FFFF00">
              <a:alpha val="41000"/>
            </a:srgb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 flipH="1">
            <a:off x="6067575" y="4936339"/>
            <a:ext cx="360040" cy="364869"/>
          </a:xfrm>
          <a:prstGeom prst="rect">
            <a:avLst/>
          </a:prstGeom>
          <a:solidFill>
            <a:srgbClr val="FFFF00">
              <a:alpha val="41000"/>
            </a:srgb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 flipH="1">
            <a:off x="6067570" y="5440395"/>
            <a:ext cx="360040" cy="364869"/>
          </a:xfrm>
          <a:prstGeom prst="rect">
            <a:avLst/>
          </a:prstGeom>
          <a:solidFill>
            <a:srgbClr val="FFFF00">
              <a:alpha val="41000"/>
            </a:srgb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 flipH="1">
            <a:off x="7668343" y="5442156"/>
            <a:ext cx="267837" cy="364869"/>
          </a:xfrm>
          <a:prstGeom prst="rect">
            <a:avLst/>
          </a:prstGeom>
          <a:solidFill>
            <a:srgbClr val="FFFF00">
              <a:alpha val="41000"/>
            </a:srgb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 flipH="1">
            <a:off x="7668342" y="4957212"/>
            <a:ext cx="267837" cy="364869"/>
          </a:xfrm>
          <a:prstGeom prst="rect">
            <a:avLst/>
          </a:prstGeom>
          <a:solidFill>
            <a:srgbClr val="FFFF00">
              <a:alpha val="41000"/>
            </a:srgb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 flipH="1">
            <a:off x="7668342" y="4472268"/>
            <a:ext cx="267837" cy="364869"/>
          </a:xfrm>
          <a:prstGeom prst="rect">
            <a:avLst/>
          </a:prstGeom>
          <a:solidFill>
            <a:srgbClr val="FFFF00">
              <a:alpha val="41000"/>
            </a:srgb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5643"/>
      </p:ext>
    </p:extLst>
  </p:cSld>
  <p:clrMapOvr>
    <a:masterClrMapping/>
  </p:clrMapOvr>
  <p:transition spd="slow">
    <p:circl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dirty="0">
                <a:effectLst/>
                <a:latin typeface="微软雅黑" pitchFamily="34" charset="-122"/>
                <a:ea typeface="微软雅黑" pitchFamily="34" charset="-122"/>
              </a:rPr>
              <a:t>Seq2Seq</a:t>
            </a:r>
            <a:endParaRPr lang="zh-CN" altLang="en-US" sz="3200" dirty="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 descr="这里写图片描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161770"/>
            <a:ext cx="2988533" cy="483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 descr="这里写图片描述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347" y="5946670"/>
            <a:ext cx="3202941" cy="911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108443"/>
            <a:ext cx="6184210" cy="171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424" y="2875245"/>
            <a:ext cx="8147861" cy="110939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346" y="5895070"/>
            <a:ext cx="732006" cy="2667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208" y="6047472"/>
            <a:ext cx="732006" cy="2667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431210">
            <a:off x="8171813" y="5971725"/>
            <a:ext cx="346945" cy="2667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958584">
            <a:off x="7566879" y="5971724"/>
            <a:ext cx="346945" cy="2667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958584">
            <a:off x="6909893" y="5943966"/>
            <a:ext cx="346945" cy="2667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958584">
            <a:off x="6075371" y="5908837"/>
            <a:ext cx="150589" cy="2667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650" y="4028510"/>
            <a:ext cx="7206897" cy="188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23565"/>
      </p:ext>
    </p:extLst>
  </p:cSld>
  <p:clrMapOvr>
    <a:masterClrMapping/>
  </p:clrMapOvr>
  <p:transition spd="slow">
    <p:circl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</a:t>
            </a:r>
            <a:r>
              <a:rPr lang="zh-CN" altLang="en-US" dirty="0"/>
              <a:t>机制</a:t>
            </a:r>
          </a:p>
        </p:txBody>
      </p:sp>
      <p:sp>
        <p:nvSpPr>
          <p:cNvPr id="12" name="矩形 11"/>
          <p:cNvSpPr/>
          <p:nvPr/>
        </p:nvSpPr>
        <p:spPr>
          <a:xfrm>
            <a:off x="1393658" y="6207182"/>
            <a:ext cx="72446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298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权重不是像普通神经网络直接学习得到</a:t>
            </a:r>
            <a:endParaRPr lang="zh-TW" altLang="en-US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t="28232" r="58594"/>
          <a:stretch/>
        </p:blipFill>
        <p:spPr>
          <a:xfrm>
            <a:off x="154697" y="4720843"/>
            <a:ext cx="2477921" cy="148076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9EBAD22-F092-47E4-89CD-132A5575D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156"/>
            <a:ext cx="3962363" cy="361780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3775993" y="1052736"/>
            <a:ext cx="5164856" cy="2531623"/>
            <a:chOff x="3775993" y="1294032"/>
            <a:chExt cx="5164856" cy="2531623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CDF3D7C-DEF4-4E85-BBE6-A2D4A9059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5993" y="1722593"/>
              <a:ext cx="2751175" cy="2103062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43D6309-1B5C-4D6B-BD86-09F2536F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1032" y="1560942"/>
              <a:ext cx="2639817" cy="1344930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4392419" y="1294033"/>
              <a:ext cx="1031051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20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第一步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6376044" y="1294032"/>
              <a:ext cx="1031051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200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第一步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EB8C926F-B711-48A0-9B6F-51FD0B0FA06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74" r="5111"/>
          <a:stretch/>
        </p:blipFill>
        <p:spPr>
          <a:xfrm>
            <a:off x="5414771" y="3597922"/>
            <a:ext cx="3676512" cy="254701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8802" y="3877378"/>
            <a:ext cx="1597385" cy="207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93410"/>
      </p:ext>
    </p:extLst>
  </p:cSld>
  <p:clrMapOvr>
    <a:masterClrMapping/>
  </p:clrMapOvr>
  <p:transition spd="slow">
    <p:circl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42004" y="3938394"/>
            <a:ext cx="3434880" cy="2544673"/>
            <a:chOff x="1814414" y="1228259"/>
            <a:chExt cx="3434880" cy="254467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1720" y="1749571"/>
              <a:ext cx="3197574" cy="2023361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1814414" y="1228259"/>
              <a:ext cx="302433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0" dirty="0">
                  <a:solidFill>
                    <a:srgbClr val="FF0000"/>
                  </a:solidFill>
                  <a:latin typeface="+mn-lt"/>
                </a:rPr>
                <a:t>Word Attention</a:t>
              </a:r>
              <a:endParaRPr lang="zh-CN" altLang="en-US" b="0" dirty="0">
                <a:solidFill>
                  <a:srgbClr val="FF0000"/>
                </a:solidFill>
                <a:latin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Hierarchical Attention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512" y="1035843"/>
            <a:ext cx="4392488" cy="543467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8203" y="6628615"/>
            <a:ext cx="481622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Attention Networks for Document Classification </a:t>
            </a:r>
            <a:r>
              <a:rPr lang="en-US" altLang="zh-CN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(NAACL2016)</a:t>
            </a:r>
            <a:endParaRPr lang="zh-CN" altLang="en-US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60012" y="1215561"/>
            <a:ext cx="3169493" cy="2533439"/>
            <a:chOff x="-1244103" y="1950613"/>
            <a:chExt cx="3169493" cy="2533439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882922" y="2464961"/>
              <a:ext cx="2808312" cy="2019091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-1244103" y="1950613"/>
              <a:ext cx="302433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0" dirty="0">
                  <a:solidFill>
                    <a:srgbClr val="FF0000"/>
                  </a:solidFill>
                  <a:latin typeface="+mn-lt"/>
                </a:rPr>
                <a:t>Sentence Attention</a:t>
              </a:r>
              <a:endParaRPr lang="zh-CN" altLang="en-US" b="0" dirty="0">
                <a:solidFill>
                  <a:srgbClr val="FF0000"/>
                </a:solidFill>
                <a:latin typeface="+mn-lt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884" y="3013218"/>
            <a:ext cx="1724025" cy="9239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888" y="5354990"/>
            <a:ext cx="1809750" cy="8953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3291" y="6483067"/>
            <a:ext cx="128587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78733"/>
      </p:ext>
    </p:extLst>
  </p:cSld>
  <p:clrMapOvr>
    <a:masterClrMapping/>
  </p:clrMapOvr>
  <p:transition spd="slow">
    <p:circl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Attentive Group</a:t>
            </a:r>
          </a:p>
        </p:txBody>
      </p:sp>
      <p:grpSp>
        <p:nvGrpSpPr>
          <p:cNvPr id="3" name="组合 12"/>
          <p:cNvGrpSpPr/>
          <p:nvPr/>
        </p:nvGrpSpPr>
        <p:grpSpPr>
          <a:xfrm>
            <a:off x="265996" y="3101140"/>
            <a:ext cx="8526844" cy="2779030"/>
            <a:chOff x="1521" y="215500"/>
            <a:chExt cx="8558" cy="2714"/>
          </a:xfrm>
        </p:grpSpPr>
        <p:pic>
          <p:nvPicPr>
            <p:cNvPr id="4" name="图片 12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6333" y="215538"/>
              <a:ext cx="3746" cy="2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图片 58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521" y="215500"/>
              <a:ext cx="4241" cy="27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6" name="曲线连接符 11"/>
            <p:cNvCxnSpPr/>
            <p:nvPr/>
          </p:nvCxnSpPr>
          <p:spPr>
            <a:xfrm>
              <a:off x="3555" y="215674"/>
              <a:ext cx="4063" cy="2425"/>
            </a:xfrm>
            <a:prstGeom prst="curvedConnector3">
              <a:avLst>
                <a:gd name="adj1" fmla="val 63549"/>
              </a:avLst>
            </a:prstGeom>
            <a:ln w="9525" cmpd="sng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14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23902" y="2375697"/>
            <a:ext cx="3198252" cy="610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t="88159" r="53897" b="421"/>
          <a:stretch/>
        </p:blipFill>
        <p:spPr>
          <a:xfrm>
            <a:off x="5383252" y="1193791"/>
            <a:ext cx="3432938" cy="4961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l="48186" t="87886" r="1482"/>
          <a:stretch/>
        </p:blipFill>
        <p:spPr>
          <a:xfrm>
            <a:off x="5404965" y="1761703"/>
            <a:ext cx="3387875" cy="496068"/>
          </a:xfrm>
          <a:prstGeom prst="rect">
            <a:avLst/>
          </a:prstGeom>
        </p:spPr>
      </p:pic>
      <p:pic>
        <p:nvPicPr>
          <p:cNvPr id="10" name="图片 100"/>
          <p:cNvPicPr>
            <a:picLocks noChangeAspect="1" noChangeArrowheads="1"/>
          </p:cNvPicPr>
          <p:nvPr/>
        </p:nvPicPr>
        <p:blipFill rotWithShape="1">
          <a:blip r:embed="rId6"/>
          <a:srcRect t="39789"/>
          <a:stretch/>
        </p:blipFill>
        <p:spPr>
          <a:xfrm>
            <a:off x="1327097" y="6242772"/>
            <a:ext cx="3182773" cy="485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9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060478" y="6017715"/>
            <a:ext cx="3777363" cy="696417"/>
          </a:xfrm>
          <a:prstGeom prst="rect">
            <a:avLst/>
          </a:prstGeom>
          <a:noFill/>
          <a:ln w="9525">
            <a:solidFill>
              <a:srgbClr val="0000FF"/>
            </a:solidFill>
            <a:prstDash val="dash"/>
            <a:miter lim="800000"/>
            <a:headEnd/>
            <a:tailEnd/>
          </a:ln>
        </p:spPr>
      </p:pic>
      <p:pic>
        <p:nvPicPr>
          <p:cNvPr id="12" name="图片 100"/>
          <p:cNvPicPr>
            <a:picLocks noChangeAspect="1" noChangeArrowheads="1"/>
          </p:cNvPicPr>
          <p:nvPr/>
        </p:nvPicPr>
        <p:blipFill rotWithShape="1">
          <a:blip r:embed="rId6"/>
          <a:srcRect r="21343" b="68391"/>
          <a:stretch/>
        </p:blipFill>
        <p:spPr>
          <a:xfrm>
            <a:off x="1325405" y="5977547"/>
            <a:ext cx="2732041" cy="26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-4422" y="6602377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1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Attentive Group Recommendation </a:t>
            </a:r>
            <a:r>
              <a:rPr lang="en-US" altLang="zh-CN" sz="11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(SIGIR2018)</a:t>
            </a:r>
            <a:endParaRPr lang="zh-CN" altLang="en-US" sz="1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86459" y="1091053"/>
            <a:ext cx="4025501" cy="2027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椭圆 15"/>
          <p:cNvSpPr/>
          <p:nvPr/>
        </p:nvSpPr>
        <p:spPr bwMode="auto">
          <a:xfrm>
            <a:off x="4813618" y="5906356"/>
            <a:ext cx="864096" cy="459567"/>
          </a:xfrm>
          <a:prstGeom prst="ellipse">
            <a:avLst/>
          </a:prstGeom>
          <a:solidFill>
            <a:schemeClr val="accent1">
              <a:alpha val="3000"/>
            </a:schemeClr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5039" y="5982069"/>
            <a:ext cx="1248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j: item      t: user</a:t>
            </a:r>
          </a:p>
        </p:txBody>
      </p:sp>
      <p:sp>
        <p:nvSpPr>
          <p:cNvPr id="18" name="矩形 17"/>
          <p:cNvSpPr/>
          <p:nvPr/>
        </p:nvSpPr>
        <p:spPr>
          <a:xfrm>
            <a:off x="2816232" y="3312032"/>
            <a:ext cx="19800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400" dirty="0">
                <a:latin typeface="Arial" charset="0"/>
              </a:rPr>
              <a:t>群体中各用户作用不同</a:t>
            </a:r>
            <a:endParaRPr lang="zh-CN" altLang="en-US" sz="1400" dirty="0"/>
          </a:p>
        </p:txBody>
      </p:sp>
      <p:sp>
        <p:nvSpPr>
          <p:cNvPr id="19" name="矩形 18"/>
          <p:cNvSpPr/>
          <p:nvPr/>
        </p:nvSpPr>
        <p:spPr>
          <a:xfrm>
            <a:off x="4396942" y="1482211"/>
            <a:ext cx="10601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用户所取作用取决于与</a:t>
            </a:r>
            <a:r>
              <a:rPr kumimoji="1" lang="en-US" altLang="zh-CN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item </a:t>
            </a:r>
            <a:r>
              <a:rPr kumimoji="1"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  <a:endParaRPr lang="zh-CN" altLang="en-US" sz="18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3461851"/>
      </p:ext>
    </p:extLst>
  </p:cSld>
  <p:clrMapOvr>
    <a:masterClrMapping/>
  </p:clrMapOvr>
  <p:transition spd="slow">
    <p:circl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https://mmbiz.qpic.cn/mmbiz_png/vI9nYe94fsFoK2Mj8kkcw29GWeEVs0gFaZx41iblWla75qPy8EpolDqCUZyNHE9ibjQxHfAaQmHqgSLZZXicQVbcw/640?wx_fmt=png&amp;tp=webp&amp;wxfrom=5&amp;wx_lazy=1&amp;wx_co=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6" r="6061"/>
          <a:stretch/>
        </p:blipFill>
        <p:spPr bwMode="auto">
          <a:xfrm>
            <a:off x="105268" y="1280791"/>
            <a:ext cx="3962276" cy="2673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 descr="https://mmbiz.qpic.cn/mmbiz_png/vI9nYe94fsFoK2Mj8kkcw29GWeEVs0gFAiceiaKMEtiaJLzJF7aaMSWTdIOo2YzjcP1C8E4FJn7tTaTCmgFqiatjRQ/640?wx_fmt=png&amp;tp=webp&amp;wxfrom=5&amp;wx_lazy=1&amp;wx_co=1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6" r="8890"/>
          <a:stretch/>
        </p:blipFill>
        <p:spPr bwMode="auto">
          <a:xfrm>
            <a:off x="0" y="4221088"/>
            <a:ext cx="3887390" cy="2016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Multi-head attention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206" y="1444458"/>
            <a:ext cx="1549524" cy="31986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776" y="1192316"/>
            <a:ext cx="2805472" cy="352839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4048" y="4798298"/>
            <a:ext cx="3562350" cy="571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3968" y="5514959"/>
            <a:ext cx="4714875" cy="2762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0705" y="6084476"/>
            <a:ext cx="3581400" cy="3143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4529" y="1159201"/>
            <a:ext cx="25527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30466"/>
      </p:ext>
    </p:extLst>
  </p:cSld>
  <p:clrMapOvr>
    <a:masterClrMapping/>
  </p:clrMapOvr>
  <p:transition spd="slow">
    <p:circl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t="3641" b="4123"/>
          <a:stretch/>
        </p:blipFill>
        <p:spPr>
          <a:xfrm>
            <a:off x="4515404" y="1302294"/>
            <a:ext cx="4617012" cy="45999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ED412FC-9DD3-4983-B279-B3113B4EA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80" y="3525693"/>
            <a:ext cx="4253824" cy="31402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CFC52A-2893-41DA-8411-A29FB4F71F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789" b="8330"/>
          <a:stretch/>
        </p:blipFill>
        <p:spPr>
          <a:xfrm>
            <a:off x="152918" y="2049313"/>
            <a:ext cx="4829673" cy="136974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CED2526-D7EB-4B41-8743-39579091E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280" y="1027658"/>
            <a:ext cx="4688311" cy="1074672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7784957" y="5261169"/>
            <a:ext cx="1147464" cy="1282149"/>
            <a:chOff x="8676751" y="523500"/>
            <a:chExt cx="2600849" cy="364475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86BE2C6-E8EB-4EC6-8547-0943C422B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95740" y="523500"/>
              <a:ext cx="2181860" cy="234130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F6E9012-46A1-4EFC-BD00-D6C8185629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2943" t="36328"/>
            <a:stretch/>
          </p:blipFill>
          <p:spPr>
            <a:xfrm>
              <a:off x="9721049" y="2760955"/>
              <a:ext cx="1359255" cy="140730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C392E73-E54F-4B63-9478-1B6F50B126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1319" b="59535"/>
            <a:stretch/>
          </p:blipFill>
          <p:spPr>
            <a:xfrm>
              <a:off x="8676751" y="1940134"/>
              <a:ext cx="1159706" cy="894371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3885750" y="6372419"/>
            <a:ext cx="40831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</a:rPr>
              <a:t>Seq2seq model with “attention”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084" y="6596390"/>
            <a:ext cx="26752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Attention Is All You Need </a:t>
            </a:r>
            <a:r>
              <a:rPr lang="en-US" altLang="zh-CN" sz="11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(NIPS217)</a:t>
            </a:r>
            <a:endParaRPr lang="zh-CN" altLang="en-US" sz="11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122553"/>
      </p:ext>
    </p:extLst>
  </p:cSld>
  <p:clrMapOvr>
    <a:masterClrMapping/>
  </p:clrMapOvr>
  <p:transition spd="slow">
    <p:circl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https://mmbiz.qpic.cn/mmbiz_png/vI9nYe94fsFoK2Mj8kkcw29GWeEVs0gFpPD42Qx0EBF6lkSxPSY8yuOulzgWkEVY5kHJ7TY9bvIS8ibXkGNMU8Q/640?wx_fmt=png&amp;tp=webp&amp;wxfrom=5&amp;wx_lazy=1&amp;wx_co=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6" y="0"/>
            <a:ext cx="3744416" cy="3498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https://n.sinaimg.cn/sinacn20116/639/w951h488/20190108/8b6b-hrkkwef7015744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04664"/>
            <a:ext cx="4264477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https://mmbiz.qpic.cn/mmbiz_png/vI9nYe94fsFoK2Mj8kkcw29GWeEVs0gFNNBeMaAqrNVCGlKjvZhicl89huvSYahEHEESWD9oueIic9X9SEnlrfwA/640?wx_fmt=png&amp;tp=webp&amp;wxfrom=5&amp;wx_lazy=1&amp;wx_co=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5" y="2924944"/>
            <a:ext cx="6156176" cy="3929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1635204"/>
      </p:ext>
    </p:extLst>
  </p:cSld>
  <p:clrMapOvr>
    <a:masterClrMapping/>
  </p:clrMapOvr>
  <p:transition spd="slow">
    <p:circl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 err="1"/>
              <a:t>Deepseek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77DA42-3AFF-49E4-8C70-FDBB5CD8B4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101"/>
          <a:stretch/>
        </p:blipFill>
        <p:spPr>
          <a:xfrm>
            <a:off x="0" y="1046339"/>
            <a:ext cx="7756346" cy="581573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0B353E9-A48A-468F-80DF-D8C39D7E4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232" y="6432757"/>
            <a:ext cx="720080" cy="21456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D162344-B2C4-48D6-AD49-C9D9F0E58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653" y="5969925"/>
            <a:ext cx="748484" cy="16221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9636224-114E-4E23-98C6-E2E4CBC2C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184" y="5125344"/>
            <a:ext cx="617414" cy="15523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94EE3D8-5C91-4A05-A921-6C46B7DC80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2567" y="6358947"/>
            <a:ext cx="615006" cy="16698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604C9BD1-2CA5-42F1-98D5-4AC0B5D8BD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5816" y="5277781"/>
            <a:ext cx="615006" cy="17139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4ACB1153-4C73-47C1-86D3-7AD6C1AD80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0312" y="4378824"/>
            <a:ext cx="1368152" cy="36057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B5B7000-7AF9-4148-889E-EC18843584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4764" y="4108260"/>
            <a:ext cx="1038775" cy="14002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EE59A8C3-5C60-4B43-944A-3EA4D71C7B0A}"/>
              </a:ext>
            </a:extLst>
          </p:cNvPr>
          <p:cNvSpPr txBox="1"/>
          <p:nvPr/>
        </p:nvSpPr>
        <p:spPr>
          <a:xfrm>
            <a:off x="0" y="6562522"/>
            <a:ext cx="21812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i="0" dirty="0">
                <a:solidFill>
                  <a:srgbClr val="000000"/>
                </a:solidFill>
                <a:effectLst/>
                <a:latin typeface="URWPalladioL-Bold"/>
              </a:rPr>
              <a:t>DeepSeek-V3 Technical Report</a:t>
            </a:r>
            <a:endParaRPr lang="zh-CN" altLang="en-US" sz="12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8CD7C9B0-90A9-47F6-9883-457D5881EC57}"/>
              </a:ext>
            </a:extLst>
          </p:cNvPr>
          <p:cNvSpPr/>
          <p:nvPr/>
        </p:nvSpPr>
        <p:spPr bwMode="auto">
          <a:xfrm>
            <a:off x="2949157" y="4838701"/>
            <a:ext cx="1368152" cy="323254"/>
          </a:xfrm>
          <a:prstGeom prst="roundRect">
            <a:avLst/>
          </a:prstGeom>
          <a:solidFill>
            <a:srgbClr val="FF0000">
              <a:alpha val="22000"/>
            </a:srgbClr>
          </a:solidFill>
          <a:ln w="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43C1E08-13B7-4A8D-B020-E845E62F3E6D}"/>
              </a:ext>
            </a:extLst>
          </p:cNvPr>
          <p:cNvSpPr/>
          <p:nvPr/>
        </p:nvSpPr>
        <p:spPr bwMode="auto">
          <a:xfrm>
            <a:off x="4826693" y="4838701"/>
            <a:ext cx="1368152" cy="323254"/>
          </a:xfrm>
          <a:prstGeom prst="roundRect">
            <a:avLst/>
          </a:prstGeom>
          <a:solidFill>
            <a:srgbClr val="FF0000">
              <a:alpha val="22000"/>
            </a:srgbClr>
          </a:solidFill>
          <a:ln w="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774239C-59E6-423C-AD2B-B7C3B035E129}"/>
              </a:ext>
            </a:extLst>
          </p:cNvPr>
          <p:cNvSpPr/>
          <p:nvPr/>
        </p:nvSpPr>
        <p:spPr bwMode="auto">
          <a:xfrm>
            <a:off x="6608619" y="5456088"/>
            <a:ext cx="833438" cy="323254"/>
          </a:xfrm>
          <a:prstGeom prst="roundRect">
            <a:avLst/>
          </a:prstGeom>
          <a:solidFill>
            <a:srgbClr val="FF0000">
              <a:alpha val="22000"/>
            </a:srgbClr>
          </a:solidFill>
          <a:ln w="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0716CFB-2150-4161-BC17-C3E88871B95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2616" t="2432" b="-2"/>
          <a:stretch/>
        </p:blipFill>
        <p:spPr>
          <a:xfrm>
            <a:off x="5796136" y="5803113"/>
            <a:ext cx="490438" cy="14736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D33FECBA-68D3-412C-BFE4-C5FA536457FA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59462" t="1" b="-1"/>
          <a:stretch/>
        </p:blipFill>
        <p:spPr>
          <a:xfrm>
            <a:off x="7276047" y="5813072"/>
            <a:ext cx="464281" cy="137546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BE70A683-DE48-43D1-805F-9F50C47E5CDA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51017"/>
          <a:stretch/>
        </p:blipFill>
        <p:spPr>
          <a:xfrm>
            <a:off x="4119585" y="5969925"/>
            <a:ext cx="648679" cy="117715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A60DCC18-EEC5-43A1-9F64-061C3A4E21A9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61932"/>
          <a:stretch/>
        </p:blipFill>
        <p:spPr>
          <a:xfrm>
            <a:off x="3042440" y="5787270"/>
            <a:ext cx="542964" cy="16321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F0F5A77B-79FA-4D1B-99E0-C0FE991177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5842" y="1700808"/>
            <a:ext cx="1533126" cy="91904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75410F97-FE87-4454-8C5D-DDFE2120542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780" y="5811661"/>
            <a:ext cx="2620681" cy="101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93697"/>
      </p:ext>
    </p:extLst>
  </p:cSld>
  <p:clrMapOvr>
    <a:masterClrMapping/>
  </p:clrMapOvr>
  <p:transition spd="slow">
    <p:circl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2843808" y="2916713"/>
            <a:ext cx="4197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0" dirty="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谢谢大家！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cience-conference_68080">
            <a:extLst>
              <a:ext uri="{FF2B5EF4-FFF2-40B4-BE49-F238E27FC236}">
                <a16:creationId xmlns:a16="http://schemas.microsoft.com/office/drawing/2014/main" id="{F5F06994-9830-4FAD-AC75-CC45B977F649}"/>
              </a:ext>
            </a:extLst>
          </p:cNvPr>
          <p:cNvSpPr>
            <a:spLocks noChangeAspect="1"/>
          </p:cNvSpPr>
          <p:nvPr/>
        </p:nvSpPr>
        <p:spPr bwMode="auto">
          <a:xfrm>
            <a:off x="4140777" y="1030369"/>
            <a:ext cx="823580" cy="1300741"/>
          </a:xfrm>
          <a:custGeom>
            <a:avLst/>
            <a:gdLst>
              <a:gd name="connsiteX0" fmla="*/ 190764 w 385450"/>
              <a:gd name="connsiteY0" fmla="*/ 514563 h 608768"/>
              <a:gd name="connsiteX1" fmla="*/ 211847 w 385450"/>
              <a:gd name="connsiteY1" fmla="*/ 526418 h 608768"/>
              <a:gd name="connsiteX2" fmla="*/ 210607 w 385450"/>
              <a:gd name="connsiteY2" fmla="*/ 529304 h 608768"/>
              <a:gd name="connsiteX3" fmla="*/ 190764 w 385450"/>
              <a:gd name="connsiteY3" fmla="*/ 548787 h 608768"/>
              <a:gd name="connsiteX4" fmla="*/ 170818 w 385450"/>
              <a:gd name="connsiteY4" fmla="*/ 529304 h 608768"/>
              <a:gd name="connsiteX5" fmla="*/ 169578 w 385450"/>
              <a:gd name="connsiteY5" fmla="*/ 526418 h 608768"/>
              <a:gd name="connsiteX6" fmla="*/ 190764 w 385450"/>
              <a:gd name="connsiteY6" fmla="*/ 514563 h 608768"/>
              <a:gd name="connsiteX7" fmla="*/ 219467 w 385450"/>
              <a:gd name="connsiteY7" fmla="*/ 493887 h 608768"/>
              <a:gd name="connsiteX8" fmla="*/ 215033 w 385450"/>
              <a:gd name="connsiteY8" fmla="*/ 517315 h 608768"/>
              <a:gd name="connsiteX9" fmla="*/ 199568 w 385450"/>
              <a:gd name="connsiteY9" fmla="*/ 508749 h 608768"/>
              <a:gd name="connsiteX10" fmla="*/ 208950 w 385450"/>
              <a:gd name="connsiteY10" fmla="*/ 502041 h 608768"/>
              <a:gd name="connsiteX11" fmla="*/ 219467 w 385450"/>
              <a:gd name="connsiteY11" fmla="*/ 493887 h 608768"/>
              <a:gd name="connsiteX12" fmla="*/ 162098 w 385450"/>
              <a:gd name="connsiteY12" fmla="*/ 493887 h 608768"/>
              <a:gd name="connsiteX13" fmla="*/ 172491 w 385450"/>
              <a:gd name="connsiteY13" fmla="*/ 502041 h 608768"/>
              <a:gd name="connsiteX14" fmla="*/ 181856 w 385450"/>
              <a:gd name="connsiteY14" fmla="*/ 508749 h 608768"/>
              <a:gd name="connsiteX15" fmla="*/ 166523 w 385450"/>
              <a:gd name="connsiteY15" fmla="*/ 517315 h 608768"/>
              <a:gd name="connsiteX16" fmla="*/ 162098 w 385450"/>
              <a:gd name="connsiteY16" fmla="*/ 493887 h 608768"/>
              <a:gd name="connsiteX17" fmla="*/ 230644 w 385450"/>
              <a:gd name="connsiteY17" fmla="*/ 484220 h 608768"/>
              <a:gd name="connsiteX18" fmla="*/ 246720 w 385450"/>
              <a:gd name="connsiteY18" fmla="*/ 502370 h 608768"/>
              <a:gd name="connsiteX19" fmla="*/ 256097 w 385450"/>
              <a:gd name="connsiteY19" fmla="*/ 526294 h 608768"/>
              <a:gd name="connsiteX20" fmla="*/ 249296 w 385450"/>
              <a:gd name="connsiteY20" fmla="*/ 528253 h 608768"/>
              <a:gd name="connsiteX21" fmla="*/ 223842 w 385450"/>
              <a:gd name="connsiteY21" fmla="*/ 521447 h 608768"/>
              <a:gd name="connsiteX22" fmla="*/ 229716 w 385450"/>
              <a:gd name="connsiteY22" fmla="*/ 485045 h 608768"/>
              <a:gd name="connsiteX23" fmla="*/ 230644 w 385450"/>
              <a:gd name="connsiteY23" fmla="*/ 484220 h 608768"/>
              <a:gd name="connsiteX24" fmla="*/ 150811 w 385450"/>
              <a:gd name="connsiteY24" fmla="*/ 484220 h 608768"/>
              <a:gd name="connsiteX25" fmla="*/ 151842 w 385450"/>
              <a:gd name="connsiteY25" fmla="*/ 485045 h 608768"/>
              <a:gd name="connsiteX26" fmla="*/ 157723 w 385450"/>
              <a:gd name="connsiteY26" fmla="*/ 521447 h 608768"/>
              <a:gd name="connsiteX27" fmla="*/ 132137 w 385450"/>
              <a:gd name="connsiteY27" fmla="*/ 528253 h 608768"/>
              <a:gd name="connsiteX28" fmla="*/ 125431 w 385450"/>
              <a:gd name="connsiteY28" fmla="*/ 526294 h 608768"/>
              <a:gd name="connsiteX29" fmla="*/ 134820 w 385450"/>
              <a:gd name="connsiteY29" fmla="*/ 502370 h 608768"/>
              <a:gd name="connsiteX30" fmla="*/ 150811 w 385450"/>
              <a:gd name="connsiteY30" fmla="*/ 484220 h 608768"/>
              <a:gd name="connsiteX31" fmla="*/ 190782 w 385450"/>
              <a:gd name="connsiteY31" fmla="*/ 463115 h 608768"/>
              <a:gd name="connsiteX32" fmla="*/ 176120 w 385450"/>
              <a:gd name="connsiteY32" fmla="*/ 477657 h 608768"/>
              <a:gd name="connsiteX33" fmla="*/ 190782 w 385450"/>
              <a:gd name="connsiteY33" fmla="*/ 492199 h 608768"/>
              <a:gd name="connsiteX34" fmla="*/ 205341 w 385450"/>
              <a:gd name="connsiteY34" fmla="*/ 477657 h 608768"/>
              <a:gd name="connsiteX35" fmla="*/ 190782 w 385450"/>
              <a:gd name="connsiteY35" fmla="*/ 463115 h 608768"/>
              <a:gd name="connsiteX36" fmla="*/ 190782 w 385450"/>
              <a:gd name="connsiteY36" fmla="*/ 452183 h 608768"/>
              <a:gd name="connsiteX37" fmla="*/ 203276 w 385450"/>
              <a:gd name="connsiteY37" fmla="*/ 460949 h 608768"/>
              <a:gd name="connsiteX38" fmla="*/ 220210 w 385450"/>
              <a:gd name="connsiteY38" fmla="*/ 474666 h 608768"/>
              <a:gd name="connsiteX39" fmla="*/ 220314 w 385450"/>
              <a:gd name="connsiteY39" fmla="*/ 477657 h 608768"/>
              <a:gd name="connsiteX40" fmla="*/ 220210 w 385450"/>
              <a:gd name="connsiteY40" fmla="*/ 480751 h 608768"/>
              <a:gd name="connsiteX41" fmla="*/ 203276 w 385450"/>
              <a:gd name="connsiteY41" fmla="*/ 494365 h 608768"/>
              <a:gd name="connsiteX42" fmla="*/ 190782 w 385450"/>
              <a:gd name="connsiteY42" fmla="*/ 503131 h 608768"/>
              <a:gd name="connsiteX43" fmla="*/ 178288 w 385450"/>
              <a:gd name="connsiteY43" fmla="*/ 494365 h 608768"/>
              <a:gd name="connsiteX44" fmla="*/ 161251 w 385450"/>
              <a:gd name="connsiteY44" fmla="*/ 480751 h 608768"/>
              <a:gd name="connsiteX45" fmla="*/ 161251 w 385450"/>
              <a:gd name="connsiteY45" fmla="*/ 477657 h 608768"/>
              <a:gd name="connsiteX46" fmla="*/ 161251 w 385450"/>
              <a:gd name="connsiteY46" fmla="*/ 474666 h 608768"/>
              <a:gd name="connsiteX47" fmla="*/ 178288 w 385450"/>
              <a:gd name="connsiteY47" fmla="*/ 460949 h 608768"/>
              <a:gd name="connsiteX48" fmla="*/ 190782 w 385450"/>
              <a:gd name="connsiteY48" fmla="*/ 452183 h 608768"/>
              <a:gd name="connsiteX49" fmla="*/ 215033 w 385450"/>
              <a:gd name="connsiteY49" fmla="*/ 437929 h 608768"/>
              <a:gd name="connsiteX50" fmla="*/ 219467 w 385450"/>
              <a:gd name="connsiteY50" fmla="*/ 461427 h 608768"/>
              <a:gd name="connsiteX51" fmla="*/ 208950 w 385450"/>
              <a:gd name="connsiteY51" fmla="*/ 453182 h 608768"/>
              <a:gd name="connsiteX52" fmla="*/ 199568 w 385450"/>
              <a:gd name="connsiteY52" fmla="*/ 446483 h 608768"/>
              <a:gd name="connsiteX53" fmla="*/ 215033 w 385450"/>
              <a:gd name="connsiteY53" fmla="*/ 437929 h 608768"/>
              <a:gd name="connsiteX54" fmla="*/ 166523 w 385450"/>
              <a:gd name="connsiteY54" fmla="*/ 437929 h 608768"/>
              <a:gd name="connsiteX55" fmla="*/ 181856 w 385450"/>
              <a:gd name="connsiteY55" fmla="*/ 446483 h 608768"/>
              <a:gd name="connsiteX56" fmla="*/ 172491 w 385450"/>
              <a:gd name="connsiteY56" fmla="*/ 453182 h 608768"/>
              <a:gd name="connsiteX57" fmla="*/ 162098 w 385450"/>
              <a:gd name="connsiteY57" fmla="*/ 461427 h 608768"/>
              <a:gd name="connsiteX58" fmla="*/ 166523 w 385450"/>
              <a:gd name="connsiteY58" fmla="*/ 437929 h 608768"/>
              <a:gd name="connsiteX59" fmla="*/ 249292 w 385450"/>
              <a:gd name="connsiteY59" fmla="*/ 426991 h 608768"/>
              <a:gd name="connsiteX60" fmla="*/ 256092 w 385450"/>
              <a:gd name="connsiteY60" fmla="*/ 429053 h 608768"/>
              <a:gd name="connsiteX61" fmla="*/ 252280 w 385450"/>
              <a:gd name="connsiteY61" fmla="*/ 444418 h 608768"/>
              <a:gd name="connsiteX62" fmla="*/ 252177 w 385450"/>
              <a:gd name="connsiteY62" fmla="*/ 444418 h 608768"/>
              <a:gd name="connsiteX63" fmla="*/ 243110 w 385450"/>
              <a:gd name="connsiteY63" fmla="*/ 453596 h 608768"/>
              <a:gd name="connsiteX64" fmla="*/ 243625 w 385450"/>
              <a:gd name="connsiteY64" fmla="*/ 456793 h 608768"/>
              <a:gd name="connsiteX65" fmla="*/ 230642 w 385450"/>
              <a:gd name="connsiteY65" fmla="*/ 471024 h 608768"/>
              <a:gd name="connsiteX66" fmla="*/ 229715 w 385450"/>
              <a:gd name="connsiteY66" fmla="*/ 470199 h 608768"/>
              <a:gd name="connsiteX67" fmla="*/ 223842 w 385450"/>
              <a:gd name="connsiteY67" fmla="*/ 433797 h 608768"/>
              <a:gd name="connsiteX68" fmla="*/ 249292 w 385450"/>
              <a:gd name="connsiteY68" fmla="*/ 426991 h 608768"/>
              <a:gd name="connsiteX69" fmla="*/ 132137 w 385450"/>
              <a:gd name="connsiteY69" fmla="*/ 426991 h 608768"/>
              <a:gd name="connsiteX70" fmla="*/ 136677 w 385450"/>
              <a:gd name="connsiteY70" fmla="*/ 427300 h 608768"/>
              <a:gd name="connsiteX71" fmla="*/ 145240 w 385450"/>
              <a:gd name="connsiteY71" fmla="*/ 433384 h 608768"/>
              <a:gd name="connsiteX72" fmla="*/ 151120 w 385450"/>
              <a:gd name="connsiteY72" fmla="*/ 431219 h 608768"/>
              <a:gd name="connsiteX73" fmla="*/ 157723 w 385450"/>
              <a:gd name="connsiteY73" fmla="*/ 433797 h 608768"/>
              <a:gd name="connsiteX74" fmla="*/ 151739 w 385450"/>
              <a:gd name="connsiteY74" fmla="*/ 470199 h 608768"/>
              <a:gd name="connsiteX75" fmla="*/ 150811 w 385450"/>
              <a:gd name="connsiteY75" fmla="*/ 471024 h 608768"/>
              <a:gd name="connsiteX76" fmla="*/ 134820 w 385450"/>
              <a:gd name="connsiteY76" fmla="*/ 452874 h 608768"/>
              <a:gd name="connsiteX77" fmla="*/ 125431 w 385450"/>
              <a:gd name="connsiteY77" fmla="*/ 429053 h 608768"/>
              <a:gd name="connsiteX78" fmla="*/ 132137 w 385450"/>
              <a:gd name="connsiteY78" fmla="*/ 426991 h 608768"/>
              <a:gd name="connsiteX79" fmla="*/ 190764 w 385450"/>
              <a:gd name="connsiteY79" fmla="*/ 406527 h 608768"/>
              <a:gd name="connsiteX80" fmla="*/ 210607 w 385450"/>
              <a:gd name="connsiteY80" fmla="*/ 426010 h 608768"/>
              <a:gd name="connsiteX81" fmla="*/ 211847 w 385450"/>
              <a:gd name="connsiteY81" fmla="*/ 428896 h 608768"/>
              <a:gd name="connsiteX82" fmla="*/ 190764 w 385450"/>
              <a:gd name="connsiteY82" fmla="*/ 440751 h 608768"/>
              <a:gd name="connsiteX83" fmla="*/ 169578 w 385450"/>
              <a:gd name="connsiteY83" fmla="*/ 428896 h 608768"/>
              <a:gd name="connsiteX84" fmla="*/ 170818 w 385450"/>
              <a:gd name="connsiteY84" fmla="*/ 426010 h 608768"/>
              <a:gd name="connsiteX85" fmla="*/ 190764 w 385450"/>
              <a:gd name="connsiteY85" fmla="*/ 406527 h 608768"/>
              <a:gd name="connsiteX86" fmla="*/ 190761 w 385450"/>
              <a:gd name="connsiteY86" fmla="*/ 397011 h 608768"/>
              <a:gd name="connsiteX87" fmla="*/ 162059 w 385450"/>
              <a:gd name="connsiteY87" fmla="*/ 421960 h 608768"/>
              <a:gd name="connsiteX88" fmla="*/ 160923 w 385450"/>
              <a:gd name="connsiteY88" fmla="*/ 424846 h 608768"/>
              <a:gd name="connsiteX89" fmla="*/ 154213 w 385450"/>
              <a:gd name="connsiteY89" fmla="*/ 422166 h 608768"/>
              <a:gd name="connsiteX90" fmla="*/ 145230 w 385450"/>
              <a:gd name="connsiteY90" fmla="*/ 415052 h 608768"/>
              <a:gd name="connsiteX91" fmla="*/ 138519 w 385450"/>
              <a:gd name="connsiteY91" fmla="*/ 417939 h 608768"/>
              <a:gd name="connsiteX92" fmla="*/ 132118 w 385450"/>
              <a:gd name="connsiteY92" fmla="*/ 417424 h 608768"/>
              <a:gd name="connsiteX93" fmla="*/ 117664 w 385450"/>
              <a:gd name="connsiteY93" fmla="*/ 423300 h 608768"/>
              <a:gd name="connsiteX94" fmla="*/ 127059 w 385450"/>
              <a:gd name="connsiteY94" fmla="*/ 458662 h 608768"/>
              <a:gd name="connsiteX95" fmla="*/ 143888 w 385450"/>
              <a:gd name="connsiteY95" fmla="*/ 477631 h 608768"/>
              <a:gd name="connsiteX96" fmla="*/ 127059 w 385450"/>
              <a:gd name="connsiteY96" fmla="*/ 496601 h 608768"/>
              <a:gd name="connsiteX97" fmla="*/ 117664 w 385450"/>
              <a:gd name="connsiteY97" fmla="*/ 531963 h 608768"/>
              <a:gd name="connsiteX98" fmla="*/ 132118 w 385450"/>
              <a:gd name="connsiteY98" fmla="*/ 537839 h 608768"/>
              <a:gd name="connsiteX99" fmla="*/ 160923 w 385450"/>
              <a:gd name="connsiteY99" fmla="*/ 530416 h 608768"/>
              <a:gd name="connsiteX100" fmla="*/ 162059 w 385450"/>
              <a:gd name="connsiteY100" fmla="*/ 533303 h 608768"/>
              <a:gd name="connsiteX101" fmla="*/ 190761 w 385450"/>
              <a:gd name="connsiteY101" fmla="*/ 558355 h 608768"/>
              <a:gd name="connsiteX102" fmla="*/ 219360 w 385450"/>
              <a:gd name="connsiteY102" fmla="*/ 533303 h 608768"/>
              <a:gd name="connsiteX103" fmla="*/ 220599 w 385450"/>
              <a:gd name="connsiteY103" fmla="*/ 530416 h 608768"/>
              <a:gd name="connsiteX104" fmla="*/ 249301 w 385450"/>
              <a:gd name="connsiteY104" fmla="*/ 537839 h 608768"/>
              <a:gd name="connsiteX105" fmla="*/ 263755 w 385450"/>
              <a:gd name="connsiteY105" fmla="*/ 531963 h 608768"/>
              <a:gd name="connsiteX106" fmla="*/ 254360 w 385450"/>
              <a:gd name="connsiteY106" fmla="*/ 496601 h 608768"/>
              <a:gd name="connsiteX107" fmla="*/ 237531 w 385450"/>
              <a:gd name="connsiteY107" fmla="*/ 477631 h 608768"/>
              <a:gd name="connsiteX108" fmla="*/ 251160 w 385450"/>
              <a:gd name="connsiteY108" fmla="*/ 462682 h 608768"/>
              <a:gd name="connsiteX109" fmla="*/ 252192 w 385450"/>
              <a:gd name="connsiteY109" fmla="*/ 462785 h 608768"/>
              <a:gd name="connsiteX110" fmla="*/ 261381 w 385450"/>
              <a:gd name="connsiteY110" fmla="*/ 453610 h 608768"/>
              <a:gd name="connsiteX111" fmla="*/ 260452 w 385450"/>
              <a:gd name="connsiteY111" fmla="*/ 449589 h 608768"/>
              <a:gd name="connsiteX112" fmla="*/ 263755 w 385450"/>
              <a:gd name="connsiteY112" fmla="*/ 423300 h 608768"/>
              <a:gd name="connsiteX113" fmla="*/ 249301 w 385450"/>
              <a:gd name="connsiteY113" fmla="*/ 417424 h 608768"/>
              <a:gd name="connsiteX114" fmla="*/ 220599 w 385450"/>
              <a:gd name="connsiteY114" fmla="*/ 424846 h 608768"/>
              <a:gd name="connsiteX115" fmla="*/ 219360 w 385450"/>
              <a:gd name="connsiteY115" fmla="*/ 421960 h 608768"/>
              <a:gd name="connsiteX116" fmla="*/ 190761 w 385450"/>
              <a:gd name="connsiteY116" fmla="*/ 397011 h 608768"/>
              <a:gd name="connsiteX117" fmla="*/ 15246 w 385450"/>
              <a:gd name="connsiteY117" fmla="*/ 352474 h 608768"/>
              <a:gd name="connsiteX118" fmla="*/ 370304 w 385450"/>
              <a:gd name="connsiteY118" fmla="*/ 352474 h 608768"/>
              <a:gd name="connsiteX119" fmla="*/ 381557 w 385450"/>
              <a:gd name="connsiteY119" fmla="*/ 357422 h 608768"/>
              <a:gd name="connsiteX120" fmla="*/ 385377 w 385450"/>
              <a:gd name="connsiteY120" fmla="*/ 369072 h 608768"/>
              <a:gd name="connsiteX121" fmla="*/ 355023 w 385450"/>
              <a:gd name="connsiteY121" fmla="*/ 595057 h 608768"/>
              <a:gd name="connsiteX122" fmla="*/ 339950 w 385450"/>
              <a:gd name="connsiteY122" fmla="*/ 608768 h 608768"/>
              <a:gd name="connsiteX123" fmla="*/ 45600 w 385450"/>
              <a:gd name="connsiteY123" fmla="*/ 608768 h 608768"/>
              <a:gd name="connsiteX124" fmla="*/ 30423 w 385450"/>
              <a:gd name="connsiteY124" fmla="*/ 595057 h 608768"/>
              <a:gd name="connsiteX125" fmla="*/ 69 w 385450"/>
              <a:gd name="connsiteY125" fmla="*/ 369072 h 608768"/>
              <a:gd name="connsiteX126" fmla="*/ 3992 w 385450"/>
              <a:gd name="connsiteY126" fmla="*/ 357422 h 608768"/>
              <a:gd name="connsiteX127" fmla="*/ 15246 w 385450"/>
              <a:gd name="connsiteY127" fmla="*/ 352474 h 608768"/>
              <a:gd name="connsiteX128" fmla="*/ 229886 w 385450"/>
              <a:gd name="connsiteY128" fmla="*/ 196878 h 608768"/>
              <a:gd name="connsiteX129" fmla="*/ 251679 w 385450"/>
              <a:gd name="connsiteY129" fmla="*/ 215230 h 608768"/>
              <a:gd name="connsiteX130" fmla="*/ 297227 w 385450"/>
              <a:gd name="connsiteY130" fmla="*/ 236159 h 608768"/>
              <a:gd name="connsiteX131" fmla="*/ 313855 w 385450"/>
              <a:gd name="connsiteY131" fmla="*/ 250387 h 608768"/>
              <a:gd name="connsiteX132" fmla="*/ 341122 w 385450"/>
              <a:gd name="connsiteY132" fmla="*/ 330599 h 608768"/>
              <a:gd name="connsiteX133" fmla="*/ 209538 w 385450"/>
              <a:gd name="connsiteY133" fmla="*/ 330599 h 608768"/>
              <a:gd name="connsiteX134" fmla="*/ 194769 w 385450"/>
              <a:gd name="connsiteY134" fmla="*/ 231726 h 608768"/>
              <a:gd name="connsiteX135" fmla="*/ 155647 w 385450"/>
              <a:gd name="connsiteY135" fmla="*/ 196878 h 608768"/>
              <a:gd name="connsiteX136" fmla="*/ 190747 w 385450"/>
              <a:gd name="connsiteY136" fmla="*/ 231726 h 608768"/>
              <a:gd name="connsiteX137" fmla="*/ 175881 w 385450"/>
              <a:gd name="connsiteY137" fmla="*/ 330599 h 608768"/>
              <a:gd name="connsiteX138" fmla="*/ 44465 w 385450"/>
              <a:gd name="connsiteY138" fmla="*/ 330599 h 608768"/>
              <a:gd name="connsiteX139" fmla="*/ 71615 w 385450"/>
              <a:gd name="connsiteY139" fmla="*/ 250387 h 608768"/>
              <a:gd name="connsiteX140" fmla="*/ 88339 w 385450"/>
              <a:gd name="connsiteY140" fmla="*/ 236159 h 608768"/>
              <a:gd name="connsiteX141" fmla="*/ 133762 w 385450"/>
              <a:gd name="connsiteY141" fmla="*/ 215230 h 608768"/>
              <a:gd name="connsiteX142" fmla="*/ 160716 w 385450"/>
              <a:gd name="connsiteY142" fmla="*/ 70485 h 608768"/>
              <a:gd name="connsiteX143" fmla="*/ 129130 w 385450"/>
              <a:gd name="connsiteY143" fmla="*/ 98962 h 608768"/>
              <a:gd name="connsiteX144" fmla="*/ 191398 w 385450"/>
              <a:gd name="connsiteY144" fmla="*/ 178647 h 608768"/>
              <a:gd name="connsiteX145" fmla="*/ 253666 w 385450"/>
              <a:gd name="connsiteY145" fmla="*/ 98962 h 608768"/>
              <a:gd name="connsiteX146" fmla="*/ 174876 w 385450"/>
              <a:gd name="connsiteY146" fmla="*/ 100611 h 608768"/>
              <a:gd name="connsiteX147" fmla="*/ 160716 w 385450"/>
              <a:gd name="connsiteY147" fmla="*/ 70485 h 608768"/>
              <a:gd name="connsiteX148" fmla="*/ 191398 w 385450"/>
              <a:gd name="connsiteY148" fmla="*/ 0 h 608768"/>
              <a:gd name="connsiteX149" fmla="*/ 273286 w 385450"/>
              <a:gd name="connsiteY149" fmla="*/ 80407 h 608768"/>
              <a:gd name="connsiteX150" fmla="*/ 191398 w 385450"/>
              <a:gd name="connsiteY150" fmla="*/ 196172 h 608768"/>
              <a:gd name="connsiteX151" fmla="*/ 109407 w 385450"/>
              <a:gd name="connsiteY151" fmla="*/ 80407 h 608768"/>
              <a:gd name="connsiteX152" fmla="*/ 191398 w 385450"/>
              <a:gd name="connsiteY152" fmla="*/ 0 h 608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385450" h="608768">
                <a:moveTo>
                  <a:pt x="190764" y="514563"/>
                </a:moveTo>
                <a:cubicBezTo>
                  <a:pt x="197998" y="519099"/>
                  <a:pt x="205026" y="523119"/>
                  <a:pt x="211847" y="526418"/>
                </a:cubicBezTo>
                <a:cubicBezTo>
                  <a:pt x="211433" y="527449"/>
                  <a:pt x="211020" y="528480"/>
                  <a:pt x="210607" y="529304"/>
                </a:cubicBezTo>
                <a:cubicBezTo>
                  <a:pt x="205026" y="541674"/>
                  <a:pt x="197792" y="548787"/>
                  <a:pt x="190764" y="548787"/>
                </a:cubicBezTo>
                <a:cubicBezTo>
                  <a:pt x="183633" y="548787"/>
                  <a:pt x="176399" y="541674"/>
                  <a:pt x="170818" y="529304"/>
                </a:cubicBezTo>
                <a:cubicBezTo>
                  <a:pt x="170405" y="528480"/>
                  <a:pt x="169991" y="527449"/>
                  <a:pt x="169578" y="526418"/>
                </a:cubicBezTo>
                <a:cubicBezTo>
                  <a:pt x="176399" y="523119"/>
                  <a:pt x="183530" y="519099"/>
                  <a:pt x="190764" y="514563"/>
                </a:cubicBezTo>
                <a:close/>
                <a:moveTo>
                  <a:pt x="219467" y="493887"/>
                </a:moveTo>
                <a:cubicBezTo>
                  <a:pt x="218642" y="502247"/>
                  <a:pt x="217095" y="510091"/>
                  <a:pt x="215033" y="517315"/>
                </a:cubicBezTo>
                <a:cubicBezTo>
                  <a:pt x="209981" y="514735"/>
                  <a:pt x="204826" y="511948"/>
                  <a:pt x="199568" y="508749"/>
                </a:cubicBezTo>
                <a:cubicBezTo>
                  <a:pt x="202764" y="506582"/>
                  <a:pt x="205857" y="504311"/>
                  <a:pt x="208950" y="502041"/>
                </a:cubicBezTo>
                <a:cubicBezTo>
                  <a:pt x="212559" y="499357"/>
                  <a:pt x="216064" y="496571"/>
                  <a:pt x="219467" y="493887"/>
                </a:cubicBezTo>
                <a:close/>
                <a:moveTo>
                  <a:pt x="162098" y="493887"/>
                </a:moveTo>
                <a:cubicBezTo>
                  <a:pt x="165494" y="496571"/>
                  <a:pt x="168992" y="499357"/>
                  <a:pt x="172491" y="502041"/>
                </a:cubicBezTo>
                <a:cubicBezTo>
                  <a:pt x="175578" y="504311"/>
                  <a:pt x="178666" y="506582"/>
                  <a:pt x="181856" y="508749"/>
                </a:cubicBezTo>
                <a:cubicBezTo>
                  <a:pt x="176608" y="511948"/>
                  <a:pt x="171462" y="514838"/>
                  <a:pt x="166523" y="517315"/>
                </a:cubicBezTo>
                <a:cubicBezTo>
                  <a:pt x="164362" y="510091"/>
                  <a:pt x="162921" y="502247"/>
                  <a:pt x="162098" y="493887"/>
                </a:cubicBezTo>
                <a:close/>
                <a:moveTo>
                  <a:pt x="230644" y="484220"/>
                </a:moveTo>
                <a:cubicBezTo>
                  <a:pt x="236930" y="490511"/>
                  <a:pt x="242392" y="496595"/>
                  <a:pt x="246720" y="502370"/>
                </a:cubicBezTo>
                <a:cubicBezTo>
                  <a:pt x="257437" y="516704"/>
                  <a:pt x="257643" y="524128"/>
                  <a:pt x="256097" y="526294"/>
                </a:cubicBezTo>
                <a:cubicBezTo>
                  <a:pt x="255067" y="527531"/>
                  <a:pt x="252697" y="528253"/>
                  <a:pt x="249296" y="528253"/>
                </a:cubicBezTo>
                <a:cubicBezTo>
                  <a:pt x="243010" y="528253"/>
                  <a:pt x="234250" y="525881"/>
                  <a:pt x="223842" y="521447"/>
                </a:cubicBezTo>
                <a:cubicBezTo>
                  <a:pt x="227140" y="510619"/>
                  <a:pt x="229201" y="498039"/>
                  <a:pt x="229716" y="485045"/>
                </a:cubicBezTo>
                <a:cubicBezTo>
                  <a:pt x="230025" y="484839"/>
                  <a:pt x="230335" y="484530"/>
                  <a:pt x="230644" y="484220"/>
                </a:cubicBezTo>
                <a:close/>
                <a:moveTo>
                  <a:pt x="150811" y="484220"/>
                </a:moveTo>
                <a:cubicBezTo>
                  <a:pt x="151120" y="484530"/>
                  <a:pt x="151430" y="484839"/>
                  <a:pt x="151842" y="485045"/>
                </a:cubicBezTo>
                <a:cubicBezTo>
                  <a:pt x="152358" y="498039"/>
                  <a:pt x="154421" y="510619"/>
                  <a:pt x="157723" y="521447"/>
                </a:cubicBezTo>
                <a:cubicBezTo>
                  <a:pt x="147303" y="525881"/>
                  <a:pt x="138430" y="528253"/>
                  <a:pt x="132137" y="528253"/>
                </a:cubicBezTo>
                <a:cubicBezTo>
                  <a:pt x="128733" y="528253"/>
                  <a:pt x="126360" y="527531"/>
                  <a:pt x="125431" y="526294"/>
                </a:cubicBezTo>
                <a:cubicBezTo>
                  <a:pt x="123781" y="524128"/>
                  <a:pt x="124090" y="516704"/>
                  <a:pt x="134820" y="502370"/>
                </a:cubicBezTo>
                <a:cubicBezTo>
                  <a:pt x="139153" y="496595"/>
                  <a:pt x="144517" y="490511"/>
                  <a:pt x="150811" y="484220"/>
                </a:cubicBezTo>
                <a:close/>
                <a:moveTo>
                  <a:pt x="190782" y="463115"/>
                </a:moveTo>
                <a:cubicBezTo>
                  <a:pt x="182728" y="463115"/>
                  <a:pt x="176120" y="469612"/>
                  <a:pt x="176120" y="477657"/>
                </a:cubicBezTo>
                <a:cubicBezTo>
                  <a:pt x="176120" y="485702"/>
                  <a:pt x="182728" y="492199"/>
                  <a:pt x="190782" y="492199"/>
                </a:cubicBezTo>
                <a:cubicBezTo>
                  <a:pt x="198836" y="492199"/>
                  <a:pt x="205341" y="485702"/>
                  <a:pt x="205341" y="477657"/>
                </a:cubicBezTo>
                <a:cubicBezTo>
                  <a:pt x="205341" y="469612"/>
                  <a:pt x="198836" y="463115"/>
                  <a:pt x="190782" y="463115"/>
                </a:cubicBezTo>
                <a:close/>
                <a:moveTo>
                  <a:pt x="190782" y="452183"/>
                </a:moveTo>
                <a:cubicBezTo>
                  <a:pt x="194913" y="454967"/>
                  <a:pt x="199146" y="457855"/>
                  <a:pt x="203276" y="460949"/>
                </a:cubicBezTo>
                <a:cubicBezTo>
                  <a:pt x="209162" y="465384"/>
                  <a:pt x="214944" y="469922"/>
                  <a:pt x="220210" y="474666"/>
                </a:cubicBezTo>
                <a:cubicBezTo>
                  <a:pt x="220210" y="475697"/>
                  <a:pt x="220314" y="476729"/>
                  <a:pt x="220314" y="477657"/>
                </a:cubicBezTo>
                <a:cubicBezTo>
                  <a:pt x="220314" y="478688"/>
                  <a:pt x="220210" y="479719"/>
                  <a:pt x="220210" y="480751"/>
                </a:cubicBezTo>
                <a:cubicBezTo>
                  <a:pt x="214944" y="485392"/>
                  <a:pt x="209162" y="490033"/>
                  <a:pt x="203276" y="494365"/>
                </a:cubicBezTo>
                <a:cubicBezTo>
                  <a:pt x="199146" y="497459"/>
                  <a:pt x="194913" y="500347"/>
                  <a:pt x="190782" y="503131"/>
                </a:cubicBezTo>
                <a:cubicBezTo>
                  <a:pt x="186549" y="500347"/>
                  <a:pt x="182315" y="497459"/>
                  <a:pt x="178288" y="494365"/>
                </a:cubicBezTo>
                <a:cubicBezTo>
                  <a:pt x="172299" y="490033"/>
                  <a:pt x="166620" y="485392"/>
                  <a:pt x="161251" y="480751"/>
                </a:cubicBezTo>
                <a:cubicBezTo>
                  <a:pt x="161251" y="479719"/>
                  <a:pt x="161251" y="478688"/>
                  <a:pt x="161251" y="477657"/>
                </a:cubicBezTo>
                <a:cubicBezTo>
                  <a:pt x="161251" y="476729"/>
                  <a:pt x="161251" y="475697"/>
                  <a:pt x="161251" y="474666"/>
                </a:cubicBezTo>
                <a:cubicBezTo>
                  <a:pt x="166620" y="469922"/>
                  <a:pt x="172299" y="465384"/>
                  <a:pt x="178288" y="460949"/>
                </a:cubicBezTo>
                <a:cubicBezTo>
                  <a:pt x="182315" y="457855"/>
                  <a:pt x="186549" y="454967"/>
                  <a:pt x="190782" y="452183"/>
                </a:cubicBezTo>
                <a:close/>
                <a:moveTo>
                  <a:pt x="215033" y="437929"/>
                </a:moveTo>
                <a:cubicBezTo>
                  <a:pt x="217095" y="445143"/>
                  <a:pt x="218642" y="452976"/>
                  <a:pt x="219467" y="461427"/>
                </a:cubicBezTo>
                <a:cubicBezTo>
                  <a:pt x="216064" y="458644"/>
                  <a:pt x="212559" y="455861"/>
                  <a:pt x="208950" y="453182"/>
                </a:cubicBezTo>
                <a:cubicBezTo>
                  <a:pt x="205960" y="450914"/>
                  <a:pt x="202764" y="448647"/>
                  <a:pt x="199568" y="446483"/>
                </a:cubicBezTo>
                <a:cubicBezTo>
                  <a:pt x="204826" y="443288"/>
                  <a:pt x="209981" y="440505"/>
                  <a:pt x="215033" y="437929"/>
                </a:cubicBezTo>
                <a:close/>
                <a:moveTo>
                  <a:pt x="166523" y="437929"/>
                </a:moveTo>
                <a:cubicBezTo>
                  <a:pt x="171462" y="440505"/>
                  <a:pt x="176608" y="443391"/>
                  <a:pt x="181856" y="446483"/>
                </a:cubicBezTo>
                <a:cubicBezTo>
                  <a:pt x="178666" y="448647"/>
                  <a:pt x="175578" y="450914"/>
                  <a:pt x="172491" y="453182"/>
                </a:cubicBezTo>
                <a:cubicBezTo>
                  <a:pt x="168992" y="455861"/>
                  <a:pt x="165494" y="458644"/>
                  <a:pt x="162098" y="461427"/>
                </a:cubicBezTo>
                <a:cubicBezTo>
                  <a:pt x="162921" y="452976"/>
                  <a:pt x="164362" y="445143"/>
                  <a:pt x="166523" y="437929"/>
                </a:cubicBezTo>
                <a:close/>
                <a:moveTo>
                  <a:pt x="249292" y="426991"/>
                </a:moveTo>
                <a:cubicBezTo>
                  <a:pt x="252692" y="426991"/>
                  <a:pt x="255061" y="427713"/>
                  <a:pt x="256092" y="429053"/>
                </a:cubicBezTo>
                <a:cubicBezTo>
                  <a:pt x="257431" y="430806"/>
                  <a:pt x="257225" y="435859"/>
                  <a:pt x="252280" y="444418"/>
                </a:cubicBezTo>
                <a:lnTo>
                  <a:pt x="252177" y="444418"/>
                </a:lnTo>
                <a:cubicBezTo>
                  <a:pt x="247128" y="444418"/>
                  <a:pt x="243110" y="448543"/>
                  <a:pt x="243110" y="453596"/>
                </a:cubicBezTo>
                <a:cubicBezTo>
                  <a:pt x="243110" y="454731"/>
                  <a:pt x="243213" y="455762"/>
                  <a:pt x="243625" y="456793"/>
                </a:cubicBezTo>
                <a:cubicBezTo>
                  <a:pt x="239916" y="461433"/>
                  <a:pt x="235588" y="466177"/>
                  <a:pt x="230642" y="471024"/>
                </a:cubicBezTo>
                <a:cubicBezTo>
                  <a:pt x="230333" y="470714"/>
                  <a:pt x="230024" y="470405"/>
                  <a:pt x="229715" y="470199"/>
                </a:cubicBezTo>
                <a:cubicBezTo>
                  <a:pt x="229200" y="457205"/>
                  <a:pt x="227139" y="444625"/>
                  <a:pt x="223842" y="433797"/>
                </a:cubicBezTo>
                <a:cubicBezTo>
                  <a:pt x="234249" y="429363"/>
                  <a:pt x="243007" y="426991"/>
                  <a:pt x="249292" y="426991"/>
                </a:cubicBezTo>
                <a:close/>
                <a:moveTo>
                  <a:pt x="132137" y="426991"/>
                </a:moveTo>
                <a:cubicBezTo>
                  <a:pt x="133478" y="426991"/>
                  <a:pt x="135026" y="427094"/>
                  <a:pt x="136677" y="427300"/>
                </a:cubicBezTo>
                <a:cubicBezTo>
                  <a:pt x="137915" y="430909"/>
                  <a:pt x="141422" y="433384"/>
                  <a:pt x="145240" y="433384"/>
                </a:cubicBezTo>
                <a:cubicBezTo>
                  <a:pt x="147406" y="433384"/>
                  <a:pt x="149469" y="432559"/>
                  <a:pt x="151120" y="431219"/>
                </a:cubicBezTo>
                <a:cubicBezTo>
                  <a:pt x="153287" y="432044"/>
                  <a:pt x="155453" y="432869"/>
                  <a:pt x="157723" y="433797"/>
                </a:cubicBezTo>
                <a:cubicBezTo>
                  <a:pt x="154421" y="444625"/>
                  <a:pt x="152358" y="457205"/>
                  <a:pt x="151739" y="470199"/>
                </a:cubicBezTo>
                <a:cubicBezTo>
                  <a:pt x="151430" y="470405"/>
                  <a:pt x="151120" y="470714"/>
                  <a:pt x="150811" y="471024"/>
                </a:cubicBezTo>
                <a:cubicBezTo>
                  <a:pt x="144517" y="464836"/>
                  <a:pt x="139153" y="458752"/>
                  <a:pt x="134820" y="452874"/>
                </a:cubicBezTo>
                <a:cubicBezTo>
                  <a:pt x="123987" y="438540"/>
                  <a:pt x="123781" y="431116"/>
                  <a:pt x="125431" y="429053"/>
                </a:cubicBezTo>
                <a:cubicBezTo>
                  <a:pt x="126360" y="427713"/>
                  <a:pt x="128733" y="426991"/>
                  <a:pt x="132137" y="426991"/>
                </a:cubicBezTo>
                <a:close/>
                <a:moveTo>
                  <a:pt x="190764" y="406527"/>
                </a:moveTo>
                <a:cubicBezTo>
                  <a:pt x="197792" y="406527"/>
                  <a:pt x="205026" y="413640"/>
                  <a:pt x="210607" y="426010"/>
                </a:cubicBezTo>
                <a:cubicBezTo>
                  <a:pt x="211020" y="426937"/>
                  <a:pt x="211433" y="427865"/>
                  <a:pt x="211847" y="428896"/>
                </a:cubicBezTo>
                <a:cubicBezTo>
                  <a:pt x="205026" y="432195"/>
                  <a:pt x="197998" y="436215"/>
                  <a:pt x="190764" y="440751"/>
                </a:cubicBezTo>
                <a:cubicBezTo>
                  <a:pt x="183530" y="436215"/>
                  <a:pt x="176399" y="432195"/>
                  <a:pt x="169578" y="428896"/>
                </a:cubicBezTo>
                <a:cubicBezTo>
                  <a:pt x="169991" y="427865"/>
                  <a:pt x="170405" y="426937"/>
                  <a:pt x="170818" y="426010"/>
                </a:cubicBezTo>
                <a:cubicBezTo>
                  <a:pt x="176399" y="413640"/>
                  <a:pt x="183633" y="406527"/>
                  <a:pt x="190764" y="406527"/>
                </a:cubicBezTo>
                <a:close/>
                <a:moveTo>
                  <a:pt x="190761" y="397011"/>
                </a:moveTo>
                <a:cubicBezTo>
                  <a:pt x="179611" y="397011"/>
                  <a:pt x="169390" y="405877"/>
                  <a:pt x="162059" y="421960"/>
                </a:cubicBezTo>
                <a:cubicBezTo>
                  <a:pt x="161646" y="422888"/>
                  <a:pt x="161336" y="423815"/>
                  <a:pt x="160923" y="424846"/>
                </a:cubicBezTo>
                <a:cubicBezTo>
                  <a:pt x="158549" y="423815"/>
                  <a:pt x="156381" y="422991"/>
                  <a:pt x="154213" y="422166"/>
                </a:cubicBezTo>
                <a:cubicBezTo>
                  <a:pt x="153283" y="418042"/>
                  <a:pt x="149567" y="415052"/>
                  <a:pt x="145230" y="415052"/>
                </a:cubicBezTo>
                <a:cubicBezTo>
                  <a:pt x="142752" y="415052"/>
                  <a:pt x="140275" y="416083"/>
                  <a:pt x="138519" y="417939"/>
                </a:cubicBezTo>
                <a:cubicBezTo>
                  <a:pt x="136248" y="417630"/>
                  <a:pt x="134080" y="417424"/>
                  <a:pt x="132118" y="417424"/>
                </a:cubicBezTo>
                <a:cubicBezTo>
                  <a:pt x="125407" y="417424"/>
                  <a:pt x="120555" y="419382"/>
                  <a:pt x="117664" y="423300"/>
                </a:cubicBezTo>
                <a:cubicBezTo>
                  <a:pt x="112089" y="430723"/>
                  <a:pt x="115393" y="442991"/>
                  <a:pt x="127059" y="458662"/>
                </a:cubicBezTo>
                <a:cubicBezTo>
                  <a:pt x="131602" y="464744"/>
                  <a:pt x="137281" y="471136"/>
                  <a:pt x="143888" y="477631"/>
                </a:cubicBezTo>
                <a:cubicBezTo>
                  <a:pt x="137281" y="484126"/>
                  <a:pt x="131602" y="490518"/>
                  <a:pt x="127059" y="496601"/>
                </a:cubicBezTo>
                <a:cubicBezTo>
                  <a:pt x="115393" y="512271"/>
                  <a:pt x="112089" y="524540"/>
                  <a:pt x="117664" y="531963"/>
                </a:cubicBezTo>
                <a:cubicBezTo>
                  <a:pt x="120555" y="535880"/>
                  <a:pt x="125407" y="537839"/>
                  <a:pt x="132118" y="537839"/>
                </a:cubicBezTo>
                <a:cubicBezTo>
                  <a:pt x="139552" y="537839"/>
                  <a:pt x="149463" y="535365"/>
                  <a:pt x="160923" y="530416"/>
                </a:cubicBezTo>
                <a:cubicBezTo>
                  <a:pt x="161336" y="531447"/>
                  <a:pt x="161646" y="532375"/>
                  <a:pt x="162059" y="533303"/>
                </a:cubicBezTo>
                <a:cubicBezTo>
                  <a:pt x="169390" y="549386"/>
                  <a:pt x="179611" y="558355"/>
                  <a:pt x="190761" y="558355"/>
                </a:cubicBezTo>
                <a:cubicBezTo>
                  <a:pt x="201912" y="558355"/>
                  <a:pt x="212029" y="549386"/>
                  <a:pt x="219360" y="533303"/>
                </a:cubicBezTo>
                <a:cubicBezTo>
                  <a:pt x="219773" y="532375"/>
                  <a:pt x="220186" y="531447"/>
                  <a:pt x="220599" y="530416"/>
                </a:cubicBezTo>
                <a:cubicBezTo>
                  <a:pt x="231956" y="535365"/>
                  <a:pt x="241971" y="537839"/>
                  <a:pt x="249301" y="537839"/>
                </a:cubicBezTo>
                <a:cubicBezTo>
                  <a:pt x="256012" y="537839"/>
                  <a:pt x="260865" y="535880"/>
                  <a:pt x="263755" y="531963"/>
                </a:cubicBezTo>
                <a:cubicBezTo>
                  <a:pt x="269331" y="524540"/>
                  <a:pt x="266130" y="512271"/>
                  <a:pt x="254360" y="496601"/>
                </a:cubicBezTo>
                <a:cubicBezTo>
                  <a:pt x="249817" y="490518"/>
                  <a:pt x="244139" y="484126"/>
                  <a:pt x="237531" y="477631"/>
                </a:cubicBezTo>
                <a:cubicBezTo>
                  <a:pt x="242694" y="472579"/>
                  <a:pt x="247236" y="467528"/>
                  <a:pt x="251160" y="462682"/>
                </a:cubicBezTo>
                <a:cubicBezTo>
                  <a:pt x="251573" y="462785"/>
                  <a:pt x="251882" y="462785"/>
                  <a:pt x="252192" y="462785"/>
                </a:cubicBezTo>
                <a:cubicBezTo>
                  <a:pt x="257251" y="462785"/>
                  <a:pt x="261381" y="458662"/>
                  <a:pt x="261381" y="453610"/>
                </a:cubicBezTo>
                <a:cubicBezTo>
                  <a:pt x="261381" y="452270"/>
                  <a:pt x="261071" y="450826"/>
                  <a:pt x="260452" y="449589"/>
                </a:cubicBezTo>
                <a:cubicBezTo>
                  <a:pt x="267162" y="438146"/>
                  <a:pt x="268298" y="429279"/>
                  <a:pt x="263755" y="423300"/>
                </a:cubicBezTo>
                <a:cubicBezTo>
                  <a:pt x="260865" y="419382"/>
                  <a:pt x="256012" y="417424"/>
                  <a:pt x="249301" y="417424"/>
                </a:cubicBezTo>
                <a:cubicBezTo>
                  <a:pt x="241971" y="417424"/>
                  <a:pt x="231956" y="420001"/>
                  <a:pt x="220599" y="424846"/>
                </a:cubicBezTo>
                <a:cubicBezTo>
                  <a:pt x="220186" y="423815"/>
                  <a:pt x="219773" y="422888"/>
                  <a:pt x="219360" y="421960"/>
                </a:cubicBezTo>
                <a:cubicBezTo>
                  <a:pt x="212029" y="405877"/>
                  <a:pt x="201912" y="397011"/>
                  <a:pt x="190761" y="397011"/>
                </a:cubicBezTo>
                <a:close/>
                <a:moveTo>
                  <a:pt x="15246" y="352474"/>
                </a:moveTo>
                <a:lnTo>
                  <a:pt x="370304" y="352474"/>
                </a:lnTo>
                <a:cubicBezTo>
                  <a:pt x="374537" y="352474"/>
                  <a:pt x="378666" y="354329"/>
                  <a:pt x="381557" y="357422"/>
                </a:cubicBezTo>
                <a:cubicBezTo>
                  <a:pt x="384448" y="360618"/>
                  <a:pt x="385790" y="364845"/>
                  <a:pt x="385377" y="369072"/>
                </a:cubicBezTo>
                <a:lnTo>
                  <a:pt x="355023" y="595057"/>
                </a:lnTo>
                <a:cubicBezTo>
                  <a:pt x="354301" y="602789"/>
                  <a:pt x="347796" y="608768"/>
                  <a:pt x="339950" y="608768"/>
                </a:cubicBezTo>
                <a:lnTo>
                  <a:pt x="45600" y="608768"/>
                </a:lnTo>
                <a:cubicBezTo>
                  <a:pt x="37753" y="608768"/>
                  <a:pt x="31249" y="602789"/>
                  <a:pt x="30423" y="595057"/>
                </a:cubicBezTo>
                <a:lnTo>
                  <a:pt x="69" y="369072"/>
                </a:lnTo>
                <a:cubicBezTo>
                  <a:pt x="-344" y="364845"/>
                  <a:pt x="1101" y="360618"/>
                  <a:pt x="3992" y="357422"/>
                </a:cubicBezTo>
                <a:cubicBezTo>
                  <a:pt x="6883" y="354329"/>
                  <a:pt x="10909" y="352474"/>
                  <a:pt x="15246" y="352474"/>
                </a:cubicBezTo>
                <a:close/>
                <a:moveTo>
                  <a:pt x="229886" y="196878"/>
                </a:moveTo>
                <a:lnTo>
                  <a:pt x="251679" y="215230"/>
                </a:lnTo>
                <a:lnTo>
                  <a:pt x="297227" y="236159"/>
                </a:lnTo>
                <a:cubicBezTo>
                  <a:pt x="303940" y="238943"/>
                  <a:pt x="310963" y="243376"/>
                  <a:pt x="313855" y="250387"/>
                </a:cubicBezTo>
                <a:cubicBezTo>
                  <a:pt x="313855" y="250387"/>
                  <a:pt x="333169" y="296163"/>
                  <a:pt x="341122" y="330599"/>
                </a:cubicBezTo>
                <a:lnTo>
                  <a:pt x="209538" y="330599"/>
                </a:lnTo>
                <a:lnTo>
                  <a:pt x="194769" y="231726"/>
                </a:lnTo>
                <a:close/>
                <a:moveTo>
                  <a:pt x="155647" y="196878"/>
                </a:moveTo>
                <a:lnTo>
                  <a:pt x="190747" y="231726"/>
                </a:lnTo>
                <a:lnTo>
                  <a:pt x="175881" y="330599"/>
                </a:lnTo>
                <a:lnTo>
                  <a:pt x="44465" y="330599"/>
                </a:lnTo>
                <a:cubicBezTo>
                  <a:pt x="52414" y="296163"/>
                  <a:pt x="71615" y="250387"/>
                  <a:pt x="71615" y="250387"/>
                </a:cubicBezTo>
                <a:cubicBezTo>
                  <a:pt x="75022" y="243067"/>
                  <a:pt x="81629" y="238943"/>
                  <a:pt x="88339" y="236159"/>
                </a:cubicBezTo>
                <a:lnTo>
                  <a:pt x="133762" y="215230"/>
                </a:lnTo>
                <a:close/>
                <a:moveTo>
                  <a:pt x="160716" y="70485"/>
                </a:moveTo>
                <a:cubicBezTo>
                  <a:pt x="145085" y="69041"/>
                  <a:pt x="126549" y="77366"/>
                  <a:pt x="129130" y="98962"/>
                </a:cubicBezTo>
                <a:cubicBezTo>
                  <a:pt x="133777" y="138753"/>
                  <a:pt x="157321" y="178647"/>
                  <a:pt x="191398" y="178647"/>
                </a:cubicBezTo>
                <a:cubicBezTo>
                  <a:pt x="223822" y="178647"/>
                  <a:pt x="253253" y="130712"/>
                  <a:pt x="253666" y="98962"/>
                </a:cubicBezTo>
                <a:cubicBezTo>
                  <a:pt x="254182" y="45976"/>
                  <a:pt x="217317" y="105147"/>
                  <a:pt x="174876" y="100611"/>
                </a:cubicBezTo>
                <a:cubicBezTo>
                  <a:pt x="189075" y="83138"/>
                  <a:pt x="176347" y="71928"/>
                  <a:pt x="160716" y="70485"/>
                </a:cubicBezTo>
                <a:close/>
                <a:moveTo>
                  <a:pt x="191398" y="0"/>
                </a:moveTo>
                <a:cubicBezTo>
                  <a:pt x="249845" y="0"/>
                  <a:pt x="273802" y="30101"/>
                  <a:pt x="273286" y="80407"/>
                </a:cubicBezTo>
                <a:cubicBezTo>
                  <a:pt x="272563" y="152979"/>
                  <a:pt x="225991" y="196172"/>
                  <a:pt x="191398" y="196172"/>
                </a:cubicBezTo>
                <a:cubicBezTo>
                  <a:pt x="150816" y="196172"/>
                  <a:pt x="110130" y="152979"/>
                  <a:pt x="109407" y="80407"/>
                </a:cubicBezTo>
                <a:cubicBezTo>
                  <a:pt x="108891" y="30101"/>
                  <a:pt x="132848" y="0"/>
                  <a:pt x="191398" y="0"/>
                </a:cubicBezTo>
                <a:close/>
              </a:path>
            </a:pathLst>
          </a:custGeom>
          <a:solidFill>
            <a:srgbClr val="C10000"/>
          </a:solidFill>
          <a:ln>
            <a:noFill/>
          </a:ln>
        </p:spPr>
      </p:sp>
      <p:sp>
        <p:nvSpPr>
          <p:cNvPr id="14" name="female-instructor-giving-a-lecture-standing-at-the-side-of-a-screen_43195">
            <a:extLst>
              <a:ext uri="{FF2B5EF4-FFF2-40B4-BE49-F238E27FC236}">
                <a16:creationId xmlns:a16="http://schemas.microsoft.com/office/drawing/2014/main" id="{A3CC8630-8483-4AC1-83CF-8E9426A7DDC8}"/>
              </a:ext>
            </a:extLst>
          </p:cNvPr>
          <p:cNvSpPr>
            <a:spLocks noChangeAspect="1"/>
          </p:cNvSpPr>
          <p:nvPr/>
        </p:nvSpPr>
        <p:spPr bwMode="auto">
          <a:xfrm>
            <a:off x="107504" y="6525344"/>
            <a:ext cx="294652" cy="253054"/>
          </a:xfrm>
          <a:custGeom>
            <a:avLst/>
            <a:gdLst>
              <a:gd name="connsiteX0" fmla="*/ 45866 w 605777"/>
              <a:gd name="connsiteY0" fmla="*/ 339787 h 520255"/>
              <a:gd name="connsiteX1" fmla="*/ 147937 w 605777"/>
              <a:gd name="connsiteY1" fmla="*/ 341219 h 520255"/>
              <a:gd name="connsiteX2" fmla="*/ 150812 w 605777"/>
              <a:gd name="connsiteY2" fmla="*/ 408537 h 520255"/>
              <a:gd name="connsiteX3" fmla="*/ 130685 w 605777"/>
              <a:gd name="connsiteY3" fmla="*/ 408537 h 520255"/>
              <a:gd name="connsiteX4" fmla="*/ 133561 w 605777"/>
              <a:gd name="connsiteY4" fmla="*/ 447208 h 520255"/>
              <a:gd name="connsiteX5" fmla="*/ 129248 w 605777"/>
              <a:gd name="connsiteY5" fmla="*/ 501635 h 520255"/>
              <a:gd name="connsiteX6" fmla="*/ 150812 w 605777"/>
              <a:gd name="connsiteY6" fmla="*/ 510229 h 520255"/>
              <a:gd name="connsiteX7" fmla="*/ 136436 w 605777"/>
              <a:gd name="connsiteY7" fmla="*/ 520255 h 520255"/>
              <a:gd name="connsiteX8" fmla="*/ 127810 w 605777"/>
              <a:gd name="connsiteY8" fmla="*/ 520255 h 520255"/>
              <a:gd name="connsiteX9" fmla="*/ 104808 w 605777"/>
              <a:gd name="connsiteY9" fmla="*/ 520255 h 520255"/>
              <a:gd name="connsiteX10" fmla="*/ 103371 w 605777"/>
              <a:gd name="connsiteY10" fmla="*/ 520255 h 520255"/>
              <a:gd name="connsiteX11" fmla="*/ 103371 w 605777"/>
              <a:gd name="connsiteY11" fmla="*/ 511661 h 520255"/>
              <a:gd name="connsiteX12" fmla="*/ 106246 w 605777"/>
              <a:gd name="connsiteY12" fmla="*/ 505932 h 520255"/>
              <a:gd name="connsiteX13" fmla="*/ 111996 w 605777"/>
              <a:gd name="connsiteY13" fmla="*/ 447208 h 520255"/>
              <a:gd name="connsiteX14" fmla="*/ 109121 w 605777"/>
              <a:gd name="connsiteY14" fmla="*/ 408537 h 520255"/>
              <a:gd name="connsiteX15" fmla="*/ 96183 w 605777"/>
              <a:gd name="connsiteY15" fmla="*/ 408537 h 520255"/>
              <a:gd name="connsiteX16" fmla="*/ 96183 w 605777"/>
              <a:gd name="connsiteY16" fmla="*/ 507364 h 520255"/>
              <a:gd name="connsiteX17" fmla="*/ 97620 w 605777"/>
              <a:gd name="connsiteY17" fmla="*/ 511661 h 520255"/>
              <a:gd name="connsiteX18" fmla="*/ 97620 w 605777"/>
              <a:gd name="connsiteY18" fmla="*/ 520255 h 520255"/>
              <a:gd name="connsiteX19" fmla="*/ 96183 w 605777"/>
              <a:gd name="connsiteY19" fmla="*/ 520255 h 520255"/>
              <a:gd name="connsiteX20" fmla="*/ 74618 w 605777"/>
              <a:gd name="connsiteY20" fmla="*/ 520255 h 520255"/>
              <a:gd name="connsiteX21" fmla="*/ 65993 w 605777"/>
              <a:gd name="connsiteY21" fmla="*/ 520255 h 520255"/>
              <a:gd name="connsiteX22" fmla="*/ 51617 w 605777"/>
              <a:gd name="connsiteY22" fmla="*/ 510229 h 520255"/>
              <a:gd name="connsiteX23" fmla="*/ 74618 w 605777"/>
              <a:gd name="connsiteY23" fmla="*/ 501635 h 520255"/>
              <a:gd name="connsiteX24" fmla="*/ 74618 w 605777"/>
              <a:gd name="connsiteY24" fmla="*/ 408537 h 520255"/>
              <a:gd name="connsiteX25" fmla="*/ 42991 w 605777"/>
              <a:gd name="connsiteY25" fmla="*/ 408537 h 520255"/>
              <a:gd name="connsiteX26" fmla="*/ 219630 w 605777"/>
              <a:gd name="connsiteY26" fmla="*/ 117545 h 520255"/>
              <a:gd name="connsiteX27" fmla="*/ 219630 w 605777"/>
              <a:gd name="connsiteY27" fmla="*/ 182051 h 520255"/>
              <a:gd name="connsiteX28" fmla="*/ 285663 w 605777"/>
              <a:gd name="connsiteY28" fmla="*/ 197819 h 520255"/>
              <a:gd name="connsiteX29" fmla="*/ 285663 w 605777"/>
              <a:gd name="connsiteY29" fmla="*/ 240823 h 520255"/>
              <a:gd name="connsiteX30" fmla="*/ 219630 w 605777"/>
              <a:gd name="connsiteY30" fmla="*/ 233656 h 520255"/>
              <a:gd name="connsiteX31" fmla="*/ 219630 w 605777"/>
              <a:gd name="connsiteY31" fmla="*/ 341166 h 520255"/>
              <a:gd name="connsiteX32" fmla="*/ 377534 w 605777"/>
              <a:gd name="connsiteY32" fmla="*/ 341166 h 520255"/>
              <a:gd name="connsiteX33" fmla="*/ 403373 w 605777"/>
              <a:gd name="connsiteY33" fmla="*/ 341166 h 520255"/>
              <a:gd name="connsiteX34" fmla="*/ 581374 w 605777"/>
              <a:gd name="connsiteY34" fmla="*/ 341166 h 520255"/>
              <a:gd name="connsiteX35" fmla="*/ 581374 w 605777"/>
              <a:gd name="connsiteY35" fmla="*/ 117545 h 520255"/>
              <a:gd name="connsiteX36" fmla="*/ 107662 w 605777"/>
              <a:gd name="connsiteY36" fmla="*/ 78841 h 520255"/>
              <a:gd name="connsiteX37" fmla="*/ 107662 w 605777"/>
              <a:gd name="connsiteY37" fmla="*/ 98909 h 520255"/>
              <a:gd name="connsiteX38" fmla="*/ 144985 w 605777"/>
              <a:gd name="connsiteY38" fmla="*/ 98909 h 520255"/>
              <a:gd name="connsiteX39" fmla="*/ 144985 w 605777"/>
              <a:gd name="connsiteY39" fmla="*/ 78841 h 520255"/>
              <a:gd name="connsiteX40" fmla="*/ 48807 w 605777"/>
              <a:gd name="connsiteY40" fmla="*/ 78841 h 520255"/>
              <a:gd name="connsiteX41" fmla="*/ 48807 w 605777"/>
              <a:gd name="connsiteY41" fmla="*/ 98909 h 520255"/>
              <a:gd name="connsiteX42" fmla="*/ 87565 w 605777"/>
              <a:gd name="connsiteY42" fmla="*/ 98909 h 520255"/>
              <a:gd name="connsiteX43" fmla="*/ 87565 w 605777"/>
              <a:gd name="connsiteY43" fmla="*/ 78841 h 520255"/>
              <a:gd name="connsiteX44" fmla="*/ 68904 w 605777"/>
              <a:gd name="connsiteY44" fmla="*/ 38704 h 520255"/>
              <a:gd name="connsiteX45" fmla="*/ 24403 w 605777"/>
              <a:gd name="connsiteY45" fmla="*/ 77407 h 520255"/>
              <a:gd name="connsiteX46" fmla="*/ 24403 w 605777"/>
              <a:gd name="connsiteY46" fmla="*/ 81708 h 520255"/>
              <a:gd name="connsiteX47" fmla="*/ 43065 w 605777"/>
              <a:gd name="connsiteY47" fmla="*/ 84575 h 520255"/>
              <a:gd name="connsiteX48" fmla="*/ 43065 w 605777"/>
              <a:gd name="connsiteY48" fmla="*/ 73107 h 520255"/>
              <a:gd name="connsiteX49" fmla="*/ 93307 w 605777"/>
              <a:gd name="connsiteY49" fmla="*/ 73107 h 520255"/>
              <a:gd name="connsiteX50" fmla="*/ 93307 w 605777"/>
              <a:gd name="connsiteY50" fmla="*/ 84575 h 520255"/>
              <a:gd name="connsiteX51" fmla="*/ 101920 w 605777"/>
              <a:gd name="connsiteY51" fmla="*/ 84575 h 520255"/>
              <a:gd name="connsiteX52" fmla="*/ 101920 w 605777"/>
              <a:gd name="connsiteY52" fmla="*/ 73107 h 520255"/>
              <a:gd name="connsiteX53" fmla="*/ 150726 w 605777"/>
              <a:gd name="connsiteY53" fmla="*/ 73107 h 520255"/>
              <a:gd name="connsiteX54" fmla="*/ 150726 w 605777"/>
              <a:gd name="connsiteY54" fmla="*/ 84575 h 520255"/>
              <a:gd name="connsiteX55" fmla="*/ 166517 w 605777"/>
              <a:gd name="connsiteY55" fmla="*/ 81708 h 520255"/>
              <a:gd name="connsiteX56" fmla="*/ 159339 w 605777"/>
              <a:gd name="connsiteY56" fmla="*/ 63073 h 520255"/>
              <a:gd name="connsiteX57" fmla="*/ 68904 w 605777"/>
              <a:gd name="connsiteY57" fmla="*/ 38704 h 520255"/>
              <a:gd name="connsiteX58" fmla="*/ 94742 w 605777"/>
              <a:gd name="connsiteY58" fmla="*/ 0 h 520255"/>
              <a:gd name="connsiteX59" fmla="*/ 180872 w 605777"/>
              <a:gd name="connsiteY59" fmla="*/ 134746 h 520255"/>
              <a:gd name="connsiteX60" fmla="*/ 175130 w 605777"/>
              <a:gd name="connsiteY60" fmla="*/ 172016 h 520255"/>
              <a:gd name="connsiteX61" fmla="*/ 202404 w 605777"/>
              <a:gd name="connsiteY61" fmla="*/ 177750 h 520255"/>
              <a:gd name="connsiteX62" fmla="*/ 202404 w 605777"/>
              <a:gd name="connsiteY62" fmla="*/ 117545 h 520255"/>
              <a:gd name="connsiteX63" fmla="*/ 190920 w 605777"/>
              <a:gd name="connsiteY63" fmla="*/ 117545 h 520255"/>
              <a:gd name="connsiteX64" fmla="*/ 190920 w 605777"/>
              <a:gd name="connsiteY64" fmla="*/ 93176 h 520255"/>
              <a:gd name="connsiteX65" fmla="*/ 202404 w 605777"/>
              <a:gd name="connsiteY65" fmla="*/ 93176 h 520255"/>
              <a:gd name="connsiteX66" fmla="*/ 371792 w 605777"/>
              <a:gd name="connsiteY66" fmla="*/ 93176 h 520255"/>
              <a:gd name="connsiteX67" fmla="*/ 371792 w 605777"/>
              <a:gd name="connsiteY67" fmla="*/ 73107 h 520255"/>
              <a:gd name="connsiteX68" fmla="*/ 420599 w 605777"/>
              <a:gd name="connsiteY68" fmla="*/ 73107 h 520255"/>
              <a:gd name="connsiteX69" fmla="*/ 420599 w 605777"/>
              <a:gd name="connsiteY69" fmla="*/ 93176 h 520255"/>
              <a:gd name="connsiteX70" fmla="*/ 598600 w 605777"/>
              <a:gd name="connsiteY70" fmla="*/ 93176 h 520255"/>
              <a:gd name="connsiteX71" fmla="*/ 605777 w 605777"/>
              <a:gd name="connsiteY71" fmla="*/ 93176 h 520255"/>
              <a:gd name="connsiteX72" fmla="*/ 605777 w 605777"/>
              <a:gd name="connsiteY72" fmla="*/ 117545 h 520255"/>
              <a:gd name="connsiteX73" fmla="*/ 598600 w 605777"/>
              <a:gd name="connsiteY73" fmla="*/ 117545 h 520255"/>
              <a:gd name="connsiteX74" fmla="*/ 598600 w 605777"/>
              <a:gd name="connsiteY74" fmla="*/ 358368 h 520255"/>
              <a:gd name="connsiteX75" fmla="*/ 403373 w 605777"/>
              <a:gd name="connsiteY75" fmla="*/ 358368 h 520255"/>
              <a:gd name="connsiteX76" fmla="*/ 403373 w 605777"/>
              <a:gd name="connsiteY76" fmla="*/ 402805 h 520255"/>
              <a:gd name="connsiteX77" fmla="*/ 500986 w 605777"/>
              <a:gd name="connsiteY77" fmla="*/ 511749 h 520255"/>
              <a:gd name="connsiteX78" fmla="*/ 465099 w 605777"/>
              <a:gd name="connsiteY78" fmla="*/ 511749 h 520255"/>
              <a:gd name="connsiteX79" fmla="*/ 400502 w 605777"/>
              <a:gd name="connsiteY79" fmla="*/ 438642 h 520255"/>
              <a:gd name="connsiteX80" fmla="*/ 400502 w 605777"/>
              <a:gd name="connsiteY80" fmla="*/ 511749 h 520255"/>
              <a:gd name="connsiteX81" fmla="*/ 380405 w 605777"/>
              <a:gd name="connsiteY81" fmla="*/ 511749 h 520255"/>
              <a:gd name="connsiteX82" fmla="*/ 380405 w 605777"/>
              <a:gd name="connsiteY82" fmla="*/ 438642 h 520255"/>
              <a:gd name="connsiteX83" fmla="*/ 315808 w 605777"/>
              <a:gd name="connsiteY83" fmla="*/ 511749 h 520255"/>
              <a:gd name="connsiteX84" fmla="*/ 281356 w 605777"/>
              <a:gd name="connsiteY84" fmla="*/ 511749 h 520255"/>
              <a:gd name="connsiteX85" fmla="*/ 377534 w 605777"/>
              <a:gd name="connsiteY85" fmla="*/ 402805 h 520255"/>
              <a:gd name="connsiteX86" fmla="*/ 377534 w 605777"/>
              <a:gd name="connsiteY86" fmla="*/ 358368 h 520255"/>
              <a:gd name="connsiteX87" fmla="*/ 202404 w 605777"/>
              <a:gd name="connsiteY87" fmla="*/ 358368 h 520255"/>
              <a:gd name="connsiteX88" fmla="*/ 202404 w 605777"/>
              <a:gd name="connsiteY88" fmla="*/ 230789 h 520255"/>
              <a:gd name="connsiteX89" fmla="*/ 147856 w 605777"/>
              <a:gd name="connsiteY89" fmla="*/ 223621 h 520255"/>
              <a:gd name="connsiteX90" fmla="*/ 139243 w 605777"/>
              <a:gd name="connsiteY90" fmla="*/ 273793 h 520255"/>
              <a:gd name="connsiteX91" fmla="*/ 147856 w 605777"/>
              <a:gd name="connsiteY91" fmla="*/ 333999 h 520255"/>
              <a:gd name="connsiteX92" fmla="*/ 123452 w 605777"/>
              <a:gd name="connsiteY92" fmla="*/ 333999 h 520255"/>
              <a:gd name="connsiteX93" fmla="*/ 99049 w 605777"/>
              <a:gd name="connsiteY93" fmla="*/ 333999 h 520255"/>
              <a:gd name="connsiteX94" fmla="*/ 99049 w 605777"/>
              <a:gd name="connsiteY94" fmla="*/ 227922 h 520255"/>
              <a:gd name="connsiteX95" fmla="*/ 123452 w 605777"/>
              <a:gd name="connsiteY95" fmla="*/ 183484 h 520255"/>
              <a:gd name="connsiteX96" fmla="*/ 114839 w 605777"/>
              <a:gd name="connsiteY96" fmla="*/ 179184 h 520255"/>
              <a:gd name="connsiteX97" fmla="*/ 114839 w 605777"/>
              <a:gd name="connsiteY97" fmla="*/ 153381 h 520255"/>
              <a:gd name="connsiteX98" fmla="*/ 166517 w 605777"/>
              <a:gd name="connsiteY98" fmla="*/ 90309 h 520255"/>
              <a:gd name="connsiteX99" fmla="*/ 150726 w 605777"/>
              <a:gd name="connsiteY99" fmla="*/ 93176 h 520255"/>
              <a:gd name="connsiteX100" fmla="*/ 150726 w 605777"/>
              <a:gd name="connsiteY100" fmla="*/ 103210 h 520255"/>
              <a:gd name="connsiteX101" fmla="*/ 101920 w 605777"/>
              <a:gd name="connsiteY101" fmla="*/ 103210 h 520255"/>
              <a:gd name="connsiteX102" fmla="*/ 101920 w 605777"/>
              <a:gd name="connsiteY102" fmla="*/ 96043 h 520255"/>
              <a:gd name="connsiteX103" fmla="*/ 93307 w 605777"/>
              <a:gd name="connsiteY103" fmla="*/ 96043 h 520255"/>
              <a:gd name="connsiteX104" fmla="*/ 93307 w 605777"/>
              <a:gd name="connsiteY104" fmla="*/ 103210 h 520255"/>
              <a:gd name="connsiteX105" fmla="*/ 43065 w 605777"/>
              <a:gd name="connsiteY105" fmla="*/ 103210 h 520255"/>
              <a:gd name="connsiteX106" fmla="*/ 43065 w 605777"/>
              <a:gd name="connsiteY106" fmla="*/ 91742 h 520255"/>
              <a:gd name="connsiteX107" fmla="*/ 24403 w 605777"/>
              <a:gd name="connsiteY107" fmla="*/ 88875 h 520255"/>
              <a:gd name="connsiteX108" fmla="*/ 74646 w 605777"/>
              <a:gd name="connsiteY108" fmla="*/ 151948 h 520255"/>
              <a:gd name="connsiteX109" fmla="*/ 74646 w 605777"/>
              <a:gd name="connsiteY109" fmla="*/ 179184 h 520255"/>
              <a:gd name="connsiteX110" fmla="*/ 67468 w 605777"/>
              <a:gd name="connsiteY110" fmla="*/ 182051 h 520255"/>
              <a:gd name="connsiteX111" fmla="*/ 93307 w 605777"/>
              <a:gd name="connsiteY111" fmla="*/ 229355 h 520255"/>
              <a:gd name="connsiteX112" fmla="*/ 93307 w 605777"/>
              <a:gd name="connsiteY112" fmla="*/ 333999 h 520255"/>
              <a:gd name="connsiteX113" fmla="*/ 45936 w 605777"/>
              <a:gd name="connsiteY113" fmla="*/ 333999 h 520255"/>
              <a:gd name="connsiteX114" fmla="*/ 53113 w 605777"/>
              <a:gd name="connsiteY114" fmla="*/ 276660 h 520255"/>
              <a:gd name="connsiteX115" fmla="*/ 40194 w 605777"/>
              <a:gd name="connsiteY115" fmla="*/ 232222 h 520255"/>
              <a:gd name="connsiteX116" fmla="*/ 28710 w 605777"/>
              <a:gd name="connsiteY116" fmla="*/ 318230 h 520255"/>
              <a:gd name="connsiteX117" fmla="*/ 0 w 605777"/>
              <a:gd name="connsiteY117" fmla="*/ 316797 h 520255"/>
              <a:gd name="connsiteX118" fmla="*/ 12919 w 605777"/>
              <a:gd name="connsiteY118" fmla="*/ 194952 h 520255"/>
              <a:gd name="connsiteX119" fmla="*/ 5742 w 605777"/>
              <a:gd name="connsiteY119" fmla="*/ 87442 h 520255"/>
              <a:gd name="connsiteX120" fmla="*/ 48807 w 605777"/>
              <a:gd name="connsiteY120" fmla="*/ 12901 h 520255"/>
              <a:gd name="connsiteX121" fmla="*/ 60291 w 605777"/>
              <a:gd name="connsiteY121" fmla="*/ 11468 h 520255"/>
              <a:gd name="connsiteX122" fmla="*/ 68904 w 605777"/>
              <a:gd name="connsiteY122" fmla="*/ 2867 h 520255"/>
              <a:gd name="connsiteX123" fmla="*/ 94742 w 605777"/>
              <a:gd name="connsiteY123" fmla="*/ 0 h 52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605777" h="520255">
                <a:moveTo>
                  <a:pt x="45866" y="339787"/>
                </a:moveTo>
                <a:lnTo>
                  <a:pt x="147937" y="341219"/>
                </a:lnTo>
                <a:lnTo>
                  <a:pt x="150812" y="408537"/>
                </a:lnTo>
                <a:lnTo>
                  <a:pt x="130685" y="408537"/>
                </a:lnTo>
                <a:lnTo>
                  <a:pt x="133561" y="447208"/>
                </a:lnTo>
                <a:lnTo>
                  <a:pt x="129248" y="501635"/>
                </a:lnTo>
                <a:cubicBezTo>
                  <a:pt x="142186" y="501635"/>
                  <a:pt x="150812" y="504500"/>
                  <a:pt x="150812" y="510229"/>
                </a:cubicBezTo>
                <a:cubicBezTo>
                  <a:pt x="150812" y="517390"/>
                  <a:pt x="136436" y="520255"/>
                  <a:pt x="136436" y="520255"/>
                </a:cubicBezTo>
                <a:lnTo>
                  <a:pt x="127810" y="520255"/>
                </a:lnTo>
                <a:lnTo>
                  <a:pt x="104808" y="520255"/>
                </a:lnTo>
                <a:lnTo>
                  <a:pt x="103371" y="520255"/>
                </a:lnTo>
                <a:lnTo>
                  <a:pt x="103371" y="511661"/>
                </a:lnTo>
                <a:cubicBezTo>
                  <a:pt x="103371" y="508797"/>
                  <a:pt x="104808" y="507364"/>
                  <a:pt x="106246" y="505932"/>
                </a:cubicBezTo>
                <a:lnTo>
                  <a:pt x="111996" y="447208"/>
                </a:lnTo>
                <a:lnTo>
                  <a:pt x="109121" y="408537"/>
                </a:lnTo>
                <a:lnTo>
                  <a:pt x="96183" y="408537"/>
                </a:lnTo>
                <a:lnTo>
                  <a:pt x="96183" y="507364"/>
                </a:lnTo>
                <a:cubicBezTo>
                  <a:pt x="97620" y="508797"/>
                  <a:pt x="97620" y="510229"/>
                  <a:pt x="97620" y="511661"/>
                </a:cubicBezTo>
                <a:lnTo>
                  <a:pt x="97620" y="520255"/>
                </a:lnTo>
                <a:lnTo>
                  <a:pt x="96183" y="520255"/>
                </a:lnTo>
                <a:lnTo>
                  <a:pt x="74618" y="520255"/>
                </a:lnTo>
                <a:lnTo>
                  <a:pt x="65993" y="520255"/>
                </a:lnTo>
                <a:cubicBezTo>
                  <a:pt x="65993" y="520255"/>
                  <a:pt x="51617" y="517390"/>
                  <a:pt x="51617" y="510229"/>
                </a:cubicBezTo>
                <a:cubicBezTo>
                  <a:pt x="51617" y="504500"/>
                  <a:pt x="60242" y="501635"/>
                  <a:pt x="74618" y="501635"/>
                </a:cubicBezTo>
                <a:lnTo>
                  <a:pt x="74618" y="408537"/>
                </a:lnTo>
                <a:lnTo>
                  <a:pt x="42991" y="408537"/>
                </a:lnTo>
                <a:close/>
                <a:moveTo>
                  <a:pt x="219630" y="117545"/>
                </a:moveTo>
                <a:lnTo>
                  <a:pt x="219630" y="182051"/>
                </a:lnTo>
                <a:lnTo>
                  <a:pt x="285663" y="197819"/>
                </a:lnTo>
                <a:lnTo>
                  <a:pt x="285663" y="240823"/>
                </a:lnTo>
                <a:lnTo>
                  <a:pt x="219630" y="233656"/>
                </a:lnTo>
                <a:lnTo>
                  <a:pt x="219630" y="341166"/>
                </a:lnTo>
                <a:lnTo>
                  <a:pt x="377534" y="341166"/>
                </a:lnTo>
                <a:lnTo>
                  <a:pt x="403373" y="341166"/>
                </a:lnTo>
                <a:lnTo>
                  <a:pt x="581374" y="341166"/>
                </a:lnTo>
                <a:lnTo>
                  <a:pt x="581374" y="117545"/>
                </a:lnTo>
                <a:close/>
                <a:moveTo>
                  <a:pt x="107662" y="78841"/>
                </a:moveTo>
                <a:lnTo>
                  <a:pt x="107662" y="98909"/>
                </a:lnTo>
                <a:lnTo>
                  <a:pt x="144985" y="98909"/>
                </a:lnTo>
                <a:lnTo>
                  <a:pt x="144985" y="78841"/>
                </a:lnTo>
                <a:close/>
                <a:moveTo>
                  <a:pt x="48807" y="78841"/>
                </a:moveTo>
                <a:lnTo>
                  <a:pt x="48807" y="98909"/>
                </a:lnTo>
                <a:lnTo>
                  <a:pt x="87565" y="98909"/>
                </a:lnTo>
                <a:lnTo>
                  <a:pt x="87565" y="78841"/>
                </a:lnTo>
                <a:close/>
                <a:moveTo>
                  <a:pt x="68904" y="38704"/>
                </a:moveTo>
                <a:cubicBezTo>
                  <a:pt x="67468" y="60206"/>
                  <a:pt x="44500" y="75974"/>
                  <a:pt x="24403" y="77407"/>
                </a:cubicBezTo>
                <a:cubicBezTo>
                  <a:pt x="24403" y="78841"/>
                  <a:pt x="24403" y="80274"/>
                  <a:pt x="24403" y="81708"/>
                </a:cubicBezTo>
                <a:lnTo>
                  <a:pt x="43065" y="84575"/>
                </a:lnTo>
                <a:lnTo>
                  <a:pt x="43065" y="73107"/>
                </a:lnTo>
                <a:lnTo>
                  <a:pt x="93307" y="73107"/>
                </a:lnTo>
                <a:lnTo>
                  <a:pt x="93307" y="84575"/>
                </a:lnTo>
                <a:lnTo>
                  <a:pt x="101920" y="84575"/>
                </a:lnTo>
                <a:lnTo>
                  <a:pt x="101920" y="73107"/>
                </a:lnTo>
                <a:lnTo>
                  <a:pt x="150726" y="73107"/>
                </a:lnTo>
                <a:lnTo>
                  <a:pt x="150726" y="84575"/>
                </a:lnTo>
                <a:lnTo>
                  <a:pt x="166517" y="81708"/>
                </a:lnTo>
                <a:cubicBezTo>
                  <a:pt x="166517" y="71674"/>
                  <a:pt x="163646" y="64506"/>
                  <a:pt x="159339" y="63073"/>
                </a:cubicBezTo>
                <a:cubicBezTo>
                  <a:pt x="129194" y="60206"/>
                  <a:pt x="93307" y="58772"/>
                  <a:pt x="68904" y="38704"/>
                </a:cubicBezTo>
                <a:close/>
                <a:moveTo>
                  <a:pt x="94742" y="0"/>
                </a:moveTo>
                <a:cubicBezTo>
                  <a:pt x="185178" y="0"/>
                  <a:pt x="182307" y="103210"/>
                  <a:pt x="180872" y="134746"/>
                </a:cubicBezTo>
                <a:cubicBezTo>
                  <a:pt x="180872" y="153381"/>
                  <a:pt x="176565" y="159115"/>
                  <a:pt x="175130" y="172016"/>
                </a:cubicBezTo>
                <a:lnTo>
                  <a:pt x="202404" y="177750"/>
                </a:lnTo>
                <a:lnTo>
                  <a:pt x="202404" y="117545"/>
                </a:lnTo>
                <a:lnTo>
                  <a:pt x="190920" y="117545"/>
                </a:lnTo>
                <a:lnTo>
                  <a:pt x="190920" y="93176"/>
                </a:lnTo>
                <a:lnTo>
                  <a:pt x="202404" y="93176"/>
                </a:lnTo>
                <a:lnTo>
                  <a:pt x="371792" y="93176"/>
                </a:lnTo>
                <a:lnTo>
                  <a:pt x="371792" y="73107"/>
                </a:lnTo>
                <a:lnTo>
                  <a:pt x="420599" y="73107"/>
                </a:lnTo>
                <a:lnTo>
                  <a:pt x="420599" y="93176"/>
                </a:lnTo>
                <a:lnTo>
                  <a:pt x="598600" y="93176"/>
                </a:lnTo>
                <a:lnTo>
                  <a:pt x="605777" y="93176"/>
                </a:lnTo>
                <a:lnTo>
                  <a:pt x="605777" y="117545"/>
                </a:lnTo>
                <a:lnTo>
                  <a:pt x="598600" y="117545"/>
                </a:lnTo>
                <a:lnTo>
                  <a:pt x="598600" y="358368"/>
                </a:lnTo>
                <a:lnTo>
                  <a:pt x="403373" y="358368"/>
                </a:lnTo>
                <a:lnTo>
                  <a:pt x="403373" y="402805"/>
                </a:lnTo>
                <a:lnTo>
                  <a:pt x="500986" y="511749"/>
                </a:lnTo>
                <a:lnTo>
                  <a:pt x="465099" y="511749"/>
                </a:lnTo>
                <a:lnTo>
                  <a:pt x="400502" y="438642"/>
                </a:lnTo>
                <a:lnTo>
                  <a:pt x="400502" y="511749"/>
                </a:lnTo>
                <a:lnTo>
                  <a:pt x="380405" y="511749"/>
                </a:lnTo>
                <a:lnTo>
                  <a:pt x="380405" y="438642"/>
                </a:lnTo>
                <a:lnTo>
                  <a:pt x="315808" y="511749"/>
                </a:lnTo>
                <a:lnTo>
                  <a:pt x="281356" y="511749"/>
                </a:lnTo>
                <a:lnTo>
                  <a:pt x="377534" y="402805"/>
                </a:lnTo>
                <a:lnTo>
                  <a:pt x="377534" y="358368"/>
                </a:lnTo>
                <a:lnTo>
                  <a:pt x="202404" y="358368"/>
                </a:lnTo>
                <a:lnTo>
                  <a:pt x="202404" y="230789"/>
                </a:lnTo>
                <a:lnTo>
                  <a:pt x="147856" y="223621"/>
                </a:lnTo>
                <a:cubicBezTo>
                  <a:pt x="142114" y="249424"/>
                  <a:pt x="139243" y="273793"/>
                  <a:pt x="139243" y="273793"/>
                </a:cubicBezTo>
                <a:lnTo>
                  <a:pt x="147856" y="333999"/>
                </a:lnTo>
                <a:lnTo>
                  <a:pt x="123452" y="333999"/>
                </a:lnTo>
                <a:lnTo>
                  <a:pt x="99049" y="333999"/>
                </a:lnTo>
                <a:lnTo>
                  <a:pt x="99049" y="227922"/>
                </a:lnTo>
                <a:lnTo>
                  <a:pt x="123452" y="183484"/>
                </a:lnTo>
                <a:lnTo>
                  <a:pt x="114839" y="179184"/>
                </a:lnTo>
                <a:lnTo>
                  <a:pt x="114839" y="153381"/>
                </a:lnTo>
                <a:cubicBezTo>
                  <a:pt x="153597" y="149081"/>
                  <a:pt x="166517" y="114678"/>
                  <a:pt x="166517" y="90309"/>
                </a:cubicBezTo>
                <a:lnTo>
                  <a:pt x="150726" y="93176"/>
                </a:lnTo>
                <a:lnTo>
                  <a:pt x="150726" y="103210"/>
                </a:lnTo>
                <a:lnTo>
                  <a:pt x="101920" y="103210"/>
                </a:lnTo>
                <a:lnTo>
                  <a:pt x="101920" y="96043"/>
                </a:lnTo>
                <a:lnTo>
                  <a:pt x="93307" y="96043"/>
                </a:lnTo>
                <a:lnTo>
                  <a:pt x="93307" y="103210"/>
                </a:lnTo>
                <a:lnTo>
                  <a:pt x="43065" y="103210"/>
                </a:lnTo>
                <a:lnTo>
                  <a:pt x="43065" y="91742"/>
                </a:lnTo>
                <a:lnTo>
                  <a:pt x="24403" y="88875"/>
                </a:lnTo>
                <a:cubicBezTo>
                  <a:pt x="25839" y="118978"/>
                  <a:pt x="47371" y="143347"/>
                  <a:pt x="74646" y="151948"/>
                </a:cubicBezTo>
                <a:lnTo>
                  <a:pt x="74646" y="179184"/>
                </a:lnTo>
                <a:lnTo>
                  <a:pt x="67468" y="182051"/>
                </a:lnTo>
                <a:lnTo>
                  <a:pt x="93307" y="229355"/>
                </a:lnTo>
                <a:lnTo>
                  <a:pt x="93307" y="333999"/>
                </a:lnTo>
                <a:lnTo>
                  <a:pt x="45936" y="333999"/>
                </a:lnTo>
                <a:lnTo>
                  <a:pt x="53113" y="276660"/>
                </a:lnTo>
                <a:cubicBezTo>
                  <a:pt x="53113" y="276660"/>
                  <a:pt x="45936" y="255158"/>
                  <a:pt x="40194" y="232222"/>
                </a:cubicBezTo>
                <a:lnTo>
                  <a:pt x="28710" y="318230"/>
                </a:lnTo>
                <a:lnTo>
                  <a:pt x="0" y="316797"/>
                </a:lnTo>
                <a:lnTo>
                  <a:pt x="12919" y="194952"/>
                </a:lnTo>
                <a:lnTo>
                  <a:pt x="5742" y="87442"/>
                </a:lnTo>
                <a:cubicBezTo>
                  <a:pt x="5742" y="87442"/>
                  <a:pt x="4306" y="34403"/>
                  <a:pt x="48807" y="12901"/>
                </a:cubicBezTo>
                <a:cubicBezTo>
                  <a:pt x="51678" y="11468"/>
                  <a:pt x="57420" y="12901"/>
                  <a:pt x="60291" y="11468"/>
                </a:cubicBezTo>
                <a:cubicBezTo>
                  <a:pt x="63162" y="10034"/>
                  <a:pt x="64597" y="5734"/>
                  <a:pt x="68904" y="2867"/>
                </a:cubicBezTo>
                <a:cubicBezTo>
                  <a:pt x="73210" y="1433"/>
                  <a:pt x="84694" y="0"/>
                  <a:pt x="94742" y="0"/>
                </a:cubicBezTo>
                <a:close/>
              </a:path>
            </a:pathLst>
          </a:custGeom>
          <a:solidFill>
            <a:srgbClr val="C10000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13" y="4531528"/>
            <a:ext cx="1809708" cy="179306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34180622"/>
      </p:ext>
    </p:extLst>
  </p:cSld>
  <p:clrMapOvr>
    <a:masterClrMapping/>
  </p:clrMapOvr>
  <p:transition spd="slow">
    <p:circle/>
  </p:transition>
</p:sld>
</file>

<file path=ppt/theme/theme1.xml><?xml version="1.0" encoding="utf-8"?>
<a:theme xmlns:a="http://schemas.openxmlformats.org/drawingml/2006/main" name="yu_讲义模板">
  <a:themeElements>
    <a:clrScheme name="1_讲义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讲义模板">
      <a:majorFont>
        <a:latin typeface="Book Antiqua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讲义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[2021]_报告PPT模版_V2" id="{8EC8653A-606D-47E4-A478-266612CD6098}" vid="{7E307012-7BE2-4DF2-B728-4130463293FE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[2021]_报告PPT模版_V2</Template>
  <TotalTime>2669</TotalTime>
  <Words>2283</Words>
  <Application>Microsoft Office PowerPoint</Application>
  <PresentationFormat>全屏显示(4:3)</PresentationFormat>
  <Paragraphs>1090</Paragraphs>
  <Slides>60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8" baseType="lpstr">
      <vt:lpstr>URWPalladioL-Bold</vt:lpstr>
      <vt:lpstr>仿宋</vt:lpstr>
      <vt:lpstr>华文中宋</vt:lpstr>
      <vt:lpstr>思源黑体 CN Medium</vt:lpstr>
      <vt:lpstr>Microsoft YaHei</vt:lpstr>
      <vt:lpstr>Microsoft YaHei</vt:lpstr>
      <vt:lpstr>幼圆</vt:lpstr>
      <vt:lpstr>Arial</vt:lpstr>
      <vt:lpstr>Book Antiqua</vt:lpstr>
      <vt:lpstr>Calibri</vt:lpstr>
      <vt:lpstr>Cambria Math</vt:lpstr>
      <vt:lpstr>Comic Sans MS</vt:lpstr>
      <vt:lpstr>Times New Roman</vt:lpstr>
      <vt:lpstr>Verdana</vt:lpstr>
      <vt:lpstr>Wingdings</vt:lpstr>
      <vt:lpstr>Wingdings 2</vt:lpstr>
      <vt:lpstr>yu_讲义模板</vt:lpstr>
      <vt:lpstr>方程式</vt:lpstr>
      <vt:lpstr>PowerPoint 演示文稿</vt:lpstr>
      <vt:lpstr>目录</vt:lpstr>
      <vt:lpstr>PowerPoint 演示文稿</vt:lpstr>
      <vt:lpstr>传统机器学习与深度学习</vt:lpstr>
      <vt:lpstr>传统机器学习 VS 深度学习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逻辑回归</vt:lpstr>
      <vt:lpstr>PowerPoint 演示文稿</vt:lpstr>
      <vt:lpstr>Neural Network </vt:lpstr>
      <vt:lpstr>Neural Network </vt:lpstr>
      <vt:lpstr>Neural Network </vt:lpstr>
      <vt:lpstr>Neural Network </vt:lpstr>
      <vt:lpstr>Multilayer Perceptron (MLP)</vt:lpstr>
      <vt:lpstr>Example Application</vt:lpstr>
      <vt:lpstr>激活函数</vt:lpstr>
      <vt:lpstr>目标函数</vt:lpstr>
      <vt:lpstr>单分类与多分类</vt:lpstr>
      <vt:lpstr>课后阅读</vt:lpstr>
      <vt:lpstr>Dropout</vt:lpstr>
      <vt:lpstr>Auto-Encoders</vt:lpstr>
      <vt:lpstr>Denoising Auto-Encoder</vt:lpstr>
      <vt:lpstr>Stacked Auto-Encoders(SAE)</vt:lpstr>
      <vt:lpstr>Variational Autoencoder（VAE）</vt:lpstr>
      <vt:lpstr>Variational Autoencoder（VAE）</vt:lpstr>
      <vt:lpstr>PowerPoint 演示文稿</vt:lpstr>
      <vt:lpstr>Convolutional Neural Network</vt:lpstr>
      <vt:lpstr>PowerPoint 演示文稿</vt:lpstr>
      <vt:lpstr>CNN – Convolution</vt:lpstr>
      <vt:lpstr>PowerPoint 演示文稿</vt:lpstr>
      <vt:lpstr>CNN – Convolution</vt:lpstr>
      <vt:lpstr>CNN – Convolution</vt:lpstr>
      <vt:lpstr>CNN – Colorful image</vt:lpstr>
      <vt:lpstr>PowerPoint 演示文稿</vt:lpstr>
      <vt:lpstr>PowerPoint 演示文稿</vt:lpstr>
      <vt:lpstr>CNN – Max Pooling</vt:lpstr>
      <vt:lpstr>CNN – Max Pooling</vt:lpstr>
      <vt:lpstr>Flatten</vt:lpstr>
      <vt:lpstr>卷积神经网络总结</vt:lpstr>
      <vt:lpstr>具体模型</vt:lpstr>
      <vt:lpstr>图卷积网络</vt:lpstr>
      <vt:lpstr>图卷积网络</vt:lpstr>
      <vt:lpstr>Recurrent Neural Network (RNN)</vt:lpstr>
      <vt:lpstr>Of course it can be deep …</vt:lpstr>
      <vt:lpstr>Bidirectional RNN</vt:lpstr>
      <vt:lpstr> 长短记忆网络 (LSTM)</vt:lpstr>
      <vt:lpstr>Seq2Seq</vt:lpstr>
      <vt:lpstr>Attention机制</vt:lpstr>
      <vt:lpstr>Hierarchical Attention</vt:lpstr>
      <vt:lpstr>Attentive Group</vt:lpstr>
      <vt:lpstr>Multi-head attention</vt:lpstr>
      <vt:lpstr>Transformer</vt:lpstr>
      <vt:lpstr>PowerPoint 演示文稿</vt:lpstr>
      <vt:lpstr> Deepseek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yuli</dc:creator>
  <cp:lastModifiedBy>webuser</cp:lastModifiedBy>
  <cp:revision>143</cp:revision>
  <dcterms:created xsi:type="dcterms:W3CDTF">2021-09-11T11:16:46Z</dcterms:created>
  <dcterms:modified xsi:type="dcterms:W3CDTF">2025-03-07T09:44:54Z</dcterms:modified>
</cp:coreProperties>
</file>