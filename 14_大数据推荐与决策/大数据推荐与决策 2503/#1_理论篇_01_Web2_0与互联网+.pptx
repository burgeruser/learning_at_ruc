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54"/>
  </p:notesMasterIdLst>
  <p:handoutMasterIdLst>
    <p:handoutMasterId r:id="rId55"/>
  </p:handoutMasterIdLst>
  <p:sldIdLst>
    <p:sldId id="931" r:id="rId2"/>
    <p:sldId id="926" r:id="rId3"/>
    <p:sldId id="918" r:id="rId4"/>
    <p:sldId id="933" r:id="rId5"/>
    <p:sldId id="934" r:id="rId6"/>
    <p:sldId id="935" r:id="rId7"/>
    <p:sldId id="936" r:id="rId8"/>
    <p:sldId id="937" r:id="rId9"/>
    <p:sldId id="938" r:id="rId10"/>
    <p:sldId id="939" r:id="rId11"/>
    <p:sldId id="940" r:id="rId12"/>
    <p:sldId id="941" r:id="rId13"/>
    <p:sldId id="945" r:id="rId14"/>
    <p:sldId id="942" r:id="rId15"/>
    <p:sldId id="943" r:id="rId16"/>
    <p:sldId id="944" r:id="rId17"/>
    <p:sldId id="946" r:id="rId18"/>
    <p:sldId id="947" r:id="rId19"/>
    <p:sldId id="948" r:id="rId20"/>
    <p:sldId id="949" r:id="rId21"/>
    <p:sldId id="950" r:id="rId22"/>
    <p:sldId id="951" r:id="rId23"/>
    <p:sldId id="952" r:id="rId24"/>
    <p:sldId id="953" r:id="rId25"/>
    <p:sldId id="954" r:id="rId26"/>
    <p:sldId id="955" r:id="rId27"/>
    <p:sldId id="956" r:id="rId28"/>
    <p:sldId id="957" r:id="rId29"/>
    <p:sldId id="958" r:id="rId30"/>
    <p:sldId id="959" r:id="rId31"/>
    <p:sldId id="960" r:id="rId32"/>
    <p:sldId id="961" r:id="rId33"/>
    <p:sldId id="962" r:id="rId34"/>
    <p:sldId id="963" r:id="rId35"/>
    <p:sldId id="974" r:id="rId36"/>
    <p:sldId id="975" r:id="rId37"/>
    <p:sldId id="978" r:id="rId38"/>
    <p:sldId id="979" r:id="rId39"/>
    <p:sldId id="983" r:id="rId40"/>
    <p:sldId id="986" r:id="rId41"/>
    <p:sldId id="990" r:id="rId42"/>
    <p:sldId id="991" r:id="rId43"/>
    <p:sldId id="994" r:id="rId44"/>
    <p:sldId id="964" r:id="rId45"/>
    <p:sldId id="965" r:id="rId46"/>
    <p:sldId id="966" r:id="rId47"/>
    <p:sldId id="967" r:id="rId48"/>
    <p:sldId id="968" r:id="rId49"/>
    <p:sldId id="969" r:id="rId50"/>
    <p:sldId id="970" r:id="rId51"/>
    <p:sldId id="971" r:id="rId52"/>
    <p:sldId id="815" r:id="rId53"/>
  </p:sldIdLst>
  <p:sldSz cx="9144000" cy="6858000" type="screen4x3"/>
  <p:notesSz cx="6858000" cy="9144000"/>
  <p:defaultTextStyle>
    <a:defPPr>
      <a:defRPr lang="zh-CN"/>
    </a:defPPr>
    <a:lvl1pPr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CCFFCC"/>
    <a:srgbClr val="2DE3B8"/>
    <a:srgbClr val="56E8C5"/>
    <a:srgbClr val="3BE5BD"/>
    <a:srgbClr val="35E2EB"/>
    <a:srgbClr val="00CC00"/>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2" autoAdjust="0"/>
    <p:restoredTop sz="92568" autoAdjust="0"/>
  </p:normalViewPr>
  <p:slideViewPr>
    <p:cSldViewPr>
      <p:cViewPr varScale="1">
        <p:scale>
          <a:sx n="106" d="100"/>
          <a:sy n="106" d="100"/>
        </p:scale>
        <p:origin x="1710" y="4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184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3234" name="矩形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kumimoji="1" sz="1200" b="0">
                <a:latin typeface="Times New Roman" pitchFamily="18" charset="0"/>
                <a:ea typeface="宋体" pitchFamily="2" charset="-122"/>
              </a:defRPr>
            </a:lvl1pPr>
          </a:lstStyle>
          <a:p>
            <a:pPr>
              <a:defRPr/>
            </a:pPr>
            <a:endParaRPr lang="en-US" altLang="zh-CN"/>
          </a:p>
        </p:txBody>
      </p:sp>
      <p:sp>
        <p:nvSpPr>
          <p:cNvPr id="223235" name="矩形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kumimoji="1" sz="1200" b="0">
                <a:latin typeface="Times New Roman" pitchFamily="18" charset="0"/>
                <a:ea typeface="宋体" pitchFamily="2" charset="-122"/>
              </a:defRPr>
            </a:lvl1pPr>
          </a:lstStyle>
          <a:p>
            <a:pPr>
              <a:defRPr/>
            </a:pPr>
            <a:endParaRPr lang="en-US" altLang="zh-CN"/>
          </a:p>
        </p:txBody>
      </p:sp>
      <p:sp>
        <p:nvSpPr>
          <p:cNvPr id="223236" name="矩形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defRPr kumimoji="1" sz="1200" b="0">
                <a:latin typeface="Times New Roman" pitchFamily="18" charset="0"/>
                <a:ea typeface="宋体" pitchFamily="2" charset="-122"/>
              </a:defRPr>
            </a:lvl1pPr>
          </a:lstStyle>
          <a:p>
            <a:pPr>
              <a:defRPr/>
            </a:pPr>
            <a:endParaRPr lang="en-US" altLang="zh-CN"/>
          </a:p>
        </p:txBody>
      </p:sp>
      <p:sp>
        <p:nvSpPr>
          <p:cNvPr id="223237" name="矩形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1" sz="1200" b="0">
                <a:latin typeface="Times New Roman" panose="02020603050405020304" pitchFamily="18" charset="0"/>
                <a:ea typeface="宋体" panose="02010600030101010101" pitchFamily="2" charset="-122"/>
              </a:defRPr>
            </a:lvl1pPr>
          </a:lstStyle>
          <a:p>
            <a:pPr>
              <a:defRPr/>
            </a:pPr>
            <a:fld id="{1EF99D79-75DE-49ED-8806-60820F95F58B}"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矩形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l" eaLnBrk="1" hangingPunct="1">
              <a:defRPr kumimoji="1" sz="1200" b="0">
                <a:latin typeface="Verdana" pitchFamily="34" charset="0"/>
                <a:ea typeface="宋体" pitchFamily="2" charset="-122"/>
              </a:defRPr>
            </a:lvl1pPr>
          </a:lstStyle>
          <a:p>
            <a:pPr>
              <a:defRPr/>
            </a:pPr>
            <a:endParaRPr lang="en-US" altLang="zh-CN"/>
          </a:p>
        </p:txBody>
      </p:sp>
      <p:sp>
        <p:nvSpPr>
          <p:cNvPr id="28675" name="矩形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kumimoji="1" sz="1200" b="0">
                <a:latin typeface="Verdana" pitchFamily="34" charset="0"/>
                <a:ea typeface="宋体" pitchFamily="2" charset="-122"/>
              </a:defRPr>
            </a:lvl1pPr>
          </a:lstStyle>
          <a:p>
            <a:pPr>
              <a:defRPr/>
            </a:pPr>
            <a:endParaRPr lang="en-US" altLang="zh-CN"/>
          </a:p>
        </p:txBody>
      </p:sp>
      <p:sp>
        <p:nvSpPr>
          <p:cNvPr id="4100" name="矩形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7" name="矩形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8678" name="矩形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eaLnBrk="1" hangingPunct="1">
              <a:defRPr kumimoji="1" sz="1200" b="0">
                <a:latin typeface="Verdana" pitchFamily="34" charset="0"/>
                <a:ea typeface="宋体" pitchFamily="2" charset="-122"/>
              </a:defRPr>
            </a:lvl1pPr>
          </a:lstStyle>
          <a:p>
            <a:pPr>
              <a:defRPr/>
            </a:pPr>
            <a:endParaRPr lang="en-US" altLang="zh-CN"/>
          </a:p>
        </p:txBody>
      </p:sp>
      <p:sp>
        <p:nvSpPr>
          <p:cNvPr id="28679" name="矩形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1" sz="1200" b="0">
                <a:latin typeface="Verdana" panose="020B0604030504040204" pitchFamily="34" charset="0"/>
                <a:ea typeface="宋体" panose="02010600030101010101" pitchFamily="2" charset="-122"/>
              </a:defRPr>
            </a:lvl1pPr>
          </a:lstStyle>
          <a:p>
            <a:pPr>
              <a:defRPr/>
            </a:pPr>
            <a:fld id="{5ED3B4BA-DCD8-4F6D-A0E0-FDE7D729BE4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baike.baidu.com/subview/123417/8037007.htm"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baike.baidu.com/view/35755.htm" TargetMode="External"/><Relationship Id="rId5" Type="http://schemas.openxmlformats.org/officeDocument/2006/relationships/hyperlink" Target="http://baike.baidu.com/subview/6825/18005829.htm" TargetMode="External"/><Relationship Id="rId4" Type="http://schemas.openxmlformats.org/officeDocument/2006/relationships/hyperlink" Target="http://baike.baidu.com/view/986205.htm"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12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B88314F-8330-4E4D-8D15-53C958A252E6}" type="slidenum">
              <a:rPr lang="zh-CN" altLang="en-US" smtClean="0"/>
              <a:pPr>
                <a:spcBef>
                  <a:spcPct val="0"/>
                </a:spcBef>
              </a:pPr>
              <a:t>1</a:t>
            </a:fld>
            <a:endParaRPr lang="en-US" altLang="zh-CN"/>
          </a:p>
        </p:txBody>
      </p:sp>
    </p:spTree>
    <p:extLst>
      <p:ext uri="{BB962C8B-B14F-4D97-AF65-F5344CB8AC3E}">
        <p14:creationId xmlns:p14="http://schemas.microsoft.com/office/powerpoint/2010/main" val="1538500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12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B88314F-8330-4E4D-8D15-53C958A252E6}" type="slidenum">
              <a:rPr lang="zh-CN" altLang="en-US" smtClean="0"/>
              <a:pPr>
                <a:spcBef>
                  <a:spcPct val="0"/>
                </a:spcBef>
              </a:pPr>
              <a:t>3</a:t>
            </a:fld>
            <a:endParaRPr lang="en-US" altLang="zh-CN"/>
          </a:p>
        </p:txBody>
      </p:sp>
    </p:spTree>
    <p:extLst>
      <p:ext uri="{BB962C8B-B14F-4D97-AF65-F5344CB8AC3E}">
        <p14:creationId xmlns:p14="http://schemas.microsoft.com/office/powerpoint/2010/main" val="3225240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矩形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131CBF-14D3-4885-8520-868404A7D3F1}" type="slidenum">
              <a:rPr lang="en-US" altLang="zh-CN">
                <a:latin typeface="Verdana" panose="020B0604030504040204" pitchFamily="34" charset="0"/>
              </a:rPr>
              <a:pPr eaLnBrk="1" hangingPunct="1"/>
              <a:t>4</a:t>
            </a:fld>
            <a:endParaRPr lang="en-US" altLang="zh-CN">
              <a:latin typeface="Verdana" panose="020B0604030504040204" pitchFamily="34" charset="0"/>
            </a:endParaRPr>
          </a:p>
        </p:txBody>
      </p:sp>
      <p:sp>
        <p:nvSpPr>
          <p:cNvPr id="93187" name="矩形 2"/>
          <p:cNvSpPr>
            <a:spLocks noGrp="1" noRot="1" noChangeAspect="1" noChangeArrowheads="1" noTextEdit="1"/>
          </p:cNvSpPr>
          <p:nvPr>
            <p:ph type="sldImg"/>
          </p:nvPr>
        </p:nvSpPr>
        <p:spPr>
          <a:ln/>
        </p:spPr>
      </p:sp>
      <p:sp>
        <p:nvSpPr>
          <p:cNvPr id="93188" name="矩形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842138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矩形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4C6CA47-BB0D-4DDA-9AFC-FA61A2B25261}" type="slidenum">
              <a:rPr lang="en-US" altLang="zh-CN">
                <a:latin typeface="Verdana" panose="020B0604030504040204" pitchFamily="34" charset="0"/>
              </a:rPr>
              <a:pPr eaLnBrk="1" hangingPunct="1"/>
              <a:t>8</a:t>
            </a:fld>
            <a:endParaRPr lang="en-US" altLang="zh-CN">
              <a:latin typeface="Verdana" panose="020B0604030504040204" pitchFamily="34" charset="0"/>
            </a:endParaRPr>
          </a:p>
        </p:txBody>
      </p:sp>
      <p:sp>
        <p:nvSpPr>
          <p:cNvPr id="96259" name="矩形 2"/>
          <p:cNvSpPr>
            <a:spLocks noGrp="1" noRot="1" noChangeAspect="1" noChangeArrowheads="1" noTextEdit="1"/>
          </p:cNvSpPr>
          <p:nvPr>
            <p:ph type="sldImg"/>
          </p:nvPr>
        </p:nvSpPr>
        <p:spPr>
          <a:ln/>
        </p:spPr>
      </p:sp>
      <p:sp>
        <p:nvSpPr>
          <p:cNvPr id="96260" name="矩形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latin typeface="Arial" panose="020B0604020202020204" pitchFamily="34" charset="0"/>
            </a:endParaRPr>
          </a:p>
        </p:txBody>
      </p:sp>
    </p:spTree>
    <p:extLst>
      <p:ext uri="{BB962C8B-B14F-4D97-AF65-F5344CB8AC3E}">
        <p14:creationId xmlns:p14="http://schemas.microsoft.com/office/powerpoint/2010/main" val="407361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kern="1200" dirty="0">
                <a:solidFill>
                  <a:schemeClr val="tx1"/>
                </a:solidFill>
                <a:effectLst/>
                <a:latin typeface="Times New Roman" pitchFamily="18" charset="0"/>
                <a:ea typeface="宋体" pitchFamily="2" charset="-122"/>
                <a:cs typeface="+mn-cs"/>
              </a:rPr>
              <a:t>一是跨界融合。</a:t>
            </a:r>
            <a:r>
              <a:rPr kumimoji="1" lang="en-US" altLang="zh-CN" sz="1200" kern="1200" dirty="0">
                <a:solidFill>
                  <a:schemeClr val="tx1"/>
                </a:solidFill>
                <a:effectLst/>
                <a:latin typeface="Times New Roman" pitchFamily="18" charset="0"/>
                <a:ea typeface="宋体" pitchFamily="2" charset="-122"/>
                <a:cs typeface="+mn-cs"/>
              </a:rPr>
              <a:t>+</a:t>
            </a:r>
            <a:r>
              <a:rPr kumimoji="1" lang="zh-CN" altLang="en-US" sz="1200" kern="1200" dirty="0">
                <a:solidFill>
                  <a:schemeClr val="tx1"/>
                </a:solidFill>
                <a:effectLst/>
                <a:latin typeface="Times New Roman" pitchFamily="18" charset="0"/>
                <a:ea typeface="宋体" pitchFamily="2" charset="-122"/>
                <a:cs typeface="+mn-cs"/>
              </a:rPr>
              <a:t>就是跨界，就是变革，就是开放，就是重塑融合。敢于跨界了，创新的</a:t>
            </a:r>
            <a:r>
              <a:rPr kumimoji="1" lang="zh-CN" altLang="en-US" sz="1200" kern="1200" dirty="0">
                <a:solidFill>
                  <a:schemeClr val="tx1"/>
                </a:solidFill>
                <a:effectLst/>
                <a:latin typeface="Times New Roman" pitchFamily="18" charset="0"/>
                <a:ea typeface="宋体" pitchFamily="2" charset="-122"/>
                <a:cs typeface="+mn-cs"/>
                <a:hlinkClick r:id="rId3"/>
              </a:rPr>
              <a:t>基础</a:t>
            </a:r>
            <a:r>
              <a:rPr kumimoji="1" lang="zh-CN" altLang="en-US" sz="1200" kern="1200" dirty="0">
                <a:solidFill>
                  <a:schemeClr val="tx1"/>
                </a:solidFill>
                <a:effectLst/>
                <a:latin typeface="Times New Roman" pitchFamily="18" charset="0"/>
                <a:ea typeface="宋体" pitchFamily="2" charset="-122"/>
                <a:cs typeface="+mn-cs"/>
              </a:rPr>
              <a:t>就更坚实；融合协同了，群体智能才会实现，从</a:t>
            </a:r>
            <a:r>
              <a:rPr kumimoji="1" lang="zh-CN" altLang="en-US" sz="1200" kern="1200" dirty="0">
                <a:solidFill>
                  <a:schemeClr val="tx1"/>
                </a:solidFill>
                <a:effectLst/>
                <a:latin typeface="Times New Roman" pitchFamily="18" charset="0"/>
                <a:ea typeface="宋体" pitchFamily="2" charset="-122"/>
                <a:cs typeface="+mn-cs"/>
                <a:hlinkClick r:id="rId4"/>
              </a:rPr>
              <a:t>研发</a:t>
            </a:r>
            <a:r>
              <a:rPr kumimoji="1" lang="zh-CN" altLang="en-US" sz="1200" kern="1200" dirty="0">
                <a:solidFill>
                  <a:schemeClr val="tx1"/>
                </a:solidFill>
                <a:effectLst/>
                <a:latin typeface="Times New Roman" pitchFamily="18" charset="0"/>
                <a:ea typeface="宋体" pitchFamily="2" charset="-122"/>
                <a:cs typeface="+mn-cs"/>
              </a:rPr>
              <a:t>到产业化的路径才会更垂直。融合本身也指代身份的融合，客户消费转化为投资，伙伴参与创新，等等，不一而足。</a:t>
            </a:r>
          </a:p>
          <a:p>
            <a:r>
              <a:rPr kumimoji="1" lang="zh-CN" altLang="en-US" sz="1200" kern="1200" dirty="0">
                <a:solidFill>
                  <a:schemeClr val="tx1"/>
                </a:solidFill>
                <a:effectLst/>
                <a:latin typeface="Times New Roman" pitchFamily="18" charset="0"/>
                <a:ea typeface="宋体" pitchFamily="2" charset="-122"/>
                <a:cs typeface="+mn-cs"/>
              </a:rPr>
              <a:t>二是创新驱动。中国粗放的资源驱动型增长方式早就难以为继，必须转变到创新驱动发展这条正确的道路上来。这正是互联网的特质，用所谓的互联网思维来求变、自我革命，也更能发挥创新的力量。</a:t>
            </a:r>
          </a:p>
          <a:p>
            <a:r>
              <a:rPr kumimoji="1" lang="zh-CN" altLang="en-US" sz="1200" kern="1200" dirty="0">
                <a:solidFill>
                  <a:schemeClr val="tx1"/>
                </a:solidFill>
                <a:effectLst/>
                <a:latin typeface="Times New Roman" pitchFamily="18" charset="0"/>
                <a:ea typeface="宋体" pitchFamily="2" charset="-122"/>
                <a:cs typeface="+mn-cs"/>
              </a:rPr>
              <a:t>三是重塑结构。信息革命、全球化、互联网业已打破了原有的社会结构、经济结构、地缘结构、文化结构。权力、议事规则、话语权不断在发生变化。</a:t>
            </a:r>
            <a:r>
              <a:rPr kumimoji="1" lang="zh-CN" altLang="en-US" sz="1200" kern="1200" dirty="0">
                <a:solidFill>
                  <a:schemeClr val="tx1"/>
                </a:solidFill>
                <a:effectLst/>
                <a:latin typeface="Times New Roman" pitchFamily="18" charset="0"/>
                <a:ea typeface="宋体" pitchFamily="2" charset="-122"/>
                <a:cs typeface="+mn-cs"/>
                <a:hlinkClick r:id="rId5"/>
              </a:rPr>
              <a:t>互联网</a:t>
            </a:r>
            <a:r>
              <a:rPr kumimoji="1" lang="en-US" altLang="zh-CN" sz="1200" kern="1200" dirty="0">
                <a:solidFill>
                  <a:schemeClr val="tx1"/>
                </a:solidFill>
                <a:effectLst/>
                <a:latin typeface="Times New Roman" pitchFamily="18" charset="0"/>
                <a:ea typeface="宋体" pitchFamily="2" charset="-122"/>
                <a:cs typeface="+mn-cs"/>
              </a:rPr>
              <a:t>+</a:t>
            </a:r>
            <a:r>
              <a:rPr kumimoji="1" lang="zh-CN" altLang="en-US" sz="1200" kern="1200" dirty="0">
                <a:solidFill>
                  <a:schemeClr val="tx1"/>
                </a:solidFill>
                <a:effectLst/>
                <a:latin typeface="Times New Roman" pitchFamily="18" charset="0"/>
                <a:ea typeface="宋体" pitchFamily="2" charset="-122"/>
                <a:cs typeface="+mn-cs"/>
              </a:rPr>
              <a:t>社会治理、虚拟社会治理会是很大的不同。</a:t>
            </a:r>
          </a:p>
          <a:p>
            <a:r>
              <a:rPr kumimoji="1" lang="zh-CN" altLang="en-US" sz="1200" kern="1200" dirty="0">
                <a:solidFill>
                  <a:schemeClr val="tx1"/>
                </a:solidFill>
                <a:effectLst/>
                <a:latin typeface="Times New Roman" pitchFamily="18" charset="0"/>
                <a:ea typeface="宋体" pitchFamily="2" charset="-122"/>
                <a:cs typeface="+mn-cs"/>
              </a:rPr>
              <a:t>互联网</a:t>
            </a:r>
            <a:r>
              <a:rPr kumimoji="1" lang="en-US" altLang="zh-CN" sz="1200" kern="1200" dirty="0">
                <a:solidFill>
                  <a:schemeClr val="tx1"/>
                </a:solidFill>
                <a:effectLst/>
                <a:latin typeface="Times New Roman" pitchFamily="18" charset="0"/>
                <a:ea typeface="宋体" pitchFamily="2" charset="-122"/>
                <a:cs typeface="+mn-cs"/>
              </a:rPr>
              <a:t>+ </a:t>
            </a:r>
          </a:p>
          <a:p>
            <a:r>
              <a:rPr kumimoji="1" lang="zh-CN" altLang="en-US" sz="1200" kern="1200" dirty="0">
                <a:solidFill>
                  <a:schemeClr val="tx1"/>
                </a:solidFill>
                <a:effectLst/>
                <a:latin typeface="Times New Roman" pitchFamily="18" charset="0"/>
                <a:ea typeface="宋体" pitchFamily="2" charset="-122"/>
                <a:cs typeface="+mn-cs"/>
              </a:rPr>
              <a:t>四是尊重人性。人性的光辉是推动</a:t>
            </a:r>
            <a:r>
              <a:rPr kumimoji="1" lang="zh-CN" altLang="en-US" sz="1200" kern="1200" dirty="0">
                <a:solidFill>
                  <a:schemeClr val="tx1"/>
                </a:solidFill>
                <a:effectLst/>
                <a:latin typeface="Times New Roman" pitchFamily="18" charset="0"/>
                <a:ea typeface="宋体" pitchFamily="2" charset="-122"/>
                <a:cs typeface="+mn-cs"/>
                <a:hlinkClick r:id="rId6"/>
              </a:rPr>
              <a:t>科技</a:t>
            </a:r>
            <a:r>
              <a:rPr kumimoji="1" lang="zh-CN" altLang="en-US" sz="1200" kern="1200" dirty="0">
                <a:solidFill>
                  <a:schemeClr val="tx1"/>
                </a:solidFill>
                <a:effectLst/>
                <a:latin typeface="Times New Roman" pitchFamily="18" charset="0"/>
                <a:ea typeface="宋体" pitchFamily="2" charset="-122"/>
                <a:cs typeface="+mn-cs"/>
              </a:rPr>
              <a:t>进步、经济增长、社会进步、文化繁荣的最根本的力量，互联网的力量之强大最根本地也来源于对人性的最大限度的尊重、对人体验的敬畏、对人的创造性发挥的重视。例如</a:t>
            </a:r>
            <a:r>
              <a:rPr kumimoji="1" lang="en-US" altLang="zh-CN" sz="1200" kern="1200" dirty="0">
                <a:solidFill>
                  <a:schemeClr val="tx1"/>
                </a:solidFill>
                <a:effectLst/>
                <a:latin typeface="Times New Roman" pitchFamily="18" charset="0"/>
                <a:ea typeface="宋体" pitchFamily="2" charset="-122"/>
                <a:cs typeface="+mn-cs"/>
              </a:rPr>
              <a:t>UGC</a:t>
            </a:r>
            <a:r>
              <a:rPr kumimoji="1" lang="zh-CN" altLang="en-US" sz="1200" kern="1200" dirty="0">
                <a:solidFill>
                  <a:schemeClr val="tx1"/>
                </a:solidFill>
                <a:effectLst/>
                <a:latin typeface="Times New Roman" pitchFamily="18" charset="0"/>
                <a:ea typeface="宋体" pitchFamily="2" charset="-122"/>
                <a:cs typeface="+mn-cs"/>
              </a:rPr>
              <a:t>，例如卷入式营销，例如分享经济。</a:t>
            </a:r>
          </a:p>
          <a:p>
            <a:r>
              <a:rPr kumimoji="1" lang="zh-CN" altLang="en-US" sz="1200" kern="1200" dirty="0">
                <a:solidFill>
                  <a:schemeClr val="tx1"/>
                </a:solidFill>
                <a:effectLst/>
                <a:latin typeface="Times New Roman" pitchFamily="18" charset="0"/>
                <a:ea typeface="宋体" pitchFamily="2" charset="-122"/>
                <a:cs typeface="+mn-cs"/>
              </a:rPr>
              <a:t>五是开放生态。关于互联网</a:t>
            </a:r>
            <a:r>
              <a:rPr kumimoji="1" lang="en-US" altLang="zh-CN" sz="1200" kern="1200" dirty="0">
                <a:solidFill>
                  <a:schemeClr val="tx1"/>
                </a:solidFill>
                <a:effectLst/>
                <a:latin typeface="Times New Roman" pitchFamily="18" charset="0"/>
                <a:ea typeface="宋体" pitchFamily="2" charset="-122"/>
                <a:cs typeface="+mn-cs"/>
              </a:rPr>
              <a:t>+</a:t>
            </a:r>
            <a:r>
              <a:rPr kumimoji="1" lang="zh-CN" altLang="en-US" sz="1200" kern="1200" dirty="0">
                <a:solidFill>
                  <a:schemeClr val="tx1"/>
                </a:solidFill>
                <a:effectLst/>
                <a:latin typeface="Times New Roman" pitchFamily="18" charset="0"/>
                <a:ea typeface="宋体" pitchFamily="2" charset="-122"/>
                <a:cs typeface="+mn-cs"/>
              </a:rPr>
              <a:t>，生态是非常重要的特征，而生态的本身就是开放的。我们推进互联网</a:t>
            </a:r>
            <a:r>
              <a:rPr kumimoji="1" lang="en-US" altLang="zh-CN" sz="1200" kern="1200" dirty="0">
                <a:solidFill>
                  <a:schemeClr val="tx1"/>
                </a:solidFill>
                <a:effectLst/>
                <a:latin typeface="Times New Roman" pitchFamily="18" charset="0"/>
                <a:ea typeface="宋体" pitchFamily="2" charset="-122"/>
                <a:cs typeface="+mn-cs"/>
              </a:rPr>
              <a:t>+</a:t>
            </a:r>
            <a:r>
              <a:rPr kumimoji="1" lang="zh-CN" altLang="en-US" sz="1200" kern="1200" dirty="0">
                <a:solidFill>
                  <a:schemeClr val="tx1"/>
                </a:solidFill>
                <a:effectLst/>
                <a:latin typeface="Times New Roman" pitchFamily="18" charset="0"/>
                <a:ea typeface="宋体" pitchFamily="2" charset="-122"/>
                <a:cs typeface="+mn-cs"/>
              </a:rPr>
              <a:t>，其中一个重要的方向就是要把过去制约创新的环节化解掉，把孤岛式创新连接起来，让研发由人性决定的市场驱动，让创业并努力者有机会实现价值。</a:t>
            </a:r>
          </a:p>
          <a:p>
            <a:r>
              <a:rPr kumimoji="1" lang="zh-CN" altLang="en-US" sz="1200" kern="1200" dirty="0">
                <a:solidFill>
                  <a:schemeClr val="tx1"/>
                </a:solidFill>
                <a:effectLst/>
                <a:latin typeface="Times New Roman" pitchFamily="18" charset="0"/>
                <a:ea typeface="宋体" pitchFamily="2" charset="-122"/>
                <a:cs typeface="+mn-cs"/>
              </a:rPr>
              <a:t>六是连接一切。连接是有层次的，可连接性是有差异的，连接的价值是相差很大的，但是连接一切是互联网</a:t>
            </a:r>
            <a:r>
              <a:rPr kumimoji="1" lang="en-US" altLang="zh-CN" sz="1200" kern="1200" dirty="0">
                <a:solidFill>
                  <a:schemeClr val="tx1"/>
                </a:solidFill>
                <a:effectLst/>
                <a:latin typeface="Times New Roman" pitchFamily="18" charset="0"/>
                <a:ea typeface="宋体" pitchFamily="2" charset="-122"/>
                <a:cs typeface="+mn-cs"/>
              </a:rPr>
              <a:t>+</a:t>
            </a:r>
            <a:r>
              <a:rPr kumimoji="1" lang="zh-CN" altLang="en-US" sz="1200" kern="1200" dirty="0">
                <a:solidFill>
                  <a:schemeClr val="tx1"/>
                </a:solidFill>
                <a:effectLst/>
                <a:latin typeface="Times New Roman" pitchFamily="18" charset="0"/>
                <a:ea typeface="宋体" pitchFamily="2" charset="-122"/>
                <a:cs typeface="+mn-cs"/>
              </a:rPr>
              <a:t>的目标。</a:t>
            </a:r>
          </a:p>
          <a:p>
            <a:endParaRPr lang="zh-CN" altLang="en-US" dirty="0"/>
          </a:p>
        </p:txBody>
      </p:sp>
      <p:sp>
        <p:nvSpPr>
          <p:cNvPr id="4" name="灯片编号占位符 3"/>
          <p:cNvSpPr>
            <a:spLocks noGrp="1"/>
          </p:cNvSpPr>
          <p:nvPr>
            <p:ph type="sldNum" sz="quarter" idx="10"/>
          </p:nvPr>
        </p:nvSpPr>
        <p:spPr/>
        <p:txBody>
          <a:bodyPr/>
          <a:lstStyle/>
          <a:p>
            <a:pPr>
              <a:defRPr/>
            </a:pPr>
            <a:fld id="{1DBA2871-DC6D-443A-B4CC-1F73A629D13C}" type="slidenum">
              <a:rPr lang="en-US" altLang="zh-CN" smtClean="0"/>
              <a:pPr>
                <a:defRPr/>
              </a:pPr>
              <a:t>16</a:t>
            </a:fld>
            <a:endParaRPr lang="en-US" altLang="zh-CN"/>
          </a:p>
        </p:txBody>
      </p:sp>
    </p:spTree>
    <p:extLst>
      <p:ext uri="{BB962C8B-B14F-4D97-AF65-F5344CB8AC3E}">
        <p14:creationId xmlns:p14="http://schemas.microsoft.com/office/powerpoint/2010/main" val="2752872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支付方式</a:t>
            </a:r>
            <a:endParaRPr lang="en-US" altLang="zh-CN" dirty="0"/>
          </a:p>
          <a:p>
            <a:r>
              <a:rPr lang="zh-CN" altLang="en-US" dirty="0"/>
              <a:t>信息处理</a:t>
            </a:r>
            <a:endParaRPr lang="en-US" altLang="zh-CN" dirty="0"/>
          </a:p>
          <a:p>
            <a:r>
              <a:rPr lang="zh-CN" altLang="en-US" dirty="0"/>
              <a:t>资源配置</a:t>
            </a:r>
          </a:p>
        </p:txBody>
      </p:sp>
      <p:sp>
        <p:nvSpPr>
          <p:cNvPr id="4" name="灯片编号占位符 3"/>
          <p:cNvSpPr>
            <a:spLocks noGrp="1"/>
          </p:cNvSpPr>
          <p:nvPr>
            <p:ph type="sldNum" sz="quarter" idx="5"/>
          </p:nvPr>
        </p:nvSpPr>
        <p:spPr/>
        <p:txBody>
          <a:bodyPr/>
          <a:lstStyle/>
          <a:p>
            <a:pPr>
              <a:defRPr/>
            </a:pPr>
            <a:fld id="{5ED3B4BA-DCD8-4F6D-A0E0-FDE7D729BE48}" type="slidenum">
              <a:rPr lang="en-US" altLang="zh-CN" smtClean="0"/>
              <a:pPr>
                <a:defRPr/>
              </a:pPr>
              <a:t>18</a:t>
            </a:fld>
            <a:endParaRPr lang="en-US" altLang="zh-CN"/>
          </a:p>
        </p:txBody>
      </p:sp>
    </p:spTree>
    <p:extLst>
      <p:ext uri="{BB962C8B-B14F-4D97-AF65-F5344CB8AC3E}">
        <p14:creationId xmlns:p14="http://schemas.microsoft.com/office/powerpoint/2010/main" val="2721005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工业</a:t>
            </a:r>
            <a:r>
              <a:rPr lang="en-US" altLang="zh-CN" dirty="0"/>
              <a:t>4.0</a:t>
            </a:r>
            <a:r>
              <a:rPr lang="zh-CN" altLang="en-US" dirty="0"/>
              <a:t>是德国政府提出的一个高科技战略计划，旨在提升制造业智能化水平。技术基础是网络实体系统及物联网。命名的基础是人类近现代经历的三次工业变革。</a:t>
            </a:r>
            <a:endParaRPr lang="en-US" altLang="zh-CN" dirty="0"/>
          </a:p>
          <a:p>
            <a:r>
              <a:rPr lang="en-US" altLang="zh-CN" dirty="0"/>
              <a:t>1.0 </a:t>
            </a:r>
            <a:r>
              <a:rPr lang="zh-CN" altLang="en-US" dirty="0"/>
              <a:t>蒸汽时代 </a:t>
            </a:r>
            <a:r>
              <a:rPr lang="en-US" altLang="zh-CN" dirty="0"/>
              <a:t>2.0 </a:t>
            </a:r>
            <a:r>
              <a:rPr lang="zh-CN" altLang="en-US" dirty="0"/>
              <a:t>电气时代 </a:t>
            </a:r>
            <a:r>
              <a:rPr lang="en-US" altLang="zh-CN" dirty="0"/>
              <a:t>3.0 </a:t>
            </a:r>
            <a:r>
              <a:rPr lang="zh-CN" altLang="en-US" dirty="0"/>
              <a:t>信息化时代 </a:t>
            </a:r>
            <a:r>
              <a:rPr lang="en-US" altLang="zh-CN" dirty="0"/>
              <a:t>4.0 </a:t>
            </a:r>
            <a:r>
              <a:rPr lang="zh-CN" altLang="en-US" dirty="0"/>
              <a:t>以应用信息物理系统（</a:t>
            </a:r>
            <a:r>
              <a:rPr lang="en-US" altLang="zh-CN" dirty="0"/>
              <a:t>CPS</a:t>
            </a:r>
            <a:r>
              <a:rPr lang="zh-CN" altLang="en-US" dirty="0"/>
              <a:t>）为代表的第四次工业革命</a:t>
            </a:r>
            <a:endParaRPr lang="en-US" altLang="zh-CN" dirty="0"/>
          </a:p>
          <a:p>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600" dirty="0">
                <a:latin typeface="微软雅黑" panose="020B0503020204020204" pitchFamily="34" charset="-122"/>
                <a:ea typeface="微软雅黑" panose="020B0503020204020204" pitchFamily="34" charset="-122"/>
              </a:rPr>
              <a:t>目标：</a:t>
            </a:r>
            <a:r>
              <a:rPr lang="zh-CN" altLang="en-US" dirty="0">
                <a:latin typeface="微软雅黑" panose="020B0503020204020204" pitchFamily="34" charset="-122"/>
                <a:ea typeface="微软雅黑" panose="020B0503020204020204" pitchFamily="34" charset="-122"/>
              </a:rPr>
              <a:t>建立一个高度灵活的个性化、数字化产品与服务的生产模式</a:t>
            </a:r>
            <a:endParaRPr lang="en-US" altLang="zh-CN" dirty="0">
              <a:latin typeface="微软雅黑" panose="020B0503020204020204" pitchFamily="34" charset="-122"/>
              <a:ea typeface="微软雅黑" panose="020B0503020204020204" pitchFamily="34"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600" dirty="0">
                <a:latin typeface="微软雅黑" panose="020B0503020204020204" pitchFamily="34" charset="-122"/>
                <a:ea typeface="微软雅黑" panose="020B0503020204020204" pitchFamily="34" charset="-122"/>
              </a:rPr>
              <a:t>关键点：</a:t>
            </a:r>
            <a:r>
              <a:rPr lang="zh-CN" altLang="en-US" sz="1200" dirty="0">
                <a:latin typeface="微软雅黑" panose="020B0503020204020204" pitchFamily="34" charset="-122"/>
                <a:ea typeface="微软雅黑" panose="020B0503020204020204" pitchFamily="34" charset="-122"/>
              </a:rPr>
              <a:t>“原材料（物质）”</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“信息”。智能工厂使用了含有信息的原材料，实现了“原材料（物质）”</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“信息”，制造业终将成为信息产业的一部分。所以，工业</a:t>
            </a:r>
            <a:r>
              <a:rPr lang="en-US" altLang="zh-CN" sz="1200" dirty="0">
                <a:latin typeface="微软雅黑" panose="020B0503020204020204" pitchFamily="34" charset="-122"/>
                <a:ea typeface="微软雅黑" panose="020B0503020204020204" pitchFamily="34" charset="-122"/>
              </a:rPr>
              <a:t>4.0</a:t>
            </a:r>
            <a:r>
              <a:rPr lang="zh-CN" altLang="en-US" sz="1200" dirty="0">
                <a:latin typeface="微软雅黑" panose="020B0503020204020204" pitchFamily="34" charset="-122"/>
                <a:ea typeface="微软雅黑" panose="020B0503020204020204" pitchFamily="34" charset="-122"/>
              </a:rPr>
              <a:t>将成为最后一次工业革命。</a:t>
            </a:r>
            <a:endParaRPr lang="zh-CN" altLang="zh-CN" sz="1200" dirty="0">
              <a:latin typeface="微软雅黑" panose="020B0503020204020204" pitchFamily="34" charset="-122"/>
              <a:ea typeface="微软雅黑" panose="020B0503020204020204" pitchFamily="34"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zh-CN"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31C75CB9-910B-4D61-9962-2B4CE6EBEC07}" type="slidenum">
              <a:rPr lang="zh-CN" altLang="en-US" smtClean="0"/>
              <a:t>19</a:t>
            </a:fld>
            <a:endParaRPr lang="zh-CN" altLang="en-US"/>
          </a:p>
        </p:txBody>
      </p:sp>
    </p:spTree>
    <p:extLst>
      <p:ext uri="{BB962C8B-B14F-4D97-AF65-F5344CB8AC3E}">
        <p14:creationId xmlns:p14="http://schemas.microsoft.com/office/powerpoint/2010/main" val="34372256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pitchFamily="2" charset="-122"/>
                <a:cs typeface="+mn-cs"/>
              </a:rPr>
              <a:t>“中国制造</a:t>
            </a:r>
            <a:r>
              <a:rPr kumimoji="1" lang="en-US" altLang="zh-CN" sz="1200" b="0" i="0" kern="1200" dirty="0">
                <a:solidFill>
                  <a:schemeClr val="tx1"/>
                </a:solidFill>
                <a:effectLst/>
                <a:latin typeface="Times New Roman" pitchFamily="18" charset="0"/>
                <a:ea typeface="宋体" pitchFamily="2" charset="-122"/>
                <a:cs typeface="+mn-cs"/>
              </a:rPr>
              <a:t>2025”</a:t>
            </a:r>
            <a:r>
              <a:rPr kumimoji="1" lang="zh-CN" altLang="en-US" sz="1200" b="0" i="0" kern="1200" dirty="0">
                <a:solidFill>
                  <a:schemeClr val="tx1"/>
                </a:solidFill>
                <a:effectLst/>
                <a:latin typeface="Times New Roman" pitchFamily="18" charset="0"/>
                <a:ea typeface="宋体" pitchFamily="2" charset="-122"/>
                <a:cs typeface="+mn-cs"/>
              </a:rPr>
              <a:t>应对新一轮科技革命和产业变革，立足我国转变经济发展方式实际需要，围绕创新驱动、智能转型、强化基础、绿色发展、人才为本等关键环节，以及先进制造、高端装备等重点领域，提出了加快制造业转型升级、提升增效的重大战略任务和重大政策举措，力争到</a:t>
            </a:r>
            <a:r>
              <a:rPr kumimoji="1" lang="en-US" altLang="zh-CN" sz="1200" b="0" i="0" kern="1200" dirty="0">
                <a:solidFill>
                  <a:schemeClr val="tx1"/>
                </a:solidFill>
                <a:effectLst/>
                <a:latin typeface="Times New Roman" pitchFamily="18" charset="0"/>
                <a:ea typeface="宋体" pitchFamily="2" charset="-122"/>
                <a:cs typeface="+mn-cs"/>
              </a:rPr>
              <a:t>2025</a:t>
            </a:r>
            <a:r>
              <a:rPr kumimoji="1" lang="zh-CN" altLang="en-US" sz="1200" b="0" i="0" kern="1200" dirty="0">
                <a:solidFill>
                  <a:schemeClr val="tx1"/>
                </a:solidFill>
                <a:effectLst/>
                <a:latin typeface="Times New Roman" pitchFamily="18" charset="0"/>
                <a:ea typeface="宋体" pitchFamily="2" charset="-122"/>
                <a:cs typeface="+mn-cs"/>
              </a:rPr>
              <a:t>年从制造大国迈入制造强国行。</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zh-CN" altLang="en-US" sz="1200" b="0" i="0" kern="1200" dirty="0">
                <a:solidFill>
                  <a:schemeClr val="tx1"/>
                </a:solidFill>
                <a:effectLst/>
                <a:latin typeface="Times New Roman" pitchFamily="18" charset="0"/>
                <a:ea typeface="宋体" pitchFamily="2" charset="-122"/>
                <a:cs typeface="+mn-cs"/>
              </a:rPr>
              <a:t>严格来讲，互联网</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与中国制造</a:t>
            </a:r>
            <a:r>
              <a:rPr kumimoji="1" lang="en-US" altLang="zh-CN" sz="1200" b="0" i="0" kern="1200" dirty="0">
                <a:solidFill>
                  <a:schemeClr val="tx1"/>
                </a:solidFill>
                <a:effectLst/>
                <a:latin typeface="Times New Roman" pitchFamily="18" charset="0"/>
                <a:ea typeface="宋体" pitchFamily="2" charset="-122"/>
                <a:cs typeface="+mn-cs"/>
              </a:rPr>
              <a:t>2025</a:t>
            </a:r>
            <a:r>
              <a:rPr kumimoji="1" lang="zh-CN" altLang="en-US" sz="1200" b="0" i="0" kern="1200" dirty="0">
                <a:solidFill>
                  <a:schemeClr val="tx1"/>
                </a:solidFill>
                <a:effectLst/>
                <a:latin typeface="Times New Roman" pitchFamily="18" charset="0"/>
                <a:ea typeface="宋体" pitchFamily="2" charset="-122"/>
                <a:cs typeface="+mn-cs"/>
              </a:rPr>
              <a:t>阶段性目标一起构成了当前中国制造业变革的完整内容，也是中国制造迎接第四次工业革命的内容。由于互联网</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这个由中国创造的概念更具创新性和丰富性，因此丰富“互联网</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”概念在传统工业中的内涵，使之与中国政府推动的“中国制造三步走”战略相融合，是一种制度安排，也是一种智慧选择</a:t>
            </a:r>
            <a:endParaRPr lang="zh-CN" altLang="en-US" dirty="0"/>
          </a:p>
        </p:txBody>
      </p:sp>
      <p:sp>
        <p:nvSpPr>
          <p:cNvPr id="4" name="灯片编号占位符 3"/>
          <p:cNvSpPr>
            <a:spLocks noGrp="1"/>
          </p:cNvSpPr>
          <p:nvPr>
            <p:ph type="sldNum" sz="quarter" idx="10"/>
          </p:nvPr>
        </p:nvSpPr>
        <p:spPr/>
        <p:txBody>
          <a:bodyPr/>
          <a:lstStyle/>
          <a:p>
            <a:pPr>
              <a:defRPr/>
            </a:pPr>
            <a:fld id="{D77812EE-F3FE-4B9A-8017-D1B4B29AB71F}" type="slidenum">
              <a:rPr lang="en-US" altLang="zh-CN" smtClean="0"/>
              <a:pPr>
                <a:defRPr/>
              </a:pPr>
              <a:t>21</a:t>
            </a:fld>
            <a:endParaRPr lang="en-US" altLang="zh-CN"/>
          </a:p>
        </p:txBody>
      </p:sp>
    </p:spTree>
    <p:extLst>
      <p:ext uri="{BB962C8B-B14F-4D97-AF65-F5344CB8AC3E}">
        <p14:creationId xmlns:p14="http://schemas.microsoft.com/office/powerpoint/2010/main" val="471877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b="0" i="0" kern="1200" dirty="0">
                <a:solidFill>
                  <a:schemeClr val="tx1"/>
                </a:solidFill>
                <a:effectLst/>
                <a:latin typeface="Times New Roman" pitchFamily="18" charset="0"/>
                <a:ea typeface="宋体" pitchFamily="2" charset="-122"/>
                <a:cs typeface="+mn-cs"/>
              </a:rPr>
              <a:t>“中国制造</a:t>
            </a:r>
            <a:r>
              <a:rPr kumimoji="1" lang="en-US" altLang="zh-CN" sz="1200" b="0" i="0" kern="1200" dirty="0">
                <a:solidFill>
                  <a:schemeClr val="tx1"/>
                </a:solidFill>
                <a:effectLst/>
                <a:latin typeface="Times New Roman" pitchFamily="18" charset="0"/>
                <a:ea typeface="宋体" pitchFamily="2" charset="-122"/>
                <a:cs typeface="+mn-cs"/>
              </a:rPr>
              <a:t>2025”</a:t>
            </a:r>
            <a:r>
              <a:rPr kumimoji="1" lang="zh-CN" altLang="en-US" sz="1200" b="0" i="0" kern="1200" dirty="0">
                <a:solidFill>
                  <a:schemeClr val="tx1"/>
                </a:solidFill>
                <a:effectLst/>
                <a:latin typeface="Times New Roman" pitchFamily="18" charset="0"/>
                <a:ea typeface="宋体" pitchFamily="2" charset="-122"/>
                <a:cs typeface="+mn-cs"/>
              </a:rPr>
              <a:t>应对新一轮科技革命和产业变革，立足我国转变经济发展方式实际需要，围绕创新驱动、智能转型、强化基础、绿色发展、人才为本等关键环节，以及先进制造、高端装备等重点领域，提出了加快制造业转型升级、提升增效的重大战略任务和重大政策举措，力争到</a:t>
            </a:r>
            <a:r>
              <a:rPr kumimoji="1" lang="en-US" altLang="zh-CN" sz="1200" b="0" i="0" kern="1200" dirty="0">
                <a:solidFill>
                  <a:schemeClr val="tx1"/>
                </a:solidFill>
                <a:effectLst/>
                <a:latin typeface="Times New Roman" pitchFamily="18" charset="0"/>
                <a:ea typeface="宋体" pitchFamily="2" charset="-122"/>
                <a:cs typeface="+mn-cs"/>
              </a:rPr>
              <a:t>2025</a:t>
            </a:r>
            <a:r>
              <a:rPr kumimoji="1" lang="zh-CN" altLang="en-US" sz="1200" b="0" i="0" kern="1200" dirty="0">
                <a:solidFill>
                  <a:schemeClr val="tx1"/>
                </a:solidFill>
                <a:effectLst/>
                <a:latin typeface="Times New Roman" pitchFamily="18" charset="0"/>
                <a:ea typeface="宋体" pitchFamily="2" charset="-122"/>
                <a:cs typeface="+mn-cs"/>
              </a:rPr>
              <a:t>年从制造大国迈入制造强国行。</a:t>
            </a:r>
            <a:endParaRPr kumimoji="1" lang="en-US" altLang="zh-CN" sz="1200" b="0" i="0" kern="1200" dirty="0">
              <a:solidFill>
                <a:schemeClr val="tx1"/>
              </a:solidFill>
              <a:effectLst/>
              <a:latin typeface="Times New Roman" pitchFamily="18" charset="0"/>
              <a:ea typeface="宋体" pitchFamily="2" charset="-122"/>
              <a:cs typeface="+mn-cs"/>
            </a:endParaRPr>
          </a:p>
          <a:p>
            <a:r>
              <a:rPr kumimoji="1" lang="zh-CN" altLang="en-US" sz="1200" b="0" i="0" kern="1200" dirty="0">
                <a:solidFill>
                  <a:schemeClr val="tx1"/>
                </a:solidFill>
                <a:effectLst/>
                <a:latin typeface="Times New Roman" pitchFamily="18" charset="0"/>
                <a:ea typeface="宋体" pitchFamily="2" charset="-122"/>
                <a:cs typeface="+mn-cs"/>
              </a:rPr>
              <a:t>严格来讲，互联网</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与中国制造</a:t>
            </a:r>
            <a:r>
              <a:rPr kumimoji="1" lang="en-US" altLang="zh-CN" sz="1200" b="0" i="0" kern="1200" dirty="0">
                <a:solidFill>
                  <a:schemeClr val="tx1"/>
                </a:solidFill>
                <a:effectLst/>
                <a:latin typeface="Times New Roman" pitchFamily="18" charset="0"/>
                <a:ea typeface="宋体" pitchFamily="2" charset="-122"/>
                <a:cs typeface="+mn-cs"/>
              </a:rPr>
              <a:t>2025</a:t>
            </a:r>
            <a:r>
              <a:rPr kumimoji="1" lang="zh-CN" altLang="en-US" sz="1200" b="0" i="0" kern="1200" dirty="0">
                <a:solidFill>
                  <a:schemeClr val="tx1"/>
                </a:solidFill>
                <a:effectLst/>
                <a:latin typeface="Times New Roman" pitchFamily="18" charset="0"/>
                <a:ea typeface="宋体" pitchFamily="2" charset="-122"/>
                <a:cs typeface="+mn-cs"/>
              </a:rPr>
              <a:t>阶段性目标一起构成了当前中国制造业变革的完整内容，也是中国制造迎接第四次工业革命的内容。由于互联网</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这个由中国创造的概念更具创新性和丰富性，因此丰富“互联网</a:t>
            </a:r>
            <a:r>
              <a:rPr kumimoji="1" lang="en-US" altLang="zh-CN" sz="1200" b="0" i="0" kern="1200" dirty="0">
                <a:solidFill>
                  <a:schemeClr val="tx1"/>
                </a:solidFill>
                <a:effectLst/>
                <a:latin typeface="Times New Roman" pitchFamily="18" charset="0"/>
                <a:ea typeface="宋体" pitchFamily="2" charset="-122"/>
                <a:cs typeface="+mn-cs"/>
              </a:rPr>
              <a:t>+</a:t>
            </a:r>
            <a:r>
              <a:rPr kumimoji="1" lang="zh-CN" altLang="en-US" sz="1200" b="0" i="0" kern="1200" dirty="0">
                <a:solidFill>
                  <a:schemeClr val="tx1"/>
                </a:solidFill>
                <a:effectLst/>
                <a:latin typeface="Times New Roman" pitchFamily="18" charset="0"/>
                <a:ea typeface="宋体" pitchFamily="2" charset="-122"/>
                <a:cs typeface="+mn-cs"/>
              </a:rPr>
              <a:t>”概念在传统工业中的内涵，使之与中国政府推动的“中国制造三步走”战略相融合，是一种制度安排，也是一种智慧选择</a:t>
            </a:r>
            <a:endParaRPr lang="zh-CN" altLang="en-US" dirty="0"/>
          </a:p>
        </p:txBody>
      </p:sp>
      <p:sp>
        <p:nvSpPr>
          <p:cNvPr id="4" name="灯片编号占位符 3"/>
          <p:cNvSpPr>
            <a:spLocks noGrp="1"/>
          </p:cNvSpPr>
          <p:nvPr>
            <p:ph type="sldNum" sz="quarter" idx="10"/>
          </p:nvPr>
        </p:nvSpPr>
        <p:spPr/>
        <p:txBody>
          <a:bodyPr/>
          <a:lstStyle/>
          <a:p>
            <a:pPr>
              <a:defRPr/>
            </a:pPr>
            <a:fld id="{D77812EE-F3FE-4B9A-8017-D1B4B29AB71F}" type="slidenum">
              <a:rPr lang="en-US" altLang="zh-CN" smtClean="0"/>
              <a:pPr>
                <a:defRPr/>
              </a:pPr>
              <a:t>22</a:t>
            </a:fld>
            <a:endParaRPr lang="en-US" altLang="zh-CN"/>
          </a:p>
        </p:txBody>
      </p:sp>
    </p:spTree>
    <p:extLst>
      <p:ext uri="{BB962C8B-B14F-4D97-AF65-F5344CB8AC3E}">
        <p14:creationId xmlns:p14="http://schemas.microsoft.com/office/powerpoint/2010/main" val="2838720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p:spPr>
      </p:sp>
      <p:sp>
        <p:nvSpPr>
          <p:cNvPr id="307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latin typeface="Arial" panose="020B0604020202020204" pitchFamily="34" charset="0"/>
              </a:rPr>
              <a:t>http://pennyauction.com.my/</a:t>
            </a:r>
          </a:p>
          <a:p>
            <a:r>
              <a:rPr lang="en-US" altLang="zh-CN" b="1">
                <a:latin typeface="Arial" panose="020B0604020202020204" pitchFamily="34" charset="0"/>
              </a:rPr>
              <a:t>100 Top Penny Auction Sites</a:t>
            </a:r>
          </a:p>
          <a:p>
            <a:r>
              <a:rPr lang="en-US" altLang="zh-CN">
                <a:latin typeface="Arial" panose="020B0604020202020204" pitchFamily="34" charset="0"/>
              </a:rPr>
              <a:t>http://www.100auctionsites.com/penny-auction.php</a:t>
            </a:r>
            <a:endParaRPr lang="zh-CN" altLang="en-US">
              <a:latin typeface="Arial" panose="020B0604020202020204" pitchFamily="34" charset="0"/>
            </a:endParaRPr>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B477DE4-B874-49CC-9731-BD6A36D21212}" type="slidenum">
              <a:rPr lang="zh-CN" altLang="hu-HU"/>
              <a:pPr eaLnBrk="1" hangingPunct="1"/>
              <a:t>25</a:t>
            </a:fld>
            <a:endParaRPr lang="hu-HU" altLang="zh-CN"/>
          </a:p>
        </p:txBody>
      </p:sp>
    </p:spTree>
    <p:extLst>
      <p:ext uri="{BB962C8B-B14F-4D97-AF65-F5344CB8AC3E}">
        <p14:creationId xmlns:p14="http://schemas.microsoft.com/office/powerpoint/2010/main" val="4982770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4" name="灯片编号占位符 3"/>
          <p:cNvSpPr>
            <a:spLocks noGrp="1"/>
          </p:cNvSpPr>
          <p:nvPr>
            <p:ph type="sldNum" sz="quarter" idx="5"/>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86F247C-A615-42E8-AA5E-67445692F156}" type="slidenum">
              <a:rPr lang="zh-CN" altLang="hu-HU"/>
              <a:pPr eaLnBrk="1" hangingPunct="1"/>
              <a:t>26</a:t>
            </a:fld>
            <a:endParaRPr lang="hu-HU" altLang="zh-CN"/>
          </a:p>
        </p:txBody>
      </p:sp>
    </p:spTree>
    <p:extLst>
      <p:ext uri="{BB962C8B-B14F-4D97-AF65-F5344CB8AC3E}">
        <p14:creationId xmlns:p14="http://schemas.microsoft.com/office/powerpoint/2010/main" val="4248068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r>
              <a:rPr lang="en-US" altLang="zh-CN" sz="1200" b="0" i="0" kern="1200" dirty="0">
                <a:solidFill>
                  <a:schemeClr val="tx1"/>
                </a:solidFill>
                <a:effectLst/>
                <a:latin typeface="+mn-lt"/>
                <a:ea typeface="+mn-ea"/>
                <a:cs typeface="+mn-cs"/>
              </a:rPr>
              <a:t>https://yaleon.geowhy.org/archives/161</a:t>
            </a:r>
          </a:p>
          <a:p>
            <a:pPr fontAlgn="base"/>
            <a:r>
              <a:rPr lang="en-US" altLang="zh-CN" sz="1200" b="0" i="0" kern="1200" dirty="0">
                <a:solidFill>
                  <a:schemeClr val="tx1"/>
                </a:solidFill>
                <a:effectLst/>
                <a:latin typeface="+mn-lt"/>
                <a:ea typeface="+mn-ea"/>
                <a:cs typeface="+mn-cs"/>
              </a:rPr>
              <a:t>https://yaleon.geowhy.org/archives/161</a:t>
            </a:r>
          </a:p>
          <a:p>
            <a:r>
              <a:rPr lang="en-US" altLang="zh-CN" sz="1200" kern="1200" dirty="0" err="1">
                <a:solidFill>
                  <a:schemeClr val="tx1"/>
                </a:solidFill>
                <a:effectLst/>
                <a:latin typeface="Arial" charset="0"/>
                <a:ea typeface="+mn-ea"/>
                <a:cs typeface="+mn-cs"/>
              </a:rPr>
              <a:t>Foldit</a:t>
            </a:r>
            <a:r>
              <a:rPr lang="zh-CN" altLang="en-US" sz="1200" kern="1200" dirty="0">
                <a:solidFill>
                  <a:schemeClr val="tx1"/>
                </a:solidFill>
                <a:effectLst/>
                <a:latin typeface="Arial" charset="0"/>
                <a:ea typeface="+mn-ea"/>
                <a:cs typeface="+mn-cs"/>
              </a:rPr>
              <a:t>这个东西。这个项目的第一大目的就是通过竞争性的在线游戏机制来实现对蛋白质的结构预测，游戏规则很简单：只有三个原则，</a:t>
            </a:r>
            <a:br>
              <a:rPr lang="zh-CN" altLang="en-US" sz="1200" kern="1200" dirty="0">
                <a:solidFill>
                  <a:schemeClr val="tx1"/>
                </a:solidFill>
                <a:effectLst/>
                <a:latin typeface="Arial" charset="0"/>
                <a:ea typeface="+mn-ea"/>
                <a:cs typeface="+mn-cs"/>
              </a:rPr>
            </a:br>
            <a:endParaRPr lang="zh-CN" altLang="en-US" sz="1200" kern="1200" dirty="0">
              <a:solidFill>
                <a:schemeClr val="tx1"/>
              </a:solidFill>
              <a:effectLst/>
              <a:latin typeface="Arial" charset="0"/>
              <a:ea typeface="+mn-ea"/>
              <a:cs typeface="+mn-cs"/>
            </a:endParaRPr>
          </a:p>
          <a:p>
            <a:r>
              <a:rPr lang="zh-CN" altLang="en-US" sz="1200" b="1" kern="1200" dirty="0">
                <a:solidFill>
                  <a:schemeClr val="tx1"/>
                </a:solidFill>
                <a:effectLst/>
                <a:latin typeface="Arial" charset="0"/>
                <a:ea typeface="+mn-ea"/>
                <a:cs typeface="+mn-cs"/>
              </a:rPr>
              <a:t>①</a:t>
            </a:r>
            <a:r>
              <a:rPr lang="en-US" altLang="zh-CN" sz="1200" b="1" kern="1200" dirty="0">
                <a:solidFill>
                  <a:schemeClr val="tx1"/>
                </a:solidFill>
                <a:effectLst/>
                <a:latin typeface="Arial" charset="0"/>
                <a:ea typeface="+mn-ea"/>
                <a:cs typeface="+mn-cs"/>
              </a:rPr>
              <a:t>. Pack the protein</a:t>
            </a:r>
          </a:p>
          <a:p>
            <a:r>
              <a:rPr lang="zh-CN" altLang="en-US" sz="1200" kern="1200" dirty="0">
                <a:solidFill>
                  <a:schemeClr val="tx1"/>
                </a:solidFill>
                <a:effectLst/>
                <a:latin typeface="Arial" charset="0"/>
                <a:ea typeface="+mn-ea"/>
                <a:cs typeface="+mn-cs"/>
              </a:rPr>
              <a:t>让蛋白质尽可能组在一起，空隙越少越好，因为这样能量最低最稳定；</a:t>
            </a:r>
            <a:br>
              <a:rPr lang="zh-CN" altLang="en-US" sz="1200" kern="1200" dirty="0">
                <a:solidFill>
                  <a:schemeClr val="tx1"/>
                </a:solidFill>
                <a:effectLst/>
                <a:latin typeface="Arial" charset="0"/>
                <a:ea typeface="+mn-ea"/>
                <a:cs typeface="+mn-cs"/>
              </a:rPr>
            </a:br>
            <a:r>
              <a:rPr lang="zh-CN" altLang="en-US" sz="1200" b="1" kern="1200" dirty="0">
                <a:solidFill>
                  <a:schemeClr val="tx1"/>
                </a:solidFill>
                <a:effectLst/>
                <a:latin typeface="Arial" charset="0"/>
                <a:ea typeface="+mn-ea"/>
                <a:cs typeface="+mn-cs"/>
              </a:rPr>
              <a:t>②</a:t>
            </a:r>
            <a:r>
              <a:rPr lang="en-US" altLang="zh-CN" sz="1200" b="1" kern="1200" dirty="0">
                <a:solidFill>
                  <a:schemeClr val="tx1"/>
                </a:solidFill>
                <a:effectLst/>
                <a:latin typeface="Arial" charset="0"/>
                <a:ea typeface="+mn-ea"/>
                <a:cs typeface="+mn-cs"/>
              </a:rPr>
              <a:t>. Hide the </a:t>
            </a:r>
            <a:r>
              <a:rPr lang="en-US" altLang="zh-CN" sz="1200" b="1" kern="1200" dirty="0" err="1">
                <a:solidFill>
                  <a:schemeClr val="tx1"/>
                </a:solidFill>
                <a:effectLst/>
                <a:latin typeface="Arial" charset="0"/>
                <a:ea typeface="+mn-ea"/>
                <a:cs typeface="+mn-cs"/>
              </a:rPr>
              <a:t>hydrophobics</a:t>
            </a:r>
            <a:endParaRPr lang="en-US" altLang="zh-CN" sz="1200" b="1" kern="1200" dirty="0">
              <a:solidFill>
                <a:schemeClr val="tx1"/>
              </a:solidFill>
              <a:effectLst/>
              <a:latin typeface="Arial" charset="0"/>
              <a:ea typeface="+mn-ea"/>
              <a:cs typeface="+mn-cs"/>
            </a:endParaRPr>
          </a:p>
          <a:p>
            <a:r>
              <a:rPr lang="zh-CN" altLang="en-US" sz="1200" kern="1200" dirty="0">
                <a:solidFill>
                  <a:schemeClr val="tx1"/>
                </a:solidFill>
                <a:effectLst/>
                <a:latin typeface="Arial" charset="0"/>
                <a:ea typeface="+mn-ea"/>
                <a:cs typeface="+mn-cs"/>
              </a:rPr>
              <a:t>把憎水基团尽量塞到蛋白质里边，这样蛋白质才有好的水溶性；</a:t>
            </a:r>
            <a:br>
              <a:rPr lang="zh-CN" altLang="en-US" sz="1200" kern="1200" dirty="0">
                <a:solidFill>
                  <a:schemeClr val="tx1"/>
                </a:solidFill>
                <a:effectLst/>
                <a:latin typeface="Arial" charset="0"/>
                <a:ea typeface="+mn-ea"/>
                <a:cs typeface="+mn-cs"/>
              </a:rPr>
            </a:br>
            <a:r>
              <a:rPr lang="zh-CN" altLang="en-US" sz="1200" b="1" kern="1200" dirty="0">
                <a:solidFill>
                  <a:schemeClr val="tx1"/>
                </a:solidFill>
                <a:effectLst/>
                <a:latin typeface="Arial" charset="0"/>
                <a:ea typeface="+mn-ea"/>
                <a:cs typeface="+mn-cs"/>
              </a:rPr>
              <a:t>③</a:t>
            </a:r>
            <a:r>
              <a:rPr lang="en-US" altLang="zh-CN" sz="1200" b="1" kern="1200" dirty="0">
                <a:solidFill>
                  <a:schemeClr val="tx1"/>
                </a:solidFill>
                <a:effectLst/>
                <a:latin typeface="Arial" charset="0"/>
                <a:ea typeface="+mn-ea"/>
                <a:cs typeface="+mn-cs"/>
              </a:rPr>
              <a:t>. Clear the clashes</a:t>
            </a:r>
          </a:p>
          <a:p>
            <a:r>
              <a:rPr lang="zh-CN" altLang="en-US" sz="1200" kern="1200" dirty="0">
                <a:solidFill>
                  <a:schemeClr val="tx1"/>
                </a:solidFill>
                <a:effectLst/>
                <a:latin typeface="Arial" charset="0"/>
                <a:ea typeface="+mn-ea"/>
                <a:cs typeface="+mn-cs"/>
              </a:rPr>
              <a:t>蛋白质的支链不能靠得太近 从而减少其相互作用 是蛋白质更稳定；</a:t>
            </a:r>
            <a:br>
              <a:rPr lang="zh-CN" altLang="en-US" sz="1200" kern="1200" dirty="0">
                <a:solidFill>
                  <a:schemeClr val="tx1"/>
                </a:solidFill>
                <a:effectLst/>
                <a:latin typeface="Arial" charset="0"/>
                <a:ea typeface="+mn-ea"/>
                <a:cs typeface="+mn-cs"/>
              </a:rPr>
            </a:br>
            <a:r>
              <a:rPr lang="zh-CN" altLang="en-US" sz="1200" kern="1200" dirty="0">
                <a:solidFill>
                  <a:schemeClr val="tx1"/>
                </a:solidFill>
                <a:effectLst/>
                <a:latin typeface="Arial" charset="0"/>
                <a:ea typeface="+mn-ea"/>
                <a:cs typeface="+mn-cs"/>
              </a:rPr>
              <a:t>这个</a:t>
            </a:r>
            <a:r>
              <a:rPr lang="en-US" altLang="zh-CN" sz="1200" kern="1200" dirty="0">
                <a:solidFill>
                  <a:schemeClr val="tx1"/>
                </a:solidFill>
                <a:effectLst/>
                <a:latin typeface="Arial" charset="0"/>
                <a:ea typeface="+mn-ea"/>
                <a:cs typeface="+mn-cs"/>
              </a:rPr>
              <a:t>PUZ</a:t>
            </a:r>
            <a:r>
              <a:rPr lang="zh-CN" altLang="en-US" sz="1200" kern="1200" dirty="0">
                <a:solidFill>
                  <a:schemeClr val="tx1"/>
                </a:solidFill>
                <a:effectLst/>
                <a:latin typeface="Arial" charset="0"/>
                <a:ea typeface="+mn-ea"/>
                <a:cs typeface="+mn-cs"/>
              </a:rPr>
              <a:t>是属于开放性的问题，没有所谓的标准答案（当然，原则上说做到和自然界中真实存在的蛋白质，比如牛胰岛素的自然结构完全相同的话，就应</a:t>
            </a:r>
            <a:endParaRPr lang="en-US" altLang="zh-CN" sz="1200" b="0" i="0" kern="1200" dirty="0">
              <a:solidFill>
                <a:schemeClr val="tx1"/>
              </a:solidFill>
              <a:effectLst/>
              <a:latin typeface="+mn-lt"/>
              <a:ea typeface="+mn-ea"/>
              <a:cs typeface="+mn-cs"/>
            </a:endParaRPr>
          </a:p>
          <a:p>
            <a:pPr fontAlgn="base"/>
            <a:endParaRPr lang="en-US" altLang="zh-CN" sz="1200" b="0" i="0" kern="1200" dirty="0">
              <a:solidFill>
                <a:schemeClr val="tx1"/>
              </a:solidFill>
              <a:effectLst/>
              <a:latin typeface="+mn-lt"/>
              <a:ea typeface="+mn-ea"/>
              <a:cs typeface="+mn-cs"/>
            </a:endParaRPr>
          </a:p>
          <a:p>
            <a:pPr fontAlgn="base"/>
            <a:r>
              <a:rPr lang="zh-CN" altLang="en-US" sz="1200" b="0" i="0" kern="1200" dirty="0">
                <a:solidFill>
                  <a:schemeClr val="tx1"/>
                </a:solidFill>
                <a:effectLst/>
                <a:latin typeface="+mn-lt"/>
                <a:ea typeface="+mn-ea"/>
                <a:cs typeface="+mn-cs"/>
              </a:rPr>
              <a:t>华盛顿大学的 </a:t>
            </a:r>
            <a:r>
              <a:rPr lang="en-US" altLang="zh-CN" sz="1200" b="0" i="0" kern="1200" dirty="0">
                <a:solidFill>
                  <a:schemeClr val="tx1"/>
                </a:solidFill>
                <a:effectLst/>
                <a:latin typeface="+mn-lt"/>
                <a:ea typeface="+mn-ea"/>
                <a:cs typeface="+mn-cs"/>
              </a:rPr>
              <a:t>David Baker</a:t>
            </a:r>
            <a:r>
              <a:rPr lang="zh-CN" altLang="en-US" sz="1200" b="0" i="0" kern="1200" dirty="0">
                <a:solidFill>
                  <a:schemeClr val="tx1"/>
                </a:solidFill>
                <a:effectLst/>
                <a:latin typeface="+mn-lt"/>
                <a:ea typeface="+mn-ea"/>
                <a:cs typeface="+mn-cs"/>
              </a:rPr>
              <a:t>在 </a:t>
            </a:r>
            <a:r>
              <a:rPr lang="en-US" altLang="zh-CN" sz="1200" b="0" i="0" kern="1200" dirty="0">
                <a:solidFill>
                  <a:schemeClr val="tx1"/>
                </a:solidFill>
                <a:effectLst/>
                <a:latin typeface="+mn-lt"/>
                <a:ea typeface="+mn-ea"/>
                <a:cs typeface="+mn-cs"/>
              </a:rPr>
              <a:t>2008 </a:t>
            </a:r>
            <a:r>
              <a:rPr lang="zh-CN" altLang="en-US" sz="1200" b="0" i="0" kern="1200" dirty="0">
                <a:solidFill>
                  <a:schemeClr val="tx1"/>
                </a:solidFill>
                <a:effectLst/>
                <a:latin typeface="+mn-lt"/>
                <a:ea typeface="+mn-ea"/>
                <a:cs typeface="+mn-cs"/>
              </a:rPr>
              <a:t>年，天才科学家，蛋白结构领域大佬级人物，华盛顿大学的 </a:t>
            </a:r>
            <a:r>
              <a:rPr lang="en-US" altLang="zh-CN" sz="1200" b="0" i="0" kern="1200" dirty="0">
                <a:solidFill>
                  <a:schemeClr val="tx1"/>
                </a:solidFill>
                <a:effectLst/>
                <a:latin typeface="+mn-lt"/>
                <a:ea typeface="+mn-ea"/>
                <a:cs typeface="+mn-cs"/>
              </a:rPr>
              <a:t>David Baker ——</a:t>
            </a:r>
            <a:r>
              <a:rPr lang="zh-CN" altLang="en-US" sz="1200" b="0" i="0" kern="1200" dirty="0">
                <a:solidFill>
                  <a:schemeClr val="tx1"/>
                </a:solidFill>
                <a:effectLst/>
                <a:latin typeface="+mn-lt"/>
                <a:ea typeface="+mn-ea"/>
                <a:cs typeface="+mn-cs"/>
              </a:rPr>
              <a:t>不知那几个月他是否实验不顺</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大概受到了这个启发，转念一想，全世界有 </a:t>
            </a:r>
            <a:r>
              <a:rPr lang="en-US" altLang="zh-CN" sz="1200" b="0" i="0" kern="1200" dirty="0">
                <a:solidFill>
                  <a:schemeClr val="tx1"/>
                </a:solidFill>
                <a:effectLst/>
                <a:latin typeface="+mn-lt"/>
                <a:ea typeface="+mn-ea"/>
                <a:cs typeface="+mn-cs"/>
              </a:rPr>
              <a:t>60 </a:t>
            </a:r>
            <a:r>
              <a:rPr lang="zh-CN" altLang="en-US" sz="1200" b="0" i="0" kern="1200" dirty="0">
                <a:solidFill>
                  <a:schemeClr val="tx1"/>
                </a:solidFill>
                <a:effectLst/>
                <a:latin typeface="+mn-lt"/>
                <a:ea typeface="+mn-ea"/>
                <a:cs typeface="+mn-cs"/>
              </a:rPr>
              <a:t>亿智商远高于猴子的人类，如果人人都能这么瞎试试的话，是不是也能搞出什么黑暗科技？</a:t>
            </a:r>
          </a:p>
          <a:p>
            <a:pPr fontAlgn="base"/>
            <a:r>
              <a:rPr lang="zh-CN" altLang="en-US" sz="1200" b="0" i="0" kern="1200" dirty="0">
                <a:solidFill>
                  <a:schemeClr val="tx1"/>
                </a:solidFill>
                <a:effectLst/>
                <a:latin typeface="+mn-lt"/>
                <a:ea typeface="+mn-ea"/>
                <a:cs typeface="+mn-cs"/>
              </a:rPr>
              <a:t>于是，他找到了计算机系的哥们，设计出一款游戏：</a:t>
            </a:r>
            <a:r>
              <a:rPr lang="en-US" altLang="zh-CN" sz="1200" b="0" i="0" kern="1200" dirty="0" err="1">
                <a:solidFill>
                  <a:schemeClr val="tx1"/>
                </a:solidFill>
                <a:effectLst/>
                <a:latin typeface="+mn-lt"/>
                <a:ea typeface="+mn-ea"/>
                <a:cs typeface="+mn-cs"/>
              </a:rPr>
              <a:t>Foldit</a:t>
            </a:r>
            <a:r>
              <a:rPr lang="zh-CN" altLang="en-US" sz="1200" b="0" i="0" kern="1200" dirty="0">
                <a:solidFill>
                  <a:schemeClr val="tx1"/>
                </a:solidFill>
                <a:effectLst/>
                <a:latin typeface="+mn-lt"/>
                <a:ea typeface="+mn-ea"/>
                <a:cs typeface="+mn-cs"/>
              </a:rPr>
              <a:t>。类艾滋病毒相关蛋白 </a:t>
            </a:r>
            <a:r>
              <a:rPr lang="en-US" altLang="zh-CN" sz="1200" b="0" i="0" kern="1200" dirty="0">
                <a:solidFill>
                  <a:schemeClr val="tx1"/>
                </a:solidFill>
                <a:effectLst/>
                <a:latin typeface="+mn-lt"/>
                <a:ea typeface="+mn-ea"/>
                <a:cs typeface="+mn-cs"/>
              </a:rPr>
              <a:t>M-PMV </a:t>
            </a:r>
            <a:r>
              <a:rPr lang="zh-CN" altLang="en-US" sz="1200" b="0" i="0" kern="1200" dirty="0">
                <a:solidFill>
                  <a:schemeClr val="tx1"/>
                </a:solidFill>
                <a:effectLst/>
                <a:latin typeface="+mn-lt"/>
                <a:ea typeface="+mn-ea"/>
                <a:cs typeface="+mn-cs"/>
              </a:rPr>
              <a:t>结构的解析。</a:t>
            </a:r>
          </a:p>
          <a:p>
            <a:pPr fontAlgn="base"/>
            <a:r>
              <a:rPr lang="zh-CN" altLang="en-US" sz="1200" b="0" i="0" kern="1200" dirty="0">
                <a:solidFill>
                  <a:schemeClr val="tx1"/>
                </a:solidFill>
                <a:effectLst/>
                <a:latin typeface="+mn-lt"/>
                <a:ea typeface="+mn-ea"/>
                <a:cs typeface="+mn-cs"/>
              </a:rPr>
              <a:t>据说这个蛋白的结构已经困扰了研究者 </a:t>
            </a:r>
            <a:r>
              <a:rPr lang="en-US" altLang="zh-CN" sz="1200" b="0" i="0" kern="1200" dirty="0">
                <a:solidFill>
                  <a:schemeClr val="tx1"/>
                </a:solidFill>
                <a:effectLst/>
                <a:latin typeface="+mn-lt"/>
                <a:ea typeface="+mn-ea"/>
                <a:cs typeface="+mn-cs"/>
              </a:rPr>
              <a:t>15 </a:t>
            </a:r>
            <a:r>
              <a:rPr lang="zh-CN" altLang="en-US" sz="1200" b="0" i="0" kern="1200" dirty="0">
                <a:solidFill>
                  <a:schemeClr val="tx1"/>
                </a:solidFill>
                <a:effectLst/>
                <a:latin typeface="+mn-lt"/>
                <a:ea typeface="+mn-ea"/>
                <a:cs typeface="+mn-cs"/>
              </a:rPr>
              <a:t>年之久，然后作为任务发布到 </a:t>
            </a:r>
            <a:r>
              <a:rPr lang="en-US" altLang="zh-CN" sz="1200" b="0" i="0" kern="1200" dirty="0" err="1">
                <a:solidFill>
                  <a:schemeClr val="tx1"/>
                </a:solidFill>
                <a:effectLst/>
                <a:latin typeface="+mn-lt"/>
                <a:ea typeface="+mn-ea"/>
                <a:cs typeface="+mn-cs"/>
              </a:rPr>
              <a:t>Foldit</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上仅仅 </a:t>
            </a:r>
            <a:r>
              <a:rPr lang="en-US" altLang="zh-CN" sz="1200" b="0" i="0" kern="1200" dirty="0">
                <a:solidFill>
                  <a:schemeClr val="tx1"/>
                </a:solidFill>
                <a:effectLst/>
                <a:latin typeface="+mn-lt"/>
                <a:ea typeface="+mn-ea"/>
                <a:cs typeface="+mn-cs"/>
              </a:rPr>
              <a:t>10 </a:t>
            </a:r>
            <a:r>
              <a:rPr lang="zh-CN" altLang="en-US" sz="1200" b="0" i="0" kern="1200" dirty="0">
                <a:solidFill>
                  <a:schemeClr val="tx1"/>
                </a:solidFill>
                <a:effectLst/>
                <a:latin typeface="+mn-lt"/>
                <a:ea typeface="+mn-ea"/>
                <a:cs typeface="+mn-cs"/>
              </a:rPr>
              <a:t>天后就被草根大神们破解</a:t>
            </a:r>
            <a:r>
              <a:rPr lang="en-US" altLang="zh-CN" sz="1200" b="0" i="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fld id="{E87CD1ED-899C-4304-BC09-E6582482381C}" type="slidenum">
              <a:rPr lang="zh-CN" altLang="en-US" smtClean="0"/>
              <a:t>48</a:t>
            </a:fld>
            <a:endParaRPr lang="zh-CN" altLang="en-US"/>
          </a:p>
        </p:txBody>
      </p:sp>
    </p:spTree>
    <p:extLst>
      <p:ext uri="{BB962C8B-B14F-4D97-AF65-F5344CB8AC3E}">
        <p14:creationId xmlns:p14="http://schemas.microsoft.com/office/powerpoint/2010/main" val="1264139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你也可以有</a:t>
            </a:r>
            <a:r>
              <a:rPr lang="en-US" altLang="zh-CN" dirty="0"/>
              <a:t>500</a:t>
            </a:r>
            <a:r>
              <a:rPr lang="zh-CN" altLang="en-US" dirty="0"/>
              <a:t>万</a:t>
            </a:r>
          </a:p>
        </p:txBody>
      </p:sp>
      <p:sp>
        <p:nvSpPr>
          <p:cNvPr id="4" name="灯片编号占位符 3"/>
          <p:cNvSpPr>
            <a:spLocks noGrp="1"/>
          </p:cNvSpPr>
          <p:nvPr>
            <p:ph type="sldNum" sz="quarter" idx="10"/>
          </p:nvPr>
        </p:nvSpPr>
        <p:spPr/>
        <p:txBody>
          <a:bodyPr/>
          <a:lstStyle/>
          <a:p>
            <a:pPr>
              <a:defRPr/>
            </a:pPr>
            <a:fld id="{5ED3B4BA-DCD8-4F6D-A0E0-FDE7D729BE48}" type="slidenum">
              <a:rPr lang="en-US" altLang="zh-CN" smtClean="0"/>
              <a:pPr>
                <a:defRPr/>
              </a:pPr>
              <a:t>49</a:t>
            </a:fld>
            <a:endParaRPr lang="en-US" altLang="zh-CN"/>
          </a:p>
        </p:txBody>
      </p:sp>
    </p:spTree>
    <p:extLst>
      <p:ext uri="{BB962C8B-B14F-4D97-AF65-F5344CB8AC3E}">
        <p14:creationId xmlns:p14="http://schemas.microsoft.com/office/powerpoint/2010/main" val="4064182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yu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277646" y="1085555"/>
            <a:ext cx="8627897" cy="5403216"/>
          </a:xfrm>
          <a:prstGeom prst="rect">
            <a:avLst/>
          </a:prstGeom>
        </p:spPr>
        <p:txBody>
          <a:bodyPr/>
          <a:lstStyle>
            <a:lvl1pPr>
              <a:lnSpc>
                <a:spcPct val="150000"/>
              </a:lnSpc>
              <a:spcBef>
                <a:spcPts val="0"/>
              </a:spcBef>
              <a:defRPr sz="2200" b="0">
                <a:latin typeface="微软雅黑" panose="020B0503020204020204" pitchFamily="34" charset="-122"/>
                <a:ea typeface="微软雅黑" panose="020B0503020204020204" pitchFamily="34" charset="-122"/>
              </a:defRPr>
            </a:lvl1pPr>
            <a:lvl2pPr>
              <a:lnSpc>
                <a:spcPct val="150000"/>
              </a:lnSpc>
              <a:spcBef>
                <a:spcPts val="0"/>
              </a:spcBef>
              <a:defRPr b="0">
                <a:latin typeface="微软雅黑" panose="020B0503020204020204" pitchFamily="34" charset="-122"/>
                <a:ea typeface="微软雅黑" panose="020B0503020204020204" pitchFamily="34" charset="-122"/>
              </a:defRPr>
            </a:lvl2pPr>
            <a:lvl3pPr>
              <a:lnSpc>
                <a:spcPct val="150000"/>
              </a:lnSpc>
              <a:spcBef>
                <a:spcPts val="0"/>
              </a:spcBef>
              <a:defRPr b="0">
                <a:latin typeface="微软雅黑" panose="020B0503020204020204" pitchFamily="34" charset="-122"/>
                <a:ea typeface="微软雅黑" panose="020B0503020204020204" pitchFamily="34" charset="-122"/>
              </a:defRPr>
            </a:lvl3pPr>
            <a:lvl4pPr>
              <a:lnSpc>
                <a:spcPct val="150000"/>
              </a:lnSpc>
              <a:spcBef>
                <a:spcPts val="0"/>
              </a:spcBef>
              <a:defRPr b="0">
                <a:latin typeface="微软雅黑" panose="020B0503020204020204" pitchFamily="34" charset="-122"/>
                <a:ea typeface="微软雅黑" panose="020B0503020204020204" pitchFamily="34" charset="-122"/>
              </a:defRPr>
            </a:lvl4pPr>
            <a:lvl5pPr>
              <a:lnSpc>
                <a:spcPct val="150000"/>
              </a:lnSpc>
              <a:spcBef>
                <a:spcPts val="0"/>
              </a:spcBef>
              <a:defRPr b="0">
                <a:latin typeface="微软雅黑" panose="020B0503020204020204" pitchFamily="34" charset="-122"/>
                <a:ea typeface="微软雅黑" panose="020B0503020204020204" pitchFamily="34"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2" name="标题 1"/>
          <p:cNvSpPr>
            <a:spLocks noGrp="1"/>
          </p:cNvSpPr>
          <p:nvPr>
            <p:ph type="title"/>
          </p:nvPr>
        </p:nvSpPr>
        <p:spPr>
          <a:xfrm>
            <a:off x="0" y="77443"/>
            <a:ext cx="9144000" cy="936104"/>
          </a:xfrm>
          <a:prstGeom prst="rect">
            <a:avLst/>
          </a:prstGeom>
        </p:spPr>
        <p:txBody>
          <a:bodyPr/>
          <a:lstStyle>
            <a:lvl1pPr>
              <a:lnSpc>
                <a:spcPct val="150000"/>
              </a:lnSpc>
              <a:defRPr sz="3200" b="0">
                <a:effectLst/>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576459721"/>
      </p:ext>
    </p:extLst>
  </p:cSld>
  <p:clrMapOvr>
    <a:masterClrMapping/>
  </p:clrMapOvr>
  <p:transition spd="slow">
    <p:circl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yu_仅标题">
    <p:spTree>
      <p:nvGrpSpPr>
        <p:cNvPr id="1" name=""/>
        <p:cNvGrpSpPr/>
        <p:nvPr/>
      </p:nvGrpSpPr>
      <p:grpSpPr>
        <a:xfrm>
          <a:off x="0" y="0"/>
          <a:ext cx="0" cy="0"/>
          <a:chOff x="0" y="0"/>
          <a:chExt cx="0" cy="0"/>
        </a:xfrm>
      </p:grpSpPr>
      <p:sp>
        <p:nvSpPr>
          <p:cNvPr id="3" name="标题 1"/>
          <p:cNvSpPr>
            <a:spLocks noGrp="1"/>
          </p:cNvSpPr>
          <p:nvPr>
            <p:ph type="title"/>
          </p:nvPr>
        </p:nvSpPr>
        <p:spPr>
          <a:xfrm>
            <a:off x="0" y="77443"/>
            <a:ext cx="9144000" cy="936104"/>
          </a:xfrm>
          <a:prstGeom prst="rect">
            <a:avLst/>
          </a:prstGeom>
        </p:spPr>
        <p:txBody>
          <a:bodyPr/>
          <a:lstStyle>
            <a:lvl1pPr>
              <a:lnSpc>
                <a:spcPct val="150000"/>
              </a:lnSpc>
              <a:defRPr sz="3200" b="0">
                <a:effectLst/>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576911087"/>
      </p:ext>
    </p:extLst>
  </p:cSld>
  <p:clrMapOvr>
    <a:masterClrMapping/>
  </p:clrMapOvr>
  <p:transition spd="slow">
    <p:circl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yu_全无">
    <p:spTree>
      <p:nvGrpSpPr>
        <p:cNvPr id="1" name=""/>
        <p:cNvGrpSpPr/>
        <p:nvPr/>
      </p:nvGrpSpPr>
      <p:grpSpPr>
        <a:xfrm>
          <a:off x="0" y="0"/>
          <a:ext cx="0" cy="0"/>
          <a:chOff x="0" y="0"/>
          <a:chExt cx="0" cy="0"/>
        </a:xfrm>
      </p:grpSpPr>
      <p:sp>
        <p:nvSpPr>
          <p:cNvPr id="3" name="矩形 3"/>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4" name="矩形 4"/>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5" name="矩形 5"/>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6" name="矩形 6"/>
          <p:cNvSpPr>
            <a:spLocks noChangeArrowheads="1"/>
          </p:cNvSpPr>
          <p:nvPr userDrawn="1"/>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7" name="矩形 14"/>
          <p:cNvSpPr txBox="1">
            <a:spLocks noChangeArrowheads="1"/>
          </p:cNvSpPr>
          <p:nvPr userDrawn="1"/>
        </p:nvSpPr>
        <p:spPr bwMode="auto">
          <a:xfrm>
            <a:off x="7010400" y="6434062"/>
            <a:ext cx="2133600" cy="4064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2400" b="1" kern="1200">
                <a:solidFill>
                  <a:srgbClr val="FC3A4C"/>
                </a:solidFill>
                <a:latin typeface="Book Antiqua" panose="02040602050305030304" pitchFamily="18" charset="0"/>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9pPr>
          </a:lstStyle>
          <a:p>
            <a:pPr>
              <a:defRPr/>
            </a:pPr>
            <a:fld id="{AA8CF565-2697-4D8A-9440-517CC2056E4B}" type="slidenum">
              <a:rPr lang="en-US" altLang="zh-CN" smtClean="0"/>
              <a:pPr>
                <a:defRPr/>
              </a:pPr>
              <a:t>‹#›</a:t>
            </a:fld>
            <a:endParaRPr lang="en-US" altLang="zh-CN" dirty="0"/>
          </a:p>
        </p:txBody>
      </p:sp>
    </p:spTree>
    <p:extLst>
      <p:ext uri="{BB962C8B-B14F-4D97-AF65-F5344CB8AC3E}">
        <p14:creationId xmlns:p14="http://schemas.microsoft.com/office/powerpoint/2010/main" val="3724900786"/>
      </p:ext>
    </p:extLst>
  </p:cSld>
  <p:clrMapOvr>
    <a:masterClrMapping/>
  </p:clrMapOvr>
  <p:transition spd="slow">
    <p:circl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yu_封面">
    <p:spTree>
      <p:nvGrpSpPr>
        <p:cNvPr id="1" name=""/>
        <p:cNvGrpSpPr/>
        <p:nvPr/>
      </p:nvGrpSpPr>
      <p:grpSpPr>
        <a:xfrm>
          <a:off x="0" y="0"/>
          <a:ext cx="0" cy="0"/>
          <a:chOff x="0" y="0"/>
          <a:chExt cx="0" cy="0"/>
        </a:xfrm>
      </p:grpSpPr>
      <p:sp>
        <p:nvSpPr>
          <p:cNvPr id="3" name="矩形 3"/>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4" name="矩形 4"/>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5" name="矩形 5"/>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6" name="矩形 6"/>
          <p:cNvSpPr>
            <a:spLocks noChangeArrowheads="1"/>
          </p:cNvSpPr>
          <p:nvPr userDrawn="1"/>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8" name="标题 1"/>
          <p:cNvSpPr>
            <a:spLocks noGrp="1"/>
          </p:cNvSpPr>
          <p:nvPr>
            <p:ph type="title"/>
          </p:nvPr>
        </p:nvSpPr>
        <p:spPr>
          <a:xfrm>
            <a:off x="695325" y="1196752"/>
            <a:ext cx="78867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266589061"/>
      </p:ext>
    </p:extLst>
  </p:cSld>
  <p:clrMapOvr>
    <a:masterClrMapping/>
  </p:clrMapOvr>
  <p:transition spd="slow">
    <p:circl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Oval 12"/>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5" name="Oval 13"/>
          <p:cNvSpPr/>
          <p:nvPr/>
        </p:nvSpPr>
        <p:spPr>
          <a:xfrm>
            <a:off x="1157288" y="1344613"/>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altLang="zh-CN"/>
              <a:t>Click to edit Master title style</a:t>
            </a:r>
            <a:endParaRPr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ltLang="zh-CN"/>
              <a:t>Click to edit Master subtitle style</a:t>
            </a:r>
            <a:endParaRPr lang="en-US"/>
          </a:p>
        </p:txBody>
      </p:sp>
      <p:sp>
        <p:nvSpPr>
          <p:cNvPr id="6" name="Date Placeholder 6"/>
          <p:cNvSpPr>
            <a:spLocks noGrp="1"/>
          </p:cNvSpPr>
          <p:nvPr>
            <p:ph type="dt" sz="half" idx="10"/>
          </p:nvPr>
        </p:nvSpPr>
        <p:spPr/>
        <p:txBody>
          <a:bodyPr/>
          <a:lstStyle>
            <a:lvl1pPr>
              <a:defRPr smtClean="0"/>
            </a:lvl1pPr>
            <a:extLst/>
          </a:lstStyle>
          <a:p>
            <a:pPr>
              <a:defRPr/>
            </a:pPr>
            <a:fld id="{4A91ECAF-75ED-451A-A2D0-6F2FA69F8ECD}" type="datetime5">
              <a:rPr lang="en-SG" altLang="zh-CN"/>
              <a:pPr>
                <a:defRPr/>
              </a:pPr>
              <a:t>8-Mar-25</a:t>
            </a:fld>
            <a:endParaRPr lang="zh-CN" altLang="en-US"/>
          </a:p>
        </p:txBody>
      </p:sp>
      <p:sp>
        <p:nvSpPr>
          <p:cNvPr id="7" name="Footer Placeholder 19"/>
          <p:cNvSpPr>
            <a:spLocks noGrp="1"/>
          </p:cNvSpPr>
          <p:nvPr>
            <p:ph type="ftr" sz="quarter" idx="11"/>
          </p:nvPr>
        </p:nvSpPr>
        <p:spPr/>
        <p:txBody>
          <a:bodyPr/>
          <a:lstStyle>
            <a:lvl1pPr>
              <a:defRPr/>
            </a:lvl1pPr>
          </a:lstStyle>
          <a:p>
            <a:endParaRPr lang="zh-CN" altLang="en-US" dirty="0"/>
          </a:p>
        </p:txBody>
      </p:sp>
      <p:sp>
        <p:nvSpPr>
          <p:cNvPr id="8" name="Slide Number Placeholder 9"/>
          <p:cNvSpPr>
            <a:spLocks noGrp="1"/>
          </p:cNvSpPr>
          <p:nvPr>
            <p:ph type="sldNum" sz="quarter" idx="12"/>
          </p:nvPr>
        </p:nvSpPr>
        <p:spPr/>
        <p:txBody>
          <a:bodyPr/>
          <a:lstStyle>
            <a:lvl1pPr>
              <a:defRPr/>
            </a:lvl1pPr>
          </a:lstStyle>
          <a:p>
            <a:pPr>
              <a:defRPr/>
            </a:pPr>
            <a:fld id="{C17EC278-4A8C-4FE4-ACC6-B0301DD04554}" type="slidenum">
              <a:rPr lang="zh-CN" altLang="en-US"/>
              <a:pPr>
                <a:defRPr/>
              </a:pPr>
              <a:t>‹#›</a:t>
            </a:fld>
            <a:endParaRPr lang="en-US" altLang="zh-CN"/>
          </a:p>
        </p:txBody>
      </p:sp>
    </p:spTree>
    <p:extLst>
      <p:ext uri="{BB962C8B-B14F-4D97-AF65-F5344CB8AC3E}">
        <p14:creationId xmlns:p14="http://schemas.microsoft.com/office/powerpoint/2010/main" val="2812117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cSld name="Section Header">
    <p:spTree>
      <p:nvGrpSpPr>
        <p:cNvPr id="1" name=""/>
        <p:cNvGrpSpPr/>
        <p:nvPr/>
      </p:nvGrpSpPr>
      <p:grpSpPr>
        <a:xfrm>
          <a:off x="0" y="0"/>
          <a:ext cx="0" cy="0"/>
          <a:chOff x="0" y="0"/>
          <a:chExt cx="0" cy="0"/>
        </a:xfrm>
      </p:grpSpPr>
      <p:sp>
        <p:nvSpPr>
          <p:cNvPr id="4" name="Rectangle 12"/>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13"/>
          <p:cNvSpPr>
            <a:spLocks noChangeArrowheads="1"/>
          </p:cNvSpPr>
          <p:nvPr/>
        </p:nvSpPr>
        <p:spPr bwMode="invGray">
          <a:xfrm>
            <a:off x="2286000" y="0"/>
            <a:ext cx="76200" cy="6858000"/>
          </a:xfrm>
          <a:prstGeom prst="rect">
            <a:avLst/>
          </a:prstGeom>
          <a:solidFill>
            <a:schemeClr val="bg1"/>
          </a:solidFill>
          <a:ln>
            <a:noFill/>
          </a:ln>
          <a:effectLst>
            <a:outerShdw blurRad="63500" dist="38000" dir="10800000" algn="tl" rotWithShape="0">
              <a:srgbClr val="73726C">
                <a:alpha val="25000"/>
              </a:srgbClr>
            </a:outerShdw>
          </a:effectLst>
          <a:extLst>
            <a:ext uri="{91240B29-F687-4F45-9708-019B960494DF}">
              <a14:hiddenLine xmlns:a14="http://schemas.microsoft.com/office/drawing/2010/main" w="25400" cap="rnd">
                <a:solidFill>
                  <a:srgbClr val="000000"/>
                </a:solidFill>
                <a:miter lim="800000"/>
                <a:headEnd/>
                <a:tailEnd/>
              </a14:hiddenLine>
            </a:ext>
          </a:ex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6" name="Oval 15"/>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7" name="Oval 16"/>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ltLang="zh-CN"/>
              <a:t>Click to edit Master title style</a:t>
            </a:r>
            <a:endParaRPr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ltLang="zh-CN"/>
              <a:t>Click to edit Master text styles</a:t>
            </a:r>
          </a:p>
        </p:txBody>
      </p:sp>
      <p:sp>
        <p:nvSpPr>
          <p:cNvPr id="8" name="Date Placeholder 3"/>
          <p:cNvSpPr>
            <a:spLocks noGrp="1"/>
          </p:cNvSpPr>
          <p:nvPr>
            <p:ph type="dt" sz="half" idx="10"/>
          </p:nvPr>
        </p:nvSpPr>
        <p:spPr/>
        <p:txBody>
          <a:bodyPr/>
          <a:lstStyle>
            <a:lvl1pPr>
              <a:defRPr smtClean="0"/>
            </a:lvl1pPr>
            <a:extLst/>
          </a:lstStyle>
          <a:p>
            <a:pPr>
              <a:defRPr/>
            </a:pPr>
            <a:fld id="{4CA9D4D4-87A2-414D-B4A4-C979D15C2CB7}" type="datetime5">
              <a:rPr lang="en-SG" altLang="zh-CN"/>
              <a:pPr>
                <a:defRPr/>
              </a:pPr>
              <a:t>8-Mar-25</a:t>
            </a:fld>
            <a:endParaRPr lang="zh-CN" altLang="en-US"/>
          </a:p>
        </p:txBody>
      </p:sp>
      <p:sp>
        <p:nvSpPr>
          <p:cNvPr id="9" name="Footer Placeholder 4"/>
          <p:cNvSpPr>
            <a:spLocks noGrp="1"/>
          </p:cNvSpPr>
          <p:nvPr>
            <p:ph type="ftr" sz="quarter" idx="11"/>
          </p:nvPr>
        </p:nvSpPr>
        <p:spPr/>
        <p:txBody>
          <a:bodyPr/>
          <a:lstStyle>
            <a:lvl1pPr>
              <a:defRPr/>
            </a:lvl1pPr>
          </a:lstStyle>
          <a:p>
            <a:endParaRPr lang="zh-CN" altLang="en-US"/>
          </a:p>
        </p:txBody>
      </p:sp>
      <p:sp>
        <p:nvSpPr>
          <p:cNvPr id="10" name="Slide Number Placeholder 5"/>
          <p:cNvSpPr>
            <a:spLocks noGrp="1"/>
          </p:cNvSpPr>
          <p:nvPr>
            <p:ph type="sldNum" sz="quarter" idx="12"/>
          </p:nvPr>
        </p:nvSpPr>
        <p:spPr/>
        <p:txBody>
          <a:bodyPr/>
          <a:lstStyle>
            <a:lvl1pPr>
              <a:defRPr/>
            </a:lvl1pPr>
          </a:lstStyle>
          <a:p>
            <a:pPr>
              <a:defRPr/>
            </a:pPr>
            <a:fld id="{5E9F3ABD-6E2B-4910-8D2A-A1D8FE9AAEBE}" type="slidenum">
              <a:rPr lang="zh-CN" altLang="en-US"/>
              <a:pPr>
                <a:defRPr/>
              </a:pPr>
              <a:t>‹#›</a:t>
            </a:fld>
            <a:endParaRPr lang="en-US" altLang="zh-CN"/>
          </a:p>
        </p:txBody>
      </p:sp>
    </p:spTree>
    <p:extLst>
      <p:ext uri="{BB962C8B-B14F-4D97-AF65-F5344CB8AC3E}">
        <p14:creationId xmlns:p14="http://schemas.microsoft.com/office/powerpoint/2010/main" val="3349121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ltLang="zh-CN"/>
              <a:t>Click to edit Master title style</a:t>
            </a:r>
            <a:endParaRPr lang="en-US"/>
          </a:p>
        </p:txBody>
      </p:sp>
      <p:sp>
        <p:nvSpPr>
          <p:cNvPr id="3" name="Date Placeholder 23"/>
          <p:cNvSpPr>
            <a:spLocks noGrp="1"/>
          </p:cNvSpPr>
          <p:nvPr>
            <p:ph type="dt" sz="half" idx="10"/>
          </p:nvPr>
        </p:nvSpPr>
        <p:spPr/>
        <p:txBody>
          <a:bodyPr/>
          <a:lstStyle>
            <a:lvl1pPr>
              <a:defRPr/>
            </a:lvl1pPr>
          </a:lstStyle>
          <a:p>
            <a:pPr>
              <a:defRPr/>
            </a:pPr>
            <a:fld id="{C61DFA27-36C8-491C-9B36-C5C990923415}" type="datetime5">
              <a:rPr lang="en-SG" altLang="zh-CN"/>
              <a:pPr>
                <a:defRPr/>
              </a:pPr>
              <a:t>8-Mar-25</a:t>
            </a:fld>
            <a:endParaRPr lang="zh-CN" altLang="en-US"/>
          </a:p>
        </p:txBody>
      </p:sp>
      <p:sp>
        <p:nvSpPr>
          <p:cNvPr id="4" name="Footer Placeholder 9"/>
          <p:cNvSpPr>
            <a:spLocks noGrp="1"/>
          </p:cNvSpPr>
          <p:nvPr>
            <p:ph type="ftr" sz="quarter" idx="11"/>
          </p:nvPr>
        </p:nvSpPr>
        <p:spPr/>
        <p:txBody>
          <a:bodyPr/>
          <a:lstStyle>
            <a:lvl1pPr>
              <a:defRPr/>
            </a:lvl1pPr>
          </a:lstStyle>
          <a:p>
            <a:endParaRPr lang="zh-CN" altLang="en-US"/>
          </a:p>
        </p:txBody>
      </p:sp>
      <p:sp>
        <p:nvSpPr>
          <p:cNvPr id="5" name="Slide Number Placeholder 21"/>
          <p:cNvSpPr>
            <a:spLocks noGrp="1"/>
          </p:cNvSpPr>
          <p:nvPr>
            <p:ph type="sldNum" sz="quarter" idx="12"/>
          </p:nvPr>
        </p:nvSpPr>
        <p:spPr/>
        <p:txBody>
          <a:bodyPr/>
          <a:lstStyle>
            <a:lvl1pPr>
              <a:defRPr/>
            </a:lvl1pPr>
          </a:lstStyle>
          <a:p>
            <a:pPr>
              <a:defRPr/>
            </a:pPr>
            <a:fld id="{67025E6F-B602-4595-AC0F-78245795B938}" type="slidenum">
              <a:rPr lang="zh-CN" altLang="en-US"/>
              <a:pPr>
                <a:defRPr/>
              </a:pPr>
              <a:t>‹#›</a:t>
            </a:fld>
            <a:endParaRPr lang="en-US" altLang="zh-CN"/>
          </a:p>
        </p:txBody>
      </p:sp>
    </p:spTree>
    <p:extLst>
      <p:ext uri="{BB962C8B-B14F-4D97-AF65-F5344CB8AC3E}">
        <p14:creationId xmlns:p14="http://schemas.microsoft.com/office/powerpoint/2010/main" val="1715131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0" name="矩形 6"/>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1031" name="矩形 7"/>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1032" name="矩形 8"/>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1033" name="矩形 9"/>
          <p:cNvSpPr>
            <a:spLocks noChangeArrowheads="1"/>
          </p:cNvSpPr>
          <p:nvPr/>
        </p:nvSpPr>
        <p:spPr bwMode="auto">
          <a:xfrm>
            <a:off x="4010025" y="3252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r" eaLnBrk="1" hangingPunct="1">
              <a:defRPr/>
            </a:pPr>
            <a:endParaRPr lang="zh-CN" altLang="en-US"/>
          </a:p>
        </p:txBody>
      </p:sp>
      <p:sp>
        <p:nvSpPr>
          <p:cNvPr id="1034" name="矩形 10"/>
          <p:cNvSpPr>
            <a:spLocks noChangeArrowheads="1"/>
          </p:cNvSpPr>
          <p:nvPr/>
        </p:nvSpPr>
        <p:spPr bwMode="gray">
          <a:xfrm>
            <a:off x="304800" y="980728"/>
            <a:ext cx="8410575" cy="46037"/>
          </a:xfrm>
          <a:prstGeom prst="rect">
            <a:avLst/>
          </a:prstGeom>
          <a:gradFill rotWithShape="1">
            <a:gsLst>
              <a:gs pos="0">
                <a:srgbClr val="800000">
                  <a:alpha val="50000"/>
                </a:srgbClr>
              </a:gs>
              <a:gs pos="100000">
                <a:srgbClr val="FAE2F6">
                  <a:alpha val="50000"/>
                </a:srgbClr>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000" b="1">
                <a:solidFill>
                  <a:schemeClr val="tx1"/>
                </a:solidFill>
                <a:latin typeface="Arial" panose="020B0604020202020204" pitchFamily="34" charset="0"/>
                <a:ea typeface="楷体_GB2312" pitchFamily="49" charset="-122"/>
              </a:defRPr>
            </a:lvl1pPr>
            <a:lvl2pPr marL="742950" indent="-285750" eaLnBrk="0" hangingPunct="0">
              <a:defRPr sz="2000" b="1">
                <a:solidFill>
                  <a:schemeClr val="tx1"/>
                </a:solidFill>
                <a:latin typeface="Arial" panose="020B0604020202020204" pitchFamily="34" charset="0"/>
                <a:ea typeface="楷体_GB2312" pitchFamily="49" charset="-122"/>
              </a:defRPr>
            </a:lvl2pPr>
            <a:lvl3pPr marL="1143000" indent="-228600" eaLnBrk="0" hangingPunct="0">
              <a:defRPr sz="2000" b="1">
                <a:solidFill>
                  <a:schemeClr val="tx1"/>
                </a:solidFill>
                <a:latin typeface="Arial" panose="020B0604020202020204" pitchFamily="34" charset="0"/>
                <a:ea typeface="楷体_GB2312" pitchFamily="49" charset="-122"/>
              </a:defRPr>
            </a:lvl3pPr>
            <a:lvl4pPr marL="1600200" indent="-228600" eaLnBrk="0" hangingPunct="0">
              <a:defRPr sz="2000" b="1">
                <a:solidFill>
                  <a:schemeClr val="tx1"/>
                </a:solidFill>
                <a:latin typeface="Arial" panose="020B0604020202020204" pitchFamily="34" charset="0"/>
                <a:ea typeface="楷体_GB2312" pitchFamily="49" charset="-122"/>
              </a:defRPr>
            </a:lvl4pPr>
            <a:lvl5pPr marL="2057400" indent="-228600" eaLnBrk="0" hangingPunct="0">
              <a:defRPr sz="2000" b="1">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楷体_GB2312" pitchFamily="49" charset="-122"/>
              </a:defRPr>
            </a:lvl9pPr>
          </a:lstStyle>
          <a:p>
            <a:pPr algn="ctr" eaLnBrk="1" hangingPunct="1">
              <a:defRPr/>
            </a:pPr>
            <a:endParaRPr kumimoji="1" lang="zh-CN" altLang="en-US" sz="2400">
              <a:latin typeface="Book Antiqua" panose="02040602050305030304" pitchFamily="18" charset="0"/>
              <a:ea typeface="宋体" panose="02010600030101010101" pitchFamily="2" charset="-122"/>
            </a:endParaRPr>
          </a:p>
        </p:txBody>
      </p:sp>
      <p:pic>
        <p:nvPicPr>
          <p:cNvPr id="1035" name="图片 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52950" y="3414713"/>
            <a:ext cx="38100" cy="2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14"/>
          <p:cNvSpPr txBox="1">
            <a:spLocks noChangeArrowheads="1"/>
          </p:cNvSpPr>
          <p:nvPr userDrawn="1"/>
        </p:nvSpPr>
        <p:spPr bwMode="auto">
          <a:xfrm>
            <a:off x="7010400" y="6434062"/>
            <a:ext cx="2133600" cy="406400"/>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2400" b="1" kern="1200">
                <a:solidFill>
                  <a:srgbClr val="FC3A4C"/>
                </a:solidFill>
                <a:latin typeface="Book Antiqua" panose="02040602050305030304" pitchFamily="18" charset="0"/>
                <a:ea typeface="宋体" panose="02010600030101010101" pitchFamily="2" charset="-122"/>
                <a:cs typeface="+mn-cs"/>
              </a:defRPr>
            </a:lvl1pPr>
            <a:lvl2pPr marL="4572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2pPr>
            <a:lvl3pPr marL="9144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3pPr>
            <a:lvl4pPr marL="13716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4pPr>
            <a:lvl5pPr marL="1828800" algn="l" rtl="0" eaLnBrk="0" fontAlgn="base" hangingPunct="0">
              <a:spcBef>
                <a:spcPct val="0"/>
              </a:spcBef>
              <a:spcAft>
                <a:spcPct val="0"/>
              </a:spcAft>
              <a:defRPr sz="2000" b="1"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000" b="1" kern="1200">
                <a:solidFill>
                  <a:schemeClr val="tx1"/>
                </a:solidFill>
                <a:latin typeface="Arial" panose="020B0604020202020204" pitchFamily="34" charset="0"/>
                <a:ea typeface="楷体_GB2312" pitchFamily="49" charset="-122"/>
                <a:cs typeface="+mn-cs"/>
              </a:defRPr>
            </a:lvl9pPr>
          </a:lstStyle>
          <a:p>
            <a:pPr>
              <a:defRPr/>
            </a:pPr>
            <a:fld id="{AA8CF565-2697-4D8A-9440-517CC2056E4B}" type="slidenum">
              <a:rPr lang="en-US" altLang="zh-CN" smtClean="0"/>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4563" r:id="rId1"/>
    <p:sldLayoutId id="2147484566" r:id="rId2"/>
    <p:sldLayoutId id="2147484567" r:id="rId3"/>
    <p:sldLayoutId id="2147484565" r:id="rId4"/>
    <p:sldLayoutId id="2147484568" r:id="rId5"/>
    <p:sldLayoutId id="2147484569" r:id="rId6"/>
    <p:sldLayoutId id="2147484571" r:id="rId7"/>
  </p:sldLayoutIdLst>
  <p:transition spd="slow">
    <p:circle/>
  </p:transition>
  <p:hf hdr="0" ftr="0" dt="0"/>
  <p:txStyles>
    <p:titleStyle>
      <a:lvl1pPr algn="ctr" rtl="0" eaLnBrk="1" fontAlgn="base" hangingPunct="1">
        <a:spcBef>
          <a:spcPct val="0"/>
        </a:spcBef>
        <a:spcAft>
          <a:spcPct val="0"/>
        </a:spcAft>
        <a:defRPr sz="3200" b="0">
          <a:solidFill>
            <a:srgbClr val="FF0000"/>
          </a:solidFill>
          <a:effectLst/>
          <a:latin typeface="微软雅黑" panose="020B0503020204020204" pitchFamily="34" charset="-122"/>
          <a:ea typeface="微软雅黑" panose="020B0503020204020204" pitchFamily="34" charset="-122"/>
          <a:cs typeface="+mj-cs"/>
        </a:defRPr>
      </a:lvl1pPr>
      <a:lvl2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2pPr>
      <a:lvl3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3pPr>
      <a:lvl4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4pPr>
      <a:lvl5pPr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5pPr>
      <a:lvl6pPr marL="4572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6pPr>
      <a:lvl7pPr marL="9144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7pPr>
      <a:lvl8pPr marL="13716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8pPr>
      <a:lvl9pPr marL="1828800" algn="ctr" rtl="0" eaLnBrk="1" fontAlgn="base" hangingPunct="1">
        <a:spcBef>
          <a:spcPct val="0"/>
        </a:spcBef>
        <a:spcAft>
          <a:spcPct val="0"/>
        </a:spcAft>
        <a:defRPr sz="3800" b="1">
          <a:solidFill>
            <a:srgbClr val="FF0000"/>
          </a:solidFill>
          <a:effectLst>
            <a:outerShdw blurRad="38100" dist="38100" dir="2700000" algn="tl">
              <a:srgbClr val="C0C0C0"/>
            </a:outerShdw>
          </a:effectLst>
          <a:latin typeface="Book Antiqua" pitchFamily="18" charset="0"/>
          <a:ea typeface="宋体" pitchFamily="2" charset="-122"/>
        </a:defRPr>
      </a:lvl9pPr>
    </p:titleStyle>
    <p:bodyStyle>
      <a:lvl1pPr marL="342900" indent="-342900" algn="l" rtl="0" eaLnBrk="1" fontAlgn="base" hangingPunct="1">
        <a:lnSpc>
          <a:spcPct val="150000"/>
        </a:lnSpc>
        <a:spcBef>
          <a:spcPct val="20000"/>
        </a:spcBef>
        <a:spcAft>
          <a:spcPct val="0"/>
        </a:spcAft>
        <a:buClr>
          <a:srgbClr val="2D7693"/>
        </a:buClr>
        <a:buSzPct val="70000"/>
        <a:buFont typeface="Wingdings" panose="05000000000000000000" pitchFamily="2" charset="2"/>
        <a:buChar char="n"/>
        <a:defRPr sz="2400" b="0">
          <a:solidFill>
            <a:schemeClr val="tx1"/>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rgbClr val="FC3A4C"/>
        </a:buClr>
        <a:buSzPct val="70000"/>
        <a:buFont typeface="Wingdings" panose="05000000000000000000" pitchFamily="2" charset="2"/>
        <a:buChar char="Ø"/>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rgbClr val="0000FF"/>
        </a:buClr>
        <a:buSzPct val="70000"/>
        <a:buFont typeface="Wingdings" panose="05000000000000000000" pitchFamily="2" charset="2"/>
        <a:buChar char="l"/>
        <a:defRPr sz="20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lr>
          <a:schemeClr val="accent1"/>
        </a:buClr>
        <a:buFont typeface="Wingdings" panose="05000000000000000000" pitchFamily="2" charset="2"/>
        <a:buChar char="p"/>
        <a:defRPr sz="2000" b="0">
          <a:solidFill>
            <a:schemeClr val="tx1"/>
          </a:solidFill>
          <a:latin typeface="微软雅黑" panose="020B0503020204020204" pitchFamily="34" charset="-122"/>
          <a:ea typeface="微软雅黑" panose="020B0503020204020204" pitchFamily="34" charset="-122"/>
        </a:defRPr>
      </a:lvl4pPr>
      <a:lvl5pPr marL="2057400" indent="-228600" algn="l" rtl="0" eaLnBrk="1" fontAlgn="base" hangingPunct="1">
        <a:lnSpc>
          <a:spcPct val="150000"/>
        </a:lnSpc>
        <a:spcBef>
          <a:spcPct val="20000"/>
        </a:spcBef>
        <a:spcAft>
          <a:spcPct val="0"/>
        </a:spcAft>
        <a:buClr>
          <a:schemeClr val="accent1"/>
        </a:buClr>
        <a:buFont typeface="Wingdings" panose="05000000000000000000" pitchFamily="2" charset="2"/>
        <a:buChar char="p"/>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6pPr>
      <a:lvl7pPr marL="29718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7pPr>
      <a:lvl8pPr marL="34290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8pPr>
      <a:lvl9pPr marL="3886200" indent="-228600" algn="l" rtl="0" eaLnBrk="1" fontAlgn="base" hangingPunct="1">
        <a:spcBef>
          <a:spcPct val="20000"/>
        </a:spcBef>
        <a:spcAft>
          <a:spcPct val="0"/>
        </a:spcAft>
        <a:buClr>
          <a:schemeClr val="accent1"/>
        </a:buClr>
        <a:buFont typeface="Wingdings" pitchFamily="2" charset="2"/>
        <a:buChar char="p"/>
        <a:defRPr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www.flickr.com/" TargetMode="External"/><Relationship Id="rId1" Type="http://schemas.openxmlformats.org/officeDocument/2006/relationships/slideLayout" Target="../slideLayouts/slideLayout1.xml"/><Relationship Id="rId6" Type="http://schemas.openxmlformats.org/officeDocument/2006/relationships/hyperlink" Target="http://www.delicious.com/" TargetMode="External"/><Relationship Id="rId11"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image" Target="../media/image8.png"/><Relationship Id="rId4" Type="http://schemas.openxmlformats.org/officeDocument/2006/relationships/hyperlink" Target="http://www.wikipedia.org/" TargetMode="External"/><Relationship Id="rId9" Type="http://schemas.openxmlformats.org/officeDocument/2006/relationships/hyperlink" Target="http://wenku.baidu.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18.emf"/><Relationship Id="rId7" Type="http://schemas.openxmlformats.org/officeDocument/2006/relationships/image" Target="../media/image22.emf"/><Relationship Id="rId2" Type="http://schemas.openxmlformats.org/officeDocument/2006/relationships/image" Target="../media/image17.emf"/><Relationship Id="rId1" Type="http://schemas.openxmlformats.org/officeDocument/2006/relationships/slideLayout" Target="../slideLayouts/slideLayout2.xml"/><Relationship Id="rId6" Type="http://schemas.openxmlformats.org/officeDocument/2006/relationships/image" Target="../media/image21.emf"/><Relationship Id="rId5" Type="http://schemas.openxmlformats.org/officeDocument/2006/relationships/image" Target="../media/image20.emf"/><Relationship Id="rId10" Type="http://schemas.openxmlformats.org/officeDocument/2006/relationships/image" Target="../media/image25.emf"/><Relationship Id="rId4" Type="http://schemas.openxmlformats.org/officeDocument/2006/relationships/image" Target="../media/image19.emf"/><Relationship Id="rId9" Type="http://schemas.openxmlformats.org/officeDocument/2006/relationships/image" Target="../media/image24.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1.xml"/><Relationship Id="rId5" Type="http://schemas.openxmlformats.org/officeDocument/2006/relationships/image" Target="../media/image29.jpeg"/><Relationship Id="rId4" Type="http://schemas.openxmlformats.org/officeDocument/2006/relationships/image" Target="../media/image28.jpeg"/></Relationships>
</file>

<file path=ppt/slides/_rels/slide18.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30.jpeg"/><Relationship Id="rId7"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3.jpeg"/><Relationship Id="rId5" Type="http://schemas.openxmlformats.org/officeDocument/2006/relationships/image" Target="../media/image32.jpeg"/><Relationship Id="rId10" Type="http://schemas.openxmlformats.org/officeDocument/2006/relationships/image" Target="../media/image37.png"/><Relationship Id="rId4" Type="http://schemas.openxmlformats.org/officeDocument/2006/relationships/image" Target="../media/image31.jpeg"/><Relationship Id="rId9" Type="http://schemas.openxmlformats.org/officeDocument/2006/relationships/image" Target="../media/image36.jpeg"/></Relationships>
</file>

<file path=ppt/slides/_rels/slide1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emf"/><Relationship Id="rId7"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6.jpeg"/></Relationships>
</file>

<file path=ppt/slides/_rels/slide2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48.jpe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hyperlink" Target="http://image.baidu.com/i?ct=503316480&amp;z=&amp;tn=baiduimagedetail&amp;word=%D3%AA%CF%FA&amp;in=11523&amp;cl=2&amp;lm=-1&amp;pn=3&amp;rn=1&amp;di=47138252880&amp;ln=2000&amp;fr=&amp;fm=result&amp;fmq=1324368654718_R&amp;ic=0&amp;s=0&amp;se=1&amp;sme=0&amp;tab=&amp;width=&amp;height=&amp;face=0&amp;is=&amp;istype=2" TargetMode="External"/><Relationship Id="rId7" Type="http://schemas.openxmlformats.org/officeDocument/2006/relationships/hyperlink" Target="http://image.baidu.com/i?ct=503316480&amp;z=&amp;tn=baiduimagedetail&amp;word=%B5%E7%CA%D3%B9%E3%B8%E6&amp;in=1188&amp;cl=2&amp;lm=-1&amp;pn=28&amp;rn=1&amp;di=35995642080&amp;ln=2000&amp;fr=&amp;fm=result&amp;fmq=1324396196189_R&amp;ic=0&amp;s=0&amp;se=1&amp;sme=0&amp;tab=&amp;width=&amp;height=&amp;face=0&amp;is=&amp;istype=2"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6.jpeg"/><Relationship Id="rId5" Type="http://schemas.openxmlformats.org/officeDocument/2006/relationships/hyperlink" Target="http://image.baidu.com/i?ct=503316480&amp;z=0&amp;tn=baiduimagedetail&amp;word=%B9%E3%B2%A5&amp;in=31321&amp;cl=2&amp;lm=-1&amp;pn=2&amp;rn=1&amp;di=54709189155&amp;ln=2000&amp;fr=&amp;fm=index&amp;fmq=1324396136814_R&amp;ic=&amp;s=0&amp;se=&amp;sme=0&amp;tab=&amp;width=&amp;height=&amp;face=&amp;is=&amp;istype=2" TargetMode="External"/><Relationship Id="rId10" Type="http://schemas.openxmlformats.org/officeDocument/2006/relationships/image" Target="../media/image58.jpeg"/><Relationship Id="rId4" Type="http://schemas.openxmlformats.org/officeDocument/2006/relationships/image" Target="../media/image55.jpeg"/><Relationship Id="rId9" Type="http://schemas.openxmlformats.org/officeDocument/2006/relationships/hyperlink" Target="http://image.baidu.com/i?ct=503316480&amp;z=&amp;tn=baiduimagedetail&amp;word=%B1%A8%D6%BD%B9%E3%B8%E6&amp;in=9499&amp;cl=2&amp;lm=-1&amp;pn=9&amp;rn=1&amp;di=7184742180&amp;ln=2000&amp;fr=&amp;fm=result&amp;fmq=1324396246751_R&amp;ic=0&amp;s=0&amp;se=1&amp;sme=0&amp;tab=&amp;width=&amp;height=&amp;face=0&amp;is=&amp;istype=2"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63.png"/><Relationship Id="rId7" Type="http://schemas.openxmlformats.org/officeDocument/2006/relationships/hyperlink" Target="http://delicious.com/" TargetMode="External"/><Relationship Id="rId2" Type="http://schemas.openxmlformats.org/officeDocument/2006/relationships/hyperlink" Target="http://www.douban.com/" TargetMode="Externa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4.png"/><Relationship Id="rId10" Type="http://schemas.openxmlformats.org/officeDocument/2006/relationships/image" Target="../media/image66.png"/><Relationship Id="rId4" Type="http://schemas.openxmlformats.org/officeDocument/2006/relationships/hyperlink" Target="http://www.flickr.com/" TargetMode="External"/><Relationship Id="rId9" Type="http://schemas.openxmlformats.org/officeDocument/2006/relationships/image" Target="../media/image6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70.jpeg"/><Relationship Id="rId3" Type="http://schemas.openxmlformats.org/officeDocument/2006/relationships/hyperlink" Target="http://www.google.com/url?sa=i&amp;rct=j&amp;q=&amp;esrc=s&amp;source=images&amp;cd=&amp;cad=rja&amp;uact=8&amp;ved=0CAcQjRw&amp;url=http://www.grecoinc.com/&amp;ei=k85LVYGiJMbamAWv74CwAw&amp;psig=AFQjCNGCqjX8M97ivzRw2wVjxOM3vf4dVA&amp;ust=1431117762092418" TargetMode="External"/><Relationship Id="rId7" Type="http://schemas.openxmlformats.org/officeDocument/2006/relationships/hyperlink" Target="http://www.google.com/url?sa=i&amp;rct=j&amp;q=&amp;esrc=s&amp;source=images&amp;cd=&amp;cad=rja&amp;uact=8&amp;ved=0CAcQjRw&amp;url=http://dipsplusmore.com/fundraising-evaluation/&amp;ei=I-ZQVahDiafwBfvUgMgF&amp;psig=AFQjCNF96ICW_YeXy-5m5nFPPMdIEFr4og&amp;ust=1431451334012421" TargetMode="External"/><Relationship Id="rId12" Type="http://schemas.openxmlformats.org/officeDocument/2006/relationships/image" Target="../media/image72.jpeg"/><Relationship Id="rId2" Type="http://schemas.openxmlformats.org/officeDocument/2006/relationships/image" Target="../media/image67.jpeg"/><Relationship Id="rId1" Type="http://schemas.openxmlformats.org/officeDocument/2006/relationships/slideLayout" Target="../slideLayouts/slideLayout1.xml"/><Relationship Id="rId6" Type="http://schemas.openxmlformats.org/officeDocument/2006/relationships/image" Target="../media/image69.jpeg"/><Relationship Id="rId11" Type="http://schemas.openxmlformats.org/officeDocument/2006/relationships/hyperlink" Target="http://www.google.com/url?sa=i&amp;rct=j&amp;q=&amp;esrc=s&amp;source=images&amp;cd=&amp;cad=rja&amp;uact=8&amp;ved=0CAcQjRw&amp;url=http://www.demotix.com/news/1668914/fig-gymnastics-world-cup-glasgow-mens-competition&amp;ei=DOdQVd-iItHj8AXxmYGgDQ&amp;psig=AFQjCNEjmi4R46G-16ooq3LgqQwzpvoGQQ&amp;ust=1431451767166990" TargetMode="External"/><Relationship Id="rId5" Type="http://schemas.openxmlformats.org/officeDocument/2006/relationships/hyperlink" Target="http://www.google.com/url?sa=i&amp;rct=j&amp;q=&amp;esrc=s&amp;source=images&amp;cd=&amp;cad=rja&amp;uact=8&amp;ved=0CAcQjRw&amp;url=http://pagesay.com/paper-talk-sky-sports-5/&amp;ei=7eRQVZ7IEIah8QW6iYCQDg&amp;psig=AFQjCNEYoBL5ASbGx9JoQ5Bwbi7fLUPm2w&amp;ust=1431451215194279" TargetMode="External"/><Relationship Id="rId10" Type="http://schemas.openxmlformats.org/officeDocument/2006/relationships/image" Target="../media/image71.jpeg"/><Relationship Id="rId4" Type="http://schemas.openxmlformats.org/officeDocument/2006/relationships/image" Target="../media/image68.jpeg"/><Relationship Id="rId9" Type="http://schemas.openxmlformats.org/officeDocument/2006/relationships/hyperlink" Target="http://www.google.com/url?sa=i&amp;rct=j&amp;q=&amp;esrc=s&amp;source=images&amp;cd=&amp;cad=rja&amp;uact=8&amp;ved=0CAcQjRw&amp;url=http://depositphotos.com/20332497/stock-photo-evaluation-report-card-clipboard-assessment.html&amp;ei=SuZQVZz6NMGD8gXX1YHgAg&amp;psig=AFQjCNF96ICW_YeXy-5m5nFPPMdIEFr4og&amp;ust=1431451334012421"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hyperlink" Target="https://www.zooniverse.org/" TargetMode="External"/><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4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85.png"/><Relationship Id="rId4" Type="http://schemas.openxmlformats.org/officeDocument/2006/relationships/image" Target="../media/image84.jpg"/></Relationships>
</file>

<file path=ppt/slides/_rels/slide4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8.png"/><Relationship Id="rId4" Type="http://schemas.openxmlformats.org/officeDocument/2006/relationships/image" Target="../media/image87.jpeg"/></Relationships>
</file>

<file path=ppt/slides/_rels/slide5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hyperlink" Target="http://www.gwap.com/gwap/gamesPreview/tagatune/" TargetMode="Externa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Box 3"/>
          <p:cNvSpPr txBox="1">
            <a:spLocks noChangeArrowheads="1"/>
          </p:cNvSpPr>
          <p:nvPr/>
        </p:nvSpPr>
        <p:spPr bwMode="auto">
          <a:xfrm>
            <a:off x="323528" y="1558444"/>
            <a:ext cx="842493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9pPr>
          </a:lstStyle>
          <a:p>
            <a:pPr algn="ctr" eaLnBrk="1" hangingPunct="1">
              <a:spcBef>
                <a:spcPct val="0"/>
              </a:spcBef>
              <a:spcAft>
                <a:spcPts val="1800"/>
              </a:spcAft>
              <a:buClrTx/>
              <a:buSzTx/>
              <a:buNone/>
            </a:pPr>
            <a:r>
              <a:rPr lang="zh-CN" altLang="en-US" sz="5400" dirty="0">
                <a:solidFill>
                  <a:srgbClr val="FF0000"/>
                </a:solidFill>
                <a:latin typeface="华文中宋" panose="02010600040101010101" pitchFamily="2" charset="-122"/>
              </a:rPr>
              <a:t>大数据推荐与决策</a:t>
            </a:r>
          </a:p>
        </p:txBody>
      </p:sp>
      <p:sp>
        <p:nvSpPr>
          <p:cNvPr id="5" name="TextBox 3"/>
          <p:cNvSpPr txBox="1">
            <a:spLocks noChangeArrowheads="1"/>
          </p:cNvSpPr>
          <p:nvPr/>
        </p:nvSpPr>
        <p:spPr bwMode="auto">
          <a:xfrm>
            <a:off x="539552" y="3132366"/>
            <a:ext cx="8001223" cy="315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9pPr>
          </a:lstStyle>
          <a:p>
            <a:pPr algn="ctr" eaLnBrk="1" hangingPunct="1">
              <a:spcBef>
                <a:spcPct val="0"/>
              </a:spcBef>
              <a:spcAft>
                <a:spcPts val="1800"/>
              </a:spcAft>
              <a:buClrTx/>
              <a:buSzTx/>
              <a:buFontTx/>
              <a:buNone/>
            </a:pPr>
            <a:r>
              <a:rPr lang="zh-CN" altLang="en-US" sz="5400" dirty="0">
                <a:latin typeface="华文中宋" panose="02010600040101010101" pitchFamily="2" charset="-122"/>
              </a:rPr>
              <a:t>余力 </a:t>
            </a:r>
            <a:r>
              <a:rPr lang="zh-CN" altLang="en-US" sz="4000" dirty="0">
                <a:latin typeface="华文中宋" panose="02010600040101010101" pitchFamily="2" charset="-122"/>
              </a:rPr>
              <a:t>博士</a:t>
            </a:r>
            <a:endParaRPr lang="en-US" altLang="zh-CN" sz="4000" dirty="0">
              <a:latin typeface="华文中宋" panose="02010600040101010101" pitchFamily="2" charset="-122"/>
            </a:endParaRPr>
          </a:p>
          <a:p>
            <a:pPr algn="ctr" eaLnBrk="1" hangingPunct="1">
              <a:spcBef>
                <a:spcPct val="0"/>
              </a:spcBef>
              <a:spcAft>
                <a:spcPts val="1800"/>
              </a:spcAft>
              <a:buClrTx/>
              <a:buSzTx/>
              <a:buFontTx/>
              <a:buNone/>
            </a:pPr>
            <a:r>
              <a:rPr lang="zh-CN" altLang="en-US" dirty="0">
                <a:latin typeface="仿宋" panose="02010609060101010101" pitchFamily="49" charset="-122"/>
                <a:ea typeface="仿宋" panose="02010609060101010101" pitchFamily="49" charset="-122"/>
              </a:rPr>
              <a:t>教授、博士生导师</a:t>
            </a:r>
            <a:endParaRPr lang="en-US" altLang="zh-CN" dirty="0">
              <a:latin typeface="仿宋" panose="02010609060101010101" pitchFamily="49" charset="-122"/>
              <a:ea typeface="仿宋" panose="02010609060101010101" pitchFamily="49" charset="-122"/>
            </a:endParaRPr>
          </a:p>
          <a:p>
            <a:pPr algn="ctr" eaLnBrk="1" hangingPunct="1">
              <a:spcBef>
                <a:spcPct val="0"/>
              </a:spcBef>
              <a:spcAft>
                <a:spcPts val="1800"/>
              </a:spcAft>
              <a:buClrTx/>
              <a:buSzTx/>
              <a:buFontTx/>
              <a:buNone/>
            </a:pPr>
            <a:r>
              <a:rPr lang="zh-CN" altLang="en-US" dirty="0">
                <a:latin typeface="仿宋" panose="02010609060101010101" pitchFamily="49" charset="-122"/>
                <a:ea typeface="仿宋" panose="02010609060101010101" pitchFamily="49" charset="-122"/>
              </a:rPr>
              <a:t>大数据分析与智能决策实验室  </a:t>
            </a:r>
            <a:endParaRPr lang="en-US" altLang="zh-CN" dirty="0">
              <a:latin typeface="仿宋" panose="02010609060101010101" pitchFamily="49" charset="-122"/>
              <a:ea typeface="仿宋" panose="02010609060101010101" pitchFamily="49" charset="-122"/>
            </a:endParaRPr>
          </a:p>
          <a:p>
            <a:pPr algn="ctr" eaLnBrk="1" hangingPunct="1">
              <a:spcBef>
                <a:spcPct val="0"/>
              </a:spcBef>
              <a:spcAft>
                <a:spcPts val="1800"/>
              </a:spcAft>
              <a:buClrTx/>
              <a:buSzTx/>
              <a:buFontTx/>
              <a:buNone/>
            </a:pPr>
            <a:r>
              <a:rPr lang="en-US" altLang="zh-CN" sz="3600" b="0" dirty="0">
                <a:latin typeface="+mn-lt"/>
              </a:rPr>
              <a:t>buaayuli@ruc.edu.cn</a:t>
            </a:r>
          </a:p>
        </p:txBody>
      </p:sp>
      <p:pic>
        <p:nvPicPr>
          <p:cNvPr id="7" name="图片 6"/>
          <p:cNvPicPr>
            <a:picLocks noChangeAspect="1"/>
          </p:cNvPicPr>
          <p:nvPr/>
        </p:nvPicPr>
        <p:blipFill>
          <a:blip r:embed="rId3"/>
          <a:stretch>
            <a:fillRect/>
          </a:stretch>
        </p:blipFill>
        <p:spPr>
          <a:xfrm>
            <a:off x="323528" y="213184"/>
            <a:ext cx="2660986" cy="610982"/>
          </a:xfrm>
          <a:prstGeom prst="rect">
            <a:avLst/>
          </a:prstGeom>
        </p:spPr>
      </p:pic>
      <p:pic>
        <p:nvPicPr>
          <p:cNvPr id="8" name="图片 7">
            <a:extLst>
              <a:ext uri="{FF2B5EF4-FFF2-40B4-BE49-F238E27FC236}">
                <a16:creationId xmlns:a16="http://schemas.microsoft.com/office/drawing/2014/main" id="{17C0DE4A-CF78-478A-B916-CFF846572F02}"/>
              </a:ext>
            </a:extLst>
          </p:cNvPr>
          <p:cNvPicPr>
            <a:picLocks noChangeAspect="1"/>
          </p:cNvPicPr>
          <p:nvPr/>
        </p:nvPicPr>
        <p:blipFill>
          <a:blip r:embed="rId4" cstate="print">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148064" y="218802"/>
            <a:ext cx="3733232" cy="610981"/>
          </a:xfrm>
          <a:prstGeom prst="rect">
            <a:avLst/>
          </a:prstGeom>
        </p:spPr>
      </p:pic>
    </p:spTree>
    <p:extLst>
      <p:ext uri="{BB962C8B-B14F-4D97-AF65-F5344CB8AC3E}">
        <p14:creationId xmlns:p14="http://schemas.microsoft.com/office/powerpoint/2010/main" val="809474302"/>
      </p:ext>
    </p:extLst>
  </p:cSld>
  <p:clrMapOvr>
    <a:masterClrMapping/>
  </p:clrMapOvr>
  <p:transition spd="slow">
    <p:circl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lstStyle/>
          <a:p>
            <a:pPr>
              <a:lnSpc>
                <a:spcPct val="175000"/>
              </a:lnSpc>
            </a:pPr>
            <a:r>
              <a:rPr lang="en-US" altLang="zh-CN" sz="2400" dirty="0">
                <a:solidFill>
                  <a:srgbClr val="0000FF"/>
                </a:solidFill>
              </a:rPr>
              <a:t>1</a:t>
            </a:r>
            <a:r>
              <a:rPr lang="zh-CN" altLang="en-US" sz="2400" dirty="0">
                <a:solidFill>
                  <a:srgbClr val="0000FF"/>
                </a:solidFill>
              </a:rPr>
              <a:t>、理论篇</a:t>
            </a:r>
            <a:endParaRPr lang="en-US" altLang="zh-CN" sz="2400" dirty="0">
              <a:solidFill>
                <a:srgbClr val="0000FF"/>
              </a:solidFill>
            </a:endParaRPr>
          </a:p>
          <a:p>
            <a:pPr lvl="1">
              <a:lnSpc>
                <a:spcPct val="175000"/>
              </a:lnSpc>
            </a:pPr>
            <a:r>
              <a:rPr lang="en-US" altLang="zh-CN" sz="2400" dirty="0"/>
              <a:t>Web2.0(</a:t>
            </a:r>
            <a:r>
              <a:rPr lang="zh-CN" altLang="en-US" sz="2400" dirty="0"/>
              <a:t>社会计算</a:t>
            </a:r>
            <a:r>
              <a:rPr lang="en-US" altLang="zh-CN" sz="2400" dirty="0"/>
              <a:t>)</a:t>
            </a:r>
            <a:r>
              <a:rPr lang="zh-CN" altLang="en-US" sz="2400" dirty="0"/>
              <a:t>与互联网</a:t>
            </a:r>
            <a:r>
              <a:rPr lang="en-US" altLang="zh-CN" sz="2400" dirty="0"/>
              <a:t>+</a:t>
            </a:r>
            <a:r>
              <a:rPr lang="zh-CN" altLang="en-US" sz="2400" dirty="0"/>
              <a:t>、大数据思维与分析</a:t>
            </a:r>
            <a:endParaRPr lang="en-US" altLang="zh-CN" sz="2400" dirty="0"/>
          </a:p>
          <a:p>
            <a:pPr>
              <a:lnSpc>
                <a:spcPct val="175000"/>
              </a:lnSpc>
            </a:pPr>
            <a:r>
              <a:rPr lang="en-US" altLang="zh-CN" sz="2400" dirty="0">
                <a:solidFill>
                  <a:srgbClr val="0000FF"/>
                </a:solidFill>
              </a:rPr>
              <a:t>2</a:t>
            </a:r>
            <a:r>
              <a:rPr lang="zh-CN" altLang="en-US" sz="2400" dirty="0">
                <a:solidFill>
                  <a:srgbClr val="0000FF"/>
                </a:solidFill>
              </a:rPr>
              <a:t>、技术篇</a:t>
            </a:r>
            <a:endParaRPr lang="en-US" altLang="zh-CN" sz="2400" dirty="0">
              <a:solidFill>
                <a:srgbClr val="0000FF"/>
              </a:solidFill>
            </a:endParaRPr>
          </a:p>
          <a:p>
            <a:pPr lvl="1">
              <a:lnSpc>
                <a:spcPct val="175000"/>
              </a:lnSpc>
            </a:pPr>
            <a:r>
              <a:rPr lang="zh-CN" altLang="en-US" sz="2400" dirty="0"/>
              <a:t>机器学习（聚类、分类）、深度学习（神经网络）</a:t>
            </a:r>
            <a:endParaRPr lang="en-US" altLang="zh-CN" sz="2400" dirty="0"/>
          </a:p>
          <a:p>
            <a:pPr>
              <a:lnSpc>
                <a:spcPct val="175000"/>
              </a:lnSpc>
            </a:pPr>
            <a:r>
              <a:rPr lang="en-US" altLang="zh-CN" sz="2400" dirty="0">
                <a:solidFill>
                  <a:srgbClr val="0000FF"/>
                </a:solidFill>
              </a:rPr>
              <a:t>3</a:t>
            </a:r>
            <a:r>
              <a:rPr lang="zh-CN" altLang="en-US" sz="2400" dirty="0">
                <a:solidFill>
                  <a:srgbClr val="0000FF"/>
                </a:solidFill>
              </a:rPr>
              <a:t>、应用篇</a:t>
            </a:r>
            <a:endParaRPr lang="en-US" altLang="zh-CN" sz="2400" dirty="0">
              <a:solidFill>
                <a:srgbClr val="0000FF"/>
              </a:solidFill>
            </a:endParaRPr>
          </a:p>
          <a:p>
            <a:pPr lvl="1">
              <a:lnSpc>
                <a:spcPct val="175000"/>
              </a:lnSpc>
            </a:pPr>
            <a:r>
              <a:rPr lang="zh-CN" altLang="en-US" sz="2400" dirty="0"/>
              <a:t>个性化推荐、人工智能应用</a:t>
            </a:r>
            <a:endParaRPr lang="en-US" altLang="zh-CN" sz="2400" dirty="0"/>
          </a:p>
          <a:p>
            <a:pPr>
              <a:lnSpc>
                <a:spcPct val="175000"/>
              </a:lnSpc>
            </a:pPr>
            <a:r>
              <a:rPr lang="en-US" altLang="zh-CN" sz="2400" dirty="0">
                <a:solidFill>
                  <a:srgbClr val="0000FF"/>
                </a:solidFill>
              </a:rPr>
              <a:t>4</a:t>
            </a:r>
            <a:r>
              <a:rPr lang="zh-CN" altLang="en-US" sz="2400" dirty="0">
                <a:solidFill>
                  <a:srgbClr val="0000FF"/>
                </a:solidFill>
              </a:rPr>
              <a:t>、研究篇</a:t>
            </a:r>
            <a:endParaRPr lang="en-US" altLang="zh-CN" sz="2400" dirty="0">
              <a:solidFill>
                <a:srgbClr val="0000FF"/>
              </a:solidFill>
            </a:endParaRPr>
          </a:p>
          <a:p>
            <a:pPr lvl="1">
              <a:lnSpc>
                <a:spcPct val="175000"/>
              </a:lnSpc>
            </a:pPr>
            <a:r>
              <a:rPr lang="zh-CN" altLang="en-US" sz="2400" dirty="0"/>
              <a:t>研究选题、研究设计、写作规范</a:t>
            </a:r>
          </a:p>
        </p:txBody>
      </p:sp>
      <p:sp>
        <p:nvSpPr>
          <p:cNvPr id="2" name="标题 1"/>
          <p:cNvSpPr>
            <a:spLocks noGrp="1"/>
          </p:cNvSpPr>
          <p:nvPr>
            <p:ph type="title"/>
          </p:nvPr>
        </p:nvSpPr>
        <p:spPr/>
        <p:txBody>
          <a:bodyPr/>
          <a:lstStyle/>
          <a:p>
            <a:r>
              <a:rPr lang="zh-CN" altLang="en-US" dirty="0"/>
              <a:t>课程内容</a:t>
            </a:r>
          </a:p>
        </p:txBody>
      </p:sp>
    </p:spTree>
    <p:extLst>
      <p:ext uri="{BB962C8B-B14F-4D97-AF65-F5344CB8AC3E}">
        <p14:creationId xmlns:p14="http://schemas.microsoft.com/office/powerpoint/2010/main" val="1629950050"/>
      </p:ext>
    </p:extLst>
  </p:cSld>
  <p:clrMapOvr>
    <a:masterClrMapping/>
  </p:clrMapOvr>
  <p:transition spd="slow">
    <p:circl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Box 3"/>
          <p:cNvSpPr txBox="1">
            <a:spLocks noChangeArrowheads="1"/>
          </p:cNvSpPr>
          <p:nvPr/>
        </p:nvSpPr>
        <p:spPr bwMode="auto">
          <a:xfrm>
            <a:off x="367867" y="1729092"/>
            <a:ext cx="842493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9pPr>
          </a:lstStyle>
          <a:p>
            <a:pPr algn="ctr" eaLnBrk="1" hangingPunct="1">
              <a:spcBef>
                <a:spcPct val="0"/>
              </a:spcBef>
              <a:spcAft>
                <a:spcPts val="1800"/>
              </a:spcAft>
              <a:buClrTx/>
              <a:buSzTx/>
              <a:buNone/>
            </a:pPr>
            <a:r>
              <a:rPr lang="zh-CN" altLang="en-US" sz="5400" dirty="0">
                <a:solidFill>
                  <a:srgbClr val="FF0000"/>
                </a:solidFill>
                <a:latin typeface="华文中宋" panose="02010600040101010101" pitchFamily="2" charset="-122"/>
              </a:rPr>
              <a:t>第</a:t>
            </a:r>
            <a:r>
              <a:rPr lang="en-US" altLang="zh-CN" sz="5400" dirty="0">
                <a:solidFill>
                  <a:srgbClr val="FF0000"/>
                </a:solidFill>
                <a:latin typeface="华文中宋" panose="02010600040101010101" pitchFamily="2" charset="-122"/>
              </a:rPr>
              <a:t>1</a:t>
            </a:r>
            <a:r>
              <a:rPr lang="zh-CN" altLang="en-US" sz="5400" dirty="0">
                <a:solidFill>
                  <a:srgbClr val="FF0000"/>
                </a:solidFill>
                <a:latin typeface="华文中宋" panose="02010600040101010101" pitchFamily="2" charset="-122"/>
              </a:rPr>
              <a:t>讲 </a:t>
            </a:r>
            <a:r>
              <a:rPr lang="en-US" altLang="zh-CN" sz="5400" dirty="0">
                <a:solidFill>
                  <a:srgbClr val="FF0000"/>
                </a:solidFill>
                <a:latin typeface="华文中宋" panose="02010600040101010101" pitchFamily="2" charset="-122"/>
              </a:rPr>
              <a:t>Web2.0</a:t>
            </a:r>
            <a:r>
              <a:rPr lang="zh-CN" altLang="en-US" sz="5400" dirty="0">
                <a:solidFill>
                  <a:srgbClr val="FF0000"/>
                </a:solidFill>
                <a:latin typeface="华文中宋" panose="02010600040101010101" pitchFamily="2" charset="-122"/>
              </a:rPr>
              <a:t>与互联网</a:t>
            </a:r>
            <a:r>
              <a:rPr lang="en-US" altLang="zh-CN" sz="5400" dirty="0">
                <a:solidFill>
                  <a:srgbClr val="FF0000"/>
                </a:solidFill>
                <a:latin typeface="华文中宋" panose="02010600040101010101" pitchFamily="2" charset="-122"/>
              </a:rPr>
              <a:t>+</a:t>
            </a:r>
            <a:endParaRPr lang="zh-CN" altLang="en-US" sz="5400" dirty="0">
              <a:solidFill>
                <a:srgbClr val="FF0000"/>
              </a:solidFill>
              <a:latin typeface="华文中宋" panose="02010600040101010101" pitchFamily="2" charset="-122"/>
            </a:endParaRPr>
          </a:p>
        </p:txBody>
      </p:sp>
      <p:sp>
        <p:nvSpPr>
          <p:cNvPr id="6" name="矩形 5"/>
          <p:cNvSpPr/>
          <p:nvPr/>
        </p:nvSpPr>
        <p:spPr>
          <a:xfrm>
            <a:off x="179512" y="337201"/>
            <a:ext cx="4896544" cy="461665"/>
          </a:xfrm>
          <a:prstGeom prst="rect">
            <a:avLst/>
          </a:prstGeom>
        </p:spPr>
        <p:txBody>
          <a:bodyPr wrap="square">
            <a:spAutoFit/>
          </a:bodyPr>
          <a:lstStyle/>
          <a:p>
            <a:pPr eaLnBrk="1" hangingPunct="1">
              <a:spcAft>
                <a:spcPts val="1800"/>
              </a:spcAft>
            </a:pPr>
            <a:r>
              <a:rPr lang="zh-CN" altLang="en-US" sz="2400" dirty="0">
                <a:solidFill>
                  <a:srgbClr val="FF0000"/>
                </a:solidFill>
                <a:latin typeface="幼圆" panose="02010509060101010101" pitchFamily="49" charset="-122"/>
                <a:ea typeface="幼圆" panose="02010509060101010101" pitchFamily="49" charset="-122"/>
              </a:rPr>
              <a:t>大数据推荐与决策 </a:t>
            </a:r>
            <a:r>
              <a:rPr lang="en-US" altLang="zh-CN" sz="2400" dirty="0">
                <a:solidFill>
                  <a:srgbClr val="FF0000"/>
                </a:solidFill>
                <a:latin typeface="幼圆" panose="02010509060101010101" pitchFamily="49" charset="-122"/>
                <a:ea typeface="幼圆" panose="02010509060101010101" pitchFamily="49" charset="-122"/>
              </a:rPr>
              <a:t> (</a:t>
            </a:r>
            <a:r>
              <a:rPr lang="zh-CN" altLang="en-US" sz="2400" dirty="0">
                <a:solidFill>
                  <a:srgbClr val="FF0000"/>
                </a:solidFill>
                <a:latin typeface="幼圆" panose="02010509060101010101" pitchFamily="49" charset="-122"/>
                <a:ea typeface="幼圆" panose="02010509060101010101" pitchFamily="49" charset="-122"/>
              </a:rPr>
              <a:t>一</a:t>
            </a:r>
            <a:r>
              <a:rPr lang="en-US" altLang="zh-CN" sz="2400" dirty="0">
                <a:solidFill>
                  <a:srgbClr val="FF0000"/>
                </a:solidFill>
                <a:latin typeface="幼圆" panose="02010509060101010101" pitchFamily="49" charset="-122"/>
                <a:ea typeface="幼圆" panose="02010509060101010101" pitchFamily="49" charset="-122"/>
              </a:rPr>
              <a:t>) </a:t>
            </a:r>
            <a:r>
              <a:rPr lang="zh-CN" altLang="en-US" sz="2400" dirty="0">
                <a:solidFill>
                  <a:srgbClr val="FF0000"/>
                </a:solidFill>
                <a:latin typeface="幼圆" panose="02010509060101010101" pitchFamily="49" charset="-122"/>
                <a:ea typeface="幼圆" panose="02010509060101010101" pitchFamily="49" charset="-122"/>
              </a:rPr>
              <a:t>理论篇</a:t>
            </a:r>
            <a:endParaRPr lang="en-US" altLang="zh-CN" sz="2400" dirty="0">
              <a:solidFill>
                <a:srgbClr val="FF0000"/>
              </a:solidFill>
              <a:latin typeface="幼圆" panose="02010509060101010101" pitchFamily="49" charset="-122"/>
              <a:ea typeface="幼圆" panose="02010509060101010101" pitchFamily="49" charset="-122"/>
            </a:endParaRPr>
          </a:p>
        </p:txBody>
      </p:sp>
      <p:pic>
        <p:nvPicPr>
          <p:cNvPr id="7" name="图片 6"/>
          <p:cNvPicPr>
            <a:picLocks noChangeAspect="1"/>
          </p:cNvPicPr>
          <p:nvPr/>
        </p:nvPicPr>
        <p:blipFill>
          <a:blip r:embed="rId3"/>
          <a:stretch>
            <a:fillRect/>
          </a:stretch>
        </p:blipFill>
        <p:spPr>
          <a:xfrm>
            <a:off x="6228184" y="260648"/>
            <a:ext cx="2660986" cy="610982"/>
          </a:xfrm>
          <a:prstGeom prst="rect">
            <a:avLst/>
          </a:prstGeom>
        </p:spPr>
      </p:pic>
      <p:sp>
        <p:nvSpPr>
          <p:cNvPr id="8" name="TextBox 3"/>
          <p:cNvSpPr txBox="1">
            <a:spLocks noChangeArrowheads="1"/>
          </p:cNvSpPr>
          <p:nvPr/>
        </p:nvSpPr>
        <p:spPr bwMode="auto">
          <a:xfrm>
            <a:off x="539552" y="3298626"/>
            <a:ext cx="8001223" cy="315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a:ea typeface="华文中宋" panose="02010600040101010101" pitchFamily="2" charset="-122"/>
              </a:defRPr>
            </a:lvl9pPr>
          </a:lstStyle>
          <a:p>
            <a:pPr algn="ctr" eaLnBrk="1" hangingPunct="1">
              <a:spcBef>
                <a:spcPct val="0"/>
              </a:spcBef>
              <a:spcAft>
                <a:spcPts val="1800"/>
              </a:spcAft>
              <a:buClrTx/>
              <a:buSzTx/>
              <a:buFontTx/>
              <a:buNone/>
            </a:pPr>
            <a:r>
              <a:rPr lang="zh-CN" altLang="en-US" sz="5400" dirty="0">
                <a:latin typeface="华文中宋" panose="02010600040101010101" pitchFamily="2" charset="-122"/>
              </a:rPr>
              <a:t>余力 </a:t>
            </a:r>
            <a:r>
              <a:rPr lang="zh-CN" altLang="en-US" sz="4000" dirty="0">
                <a:latin typeface="华文中宋" panose="02010600040101010101" pitchFamily="2" charset="-122"/>
              </a:rPr>
              <a:t>博士</a:t>
            </a:r>
            <a:endParaRPr lang="en-US" altLang="zh-CN" sz="4000" dirty="0">
              <a:latin typeface="华文中宋" panose="02010600040101010101" pitchFamily="2" charset="-122"/>
            </a:endParaRPr>
          </a:p>
          <a:p>
            <a:pPr algn="ctr" eaLnBrk="1" hangingPunct="1">
              <a:spcBef>
                <a:spcPct val="0"/>
              </a:spcBef>
              <a:spcAft>
                <a:spcPts val="1800"/>
              </a:spcAft>
              <a:buClrTx/>
              <a:buSzTx/>
              <a:buFontTx/>
              <a:buNone/>
            </a:pPr>
            <a:r>
              <a:rPr lang="zh-CN" altLang="en-US" dirty="0">
                <a:latin typeface="仿宋" panose="02010609060101010101" pitchFamily="49" charset="-122"/>
                <a:ea typeface="仿宋" panose="02010609060101010101" pitchFamily="49" charset="-122"/>
              </a:rPr>
              <a:t>教授、博士生导师</a:t>
            </a:r>
            <a:endParaRPr lang="en-US" altLang="zh-CN" dirty="0">
              <a:latin typeface="仿宋" panose="02010609060101010101" pitchFamily="49" charset="-122"/>
              <a:ea typeface="仿宋" panose="02010609060101010101" pitchFamily="49" charset="-122"/>
            </a:endParaRPr>
          </a:p>
          <a:p>
            <a:pPr algn="ctr" eaLnBrk="1" hangingPunct="1">
              <a:spcBef>
                <a:spcPct val="0"/>
              </a:spcBef>
              <a:spcAft>
                <a:spcPts val="1800"/>
              </a:spcAft>
              <a:buClrTx/>
              <a:buSzTx/>
              <a:buFontTx/>
              <a:buNone/>
            </a:pPr>
            <a:r>
              <a:rPr lang="zh-CN" altLang="en-US" dirty="0">
                <a:latin typeface="仿宋" panose="02010609060101010101" pitchFamily="49" charset="-122"/>
                <a:ea typeface="仿宋" panose="02010609060101010101" pitchFamily="49" charset="-122"/>
              </a:rPr>
              <a:t>大数据分析与智能决策实验室  </a:t>
            </a:r>
            <a:endParaRPr lang="en-US" altLang="zh-CN" dirty="0">
              <a:latin typeface="仿宋" panose="02010609060101010101" pitchFamily="49" charset="-122"/>
              <a:ea typeface="仿宋" panose="02010609060101010101" pitchFamily="49" charset="-122"/>
            </a:endParaRPr>
          </a:p>
          <a:p>
            <a:pPr algn="ctr" eaLnBrk="1" hangingPunct="1">
              <a:spcBef>
                <a:spcPct val="0"/>
              </a:spcBef>
              <a:spcAft>
                <a:spcPts val="1800"/>
              </a:spcAft>
              <a:buClrTx/>
              <a:buSzTx/>
              <a:buFontTx/>
              <a:buNone/>
            </a:pPr>
            <a:r>
              <a:rPr lang="en-US" altLang="zh-CN" sz="3600" b="0" dirty="0">
                <a:latin typeface="+mn-lt"/>
              </a:rPr>
              <a:t>buaayuli@ruc.edu.cn</a:t>
            </a:r>
          </a:p>
        </p:txBody>
      </p:sp>
    </p:spTree>
    <p:extLst>
      <p:ext uri="{BB962C8B-B14F-4D97-AF65-F5344CB8AC3E}">
        <p14:creationId xmlns:p14="http://schemas.microsoft.com/office/powerpoint/2010/main" val="2191469315"/>
      </p:ext>
    </p:extLst>
  </p:cSld>
  <p:clrMapOvr>
    <a:masterClrMapping/>
  </p:clrMapOvr>
  <p:transition spd="slow">
    <p:circl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矩形 2"/>
          <p:cNvSpPr>
            <a:spLocks noGrp="1" noChangeArrowheads="1"/>
          </p:cNvSpPr>
          <p:nvPr>
            <p:ph type="title"/>
          </p:nvPr>
        </p:nvSpPr>
        <p:spPr/>
        <p:txBody>
          <a:bodyPr/>
          <a:lstStyle/>
          <a:p>
            <a:pPr eaLnBrk="1" hangingPunct="1"/>
            <a:r>
              <a:rPr lang="zh-CN" altLang="en-US" dirty="0"/>
              <a:t>目录</a:t>
            </a:r>
          </a:p>
        </p:txBody>
      </p:sp>
      <p:sp>
        <p:nvSpPr>
          <p:cNvPr id="12291" name="矩形 3"/>
          <p:cNvSpPr>
            <a:spLocks noGrp="1" noChangeArrowheads="1"/>
          </p:cNvSpPr>
          <p:nvPr>
            <p:ph idx="1"/>
          </p:nvPr>
        </p:nvSpPr>
        <p:spPr>
          <a:xfrm>
            <a:off x="2771800" y="1413024"/>
            <a:ext cx="5184775" cy="5040312"/>
          </a:xfrm>
        </p:spPr>
        <p:txBody>
          <a:bodyPr/>
          <a:lstStyle/>
          <a:p>
            <a:pPr eaLnBrk="1" hangingPunct="1">
              <a:lnSpc>
                <a:spcPct val="200000"/>
              </a:lnSpc>
            </a:pPr>
            <a:r>
              <a:rPr lang="en-US" altLang="zh-CN" sz="3200" b="0" dirty="0"/>
              <a:t>Web2.0</a:t>
            </a:r>
          </a:p>
          <a:p>
            <a:pPr eaLnBrk="1" hangingPunct="1">
              <a:lnSpc>
                <a:spcPct val="200000"/>
              </a:lnSpc>
            </a:pPr>
            <a:r>
              <a:rPr lang="zh-CN" altLang="en-US" sz="3200" dirty="0"/>
              <a:t>互联网</a:t>
            </a:r>
            <a:r>
              <a:rPr lang="en-US" altLang="zh-CN" sz="3200" dirty="0"/>
              <a:t>+</a:t>
            </a:r>
            <a:endParaRPr lang="zh-CN" altLang="en-US" sz="3200" b="0" dirty="0"/>
          </a:p>
          <a:p>
            <a:pPr eaLnBrk="1" hangingPunct="1">
              <a:lnSpc>
                <a:spcPct val="200000"/>
              </a:lnSpc>
            </a:pPr>
            <a:r>
              <a:rPr lang="zh-CN" altLang="en-US" sz="3200" b="0" dirty="0"/>
              <a:t>社会计算</a:t>
            </a:r>
            <a:endParaRPr lang="en-US" altLang="zh-CN" sz="3200" b="0" dirty="0"/>
          </a:p>
          <a:p>
            <a:pPr eaLnBrk="1" hangingPunct="1">
              <a:lnSpc>
                <a:spcPct val="200000"/>
              </a:lnSpc>
            </a:pPr>
            <a:r>
              <a:rPr lang="en-US" altLang="zh-CN" sz="3200" b="0" dirty="0"/>
              <a:t>Human Computation</a:t>
            </a:r>
            <a:endParaRPr lang="zh-CN" altLang="en-US" sz="3200" b="0" dirty="0"/>
          </a:p>
        </p:txBody>
      </p:sp>
    </p:spTree>
    <p:extLst>
      <p:ext uri="{BB962C8B-B14F-4D97-AF65-F5344CB8AC3E}">
        <p14:creationId xmlns:p14="http://schemas.microsoft.com/office/powerpoint/2010/main" val="4102337335"/>
      </p:ext>
    </p:extLst>
  </p:cSld>
  <p:clrMapOvr>
    <a:masterClrMapping/>
  </p:clrMapOvr>
  <p:transition spd="slow">
    <p:circl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1691680" y="2937718"/>
            <a:ext cx="6264696" cy="923330"/>
          </a:xfrm>
          <a:prstGeom prst="rect">
            <a:avLst/>
          </a:prstGeom>
          <a:noFill/>
        </p:spPr>
        <p:txBody>
          <a:bodyPr wrap="square" rtlCol="0">
            <a:spAutoFit/>
          </a:bodyPr>
          <a:lstStyle/>
          <a:p>
            <a:pPr algn="ctr"/>
            <a:r>
              <a:rPr lang="en-US" altLang="zh-CN" sz="5400" b="0" dirty="0">
                <a:solidFill>
                  <a:srgbClr val="FF0000"/>
                </a:solidFill>
                <a:latin typeface="微软雅黑" panose="020B0503020204020204" pitchFamily="34" charset="-122"/>
                <a:ea typeface="微软雅黑" panose="020B0503020204020204" pitchFamily="34" charset="-122"/>
              </a:rPr>
              <a:t>1. Web2.0</a:t>
            </a:r>
            <a:endParaRPr lang="zh-CN" altLang="en-US" sz="5400" b="0" dirty="0">
              <a:solidFill>
                <a:srgbClr val="FF0000"/>
              </a:solidFill>
              <a:latin typeface="微软雅黑" panose="020B0503020204020204" pitchFamily="34" charset="-122"/>
              <a:ea typeface="微软雅黑" panose="020B0503020204020204" pitchFamily="34" charset="-122"/>
            </a:endParaRP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6228184" y="260648"/>
            <a:ext cx="2660986" cy="610982"/>
          </a:xfrm>
          <a:prstGeom prst="rect">
            <a:avLst/>
          </a:prstGeom>
        </p:spPr>
      </p:pic>
    </p:spTree>
    <p:extLst>
      <p:ext uri="{BB962C8B-B14F-4D97-AF65-F5344CB8AC3E}">
        <p14:creationId xmlns:p14="http://schemas.microsoft.com/office/powerpoint/2010/main" val="3922659357"/>
      </p:ext>
    </p:extLst>
  </p:cSld>
  <p:clrMapOvr>
    <a:masterClrMapping/>
  </p:clrMapOvr>
  <p:transition spd="slow">
    <p:circl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10"/>
          <p:cNvSpPr>
            <a:spLocks noGrp="1" noChangeArrowheads="1"/>
          </p:cNvSpPr>
          <p:nvPr>
            <p:ph type="title"/>
          </p:nvPr>
        </p:nvSpPr>
        <p:spPr/>
        <p:txBody>
          <a:bodyPr/>
          <a:lstStyle/>
          <a:p>
            <a:pPr eaLnBrk="1" hangingPunct="1"/>
            <a:r>
              <a:rPr lang="en-US" altLang="zh-CN"/>
              <a:t>Web2.0</a:t>
            </a:r>
          </a:p>
        </p:txBody>
      </p:sp>
      <p:pic>
        <p:nvPicPr>
          <p:cNvPr id="14340" name="图片 6" descr="logo of Flickr">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1700213"/>
            <a:ext cx="2590800"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图片 12">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08625" y="4797425"/>
            <a:ext cx="2303463" cy="152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图片 13">
            <a:hlinkClick r:id="rId6"/>
          </p:cNvPr>
          <p:cNvPicPr>
            <a:picLocks noChangeAspect="1" noChangeArrowheads="1"/>
          </p:cNvPicPr>
          <p:nvPr/>
        </p:nvPicPr>
        <p:blipFill>
          <a:blip r:embed="rId7">
            <a:extLst>
              <a:ext uri="{28A0092B-C50C-407E-A947-70E740481C1C}">
                <a14:useLocalDpi xmlns:a14="http://schemas.microsoft.com/office/drawing/2010/main" val="0"/>
              </a:ext>
            </a:extLst>
          </a:blip>
          <a:srcRect r="64188"/>
          <a:stretch>
            <a:fillRect/>
          </a:stretch>
        </p:blipFill>
        <p:spPr bwMode="auto">
          <a:xfrm>
            <a:off x="971550" y="1412875"/>
            <a:ext cx="2736850" cy="119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图片 10" descr="swoopo"/>
          <p:cNvPicPr>
            <a:picLocks noChangeAspect="1" noChangeArrowheads="1"/>
          </p:cNvPicPr>
          <p:nvPr/>
        </p:nvPicPr>
        <p:blipFill>
          <a:blip r:embed="rId8">
            <a:extLst>
              <a:ext uri="{28A0092B-C50C-407E-A947-70E740481C1C}">
                <a14:useLocalDpi xmlns:a14="http://schemas.microsoft.com/office/drawing/2010/main" val="0"/>
              </a:ext>
            </a:extLst>
          </a:blip>
          <a:srcRect r="77527" b="83701"/>
          <a:stretch>
            <a:fillRect/>
          </a:stretch>
        </p:blipFill>
        <p:spPr bwMode="auto">
          <a:xfrm>
            <a:off x="971550" y="3068638"/>
            <a:ext cx="27368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5" name="图片 11">
            <a:hlinkClick r:id="rId9"/>
          </p:cNvPr>
          <p:cNvPicPr>
            <a:picLocks noChangeAspect="1" noChangeArrowheads="1"/>
          </p:cNvPicPr>
          <p:nvPr/>
        </p:nvPicPr>
        <p:blipFill>
          <a:blip r:embed="rId10">
            <a:extLst>
              <a:ext uri="{28A0092B-C50C-407E-A947-70E740481C1C}">
                <a14:useLocalDpi xmlns:a14="http://schemas.microsoft.com/office/drawing/2010/main" val="0"/>
              </a:ext>
            </a:extLst>
          </a:blip>
          <a:srcRect l="539" t="19504" r="85075" b="71660"/>
          <a:stretch>
            <a:fillRect/>
          </a:stretch>
        </p:blipFill>
        <p:spPr bwMode="auto">
          <a:xfrm>
            <a:off x="5154613" y="2997200"/>
            <a:ext cx="2970212"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11"/>
          <a:stretch>
            <a:fillRect/>
          </a:stretch>
        </p:blipFill>
        <p:spPr>
          <a:xfrm>
            <a:off x="1064990" y="5013176"/>
            <a:ext cx="2643410" cy="1120576"/>
          </a:xfrm>
          <a:prstGeom prst="rect">
            <a:avLst/>
          </a:prstGeom>
        </p:spPr>
      </p:pic>
    </p:spTree>
    <p:extLst>
      <p:ext uri="{BB962C8B-B14F-4D97-AF65-F5344CB8AC3E}">
        <p14:creationId xmlns:p14="http://schemas.microsoft.com/office/powerpoint/2010/main" val="2138366609"/>
      </p:ext>
    </p:extLst>
  </p:cSld>
  <p:clrMapOvr>
    <a:masterClrMapping/>
  </p:clrMapOvr>
  <p:transition spd="slow">
    <p:circl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矩形 2"/>
          <p:cNvSpPr>
            <a:spLocks noGrp="1" noChangeArrowheads="1"/>
          </p:cNvSpPr>
          <p:nvPr>
            <p:ph type="title"/>
          </p:nvPr>
        </p:nvSpPr>
        <p:spPr/>
        <p:txBody>
          <a:bodyPr/>
          <a:lstStyle/>
          <a:p>
            <a:pPr eaLnBrk="1" hangingPunct="1"/>
            <a:r>
              <a:rPr lang="en-US" altLang="zh-CN" dirty="0"/>
              <a:t>Web2.0</a:t>
            </a:r>
            <a:r>
              <a:rPr lang="zh-CN" altLang="en-US" dirty="0"/>
              <a:t>的理念</a:t>
            </a:r>
          </a:p>
        </p:txBody>
      </p:sp>
      <p:sp>
        <p:nvSpPr>
          <p:cNvPr id="16387" name="矩形 3"/>
          <p:cNvSpPr>
            <a:spLocks noGrp="1" noChangeArrowheads="1"/>
          </p:cNvSpPr>
          <p:nvPr>
            <p:ph idx="1"/>
          </p:nvPr>
        </p:nvSpPr>
        <p:spPr>
          <a:xfrm>
            <a:off x="395536" y="996770"/>
            <a:ext cx="7632452" cy="5183188"/>
          </a:xfrm>
        </p:spPr>
        <p:txBody>
          <a:bodyPr/>
          <a:lstStyle/>
          <a:p>
            <a:pPr>
              <a:lnSpc>
                <a:spcPct val="200000"/>
              </a:lnSpc>
            </a:pPr>
            <a:r>
              <a:rPr lang="zh-CN" altLang="en-US" sz="2400" b="0" dirty="0">
                <a:latin typeface="微软雅黑" panose="020B0503020204020204" pitchFamily="34" charset="-122"/>
                <a:ea typeface="微软雅黑" panose="020B0503020204020204" pitchFamily="34" charset="-122"/>
              </a:rPr>
              <a:t>用户</a:t>
            </a:r>
            <a:r>
              <a:rPr lang="zh-CN" altLang="en-US" sz="2400" dirty="0"/>
              <a:t>参与、用户可读可写</a:t>
            </a:r>
          </a:p>
          <a:p>
            <a:pPr eaLnBrk="1" hangingPunct="1">
              <a:lnSpc>
                <a:spcPct val="200000"/>
              </a:lnSpc>
            </a:pPr>
            <a:r>
              <a:rPr lang="zh-CN" altLang="en-US" sz="2400" b="0" dirty="0">
                <a:latin typeface="微软雅黑" panose="020B0503020204020204" pitchFamily="34" charset="-122"/>
                <a:ea typeface="微软雅黑" panose="020B0503020204020204" pitchFamily="34" charset="-122"/>
              </a:rPr>
              <a:t>去中心化、倡导个性化服务</a:t>
            </a:r>
          </a:p>
          <a:p>
            <a:pPr eaLnBrk="1" hangingPunct="1">
              <a:lnSpc>
                <a:spcPct val="200000"/>
              </a:lnSpc>
            </a:pPr>
            <a:r>
              <a:rPr lang="zh-CN" altLang="en-US" sz="2400" b="0" dirty="0">
                <a:latin typeface="微软雅黑" panose="020B0503020204020204" pitchFamily="34" charset="-122"/>
                <a:ea typeface="微软雅黑" panose="020B0503020204020204" pitchFamily="34" charset="-122"/>
              </a:rPr>
              <a:t>共享、开放</a:t>
            </a:r>
          </a:p>
          <a:p>
            <a:pPr eaLnBrk="1" hangingPunct="1">
              <a:lnSpc>
                <a:spcPct val="200000"/>
              </a:lnSpc>
            </a:pPr>
            <a:r>
              <a:rPr lang="zh-CN" altLang="en-US" sz="2400" b="0" dirty="0">
                <a:latin typeface="微软雅黑" panose="020B0503020204020204" pitchFamily="34" charset="-122"/>
                <a:ea typeface="微软雅黑" panose="020B0503020204020204" pitchFamily="34" charset="-122"/>
              </a:rPr>
              <a:t>实现人的互联</a:t>
            </a:r>
          </a:p>
          <a:p>
            <a:pPr eaLnBrk="1" hangingPunct="1">
              <a:lnSpc>
                <a:spcPct val="200000"/>
              </a:lnSpc>
            </a:pPr>
            <a:r>
              <a:rPr lang="en-US" altLang="zh-CN" sz="2400" b="0" dirty="0">
                <a:latin typeface="微软雅黑" panose="020B0503020204020204" pitchFamily="34" charset="-122"/>
                <a:ea typeface="微软雅黑" panose="020B0503020204020204" pitchFamily="34" charset="-122"/>
              </a:rPr>
              <a:t>IT</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I”&gt;</a:t>
            </a:r>
            <a:r>
              <a:rPr lang="zh-CN" altLang="en-US" sz="2400" b="0" dirty="0">
                <a:latin typeface="微软雅黑" panose="020B0503020204020204" pitchFamily="34" charset="-122"/>
                <a:ea typeface="微软雅黑" panose="020B0503020204020204" pitchFamily="34" charset="-122"/>
              </a:rPr>
              <a:t>“</a:t>
            </a:r>
            <a:r>
              <a:rPr lang="en-US" altLang="zh-CN" sz="2400" b="0" dirty="0">
                <a:latin typeface="微软雅黑" panose="020B0503020204020204" pitchFamily="34" charset="-122"/>
                <a:ea typeface="微软雅黑" panose="020B0503020204020204" pitchFamily="34" charset="-122"/>
              </a:rPr>
              <a:t>T”</a:t>
            </a:r>
          </a:p>
        </p:txBody>
      </p:sp>
      <p:pic>
        <p:nvPicPr>
          <p:cNvPr id="2" name="图片 1"/>
          <p:cNvPicPr>
            <a:picLocks noChangeAspect="1"/>
          </p:cNvPicPr>
          <p:nvPr/>
        </p:nvPicPr>
        <p:blipFill>
          <a:blip r:embed="rId2"/>
          <a:stretch>
            <a:fillRect/>
          </a:stretch>
        </p:blipFill>
        <p:spPr>
          <a:xfrm>
            <a:off x="4858590" y="1700808"/>
            <a:ext cx="3745463" cy="2088232"/>
          </a:xfrm>
          <a:prstGeom prst="rect">
            <a:avLst/>
          </a:prstGeom>
        </p:spPr>
      </p:pic>
      <p:pic>
        <p:nvPicPr>
          <p:cNvPr id="3" name="图片 2"/>
          <p:cNvPicPr>
            <a:picLocks noChangeAspect="1"/>
          </p:cNvPicPr>
          <p:nvPr/>
        </p:nvPicPr>
        <p:blipFill>
          <a:blip r:embed="rId3"/>
          <a:stretch>
            <a:fillRect/>
          </a:stretch>
        </p:blipFill>
        <p:spPr>
          <a:xfrm>
            <a:off x="5148065" y="4797151"/>
            <a:ext cx="3455988" cy="1774637"/>
          </a:xfrm>
          <a:prstGeom prst="rect">
            <a:avLst/>
          </a:prstGeom>
        </p:spPr>
      </p:pic>
      <p:pic>
        <p:nvPicPr>
          <p:cNvPr id="4" name="图片 3"/>
          <p:cNvPicPr>
            <a:picLocks noChangeAspect="1"/>
          </p:cNvPicPr>
          <p:nvPr/>
        </p:nvPicPr>
        <p:blipFill>
          <a:blip r:embed="rId4"/>
          <a:stretch>
            <a:fillRect/>
          </a:stretch>
        </p:blipFill>
        <p:spPr>
          <a:xfrm>
            <a:off x="827584" y="4797152"/>
            <a:ext cx="3985412" cy="1774636"/>
          </a:xfrm>
          <a:prstGeom prst="rect">
            <a:avLst/>
          </a:prstGeom>
        </p:spPr>
      </p:pic>
    </p:spTree>
    <p:extLst>
      <p:ext uri="{BB962C8B-B14F-4D97-AF65-F5344CB8AC3E}">
        <p14:creationId xmlns:p14="http://schemas.microsoft.com/office/powerpoint/2010/main" val="4247399562"/>
      </p:ext>
    </p:extLst>
  </p:cSld>
  <p:clrMapOvr>
    <a:masterClrMapping/>
  </p:clrMapOvr>
  <p:transition spd="slow">
    <p:circl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11"/>
          <p:cNvSpPr>
            <a:spLocks noGrp="1" noChangeArrowheads="1"/>
          </p:cNvSpPr>
          <p:nvPr>
            <p:ph type="title"/>
          </p:nvPr>
        </p:nvSpPr>
        <p:spPr/>
        <p:txBody>
          <a:bodyPr/>
          <a:lstStyle/>
          <a:p>
            <a:r>
              <a:rPr lang="en-US" altLang="zh-TW" dirty="0"/>
              <a:t>Web1.0 </a:t>
            </a:r>
            <a:r>
              <a:rPr lang="zh-CN" altLang="en-US" dirty="0"/>
              <a:t>与</a:t>
            </a:r>
            <a:r>
              <a:rPr lang="en-US" altLang="zh-TW" dirty="0"/>
              <a:t>Web2.0</a:t>
            </a:r>
            <a:r>
              <a:rPr lang="zh-TW" altLang="en-US" dirty="0"/>
              <a:t>的</a:t>
            </a:r>
            <a:r>
              <a:rPr lang="zh-CN" altLang="en-US" dirty="0"/>
              <a:t>比较</a:t>
            </a:r>
            <a:endParaRPr lang="zh-TW" altLang="en-US" dirty="0"/>
          </a:p>
        </p:txBody>
      </p:sp>
      <p:pic>
        <p:nvPicPr>
          <p:cNvPr id="2" name="图片 1"/>
          <p:cNvPicPr>
            <a:picLocks noChangeAspect="1"/>
          </p:cNvPicPr>
          <p:nvPr/>
        </p:nvPicPr>
        <p:blipFill>
          <a:blip r:embed="rId3"/>
          <a:stretch>
            <a:fillRect/>
          </a:stretch>
        </p:blipFill>
        <p:spPr>
          <a:xfrm>
            <a:off x="251520" y="1867269"/>
            <a:ext cx="4320480" cy="3574165"/>
          </a:xfrm>
          <a:prstGeom prst="rect">
            <a:avLst/>
          </a:prstGeom>
        </p:spPr>
      </p:pic>
      <p:pic>
        <p:nvPicPr>
          <p:cNvPr id="3" name="图片 2"/>
          <p:cNvPicPr>
            <a:picLocks noChangeAspect="1"/>
          </p:cNvPicPr>
          <p:nvPr/>
        </p:nvPicPr>
        <p:blipFill>
          <a:blip r:embed="rId4"/>
          <a:stretch>
            <a:fillRect/>
          </a:stretch>
        </p:blipFill>
        <p:spPr>
          <a:xfrm>
            <a:off x="4572000" y="1867269"/>
            <a:ext cx="4248472" cy="3558124"/>
          </a:xfrm>
          <a:prstGeom prst="rect">
            <a:avLst/>
          </a:prstGeom>
        </p:spPr>
      </p:pic>
      <p:sp>
        <p:nvSpPr>
          <p:cNvPr id="4" name="矩形 3"/>
          <p:cNvSpPr/>
          <p:nvPr/>
        </p:nvSpPr>
        <p:spPr>
          <a:xfrm>
            <a:off x="1872894" y="5733256"/>
            <a:ext cx="1256306" cy="461665"/>
          </a:xfrm>
          <a:prstGeom prst="rect">
            <a:avLst/>
          </a:prstGeom>
        </p:spPr>
        <p:txBody>
          <a:bodyPr wrap="none">
            <a:spAutoFit/>
          </a:bodyPr>
          <a:lstStyle/>
          <a:p>
            <a:r>
              <a:rPr lang="en-US" altLang="zh-TW" sz="2400" dirty="0"/>
              <a:t>Web1.0</a:t>
            </a:r>
            <a:endParaRPr lang="zh-CN" altLang="en-US" sz="2400" dirty="0"/>
          </a:p>
        </p:txBody>
      </p:sp>
      <p:sp>
        <p:nvSpPr>
          <p:cNvPr id="13" name="矩形 12"/>
          <p:cNvSpPr/>
          <p:nvPr/>
        </p:nvSpPr>
        <p:spPr>
          <a:xfrm>
            <a:off x="6068083" y="5722349"/>
            <a:ext cx="1256306" cy="461665"/>
          </a:xfrm>
          <a:prstGeom prst="rect">
            <a:avLst/>
          </a:prstGeom>
        </p:spPr>
        <p:txBody>
          <a:bodyPr wrap="none">
            <a:spAutoFit/>
          </a:bodyPr>
          <a:lstStyle/>
          <a:p>
            <a:r>
              <a:rPr lang="en-US" altLang="zh-TW" sz="2400" dirty="0"/>
              <a:t>Web2.0</a:t>
            </a:r>
            <a:endParaRPr lang="zh-CN" altLang="en-US" sz="2400" dirty="0"/>
          </a:p>
        </p:txBody>
      </p:sp>
    </p:spTree>
    <p:extLst>
      <p:ext uri="{BB962C8B-B14F-4D97-AF65-F5344CB8AC3E}">
        <p14:creationId xmlns:p14="http://schemas.microsoft.com/office/powerpoint/2010/main" val="1284546096"/>
      </p:ext>
    </p:extLst>
  </p:cSld>
  <p:clrMapOvr>
    <a:masterClrMapping/>
  </p:clrMapOvr>
  <p:transition spd="slow">
    <p:circl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2"/>
          <p:cNvSpPr>
            <a:spLocks noGrp="1" noChangeArrowheads="1"/>
          </p:cNvSpPr>
          <p:nvPr>
            <p:ph type="title"/>
          </p:nvPr>
        </p:nvSpPr>
        <p:spPr/>
        <p:txBody>
          <a:bodyPr/>
          <a:lstStyle/>
          <a:p>
            <a:pPr eaLnBrk="1" hangingPunct="1"/>
            <a:r>
              <a:rPr lang="zh-CN" altLang="en-US" dirty="0"/>
              <a:t>传统</a:t>
            </a:r>
            <a:r>
              <a:rPr lang="en-US" altLang="zh-CN" dirty="0"/>
              <a:t>Web 2.0</a:t>
            </a:r>
            <a:r>
              <a:rPr lang="zh-CN" altLang="en-US" dirty="0"/>
              <a:t>概念</a:t>
            </a:r>
            <a:endParaRPr lang="en-US" altLang="zh-CN" dirty="0"/>
          </a:p>
        </p:txBody>
      </p:sp>
      <p:sp>
        <p:nvSpPr>
          <p:cNvPr id="22531" name="矩形 3"/>
          <p:cNvSpPr>
            <a:spLocks noGrp="1" noChangeArrowheads="1"/>
          </p:cNvSpPr>
          <p:nvPr>
            <p:ph idx="1"/>
          </p:nvPr>
        </p:nvSpPr>
        <p:spPr>
          <a:xfrm>
            <a:off x="457200" y="1125538"/>
            <a:ext cx="8362950" cy="5040312"/>
          </a:xfrm>
        </p:spPr>
        <p:txBody>
          <a:bodyPr/>
          <a:lstStyle/>
          <a:p>
            <a:pPr eaLnBrk="1" hangingPunct="1">
              <a:lnSpc>
                <a:spcPct val="250000"/>
              </a:lnSpc>
            </a:pPr>
            <a:r>
              <a:rPr lang="en-US" altLang="zh-CN" sz="2400" b="0" dirty="0">
                <a:latin typeface="微软雅黑" panose="020B0503020204020204" pitchFamily="34" charset="-122"/>
                <a:ea typeface="微软雅黑" panose="020B0503020204020204" pitchFamily="34" charset="-122"/>
              </a:rPr>
              <a:t>Web2.0</a:t>
            </a:r>
            <a:r>
              <a:rPr lang="zh-CN" altLang="en-US" sz="2400" b="0" dirty="0">
                <a:latin typeface="微软雅黑" panose="020B0503020204020204" pitchFamily="34" charset="-122"/>
                <a:ea typeface="微软雅黑" panose="020B0503020204020204" pitchFamily="34" charset="-122"/>
              </a:rPr>
              <a:t>是</a:t>
            </a:r>
            <a:endParaRPr lang="en-US" altLang="zh-CN" sz="2400" b="0" dirty="0">
              <a:latin typeface="微软雅黑" panose="020B0503020204020204" pitchFamily="34" charset="-122"/>
              <a:ea typeface="微软雅黑" panose="020B0503020204020204" pitchFamily="34" charset="-122"/>
            </a:endParaRPr>
          </a:p>
          <a:p>
            <a:pPr lvl="1">
              <a:lnSpc>
                <a:spcPct val="250000"/>
              </a:lnSpc>
            </a:pPr>
            <a:r>
              <a:rPr lang="zh-CN" altLang="en-US" sz="2200" b="0" dirty="0">
                <a:latin typeface="微软雅黑" panose="020B0503020204020204" pitchFamily="34" charset="-122"/>
                <a:ea typeface="微软雅黑" panose="020B0503020204020204" pitchFamily="34" charset="-122"/>
              </a:rPr>
              <a:t>以 </a:t>
            </a:r>
            <a:r>
              <a:rPr lang="en-US" altLang="zh-CN" sz="2200" b="0" dirty="0">
                <a:latin typeface="微软雅黑" panose="020B0503020204020204" pitchFamily="34" charset="-122"/>
                <a:ea typeface="微软雅黑" panose="020B0503020204020204" pitchFamily="34" charset="-122"/>
              </a:rPr>
              <a:t>Flickr</a:t>
            </a:r>
            <a:r>
              <a:rPr lang="zh-CN" altLang="en-US" sz="2200" b="0" dirty="0">
                <a:latin typeface="微软雅黑" panose="020B0503020204020204" pitchFamily="34" charset="-122"/>
                <a:ea typeface="微软雅黑" panose="020B0503020204020204" pitchFamily="34" charset="-122"/>
              </a:rPr>
              <a:t>、 </a:t>
            </a:r>
            <a:r>
              <a:rPr lang="en-US" altLang="zh-CN" sz="2200" b="0" dirty="0">
                <a:latin typeface="微软雅黑" panose="020B0503020204020204" pitchFamily="34" charset="-122"/>
                <a:ea typeface="微软雅黑" panose="020B0503020204020204" pitchFamily="34" charset="-122"/>
              </a:rPr>
              <a:t>Del.icio.us</a:t>
            </a:r>
            <a:r>
              <a:rPr lang="zh-CN" altLang="en-US" sz="2200" b="0" dirty="0">
                <a:latin typeface="微软雅黑" panose="020B0503020204020204" pitchFamily="34" charset="-122"/>
                <a:ea typeface="微软雅黑" panose="020B0503020204020204" pitchFamily="34" charset="-122"/>
              </a:rPr>
              <a:t>、 </a:t>
            </a:r>
            <a:r>
              <a:rPr lang="en-US" altLang="zh-CN" sz="2200" b="0" dirty="0">
                <a:latin typeface="微软雅黑" panose="020B0503020204020204" pitchFamily="34" charset="-122"/>
                <a:ea typeface="微软雅黑" panose="020B0503020204020204" pitchFamily="34" charset="-122"/>
              </a:rPr>
              <a:t>Blogger Friendster</a:t>
            </a:r>
            <a:r>
              <a:rPr lang="zh-CN" altLang="en-US" sz="2200" b="0" dirty="0">
                <a:latin typeface="微软雅黑" panose="020B0503020204020204" pitchFamily="34" charset="-122"/>
                <a:ea typeface="微软雅黑" panose="020B0503020204020204" pitchFamily="34" charset="-122"/>
              </a:rPr>
              <a:t>等网站为代表，</a:t>
            </a:r>
            <a:endParaRPr lang="en-US" altLang="zh-CN" sz="2200" b="0" dirty="0">
              <a:latin typeface="微软雅黑" panose="020B0503020204020204" pitchFamily="34" charset="-122"/>
              <a:ea typeface="微软雅黑" panose="020B0503020204020204" pitchFamily="34" charset="-122"/>
            </a:endParaRPr>
          </a:p>
          <a:p>
            <a:pPr lvl="1">
              <a:lnSpc>
                <a:spcPct val="250000"/>
              </a:lnSpc>
            </a:pPr>
            <a:r>
              <a:rPr lang="zh-CN" altLang="en-US" sz="2200" b="0" dirty="0">
                <a:latin typeface="微软雅黑" panose="020B0503020204020204" pitchFamily="34" charset="-122"/>
                <a:ea typeface="微软雅黑" panose="020B0503020204020204" pitchFamily="34" charset="-122"/>
              </a:rPr>
              <a:t>以</a:t>
            </a:r>
            <a:r>
              <a:rPr lang="en-US" altLang="zh-CN" sz="2200" b="0" dirty="0">
                <a:latin typeface="微软雅黑" panose="020B0503020204020204" pitchFamily="34" charset="-122"/>
                <a:ea typeface="微软雅黑" panose="020B0503020204020204" pitchFamily="34" charset="-122"/>
              </a:rPr>
              <a:t>Blog</a:t>
            </a:r>
            <a:r>
              <a:rPr lang="zh-CN" altLang="en-US" sz="2200" b="0" dirty="0">
                <a:latin typeface="微软雅黑" panose="020B0503020204020204" pitchFamily="34" charset="-122"/>
                <a:ea typeface="微软雅黑" panose="020B0503020204020204" pitchFamily="34" charset="-122"/>
              </a:rPr>
              <a:t>、</a:t>
            </a:r>
            <a:r>
              <a:rPr lang="en-US" altLang="zh-CN" sz="2200" b="0" dirty="0">
                <a:latin typeface="微软雅黑" panose="020B0503020204020204" pitchFamily="34" charset="-122"/>
                <a:ea typeface="微软雅黑" panose="020B0503020204020204" pitchFamily="34" charset="-122"/>
              </a:rPr>
              <a:t>Tag</a:t>
            </a:r>
            <a:r>
              <a:rPr lang="zh-CN" altLang="en-US" sz="2200" b="0" dirty="0">
                <a:latin typeface="微软雅黑" panose="020B0503020204020204" pitchFamily="34" charset="-122"/>
                <a:ea typeface="微软雅黑" panose="020B0503020204020204" pitchFamily="34" charset="-122"/>
              </a:rPr>
              <a:t>、</a:t>
            </a:r>
            <a:r>
              <a:rPr lang="en-US" altLang="zh-CN" sz="2200" b="0" dirty="0">
                <a:latin typeface="微软雅黑" panose="020B0503020204020204" pitchFamily="34" charset="-122"/>
                <a:ea typeface="微软雅黑" panose="020B0503020204020204" pitchFamily="34" charset="-122"/>
              </a:rPr>
              <a:t>SNS</a:t>
            </a:r>
            <a:r>
              <a:rPr lang="zh-CN" altLang="en-US" sz="2200" b="0" dirty="0">
                <a:latin typeface="微软雅黑" panose="020B0503020204020204" pitchFamily="34" charset="-122"/>
                <a:ea typeface="微软雅黑" panose="020B0503020204020204" pitchFamily="34" charset="-122"/>
              </a:rPr>
              <a:t>、</a:t>
            </a:r>
            <a:r>
              <a:rPr lang="en-US" altLang="zh-CN" sz="2200" b="0" dirty="0">
                <a:latin typeface="微软雅黑" panose="020B0503020204020204" pitchFamily="34" charset="-122"/>
                <a:ea typeface="微软雅黑" panose="020B0503020204020204" pitchFamily="34" charset="-122"/>
              </a:rPr>
              <a:t>RSS</a:t>
            </a:r>
            <a:r>
              <a:rPr lang="zh-CN" altLang="en-US" sz="2200" b="0" dirty="0">
                <a:latin typeface="微软雅黑" panose="020B0503020204020204" pitchFamily="34" charset="-122"/>
                <a:ea typeface="微软雅黑" panose="020B0503020204020204" pitchFamily="34" charset="-122"/>
              </a:rPr>
              <a:t>、</a:t>
            </a:r>
            <a:r>
              <a:rPr lang="en-US" altLang="zh-CN" sz="2200" b="0" dirty="0">
                <a:latin typeface="微软雅黑" panose="020B0503020204020204" pitchFamily="34" charset="-122"/>
                <a:ea typeface="微软雅黑" panose="020B0503020204020204" pitchFamily="34" charset="-122"/>
              </a:rPr>
              <a:t>Wiki</a:t>
            </a:r>
            <a:r>
              <a:rPr lang="zh-CN" altLang="en-US" sz="2200" b="0" dirty="0">
                <a:latin typeface="微软雅黑" panose="020B0503020204020204" pitchFamily="34" charset="-122"/>
                <a:ea typeface="微软雅黑" panose="020B0503020204020204" pitchFamily="34" charset="-122"/>
              </a:rPr>
              <a:t>等应用为核心，</a:t>
            </a:r>
            <a:endParaRPr lang="en-US" altLang="zh-CN" sz="2200" b="0" dirty="0">
              <a:latin typeface="微软雅黑" panose="020B0503020204020204" pitchFamily="34" charset="-122"/>
              <a:ea typeface="微软雅黑" panose="020B0503020204020204" pitchFamily="34" charset="-122"/>
            </a:endParaRPr>
          </a:p>
          <a:p>
            <a:pPr lvl="1">
              <a:lnSpc>
                <a:spcPct val="250000"/>
              </a:lnSpc>
            </a:pPr>
            <a:r>
              <a:rPr lang="zh-CN" altLang="en-US" sz="2200" b="0" dirty="0">
                <a:latin typeface="微软雅黑" panose="020B0503020204020204" pitchFamily="34" charset="-122"/>
                <a:ea typeface="微软雅黑" panose="020B0503020204020204" pitchFamily="34" charset="-122"/>
              </a:rPr>
              <a:t>依据六度分隔、</a:t>
            </a:r>
            <a:r>
              <a:rPr lang="en-US" altLang="zh-CN" sz="2200" b="0" dirty="0">
                <a:latin typeface="微软雅黑" panose="020B0503020204020204" pitchFamily="34" charset="-122"/>
                <a:ea typeface="微软雅黑" panose="020B0503020204020204" pitchFamily="34" charset="-122"/>
              </a:rPr>
              <a:t>xml</a:t>
            </a:r>
            <a:r>
              <a:rPr lang="zh-CN" altLang="en-US" sz="2200" b="0" dirty="0">
                <a:latin typeface="微软雅黑" panose="020B0503020204020204" pitchFamily="34" charset="-122"/>
                <a:ea typeface="微软雅黑" panose="020B0503020204020204" pitchFamily="34" charset="-122"/>
              </a:rPr>
              <a:t>、</a:t>
            </a:r>
            <a:r>
              <a:rPr lang="en-US" altLang="zh-CN" sz="2200" b="0" dirty="0">
                <a:latin typeface="微软雅黑" panose="020B0503020204020204" pitchFamily="34" charset="-122"/>
                <a:ea typeface="微软雅黑" panose="020B0503020204020204" pitchFamily="34" charset="-122"/>
              </a:rPr>
              <a:t>ajax</a:t>
            </a:r>
            <a:r>
              <a:rPr lang="zh-CN" altLang="en-US" sz="2200" b="0" dirty="0">
                <a:latin typeface="微软雅黑" panose="020B0503020204020204" pitchFamily="34" charset="-122"/>
                <a:ea typeface="微软雅黑" panose="020B0503020204020204" pitchFamily="34" charset="-122"/>
              </a:rPr>
              <a:t>等新理论和技术，</a:t>
            </a:r>
            <a:endParaRPr lang="en-US" altLang="zh-CN" sz="2200" b="0" dirty="0">
              <a:latin typeface="微软雅黑" panose="020B0503020204020204" pitchFamily="34" charset="-122"/>
              <a:ea typeface="微软雅黑" panose="020B0503020204020204" pitchFamily="34" charset="-122"/>
            </a:endParaRPr>
          </a:p>
          <a:p>
            <a:pPr lvl="1">
              <a:lnSpc>
                <a:spcPct val="250000"/>
              </a:lnSpc>
            </a:pPr>
            <a:r>
              <a:rPr lang="zh-CN" altLang="en-US" sz="2200" b="0" dirty="0">
                <a:latin typeface="微软雅黑" panose="020B0503020204020204" pitchFamily="34" charset="-122"/>
                <a:ea typeface="微软雅黑" panose="020B0503020204020204" pitchFamily="34" charset="-122"/>
              </a:rPr>
              <a:t>实现的互联网新一代模式。</a:t>
            </a:r>
            <a:endParaRPr lang="en-US" altLang="zh-CN" sz="22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36806905"/>
      </p:ext>
    </p:extLst>
  </p:cSld>
  <p:clrMapOvr>
    <a:masterClrMapping/>
  </p:clrMapOvr>
  <p:transition spd="slow">
    <p:circl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Web2.0</a:t>
            </a:r>
            <a:r>
              <a:rPr lang="zh-CN" altLang="en-US" dirty="0"/>
              <a:t>的延伸</a:t>
            </a:r>
          </a:p>
        </p:txBody>
      </p:sp>
      <p:pic>
        <p:nvPicPr>
          <p:cNvPr id="3" name="图片 2"/>
          <p:cNvPicPr>
            <a:picLocks noChangeAspect="1"/>
          </p:cNvPicPr>
          <p:nvPr/>
        </p:nvPicPr>
        <p:blipFill>
          <a:blip r:embed="rId2"/>
          <a:stretch>
            <a:fillRect/>
          </a:stretch>
        </p:blipFill>
        <p:spPr>
          <a:xfrm>
            <a:off x="239519" y="1306824"/>
            <a:ext cx="5844649" cy="5112568"/>
          </a:xfrm>
          <a:prstGeom prst="rect">
            <a:avLst/>
          </a:prstGeom>
        </p:spPr>
      </p:pic>
      <p:pic>
        <p:nvPicPr>
          <p:cNvPr id="4" name="Picture 2" descr="全球借脑：让更多聪明人为你的公司工作（沃顿商学院图书）"/>
          <p:cNvPicPr>
            <a:picLocks noChangeAspect="1" noChangeArrowheads="1"/>
          </p:cNvPicPr>
          <p:nvPr/>
        </p:nvPicPr>
        <p:blipFill>
          <a:blip r:embed="rId3">
            <a:extLst>
              <a:ext uri="{28A0092B-C50C-407E-A947-70E740481C1C}">
                <a14:useLocalDpi xmlns:a14="http://schemas.microsoft.com/office/drawing/2010/main" val="0"/>
              </a:ext>
            </a:extLst>
          </a:blip>
          <a:srcRect l="16284" r="16667"/>
          <a:stretch>
            <a:fillRect/>
          </a:stretch>
        </p:blipFill>
        <p:spPr bwMode="auto">
          <a:xfrm>
            <a:off x="6084168" y="2060848"/>
            <a:ext cx="2376264" cy="3604520"/>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082151"/>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2"/>
          <p:cNvSpPr>
            <a:spLocks noGrp="1" noChangeArrowheads="1"/>
          </p:cNvSpPr>
          <p:nvPr>
            <p:ph type="title"/>
          </p:nvPr>
        </p:nvSpPr>
        <p:spPr/>
        <p:txBody>
          <a:bodyPr/>
          <a:lstStyle/>
          <a:p>
            <a:pPr eaLnBrk="1" hangingPunct="1"/>
            <a:r>
              <a:rPr lang="zh-CN" altLang="en-US" dirty="0"/>
              <a:t>广义</a:t>
            </a:r>
            <a:r>
              <a:rPr lang="en-US" altLang="zh-CN" dirty="0"/>
              <a:t>Web2.0</a:t>
            </a:r>
            <a:r>
              <a:rPr lang="zh-CN" altLang="en-US" dirty="0"/>
              <a:t>概念</a:t>
            </a:r>
            <a:endParaRPr lang="en-US" altLang="zh-CN" dirty="0"/>
          </a:p>
        </p:txBody>
      </p:sp>
      <p:sp>
        <p:nvSpPr>
          <p:cNvPr id="23555" name="矩形 3"/>
          <p:cNvSpPr>
            <a:spLocks noGrp="1" noChangeArrowheads="1"/>
          </p:cNvSpPr>
          <p:nvPr>
            <p:ph idx="1"/>
          </p:nvPr>
        </p:nvSpPr>
        <p:spPr>
          <a:xfrm>
            <a:off x="457200" y="1124744"/>
            <a:ext cx="8229600" cy="5327650"/>
          </a:xfrm>
        </p:spPr>
        <p:txBody>
          <a:bodyPr/>
          <a:lstStyle/>
          <a:p>
            <a:pPr eaLnBrk="1" hangingPunct="1">
              <a:lnSpc>
                <a:spcPct val="180000"/>
              </a:lnSpc>
            </a:pPr>
            <a:r>
              <a:rPr lang="zh-CN" altLang="en-US" sz="2400" b="0" dirty="0">
                <a:latin typeface="微软雅黑" panose="020B0503020204020204" pitchFamily="34" charset="-122"/>
                <a:ea typeface="微软雅黑" panose="020B0503020204020204" pitchFamily="34" charset="-122"/>
              </a:rPr>
              <a:t>文化哲学视角</a:t>
            </a:r>
          </a:p>
          <a:p>
            <a:pPr lvl="1" eaLnBrk="1" hangingPunct="1">
              <a:lnSpc>
                <a:spcPct val="180000"/>
              </a:lnSpc>
            </a:pPr>
            <a:r>
              <a:rPr lang="zh-CN" altLang="en-US" sz="2400" b="0" dirty="0">
                <a:latin typeface="微软雅黑" panose="020B0503020204020204" pitchFamily="34" charset="-122"/>
                <a:ea typeface="微软雅黑" panose="020B0503020204020204" pitchFamily="34" charset="-122"/>
              </a:rPr>
              <a:t>社会文化创造观念的革命在</a:t>
            </a:r>
            <a:r>
              <a:rPr lang="en-US" altLang="zh-CN" sz="2400" b="0" dirty="0">
                <a:latin typeface="微软雅黑" panose="020B0503020204020204" pitchFamily="34" charset="-122"/>
                <a:ea typeface="微软雅黑" panose="020B0503020204020204" pitchFamily="34" charset="-122"/>
              </a:rPr>
              <a:t>Internet</a:t>
            </a:r>
            <a:r>
              <a:rPr lang="zh-CN" altLang="en-US" sz="2400" b="0" dirty="0">
                <a:latin typeface="微软雅黑" panose="020B0503020204020204" pitchFamily="34" charset="-122"/>
                <a:ea typeface="微软雅黑" panose="020B0503020204020204" pitchFamily="34" charset="-122"/>
              </a:rPr>
              <a:t>上的体现</a:t>
            </a:r>
          </a:p>
          <a:p>
            <a:pPr eaLnBrk="1" hangingPunct="1">
              <a:lnSpc>
                <a:spcPct val="180000"/>
              </a:lnSpc>
            </a:pPr>
            <a:r>
              <a:rPr lang="zh-CN" altLang="en-US" sz="2400" b="0" dirty="0">
                <a:latin typeface="微软雅黑" panose="020B0503020204020204" pitchFamily="34" charset="-122"/>
                <a:ea typeface="微软雅黑" panose="020B0503020204020204" pitchFamily="34" charset="-122"/>
              </a:rPr>
              <a:t>经济学视角</a:t>
            </a:r>
          </a:p>
          <a:p>
            <a:pPr lvl="1" eaLnBrk="1" hangingPunct="1">
              <a:lnSpc>
                <a:spcPct val="180000"/>
              </a:lnSpc>
            </a:pPr>
            <a:r>
              <a:rPr lang="zh-CN" altLang="en-US" sz="2400" b="0" dirty="0">
                <a:latin typeface="微软雅黑" panose="020B0503020204020204" pitchFamily="34" charset="-122"/>
                <a:ea typeface="微软雅黑" panose="020B0503020204020204" pitchFamily="34" charset="-122"/>
              </a:rPr>
              <a:t>新的电子商务模式</a:t>
            </a:r>
          </a:p>
          <a:p>
            <a:pPr eaLnBrk="1" hangingPunct="1">
              <a:lnSpc>
                <a:spcPct val="180000"/>
              </a:lnSpc>
            </a:pPr>
            <a:r>
              <a:rPr lang="zh-CN" altLang="en-US" sz="2400" b="0" dirty="0">
                <a:latin typeface="微软雅黑" panose="020B0503020204020204" pitchFamily="34" charset="-122"/>
                <a:ea typeface="微软雅黑" panose="020B0503020204020204" pitchFamily="34" charset="-122"/>
              </a:rPr>
              <a:t>信息系统视角</a:t>
            </a:r>
          </a:p>
          <a:p>
            <a:pPr lvl="1" eaLnBrk="1" hangingPunct="1">
              <a:lnSpc>
                <a:spcPct val="180000"/>
              </a:lnSpc>
            </a:pPr>
            <a:r>
              <a:rPr lang="zh-CN" altLang="en-US" sz="2400" b="0" dirty="0">
                <a:latin typeface="微软雅黑" panose="020B0503020204020204" pitchFamily="34" charset="-122"/>
                <a:ea typeface="微软雅黑" panose="020B0503020204020204" pitchFamily="34" charset="-122"/>
              </a:rPr>
              <a:t>类操作系统平台，改变了</a:t>
            </a:r>
            <a:r>
              <a:rPr lang="en-US" altLang="zh-CN" sz="2400" b="0" dirty="0">
                <a:latin typeface="微软雅黑" panose="020B0503020204020204" pitchFamily="34" charset="-122"/>
                <a:ea typeface="微软雅黑" panose="020B0503020204020204" pitchFamily="34" charset="-122"/>
              </a:rPr>
              <a:t>Web</a:t>
            </a:r>
            <a:r>
              <a:rPr lang="zh-CN" altLang="en-US" sz="2400" b="0" dirty="0">
                <a:latin typeface="微软雅黑" panose="020B0503020204020204" pitchFamily="34" charset="-122"/>
                <a:ea typeface="微软雅黑" panose="020B0503020204020204" pitchFamily="34" charset="-122"/>
              </a:rPr>
              <a:t>信息体系</a:t>
            </a:r>
          </a:p>
          <a:p>
            <a:pPr lvl="1" eaLnBrk="1" hangingPunct="1">
              <a:lnSpc>
                <a:spcPct val="180000"/>
              </a:lnSpc>
            </a:pPr>
            <a:r>
              <a:rPr lang="zh-CN" altLang="en-US" sz="2400" b="0" dirty="0">
                <a:latin typeface="微软雅黑" panose="020B0503020204020204" pitchFamily="34" charset="-122"/>
                <a:ea typeface="微软雅黑" panose="020B0503020204020204" pitchFamily="34" charset="-122"/>
              </a:rPr>
              <a:t>共享、重组、再造的新网络系统</a:t>
            </a:r>
          </a:p>
          <a:p>
            <a:pPr eaLnBrk="1" hangingPunct="1">
              <a:lnSpc>
                <a:spcPct val="180000"/>
              </a:lnSpc>
            </a:pPr>
            <a:r>
              <a:rPr lang="zh-CN" altLang="en-US" sz="2400" b="0" dirty="0">
                <a:latin typeface="微软雅黑" panose="020B0503020204020204" pitchFamily="34" charset="-122"/>
                <a:ea typeface="微软雅黑" panose="020B0503020204020204" pitchFamily="34" charset="-122"/>
              </a:rPr>
              <a:t>重点不在技术，而是系统思念与综合应用的创新</a:t>
            </a:r>
          </a:p>
        </p:txBody>
      </p:sp>
    </p:spTree>
    <p:extLst>
      <p:ext uri="{BB962C8B-B14F-4D97-AF65-F5344CB8AC3E}">
        <p14:creationId xmlns:p14="http://schemas.microsoft.com/office/powerpoint/2010/main" val="4113218605"/>
      </p:ext>
    </p:extLst>
  </p:cSld>
  <p:clrMapOvr>
    <a:masterClrMapping/>
  </p:clrMapOvr>
  <p:transition spd="slow">
    <p:circl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1331640" y="2961743"/>
            <a:ext cx="6264696" cy="923330"/>
          </a:xfrm>
          <a:prstGeom prst="rect">
            <a:avLst/>
          </a:prstGeom>
          <a:noFill/>
        </p:spPr>
        <p:txBody>
          <a:bodyPr wrap="square" rtlCol="0">
            <a:spAutoFit/>
          </a:bodyPr>
          <a:lstStyle/>
          <a:p>
            <a:pPr algn="ctr"/>
            <a:r>
              <a:rPr lang="en-US" altLang="zh-CN" sz="5400" b="0" dirty="0">
                <a:solidFill>
                  <a:srgbClr val="FF0000"/>
                </a:solidFill>
                <a:latin typeface="微软雅黑" panose="020B0503020204020204" pitchFamily="34" charset="-122"/>
                <a:ea typeface="微软雅黑" panose="020B0503020204020204" pitchFamily="34" charset="-122"/>
              </a:rPr>
              <a:t>2. </a:t>
            </a:r>
            <a:r>
              <a:rPr lang="zh-CN" altLang="en-US" sz="5400" b="0" dirty="0">
                <a:solidFill>
                  <a:srgbClr val="FF0000"/>
                </a:solidFill>
                <a:latin typeface="微软雅黑" panose="020B0503020204020204" pitchFamily="34" charset="-122"/>
                <a:ea typeface="微软雅黑" panose="020B0503020204020204" pitchFamily="34" charset="-122"/>
              </a:rPr>
              <a:t>互联网</a:t>
            </a:r>
            <a:r>
              <a:rPr lang="en-US" altLang="zh-CN" sz="5400" b="0" dirty="0">
                <a:solidFill>
                  <a:srgbClr val="FF0000"/>
                </a:solidFill>
                <a:latin typeface="微软雅黑" panose="020B0503020204020204" pitchFamily="34" charset="-122"/>
                <a:ea typeface="微软雅黑" panose="020B0503020204020204" pitchFamily="34" charset="-122"/>
              </a:rPr>
              <a:t>+</a:t>
            </a:r>
            <a:endParaRPr lang="zh-CN" altLang="en-US" sz="5400" b="0" dirty="0">
              <a:solidFill>
                <a:srgbClr val="FF0000"/>
              </a:solidFill>
              <a:latin typeface="微软雅黑" panose="020B0503020204020204" pitchFamily="34" charset="-122"/>
              <a:ea typeface="微软雅黑" panose="020B0503020204020204" pitchFamily="34" charset="-122"/>
            </a:endParaRP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6228184" y="260648"/>
            <a:ext cx="2660986" cy="610982"/>
          </a:xfrm>
          <a:prstGeom prst="rect">
            <a:avLst/>
          </a:prstGeom>
        </p:spPr>
      </p:pic>
    </p:spTree>
    <p:extLst>
      <p:ext uri="{BB962C8B-B14F-4D97-AF65-F5344CB8AC3E}">
        <p14:creationId xmlns:p14="http://schemas.microsoft.com/office/powerpoint/2010/main" val="3639652726"/>
      </p:ext>
    </p:extLst>
  </p:cSld>
  <p:clrMapOvr>
    <a:masterClrMapping/>
  </p:clrMapOvr>
  <p:transition spd="slow">
    <p:circl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sym typeface="张海山锐谐体"/>
              </a:rPr>
              <a:t>互联网“</a:t>
            </a:r>
            <a:r>
              <a:rPr lang="en-US" altLang="zh-CN" dirty="0">
                <a:sym typeface="张海山锐谐体"/>
              </a:rPr>
              <a:t>+</a:t>
            </a:r>
            <a:r>
              <a:rPr lang="zh-CN" altLang="en-US" dirty="0">
                <a:sym typeface="张海山锐谐体"/>
              </a:rPr>
              <a:t>”典型应用</a:t>
            </a:r>
            <a:endParaRPr lang="zh-CN" altLang="en-US" dirty="0"/>
          </a:p>
        </p:txBody>
      </p:sp>
      <p:sp>
        <p:nvSpPr>
          <p:cNvPr id="11274" name="Text Box 81"/>
          <p:cNvSpPr txBox="1">
            <a:spLocks noChangeArrowheads="1"/>
          </p:cNvSpPr>
          <p:nvPr/>
        </p:nvSpPr>
        <p:spPr bwMode="auto">
          <a:xfrm>
            <a:off x="2996116" y="2680603"/>
            <a:ext cx="1176337" cy="769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4400">
                <a:solidFill>
                  <a:schemeClr val="accent2"/>
                </a:solidFill>
              </a:rPr>
              <a:t>+</a:t>
            </a:r>
          </a:p>
        </p:txBody>
      </p:sp>
      <p:pic>
        <p:nvPicPr>
          <p:cNvPr id="11275" name="Picture 8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9741" y="2616863"/>
            <a:ext cx="633412" cy="6876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76" name="Text Box 83"/>
          <p:cNvSpPr txBox="1">
            <a:spLocks noChangeArrowheads="1"/>
          </p:cNvSpPr>
          <p:nvPr/>
        </p:nvSpPr>
        <p:spPr bwMode="auto">
          <a:xfrm>
            <a:off x="5415466" y="2513916"/>
            <a:ext cx="1195387"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5400">
                <a:solidFill>
                  <a:schemeClr val="accent2"/>
                </a:solidFill>
              </a:rPr>
              <a:t>→</a:t>
            </a:r>
            <a:endParaRPr lang="zh-CN" altLang="en-US" sz="2800"/>
          </a:p>
        </p:txBody>
      </p:sp>
      <p:sp>
        <p:nvSpPr>
          <p:cNvPr id="11277" name="Text Box 84"/>
          <p:cNvSpPr txBox="1">
            <a:spLocks noChangeArrowheads="1"/>
          </p:cNvSpPr>
          <p:nvPr/>
        </p:nvSpPr>
        <p:spPr bwMode="auto">
          <a:xfrm>
            <a:off x="1189981" y="3325128"/>
            <a:ext cx="181841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传统交通</a:t>
            </a:r>
          </a:p>
        </p:txBody>
      </p:sp>
      <p:sp>
        <p:nvSpPr>
          <p:cNvPr id="11278" name="Text Box 85"/>
          <p:cNvSpPr txBox="1">
            <a:spLocks noChangeArrowheads="1"/>
          </p:cNvSpPr>
          <p:nvPr/>
        </p:nvSpPr>
        <p:spPr bwMode="auto">
          <a:xfrm>
            <a:off x="3692780" y="3339940"/>
            <a:ext cx="165655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互联网</a:t>
            </a:r>
          </a:p>
        </p:txBody>
      </p:sp>
      <p:sp>
        <p:nvSpPr>
          <p:cNvPr id="11279" name="Text Box 86"/>
          <p:cNvSpPr txBox="1">
            <a:spLocks noChangeArrowheads="1"/>
          </p:cNvSpPr>
          <p:nvPr/>
        </p:nvSpPr>
        <p:spPr bwMode="auto">
          <a:xfrm>
            <a:off x="6243990" y="4612072"/>
            <a:ext cx="133191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自媒体</a:t>
            </a:r>
          </a:p>
        </p:txBody>
      </p:sp>
      <p:sp>
        <p:nvSpPr>
          <p:cNvPr id="11280" name="Text Box 87"/>
          <p:cNvSpPr txBox="1">
            <a:spLocks noChangeArrowheads="1"/>
          </p:cNvSpPr>
          <p:nvPr/>
        </p:nvSpPr>
        <p:spPr bwMode="auto">
          <a:xfrm>
            <a:off x="1131201" y="4612072"/>
            <a:ext cx="177601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传统媒体</a:t>
            </a:r>
          </a:p>
        </p:txBody>
      </p:sp>
      <p:sp>
        <p:nvSpPr>
          <p:cNvPr id="11281" name="Text Box 88"/>
          <p:cNvSpPr txBox="1">
            <a:spLocks noChangeArrowheads="1"/>
          </p:cNvSpPr>
          <p:nvPr/>
        </p:nvSpPr>
        <p:spPr bwMode="auto">
          <a:xfrm>
            <a:off x="2956427" y="4062797"/>
            <a:ext cx="1177925" cy="769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4400" dirty="0">
                <a:solidFill>
                  <a:schemeClr val="accent2"/>
                </a:solidFill>
              </a:rPr>
              <a:t>+</a:t>
            </a:r>
          </a:p>
        </p:txBody>
      </p:sp>
      <p:pic>
        <p:nvPicPr>
          <p:cNvPr id="11282" name="Picture 8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6089" y="3999175"/>
            <a:ext cx="628650" cy="6700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83" name="Text Box 90"/>
          <p:cNvSpPr txBox="1">
            <a:spLocks noChangeArrowheads="1"/>
          </p:cNvSpPr>
          <p:nvPr/>
        </p:nvSpPr>
        <p:spPr bwMode="auto">
          <a:xfrm>
            <a:off x="3747002" y="4711226"/>
            <a:ext cx="1679575"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互联网</a:t>
            </a:r>
          </a:p>
        </p:txBody>
      </p:sp>
      <p:sp>
        <p:nvSpPr>
          <p:cNvPr id="11284" name="Text Box 91"/>
          <p:cNvSpPr txBox="1">
            <a:spLocks noChangeArrowheads="1"/>
          </p:cNvSpPr>
          <p:nvPr/>
        </p:nvSpPr>
        <p:spPr bwMode="auto">
          <a:xfrm>
            <a:off x="5426577" y="4002472"/>
            <a:ext cx="1193800"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5400">
                <a:solidFill>
                  <a:schemeClr val="accent2"/>
                </a:solidFill>
              </a:rPr>
              <a:t>→</a:t>
            </a:r>
            <a:endParaRPr lang="zh-CN" altLang="en-US" sz="2800"/>
          </a:p>
        </p:txBody>
      </p:sp>
      <p:sp>
        <p:nvSpPr>
          <p:cNvPr id="11285" name="Text Box 92"/>
          <p:cNvSpPr txBox="1">
            <a:spLocks noChangeArrowheads="1"/>
          </p:cNvSpPr>
          <p:nvPr/>
        </p:nvSpPr>
        <p:spPr bwMode="auto">
          <a:xfrm>
            <a:off x="6046727" y="3317060"/>
            <a:ext cx="169306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嘀嘀打车</a:t>
            </a:r>
          </a:p>
        </p:txBody>
      </p:sp>
      <p:pic>
        <p:nvPicPr>
          <p:cNvPr id="11294" name="Picture 1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43866" y="1300206"/>
            <a:ext cx="633412" cy="6472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95" name="Text Box 102"/>
          <p:cNvSpPr txBox="1">
            <a:spLocks noChangeArrowheads="1"/>
          </p:cNvSpPr>
          <p:nvPr/>
        </p:nvSpPr>
        <p:spPr bwMode="auto">
          <a:xfrm>
            <a:off x="3008394" y="1242975"/>
            <a:ext cx="1177925" cy="769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4400" dirty="0">
                <a:solidFill>
                  <a:schemeClr val="accent2"/>
                </a:solidFill>
              </a:rPr>
              <a:t>+</a:t>
            </a:r>
          </a:p>
        </p:txBody>
      </p:sp>
      <p:sp>
        <p:nvSpPr>
          <p:cNvPr id="11296" name="Text Box 103"/>
          <p:cNvSpPr txBox="1">
            <a:spLocks noChangeArrowheads="1"/>
          </p:cNvSpPr>
          <p:nvPr/>
        </p:nvSpPr>
        <p:spPr bwMode="auto">
          <a:xfrm>
            <a:off x="5415466" y="1112426"/>
            <a:ext cx="1192212"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5400">
                <a:solidFill>
                  <a:schemeClr val="accent2"/>
                </a:solidFill>
              </a:rPr>
              <a:t>→</a:t>
            </a:r>
            <a:endParaRPr lang="zh-CN" altLang="en-US" sz="2800"/>
          </a:p>
        </p:txBody>
      </p:sp>
      <p:sp>
        <p:nvSpPr>
          <p:cNvPr id="11298" name="Text Box 105"/>
          <p:cNvSpPr txBox="1">
            <a:spLocks noChangeArrowheads="1"/>
          </p:cNvSpPr>
          <p:nvPr/>
        </p:nvSpPr>
        <p:spPr bwMode="auto">
          <a:xfrm>
            <a:off x="3692780" y="1969676"/>
            <a:ext cx="176388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互联网</a:t>
            </a:r>
          </a:p>
        </p:txBody>
      </p:sp>
      <p:pic>
        <p:nvPicPr>
          <p:cNvPr id="11299" name="Picture 10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45153" y="1344027"/>
            <a:ext cx="641350" cy="5764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300" name="Text Box 107"/>
          <p:cNvSpPr txBox="1">
            <a:spLocks noChangeArrowheads="1"/>
          </p:cNvSpPr>
          <p:nvPr/>
        </p:nvSpPr>
        <p:spPr bwMode="auto">
          <a:xfrm>
            <a:off x="1060212" y="1968089"/>
            <a:ext cx="223621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传统银行</a:t>
            </a:r>
          </a:p>
        </p:txBody>
      </p:sp>
      <p:pic>
        <p:nvPicPr>
          <p:cNvPr id="11301" name="Picture 10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64883" y="1277461"/>
            <a:ext cx="679450" cy="6317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303" name="Text Box 110"/>
          <p:cNvSpPr txBox="1">
            <a:spLocks noChangeArrowheads="1"/>
          </p:cNvSpPr>
          <p:nvPr/>
        </p:nvSpPr>
        <p:spPr bwMode="auto">
          <a:xfrm>
            <a:off x="6194854" y="1967577"/>
            <a:ext cx="15902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支付宝</a:t>
            </a:r>
          </a:p>
        </p:txBody>
      </p:sp>
      <p:pic>
        <p:nvPicPr>
          <p:cNvPr id="11304" name="Picture 11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4991" y="2807426"/>
            <a:ext cx="985837" cy="4161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305" name="Picture 11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96832" y="2660767"/>
            <a:ext cx="701675" cy="6206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306" name="Picture 113"/>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84840" y="4073562"/>
            <a:ext cx="601663" cy="4670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307" name="Picture 11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61627" y="3984761"/>
            <a:ext cx="696912" cy="5558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2" name="组合 1"/>
          <p:cNvGrpSpPr/>
          <p:nvPr/>
        </p:nvGrpSpPr>
        <p:grpSpPr>
          <a:xfrm>
            <a:off x="1033919" y="5209361"/>
            <a:ext cx="6922457" cy="1427598"/>
            <a:chOff x="961911" y="5214938"/>
            <a:chExt cx="6922457" cy="1427598"/>
          </a:xfrm>
        </p:grpSpPr>
        <p:sp>
          <p:nvSpPr>
            <p:cNvPr id="11286" name="Text Box 93"/>
            <p:cNvSpPr txBox="1">
              <a:spLocks noChangeArrowheads="1"/>
            </p:cNvSpPr>
            <p:nvPr/>
          </p:nvSpPr>
          <p:spPr bwMode="auto">
            <a:xfrm>
              <a:off x="961911" y="6053137"/>
              <a:ext cx="191463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传统通讯</a:t>
              </a:r>
            </a:p>
          </p:txBody>
        </p:sp>
        <p:pic>
          <p:nvPicPr>
            <p:cNvPr id="11287" name="Picture 9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16375" y="5341005"/>
              <a:ext cx="628650" cy="7121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88" name="Text Box 95"/>
            <p:cNvSpPr txBox="1">
              <a:spLocks noChangeArrowheads="1"/>
            </p:cNvSpPr>
            <p:nvPr/>
          </p:nvSpPr>
          <p:spPr bwMode="auto">
            <a:xfrm>
              <a:off x="3652279" y="6119316"/>
              <a:ext cx="1659732"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互联网</a:t>
              </a:r>
            </a:p>
          </p:txBody>
        </p:sp>
        <p:sp>
          <p:nvSpPr>
            <p:cNvPr id="11289" name="Text Box 96"/>
            <p:cNvSpPr txBox="1">
              <a:spLocks noChangeArrowheads="1"/>
            </p:cNvSpPr>
            <p:nvPr/>
          </p:nvSpPr>
          <p:spPr bwMode="auto">
            <a:xfrm>
              <a:off x="5345113" y="5214938"/>
              <a:ext cx="1192212" cy="923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5400">
                  <a:solidFill>
                    <a:schemeClr val="accent2"/>
                  </a:solidFill>
                </a:rPr>
                <a:t>→</a:t>
              </a:r>
            </a:p>
          </p:txBody>
        </p:sp>
        <p:sp>
          <p:nvSpPr>
            <p:cNvPr id="11290" name="Text Box 97"/>
            <p:cNvSpPr txBox="1">
              <a:spLocks noChangeArrowheads="1"/>
            </p:cNvSpPr>
            <p:nvPr/>
          </p:nvSpPr>
          <p:spPr bwMode="auto">
            <a:xfrm>
              <a:off x="6046837" y="6038850"/>
              <a:ext cx="1837531"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2800" dirty="0"/>
                <a:t>即时通信</a:t>
              </a:r>
            </a:p>
          </p:txBody>
        </p:sp>
        <p:sp>
          <p:nvSpPr>
            <p:cNvPr id="11291" name="Text Box 98"/>
            <p:cNvSpPr txBox="1">
              <a:spLocks noChangeArrowheads="1"/>
            </p:cNvSpPr>
            <p:nvPr/>
          </p:nvSpPr>
          <p:spPr bwMode="auto">
            <a:xfrm>
              <a:off x="2876550" y="5349875"/>
              <a:ext cx="1176338" cy="769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sz="2000" b="1">
                  <a:solidFill>
                    <a:schemeClr val="tx1"/>
                  </a:solidFill>
                  <a:latin typeface="Arial" pitchFamily="34" charset="0"/>
                  <a:ea typeface="楷体_GB2312" pitchFamily="49" charset="-122"/>
                </a:defRPr>
              </a:lvl1pPr>
              <a:lvl2pPr marL="742950" indent="-285750" eaLnBrk="0" hangingPunct="0">
                <a:defRPr sz="2000" b="1">
                  <a:solidFill>
                    <a:schemeClr val="tx1"/>
                  </a:solidFill>
                  <a:latin typeface="Arial" pitchFamily="34" charset="0"/>
                  <a:ea typeface="楷体_GB2312" pitchFamily="49" charset="-122"/>
                </a:defRPr>
              </a:lvl2pPr>
              <a:lvl3pPr marL="1143000" indent="-228600" eaLnBrk="0" hangingPunct="0">
                <a:defRPr sz="2000" b="1">
                  <a:solidFill>
                    <a:schemeClr val="tx1"/>
                  </a:solidFill>
                  <a:latin typeface="Arial" pitchFamily="34" charset="0"/>
                  <a:ea typeface="楷体_GB2312" pitchFamily="49" charset="-122"/>
                </a:defRPr>
              </a:lvl3pPr>
              <a:lvl4pPr marL="1600200" indent="-228600" eaLnBrk="0" hangingPunct="0">
                <a:defRPr sz="2000" b="1">
                  <a:solidFill>
                    <a:schemeClr val="tx1"/>
                  </a:solidFill>
                  <a:latin typeface="Arial" pitchFamily="34" charset="0"/>
                  <a:ea typeface="楷体_GB2312" pitchFamily="49" charset="-122"/>
                </a:defRPr>
              </a:lvl4pPr>
              <a:lvl5pPr marL="2057400" indent="-228600" eaLnBrk="0" hangingPunct="0">
                <a:defRPr sz="2000" b="1">
                  <a:solidFill>
                    <a:schemeClr val="tx1"/>
                  </a:solidFill>
                  <a:latin typeface="Arial" pitchFamily="34" charset="0"/>
                  <a:ea typeface="楷体_GB2312" pitchFamily="49" charset="-122"/>
                </a:defRPr>
              </a:lvl5pPr>
              <a:lvl6pPr marL="2514600" indent="-228600" eaLnBrk="0" fontAlgn="base" hangingPunct="0">
                <a:spcBef>
                  <a:spcPct val="0"/>
                </a:spcBef>
                <a:spcAft>
                  <a:spcPct val="0"/>
                </a:spcAft>
                <a:defRPr sz="2000" b="1">
                  <a:solidFill>
                    <a:schemeClr val="tx1"/>
                  </a:solidFill>
                  <a:latin typeface="Arial" pitchFamily="34" charset="0"/>
                  <a:ea typeface="楷体_GB2312" pitchFamily="49" charset="-122"/>
                </a:defRPr>
              </a:lvl6pPr>
              <a:lvl7pPr marL="2971800" indent="-228600" eaLnBrk="0" fontAlgn="base" hangingPunct="0">
                <a:spcBef>
                  <a:spcPct val="0"/>
                </a:spcBef>
                <a:spcAft>
                  <a:spcPct val="0"/>
                </a:spcAft>
                <a:defRPr sz="2000" b="1">
                  <a:solidFill>
                    <a:schemeClr val="tx1"/>
                  </a:solidFill>
                  <a:latin typeface="Arial" pitchFamily="34" charset="0"/>
                  <a:ea typeface="楷体_GB2312" pitchFamily="49" charset="-122"/>
                </a:defRPr>
              </a:lvl7pPr>
              <a:lvl8pPr marL="3429000" indent="-228600" eaLnBrk="0" fontAlgn="base" hangingPunct="0">
                <a:spcBef>
                  <a:spcPct val="0"/>
                </a:spcBef>
                <a:spcAft>
                  <a:spcPct val="0"/>
                </a:spcAft>
                <a:defRPr sz="2000" b="1">
                  <a:solidFill>
                    <a:schemeClr val="tx1"/>
                  </a:solidFill>
                  <a:latin typeface="Arial" pitchFamily="34" charset="0"/>
                  <a:ea typeface="楷体_GB2312" pitchFamily="49" charset="-122"/>
                </a:defRPr>
              </a:lvl8pPr>
              <a:lvl9pPr marL="3886200" indent="-228600" eaLnBrk="0" fontAlgn="base" hangingPunct="0">
                <a:spcBef>
                  <a:spcPct val="0"/>
                </a:spcBef>
                <a:spcAft>
                  <a:spcPct val="0"/>
                </a:spcAft>
                <a:defRPr sz="2000" b="1">
                  <a:solidFill>
                    <a:schemeClr val="tx1"/>
                  </a:solidFill>
                  <a:latin typeface="Arial" pitchFamily="34" charset="0"/>
                  <a:ea typeface="楷体_GB2312" pitchFamily="49" charset="-122"/>
                </a:defRPr>
              </a:lvl9pPr>
            </a:lstStyle>
            <a:p>
              <a:pPr eaLnBrk="1" hangingPunct="1"/>
              <a:r>
                <a:rPr lang="zh-CN" altLang="en-US" sz="4400">
                  <a:solidFill>
                    <a:schemeClr val="accent2"/>
                  </a:solidFill>
                </a:rPr>
                <a:t>+</a:t>
              </a:r>
            </a:p>
          </p:txBody>
        </p:sp>
        <p:pic>
          <p:nvPicPr>
            <p:cNvPr id="11308" name="Picture 115"/>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542983" y="5301779"/>
              <a:ext cx="601663" cy="6729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1309" name="Picture 116"/>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13500" y="5250475"/>
              <a:ext cx="758825" cy="65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extLst>
      <p:ext uri="{BB962C8B-B14F-4D97-AF65-F5344CB8AC3E}">
        <p14:creationId xmlns:p14="http://schemas.microsoft.com/office/powerpoint/2010/main" val="2933355338"/>
      </p:ext>
    </p:extLst>
  </p:cSld>
  <p:clrMapOvr>
    <a:masterClrMapping/>
  </p:clrMapOvr>
  <p:transition spd="slow">
    <p:circl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互联网</a:t>
            </a:r>
            <a:r>
              <a:rPr lang="en-US" altLang="zh-CN" dirty="0"/>
              <a:t>+ = </a:t>
            </a:r>
            <a:r>
              <a:rPr lang="zh-CN" altLang="en-US" dirty="0"/>
              <a:t>新一代</a:t>
            </a:r>
            <a:r>
              <a:rPr lang="en-US" altLang="zh-CN" dirty="0"/>
              <a:t>ICT+</a:t>
            </a:r>
            <a:r>
              <a:rPr lang="zh-CN" altLang="en-US" dirty="0"/>
              <a:t>创新</a:t>
            </a:r>
            <a:r>
              <a:rPr lang="en-US" altLang="zh-CN" dirty="0"/>
              <a:t>2.0</a:t>
            </a:r>
          </a:p>
        </p:txBody>
      </p:sp>
      <p:sp>
        <p:nvSpPr>
          <p:cNvPr id="3" name="内容占位符 2"/>
          <p:cNvSpPr>
            <a:spLocks noGrp="1"/>
          </p:cNvSpPr>
          <p:nvPr>
            <p:ph idx="1"/>
          </p:nvPr>
        </p:nvSpPr>
        <p:spPr/>
        <p:txBody>
          <a:bodyPr/>
          <a:lstStyle/>
          <a:p>
            <a:pPr>
              <a:lnSpc>
                <a:spcPct val="200000"/>
              </a:lnSpc>
            </a:pPr>
            <a:r>
              <a:rPr lang="zh-CN" altLang="en-US" sz="2400" b="1" dirty="0">
                <a:solidFill>
                  <a:srgbClr val="FF0000"/>
                </a:solidFill>
                <a:latin typeface="微软雅黑" panose="020B0503020204020204" pitchFamily="34" charset="-122"/>
                <a:ea typeface="微软雅黑" panose="020B0503020204020204" pitchFamily="34" charset="-122"/>
              </a:rPr>
              <a:t>新一代</a:t>
            </a:r>
            <a:r>
              <a:rPr lang="en-US" altLang="zh-CN" sz="2400" b="1" dirty="0">
                <a:solidFill>
                  <a:srgbClr val="FF0000"/>
                </a:solidFill>
                <a:latin typeface="微软雅黑" panose="020B0503020204020204" pitchFamily="34" charset="-122"/>
                <a:ea typeface="微软雅黑" panose="020B0503020204020204" pitchFamily="34" charset="-122"/>
              </a:rPr>
              <a:t>ICT</a:t>
            </a:r>
            <a:r>
              <a:rPr lang="zh-CN" altLang="en-US" sz="2400" b="1" dirty="0">
                <a:solidFill>
                  <a:srgbClr val="FF0000"/>
                </a:solidFill>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大数据、物联网、云计算</a:t>
            </a:r>
            <a:endParaRPr lang="en-US" altLang="zh-CN" sz="2400" b="0" dirty="0">
              <a:latin typeface="微软雅黑" panose="020B0503020204020204" pitchFamily="34" charset="-122"/>
              <a:ea typeface="微软雅黑" panose="020B0503020204020204" pitchFamily="34" charset="-122"/>
            </a:endParaRPr>
          </a:p>
          <a:p>
            <a:pPr>
              <a:lnSpc>
                <a:spcPct val="200000"/>
              </a:lnSpc>
            </a:pPr>
            <a:r>
              <a:rPr lang="zh-CN" altLang="en-US" sz="2400" b="0" dirty="0">
                <a:latin typeface="微软雅黑" panose="020B0503020204020204" pitchFamily="34" charset="-122"/>
                <a:ea typeface="微软雅黑" panose="020B0503020204020204" pitchFamily="34" charset="-122"/>
              </a:rPr>
              <a:t>创新 </a:t>
            </a:r>
            <a:r>
              <a:rPr lang="en-US" altLang="zh-CN" sz="2400" b="0" dirty="0">
                <a:latin typeface="微软雅黑" panose="020B0503020204020204" pitchFamily="34" charset="-122"/>
                <a:ea typeface="微软雅黑" panose="020B0503020204020204" pitchFamily="34" charset="-122"/>
              </a:rPr>
              <a:t>1.0</a:t>
            </a:r>
            <a:r>
              <a:rPr lang="zh-CN" altLang="en-US" sz="2400" b="0" dirty="0">
                <a:latin typeface="微软雅黑" panose="020B0503020204020204" pitchFamily="34" charset="-122"/>
                <a:ea typeface="微软雅黑" panose="020B0503020204020204" pitchFamily="34" charset="-122"/>
              </a:rPr>
              <a:t>是以技术为出发点，</a:t>
            </a:r>
            <a:endParaRPr lang="en-US" altLang="zh-CN" sz="2400" b="0" dirty="0">
              <a:latin typeface="微软雅黑" panose="020B0503020204020204" pitchFamily="34" charset="-122"/>
              <a:ea typeface="微软雅黑" panose="020B0503020204020204" pitchFamily="34" charset="-122"/>
            </a:endParaRPr>
          </a:p>
          <a:p>
            <a:pPr>
              <a:lnSpc>
                <a:spcPct val="200000"/>
              </a:lnSpc>
            </a:pPr>
            <a:r>
              <a:rPr lang="zh-CN" altLang="en-US" sz="2400" b="1" dirty="0">
                <a:solidFill>
                  <a:srgbClr val="FF0000"/>
                </a:solidFill>
                <a:latin typeface="微软雅黑" panose="020B0503020204020204" pitchFamily="34" charset="-122"/>
                <a:ea typeface="微软雅黑" panose="020B0503020204020204" pitchFamily="34" charset="-122"/>
              </a:rPr>
              <a:t>创新</a:t>
            </a:r>
            <a:r>
              <a:rPr lang="en-US" altLang="zh-CN" sz="2400" b="1" dirty="0">
                <a:solidFill>
                  <a:srgbClr val="FF0000"/>
                </a:solidFill>
                <a:latin typeface="微软雅黑" panose="020B0503020204020204" pitchFamily="34" charset="-122"/>
                <a:ea typeface="微软雅黑" panose="020B0503020204020204" pitchFamily="34" charset="-122"/>
              </a:rPr>
              <a:t>2.0</a:t>
            </a:r>
            <a:r>
              <a:rPr lang="zh-CN" altLang="en-US" sz="2400" b="0" dirty="0">
                <a:latin typeface="微软雅黑" panose="020B0503020204020204" pitchFamily="34" charset="-122"/>
                <a:ea typeface="微软雅黑" panose="020B0503020204020204" pitchFamily="34" charset="-122"/>
              </a:rPr>
              <a:t>就是以人为出发点，以人为本的创新，以应用为本的创新，是开放创新、共同创新、以用户为中心的应用创新。</a:t>
            </a:r>
            <a:endParaRPr lang="en-US" altLang="zh-CN" sz="2400" b="0" dirty="0">
              <a:latin typeface="微软雅黑" panose="020B0503020204020204" pitchFamily="34" charset="-122"/>
              <a:ea typeface="微软雅黑" panose="020B0503020204020204" pitchFamily="34" charset="-122"/>
            </a:endParaRPr>
          </a:p>
          <a:p>
            <a:pPr>
              <a:lnSpc>
                <a:spcPct val="200000"/>
              </a:lnSpc>
            </a:pPr>
            <a:endParaRPr lang="zh-CN" altLang="en-US" sz="2400" b="0" dirty="0">
              <a:latin typeface="微软雅黑" panose="020B0503020204020204" pitchFamily="34" charset="-122"/>
              <a:ea typeface="微软雅黑" panose="020B0503020204020204" pitchFamily="34" charset="-122"/>
            </a:endParaRPr>
          </a:p>
        </p:txBody>
      </p:sp>
      <p:sp>
        <p:nvSpPr>
          <p:cNvPr id="4" name="椭圆 3"/>
          <p:cNvSpPr/>
          <p:nvPr/>
        </p:nvSpPr>
        <p:spPr>
          <a:xfrm>
            <a:off x="2555776" y="4221088"/>
            <a:ext cx="1584176" cy="2088232"/>
          </a:xfrm>
          <a:prstGeom prst="ellipse">
            <a:avLst/>
          </a:prstGeom>
          <a:solidFill>
            <a:schemeClr val="bg1"/>
          </a:solidFill>
          <a:ln w="3175">
            <a:solidFill>
              <a:srgbClr val="00B050"/>
            </a:solidFill>
          </a:ln>
          <a:effectLst>
            <a:outerShdw dist="23000" dir="5400000" rotWithShape="0">
              <a:srgbClr val="000000">
                <a:alpha val="0"/>
              </a:srgbClr>
            </a:outerShdw>
          </a:effectLst>
        </p:spPr>
        <p:style>
          <a:lnRef idx="0">
            <a:schemeClr val="accent2"/>
          </a:lnRef>
          <a:fillRef idx="3">
            <a:schemeClr val="accent2"/>
          </a:fillRef>
          <a:effectRef idx="3">
            <a:schemeClr val="accent2"/>
          </a:effectRef>
          <a:fontRef idx="minor">
            <a:schemeClr val="lt1"/>
          </a:fontRef>
        </p:style>
        <p:txBody>
          <a:bodyPr anchor="ctr"/>
          <a:lstStyle/>
          <a:p>
            <a:pPr algn="ctr">
              <a:lnSpc>
                <a:spcPct val="150000"/>
              </a:lnSpc>
            </a:pPr>
            <a:r>
              <a:rPr lang="zh-CN" altLang="en-US" sz="3600" dirty="0">
                <a:solidFill>
                  <a:srgbClr val="FF0000"/>
                </a:solidFill>
                <a:latin typeface="华文中宋" panose="02010600040101010101" pitchFamily="2" charset="-122"/>
                <a:ea typeface="华文中宋" panose="02010600040101010101" pitchFamily="2" charset="-122"/>
              </a:rPr>
              <a:t>技术层面</a:t>
            </a:r>
          </a:p>
        </p:txBody>
      </p:sp>
      <p:sp>
        <p:nvSpPr>
          <p:cNvPr id="5" name="椭圆 4"/>
          <p:cNvSpPr/>
          <p:nvPr/>
        </p:nvSpPr>
        <p:spPr>
          <a:xfrm>
            <a:off x="5046583" y="4221088"/>
            <a:ext cx="1584176" cy="2088232"/>
          </a:xfrm>
          <a:prstGeom prst="ellipse">
            <a:avLst/>
          </a:prstGeom>
          <a:solidFill>
            <a:schemeClr val="bg1"/>
          </a:solidFill>
          <a:ln w="3175">
            <a:solidFill>
              <a:srgbClr val="00B050"/>
            </a:solidFill>
          </a:ln>
          <a:effectLst>
            <a:outerShdw dist="23000" dir="5400000" rotWithShape="0">
              <a:srgbClr val="000000">
                <a:alpha val="0"/>
              </a:srgbClr>
            </a:outerShdw>
          </a:effectLst>
        </p:spPr>
        <p:style>
          <a:lnRef idx="0">
            <a:schemeClr val="accent2"/>
          </a:lnRef>
          <a:fillRef idx="3">
            <a:schemeClr val="accent2"/>
          </a:fillRef>
          <a:effectRef idx="3">
            <a:schemeClr val="accent2"/>
          </a:effectRef>
          <a:fontRef idx="minor">
            <a:schemeClr val="lt1"/>
          </a:fontRef>
        </p:style>
        <p:txBody>
          <a:bodyPr anchor="ctr"/>
          <a:lstStyle/>
          <a:p>
            <a:pPr algn="ctr">
              <a:lnSpc>
                <a:spcPct val="150000"/>
              </a:lnSpc>
            </a:pPr>
            <a:r>
              <a:rPr lang="zh-CN" altLang="en-US" sz="3600" dirty="0">
                <a:solidFill>
                  <a:srgbClr val="FF0000"/>
                </a:solidFill>
                <a:latin typeface="华文中宋" panose="02010600040101010101" pitchFamily="2" charset="-122"/>
                <a:ea typeface="华文中宋" panose="02010600040101010101" pitchFamily="2" charset="-122"/>
              </a:rPr>
              <a:t>思维层面</a:t>
            </a:r>
          </a:p>
        </p:txBody>
      </p:sp>
    </p:spTree>
    <p:extLst>
      <p:ext uri="{BB962C8B-B14F-4D97-AF65-F5344CB8AC3E}">
        <p14:creationId xmlns:p14="http://schemas.microsoft.com/office/powerpoint/2010/main" val="1423816205"/>
      </p:ext>
    </p:extLst>
  </p:cSld>
  <p:clrMapOvr>
    <a:masterClrMapping/>
  </p:clrMapOvr>
  <p:transition spd="slow">
    <p:circl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上箭头 4"/>
          <p:cNvSpPr/>
          <p:nvPr/>
        </p:nvSpPr>
        <p:spPr>
          <a:xfrm>
            <a:off x="2627784" y="1124744"/>
            <a:ext cx="2514600" cy="2057400"/>
          </a:xfrm>
          <a:prstGeom prst="upArrow">
            <a:avLst>
              <a:gd name="adj1" fmla="val 57934"/>
              <a:gd name="adj2" fmla="val 36182"/>
            </a:avLst>
          </a:prstGeom>
          <a:solidFill>
            <a:srgbClr val="C00000"/>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itchFamily="34" charset="-122"/>
              <a:ea typeface="微软雅黑" pitchFamily="34" charset="-122"/>
            </a:endParaRPr>
          </a:p>
        </p:txBody>
      </p:sp>
      <p:sp>
        <p:nvSpPr>
          <p:cNvPr id="6" name="圆角矩形 5"/>
          <p:cNvSpPr/>
          <p:nvPr/>
        </p:nvSpPr>
        <p:spPr>
          <a:xfrm>
            <a:off x="4722440" y="1886743"/>
            <a:ext cx="3810000" cy="1219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70C0"/>
                </a:solidFill>
                <a:latin typeface="微软雅黑" pitchFamily="34" charset="-122"/>
                <a:ea typeface="微软雅黑" pitchFamily="34" charset="-122"/>
              </a:rPr>
              <a:t>工业思维      互联网思维</a:t>
            </a:r>
          </a:p>
        </p:txBody>
      </p:sp>
      <p:cxnSp>
        <p:nvCxnSpPr>
          <p:cNvPr id="8" name="直接箭头连接符 7"/>
          <p:cNvCxnSpPr/>
          <p:nvPr/>
        </p:nvCxnSpPr>
        <p:spPr>
          <a:xfrm>
            <a:off x="6246440" y="2496343"/>
            <a:ext cx="457200" cy="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12" name="圆角矩形 11"/>
          <p:cNvSpPr/>
          <p:nvPr/>
        </p:nvSpPr>
        <p:spPr>
          <a:xfrm>
            <a:off x="4189040" y="3573015"/>
            <a:ext cx="4343400" cy="1219200"/>
          </a:xfrm>
          <a:prstGeom prst="round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rgbClr val="0070C0"/>
                </a:solidFill>
                <a:latin typeface="微软雅黑" pitchFamily="34" charset="-122"/>
                <a:ea typeface="微软雅黑" pitchFamily="34" charset="-122"/>
              </a:rPr>
              <a:t>B2C       C2B</a:t>
            </a:r>
            <a:endParaRPr lang="zh-CN" altLang="en-US" sz="2400" b="1" dirty="0">
              <a:solidFill>
                <a:srgbClr val="0070C0"/>
              </a:solidFill>
              <a:latin typeface="微软雅黑" pitchFamily="34" charset="-122"/>
              <a:ea typeface="微软雅黑" pitchFamily="34" charset="-122"/>
            </a:endParaRPr>
          </a:p>
        </p:txBody>
      </p:sp>
      <p:sp>
        <p:nvSpPr>
          <p:cNvPr id="11" name="上箭头 10"/>
          <p:cNvSpPr/>
          <p:nvPr/>
        </p:nvSpPr>
        <p:spPr>
          <a:xfrm>
            <a:off x="2123728" y="2811016"/>
            <a:ext cx="2514600" cy="2057400"/>
          </a:xfrm>
          <a:prstGeom prst="upArrow">
            <a:avLst>
              <a:gd name="adj1" fmla="val 57934"/>
              <a:gd name="adj2" fmla="val 36182"/>
            </a:avLst>
          </a:prstGeom>
          <a:solidFill>
            <a:schemeClr val="tx1">
              <a:lumMod val="50000"/>
              <a:lumOff val="50000"/>
            </a:schemeClr>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latin typeface="微软雅黑" pitchFamily="34" charset="-122"/>
              <a:ea typeface="微软雅黑" pitchFamily="34" charset="-122"/>
            </a:endParaRPr>
          </a:p>
        </p:txBody>
      </p:sp>
      <p:cxnSp>
        <p:nvCxnSpPr>
          <p:cNvPr id="13" name="直接箭头连接符 12"/>
          <p:cNvCxnSpPr/>
          <p:nvPr/>
        </p:nvCxnSpPr>
        <p:spPr>
          <a:xfrm>
            <a:off x="6094041" y="4182615"/>
            <a:ext cx="457200" cy="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526160" y="1340768"/>
            <a:ext cx="685800" cy="1384995"/>
          </a:xfrm>
          <a:prstGeom prst="rect">
            <a:avLst/>
          </a:prstGeom>
          <a:noFill/>
        </p:spPr>
        <p:txBody>
          <a:bodyPr wrap="square" rtlCol="0">
            <a:spAutoFit/>
          </a:bodyPr>
          <a:lstStyle/>
          <a:p>
            <a:pPr algn="ctr"/>
            <a:r>
              <a:rPr lang="zh-CN" altLang="en-US" sz="2800" b="1" dirty="0">
                <a:solidFill>
                  <a:schemeClr val="bg1"/>
                </a:solidFill>
                <a:latin typeface="微软雅黑" pitchFamily="34" charset="-122"/>
                <a:ea typeface="微软雅黑" pitchFamily="34" charset="-122"/>
              </a:rPr>
              <a:t>新思维</a:t>
            </a:r>
          </a:p>
        </p:txBody>
      </p:sp>
      <p:sp>
        <p:nvSpPr>
          <p:cNvPr id="16" name="TextBox 15"/>
          <p:cNvSpPr txBox="1"/>
          <p:nvPr/>
        </p:nvSpPr>
        <p:spPr>
          <a:xfrm>
            <a:off x="3022104" y="3068960"/>
            <a:ext cx="685800" cy="1384995"/>
          </a:xfrm>
          <a:prstGeom prst="rect">
            <a:avLst/>
          </a:prstGeom>
          <a:noFill/>
        </p:spPr>
        <p:txBody>
          <a:bodyPr wrap="square" rtlCol="0">
            <a:spAutoFit/>
          </a:bodyPr>
          <a:lstStyle/>
          <a:p>
            <a:pPr algn="ctr"/>
            <a:r>
              <a:rPr lang="zh-CN" altLang="en-US" sz="2800" b="1" dirty="0">
                <a:solidFill>
                  <a:schemeClr val="bg1"/>
                </a:solidFill>
                <a:latin typeface="微软雅黑" pitchFamily="34" charset="-122"/>
                <a:ea typeface="微软雅黑" pitchFamily="34" charset="-122"/>
              </a:rPr>
              <a:t>新模式</a:t>
            </a:r>
          </a:p>
        </p:txBody>
      </p:sp>
      <p:sp>
        <p:nvSpPr>
          <p:cNvPr id="23" name="圆角矩形 22"/>
          <p:cNvSpPr/>
          <p:nvPr/>
        </p:nvSpPr>
        <p:spPr>
          <a:xfrm>
            <a:off x="3503240" y="5234136"/>
            <a:ext cx="5029200" cy="121920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70C0"/>
                </a:solidFill>
                <a:latin typeface="微软雅黑" pitchFamily="34" charset="-122"/>
                <a:ea typeface="微软雅黑" pitchFamily="34" charset="-122"/>
              </a:rPr>
              <a:t>工业革命   </a:t>
            </a:r>
            <a:r>
              <a:rPr lang="en-US" altLang="zh-CN" sz="2400" b="1" dirty="0">
                <a:solidFill>
                  <a:srgbClr val="0070C0"/>
                </a:solidFill>
                <a:latin typeface="微软雅黑" pitchFamily="34" charset="-122"/>
                <a:ea typeface="微软雅黑" pitchFamily="34" charset="-122"/>
              </a:rPr>
              <a:t>    </a:t>
            </a:r>
            <a:r>
              <a:rPr lang="zh-CN" altLang="en-US" sz="2400" b="1" dirty="0">
                <a:solidFill>
                  <a:srgbClr val="0070C0"/>
                </a:solidFill>
                <a:latin typeface="微软雅黑" pitchFamily="34" charset="-122"/>
                <a:ea typeface="微软雅黑" pitchFamily="34" charset="-122"/>
              </a:rPr>
              <a:t>信息技术（大互联）</a:t>
            </a:r>
          </a:p>
        </p:txBody>
      </p:sp>
      <p:sp>
        <p:nvSpPr>
          <p:cNvPr id="24" name="上箭头 23"/>
          <p:cNvSpPr/>
          <p:nvPr/>
        </p:nvSpPr>
        <p:spPr>
          <a:xfrm>
            <a:off x="1418456" y="4467944"/>
            <a:ext cx="2514600" cy="2057400"/>
          </a:xfrm>
          <a:prstGeom prst="upArrow">
            <a:avLst>
              <a:gd name="adj1" fmla="val 57934"/>
              <a:gd name="adj2" fmla="val 36182"/>
            </a:avLst>
          </a:prstGeom>
          <a:solidFill>
            <a:srgbClr val="FFC000"/>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latin typeface="微软雅黑" pitchFamily="34" charset="-122"/>
              <a:ea typeface="微软雅黑" pitchFamily="34" charset="-122"/>
            </a:endParaRPr>
          </a:p>
        </p:txBody>
      </p:sp>
      <p:cxnSp>
        <p:nvCxnSpPr>
          <p:cNvPr id="25" name="直接箭头连接符 24"/>
          <p:cNvCxnSpPr/>
          <p:nvPr/>
        </p:nvCxnSpPr>
        <p:spPr>
          <a:xfrm>
            <a:off x="5027241" y="5843736"/>
            <a:ext cx="457200" cy="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302024" y="4797152"/>
            <a:ext cx="685800" cy="1384995"/>
          </a:xfrm>
          <a:prstGeom prst="rect">
            <a:avLst/>
          </a:prstGeom>
          <a:noFill/>
        </p:spPr>
        <p:txBody>
          <a:bodyPr wrap="square" rtlCol="0">
            <a:spAutoFit/>
          </a:bodyPr>
          <a:lstStyle/>
          <a:p>
            <a:pPr algn="ctr"/>
            <a:r>
              <a:rPr lang="zh-CN" altLang="en-US" sz="2800" b="1" dirty="0">
                <a:solidFill>
                  <a:schemeClr val="bg1"/>
                </a:solidFill>
                <a:latin typeface="微软雅黑" pitchFamily="34" charset="-122"/>
                <a:ea typeface="微软雅黑" pitchFamily="34" charset="-122"/>
              </a:rPr>
              <a:t>新技术</a:t>
            </a:r>
          </a:p>
        </p:txBody>
      </p:sp>
      <p:sp>
        <p:nvSpPr>
          <p:cNvPr id="27" name="TextBox 26"/>
          <p:cNvSpPr txBox="1"/>
          <p:nvPr/>
        </p:nvSpPr>
        <p:spPr>
          <a:xfrm>
            <a:off x="251520" y="5486399"/>
            <a:ext cx="1600200" cy="461665"/>
          </a:xfrm>
          <a:prstGeom prst="rect">
            <a:avLst/>
          </a:prstGeom>
          <a:noFill/>
        </p:spPr>
        <p:txBody>
          <a:bodyPr wrap="square" rtlCol="0">
            <a:spAutoFit/>
          </a:bodyPr>
          <a:lstStyle/>
          <a:p>
            <a:pPr algn="ctr"/>
            <a:r>
              <a:rPr lang="zh-CN" altLang="en-US" sz="2400" dirty="0">
                <a:latin typeface="微软雅黑" pitchFamily="34" charset="-122"/>
                <a:ea typeface="微软雅黑" pitchFamily="34" charset="-122"/>
              </a:rPr>
              <a:t>基础设施</a:t>
            </a:r>
          </a:p>
        </p:txBody>
      </p:sp>
      <p:cxnSp>
        <p:nvCxnSpPr>
          <p:cNvPr id="29" name="直接箭头连接符 28"/>
          <p:cNvCxnSpPr/>
          <p:nvPr/>
        </p:nvCxnSpPr>
        <p:spPr>
          <a:xfrm flipV="1">
            <a:off x="1034996" y="4173790"/>
            <a:ext cx="0" cy="1219200"/>
          </a:xfrm>
          <a:prstGeom prst="straightConnector1">
            <a:avLst/>
          </a:prstGeom>
          <a:ln w="38100">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51520" y="3573016"/>
            <a:ext cx="1600200" cy="461665"/>
          </a:xfrm>
          <a:prstGeom prst="rect">
            <a:avLst/>
          </a:prstGeom>
          <a:noFill/>
        </p:spPr>
        <p:txBody>
          <a:bodyPr wrap="square" rtlCol="0">
            <a:spAutoFit/>
          </a:bodyPr>
          <a:lstStyle/>
          <a:p>
            <a:pPr algn="ctr"/>
            <a:r>
              <a:rPr lang="zh-CN" altLang="en-US" sz="2400" dirty="0">
                <a:latin typeface="微软雅黑" pitchFamily="34" charset="-122"/>
                <a:ea typeface="微软雅黑" pitchFamily="34" charset="-122"/>
              </a:rPr>
              <a:t>运行规则</a:t>
            </a:r>
          </a:p>
        </p:txBody>
      </p:sp>
      <p:cxnSp>
        <p:nvCxnSpPr>
          <p:cNvPr id="32" name="直接箭头连接符 31"/>
          <p:cNvCxnSpPr/>
          <p:nvPr/>
        </p:nvCxnSpPr>
        <p:spPr>
          <a:xfrm flipV="1">
            <a:off x="1066528" y="2204864"/>
            <a:ext cx="0" cy="1219200"/>
          </a:xfrm>
          <a:prstGeom prst="straightConnector1">
            <a:avLst/>
          </a:prstGeom>
          <a:ln w="38100">
            <a:solidFill>
              <a:schemeClr val="tx1">
                <a:lumMod val="65000"/>
                <a:lumOff val="35000"/>
              </a:schemeClr>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51520" y="1662335"/>
            <a:ext cx="1600200" cy="461665"/>
          </a:xfrm>
          <a:prstGeom prst="rect">
            <a:avLst/>
          </a:prstGeom>
          <a:noFill/>
        </p:spPr>
        <p:txBody>
          <a:bodyPr wrap="square" rtlCol="0">
            <a:spAutoFit/>
          </a:bodyPr>
          <a:lstStyle/>
          <a:p>
            <a:pPr algn="ctr"/>
            <a:r>
              <a:rPr lang="zh-CN" altLang="en-US" sz="2400" dirty="0">
                <a:latin typeface="微软雅黑" pitchFamily="34" charset="-122"/>
                <a:ea typeface="微软雅黑" pitchFamily="34" charset="-122"/>
              </a:rPr>
              <a:t>经营哲学</a:t>
            </a:r>
          </a:p>
        </p:txBody>
      </p:sp>
      <p:sp>
        <p:nvSpPr>
          <p:cNvPr id="20" name="标题 1"/>
          <p:cNvSpPr>
            <a:spLocks noGrp="1"/>
          </p:cNvSpPr>
          <p:nvPr>
            <p:ph type="title"/>
          </p:nvPr>
        </p:nvSpPr>
        <p:spPr>
          <a:xfrm>
            <a:off x="0" y="95250"/>
            <a:ext cx="9144000" cy="936625"/>
          </a:xfrm>
        </p:spPr>
        <p:txBody>
          <a:bodyPr/>
          <a:lstStyle/>
          <a:p>
            <a:r>
              <a:rPr lang="zh-CN" altLang="en-US" dirty="0"/>
              <a:t>新技术、新模式、新思维</a:t>
            </a:r>
          </a:p>
        </p:txBody>
      </p:sp>
    </p:spTree>
    <p:extLst>
      <p:ext uri="{BB962C8B-B14F-4D97-AF65-F5344CB8AC3E}">
        <p14:creationId xmlns:p14="http://schemas.microsoft.com/office/powerpoint/2010/main" val="3640747358"/>
      </p:ext>
    </p:extLst>
  </p:cSld>
  <p:clrMapOvr>
    <a:masterClrMapping/>
  </p:clrMapOvr>
  <p:transition spd="slow">
    <p:circl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b="0" dirty="0">
                <a:effectLst/>
                <a:latin typeface="微软雅黑" panose="020B0503020204020204" pitchFamily="34" charset="-122"/>
                <a:ea typeface="微软雅黑" panose="020B0503020204020204" pitchFamily="34" charset="-122"/>
              </a:rPr>
              <a:t>互联网</a:t>
            </a:r>
            <a:r>
              <a:rPr lang="en-US" altLang="zh-CN" b="0" dirty="0">
                <a:effectLst/>
                <a:latin typeface="微软雅黑" panose="020B0503020204020204" pitchFamily="34" charset="-122"/>
                <a:ea typeface="微软雅黑" panose="020B0503020204020204" pitchFamily="34" charset="-122"/>
              </a:rPr>
              <a:t>+</a:t>
            </a:r>
            <a:r>
              <a:rPr lang="zh-CN" altLang="en-US" b="0" dirty="0">
                <a:effectLst/>
                <a:latin typeface="微软雅黑" panose="020B0503020204020204" pitchFamily="34" charset="-122"/>
                <a:ea typeface="微软雅黑" panose="020B0503020204020204" pitchFamily="34" charset="-122"/>
              </a:rPr>
              <a:t>的特征</a:t>
            </a:r>
          </a:p>
        </p:txBody>
      </p:sp>
      <p:sp>
        <p:nvSpPr>
          <p:cNvPr id="6" name="椭圆 5"/>
          <p:cNvSpPr/>
          <p:nvPr/>
        </p:nvSpPr>
        <p:spPr bwMode="auto">
          <a:xfrm>
            <a:off x="2195736" y="1772816"/>
            <a:ext cx="1944216" cy="1872208"/>
          </a:xfrm>
          <a:prstGeom prst="ellipse">
            <a:avLst/>
          </a:prstGeom>
          <a:solidFill>
            <a:srgbClr val="CCFFCC"/>
          </a:solidFill>
          <a:ln w="31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25000"/>
              </a:lnSpc>
              <a:spcBef>
                <a:spcPct val="0"/>
              </a:spcBef>
              <a:spcAft>
                <a:spcPct val="0"/>
              </a:spcAft>
              <a:buClrTx/>
              <a:buSzTx/>
              <a:buFontTx/>
              <a:buNone/>
              <a:tabLst/>
            </a:pPr>
            <a:r>
              <a:rPr lang="zh-CN" altLang="en-US" sz="3200" b="0" dirty="0">
                <a:solidFill>
                  <a:srgbClr val="FF0000"/>
                </a:solidFill>
                <a:latin typeface="华文中宋" panose="02010600040101010101" pitchFamily="2" charset="-122"/>
                <a:ea typeface="华文中宋" panose="02010600040101010101" pitchFamily="2" charset="-122"/>
              </a:rPr>
              <a:t>创新</a:t>
            </a:r>
            <a:endParaRPr lang="en-US" altLang="zh-CN" sz="3200" b="0" dirty="0">
              <a:solidFill>
                <a:srgbClr val="FF0000"/>
              </a:solidFill>
              <a:latin typeface="华文中宋" panose="02010600040101010101" pitchFamily="2" charset="-122"/>
              <a:ea typeface="华文中宋" panose="02010600040101010101" pitchFamily="2" charset="-122"/>
            </a:endParaRPr>
          </a:p>
          <a:p>
            <a:pPr marL="0" marR="0" indent="0" algn="ctr" defTabSz="914400" rtl="0" eaLnBrk="1" fontAlgn="base" latinLnBrk="0" hangingPunct="1">
              <a:lnSpc>
                <a:spcPct val="125000"/>
              </a:lnSpc>
              <a:spcBef>
                <a:spcPct val="0"/>
              </a:spcBef>
              <a:spcAft>
                <a:spcPct val="0"/>
              </a:spcAft>
              <a:buClrTx/>
              <a:buSzTx/>
              <a:buFontTx/>
              <a:buNone/>
              <a:tabLst/>
            </a:pPr>
            <a:r>
              <a:rPr lang="zh-CN" altLang="en-US" sz="3200" b="0" dirty="0">
                <a:solidFill>
                  <a:srgbClr val="FF0000"/>
                </a:solidFill>
                <a:latin typeface="华文中宋" panose="02010600040101010101" pitchFamily="2" charset="-122"/>
                <a:ea typeface="华文中宋" panose="02010600040101010101" pitchFamily="2" charset="-122"/>
              </a:rPr>
              <a:t>驱动</a:t>
            </a:r>
            <a:endParaRPr kumimoji="0" lang="zh-CN" altLang="en-US" sz="3200"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endParaRPr>
          </a:p>
        </p:txBody>
      </p:sp>
      <p:sp>
        <p:nvSpPr>
          <p:cNvPr id="7" name="椭圆 6"/>
          <p:cNvSpPr/>
          <p:nvPr/>
        </p:nvSpPr>
        <p:spPr bwMode="auto">
          <a:xfrm>
            <a:off x="5220072" y="1772816"/>
            <a:ext cx="1944216" cy="1872208"/>
          </a:xfrm>
          <a:prstGeom prst="ellipse">
            <a:avLst/>
          </a:prstGeom>
          <a:solidFill>
            <a:srgbClr val="CCFFCC"/>
          </a:solidFill>
          <a:ln w="31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25000"/>
              </a:lnSpc>
              <a:spcBef>
                <a:spcPct val="0"/>
              </a:spcBef>
              <a:spcAft>
                <a:spcPct val="0"/>
              </a:spcAft>
              <a:buClrTx/>
              <a:buSzTx/>
              <a:buFontTx/>
              <a:buNone/>
              <a:tabLst/>
            </a:pPr>
            <a:r>
              <a:rPr lang="zh-CN" altLang="en-US" sz="3200" b="0" dirty="0">
                <a:solidFill>
                  <a:srgbClr val="FF0000"/>
                </a:solidFill>
                <a:latin typeface="华文中宋" panose="02010600040101010101" pitchFamily="2" charset="-122"/>
                <a:ea typeface="华文中宋" panose="02010600040101010101" pitchFamily="2" charset="-122"/>
              </a:rPr>
              <a:t>尊重</a:t>
            </a:r>
            <a:endParaRPr lang="en-US" altLang="zh-CN" sz="3200" b="0" dirty="0">
              <a:solidFill>
                <a:srgbClr val="FF0000"/>
              </a:solidFill>
              <a:latin typeface="华文中宋" panose="02010600040101010101" pitchFamily="2" charset="-122"/>
              <a:ea typeface="华文中宋" panose="02010600040101010101" pitchFamily="2" charset="-122"/>
            </a:endParaRPr>
          </a:p>
          <a:p>
            <a:pPr marL="0" marR="0" indent="0" algn="ctr" defTabSz="914400" rtl="0" eaLnBrk="1" fontAlgn="base" latinLnBrk="0" hangingPunct="1">
              <a:lnSpc>
                <a:spcPct val="125000"/>
              </a:lnSpc>
              <a:spcBef>
                <a:spcPct val="0"/>
              </a:spcBef>
              <a:spcAft>
                <a:spcPct val="0"/>
              </a:spcAft>
              <a:buClrTx/>
              <a:buSzTx/>
              <a:buFontTx/>
              <a:buNone/>
              <a:tabLst/>
            </a:pPr>
            <a:r>
              <a:rPr lang="zh-CN" altLang="en-US" sz="3200" b="0" dirty="0">
                <a:solidFill>
                  <a:srgbClr val="FF0000"/>
                </a:solidFill>
                <a:latin typeface="华文中宋" panose="02010600040101010101" pitchFamily="2" charset="-122"/>
                <a:ea typeface="华文中宋" panose="02010600040101010101" pitchFamily="2" charset="-122"/>
              </a:rPr>
              <a:t>人性</a:t>
            </a:r>
            <a:endParaRPr kumimoji="0" lang="zh-CN" altLang="en-US" sz="3200"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endParaRPr>
          </a:p>
        </p:txBody>
      </p:sp>
      <p:sp>
        <p:nvSpPr>
          <p:cNvPr id="8" name="椭圆 7"/>
          <p:cNvSpPr/>
          <p:nvPr/>
        </p:nvSpPr>
        <p:spPr bwMode="auto">
          <a:xfrm>
            <a:off x="2195736" y="4005064"/>
            <a:ext cx="1944216" cy="1872208"/>
          </a:xfrm>
          <a:prstGeom prst="ellipse">
            <a:avLst/>
          </a:prstGeom>
          <a:solidFill>
            <a:srgbClr val="CCFFCC"/>
          </a:solidFill>
          <a:ln w="31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25000"/>
              </a:lnSpc>
              <a:spcBef>
                <a:spcPct val="0"/>
              </a:spcBef>
              <a:spcAft>
                <a:spcPct val="0"/>
              </a:spcAft>
              <a:buClrTx/>
              <a:buSzTx/>
              <a:buFontTx/>
              <a:buNone/>
              <a:tabLst/>
            </a:pPr>
            <a:r>
              <a:rPr lang="zh-CN" altLang="en-US" sz="3200" b="0" dirty="0">
                <a:solidFill>
                  <a:srgbClr val="FF0000"/>
                </a:solidFill>
                <a:latin typeface="华文中宋" panose="02010600040101010101" pitchFamily="2" charset="-122"/>
                <a:ea typeface="华文中宋" panose="02010600040101010101" pitchFamily="2" charset="-122"/>
              </a:rPr>
              <a:t>重塑</a:t>
            </a:r>
            <a:endParaRPr lang="en-US" altLang="zh-CN" sz="3200" b="0" dirty="0">
              <a:solidFill>
                <a:srgbClr val="FF0000"/>
              </a:solidFill>
              <a:latin typeface="华文中宋" panose="02010600040101010101" pitchFamily="2" charset="-122"/>
              <a:ea typeface="华文中宋" panose="02010600040101010101" pitchFamily="2" charset="-122"/>
            </a:endParaRPr>
          </a:p>
          <a:p>
            <a:pPr marL="0" marR="0" indent="0" algn="ctr" defTabSz="914400" rtl="0" eaLnBrk="1" fontAlgn="base" latinLnBrk="0" hangingPunct="1">
              <a:lnSpc>
                <a:spcPct val="125000"/>
              </a:lnSpc>
              <a:spcBef>
                <a:spcPct val="0"/>
              </a:spcBef>
              <a:spcAft>
                <a:spcPct val="0"/>
              </a:spcAft>
              <a:buClrTx/>
              <a:buSzTx/>
              <a:buFontTx/>
              <a:buNone/>
              <a:tabLst/>
            </a:pPr>
            <a:r>
              <a:rPr lang="zh-CN" altLang="en-US" sz="3200" b="0" dirty="0">
                <a:solidFill>
                  <a:srgbClr val="FF0000"/>
                </a:solidFill>
                <a:latin typeface="华文中宋" panose="02010600040101010101" pitchFamily="2" charset="-122"/>
                <a:ea typeface="华文中宋" panose="02010600040101010101" pitchFamily="2" charset="-122"/>
              </a:rPr>
              <a:t>结构</a:t>
            </a:r>
            <a:endParaRPr kumimoji="0" lang="zh-CN" altLang="en-US" sz="3200"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endParaRPr>
          </a:p>
        </p:txBody>
      </p:sp>
      <p:sp>
        <p:nvSpPr>
          <p:cNvPr id="9" name="椭圆 8"/>
          <p:cNvSpPr/>
          <p:nvPr/>
        </p:nvSpPr>
        <p:spPr bwMode="auto">
          <a:xfrm>
            <a:off x="5220072" y="4005064"/>
            <a:ext cx="1944216" cy="1872208"/>
          </a:xfrm>
          <a:prstGeom prst="ellipse">
            <a:avLst/>
          </a:prstGeom>
          <a:solidFill>
            <a:srgbClr val="CCFFCC"/>
          </a:solidFill>
          <a:ln w="317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25000"/>
              </a:lnSpc>
              <a:spcBef>
                <a:spcPct val="0"/>
              </a:spcBef>
              <a:spcAft>
                <a:spcPct val="0"/>
              </a:spcAft>
              <a:buClrTx/>
              <a:buSzTx/>
              <a:buFontTx/>
              <a:buNone/>
              <a:tabLst/>
            </a:pPr>
            <a:r>
              <a:rPr lang="zh-CN" altLang="en-US" sz="3200" b="0" dirty="0">
                <a:solidFill>
                  <a:srgbClr val="FF0000"/>
                </a:solidFill>
                <a:latin typeface="华文中宋" panose="02010600040101010101" pitchFamily="2" charset="-122"/>
                <a:ea typeface="华文中宋" panose="02010600040101010101" pitchFamily="2" charset="-122"/>
              </a:rPr>
              <a:t>开放</a:t>
            </a:r>
            <a:endParaRPr lang="en-US" altLang="zh-CN" sz="3200" b="0" dirty="0">
              <a:solidFill>
                <a:srgbClr val="FF0000"/>
              </a:solidFill>
              <a:latin typeface="华文中宋" panose="02010600040101010101" pitchFamily="2" charset="-122"/>
              <a:ea typeface="华文中宋" panose="02010600040101010101" pitchFamily="2" charset="-122"/>
            </a:endParaRPr>
          </a:p>
          <a:p>
            <a:pPr marL="0" marR="0" indent="0" algn="ctr" defTabSz="914400" rtl="0" eaLnBrk="1" fontAlgn="base" latinLnBrk="0" hangingPunct="1">
              <a:lnSpc>
                <a:spcPct val="125000"/>
              </a:lnSpc>
              <a:spcBef>
                <a:spcPct val="0"/>
              </a:spcBef>
              <a:spcAft>
                <a:spcPct val="0"/>
              </a:spcAft>
              <a:buClrTx/>
              <a:buSzTx/>
              <a:buFontTx/>
              <a:buNone/>
              <a:tabLst/>
            </a:pPr>
            <a:r>
              <a:rPr lang="zh-CN" altLang="en-US" sz="3200" b="0" dirty="0">
                <a:solidFill>
                  <a:srgbClr val="FF0000"/>
                </a:solidFill>
                <a:latin typeface="华文中宋" panose="02010600040101010101" pitchFamily="2" charset="-122"/>
                <a:ea typeface="华文中宋" panose="02010600040101010101" pitchFamily="2" charset="-122"/>
              </a:rPr>
              <a:t>生态</a:t>
            </a:r>
            <a:endParaRPr kumimoji="0" lang="zh-CN" altLang="en-US" sz="3200" b="0" i="0" u="none" strike="noStrike" cap="none" normalizeH="0" baseline="0" dirty="0">
              <a:ln>
                <a:noFill/>
              </a:ln>
              <a:solidFill>
                <a:srgbClr val="FF0000"/>
              </a:solidFill>
              <a:effectLst/>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78453771"/>
      </p:ext>
    </p:extLst>
  </p:cSld>
  <p:clrMapOvr>
    <a:masterClrMapping/>
  </p:clrMapOvr>
  <p:transition spd="slow">
    <p:circl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张海山锐谐体"/>
              </a:rPr>
              <a:t>还能“</a:t>
            </a:r>
            <a:r>
              <a:rPr lang="en-US" altLang="zh-CN" dirty="0">
                <a:sym typeface="张海山锐谐体"/>
              </a:rPr>
              <a:t>+</a:t>
            </a:r>
            <a:r>
              <a:rPr lang="zh-CN" altLang="en-US" dirty="0">
                <a:sym typeface="张海山锐谐体"/>
              </a:rPr>
              <a:t>”什么？</a:t>
            </a:r>
            <a:endParaRPr lang="zh-CN" altLang="en-US" dirty="0"/>
          </a:p>
        </p:txBody>
      </p:sp>
      <p:sp>
        <p:nvSpPr>
          <p:cNvPr id="3" name="灯片编号占位符 2"/>
          <p:cNvSpPr>
            <a:spLocks noGrp="1"/>
          </p:cNvSpPr>
          <p:nvPr>
            <p:ph type="sldNum" sz="quarter" idx="4294967295"/>
          </p:nvPr>
        </p:nvSpPr>
        <p:spPr>
          <a:xfrm>
            <a:off x="7086600" y="6356350"/>
            <a:ext cx="2057400" cy="365125"/>
          </a:xfrm>
        </p:spPr>
        <p:txBody>
          <a:bodyPr/>
          <a:lstStyle/>
          <a:p>
            <a:pPr>
              <a:defRPr/>
            </a:pPr>
            <a:fld id="{7879E951-A046-4B4B-BBE6-D284E8FC2067}" type="slidenum">
              <a:rPr lang="zh-CN" altLang="en-US" smtClean="0"/>
              <a:pPr>
                <a:defRPr/>
              </a:pPr>
              <a:t>17</a:t>
            </a:fld>
            <a:endParaRPr lang="zh-CN" altLang="en-US" sz="1800"/>
          </a:p>
        </p:txBody>
      </p:sp>
      <p:sp>
        <p:nvSpPr>
          <p:cNvPr id="82" name="任意多边形 106"/>
          <p:cNvSpPr>
            <a:spLocks noChangeArrowheads="1"/>
          </p:cNvSpPr>
          <p:nvPr/>
        </p:nvSpPr>
        <p:spPr bwMode="auto">
          <a:xfrm>
            <a:off x="4551363" y="3538538"/>
            <a:ext cx="42862" cy="2798762"/>
          </a:xfrm>
          <a:custGeom>
            <a:avLst/>
            <a:gdLst>
              <a:gd name="T0" fmla="*/ 0 w 85725"/>
              <a:gd name="T1" fmla="*/ 0 h 2185987"/>
              <a:gd name="T2" fmla="*/ 0 w 85725"/>
              <a:gd name="T3" fmla="*/ 2798762 h 2185987"/>
              <a:gd name="T4" fmla="*/ 44054 w 85725"/>
              <a:gd name="T5" fmla="*/ 2798762 h 2185987"/>
              <a:gd name="T6" fmla="*/ 44054 w 85725"/>
              <a:gd name="T7" fmla="*/ 30487 h 2185987"/>
              <a:gd name="T8" fmla="*/ 0 w 85725"/>
              <a:gd name="T9" fmla="*/ 0 h 2185987"/>
              <a:gd name="T10" fmla="*/ 0 60000 65536"/>
              <a:gd name="T11" fmla="*/ 0 60000 65536"/>
              <a:gd name="T12" fmla="*/ 0 60000 65536"/>
              <a:gd name="T13" fmla="*/ 0 60000 65536"/>
              <a:gd name="T14" fmla="*/ 0 60000 65536"/>
              <a:gd name="T15" fmla="*/ 0 w 85725"/>
              <a:gd name="T16" fmla="*/ 0 h 2185987"/>
              <a:gd name="T17" fmla="*/ 85725 w 85725"/>
              <a:gd name="T18" fmla="*/ 2185987 h 2185987"/>
            </a:gdLst>
            <a:ahLst/>
            <a:cxnLst>
              <a:cxn ang="T10">
                <a:pos x="T0" y="T1"/>
              </a:cxn>
              <a:cxn ang="T11">
                <a:pos x="T2" y="T3"/>
              </a:cxn>
              <a:cxn ang="T12">
                <a:pos x="T4" y="T5"/>
              </a:cxn>
              <a:cxn ang="T13">
                <a:pos x="T6" y="T7"/>
              </a:cxn>
              <a:cxn ang="T14">
                <a:pos x="T8" y="T9"/>
              </a:cxn>
            </a:cxnLst>
            <a:rect l="T15" t="T16" r="T17" b="T18"/>
            <a:pathLst>
              <a:path w="85725" h="2185987">
                <a:moveTo>
                  <a:pt x="0" y="0"/>
                </a:moveTo>
                <a:lnTo>
                  <a:pt x="0" y="2185987"/>
                </a:lnTo>
                <a:lnTo>
                  <a:pt x="85725" y="2185987"/>
                </a:lnTo>
                <a:lnTo>
                  <a:pt x="85725" y="23812"/>
                </a:lnTo>
                <a:lnTo>
                  <a:pt x="0" y="0"/>
                </a:lnTo>
                <a:close/>
              </a:path>
            </a:pathLst>
          </a:custGeom>
          <a:solidFill>
            <a:srgbClr val="F19A27"/>
          </a:solidFill>
          <a:ln>
            <a:noFill/>
          </a:ln>
          <a:extLst>
            <a:ext uri="{91240B29-F687-4F45-9708-019B960494DF}">
              <a14:hiddenLine xmlns:a14="http://schemas.microsoft.com/office/drawing/2010/main" w="12700" cap="flat" cmpd="sng">
                <a:solidFill>
                  <a:srgbClr val="B13C31"/>
                </a:solidFill>
                <a:bevel/>
                <a:headEnd/>
                <a:tailEnd/>
              </a14:hiddenLine>
            </a:ext>
          </a:extLst>
        </p:spPr>
        <p:txBody>
          <a:bodyPr anchor="ctr"/>
          <a:lstStyle/>
          <a:p>
            <a:endParaRPr lang="zh-CN" altLang="en-US" sz="2800"/>
          </a:p>
        </p:txBody>
      </p:sp>
      <p:grpSp>
        <p:nvGrpSpPr>
          <p:cNvPr id="83" name="组合 107"/>
          <p:cNvGrpSpPr>
            <a:grpSpLocks/>
          </p:cNvGrpSpPr>
          <p:nvPr/>
        </p:nvGrpSpPr>
        <p:grpSpPr bwMode="auto">
          <a:xfrm rot="1442081">
            <a:off x="3219791" y="2196617"/>
            <a:ext cx="2610564" cy="3216454"/>
            <a:chOff x="0" y="0"/>
            <a:chExt cx="3828553" cy="3827814"/>
          </a:xfrm>
        </p:grpSpPr>
        <p:grpSp>
          <p:nvGrpSpPr>
            <p:cNvPr id="84" name="组合 108"/>
            <p:cNvGrpSpPr>
              <a:grpSpLocks/>
            </p:cNvGrpSpPr>
            <p:nvPr/>
          </p:nvGrpSpPr>
          <p:grpSpPr bwMode="auto">
            <a:xfrm>
              <a:off x="1938528" y="0"/>
              <a:ext cx="1061775" cy="2169714"/>
              <a:chOff x="0" y="0"/>
              <a:chExt cx="803275" cy="1641475"/>
            </a:xfrm>
          </p:grpSpPr>
          <p:sp>
            <p:nvSpPr>
              <p:cNvPr id="94" name="任意多边形 118"/>
              <p:cNvSpPr>
                <a:spLocks noChangeArrowheads="1"/>
              </p:cNvSpPr>
              <p:nvPr/>
            </p:nvSpPr>
            <p:spPr bwMode="auto">
              <a:xfrm>
                <a:off x="11113" y="0"/>
                <a:ext cx="771525" cy="1390650"/>
              </a:xfrm>
              <a:custGeom>
                <a:avLst/>
                <a:gdLst>
                  <a:gd name="T0" fmla="*/ 523875 w 771525"/>
                  <a:gd name="T1" fmla="*/ 0 h 1390650"/>
                  <a:gd name="T2" fmla="*/ 0 w 771525"/>
                  <a:gd name="T3" fmla="*/ 1390650 h 1390650"/>
                  <a:gd name="T4" fmla="*/ 771525 w 771525"/>
                  <a:gd name="T5" fmla="*/ 981075 h 1390650"/>
                  <a:gd name="T6" fmla="*/ 523875 w 771525"/>
                  <a:gd name="T7" fmla="*/ 0 h 1390650"/>
                  <a:gd name="T8" fmla="*/ 0 60000 65536"/>
                  <a:gd name="T9" fmla="*/ 0 60000 65536"/>
                  <a:gd name="T10" fmla="*/ 0 60000 65536"/>
                  <a:gd name="T11" fmla="*/ 0 60000 65536"/>
                  <a:gd name="T12" fmla="*/ 0 w 771525"/>
                  <a:gd name="T13" fmla="*/ 0 h 1390650"/>
                  <a:gd name="T14" fmla="*/ 771525 w 771525"/>
                  <a:gd name="T15" fmla="*/ 1390650 h 1390650"/>
                </a:gdLst>
                <a:ahLst/>
                <a:cxnLst>
                  <a:cxn ang="T8">
                    <a:pos x="T0" y="T1"/>
                  </a:cxn>
                  <a:cxn ang="T9">
                    <a:pos x="T2" y="T3"/>
                  </a:cxn>
                  <a:cxn ang="T10">
                    <a:pos x="T4" y="T5"/>
                  </a:cxn>
                  <a:cxn ang="T11">
                    <a:pos x="T6" y="T7"/>
                  </a:cxn>
                </a:cxnLst>
                <a:rect l="T12" t="T13" r="T14" b="T15"/>
                <a:pathLst>
                  <a:path w="771525" h="1390650">
                    <a:moveTo>
                      <a:pt x="523875" y="0"/>
                    </a:moveTo>
                    <a:lnTo>
                      <a:pt x="0" y="1390650"/>
                    </a:lnTo>
                    <a:lnTo>
                      <a:pt x="771525" y="981075"/>
                    </a:lnTo>
                    <a:lnTo>
                      <a:pt x="523875" y="0"/>
                    </a:lnTo>
                    <a:close/>
                  </a:path>
                </a:pathLst>
              </a:custGeom>
              <a:solidFill>
                <a:srgbClr val="14BAC6"/>
              </a:solidFill>
              <a:ln>
                <a:noFill/>
              </a:ln>
              <a:extLst>
                <a:ext uri="{91240B29-F687-4F45-9708-019B960494DF}">
                  <a14:hiddenLine xmlns:a14="http://schemas.microsoft.com/office/drawing/2010/main" w="12700" cap="flat" cmpd="sng">
                    <a:solidFill>
                      <a:srgbClr val="B13C31"/>
                    </a:solidFill>
                    <a:bevel/>
                    <a:headEnd/>
                    <a:tailEnd/>
                  </a14:hiddenLine>
                </a:ext>
              </a:extLst>
            </p:spPr>
            <p:txBody>
              <a:bodyPr anchor="ctr"/>
              <a:lstStyle/>
              <a:p>
                <a:endParaRPr lang="zh-CN" altLang="en-US" sz="2800"/>
              </a:p>
            </p:txBody>
          </p:sp>
          <p:sp>
            <p:nvSpPr>
              <p:cNvPr id="95" name="任意多边形 119"/>
              <p:cNvSpPr>
                <a:spLocks noChangeArrowheads="1"/>
              </p:cNvSpPr>
              <p:nvPr/>
            </p:nvSpPr>
            <p:spPr bwMode="auto">
              <a:xfrm>
                <a:off x="0" y="1012825"/>
                <a:ext cx="803275" cy="628650"/>
              </a:xfrm>
              <a:custGeom>
                <a:avLst/>
                <a:gdLst>
                  <a:gd name="T0" fmla="*/ 0 w 803275"/>
                  <a:gd name="T1" fmla="*/ 425450 h 628650"/>
                  <a:gd name="T2" fmla="*/ 803275 w 803275"/>
                  <a:gd name="T3" fmla="*/ 0 h 628650"/>
                  <a:gd name="T4" fmla="*/ 555625 w 803275"/>
                  <a:gd name="T5" fmla="*/ 628650 h 628650"/>
                  <a:gd name="T6" fmla="*/ 0 w 803275"/>
                  <a:gd name="T7" fmla="*/ 425450 h 628650"/>
                  <a:gd name="T8" fmla="*/ 0 60000 65536"/>
                  <a:gd name="T9" fmla="*/ 0 60000 65536"/>
                  <a:gd name="T10" fmla="*/ 0 60000 65536"/>
                  <a:gd name="T11" fmla="*/ 0 60000 65536"/>
                  <a:gd name="T12" fmla="*/ 0 w 803275"/>
                  <a:gd name="T13" fmla="*/ 0 h 628650"/>
                  <a:gd name="T14" fmla="*/ 803275 w 803275"/>
                  <a:gd name="T15" fmla="*/ 628650 h 628650"/>
                </a:gdLst>
                <a:ahLst/>
                <a:cxnLst>
                  <a:cxn ang="T8">
                    <a:pos x="T0" y="T1"/>
                  </a:cxn>
                  <a:cxn ang="T9">
                    <a:pos x="T2" y="T3"/>
                  </a:cxn>
                  <a:cxn ang="T10">
                    <a:pos x="T4" y="T5"/>
                  </a:cxn>
                  <a:cxn ang="T11">
                    <a:pos x="T6" y="T7"/>
                  </a:cxn>
                </a:cxnLst>
                <a:rect l="T12" t="T13" r="T14" b="T15"/>
                <a:pathLst>
                  <a:path w="803275" h="628650">
                    <a:moveTo>
                      <a:pt x="0" y="425450"/>
                    </a:moveTo>
                    <a:lnTo>
                      <a:pt x="803275" y="0"/>
                    </a:lnTo>
                    <a:lnTo>
                      <a:pt x="555625" y="628650"/>
                    </a:lnTo>
                    <a:lnTo>
                      <a:pt x="0" y="425450"/>
                    </a:lnTo>
                    <a:close/>
                  </a:path>
                </a:pathLst>
              </a:custGeom>
              <a:solidFill>
                <a:srgbClr val="14BAC6"/>
              </a:solidFill>
              <a:ln>
                <a:noFill/>
              </a:ln>
              <a:extLst>
                <a:ext uri="{91240B29-F687-4F45-9708-019B960494DF}">
                  <a14:hiddenLine xmlns:a14="http://schemas.microsoft.com/office/drawing/2010/main" w="12700" cap="flat" cmpd="sng">
                    <a:solidFill>
                      <a:srgbClr val="B13C31"/>
                    </a:solidFill>
                    <a:bevel/>
                    <a:headEnd/>
                    <a:tailEnd/>
                  </a14:hiddenLine>
                </a:ext>
              </a:extLst>
            </p:spPr>
            <p:txBody>
              <a:bodyPr anchor="ctr"/>
              <a:lstStyle/>
              <a:p>
                <a:endParaRPr lang="zh-CN" altLang="en-US" sz="2800"/>
              </a:p>
            </p:txBody>
          </p:sp>
        </p:grpSp>
        <p:grpSp>
          <p:nvGrpSpPr>
            <p:cNvPr id="85" name="组合 109"/>
            <p:cNvGrpSpPr>
              <a:grpSpLocks/>
            </p:cNvGrpSpPr>
            <p:nvPr/>
          </p:nvGrpSpPr>
          <p:grpSpPr bwMode="auto">
            <a:xfrm rot="5400000">
              <a:off x="2212807" y="1382797"/>
              <a:ext cx="1061775" cy="2169714"/>
              <a:chOff x="0" y="0"/>
              <a:chExt cx="803275" cy="1641475"/>
            </a:xfrm>
          </p:grpSpPr>
          <p:sp>
            <p:nvSpPr>
              <p:cNvPr id="92" name="任意多边形 116"/>
              <p:cNvSpPr>
                <a:spLocks noChangeArrowheads="1"/>
              </p:cNvSpPr>
              <p:nvPr/>
            </p:nvSpPr>
            <p:spPr bwMode="auto">
              <a:xfrm>
                <a:off x="11113" y="0"/>
                <a:ext cx="771525" cy="1390650"/>
              </a:xfrm>
              <a:custGeom>
                <a:avLst/>
                <a:gdLst>
                  <a:gd name="T0" fmla="*/ 523875 w 771525"/>
                  <a:gd name="T1" fmla="*/ 0 h 1390650"/>
                  <a:gd name="T2" fmla="*/ 0 w 771525"/>
                  <a:gd name="T3" fmla="*/ 1390650 h 1390650"/>
                  <a:gd name="T4" fmla="*/ 771525 w 771525"/>
                  <a:gd name="T5" fmla="*/ 981075 h 1390650"/>
                  <a:gd name="T6" fmla="*/ 523875 w 771525"/>
                  <a:gd name="T7" fmla="*/ 0 h 1390650"/>
                  <a:gd name="T8" fmla="*/ 0 60000 65536"/>
                  <a:gd name="T9" fmla="*/ 0 60000 65536"/>
                  <a:gd name="T10" fmla="*/ 0 60000 65536"/>
                  <a:gd name="T11" fmla="*/ 0 60000 65536"/>
                  <a:gd name="T12" fmla="*/ 0 w 771525"/>
                  <a:gd name="T13" fmla="*/ 0 h 1390650"/>
                  <a:gd name="T14" fmla="*/ 771525 w 771525"/>
                  <a:gd name="T15" fmla="*/ 1390650 h 1390650"/>
                </a:gdLst>
                <a:ahLst/>
                <a:cxnLst>
                  <a:cxn ang="T8">
                    <a:pos x="T0" y="T1"/>
                  </a:cxn>
                  <a:cxn ang="T9">
                    <a:pos x="T2" y="T3"/>
                  </a:cxn>
                  <a:cxn ang="T10">
                    <a:pos x="T4" y="T5"/>
                  </a:cxn>
                  <a:cxn ang="T11">
                    <a:pos x="T6" y="T7"/>
                  </a:cxn>
                </a:cxnLst>
                <a:rect l="T12" t="T13" r="T14" b="T15"/>
                <a:pathLst>
                  <a:path w="771525" h="1390650">
                    <a:moveTo>
                      <a:pt x="523875" y="0"/>
                    </a:moveTo>
                    <a:lnTo>
                      <a:pt x="0" y="1390650"/>
                    </a:lnTo>
                    <a:lnTo>
                      <a:pt x="771525" y="981075"/>
                    </a:lnTo>
                    <a:lnTo>
                      <a:pt x="523875" y="0"/>
                    </a:lnTo>
                    <a:close/>
                  </a:path>
                </a:pathLst>
              </a:custGeom>
              <a:solidFill>
                <a:srgbClr val="DD6A7A"/>
              </a:solidFill>
              <a:ln>
                <a:noFill/>
              </a:ln>
              <a:extLst>
                <a:ext uri="{91240B29-F687-4F45-9708-019B960494DF}">
                  <a14:hiddenLine xmlns:a14="http://schemas.microsoft.com/office/drawing/2010/main" w="12700" cap="flat" cmpd="sng">
                    <a:solidFill>
                      <a:srgbClr val="B13C31"/>
                    </a:solidFill>
                    <a:bevel/>
                    <a:headEnd/>
                    <a:tailEnd/>
                  </a14:hiddenLine>
                </a:ext>
              </a:extLst>
            </p:spPr>
            <p:txBody>
              <a:bodyPr anchor="ctr"/>
              <a:lstStyle/>
              <a:p>
                <a:endParaRPr lang="zh-CN" altLang="en-US" sz="2800"/>
              </a:p>
            </p:txBody>
          </p:sp>
          <p:sp>
            <p:nvSpPr>
              <p:cNvPr id="93" name="任意多边形 117"/>
              <p:cNvSpPr>
                <a:spLocks noChangeArrowheads="1"/>
              </p:cNvSpPr>
              <p:nvPr/>
            </p:nvSpPr>
            <p:spPr bwMode="auto">
              <a:xfrm>
                <a:off x="0" y="1012825"/>
                <a:ext cx="803275" cy="628650"/>
              </a:xfrm>
              <a:custGeom>
                <a:avLst/>
                <a:gdLst>
                  <a:gd name="T0" fmla="*/ 0 w 803275"/>
                  <a:gd name="T1" fmla="*/ 425450 h 628650"/>
                  <a:gd name="T2" fmla="*/ 803275 w 803275"/>
                  <a:gd name="T3" fmla="*/ 0 h 628650"/>
                  <a:gd name="T4" fmla="*/ 555625 w 803275"/>
                  <a:gd name="T5" fmla="*/ 628650 h 628650"/>
                  <a:gd name="T6" fmla="*/ 0 w 803275"/>
                  <a:gd name="T7" fmla="*/ 425450 h 628650"/>
                  <a:gd name="T8" fmla="*/ 0 60000 65536"/>
                  <a:gd name="T9" fmla="*/ 0 60000 65536"/>
                  <a:gd name="T10" fmla="*/ 0 60000 65536"/>
                  <a:gd name="T11" fmla="*/ 0 60000 65536"/>
                  <a:gd name="T12" fmla="*/ 0 w 803275"/>
                  <a:gd name="T13" fmla="*/ 0 h 628650"/>
                  <a:gd name="T14" fmla="*/ 803275 w 803275"/>
                  <a:gd name="T15" fmla="*/ 628650 h 628650"/>
                </a:gdLst>
                <a:ahLst/>
                <a:cxnLst>
                  <a:cxn ang="T8">
                    <a:pos x="T0" y="T1"/>
                  </a:cxn>
                  <a:cxn ang="T9">
                    <a:pos x="T2" y="T3"/>
                  </a:cxn>
                  <a:cxn ang="T10">
                    <a:pos x="T4" y="T5"/>
                  </a:cxn>
                  <a:cxn ang="T11">
                    <a:pos x="T6" y="T7"/>
                  </a:cxn>
                </a:cxnLst>
                <a:rect l="T12" t="T13" r="T14" b="T15"/>
                <a:pathLst>
                  <a:path w="803275" h="628650">
                    <a:moveTo>
                      <a:pt x="0" y="425450"/>
                    </a:moveTo>
                    <a:lnTo>
                      <a:pt x="803275" y="0"/>
                    </a:lnTo>
                    <a:lnTo>
                      <a:pt x="555625" y="628650"/>
                    </a:lnTo>
                    <a:lnTo>
                      <a:pt x="0" y="425450"/>
                    </a:lnTo>
                    <a:close/>
                  </a:path>
                </a:pathLst>
              </a:custGeom>
              <a:solidFill>
                <a:srgbClr val="DD6A7A"/>
              </a:solidFill>
              <a:ln>
                <a:noFill/>
              </a:ln>
              <a:extLst>
                <a:ext uri="{91240B29-F687-4F45-9708-019B960494DF}">
                  <a14:hiddenLine xmlns:a14="http://schemas.microsoft.com/office/drawing/2010/main" w="12700" cap="flat" cmpd="sng">
                    <a:solidFill>
                      <a:srgbClr val="B13C31"/>
                    </a:solidFill>
                    <a:bevel/>
                    <a:headEnd/>
                    <a:tailEnd/>
                  </a14:hiddenLine>
                </a:ext>
              </a:extLst>
            </p:spPr>
            <p:txBody>
              <a:bodyPr anchor="ctr"/>
              <a:lstStyle/>
              <a:p>
                <a:endParaRPr lang="zh-CN" altLang="en-US" sz="2800"/>
              </a:p>
            </p:txBody>
          </p:sp>
        </p:grpSp>
        <p:grpSp>
          <p:nvGrpSpPr>
            <p:cNvPr id="86" name="组合 110"/>
            <p:cNvGrpSpPr>
              <a:grpSpLocks/>
            </p:cNvGrpSpPr>
            <p:nvPr/>
          </p:nvGrpSpPr>
          <p:grpSpPr bwMode="auto">
            <a:xfrm rot="-5400000">
              <a:off x="553968" y="260076"/>
              <a:ext cx="1061775" cy="2169714"/>
              <a:chOff x="0" y="0"/>
              <a:chExt cx="803275" cy="1641475"/>
            </a:xfrm>
          </p:grpSpPr>
          <p:sp>
            <p:nvSpPr>
              <p:cNvPr id="90" name="任意多边形 114"/>
              <p:cNvSpPr>
                <a:spLocks noChangeArrowheads="1"/>
              </p:cNvSpPr>
              <p:nvPr/>
            </p:nvSpPr>
            <p:spPr bwMode="auto">
              <a:xfrm>
                <a:off x="11113" y="0"/>
                <a:ext cx="771525" cy="1390650"/>
              </a:xfrm>
              <a:custGeom>
                <a:avLst/>
                <a:gdLst>
                  <a:gd name="T0" fmla="*/ 523875 w 771525"/>
                  <a:gd name="T1" fmla="*/ 0 h 1390650"/>
                  <a:gd name="T2" fmla="*/ 0 w 771525"/>
                  <a:gd name="T3" fmla="*/ 1390650 h 1390650"/>
                  <a:gd name="T4" fmla="*/ 771525 w 771525"/>
                  <a:gd name="T5" fmla="*/ 981075 h 1390650"/>
                  <a:gd name="T6" fmla="*/ 523875 w 771525"/>
                  <a:gd name="T7" fmla="*/ 0 h 1390650"/>
                  <a:gd name="T8" fmla="*/ 0 60000 65536"/>
                  <a:gd name="T9" fmla="*/ 0 60000 65536"/>
                  <a:gd name="T10" fmla="*/ 0 60000 65536"/>
                  <a:gd name="T11" fmla="*/ 0 60000 65536"/>
                  <a:gd name="T12" fmla="*/ 0 w 771525"/>
                  <a:gd name="T13" fmla="*/ 0 h 1390650"/>
                  <a:gd name="T14" fmla="*/ 771525 w 771525"/>
                  <a:gd name="T15" fmla="*/ 1390650 h 1390650"/>
                </a:gdLst>
                <a:ahLst/>
                <a:cxnLst>
                  <a:cxn ang="T8">
                    <a:pos x="T0" y="T1"/>
                  </a:cxn>
                  <a:cxn ang="T9">
                    <a:pos x="T2" y="T3"/>
                  </a:cxn>
                  <a:cxn ang="T10">
                    <a:pos x="T4" y="T5"/>
                  </a:cxn>
                  <a:cxn ang="T11">
                    <a:pos x="T6" y="T7"/>
                  </a:cxn>
                </a:cxnLst>
                <a:rect l="T12" t="T13" r="T14" b="T15"/>
                <a:pathLst>
                  <a:path w="771525" h="1390650">
                    <a:moveTo>
                      <a:pt x="523875" y="0"/>
                    </a:moveTo>
                    <a:lnTo>
                      <a:pt x="0" y="1390650"/>
                    </a:lnTo>
                    <a:lnTo>
                      <a:pt x="771525" y="981075"/>
                    </a:lnTo>
                    <a:lnTo>
                      <a:pt x="523875" y="0"/>
                    </a:lnTo>
                    <a:close/>
                  </a:path>
                </a:pathLst>
              </a:custGeom>
              <a:solidFill>
                <a:srgbClr val="92D050"/>
              </a:solidFill>
              <a:ln>
                <a:noFill/>
              </a:ln>
              <a:extLst>
                <a:ext uri="{91240B29-F687-4F45-9708-019B960494DF}">
                  <a14:hiddenLine xmlns:a14="http://schemas.microsoft.com/office/drawing/2010/main" w="12700" cap="flat" cmpd="sng">
                    <a:solidFill>
                      <a:srgbClr val="B13C31"/>
                    </a:solidFill>
                    <a:bevel/>
                    <a:headEnd/>
                    <a:tailEnd/>
                  </a14:hiddenLine>
                </a:ext>
              </a:extLst>
            </p:spPr>
            <p:txBody>
              <a:bodyPr anchor="ctr"/>
              <a:lstStyle/>
              <a:p>
                <a:endParaRPr lang="zh-CN" altLang="en-US" sz="2800"/>
              </a:p>
            </p:txBody>
          </p:sp>
          <p:sp>
            <p:nvSpPr>
              <p:cNvPr id="91" name="任意多边形 115"/>
              <p:cNvSpPr>
                <a:spLocks noChangeArrowheads="1"/>
              </p:cNvSpPr>
              <p:nvPr/>
            </p:nvSpPr>
            <p:spPr bwMode="auto">
              <a:xfrm>
                <a:off x="0" y="1012825"/>
                <a:ext cx="803275" cy="628650"/>
              </a:xfrm>
              <a:custGeom>
                <a:avLst/>
                <a:gdLst>
                  <a:gd name="T0" fmla="*/ 0 w 803275"/>
                  <a:gd name="T1" fmla="*/ 425450 h 628650"/>
                  <a:gd name="T2" fmla="*/ 803275 w 803275"/>
                  <a:gd name="T3" fmla="*/ 0 h 628650"/>
                  <a:gd name="T4" fmla="*/ 555625 w 803275"/>
                  <a:gd name="T5" fmla="*/ 628650 h 628650"/>
                  <a:gd name="T6" fmla="*/ 0 w 803275"/>
                  <a:gd name="T7" fmla="*/ 425450 h 628650"/>
                  <a:gd name="T8" fmla="*/ 0 60000 65536"/>
                  <a:gd name="T9" fmla="*/ 0 60000 65536"/>
                  <a:gd name="T10" fmla="*/ 0 60000 65536"/>
                  <a:gd name="T11" fmla="*/ 0 60000 65536"/>
                  <a:gd name="T12" fmla="*/ 0 w 803275"/>
                  <a:gd name="T13" fmla="*/ 0 h 628650"/>
                  <a:gd name="T14" fmla="*/ 803275 w 803275"/>
                  <a:gd name="T15" fmla="*/ 628650 h 628650"/>
                </a:gdLst>
                <a:ahLst/>
                <a:cxnLst>
                  <a:cxn ang="T8">
                    <a:pos x="T0" y="T1"/>
                  </a:cxn>
                  <a:cxn ang="T9">
                    <a:pos x="T2" y="T3"/>
                  </a:cxn>
                  <a:cxn ang="T10">
                    <a:pos x="T4" y="T5"/>
                  </a:cxn>
                  <a:cxn ang="T11">
                    <a:pos x="T6" y="T7"/>
                  </a:cxn>
                </a:cxnLst>
                <a:rect l="T12" t="T13" r="T14" b="T15"/>
                <a:pathLst>
                  <a:path w="803275" h="628650">
                    <a:moveTo>
                      <a:pt x="0" y="425450"/>
                    </a:moveTo>
                    <a:lnTo>
                      <a:pt x="803275" y="0"/>
                    </a:lnTo>
                    <a:lnTo>
                      <a:pt x="555625" y="628650"/>
                    </a:lnTo>
                    <a:lnTo>
                      <a:pt x="0" y="425450"/>
                    </a:lnTo>
                    <a:close/>
                  </a:path>
                </a:pathLst>
              </a:custGeom>
              <a:solidFill>
                <a:srgbClr val="92D050"/>
              </a:solidFill>
              <a:ln>
                <a:noFill/>
              </a:ln>
              <a:extLst>
                <a:ext uri="{91240B29-F687-4F45-9708-019B960494DF}">
                  <a14:hiddenLine xmlns:a14="http://schemas.microsoft.com/office/drawing/2010/main" w="12700" cap="flat" cmpd="sng">
                    <a:solidFill>
                      <a:srgbClr val="B13C31"/>
                    </a:solidFill>
                    <a:bevel/>
                    <a:headEnd/>
                    <a:tailEnd/>
                  </a14:hiddenLine>
                </a:ext>
              </a:extLst>
            </p:spPr>
            <p:txBody>
              <a:bodyPr anchor="ctr"/>
              <a:lstStyle/>
              <a:p>
                <a:endParaRPr lang="zh-CN" altLang="en-US" sz="2800"/>
              </a:p>
            </p:txBody>
          </p:sp>
        </p:grpSp>
        <p:grpSp>
          <p:nvGrpSpPr>
            <p:cNvPr id="87" name="组合 111"/>
            <p:cNvGrpSpPr>
              <a:grpSpLocks/>
            </p:cNvGrpSpPr>
            <p:nvPr/>
          </p:nvGrpSpPr>
          <p:grpSpPr bwMode="auto">
            <a:xfrm rot="10800000">
              <a:off x="815569" y="1658100"/>
              <a:ext cx="1061775" cy="2169714"/>
              <a:chOff x="0" y="0"/>
              <a:chExt cx="803275" cy="1641475"/>
            </a:xfrm>
          </p:grpSpPr>
          <p:sp>
            <p:nvSpPr>
              <p:cNvPr id="88" name="任意多边形 112"/>
              <p:cNvSpPr>
                <a:spLocks noChangeArrowheads="1"/>
              </p:cNvSpPr>
              <p:nvPr/>
            </p:nvSpPr>
            <p:spPr bwMode="auto">
              <a:xfrm>
                <a:off x="11113" y="0"/>
                <a:ext cx="771525" cy="1390650"/>
              </a:xfrm>
              <a:custGeom>
                <a:avLst/>
                <a:gdLst>
                  <a:gd name="T0" fmla="*/ 523875 w 771525"/>
                  <a:gd name="T1" fmla="*/ 0 h 1390650"/>
                  <a:gd name="T2" fmla="*/ 0 w 771525"/>
                  <a:gd name="T3" fmla="*/ 1390650 h 1390650"/>
                  <a:gd name="T4" fmla="*/ 771525 w 771525"/>
                  <a:gd name="T5" fmla="*/ 981075 h 1390650"/>
                  <a:gd name="T6" fmla="*/ 523875 w 771525"/>
                  <a:gd name="T7" fmla="*/ 0 h 1390650"/>
                  <a:gd name="T8" fmla="*/ 0 60000 65536"/>
                  <a:gd name="T9" fmla="*/ 0 60000 65536"/>
                  <a:gd name="T10" fmla="*/ 0 60000 65536"/>
                  <a:gd name="T11" fmla="*/ 0 60000 65536"/>
                  <a:gd name="T12" fmla="*/ 0 w 771525"/>
                  <a:gd name="T13" fmla="*/ 0 h 1390650"/>
                  <a:gd name="T14" fmla="*/ 771525 w 771525"/>
                  <a:gd name="T15" fmla="*/ 1390650 h 1390650"/>
                </a:gdLst>
                <a:ahLst/>
                <a:cxnLst>
                  <a:cxn ang="T8">
                    <a:pos x="T0" y="T1"/>
                  </a:cxn>
                  <a:cxn ang="T9">
                    <a:pos x="T2" y="T3"/>
                  </a:cxn>
                  <a:cxn ang="T10">
                    <a:pos x="T4" y="T5"/>
                  </a:cxn>
                  <a:cxn ang="T11">
                    <a:pos x="T6" y="T7"/>
                  </a:cxn>
                </a:cxnLst>
                <a:rect l="T12" t="T13" r="T14" b="T15"/>
                <a:pathLst>
                  <a:path w="771525" h="1390650">
                    <a:moveTo>
                      <a:pt x="523875" y="0"/>
                    </a:moveTo>
                    <a:lnTo>
                      <a:pt x="0" y="1390650"/>
                    </a:lnTo>
                    <a:lnTo>
                      <a:pt x="771525" y="981075"/>
                    </a:lnTo>
                    <a:lnTo>
                      <a:pt x="523875" y="0"/>
                    </a:lnTo>
                    <a:close/>
                  </a:path>
                </a:pathLst>
              </a:custGeom>
              <a:solidFill>
                <a:srgbClr val="F65123"/>
              </a:solidFill>
              <a:ln>
                <a:noFill/>
              </a:ln>
              <a:extLst>
                <a:ext uri="{91240B29-F687-4F45-9708-019B960494DF}">
                  <a14:hiddenLine xmlns:a14="http://schemas.microsoft.com/office/drawing/2010/main" w="12700" cap="flat" cmpd="sng">
                    <a:solidFill>
                      <a:srgbClr val="B13C31"/>
                    </a:solidFill>
                    <a:bevel/>
                    <a:headEnd/>
                    <a:tailEnd/>
                  </a14:hiddenLine>
                </a:ext>
              </a:extLst>
            </p:spPr>
            <p:txBody>
              <a:bodyPr anchor="ctr"/>
              <a:lstStyle/>
              <a:p>
                <a:endParaRPr lang="zh-CN" altLang="en-US" sz="2800"/>
              </a:p>
            </p:txBody>
          </p:sp>
          <p:sp>
            <p:nvSpPr>
              <p:cNvPr id="89" name="任意多边形 113"/>
              <p:cNvSpPr>
                <a:spLocks noChangeArrowheads="1"/>
              </p:cNvSpPr>
              <p:nvPr/>
            </p:nvSpPr>
            <p:spPr bwMode="auto">
              <a:xfrm>
                <a:off x="0" y="1012825"/>
                <a:ext cx="803275" cy="628650"/>
              </a:xfrm>
              <a:custGeom>
                <a:avLst/>
                <a:gdLst>
                  <a:gd name="T0" fmla="*/ 0 w 803275"/>
                  <a:gd name="T1" fmla="*/ 425450 h 628650"/>
                  <a:gd name="T2" fmla="*/ 803275 w 803275"/>
                  <a:gd name="T3" fmla="*/ 0 h 628650"/>
                  <a:gd name="T4" fmla="*/ 555625 w 803275"/>
                  <a:gd name="T5" fmla="*/ 628650 h 628650"/>
                  <a:gd name="T6" fmla="*/ 0 w 803275"/>
                  <a:gd name="T7" fmla="*/ 425450 h 628650"/>
                  <a:gd name="T8" fmla="*/ 0 60000 65536"/>
                  <a:gd name="T9" fmla="*/ 0 60000 65536"/>
                  <a:gd name="T10" fmla="*/ 0 60000 65536"/>
                  <a:gd name="T11" fmla="*/ 0 60000 65536"/>
                  <a:gd name="T12" fmla="*/ 0 w 803275"/>
                  <a:gd name="T13" fmla="*/ 0 h 628650"/>
                  <a:gd name="T14" fmla="*/ 803275 w 803275"/>
                  <a:gd name="T15" fmla="*/ 628650 h 628650"/>
                </a:gdLst>
                <a:ahLst/>
                <a:cxnLst>
                  <a:cxn ang="T8">
                    <a:pos x="T0" y="T1"/>
                  </a:cxn>
                  <a:cxn ang="T9">
                    <a:pos x="T2" y="T3"/>
                  </a:cxn>
                  <a:cxn ang="T10">
                    <a:pos x="T4" y="T5"/>
                  </a:cxn>
                  <a:cxn ang="T11">
                    <a:pos x="T6" y="T7"/>
                  </a:cxn>
                </a:cxnLst>
                <a:rect l="T12" t="T13" r="T14" b="T15"/>
                <a:pathLst>
                  <a:path w="803275" h="628650">
                    <a:moveTo>
                      <a:pt x="0" y="425450"/>
                    </a:moveTo>
                    <a:lnTo>
                      <a:pt x="803275" y="0"/>
                    </a:lnTo>
                    <a:lnTo>
                      <a:pt x="555625" y="628650"/>
                    </a:lnTo>
                    <a:lnTo>
                      <a:pt x="0" y="425450"/>
                    </a:lnTo>
                    <a:close/>
                  </a:path>
                </a:pathLst>
              </a:custGeom>
              <a:solidFill>
                <a:srgbClr val="F65123"/>
              </a:solidFill>
              <a:ln>
                <a:noFill/>
              </a:ln>
              <a:extLst>
                <a:ext uri="{91240B29-F687-4F45-9708-019B960494DF}">
                  <a14:hiddenLine xmlns:a14="http://schemas.microsoft.com/office/drawing/2010/main" w="12700" cap="flat" cmpd="sng">
                    <a:solidFill>
                      <a:srgbClr val="B13C31"/>
                    </a:solidFill>
                    <a:bevel/>
                    <a:headEnd/>
                    <a:tailEnd/>
                  </a14:hiddenLine>
                </a:ext>
              </a:extLst>
            </p:spPr>
            <p:txBody>
              <a:bodyPr anchor="ctr"/>
              <a:lstStyle/>
              <a:p>
                <a:endParaRPr lang="zh-CN" altLang="en-US" sz="2800"/>
              </a:p>
            </p:txBody>
          </p:sp>
        </p:grpSp>
      </p:grpSp>
      <p:sp>
        <p:nvSpPr>
          <p:cNvPr id="96" name="直接连接符 120"/>
          <p:cNvSpPr>
            <a:spLocks noChangeShapeType="1"/>
          </p:cNvSpPr>
          <p:nvPr/>
        </p:nvSpPr>
        <p:spPr bwMode="auto">
          <a:xfrm>
            <a:off x="5627688" y="4651548"/>
            <a:ext cx="2967037" cy="1588"/>
          </a:xfrm>
          <a:prstGeom prst="line">
            <a:avLst/>
          </a:prstGeom>
          <a:noFill/>
          <a:ln w="19050">
            <a:solidFill>
              <a:srgbClr val="DD6A7A"/>
            </a:solidFill>
            <a:bevel/>
            <a:headEnd/>
            <a:tailEnd type="oval" w="med" len="med"/>
          </a:ln>
          <a:extLst>
            <a:ext uri="{909E8E84-426E-40DD-AFC4-6F175D3DCCD1}">
              <a14:hiddenFill xmlns:a14="http://schemas.microsoft.com/office/drawing/2010/main">
                <a:noFill/>
              </a14:hiddenFill>
            </a:ext>
          </a:extLst>
        </p:spPr>
        <p:txBody>
          <a:bodyPr/>
          <a:lstStyle/>
          <a:p>
            <a:endParaRPr lang="zh-CN" altLang="en-US" sz="2800"/>
          </a:p>
        </p:txBody>
      </p:sp>
      <p:sp>
        <p:nvSpPr>
          <p:cNvPr id="97" name="直接连接符 121"/>
          <p:cNvSpPr>
            <a:spLocks noChangeShapeType="1"/>
          </p:cNvSpPr>
          <p:nvPr/>
        </p:nvSpPr>
        <p:spPr bwMode="auto">
          <a:xfrm flipH="1">
            <a:off x="522288" y="4700434"/>
            <a:ext cx="2782887" cy="1588"/>
          </a:xfrm>
          <a:prstGeom prst="line">
            <a:avLst/>
          </a:prstGeom>
          <a:noFill/>
          <a:ln w="19050">
            <a:solidFill>
              <a:srgbClr val="F65123"/>
            </a:solidFill>
            <a:bevel/>
            <a:headEnd/>
            <a:tailEnd type="oval" w="med" len="med"/>
          </a:ln>
          <a:extLst>
            <a:ext uri="{909E8E84-426E-40DD-AFC4-6F175D3DCCD1}">
              <a14:hiddenFill xmlns:a14="http://schemas.microsoft.com/office/drawing/2010/main">
                <a:noFill/>
              </a14:hiddenFill>
            </a:ext>
          </a:extLst>
        </p:spPr>
        <p:txBody>
          <a:bodyPr/>
          <a:lstStyle/>
          <a:p>
            <a:endParaRPr lang="zh-CN" altLang="en-US" sz="2800"/>
          </a:p>
        </p:txBody>
      </p:sp>
      <p:sp>
        <p:nvSpPr>
          <p:cNvPr id="98" name="直接连接符 122"/>
          <p:cNvSpPr>
            <a:spLocks noChangeShapeType="1"/>
          </p:cNvSpPr>
          <p:nvPr/>
        </p:nvSpPr>
        <p:spPr bwMode="auto">
          <a:xfrm>
            <a:off x="5605463" y="1813292"/>
            <a:ext cx="2989262" cy="0"/>
          </a:xfrm>
          <a:prstGeom prst="line">
            <a:avLst/>
          </a:prstGeom>
          <a:noFill/>
          <a:ln w="19050">
            <a:solidFill>
              <a:srgbClr val="14BAC6"/>
            </a:solidFill>
            <a:bevel/>
            <a:headEnd/>
            <a:tailEnd type="oval" w="med" len="med"/>
          </a:ln>
          <a:extLst>
            <a:ext uri="{909E8E84-426E-40DD-AFC4-6F175D3DCCD1}">
              <a14:hiddenFill xmlns:a14="http://schemas.microsoft.com/office/drawing/2010/main">
                <a:noFill/>
              </a14:hiddenFill>
            </a:ext>
          </a:extLst>
        </p:spPr>
        <p:txBody>
          <a:bodyPr/>
          <a:lstStyle/>
          <a:p>
            <a:endParaRPr lang="zh-CN" altLang="en-US" sz="2800"/>
          </a:p>
        </p:txBody>
      </p:sp>
      <p:sp>
        <p:nvSpPr>
          <p:cNvPr id="99" name="直接连接符 123"/>
          <p:cNvSpPr>
            <a:spLocks noChangeShapeType="1"/>
          </p:cNvSpPr>
          <p:nvPr/>
        </p:nvSpPr>
        <p:spPr bwMode="auto">
          <a:xfrm flipH="1">
            <a:off x="467544" y="1844824"/>
            <a:ext cx="3168650" cy="0"/>
          </a:xfrm>
          <a:prstGeom prst="line">
            <a:avLst/>
          </a:prstGeom>
          <a:noFill/>
          <a:ln w="19050">
            <a:solidFill>
              <a:srgbClr val="92D050"/>
            </a:solidFill>
            <a:bevel/>
            <a:headEnd/>
            <a:tailEnd type="oval" w="med" len="med"/>
          </a:ln>
          <a:extLst>
            <a:ext uri="{909E8E84-426E-40DD-AFC4-6F175D3DCCD1}">
              <a14:hiddenFill xmlns:a14="http://schemas.microsoft.com/office/drawing/2010/main">
                <a:noFill/>
              </a14:hiddenFill>
            </a:ext>
          </a:extLst>
        </p:spPr>
        <p:txBody>
          <a:bodyPr/>
          <a:lstStyle/>
          <a:p>
            <a:endParaRPr lang="zh-CN" altLang="en-US" sz="2800"/>
          </a:p>
        </p:txBody>
      </p:sp>
      <p:grpSp>
        <p:nvGrpSpPr>
          <p:cNvPr id="100" name="组合 128"/>
          <p:cNvGrpSpPr>
            <a:grpSpLocks/>
          </p:cNvGrpSpPr>
          <p:nvPr/>
        </p:nvGrpSpPr>
        <p:grpSpPr bwMode="auto">
          <a:xfrm>
            <a:off x="524471" y="3863975"/>
            <a:ext cx="2607369" cy="851503"/>
            <a:chOff x="-141054" y="0"/>
            <a:chExt cx="3477286" cy="850929"/>
          </a:xfrm>
        </p:grpSpPr>
        <p:sp>
          <p:nvSpPr>
            <p:cNvPr id="101" name="文本框 129"/>
            <p:cNvSpPr>
              <a:spLocks noChangeArrowheads="1"/>
            </p:cNvSpPr>
            <p:nvPr/>
          </p:nvSpPr>
          <p:spPr bwMode="auto">
            <a:xfrm>
              <a:off x="285137" y="328062"/>
              <a:ext cx="3051095" cy="522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dirty="0">
                  <a:solidFill>
                    <a:srgbClr val="F65123"/>
                  </a:solidFill>
                  <a:ea typeface="微软雅黑" pitchFamily="34" charset="-122"/>
                  <a:sym typeface="Arial" pitchFamily="34" charset="0"/>
                </a:rPr>
                <a:t>互联网+教育</a:t>
              </a:r>
            </a:p>
          </p:txBody>
        </p:sp>
        <p:grpSp>
          <p:nvGrpSpPr>
            <p:cNvPr id="102" name="组合 131"/>
            <p:cNvGrpSpPr>
              <a:grpSpLocks/>
            </p:cNvGrpSpPr>
            <p:nvPr/>
          </p:nvGrpSpPr>
          <p:grpSpPr bwMode="auto">
            <a:xfrm>
              <a:off x="-141054" y="0"/>
              <a:ext cx="605265" cy="612607"/>
              <a:chOff x="-141054" y="0"/>
              <a:chExt cx="605265" cy="612607"/>
            </a:xfrm>
          </p:grpSpPr>
          <p:sp>
            <p:nvSpPr>
              <p:cNvPr id="103" name="Freeform 413"/>
              <p:cNvSpPr>
                <a:spLocks noChangeArrowheads="1"/>
              </p:cNvSpPr>
              <p:nvPr/>
            </p:nvSpPr>
            <p:spPr bwMode="auto">
              <a:xfrm>
                <a:off x="-37541" y="132224"/>
                <a:ext cx="201530" cy="183320"/>
              </a:xfrm>
              <a:custGeom>
                <a:avLst/>
                <a:gdLst>
                  <a:gd name="T0" fmla="*/ 89212 w 628"/>
                  <a:gd name="T1" fmla="*/ 1605 h 571"/>
                  <a:gd name="T2" fmla="*/ 0 w 628"/>
                  <a:gd name="T3" fmla="*/ 52010 h 571"/>
                  <a:gd name="T4" fmla="*/ 64182 w 628"/>
                  <a:gd name="T5" fmla="*/ 30179 h 571"/>
                  <a:gd name="T6" fmla="*/ 179708 w 628"/>
                  <a:gd name="T7" fmla="*/ 140620 h 571"/>
                  <a:gd name="T8" fmla="*/ 172327 w 628"/>
                  <a:gd name="T9" fmla="*/ 183320 h 571"/>
                  <a:gd name="T10" fmla="*/ 200888 w 628"/>
                  <a:gd name="T11" fmla="*/ 107873 h 571"/>
                  <a:gd name="T12" fmla="*/ 89212 w 628"/>
                  <a:gd name="T13" fmla="*/ 1605 h 571"/>
                  <a:gd name="T14" fmla="*/ 0 60000 65536"/>
                  <a:gd name="T15" fmla="*/ 0 60000 65536"/>
                  <a:gd name="T16" fmla="*/ 0 60000 65536"/>
                  <a:gd name="T17" fmla="*/ 0 60000 65536"/>
                  <a:gd name="T18" fmla="*/ 0 60000 65536"/>
                  <a:gd name="T19" fmla="*/ 0 60000 65536"/>
                  <a:gd name="T20" fmla="*/ 0 60000 65536"/>
                  <a:gd name="T21" fmla="*/ 0 w 628"/>
                  <a:gd name="T22" fmla="*/ 0 h 571"/>
                  <a:gd name="T23" fmla="*/ 628 w 628"/>
                  <a:gd name="T24" fmla="*/ 571 h 5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28" h="571">
                    <a:moveTo>
                      <a:pt x="278" y="5"/>
                    </a:moveTo>
                    <a:cubicBezTo>
                      <a:pt x="161" y="7"/>
                      <a:pt x="59" y="70"/>
                      <a:pt x="0" y="162"/>
                    </a:cubicBezTo>
                    <a:cubicBezTo>
                      <a:pt x="56" y="121"/>
                      <a:pt x="125" y="96"/>
                      <a:pt x="200" y="94"/>
                    </a:cubicBezTo>
                    <a:cubicBezTo>
                      <a:pt x="394" y="89"/>
                      <a:pt x="556" y="244"/>
                      <a:pt x="560" y="438"/>
                    </a:cubicBezTo>
                    <a:cubicBezTo>
                      <a:pt x="561" y="484"/>
                      <a:pt x="553" y="529"/>
                      <a:pt x="537" y="571"/>
                    </a:cubicBezTo>
                    <a:cubicBezTo>
                      <a:pt x="596" y="507"/>
                      <a:pt x="628" y="424"/>
                      <a:pt x="626" y="336"/>
                    </a:cubicBezTo>
                    <a:cubicBezTo>
                      <a:pt x="621" y="149"/>
                      <a:pt x="465" y="0"/>
                      <a:pt x="278" y="5"/>
                    </a:cubicBezTo>
                    <a:close/>
                  </a:path>
                </a:pathLst>
              </a:custGeom>
              <a:solidFill>
                <a:srgbClr val="F65123"/>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04" name="Freeform 414"/>
              <p:cNvSpPr>
                <a:spLocks noChangeArrowheads="1"/>
              </p:cNvSpPr>
              <p:nvPr/>
            </p:nvSpPr>
            <p:spPr bwMode="auto">
              <a:xfrm>
                <a:off x="-13489" y="512046"/>
                <a:ext cx="147716" cy="100561"/>
              </a:xfrm>
              <a:custGeom>
                <a:avLst/>
                <a:gdLst>
                  <a:gd name="T0" fmla="*/ 146753 w 460"/>
                  <a:gd name="T1" fmla="*/ 11887 h 313"/>
                  <a:gd name="T2" fmla="*/ 131981 w 460"/>
                  <a:gd name="T3" fmla="*/ 0 h 313"/>
                  <a:gd name="T4" fmla="*/ 14450 w 460"/>
                  <a:gd name="T5" fmla="*/ 2892 h 313"/>
                  <a:gd name="T6" fmla="*/ 321 w 460"/>
                  <a:gd name="T7" fmla="*/ 15421 h 313"/>
                  <a:gd name="T8" fmla="*/ 13166 w 460"/>
                  <a:gd name="T9" fmla="*/ 26988 h 313"/>
                  <a:gd name="T10" fmla="*/ 12845 w 460"/>
                  <a:gd name="T11" fmla="*/ 27309 h 313"/>
                  <a:gd name="T12" fmla="*/ 31470 w 460"/>
                  <a:gd name="T13" fmla="*/ 39196 h 313"/>
                  <a:gd name="T14" fmla="*/ 15414 w 460"/>
                  <a:gd name="T15" fmla="*/ 39518 h 313"/>
                  <a:gd name="T16" fmla="*/ 963 w 460"/>
                  <a:gd name="T17" fmla="*/ 52048 h 313"/>
                  <a:gd name="T18" fmla="*/ 16056 w 460"/>
                  <a:gd name="T19" fmla="*/ 63935 h 313"/>
                  <a:gd name="T20" fmla="*/ 25690 w 460"/>
                  <a:gd name="T21" fmla="*/ 63935 h 313"/>
                  <a:gd name="T22" fmla="*/ 44315 w 460"/>
                  <a:gd name="T23" fmla="*/ 75501 h 313"/>
                  <a:gd name="T24" fmla="*/ 26011 w 460"/>
                  <a:gd name="T25" fmla="*/ 76144 h 313"/>
                  <a:gd name="T26" fmla="*/ 14129 w 460"/>
                  <a:gd name="T27" fmla="*/ 88674 h 313"/>
                  <a:gd name="T28" fmla="*/ 26653 w 460"/>
                  <a:gd name="T29" fmla="*/ 100561 h 313"/>
                  <a:gd name="T30" fmla="*/ 124274 w 460"/>
                  <a:gd name="T31" fmla="*/ 98312 h 313"/>
                  <a:gd name="T32" fmla="*/ 136477 w 460"/>
                  <a:gd name="T33" fmla="*/ 85782 h 313"/>
                  <a:gd name="T34" fmla="*/ 123953 w 460"/>
                  <a:gd name="T35" fmla="*/ 73573 h 313"/>
                  <a:gd name="T36" fmla="*/ 74821 w 460"/>
                  <a:gd name="T37" fmla="*/ 74859 h 313"/>
                  <a:gd name="T38" fmla="*/ 62298 w 460"/>
                  <a:gd name="T39" fmla="*/ 62971 h 313"/>
                  <a:gd name="T40" fmla="*/ 133266 w 460"/>
                  <a:gd name="T41" fmla="*/ 61365 h 313"/>
                  <a:gd name="T42" fmla="*/ 147716 w 460"/>
                  <a:gd name="T43" fmla="*/ 48513 h 313"/>
                  <a:gd name="T44" fmla="*/ 132623 w 460"/>
                  <a:gd name="T45" fmla="*/ 36626 h 313"/>
                  <a:gd name="T46" fmla="*/ 61976 w 460"/>
                  <a:gd name="T47" fmla="*/ 38554 h 313"/>
                  <a:gd name="T48" fmla="*/ 49453 w 460"/>
                  <a:gd name="T49" fmla="*/ 26666 h 313"/>
                  <a:gd name="T50" fmla="*/ 132623 w 460"/>
                  <a:gd name="T51" fmla="*/ 24417 h 313"/>
                  <a:gd name="T52" fmla="*/ 146753 w 460"/>
                  <a:gd name="T53" fmla="*/ 11887 h 31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60"/>
                  <a:gd name="T82" fmla="*/ 0 h 313"/>
                  <a:gd name="T83" fmla="*/ 460 w 460"/>
                  <a:gd name="T84" fmla="*/ 313 h 31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60" h="313">
                    <a:moveTo>
                      <a:pt x="457" y="37"/>
                    </a:moveTo>
                    <a:cubicBezTo>
                      <a:pt x="457" y="16"/>
                      <a:pt x="436" y="0"/>
                      <a:pt x="411" y="0"/>
                    </a:cubicBezTo>
                    <a:cubicBezTo>
                      <a:pt x="45" y="9"/>
                      <a:pt x="45" y="9"/>
                      <a:pt x="45" y="9"/>
                    </a:cubicBezTo>
                    <a:cubicBezTo>
                      <a:pt x="20" y="10"/>
                      <a:pt x="0" y="27"/>
                      <a:pt x="1" y="48"/>
                    </a:cubicBezTo>
                    <a:cubicBezTo>
                      <a:pt x="1" y="67"/>
                      <a:pt x="19" y="82"/>
                      <a:pt x="41" y="84"/>
                    </a:cubicBezTo>
                    <a:cubicBezTo>
                      <a:pt x="40" y="85"/>
                      <a:pt x="40" y="85"/>
                      <a:pt x="40" y="85"/>
                    </a:cubicBezTo>
                    <a:cubicBezTo>
                      <a:pt x="98" y="122"/>
                      <a:pt x="98" y="122"/>
                      <a:pt x="98" y="122"/>
                    </a:cubicBezTo>
                    <a:cubicBezTo>
                      <a:pt x="48" y="123"/>
                      <a:pt x="48" y="123"/>
                      <a:pt x="48" y="123"/>
                    </a:cubicBezTo>
                    <a:cubicBezTo>
                      <a:pt x="23" y="124"/>
                      <a:pt x="3" y="141"/>
                      <a:pt x="3" y="162"/>
                    </a:cubicBezTo>
                    <a:cubicBezTo>
                      <a:pt x="4" y="183"/>
                      <a:pt x="25" y="200"/>
                      <a:pt x="50" y="199"/>
                    </a:cubicBezTo>
                    <a:cubicBezTo>
                      <a:pt x="80" y="199"/>
                      <a:pt x="80" y="199"/>
                      <a:pt x="80" y="199"/>
                    </a:cubicBezTo>
                    <a:cubicBezTo>
                      <a:pt x="138" y="235"/>
                      <a:pt x="138" y="235"/>
                      <a:pt x="138" y="235"/>
                    </a:cubicBezTo>
                    <a:cubicBezTo>
                      <a:pt x="81" y="237"/>
                      <a:pt x="81" y="237"/>
                      <a:pt x="81" y="237"/>
                    </a:cubicBezTo>
                    <a:cubicBezTo>
                      <a:pt x="60" y="237"/>
                      <a:pt x="44" y="255"/>
                      <a:pt x="44" y="276"/>
                    </a:cubicBezTo>
                    <a:cubicBezTo>
                      <a:pt x="45" y="297"/>
                      <a:pt x="62" y="313"/>
                      <a:pt x="83" y="313"/>
                    </a:cubicBezTo>
                    <a:cubicBezTo>
                      <a:pt x="387" y="306"/>
                      <a:pt x="387" y="306"/>
                      <a:pt x="387" y="306"/>
                    </a:cubicBezTo>
                    <a:cubicBezTo>
                      <a:pt x="409" y="305"/>
                      <a:pt x="425" y="288"/>
                      <a:pt x="425" y="267"/>
                    </a:cubicBezTo>
                    <a:cubicBezTo>
                      <a:pt x="424" y="245"/>
                      <a:pt x="407" y="229"/>
                      <a:pt x="386" y="229"/>
                    </a:cubicBezTo>
                    <a:cubicBezTo>
                      <a:pt x="233" y="233"/>
                      <a:pt x="233" y="233"/>
                      <a:pt x="233" y="233"/>
                    </a:cubicBezTo>
                    <a:cubicBezTo>
                      <a:pt x="194" y="196"/>
                      <a:pt x="194" y="196"/>
                      <a:pt x="194" y="196"/>
                    </a:cubicBezTo>
                    <a:cubicBezTo>
                      <a:pt x="415" y="191"/>
                      <a:pt x="415" y="191"/>
                      <a:pt x="415" y="191"/>
                    </a:cubicBezTo>
                    <a:cubicBezTo>
                      <a:pt x="440" y="190"/>
                      <a:pt x="460" y="173"/>
                      <a:pt x="460" y="151"/>
                    </a:cubicBezTo>
                    <a:cubicBezTo>
                      <a:pt x="460" y="130"/>
                      <a:pt x="439" y="114"/>
                      <a:pt x="413" y="114"/>
                    </a:cubicBezTo>
                    <a:cubicBezTo>
                      <a:pt x="193" y="120"/>
                      <a:pt x="193" y="120"/>
                      <a:pt x="193" y="120"/>
                    </a:cubicBezTo>
                    <a:cubicBezTo>
                      <a:pt x="154" y="83"/>
                      <a:pt x="154" y="83"/>
                      <a:pt x="154" y="83"/>
                    </a:cubicBezTo>
                    <a:cubicBezTo>
                      <a:pt x="413" y="76"/>
                      <a:pt x="413" y="76"/>
                      <a:pt x="413" y="76"/>
                    </a:cubicBezTo>
                    <a:cubicBezTo>
                      <a:pt x="438" y="76"/>
                      <a:pt x="458" y="58"/>
                      <a:pt x="457" y="37"/>
                    </a:cubicBezTo>
                    <a:close/>
                  </a:path>
                </a:pathLst>
              </a:custGeom>
              <a:solidFill>
                <a:srgbClr val="F65123"/>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05" name="Freeform 415"/>
              <p:cNvSpPr>
                <a:spLocks noChangeArrowheads="1"/>
              </p:cNvSpPr>
              <p:nvPr/>
            </p:nvSpPr>
            <p:spPr bwMode="auto">
              <a:xfrm>
                <a:off x="245559" y="0"/>
                <a:ext cx="25684" cy="61560"/>
              </a:xfrm>
              <a:custGeom>
                <a:avLst/>
                <a:gdLst>
                  <a:gd name="T0" fmla="*/ 13805 w 80"/>
                  <a:gd name="T1" fmla="*/ 61239 h 192"/>
                  <a:gd name="T2" fmla="*/ 25684 w 80"/>
                  <a:gd name="T3" fmla="*/ 48735 h 192"/>
                  <a:gd name="T4" fmla="*/ 24721 w 80"/>
                  <a:gd name="T5" fmla="*/ 12184 h 192"/>
                  <a:gd name="T6" fmla="*/ 12200 w 80"/>
                  <a:gd name="T7" fmla="*/ 321 h 192"/>
                  <a:gd name="T8" fmla="*/ 321 w 80"/>
                  <a:gd name="T9" fmla="*/ 12825 h 192"/>
                  <a:gd name="T10" fmla="*/ 1284 w 80"/>
                  <a:gd name="T11" fmla="*/ 49376 h 192"/>
                  <a:gd name="T12" fmla="*/ 13805 w 80"/>
                  <a:gd name="T13" fmla="*/ 61239 h 192"/>
                  <a:gd name="T14" fmla="*/ 0 60000 65536"/>
                  <a:gd name="T15" fmla="*/ 0 60000 65536"/>
                  <a:gd name="T16" fmla="*/ 0 60000 65536"/>
                  <a:gd name="T17" fmla="*/ 0 60000 65536"/>
                  <a:gd name="T18" fmla="*/ 0 60000 65536"/>
                  <a:gd name="T19" fmla="*/ 0 60000 65536"/>
                  <a:gd name="T20" fmla="*/ 0 60000 65536"/>
                  <a:gd name="T21" fmla="*/ 0 w 80"/>
                  <a:gd name="T22" fmla="*/ 0 h 192"/>
                  <a:gd name="T23" fmla="*/ 80 w 80"/>
                  <a:gd name="T24" fmla="*/ 192 h 1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0" h="192">
                    <a:moveTo>
                      <a:pt x="43" y="191"/>
                    </a:moveTo>
                    <a:cubicBezTo>
                      <a:pt x="64" y="191"/>
                      <a:pt x="80" y="173"/>
                      <a:pt x="80" y="152"/>
                    </a:cubicBezTo>
                    <a:cubicBezTo>
                      <a:pt x="77" y="38"/>
                      <a:pt x="77" y="38"/>
                      <a:pt x="77" y="38"/>
                    </a:cubicBezTo>
                    <a:cubicBezTo>
                      <a:pt x="77" y="17"/>
                      <a:pt x="59" y="0"/>
                      <a:pt x="38" y="1"/>
                    </a:cubicBezTo>
                    <a:cubicBezTo>
                      <a:pt x="17" y="1"/>
                      <a:pt x="0" y="19"/>
                      <a:pt x="1" y="40"/>
                    </a:cubicBezTo>
                    <a:cubicBezTo>
                      <a:pt x="4" y="154"/>
                      <a:pt x="4" y="154"/>
                      <a:pt x="4" y="154"/>
                    </a:cubicBezTo>
                    <a:cubicBezTo>
                      <a:pt x="4" y="175"/>
                      <a:pt x="22" y="192"/>
                      <a:pt x="43" y="191"/>
                    </a:cubicBezTo>
                    <a:close/>
                  </a:path>
                </a:pathLst>
              </a:custGeom>
              <a:solidFill>
                <a:srgbClr val="F65123"/>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06" name="Freeform 416"/>
              <p:cNvSpPr>
                <a:spLocks noChangeArrowheads="1"/>
              </p:cNvSpPr>
              <p:nvPr/>
            </p:nvSpPr>
            <p:spPr bwMode="auto">
              <a:xfrm>
                <a:off x="46023" y="29897"/>
                <a:ext cx="52455" cy="53542"/>
              </a:xfrm>
              <a:custGeom>
                <a:avLst/>
                <a:gdLst>
                  <a:gd name="T0" fmla="*/ 29928 w 163"/>
                  <a:gd name="T1" fmla="*/ 5130 h 167"/>
                  <a:gd name="T2" fmla="*/ 4505 w 163"/>
                  <a:gd name="T3" fmla="*/ 31420 h 167"/>
                  <a:gd name="T4" fmla="*/ 4827 w 163"/>
                  <a:gd name="T5" fmla="*/ 48733 h 167"/>
                  <a:gd name="T6" fmla="*/ 22205 w 163"/>
                  <a:gd name="T7" fmla="*/ 48412 h 167"/>
                  <a:gd name="T8" fmla="*/ 47628 w 163"/>
                  <a:gd name="T9" fmla="*/ 21802 h 167"/>
                  <a:gd name="T10" fmla="*/ 47306 w 163"/>
                  <a:gd name="T11" fmla="*/ 4489 h 167"/>
                  <a:gd name="T12" fmla="*/ 29928 w 163"/>
                  <a:gd name="T13" fmla="*/ 5130 h 167"/>
                  <a:gd name="T14" fmla="*/ 0 60000 65536"/>
                  <a:gd name="T15" fmla="*/ 0 60000 65536"/>
                  <a:gd name="T16" fmla="*/ 0 60000 65536"/>
                  <a:gd name="T17" fmla="*/ 0 60000 65536"/>
                  <a:gd name="T18" fmla="*/ 0 60000 65536"/>
                  <a:gd name="T19" fmla="*/ 0 60000 65536"/>
                  <a:gd name="T20" fmla="*/ 0 60000 65536"/>
                  <a:gd name="T21" fmla="*/ 0 w 163"/>
                  <a:gd name="T22" fmla="*/ 0 h 167"/>
                  <a:gd name="T23" fmla="*/ 163 w 163"/>
                  <a:gd name="T24" fmla="*/ 167 h 16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167">
                    <a:moveTo>
                      <a:pt x="93" y="16"/>
                    </a:moveTo>
                    <a:cubicBezTo>
                      <a:pt x="14" y="98"/>
                      <a:pt x="14" y="98"/>
                      <a:pt x="14" y="98"/>
                    </a:cubicBezTo>
                    <a:cubicBezTo>
                      <a:pt x="0" y="114"/>
                      <a:pt x="0" y="138"/>
                      <a:pt x="15" y="152"/>
                    </a:cubicBezTo>
                    <a:cubicBezTo>
                      <a:pt x="31" y="167"/>
                      <a:pt x="55" y="166"/>
                      <a:pt x="69" y="151"/>
                    </a:cubicBezTo>
                    <a:cubicBezTo>
                      <a:pt x="148" y="68"/>
                      <a:pt x="148" y="68"/>
                      <a:pt x="148" y="68"/>
                    </a:cubicBezTo>
                    <a:cubicBezTo>
                      <a:pt x="163" y="53"/>
                      <a:pt x="162" y="29"/>
                      <a:pt x="147" y="14"/>
                    </a:cubicBezTo>
                    <a:cubicBezTo>
                      <a:pt x="132" y="0"/>
                      <a:pt x="107" y="1"/>
                      <a:pt x="93" y="16"/>
                    </a:cubicBezTo>
                    <a:close/>
                  </a:path>
                </a:pathLst>
              </a:custGeom>
              <a:solidFill>
                <a:srgbClr val="F65123"/>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07" name="Freeform 417"/>
              <p:cNvSpPr>
                <a:spLocks noChangeArrowheads="1"/>
              </p:cNvSpPr>
              <p:nvPr/>
            </p:nvSpPr>
            <p:spPr bwMode="auto">
              <a:xfrm>
                <a:off x="61288" y="38458"/>
                <a:ext cx="53678" cy="52319"/>
              </a:xfrm>
              <a:custGeom>
                <a:avLst/>
                <a:gdLst>
                  <a:gd name="T0" fmla="*/ 31821 w 167"/>
                  <a:gd name="T1" fmla="*/ 47825 h 163"/>
                  <a:gd name="T2" fmla="*/ 49178 w 167"/>
                  <a:gd name="T3" fmla="*/ 47183 h 163"/>
                  <a:gd name="T4" fmla="*/ 48535 w 167"/>
                  <a:gd name="T5" fmla="*/ 29851 h 163"/>
                  <a:gd name="T6" fmla="*/ 22178 w 167"/>
                  <a:gd name="T7" fmla="*/ 4815 h 163"/>
                  <a:gd name="T8" fmla="*/ 4821 w 167"/>
                  <a:gd name="T9" fmla="*/ 5136 h 163"/>
                  <a:gd name="T10" fmla="*/ 5143 w 167"/>
                  <a:gd name="T11" fmla="*/ 22468 h 163"/>
                  <a:gd name="T12" fmla="*/ 31821 w 167"/>
                  <a:gd name="T13" fmla="*/ 47825 h 163"/>
                  <a:gd name="T14" fmla="*/ 0 60000 65536"/>
                  <a:gd name="T15" fmla="*/ 0 60000 65536"/>
                  <a:gd name="T16" fmla="*/ 0 60000 65536"/>
                  <a:gd name="T17" fmla="*/ 0 60000 65536"/>
                  <a:gd name="T18" fmla="*/ 0 60000 65536"/>
                  <a:gd name="T19" fmla="*/ 0 60000 65536"/>
                  <a:gd name="T20" fmla="*/ 0 60000 65536"/>
                  <a:gd name="T21" fmla="*/ 0 w 167"/>
                  <a:gd name="T22" fmla="*/ 0 h 163"/>
                  <a:gd name="T23" fmla="*/ 167 w 167"/>
                  <a:gd name="T24" fmla="*/ 163 h 1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 h="163">
                    <a:moveTo>
                      <a:pt x="99" y="149"/>
                    </a:moveTo>
                    <a:cubicBezTo>
                      <a:pt x="114" y="163"/>
                      <a:pt x="138" y="163"/>
                      <a:pt x="153" y="147"/>
                    </a:cubicBezTo>
                    <a:cubicBezTo>
                      <a:pt x="167" y="132"/>
                      <a:pt x="166" y="108"/>
                      <a:pt x="151" y="93"/>
                    </a:cubicBezTo>
                    <a:cubicBezTo>
                      <a:pt x="69" y="15"/>
                      <a:pt x="69" y="15"/>
                      <a:pt x="69" y="15"/>
                    </a:cubicBezTo>
                    <a:cubicBezTo>
                      <a:pt x="53" y="0"/>
                      <a:pt x="29" y="1"/>
                      <a:pt x="15" y="16"/>
                    </a:cubicBezTo>
                    <a:cubicBezTo>
                      <a:pt x="0" y="31"/>
                      <a:pt x="1" y="55"/>
                      <a:pt x="16" y="70"/>
                    </a:cubicBezTo>
                    <a:lnTo>
                      <a:pt x="99" y="149"/>
                    </a:lnTo>
                    <a:close/>
                  </a:path>
                </a:pathLst>
              </a:custGeom>
              <a:solidFill>
                <a:srgbClr val="F65123"/>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08" name="Freeform 418"/>
              <p:cNvSpPr>
                <a:spLocks noChangeArrowheads="1"/>
              </p:cNvSpPr>
              <p:nvPr/>
            </p:nvSpPr>
            <p:spPr bwMode="auto">
              <a:xfrm>
                <a:off x="410533" y="361748"/>
                <a:ext cx="53678" cy="52455"/>
              </a:xfrm>
              <a:custGeom>
                <a:avLst/>
                <a:gdLst>
                  <a:gd name="T0" fmla="*/ 22178 w 167"/>
                  <a:gd name="T1" fmla="*/ 4827 h 163"/>
                  <a:gd name="T2" fmla="*/ 4821 w 167"/>
                  <a:gd name="T3" fmla="*/ 5149 h 163"/>
                  <a:gd name="T4" fmla="*/ 5143 w 167"/>
                  <a:gd name="T5" fmla="*/ 22527 h 163"/>
                  <a:gd name="T6" fmla="*/ 31821 w 167"/>
                  <a:gd name="T7" fmla="*/ 47950 h 163"/>
                  <a:gd name="T8" fmla="*/ 48857 w 167"/>
                  <a:gd name="T9" fmla="*/ 47306 h 163"/>
                  <a:gd name="T10" fmla="*/ 48535 w 167"/>
                  <a:gd name="T11" fmla="*/ 30250 h 163"/>
                  <a:gd name="T12" fmla="*/ 22178 w 167"/>
                  <a:gd name="T13" fmla="*/ 4827 h 163"/>
                  <a:gd name="T14" fmla="*/ 0 60000 65536"/>
                  <a:gd name="T15" fmla="*/ 0 60000 65536"/>
                  <a:gd name="T16" fmla="*/ 0 60000 65536"/>
                  <a:gd name="T17" fmla="*/ 0 60000 65536"/>
                  <a:gd name="T18" fmla="*/ 0 60000 65536"/>
                  <a:gd name="T19" fmla="*/ 0 60000 65536"/>
                  <a:gd name="T20" fmla="*/ 0 60000 65536"/>
                  <a:gd name="T21" fmla="*/ 0 w 167"/>
                  <a:gd name="T22" fmla="*/ 0 h 163"/>
                  <a:gd name="T23" fmla="*/ 167 w 167"/>
                  <a:gd name="T24" fmla="*/ 163 h 16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 h="163">
                    <a:moveTo>
                      <a:pt x="69" y="15"/>
                    </a:moveTo>
                    <a:cubicBezTo>
                      <a:pt x="53" y="0"/>
                      <a:pt x="29" y="1"/>
                      <a:pt x="15" y="16"/>
                    </a:cubicBezTo>
                    <a:cubicBezTo>
                      <a:pt x="0" y="31"/>
                      <a:pt x="1" y="55"/>
                      <a:pt x="16" y="70"/>
                    </a:cubicBezTo>
                    <a:cubicBezTo>
                      <a:pt x="99" y="149"/>
                      <a:pt x="99" y="149"/>
                      <a:pt x="99" y="149"/>
                    </a:cubicBezTo>
                    <a:cubicBezTo>
                      <a:pt x="114" y="163"/>
                      <a:pt x="138" y="163"/>
                      <a:pt x="152" y="147"/>
                    </a:cubicBezTo>
                    <a:cubicBezTo>
                      <a:pt x="167" y="132"/>
                      <a:pt x="166" y="108"/>
                      <a:pt x="151" y="94"/>
                    </a:cubicBezTo>
                    <a:lnTo>
                      <a:pt x="69" y="15"/>
                    </a:lnTo>
                    <a:close/>
                  </a:path>
                </a:pathLst>
              </a:custGeom>
              <a:solidFill>
                <a:srgbClr val="F65123"/>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09" name="Freeform 419"/>
              <p:cNvSpPr>
                <a:spLocks noChangeArrowheads="1"/>
              </p:cNvSpPr>
              <p:nvPr/>
            </p:nvSpPr>
            <p:spPr bwMode="auto">
              <a:xfrm>
                <a:off x="69985" y="369494"/>
                <a:ext cx="52319" cy="53270"/>
              </a:xfrm>
              <a:custGeom>
                <a:avLst/>
                <a:gdLst>
                  <a:gd name="T0" fmla="*/ 29851 w 163"/>
                  <a:gd name="T1" fmla="*/ 4814 h 166"/>
                  <a:gd name="T2" fmla="*/ 4494 w 163"/>
                  <a:gd name="T3" fmla="*/ 31449 h 166"/>
                  <a:gd name="T4" fmla="*/ 4815 w 163"/>
                  <a:gd name="T5" fmla="*/ 48777 h 166"/>
                  <a:gd name="T6" fmla="*/ 22147 w 163"/>
                  <a:gd name="T7" fmla="*/ 48456 h 166"/>
                  <a:gd name="T8" fmla="*/ 47504 w 163"/>
                  <a:gd name="T9" fmla="*/ 21821 h 166"/>
                  <a:gd name="T10" fmla="*/ 47183 w 163"/>
                  <a:gd name="T11" fmla="*/ 4493 h 166"/>
                  <a:gd name="T12" fmla="*/ 29851 w 163"/>
                  <a:gd name="T13" fmla="*/ 4814 h 166"/>
                  <a:gd name="T14" fmla="*/ 0 60000 65536"/>
                  <a:gd name="T15" fmla="*/ 0 60000 65536"/>
                  <a:gd name="T16" fmla="*/ 0 60000 65536"/>
                  <a:gd name="T17" fmla="*/ 0 60000 65536"/>
                  <a:gd name="T18" fmla="*/ 0 60000 65536"/>
                  <a:gd name="T19" fmla="*/ 0 60000 65536"/>
                  <a:gd name="T20" fmla="*/ 0 60000 65536"/>
                  <a:gd name="T21" fmla="*/ 0 w 163"/>
                  <a:gd name="T22" fmla="*/ 0 h 166"/>
                  <a:gd name="T23" fmla="*/ 163 w 163"/>
                  <a:gd name="T24" fmla="*/ 166 h 1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166">
                    <a:moveTo>
                      <a:pt x="93" y="15"/>
                    </a:moveTo>
                    <a:cubicBezTo>
                      <a:pt x="14" y="98"/>
                      <a:pt x="14" y="98"/>
                      <a:pt x="14" y="98"/>
                    </a:cubicBezTo>
                    <a:cubicBezTo>
                      <a:pt x="0" y="113"/>
                      <a:pt x="0" y="137"/>
                      <a:pt x="15" y="152"/>
                    </a:cubicBezTo>
                    <a:cubicBezTo>
                      <a:pt x="31" y="166"/>
                      <a:pt x="55" y="166"/>
                      <a:pt x="69" y="151"/>
                    </a:cubicBezTo>
                    <a:cubicBezTo>
                      <a:pt x="148" y="68"/>
                      <a:pt x="148" y="68"/>
                      <a:pt x="148" y="68"/>
                    </a:cubicBezTo>
                    <a:cubicBezTo>
                      <a:pt x="163" y="53"/>
                      <a:pt x="162" y="29"/>
                      <a:pt x="147" y="14"/>
                    </a:cubicBezTo>
                    <a:cubicBezTo>
                      <a:pt x="132" y="0"/>
                      <a:pt x="108" y="0"/>
                      <a:pt x="93" y="15"/>
                    </a:cubicBezTo>
                    <a:close/>
                  </a:path>
                </a:pathLst>
              </a:custGeom>
              <a:solidFill>
                <a:srgbClr val="F65123"/>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10" name="Freeform 420"/>
              <p:cNvSpPr>
                <a:spLocks noChangeArrowheads="1"/>
              </p:cNvSpPr>
              <p:nvPr/>
            </p:nvSpPr>
            <p:spPr bwMode="auto">
              <a:xfrm>
                <a:off x="0" y="212809"/>
                <a:ext cx="61560" cy="25684"/>
              </a:xfrm>
              <a:custGeom>
                <a:avLst/>
                <a:gdLst>
                  <a:gd name="T0" fmla="*/ 48735 w 192"/>
                  <a:gd name="T1" fmla="*/ 321 h 80"/>
                  <a:gd name="T2" fmla="*/ 12184 w 192"/>
                  <a:gd name="T3" fmla="*/ 1284 h 80"/>
                  <a:gd name="T4" fmla="*/ 321 w 192"/>
                  <a:gd name="T5" fmla="*/ 13805 h 80"/>
                  <a:gd name="T6" fmla="*/ 12825 w 192"/>
                  <a:gd name="T7" fmla="*/ 25684 h 80"/>
                  <a:gd name="T8" fmla="*/ 49376 w 192"/>
                  <a:gd name="T9" fmla="*/ 24721 h 80"/>
                  <a:gd name="T10" fmla="*/ 61239 w 192"/>
                  <a:gd name="T11" fmla="*/ 12200 h 80"/>
                  <a:gd name="T12" fmla="*/ 48735 w 192"/>
                  <a:gd name="T13" fmla="*/ 321 h 80"/>
                  <a:gd name="T14" fmla="*/ 0 60000 65536"/>
                  <a:gd name="T15" fmla="*/ 0 60000 65536"/>
                  <a:gd name="T16" fmla="*/ 0 60000 65536"/>
                  <a:gd name="T17" fmla="*/ 0 60000 65536"/>
                  <a:gd name="T18" fmla="*/ 0 60000 65536"/>
                  <a:gd name="T19" fmla="*/ 0 60000 65536"/>
                  <a:gd name="T20" fmla="*/ 0 60000 65536"/>
                  <a:gd name="T21" fmla="*/ 0 w 192"/>
                  <a:gd name="T22" fmla="*/ 0 h 80"/>
                  <a:gd name="T23" fmla="*/ 192 w 192"/>
                  <a:gd name="T24" fmla="*/ 80 h 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2" h="80">
                    <a:moveTo>
                      <a:pt x="152" y="1"/>
                    </a:moveTo>
                    <a:cubicBezTo>
                      <a:pt x="38" y="4"/>
                      <a:pt x="38" y="4"/>
                      <a:pt x="38" y="4"/>
                    </a:cubicBezTo>
                    <a:cubicBezTo>
                      <a:pt x="17" y="4"/>
                      <a:pt x="0" y="22"/>
                      <a:pt x="1" y="43"/>
                    </a:cubicBezTo>
                    <a:cubicBezTo>
                      <a:pt x="1" y="64"/>
                      <a:pt x="19" y="80"/>
                      <a:pt x="40" y="80"/>
                    </a:cubicBezTo>
                    <a:cubicBezTo>
                      <a:pt x="154" y="77"/>
                      <a:pt x="154" y="77"/>
                      <a:pt x="154" y="77"/>
                    </a:cubicBezTo>
                    <a:cubicBezTo>
                      <a:pt x="175" y="76"/>
                      <a:pt x="192" y="59"/>
                      <a:pt x="191" y="38"/>
                    </a:cubicBezTo>
                    <a:cubicBezTo>
                      <a:pt x="191" y="17"/>
                      <a:pt x="173" y="0"/>
                      <a:pt x="152" y="1"/>
                    </a:cubicBezTo>
                    <a:close/>
                  </a:path>
                </a:pathLst>
              </a:custGeom>
              <a:solidFill>
                <a:srgbClr val="F65123"/>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11" name="Freeform 421"/>
              <p:cNvSpPr>
                <a:spLocks noChangeArrowheads="1"/>
              </p:cNvSpPr>
              <p:nvPr/>
            </p:nvSpPr>
            <p:spPr bwMode="auto">
              <a:xfrm>
                <a:off x="-24909" y="201937"/>
                <a:ext cx="61425" cy="25684"/>
              </a:xfrm>
              <a:custGeom>
                <a:avLst/>
                <a:gdLst>
                  <a:gd name="T0" fmla="*/ 48882 w 191"/>
                  <a:gd name="T1" fmla="*/ 0 h 80"/>
                  <a:gd name="T2" fmla="*/ 11899 w 191"/>
                  <a:gd name="T3" fmla="*/ 963 h 80"/>
                  <a:gd name="T4" fmla="*/ 0 w 191"/>
                  <a:gd name="T5" fmla="*/ 13484 h 80"/>
                  <a:gd name="T6" fmla="*/ 12542 w 191"/>
                  <a:gd name="T7" fmla="*/ 25363 h 80"/>
                  <a:gd name="T8" fmla="*/ 49525 w 191"/>
                  <a:gd name="T9" fmla="*/ 24721 h 80"/>
                  <a:gd name="T10" fmla="*/ 61424 w 191"/>
                  <a:gd name="T11" fmla="*/ 12200 h 80"/>
                  <a:gd name="T12" fmla="*/ 48882 w 191"/>
                  <a:gd name="T13" fmla="*/ 0 h 80"/>
                  <a:gd name="T14" fmla="*/ 0 60000 65536"/>
                  <a:gd name="T15" fmla="*/ 0 60000 65536"/>
                  <a:gd name="T16" fmla="*/ 0 60000 65536"/>
                  <a:gd name="T17" fmla="*/ 0 60000 65536"/>
                  <a:gd name="T18" fmla="*/ 0 60000 65536"/>
                  <a:gd name="T19" fmla="*/ 0 60000 65536"/>
                  <a:gd name="T20" fmla="*/ 0 60000 65536"/>
                  <a:gd name="T21" fmla="*/ 0 w 191"/>
                  <a:gd name="T22" fmla="*/ 0 h 80"/>
                  <a:gd name="T23" fmla="*/ 191 w 191"/>
                  <a:gd name="T24" fmla="*/ 80 h 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1" h="80">
                    <a:moveTo>
                      <a:pt x="152" y="0"/>
                    </a:moveTo>
                    <a:cubicBezTo>
                      <a:pt x="37" y="3"/>
                      <a:pt x="37" y="3"/>
                      <a:pt x="37" y="3"/>
                    </a:cubicBezTo>
                    <a:cubicBezTo>
                      <a:pt x="16" y="4"/>
                      <a:pt x="0" y="21"/>
                      <a:pt x="0" y="42"/>
                    </a:cubicBezTo>
                    <a:cubicBezTo>
                      <a:pt x="1" y="63"/>
                      <a:pt x="18" y="80"/>
                      <a:pt x="39" y="79"/>
                    </a:cubicBezTo>
                    <a:cubicBezTo>
                      <a:pt x="154" y="77"/>
                      <a:pt x="154" y="77"/>
                      <a:pt x="154" y="77"/>
                    </a:cubicBezTo>
                    <a:cubicBezTo>
                      <a:pt x="175" y="76"/>
                      <a:pt x="191" y="59"/>
                      <a:pt x="191" y="38"/>
                    </a:cubicBezTo>
                    <a:cubicBezTo>
                      <a:pt x="190" y="17"/>
                      <a:pt x="173" y="0"/>
                      <a:pt x="152" y="0"/>
                    </a:cubicBezTo>
                    <a:close/>
                  </a:path>
                </a:pathLst>
              </a:custGeom>
              <a:solidFill>
                <a:srgbClr val="F65123"/>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12" name="Freeform 422"/>
              <p:cNvSpPr>
                <a:spLocks noEditPoints="1" noChangeArrowheads="1"/>
              </p:cNvSpPr>
              <p:nvPr/>
            </p:nvSpPr>
            <p:spPr bwMode="auto">
              <a:xfrm>
                <a:off x="-141054" y="71208"/>
                <a:ext cx="345440" cy="431597"/>
              </a:xfrm>
              <a:custGeom>
                <a:avLst/>
                <a:gdLst>
                  <a:gd name="T0" fmla="*/ 169189 w 1076"/>
                  <a:gd name="T1" fmla="*/ 2248 h 1344"/>
                  <a:gd name="T2" fmla="*/ 2247 w 1076"/>
                  <a:gd name="T3" fmla="*/ 177584 h 1344"/>
                  <a:gd name="T4" fmla="*/ 8989 w 1076"/>
                  <a:gd name="T5" fmla="*/ 216441 h 1344"/>
                  <a:gd name="T6" fmla="*/ 26968 w 1076"/>
                  <a:gd name="T7" fmla="*/ 262362 h 1344"/>
                  <a:gd name="T8" fmla="*/ 115254 w 1076"/>
                  <a:gd name="T9" fmla="*/ 431597 h 1344"/>
                  <a:gd name="T10" fmla="*/ 168868 w 1076"/>
                  <a:gd name="T11" fmla="*/ 430312 h 1344"/>
                  <a:gd name="T12" fmla="*/ 172399 w 1076"/>
                  <a:gd name="T13" fmla="*/ 430312 h 1344"/>
                  <a:gd name="T14" fmla="*/ 236608 w 1076"/>
                  <a:gd name="T15" fmla="*/ 428707 h 1344"/>
                  <a:gd name="T16" fmla="*/ 258439 w 1076"/>
                  <a:gd name="T17" fmla="*/ 336543 h 1344"/>
                  <a:gd name="T18" fmla="*/ 301779 w 1076"/>
                  <a:gd name="T19" fmla="*/ 286447 h 1344"/>
                  <a:gd name="T20" fmla="*/ 344478 w 1076"/>
                  <a:gd name="T21" fmla="*/ 169556 h 1344"/>
                  <a:gd name="T22" fmla="*/ 169189 w 1076"/>
                  <a:gd name="T23" fmla="*/ 2248 h 1344"/>
                  <a:gd name="T24" fmla="*/ 280591 w 1076"/>
                  <a:gd name="T25" fmla="*/ 273281 h 1344"/>
                  <a:gd name="T26" fmla="*/ 237250 w 1076"/>
                  <a:gd name="T27" fmla="*/ 324982 h 1344"/>
                  <a:gd name="T28" fmla="*/ 208998 w 1076"/>
                  <a:gd name="T29" fmla="*/ 404943 h 1344"/>
                  <a:gd name="T30" fmla="*/ 181068 w 1076"/>
                  <a:gd name="T31" fmla="*/ 405586 h 1344"/>
                  <a:gd name="T32" fmla="*/ 209640 w 1076"/>
                  <a:gd name="T33" fmla="*/ 243737 h 1344"/>
                  <a:gd name="T34" fmla="*/ 193588 w 1076"/>
                  <a:gd name="T35" fmla="*/ 245342 h 1344"/>
                  <a:gd name="T36" fmla="*/ 172078 w 1076"/>
                  <a:gd name="T37" fmla="*/ 388566 h 1344"/>
                  <a:gd name="T38" fmla="*/ 138690 w 1076"/>
                  <a:gd name="T39" fmla="*/ 259793 h 1344"/>
                  <a:gd name="T40" fmla="*/ 125848 w 1076"/>
                  <a:gd name="T41" fmla="*/ 235708 h 1344"/>
                  <a:gd name="T42" fmla="*/ 162768 w 1076"/>
                  <a:gd name="T43" fmla="*/ 247269 h 1344"/>
                  <a:gd name="T44" fmla="*/ 151853 w 1076"/>
                  <a:gd name="T45" fmla="*/ 208734 h 1344"/>
                  <a:gd name="T46" fmla="*/ 222161 w 1076"/>
                  <a:gd name="T47" fmla="*/ 230570 h 1344"/>
                  <a:gd name="T48" fmla="*/ 222161 w 1076"/>
                  <a:gd name="T49" fmla="*/ 172446 h 1344"/>
                  <a:gd name="T50" fmla="*/ 199046 w 1076"/>
                  <a:gd name="T51" fmla="*/ 207128 h 1344"/>
                  <a:gd name="T52" fmla="*/ 134517 w 1076"/>
                  <a:gd name="T53" fmla="*/ 185612 h 1344"/>
                  <a:gd name="T54" fmla="*/ 125848 w 1076"/>
                  <a:gd name="T55" fmla="*/ 223506 h 1344"/>
                  <a:gd name="T56" fmla="*/ 101128 w 1076"/>
                  <a:gd name="T57" fmla="*/ 224148 h 1344"/>
                  <a:gd name="T58" fmla="*/ 163410 w 1076"/>
                  <a:gd name="T59" fmla="*/ 406228 h 1344"/>
                  <a:gd name="T60" fmla="*/ 141900 w 1076"/>
                  <a:gd name="T61" fmla="*/ 406549 h 1344"/>
                  <a:gd name="T62" fmla="*/ 71592 w 1076"/>
                  <a:gd name="T63" fmla="*/ 280345 h 1344"/>
                  <a:gd name="T64" fmla="*/ 39167 w 1076"/>
                  <a:gd name="T65" fmla="*/ 232176 h 1344"/>
                  <a:gd name="T66" fmla="*/ 26646 w 1076"/>
                  <a:gd name="T67" fmla="*/ 176942 h 1344"/>
                  <a:gd name="T68" fmla="*/ 169831 w 1076"/>
                  <a:gd name="T69" fmla="*/ 26654 h 1344"/>
                  <a:gd name="T70" fmla="*/ 320079 w 1076"/>
                  <a:gd name="T71" fmla="*/ 169877 h 1344"/>
                  <a:gd name="T72" fmla="*/ 280591 w 1076"/>
                  <a:gd name="T73" fmla="*/ 273281 h 13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76"/>
                  <a:gd name="T112" fmla="*/ 0 h 1344"/>
                  <a:gd name="T113" fmla="*/ 1076 w 1076"/>
                  <a:gd name="T114" fmla="*/ 1344 h 134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76" h="1344">
                    <a:moveTo>
                      <a:pt x="527" y="7"/>
                    </a:moveTo>
                    <a:cubicBezTo>
                      <a:pt x="233" y="14"/>
                      <a:pt x="0" y="259"/>
                      <a:pt x="7" y="553"/>
                    </a:cubicBezTo>
                    <a:cubicBezTo>
                      <a:pt x="8" y="587"/>
                      <a:pt x="18" y="634"/>
                      <a:pt x="28" y="674"/>
                    </a:cubicBezTo>
                    <a:cubicBezTo>
                      <a:pt x="38" y="716"/>
                      <a:pt x="62" y="788"/>
                      <a:pt x="84" y="817"/>
                    </a:cubicBezTo>
                    <a:cubicBezTo>
                      <a:pt x="182" y="948"/>
                      <a:pt x="411" y="1145"/>
                      <a:pt x="359" y="1344"/>
                    </a:cubicBezTo>
                    <a:cubicBezTo>
                      <a:pt x="526" y="1340"/>
                      <a:pt x="526" y="1340"/>
                      <a:pt x="526" y="1340"/>
                    </a:cubicBezTo>
                    <a:cubicBezTo>
                      <a:pt x="537" y="1340"/>
                      <a:pt x="537" y="1340"/>
                      <a:pt x="537" y="1340"/>
                    </a:cubicBezTo>
                    <a:cubicBezTo>
                      <a:pt x="737" y="1335"/>
                      <a:pt x="737" y="1335"/>
                      <a:pt x="737" y="1335"/>
                    </a:cubicBezTo>
                    <a:cubicBezTo>
                      <a:pt x="707" y="1239"/>
                      <a:pt x="747" y="1140"/>
                      <a:pt x="805" y="1048"/>
                    </a:cubicBezTo>
                    <a:cubicBezTo>
                      <a:pt x="825" y="1018"/>
                      <a:pt x="918" y="917"/>
                      <a:pt x="940" y="892"/>
                    </a:cubicBezTo>
                    <a:cubicBezTo>
                      <a:pt x="1025" y="795"/>
                      <a:pt x="1076" y="667"/>
                      <a:pt x="1073" y="528"/>
                    </a:cubicBezTo>
                    <a:cubicBezTo>
                      <a:pt x="1066" y="233"/>
                      <a:pt x="822" y="0"/>
                      <a:pt x="527" y="7"/>
                    </a:cubicBezTo>
                    <a:close/>
                    <a:moveTo>
                      <a:pt x="874" y="851"/>
                    </a:moveTo>
                    <a:cubicBezTo>
                      <a:pt x="858" y="869"/>
                      <a:pt x="760" y="978"/>
                      <a:pt x="739" y="1012"/>
                    </a:cubicBezTo>
                    <a:cubicBezTo>
                      <a:pt x="690" y="1090"/>
                      <a:pt x="652" y="1174"/>
                      <a:pt x="651" y="1261"/>
                    </a:cubicBezTo>
                    <a:cubicBezTo>
                      <a:pt x="564" y="1263"/>
                      <a:pt x="564" y="1263"/>
                      <a:pt x="564" y="1263"/>
                    </a:cubicBezTo>
                    <a:cubicBezTo>
                      <a:pt x="577" y="1175"/>
                      <a:pt x="613" y="942"/>
                      <a:pt x="653" y="759"/>
                    </a:cubicBezTo>
                    <a:cubicBezTo>
                      <a:pt x="603" y="764"/>
                      <a:pt x="603" y="764"/>
                      <a:pt x="603" y="764"/>
                    </a:cubicBezTo>
                    <a:cubicBezTo>
                      <a:pt x="593" y="861"/>
                      <a:pt x="557" y="1083"/>
                      <a:pt x="536" y="1210"/>
                    </a:cubicBezTo>
                    <a:cubicBezTo>
                      <a:pt x="503" y="1074"/>
                      <a:pt x="443" y="834"/>
                      <a:pt x="432" y="809"/>
                    </a:cubicBezTo>
                    <a:cubicBezTo>
                      <a:pt x="415" y="768"/>
                      <a:pt x="392" y="734"/>
                      <a:pt x="392" y="734"/>
                    </a:cubicBezTo>
                    <a:cubicBezTo>
                      <a:pt x="507" y="770"/>
                      <a:pt x="507" y="770"/>
                      <a:pt x="507" y="770"/>
                    </a:cubicBezTo>
                    <a:cubicBezTo>
                      <a:pt x="507" y="770"/>
                      <a:pt x="435" y="644"/>
                      <a:pt x="473" y="650"/>
                    </a:cubicBezTo>
                    <a:cubicBezTo>
                      <a:pt x="530" y="658"/>
                      <a:pt x="692" y="718"/>
                      <a:pt x="692" y="718"/>
                    </a:cubicBezTo>
                    <a:cubicBezTo>
                      <a:pt x="692" y="718"/>
                      <a:pt x="693" y="575"/>
                      <a:pt x="692" y="537"/>
                    </a:cubicBezTo>
                    <a:cubicBezTo>
                      <a:pt x="691" y="499"/>
                      <a:pt x="620" y="645"/>
                      <a:pt x="620" y="645"/>
                    </a:cubicBezTo>
                    <a:cubicBezTo>
                      <a:pt x="419" y="578"/>
                      <a:pt x="419" y="578"/>
                      <a:pt x="419" y="578"/>
                    </a:cubicBezTo>
                    <a:cubicBezTo>
                      <a:pt x="392" y="696"/>
                      <a:pt x="392" y="696"/>
                      <a:pt x="392" y="696"/>
                    </a:cubicBezTo>
                    <a:cubicBezTo>
                      <a:pt x="392" y="696"/>
                      <a:pt x="262" y="597"/>
                      <a:pt x="315" y="698"/>
                    </a:cubicBezTo>
                    <a:cubicBezTo>
                      <a:pt x="381" y="822"/>
                      <a:pt x="478" y="1153"/>
                      <a:pt x="509" y="1265"/>
                    </a:cubicBezTo>
                    <a:cubicBezTo>
                      <a:pt x="442" y="1266"/>
                      <a:pt x="442" y="1266"/>
                      <a:pt x="442" y="1266"/>
                    </a:cubicBezTo>
                    <a:cubicBezTo>
                      <a:pt x="433" y="1116"/>
                      <a:pt x="319" y="983"/>
                      <a:pt x="223" y="873"/>
                    </a:cubicBezTo>
                    <a:cubicBezTo>
                      <a:pt x="150" y="803"/>
                      <a:pt x="122" y="723"/>
                      <a:pt x="122" y="723"/>
                    </a:cubicBezTo>
                    <a:cubicBezTo>
                      <a:pt x="98" y="668"/>
                      <a:pt x="85" y="611"/>
                      <a:pt x="83" y="551"/>
                    </a:cubicBezTo>
                    <a:cubicBezTo>
                      <a:pt x="77" y="299"/>
                      <a:pt x="277" y="89"/>
                      <a:pt x="529" y="83"/>
                    </a:cubicBezTo>
                    <a:cubicBezTo>
                      <a:pt x="781" y="77"/>
                      <a:pt x="991" y="278"/>
                      <a:pt x="997" y="529"/>
                    </a:cubicBezTo>
                    <a:cubicBezTo>
                      <a:pt x="1000" y="651"/>
                      <a:pt x="956" y="765"/>
                      <a:pt x="874" y="851"/>
                    </a:cubicBezTo>
                    <a:close/>
                  </a:path>
                </a:pathLst>
              </a:custGeom>
              <a:solidFill>
                <a:srgbClr val="F65123"/>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grpSp>
      </p:grpSp>
      <p:grpSp>
        <p:nvGrpSpPr>
          <p:cNvPr id="113" name="组合 142"/>
          <p:cNvGrpSpPr>
            <a:grpSpLocks/>
          </p:cNvGrpSpPr>
          <p:nvPr/>
        </p:nvGrpSpPr>
        <p:grpSpPr bwMode="auto">
          <a:xfrm>
            <a:off x="6003741" y="4017963"/>
            <a:ext cx="2744723" cy="698104"/>
            <a:chOff x="-338488" y="0"/>
            <a:chExt cx="3660413" cy="698664"/>
          </a:xfrm>
        </p:grpSpPr>
        <p:sp>
          <p:nvSpPr>
            <p:cNvPr id="114" name="文本框 143"/>
            <p:cNvSpPr>
              <a:spLocks noChangeArrowheads="1"/>
            </p:cNvSpPr>
            <p:nvPr/>
          </p:nvSpPr>
          <p:spPr bwMode="auto">
            <a:xfrm>
              <a:off x="-338488" y="175025"/>
              <a:ext cx="3211517" cy="523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lang="zh-CN" altLang="en-US" sz="2800" dirty="0">
                  <a:solidFill>
                    <a:srgbClr val="DD6A7A"/>
                  </a:solidFill>
                  <a:ea typeface="微软雅黑" pitchFamily="34" charset="-122"/>
                  <a:sym typeface="Arial" pitchFamily="34" charset="0"/>
                </a:rPr>
                <a:t>互联网+政务</a:t>
              </a:r>
            </a:p>
          </p:txBody>
        </p:sp>
        <p:grpSp>
          <p:nvGrpSpPr>
            <p:cNvPr id="115" name="组合 145"/>
            <p:cNvGrpSpPr>
              <a:grpSpLocks/>
            </p:cNvGrpSpPr>
            <p:nvPr/>
          </p:nvGrpSpPr>
          <p:grpSpPr bwMode="auto">
            <a:xfrm>
              <a:off x="2841769" y="0"/>
              <a:ext cx="480156" cy="455922"/>
              <a:chOff x="300143" y="0"/>
              <a:chExt cx="480156" cy="455922"/>
            </a:xfrm>
          </p:grpSpPr>
          <p:sp>
            <p:nvSpPr>
              <p:cNvPr id="116" name="Freeform 423"/>
              <p:cNvSpPr>
                <a:spLocks noChangeArrowheads="1"/>
              </p:cNvSpPr>
              <p:nvPr/>
            </p:nvSpPr>
            <p:spPr bwMode="auto">
              <a:xfrm>
                <a:off x="300143" y="0"/>
                <a:ext cx="307659" cy="332938"/>
              </a:xfrm>
              <a:custGeom>
                <a:avLst/>
                <a:gdLst>
                  <a:gd name="T0" fmla="*/ 307662 w 958"/>
                  <a:gd name="T1" fmla="*/ 55864 h 1037"/>
                  <a:gd name="T2" fmla="*/ 307662 w 958"/>
                  <a:gd name="T3" fmla="*/ 55864 h 1037"/>
                  <a:gd name="T4" fmla="*/ 251782 w 958"/>
                  <a:gd name="T5" fmla="*/ 0 h 1037"/>
                  <a:gd name="T6" fmla="*/ 55880 w 958"/>
                  <a:gd name="T7" fmla="*/ 0 h 1037"/>
                  <a:gd name="T8" fmla="*/ 0 w 958"/>
                  <a:gd name="T9" fmla="*/ 55864 h 1037"/>
                  <a:gd name="T10" fmla="*/ 0 w 958"/>
                  <a:gd name="T11" fmla="*/ 184609 h 1037"/>
                  <a:gd name="T12" fmla="*/ 55880 w 958"/>
                  <a:gd name="T13" fmla="*/ 240473 h 1037"/>
                  <a:gd name="T14" fmla="*/ 61340 w 958"/>
                  <a:gd name="T15" fmla="*/ 240473 h 1037"/>
                  <a:gd name="T16" fmla="*/ 61340 w 958"/>
                  <a:gd name="T17" fmla="*/ 332938 h 1037"/>
                  <a:gd name="T18" fmla="*/ 123001 w 958"/>
                  <a:gd name="T19" fmla="*/ 271295 h 1037"/>
                  <a:gd name="T20" fmla="*/ 123001 w 958"/>
                  <a:gd name="T21" fmla="*/ 117508 h 1037"/>
                  <a:gd name="T22" fmla="*/ 184661 w 958"/>
                  <a:gd name="T23" fmla="*/ 55864 h 1037"/>
                  <a:gd name="T24" fmla="*/ 307662 w 958"/>
                  <a:gd name="T25" fmla="*/ 55864 h 103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58"/>
                  <a:gd name="T40" fmla="*/ 0 h 1037"/>
                  <a:gd name="T41" fmla="*/ 958 w 958"/>
                  <a:gd name="T42" fmla="*/ 1037 h 103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58" h="1037">
                    <a:moveTo>
                      <a:pt x="958" y="174"/>
                    </a:moveTo>
                    <a:cubicBezTo>
                      <a:pt x="958" y="174"/>
                      <a:pt x="958" y="174"/>
                      <a:pt x="958" y="174"/>
                    </a:cubicBezTo>
                    <a:cubicBezTo>
                      <a:pt x="958" y="78"/>
                      <a:pt x="880" y="0"/>
                      <a:pt x="784" y="0"/>
                    </a:cubicBezTo>
                    <a:cubicBezTo>
                      <a:pt x="174" y="0"/>
                      <a:pt x="174" y="0"/>
                      <a:pt x="174" y="0"/>
                    </a:cubicBezTo>
                    <a:cubicBezTo>
                      <a:pt x="78" y="0"/>
                      <a:pt x="0" y="78"/>
                      <a:pt x="0" y="174"/>
                    </a:cubicBezTo>
                    <a:cubicBezTo>
                      <a:pt x="0" y="575"/>
                      <a:pt x="0" y="575"/>
                      <a:pt x="0" y="575"/>
                    </a:cubicBezTo>
                    <a:cubicBezTo>
                      <a:pt x="0" y="671"/>
                      <a:pt x="78" y="749"/>
                      <a:pt x="174" y="749"/>
                    </a:cubicBezTo>
                    <a:cubicBezTo>
                      <a:pt x="191" y="749"/>
                      <a:pt x="191" y="749"/>
                      <a:pt x="191" y="749"/>
                    </a:cubicBezTo>
                    <a:cubicBezTo>
                      <a:pt x="191" y="1037"/>
                      <a:pt x="191" y="1037"/>
                      <a:pt x="191" y="1037"/>
                    </a:cubicBezTo>
                    <a:cubicBezTo>
                      <a:pt x="383" y="845"/>
                      <a:pt x="383" y="845"/>
                      <a:pt x="383" y="845"/>
                    </a:cubicBezTo>
                    <a:cubicBezTo>
                      <a:pt x="383" y="366"/>
                      <a:pt x="383" y="366"/>
                      <a:pt x="383" y="366"/>
                    </a:cubicBezTo>
                    <a:cubicBezTo>
                      <a:pt x="383" y="260"/>
                      <a:pt x="469" y="174"/>
                      <a:pt x="575" y="174"/>
                    </a:cubicBezTo>
                    <a:lnTo>
                      <a:pt x="958" y="174"/>
                    </a:lnTo>
                    <a:close/>
                  </a:path>
                </a:pathLst>
              </a:custGeom>
              <a:solidFill>
                <a:srgbClr val="DD6A7A"/>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17" name="Freeform 424"/>
              <p:cNvSpPr>
                <a:spLocks noEditPoints="1" noChangeArrowheads="1"/>
              </p:cNvSpPr>
              <p:nvPr/>
            </p:nvSpPr>
            <p:spPr bwMode="auto">
              <a:xfrm>
                <a:off x="441924" y="86700"/>
                <a:ext cx="338375" cy="369222"/>
              </a:xfrm>
              <a:custGeom>
                <a:avLst/>
                <a:gdLst>
                  <a:gd name="T0" fmla="*/ 277056 w 1054"/>
                  <a:gd name="T1" fmla="*/ 0 h 1150"/>
                  <a:gd name="T2" fmla="*/ 61639 w 1054"/>
                  <a:gd name="T3" fmla="*/ 0 h 1150"/>
                  <a:gd name="T4" fmla="*/ 0 w 1054"/>
                  <a:gd name="T5" fmla="*/ 61644 h 1150"/>
                  <a:gd name="T6" fmla="*/ 0 w 1054"/>
                  <a:gd name="T7" fmla="*/ 215433 h 1150"/>
                  <a:gd name="T8" fmla="*/ 61639 w 1054"/>
                  <a:gd name="T9" fmla="*/ 277077 h 1150"/>
                  <a:gd name="T10" fmla="*/ 122958 w 1054"/>
                  <a:gd name="T11" fmla="*/ 277077 h 1150"/>
                  <a:gd name="T12" fmla="*/ 122958 w 1054"/>
                  <a:gd name="T13" fmla="*/ 369222 h 1150"/>
                  <a:gd name="T14" fmla="*/ 215416 w 1054"/>
                  <a:gd name="T15" fmla="*/ 277077 h 1150"/>
                  <a:gd name="T16" fmla="*/ 277056 w 1054"/>
                  <a:gd name="T17" fmla="*/ 277077 h 1150"/>
                  <a:gd name="T18" fmla="*/ 338374 w 1054"/>
                  <a:gd name="T19" fmla="*/ 215433 h 1150"/>
                  <a:gd name="T20" fmla="*/ 338374 w 1054"/>
                  <a:gd name="T21" fmla="*/ 61644 h 1150"/>
                  <a:gd name="T22" fmla="*/ 277056 w 1054"/>
                  <a:gd name="T23" fmla="*/ 0 h 1150"/>
                  <a:gd name="T24" fmla="*/ 61639 w 1054"/>
                  <a:gd name="T25" fmla="*/ 215433 h 1150"/>
                  <a:gd name="T26" fmla="*/ 61639 w 1054"/>
                  <a:gd name="T27" fmla="*/ 184611 h 1150"/>
                  <a:gd name="T28" fmla="*/ 184597 w 1054"/>
                  <a:gd name="T29" fmla="*/ 184611 h 1150"/>
                  <a:gd name="T30" fmla="*/ 184597 w 1054"/>
                  <a:gd name="T31" fmla="*/ 215433 h 1150"/>
                  <a:gd name="T32" fmla="*/ 61639 w 1054"/>
                  <a:gd name="T33" fmla="*/ 215433 h 1150"/>
                  <a:gd name="T34" fmla="*/ 277056 w 1054"/>
                  <a:gd name="T35" fmla="*/ 153789 h 1150"/>
                  <a:gd name="T36" fmla="*/ 61639 w 1054"/>
                  <a:gd name="T37" fmla="*/ 153789 h 1150"/>
                  <a:gd name="T38" fmla="*/ 61639 w 1054"/>
                  <a:gd name="T39" fmla="*/ 122967 h 1150"/>
                  <a:gd name="T40" fmla="*/ 277056 w 1054"/>
                  <a:gd name="T41" fmla="*/ 122967 h 1150"/>
                  <a:gd name="T42" fmla="*/ 277056 w 1054"/>
                  <a:gd name="T43" fmla="*/ 153789 h 1150"/>
                  <a:gd name="T44" fmla="*/ 277056 w 1054"/>
                  <a:gd name="T45" fmla="*/ 92466 h 1150"/>
                  <a:gd name="T46" fmla="*/ 61639 w 1054"/>
                  <a:gd name="T47" fmla="*/ 92466 h 1150"/>
                  <a:gd name="T48" fmla="*/ 61639 w 1054"/>
                  <a:gd name="T49" fmla="*/ 61644 h 1150"/>
                  <a:gd name="T50" fmla="*/ 277056 w 1054"/>
                  <a:gd name="T51" fmla="*/ 61644 h 1150"/>
                  <a:gd name="T52" fmla="*/ 277056 w 1054"/>
                  <a:gd name="T53" fmla="*/ 92466 h 115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54"/>
                  <a:gd name="T82" fmla="*/ 0 h 1150"/>
                  <a:gd name="T83" fmla="*/ 1054 w 1054"/>
                  <a:gd name="T84" fmla="*/ 1150 h 115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54" h="1150">
                    <a:moveTo>
                      <a:pt x="863" y="0"/>
                    </a:moveTo>
                    <a:cubicBezTo>
                      <a:pt x="192" y="0"/>
                      <a:pt x="192" y="0"/>
                      <a:pt x="192" y="0"/>
                    </a:cubicBezTo>
                    <a:cubicBezTo>
                      <a:pt x="86" y="0"/>
                      <a:pt x="0" y="86"/>
                      <a:pt x="0" y="192"/>
                    </a:cubicBezTo>
                    <a:cubicBezTo>
                      <a:pt x="0" y="671"/>
                      <a:pt x="0" y="671"/>
                      <a:pt x="0" y="671"/>
                    </a:cubicBezTo>
                    <a:cubicBezTo>
                      <a:pt x="0" y="777"/>
                      <a:pt x="86" y="863"/>
                      <a:pt x="192" y="863"/>
                    </a:cubicBezTo>
                    <a:cubicBezTo>
                      <a:pt x="383" y="863"/>
                      <a:pt x="383" y="863"/>
                      <a:pt x="383" y="863"/>
                    </a:cubicBezTo>
                    <a:cubicBezTo>
                      <a:pt x="383" y="1150"/>
                      <a:pt x="383" y="1150"/>
                      <a:pt x="383" y="1150"/>
                    </a:cubicBezTo>
                    <a:cubicBezTo>
                      <a:pt x="671" y="863"/>
                      <a:pt x="671" y="863"/>
                      <a:pt x="671" y="863"/>
                    </a:cubicBezTo>
                    <a:cubicBezTo>
                      <a:pt x="863" y="863"/>
                      <a:pt x="863" y="863"/>
                      <a:pt x="863" y="863"/>
                    </a:cubicBezTo>
                    <a:cubicBezTo>
                      <a:pt x="969" y="863"/>
                      <a:pt x="1054" y="777"/>
                      <a:pt x="1054" y="671"/>
                    </a:cubicBezTo>
                    <a:cubicBezTo>
                      <a:pt x="1054" y="192"/>
                      <a:pt x="1054" y="192"/>
                      <a:pt x="1054" y="192"/>
                    </a:cubicBezTo>
                    <a:cubicBezTo>
                      <a:pt x="1054" y="86"/>
                      <a:pt x="969" y="0"/>
                      <a:pt x="863" y="0"/>
                    </a:cubicBezTo>
                    <a:close/>
                    <a:moveTo>
                      <a:pt x="192" y="671"/>
                    </a:moveTo>
                    <a:cubicBezTo>
                      <a:pt x="192" y="575"/>
                      <a:pt x="192" y="575"/>
                      <a:pt x="192" y="575"/>
                    </a:cubicBezTo>
                    <a:cubicBezTo>
                      <a:pt x="575" y="575"/>
                      <a:pt x="575" y="575"/>
                      <a:pt x="575" y="575"/>
                    </a:cubicBezTo>
                    <a:cubicBezTo>
                      <a:pt x="575" y="671"/>
                      <a:pt x="575" y="671"/>
                      <a:pt x="575" y="671"/>
                    </a:cubicBezTo>
                    <a:lnTo>
                      <a:pt x="192" y="671"/>
                    </a:lnTo>
                    <a:close/>
                    <a:moveTo>
                      <a:pt x="863" y="479"/>
                    </a:moveTo>
                    <a:cubicBezTo>
                      <a:pt x="192" y="479"/>
                      <a:pt x="192" y="479"/>
                      <a:pt x="192" y="479"/>
                    </a:cubicBezTo>
                    <a:cubicBezTo>
                      <a:pt x="192" y="383"/>
                      <a:pt x="192" y="383"/>
                      <a:pt x="192" y="383"/>
                    </a:cubicBezTo>
                    <a:cubicBezTo>
                      <a:pt x="863" y="383"/>
                      <a:pt x="863" y="383"/>
                      <a:pt x="863" y="383"/>
                    </a:cubicBezTo>
                    <a:lnTo>
                      <a:pt x="863" y="479"/>
                    </a:lnTo>
                    <a:close/>
                    <a:moveTo>
                      <a:pt x="863" y="288"/>
                    </a:moveTo>
                    <a:cubicBezTo>
                      <a:pt x="192" y="288"/>
                      <a:pt x="192" y="288"/>
                      <a:pt x="192" y="288"/>
                    </a:cubicBezTo>
                    <a:cubicBezTo>
                      <a:pt x="192" y="192"/>
                      <a:pt x="192" y="192"/>
                      <a:pt x="192" y="192"/>
                    </a:cubicBezTo>
                    <a:cubicBezTo>
                      <a:pt x="863" y="192"/>
                      <a:pt x="863" y="192"/>
                      <a:pt x="863" y="192"/>
                    </a:cubicBezTo>
                    <a:lnTo>
                      <a:pt x="863" y="288"/>
                    </a:lnTo>
                    <a:close/>
                  </a:path>
                </a:pathLst>
              </a:custGeom>
              <a:solidFill>
                <a:srgbClr val="DD6A7A"/>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grpSp>
      </p:grpSp>
      <p:grpSp>
        <p:nvGrpSpPr>
          <p:cNvPr id="118" name="组合 148"/>
          <p:cNvGrpSpPr>
            <a:grpSpLocks/>
          </p:cNvGrpSpPr>
          <p:nvPr/>
        </p:nvGrpSpPr>
        <p:grpSpPr bwMode="auto">
          <a:xfrm>
            <a:off x="5940152" y="1124744"/>
            <a:ext cx="2808312" cy="750480"/>
            <a:chOff x="-37913" y="-72144"/>
            <a:chExt cx="3305492" cy="749572"/>
          </a:xfrm>
        </p:grpSpPr>
        <p:sp>
          <p:nvSpPr>
            <p:cNvPr id="119" name="文本框 149"/>
            <p:cNvSpPr>
              <a:spLocks noChangeArrowheads="1"/>
            </p:cNvSpPr>
            <p:nvPr/>
          </p:nvSpPr>
          <p:spPr bwMode="auto">
            <a:xfrm>
              <a:off x="-37913" y="154842"/>
              <a:ext cx="2957981" cy="522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lang="zh-CN" altLang="en-US" sz="2800" dirty="0">
                  <a:solidFill>
                    <a:srgbClr val="14BAC6"/>
                  </a:solidFill>
                  <a:ea typeface="微软雅黑" pitchFamily="34" charset="-122"/>
                  <a:sym typeface="Arial" pitchFamily="34" charset="0"/>
                </a:rPr>
                <a:t>互联网+金融</a:t>
              </a:r>
            </a:p>
          </p:txBody>
        </p:sp>
        <p:grpSp>
          <p:nvGrpSpPr>
            <p:cNvPr id="120" name="组合 151"/>
            <p:cNvGrpSpPr>
              <a:grpSpLocks/>
            </p:cNvGrpSpPr>
            <p:nvPr/>
          </p:nvGrpSpPr>
          <p:grpSpPr bwMode="auto">
            <a:xfrm>
              <a:off x="2799155" y="-72144"/>
              <a:ext cx="468424" cy="439208"/>
              <a:chOff x="186683" y="-72144"/>
              <a:chExt cx="468424" cy="439208"/>
            </a:xfrm>
          </p:grpSpPr>
          <p:sp>
            <p:nvSpPr>
              <p:cNvPr id="121" name="Freeform 425"/>
              <p:cNvSpPr>
                <a:spLocks noChangeArrowheads="1"/>
              </p:cNvSpPr>
              <p:nvPr/>
            </p:nvSpPr>
            <p:spPr bwMode="auto">
              <a:xfrm>
                <a:off x="186683" y="161865"/>
                <a:ext cx="468424" cy="205199"/>
              </a:xfrm>
              <a:custGeom>
                <a:avLst/>
                <a:gdLst>
                  <a:gd name="T0" fmla="*/ 292805 w 1459"/>
                  <a:gd name="T1" fmla="*/ 29222 h 639"/>
                  <a:gd name="T2" fmla="*/ 234373 w 1459"/>
                  <a:gd name="T3" fmla="*/ 87988 h 639"/>
                  <a:gd name="T4" fmla="*/ 175619 w 1459"/>
                  <a:gd name="T5" fmla="*/ 29222 h 639"/>
                  <a:gd name="T6" fmla="*/ 175619 w 1459"/>
                  <a:gd name="T7" fmla="*/ 0 h 639"/>
                  <a:gd name="T8" fmla="*/ 0 w 1459"/>
                  <a:gd name="T9" fmla="*/ 0 h 639"/>
                  <a:gd name="T10" fmla="*/ 0 w 1459"/>
                  <a:gd name="T11" fmla="*/ 146433 h 639"/>
                  <a:gd name="T12" fmla="*/ 58754 w 1459"/>
                  <a:gd name="T13" fmla="*/ 205199 h 639"/>
                  <a:gd name="T14" fmla="*/ 409991 w 1459"/>
                  <a:gd name="T15" fmla="*/ 205199 h 639"/>
                  <a:gd name="T16" fmla="*/ 468424 w 1459"/>
                  <a:gd name="T17" fmla="*/ 146433 h 639"/>
                  <a:gd name="T18" fmla="*/ 468424 w 1459"/>
                  <a:gd name="T19" fmla="*/ 0 h 639"/>
                  <a:gd name="T20" fmla="*/ 292805 w 1459"/>
                  <a:gd name="T21" fmla="*/ 0 h 639"/>
                  <a:gd name="T22" fmla="*/ 292805 w 1459"/>
                  <a:gd name="T23" fmla="*/ 29222 h 63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59"/>
                  <a:gd name="T37" fmla="*/ 0 h 639"/>
                  <a:gd name="T38" fmla="*/ 1459 w 1459"/>
                  <a:gd name="T39" fmla="*/ 639 h 63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59" h="639">
                    <a:moveTo>
                      <a:pt x="912" y="91"/>
                    </a:moveTo>
                    <a:cubicBezTo>
                      <a:pt x="912" y="192"/>
                      <a:pt x="830" y="274"/>
                      <a:pt x="730" y="274"/>
                    </a:cubicBezTo>
                    <a:cubicBezTo>
                      <a:pt x="629" y="274"/>
                      <a:pt x="547" y="192"/>
                      <a:pt x="547" y="91"/>
                    </a:cubicBezTo>
                    <a:cubicBezTo>
                      <a:pt x="547" y="0"/>
                      <a:pt x="547" y="0"/>
                      <a:pt x="547" y="0"/>
                    </a:cubicBezTo>
                    <a:cubicBezTo>
                      <a:pt x="0" y="0"/>
                      <a:pt x="0" y="0"/>
                      <a:pt x="0" y="0"/>
                    </a:cubicBezTo>
                    <a:cubicBezTo>
                      <a:pt x="0" y="456"/>
                      <a:pt x="0" y="456"/>
                      <a:pt x="0" y="456"/>
                    </a:cubicBezTo>
                    <a:cubicBezTo>
                      <a:pt x="0" y="557"/>
                      <a:pt x="82" y="639"/>
                      <a:pt x="183" y="639"/>
                    </a:cubicBezTo>
                    <a:cubicBezTo>
                      <a:pt x="1277" y="639"/>
                      <a:pt x="1277" y="639"/>
                      <a:pt x="1277" y="639"/>
                    </a:cubicBezTo>
                    <a:cubicBezTo>
                      <a:pt x="1378" y="639"/>
                      <a:pt x="1459" y="557"/>
                      <a:pt x="1459" y="456"/>
                    </a:cubicBezTo>
                    <a:cubicBezTo>
                      <a:pt x="1459" y="0"/>
                      <a:pt x="1459" y="0"/>
                      <a:pt x="1459" y="0"/>
                    </a:cubicBezTo>
                    <a:cubicBezTo>
                      <a:pt x="912" y="0"/>
                      <a:pt x="912" y="0"/>
                      <a:pt x="912" y="0"/>
                    </a:cubicBezTo>
                    <a:lnTo>
                      <a:pt x="912" y="91"/>
                    </a:lnTo>
                    <a:close/>
                  </a:path>
                </a:pathLst>
              </a:custGeom>
              <a:solidFill>
                <a:srgbClr val="14BAC6"/>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22" name="Freeform 426"/>
              <p:cNvSpPr>
                <a:spLocks noEditPoints="1" noChangeArrowheads="1"/>
              </p:cNvSpPr>
              <p:nvPr/>
            </p:nvSpPr>
            <p:spPr bwMode="auto">
              <a:xfrm>
                <a:off x="186683" y="-72144"/>
                <a:ext cx="468424" cy="204791"/>
              </a:xfrm>
              <a:custGeom>
                <a:avLst/>
                <a:gdLst>
                  <a:gd name="T0" fmla="*/ 409991 w 1459"/>
                  <a:gd name="T1" fmla="*/ 87630 h 638"/>
                  <a:gd name="T2" fmla="*/ 322021 w 1459"/>
                  <a:gd name="T3" fmla="*/ 87630 h 638"/>
                  <a:gd name="T4" fmla="*/ 322021 w 1459"/>
                  <a:gd name="T5" fmla="*/ 58420 h 638"/>
                  <a:gd name="T6" fmla="*/ 268726 w 1459"/>
                  <a:gd name="T7" fmla="*/ 321 h 638"/>
                  <a:gd name="T8" fmla="*/ 268726 w 1459"/>
                  <a:gd name="T9" fmla="*/ 0 h 638"/>
                  <a:gd name="T10" fmla="*/ 204514 w 1459"/>
                  <a:gd name="T11" fmla="*/ 0 h 638"/>
                  <a:gd name="T12" fmla="*/ 204514 w 1459"/>
                  <a:gd name="T13" fmla="*/ 0 h 638"/>
                  <a:gd name="T14" fmla="*/ 146403 w 1459"/>
                  <a:gd name="T15" fmla="*/ 58420 h 638"/>
                  <a:gd name="T16" fmla="*/ 146403 w 1459"/>
                  <a:gd name="T17" fmla="*/ 87630 h 638"/>
                  <a:gd name="T18" fmla="*/ 58754 w 1459"/>
                  <a:gd name="T19" fmla="*/ 87630 h 638"/>
                  <a:gd name="T20" fmla="*/ 0 w 1459"/>
                  <a:gd name="T21" fmla="*/ 146371 h 638"/>
                  <a:gd name="T22" fmla="*/ 0 w 1459"/>
                  <a:gd name="T23" fmla="*/ 204791 h 638"/>
                  <a:gd name="T24" fmla="*/ 468424 w 1459"/>
                  <a:gd name="T25" fmla="*/ 204791 h 638"/>
                  <a:gd name="T26" fmla="*/ 468424 w 1459"/>
                  <a:gd name="T27" fmla="*/ 146371 h 638"/>
                  <a:gd name="T28" fmla="*/ 409991 w 1459"/>
                  <a:gd name="T29" fmla="*/ 87630 h 638"/>
                  <a:gd name="T30" fmla="*/ 234373 w 1459"/>
                  <a:gd name="T31" fmla="*/ 29210 h 638"/>
                  <a:gd name="T32" fmla="*/ 292805 w 1459"/>
                  <a:gd name="T33" fmla="*/ 87630 h 638"/>
                  <a:gd name="T34" fmla="*/ 175619 w 1459"/>
                  <a:gd name="T35" fmla="*/ 87630 h 638"/>
                  <a:gd name="T36" fmla="*/ 234373 w 1459"/>
                  <a:gd name="T37" fmla="*/ 29210 h 63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9"/>
                  <a:gd name="T58" fmla="*/ 0 h 638"/>
                  <a:gd name="T59" fmla="*/ 1459 w 1459"/>
                  <a:gd name="T60" fmla="*/ 638 h 63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9" h="638">
                    <a:moveTo>
                      <a:pt x="1277" y="273"/>
                    </a:moveTo>
                    <a:cubicBezTo>
                      <a:pt x="1003" y="273"/>
                      <a:pt x="1003" y="273"/>
                      <a:pt x="1003" y="273"/>
                    </a:cubicBezTo>
                    <a:cubicBezTo>
                      <a:pt x="1003" y="182"/>
                      <a:pt x="1003" y="182"/>
                      <a:pt x="1003" y="182"/>
                    </a:cubicBezTo>
                    <a:cubicBezTo>
                      <a:pt x="1003" y="87"/>
                      <a:pt x="930" y="9"/>
                      <a:pt x="837" y="1"/>
                    </a:cubicBezTo>
                    <a:cubicBezTo>
                      <a:pt x="837" y="0"/>
                      <a:pt x="837" y="0"/>
                      <a:pt x="837" y="0"/>
                    </a:cubicBezTo>
                    <a:cubicBezTo>
                      <a:pt x="637" y="0"/>
                      <a:pt x="637" y="0"/>
                      <a:pt x="637" y="0"/>
                    </a:cubicBezTo>
                    <a:cubicBezTo>
                      <a:pt x="637" y="0"/>
                      <a:pt x="637" y="0"/>
                      <a:pt x="637" y="0"/>
                    </a:cubicBezTo>
                    <a:cubicBezTo>
                      <a:pt x="537" y="1"/>
                      <a:pt x="456" y="82"/>
                      <a:pt x="456" y="182"/>
                    </a:cubicBezTo>
                    <a:cubicBezTo>
                      <a:pt x="456" y="273"/>
                      <a:pt x="456" y="273"/>
                      <a:pt x="456" y="273"/>
                    </a:cubicBezTo>
                    <a:cubicBezTo>
                      <a:pt x="183" y="273"/>
                      <a:pt x="183" y="273"/>
                      <a:pt x="183" y="273"/>
                    </a:cubicBezTo>
                    <a:cubicBezTo>
                      <a:pt x="82" y="273"/>
                      <a:pt x="0" y="355"/>
                      <a:pt x="0" y="456"/>
                    </a:cubicBezTo>
                    <a:cubicBezTo>
                      <a:pt x="0" y="638"/>
                      <a:pt x="0" y="638"/>
                      <a:pt x="0" y="638"/>
                    </a:cubicBezTo>
                    <a:cubicBezTo>
                      <a:pt x="1459" y="638"/>
                      <a:pt x="1459" y="638"/>
                      <a:pt x="1459" y="638"/>
                    </a:cubicBezTo>
                    <a:cubicBezTo>
                      <a:pt x="1459" y="456"/>
                      <a:pt x="1459" y="456"/>
                      <a:pt x="1459" y="456"/>
                    </a:cubicBezTo>
                    <a:cubicBezTo>
                      <a:pt x="1459" y="355"/>
                      <a:pt x="1378" y="273"/>
                      <a:pt x="1277" y="273"/>
                    </a:cubicBezTo>
                    <a:close/>
                    <a:moveTo>
                      <a:pt x="730" y="91"/>
                    </a:moveTo>
                    <a:cubicBezTo>
                      <a:pt x="830" y="91"/>
                      <a:pt x="912" y="172"/>
                      <a:pt x="912" y="273"/>
                    </a:cubicBezTo>
                    <a:cubicBezTo>
                      <a:pt x="547" y="273"/>
                      <a:pt x="547" y="273"/>
                      <a:pt x="547" y="273"/>
                    </a:cubicBezTo>
                    <a:cubicBezTo>
                      <a:pt x="547" y="172"/>
                      <a:pt x="629" y="91"/>
                      <a:pt x="730" y="91"/>
                    </a:cubicBezTo>
                    <a:close/>
                  </a:path>
                </a:pathLst>
              </a:custGeom>
              <a:solidFill>
                <a:srgbClr val="14BAC6"/>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sp>
            <p:nvSpPr>
              <p:cNvPr id="123" name="Rectangle 427"/>
              <p:cNvSpPr>
                <a:spLocks noChangeArrowheads="1"/>
              </p:cNvSpPr>
              <p:nvPr/>
            </p:nvSpPr>
            <p:spPr bwMode="auto">
              <a:xfrm>
                <a:off x="205199" y="234008"/>
                <a:ext cx="58434" cy="58842"/>
              </a:xfrm>
              <a:prstGeom prst="rect">
                <a:avLst/>
              </a:prstGeom>
              <a:solidFill>
                <a:srgbClr val="14BAC6"/>
              </a:solidFill>
              <a:ln>
                <a:noFill/>
              </a:ln>
              <a:extLst>
                <a:ext uri="{91240B29-F687-4F45-9708-019B960494DF}">
                  <a14:hiddenLine xmlns:a14="http://schemas.microsoft.com/office/drawing/2010/main" w="9525">
                    <a:solidFill>
                      <a:srgbClr val="000000"/>
                    </a:solidFill>
                    <a:bevel/>
                    <a:headEnd/>
                    <a:tailEnd/>
                  </a14:hiddenLine>
                </a:ext>
              </a:extLst>
            </p:spPr>
            <p:txBody>
              <a:bodyPr/>
              <a:lstStyle/>
              <a:p>
                <a:endParaRPr lang="zh-CN" altLang="zh-CN" sz="2800">
                  <a:solidFill>
                    <a:srgbClr val="555354"/>
                  </a:solidFill>
                  <a:ea typeface="微软雅黑" pitchFamily="34" charset="-122"/>
                  <a:sym typeface="宋体" pitchFamily="2" charset="-122"/>
                </a:endParaRPr>
              </a:p>
            </p:txBody>
          </p:sp>
        </p:grpSp>
      </p:grpSp>
      <p:grpSp>
        <p:nvGrpSpPr>
          <p:cNvPr id="124" name="组合 155"/>
          <p:cNvGrpSpPr>
            <a:grpSpLocks/>
          </p:cNvGrpSpPr>
          <p:nvPr/>
        </p:nvGrpSpPr>
        <p:grpSpPr bwMode="auto">
          <a:xfrm>
            <a:off x="488344" y="1154113"/>
            <a:ext cx="2699363" cy="721110"/>
            <a:chOff x="-189216" y="0"/>
            <a:chExt cx="3599590" cy="720233"/>
          </a:xfrm>
        </p:grpSpPr>
        <p:sp>
          <p:nvSpPr>
            <p:cNvPr id="125" name="文本框 156"/>
            <p:cNvSpPr>
              <a:spLocks noChangeArrowheads="1"/>
            </p:cNvSpPr>
            <p:nvPr/>
          </p:nvSpPr>
          <p:spPr bwMode="auto">
            <a:xfrm>
              <a:off x="359182" y="197649"/>
              <a:ext cx="3051192" cy="522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dirty="0">
                  <a:solidFill>
                    <a:srgbClr val="92D050"/>
                  </a:solidFill>
                  <a:ea typeface="微软雅黑" pitchFamily="34" charset="-122"/>
                  <a:sym typeface="Arial" pitchFamily="34" charset="0"/>
                </a:rPr>
                <a:t>互联网+医疗</a:t>
              </a:r>
            </a:p>
          </p:txBody>
        </p:sp>
        <p:sp>
          <p:nvSpPr>
            <p:cNvPr id="126" name="Freeform 433"/>
            <p:cNvSpPr>
              <a:spLocks noEditPoints="1" noChangeArrowheads="1"/>
            </p:cNvSpPr>
            <p:nvPr/>
          </p:nvSpPr>
          <p:spPr bwMode="auto">
            <a:xfrm>
              <a:off x="-189216" y="0"/>
              <a:ext cx="524955" cy="524820"/>
            </a:xfrm>
            <a:custGeom>
              <a:avLst/>
              <a:gdLst>
                <a:gd name="T0" fmla="*/ 262638 w 1635"/>
                <a:gd name="T1" fmla="*/ 0 h 1635"/>
                <a:gd name="T2" fmla="*/ 262638 w 1635"/>
                <a:gd name="T3" fmla="*/ 0 h 1635"/>
                <a:gd name="T4" fmla="*/ 0 w 1635"/>
                <a:gd name="T5" fmla="*/ 262250 h 1635"/>
                <a:gd name="T6" fmla="*/ 0 w 1635"/>
                <a:gd name="T7" fmla="*/ 262250 h 1635"/>
                <a:gd name="T8" fmla="*/ 262638 w 1635"/>
                <a:gd name="T9" fmla="*/ 524820 h 1635"/>
                <a:gd name="T10" fmla="*/ 448218 w 1635"/>
                <a:gd name="T11" fmla="*/ 447782 h 1635"/>
                <a:gd name="T12" fmla="*/ 524955 w 1635"/>
                <a:gd name="T13" fmla="*/ 262250 h 1635"/>
                <a:gd name="T14" fmla="*/ 79626 w 1635"/>
                <a:gd name="T15" fmla="*/ 396424 h 1635"/>
                <a:gd name="T16" fmla="*/ 86369 w 1635"/>
                <a:gd name="T17" fmla="*/ 359831 h 1635"/>
                <a:gd name="T18" fmla="*/ 262638 w 1635"/>
                <a:gd name="T19" fmla="*/ 489190 h 1635"/>
                <a:gd name="T20" fmla="*/ 262638 w 1635"/>
                <a:gd name="T21" fmla="*/ 489190 h 1635"/>
                <a:gd name="T22" fmla="*/ 169206 w 1635"/>
                <a:gd name="T23" fmla="*/ 376522 h 1635"/>
                <a:gd name="T24" fmla="*/ 102422 w 1635"/>
                <a:gd name="T25" fmla="*/ 334793 h 1635"/>
                <a:gd name="T26" fmla="*/ 69031 w 1635"/>
                <a:gd name="T27" fmla="*/ 295954 h 1635"/>
                <a:gd name="T28" fmla="*/ 137098 w 1635"/>
                <a:gd name="T29" fmla="*/ 221484 h 1635"/>
                <a:gd name="T30" fmla="*/ 87653 w 1635"/>
                <a:gd name="T31" fmla="*/ 221484 h 1635"/>
                <a:gd name="T32" fmla="*/ 99854 w 1635"/>
                <a:gd name="T33" fmla="*/ 169483 h 1635"/>
                <a:gd name="T34" fmla="*/ 83800 w 1635"/>
                <a:gd name="T35" fmla="*/ 146693 h 1635"/>
                <a:gd name="T36" fmla="*/ 141272 w 1635"/>
                <a:gd name="T37" fmla="*/ 153113 h 1635"/>
                <a:gd name="T38" fmla="*/ 190075 w 1635"/>
                <a:gd name="T39" fmla="*/ 172372 h 1635"/>
                <a:gd name="T40" fmla="*/ 187186 w 1635"/>
                <a:gd name="T41" fmla="*/ 131606 h 1635"/>
                <a:gd name="T42" fmla="*/ 138062 w 1635"/>
                <a:gd name="T43" fmla="*/ 114915 h 1635"/>
                <a:gd name="T44" fmla="*/ 262638 w 1635"/>
                <a:gd name="T45" fmla="*/ 35309 h 1635"/>
                <a:gd name="T46" fmla="*/ 262638 w 1635"/>
                <a:gd name="T47" fmla="*/ 35309 h 1635"/>
                <a:gd name="T48" fmla="*/ 382077 w 1635"/>
                <a:gd name="T49" fmla="*/ 156965 h 1635"/>
                <a:gd name="T50" fmla="*/ 323321 w 1635"/>
                <a:gd name="T51" fmla="*/ 162100 h 1635"/>
                <a:gd name="T52" fmla="*/ 296351 w 1635"/>
                <a:gd name="T53" fmla="*/ 173014 h 1635"/>
                <a:gd name="T54" fmla="*/ 292177 w 1635"/>
                <a:gd name="T55" fmla="*/ 198051 h 1635"/>
                <a:gd name="T56" fmla="*/ 310799 w 1635"/>
                <a:gd name="T57" fmla="*/ 213459 h 1635"/>
                <a:gd name="T58" fmla="*/ 258464 w 1635"/>
                <a:gd name="T59" fmla="*/ 230150 h 1635"/>
                <a:gd name="T60" fmla="*/ 286397 w 1635"/>
                <a:gd name="T61" fmla="*/ 248126 h 1635"/>
                <a:gd name="T62" fmla="*/ 343870 w 1635"/>
                <a:gd name="T63" fmla="*/ 237212 h 1635"/>
                <a:gd name="T64" fmla="*/ 350933 w 1635"/>
                <a:gd name="T65" fmla="*/ 282151 h 1635"/>
                <a:gd name="T66" fmla="*/ 393957 w 1635"/>
                <a:gd name="T67" fmla="*/ 279262 h 1635"/>
                <a:gd name="T68" fmla="*/ 421890 w 1635"/>
                <a:gd name="T69" fmla="*/ 307188 h 1635"/>
                <a:gd name="T70" fmla="*/ 469088 w 1635"/>
                <a:gd name="T71" fmla="*/ 307188 h 1635"/>
                <a:gd name="T72" fmla="*/ 350933 w 1635"/>
                <a:gd name="T73" fmla="*/ 331263 h 1635"/>
                <a:gd name="T74" fmla="*/ 306625 w 1635"/>
                <a:gd name="T75" fmla="*/ 288250 h 1635"/>
                <a:gd name="T76" fmla="*/ 240484 w 1635"/>
                <a:gd name="T77" fmla="*/ 276694 h 1635"/>
                <a:gd name="T78" fmla="*/ 242731 w 1635"/>
                <a:gd name="T79" fmla="*/ 341855 h 1635"/>
                <a:gd name="T80" fmla="*/ 289287 w 1635"/>
                <a:gd name="T81" fmla="*/ 353411 h 1635"/>
                <a:gd name="T82" fmla="*/ 317542 w 1635"/>
                <a:gd name="T83" fmla="*/ 433980 h 1635"/>
                <a:gd name="T84" fmla="*/ 345475 w 1635"/>
                <a:gd name="T85" fmla="*/ 368818 h 1635"/>
                <a:gd name="T86" fmla="*/ 350933 w 1635"/>
                <a:gd name="T87" fmla="*/ 331263 h 1635"/>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635"/>
                <a:gd name="T133" fmla="*/ 0 h 1635"/>
                <a:gd name="T134" fmla="*/ 1635 w 1635"/>
                <a:gd name="T135" fmla="*/ 1635 h 1635"/>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635" h="1635">
                  <a:moveTo>
                    <a:pt x="1560" y="476"/>
                  </a:moveTo>
                  <a:cubicBezTo>
                    <a:pt x="1519" y="387"/>
                    <a:pt x="1464" y="307"/>
                    <a:pt x="1396" y="239"/>
                  </a:cubicBezTo>
                  <a:cubicBezTo>
                    <a:pt x="1248" y="91"/>
                    <a:pt x="1044" y="0"/>
                    <a:pt x="818" y="0"/>
                  </a:cubicBezTo>
                  <a:cubicBezTo>
                    <a:pt x="818" y="0"/>
                    <a:pt x="818" y="0"/>
                    <a:pt x="818" y="0"/>
                  </a:cubicBezTo>
                  <a:cubicBezTo>
                    <a:pt x="818" y="0"/>
                    <a:pt x="818" y="0"/>
                    <a:pt x="818" y="0"/>
                  </a:cubicBezTo>
                  <a:cubicBezTo>
                    <a:pt x="818" y="0"/>
                    <a:pt x="818" y="0"/>
                    <a:pt x="818" y="0"/>
                  </a:cubicBezTo>
                  <a:cubicBezTo>
                    <a:pt x="592" y="0"/>
                    <a:pt x="387" y="91"/>
                    <a:pt x="239" y="239"/>
                  </a:cubicBezTo>
                  <a:cubicBezTo>
                    <a:pt x="170" y="308"/>
                    <a:pt x="114" y="390"/>
                    <a:pt x="73" y="481"/>
                  </a:cubicBezTo>
                  <a:cubicBezTo>
                    <a:pt x="27" y="584"/>
                    <a:pt x="0" y="698"/>
                    <a:pt x="0" y="817"/>
                  </a:cubicBezTo>
                  <a:cubicBezTo>
                    <a:pt x="0" y="817"/>
                    <a:pt x="0" y="817"/>
                    <a:pt x="0" y="817"/>
                  </a:cubicBezTo>
                  <a:cubicBezTo>
                    <a:pt x="0" y="817"/>
                    <a:pt x="0" y="817"/>
                    <a:pt x="0" y="817"/>
                  </a:cubicBezTo>
                  <a:cubicBezTo>
                    <a:pt x="0" y="817"/>
                    <a:pt x="0" y="817"/>
                    <a:pt x="0" y="817"/>
                  </a:cubicBezTo>
                  <a:cubicBezTo>
                    <a:pt x="0" y="1043"/>
                    <a:pt x="92" y="1247"/>
                    <a:pt x="239" y="1395"/>
                  </a:cubicBezTo>
                  <a:cubicBezTo>
                    <a:pt x="387" y="1543"/>
                    <a:pt x="592" y="1635"/>
                    <a:pt x="818" y="1635"/>
                  </a:cubicBezTo>
                  <a:cubicBezTo>
                    <a:pt x="818" y="1635"/>
                    <a:pt x="818" y="1635"/>
                    <a:pt x="818" y="1635"/>
                  </a:cubicBezTo>
                  <a:cubicBezTo>
                    <a:pt x="818" y="1635"/>
                    <a:pt x="818" y="1635"/>
                    <a:pt x="818" y="1635"/>
                  </a:cubicBezTo>
                  <a:cubicBezTo>
                    <a:pt x="818" y="1635"/>
                    <a:pt x="818" y="1635"/>
                    <a:pt x="818" y="1635"/>
                  </a:cubicBezTo>
                  <a:cubicBezTo>
                    <a:pt x="1044" y="1635"/>
                    <a:pt x="1248" y="1543"/>
                    <a:pt x="1396" y="1395"/>
                  </a:cubicBezTo>
                  <a:cubicBezTo>
                    <a:pt x="1544" y="1247"/>
                    <a:pt x="1635" y="1043"/>
                    <a:pt x="1635" y="817"/>
                  </a:cubicBezTo>
                  <a:cubicBezTo>
                    <a:pt x="1635" y="817"/>
                    <a:pt x="1635" y="817"/>
                    <a:pt x="1635" y="817"/>
                  </a:cubicBezTo>
                  <a:cubicBezTo>
                    <a:pt x="1635" y="817"/>
                    <a:pt x="1635" y="817"/>
                    <a:pt x="1635" y="817"/>
                  </a:cubicBezTo>
                  <a:cubicBezTo>
                    <a:pt x="1635" y="817"/>
                    <a:pt x="1635" y="817"/>
                    <a:pt x="1635" y="817"/>
                  </a:cubicBezTo>
                  <a:cubicBezTo>
                    <a:pt x="1635" y="695"/>
                    <a:pt x="1608" y="580"/>
                    <a:pt x="1560" y="476"/>
                  </a:cubicBezTo>
                  <a:close/>
                  <a:moveTo>
                    <a:pt x="248" y="1235"/>
                  </a:moveTo>
                  <a:cubicBezTo>
                    <a:pt x="209" y="1181"/>
                    <a:pt x="177" y="1122"/>
                    <a:pt x="154" y="1060"/>
                  </a:cubicBezTo>
                  <a:cubicBezTo>
                    <a:pt x="172" y="1064"/>
                    <a:pt x="191" y="1065"/>
                    <a:pt x="207" y="1069"/>
                  </a:cubicBezTo>
                  <a:cubicBezTo>
                    <a:pt x="233" y="1075"/>
                    <a:pt x="259" y="1116"/>
                    <a:pt x="269" y="1121"/>
                  </a:cubicBezTo>
                  <a:cubicBezTo>
                    <a:pt x="280" y="1125"/>
                    <a:pt x="259" y="1220"/>
                    <a:pt x="248" y="1235"/>
                  </a:cubicBezTo>
                  <a:close/>
                  <a:moveTo>
                    <a:pt x="1317" y="1317"/>
                  </a:moveTo>
                  <a:cubicBezTo>
                    <a:pt x="1189" y="1445"/>
                    <a:pt x="1013" y="1524"/>
                    <a:pt x="818" y="1524"/>
                  </a:cubicBezTo>
                  <a:cubicBezTo>
                    <a:pt x="818" y="1524"/>
                    <a:pt x="818" y="1524"/>
                    <a:pt x="818" y="1524"/>
                  </a:cubicBezTo>
                  <a:cubicBezTo>
                    <a:pt x="818" y="1524"/>
                    <a:pt x="818" y="1524"/>
                    <a:pt x="818" y="1524"/>
                  </a:cubicBezTo>
                  <a:cubicBezTo>
                    <a:pt x="818" y="1524"/>
                    <a:pt x="818" y="1524"/>
                    <a:pt x="818" y="1524"/>
                  </a:cubicBezTo>
                  <a:cubicBezTo>
                    <a:pt x="702" y="1524"/>
                    <a:pt x="593" y="1496"/>
                    <a:pt x="496" y="1446"/>
                  </a:cubicBezTo>
                  <a:cubicBezTo>
                    <a:pt x="508" y="1423"/>
                    <a:pt x="516" y="1354"/>
                    <a:pt x="516" y="1354"/>
                  </a:cubicBezTo>
                  <a:cubicBezTo>
                    <a:pt x="516" y="1354"/>
                    <a:pt x="533" y="1184"/>
                    <a:pt x="527" y="1173"/>
                  </a:cubicBezTo>
                  <a:cubicBezTo>
                    <a:pt x="520" y="1162"/>
                    <a:pt x="477" y="1121"/>
                    <a:pt x="449" y="1108"/>
                  </a:cubicBezTo>
                  <a:cubicBezTo>
                    <a:pt x="421" y="1095"/>
                    <a:pt x="395" y="1110"/>
                    <a:pt x="371" y="1101"/>
                  </a:cubicBezTo>
                  <a:cubicBezTo>
                    <a:pt x="347" y="1093"/>
                    <a:pt x="337" y="1056"/>
                    <a:pt x="319" y="1043"/>
                  </a:cubicBezTo>
                  <a:cubicBezTo>
                    <a:pt x="302" y="1030"/>
                    <a:pt x="276" y="1030"/>
                    <a:pt x="249" y="1023"/>
                  </a:cubicBezTo>
                  <a:cubicBezTo>
                    <a:pt x="223" y="1015"/>
                    <a:pt x="205" y="982"/>
                    <a:pt x="198" y="969"/>
                  </a:cubicBezTo>
                  <a:cubicBezTo>
                    <a:pt x="192" y="957"/>
                    <a:pt x="195" y="925"/>
                    <a:pt x="215" y="922"/>
                  </a:cubicBezTo>
                  <a:cubicBezTo>
                    <a:pt x="236" y="919"/>
                    <a:pt x="256" y="915"/>
                    <a:pt x="330" y="879"/>
                  </a:cubicBezTo>
                  <a:cubicBezTo>
                    <a:pt x="404" y="843"/>
                    <a:pt x="321" y="820"/>
                    <a:pt x="326" y="769"/>
                  </a:cubicBezTo>
                  <a:cubicBezTo>
                    <a:pt x="330" y="717"/>
                    <a:pt x="399" y="721"/>
                    <a:pt x="427" y="690"/>
                  </a:cubicBezTo>
                  <a:cubicBezTo>
                    <a:pt x="455" y="660"/>
                    <a:pt x="408" y="641"/>
                    <a:pt x="386" y="624"/>
                  </a:cubicBezTo>
                  <a:cubicBezTo>
                    <a:pt x="365" y="606"/>
                    <a:pt x="330" y="628"/>
                    <a:pt x="317" y="652"/>
                  </a:cubicBezTo>
                  <a:cubicBezTo>
                    <a:pt x="304" y="675"/>
                    <a:pt x="300" y="695"/>
                    <a:pt x="273" y="690"/>
                  </a:cubicBezTo>
                  <a:cubicBezTo>
                    <a:pt x="247" y="685"/>
                    <a:pt x="239" y="681"/>
                    <a:pt x="224" y="652"/>
                  </a:cubicBezTo>
                  <a:cubicBezTo>
                    <a:pt x="209" y="623"/>
                    <a:pt x="235" y="621"/>
                    <a:pt x="291" y="583"/>
                  </a:cubicBezTo>
                  <a:cubicBezTo>
                    <a:pt x="348" y="544"/>
                    <a:pt x="313" y="544"/>
                    <a:pt x="311" y="528"/>
                  </a:cubicBezTo>
                  <a:cubicBezTo>
                    <a:pt x="309" y="513"/>
                    <a:pt x="285" y="520"/>
                    <a:pt x="256" y="509"/>
                  </a:cubicBezTo>
                  <a:cubicBezTo>
                    <a:pt x="256" y="509"/>
                    <a:pt x="256" y="508"/>
                    <a:pt x="255" y="508"/>
                  </a:cubicBezTo>
                  <a:cubicBezTo>
                    <a:pt x="229" y="497"/>
                    <a:pt x="244" y="468"/>
                    <a:pt x="261" y="457"/>
                  </a:cubicBezTo>
                  <a:cubicBezTo>
                    <a:pt x="278" y="446"/>
                    <a:pt x="298" y="444"/>
                    <a:pt x="315" y="455"/>
                  </a:cubicBezTo>
                  <a:cubicBezTo>
                    <a:pt x="332" y="466"/>
                    <a:pt x="332" y="474"/>
                    <a:pt x="378" y="457"/>
                  </a:cubicBezTo>
                  <a:cubicBezTo>
                    <a:pt x="423" y="440"/>
                    <a:pt x="425" y="455"/>
                    <a:pt x="440" y="477"/>
                  </a:cubicBezTo>
                  <a:cubicBezTo>
                    <a:pt x="450" y="490"/>
                    <a:pt x="462" y="511"/>
                    <a:pt x="474" y="530"/>
                  </a:cubicBezTo>
                  <a:cubicBezTo>
                    <a:pt x="481" y="541"/>
                    <a:pt x="488" y="551"/>
                    <a:pt x="494" y="559"/>
                  </a:cubicBezTo>
                  <a:cubicBezTo>
                    <a:pt x="511" y="580"/>
                    <a:pt x="555" y="559"/>
                    <a:pt x="592" y="537"/>
                  </a:cubicBezTo>
                  <a:cubicBezTo>
                    <a:pt x="592" y="537"/>
                    <a:pt x="592" y="537"/>
                    <a:pt x="592" y="537"/>
                  </a:cubicBezTo>
                  <a:cubicBezTo>
                    <a:pt x="628" y="515"/>
                    <a:pt x="616" y="481"/>
                    <a:pt x="617" y="451"/>
                  </a:cubicBezTo>
                  <a:cubicBezTo>
                    <a:pt x="620" y="420"/>
                    <a:pt x="596" y="420"/>
                    <a:pt x="583" y="410"/>
                  </a:cubicBezTo>
                  <a:cubicBezTo>
                    <a:pt x="570" y="399"/>
                    <a:pt x="568" y="360"/>
                    <a:pt x="553" y="338"/>
                  </a:cubicBezTo>
                  <a:cubicBezTo>
                    <a:pt x="538" y="316"/>
                    <a:pt x="507" y="319"/>
                    <a:pt x="488" y="325"/>
                  </a:cubicBezTo>
                  <a:cubicBezTo>
                    <a:pt x="468" y="332"/>
                    <a:pt x="436" y="360"/>
                    <a:pt x="430" y="358"/>
                  </a:cubicBezTo>
                  <a:cubicBezTo>
                    <a:pt x="423" y="355"/>
                    <a:pt x="425" y="323"/>
                    <a:pt x="410" y="312"/>
                  </a:cubicBezTo>
                  <a:cubicBezTo>
                    <a:pt x="401" y="306"/>
                    <a:pt x="367" y="305"/>
                    <a:pt x="337" y="300"/>
                  </a:cubicBezTo>
                  <a:cubicBezTo>
                    <a:pt x="463" y="182"/>
                    <a:pt x="632" y="110"/>
                    <a:pt x="818" y="110"/>
                  </a:cubicBezTo>
                  <a:cubicBezTo>
                    <a:pt x="818" y="110"/>
                    <a:pt x="818" y="110"/>
                    <a:pt x="818" y="110"/>
                  </a:cubicBezTo>
                  <a:cubicBezTo>
                    <a:pt x="818" y="110"/>
                    <a:pt x="818" y="110"/>
                    <a:pt x="818" y="110"/>
                  </a:cubicBezTo>
                  <a:cubicBezTo>
                    <a:pt x="818" y="110"/>
                    <a:pt x="818" y="110"/>
                    <a:pt x="818" y="110"/>
                  </a:cubicBezTo>
                  <a:cubicBezTo>
                    <a:pt x="1013" y="110"/>
                    <a:pt x="1189" y="189"/>
                    <a:pt x="1317" y="317"/>
                  </a:cubicBezTo>
                  <a:cubicBezTo>
                    <a:pt x="1346" y="346"/>
                    <a:pt x="1372" y="377"/>
                    <a:pt x="1395" y="411"/>
                  </a:cubicBezTo>
                  <a:cubicBezTo>
                    <a:pt x="1325" y="434"/>
                    <a:pt x="1200" y="477"/>
                    <a:pt x="1190" y="489"/>
                  </a:cubicBezTo>
                  <a:cubicBezTo>
                    <a:pt x="1178" y="507"/>
                    <a:pt x="1132" y="516"/>
                    <a:pt x="1111" y="505"/>
                  </a:cubicBezTo>
                  <a:cubicBezTo>
                    <a:pt x="1089" y="494"/>
                    <a:pt x="1074" y="481"/>
                    <a:pt x="1052" y="483"/>
                  </a:cubicBezTo>
                  <a:cubicBezTo>
                    <a:pt x="1031" y="485"/>
                    <a:pt x="1022" y="487"/>
                    <a:pt x="1007" y="505"/>
                  </a:cubicBezTo>
                  <a:cubicBezTo>
                    <a:pt x="997" y="516"/>
                    <a:pt x="979" y="531"/>
                    <a:pt x="961" y="539"/>
                  </a:cubicBezTo>
                  <a:cubicBezTo>
                    <a:pt x="951" y="544"/>
                    <a:pt x="940" y="546"/>
                    <a:pt x="931" y="541"/>
                  </a:cubicBezTo>
                  <a:cubicBezTo>
                    <a:pt x="928" y="540"/>
                    <a:pt x="926" y="540"/>
                    <a:pt x="923" y="539"/>
                  </a:cubicBezTo>
                  <a:cubicBezTo>
                    <a:pt x="916" y="538"/>
                    <a:pt x="909" y="538"/>
                    <a:pt x="903" y="540"/>
                  </a:cubicBezTo>
                  <a:cubicBezTo>
                    <a:pt x="894" y="543"/>
                    <a:pt x="887" y="549"/>
                    <a:pt x="887" y="549"/>
                  </a:cubicBezTo>
                  <a:cubicBezTo>
                    <a:pt x="866" y="580"/>
                    <a:pt x="892" y="619"/>
                    <a:pt x="910" y="617"/>
                  </a:cubicBezTo>
                  <a:cubicBezTo>
                    <a:pt x="927" y="615"/>
                    <a:pt x="948" y="580"/>
                    <a:pt x="959" y="580"/>
                  </a:cubicBezTo>
                  <a:cubicBezTo>
                    <a:pt x="970" y="580"/>
                    <a:pt x="994" y="600"/>
                    <a:pt x="998" y="607"/>
                  </a:cubicBezTo>
                  <a:cubicBezTo>
                    <a:pt x="1002" y="615"/>
                    <a:pt x="981" y="663"/>
                    <a:pt x="968" y="665"/>
                  </a:cubicBezTo>
                  <a:cubicBezTo>
                    <a:pt x="955" y="667"/>
                    <a:pt x="907" y="682"/>
                    <a:pt x="896" y="682"/>
                  </a:cubicBezTo>
                  <a:cubicBezTo>
                    <a:pt x="886" y="682"/>
                    <a:pt x="838" y="663"/>
                    <a:pt x="827" y="675"/>
                  </a:cubicBezTo>
                  <a:cubicBezTo>
                    <a:pt x="816" y="689"/>
                    <a:pt x="795" y="686"/>
                    <a:pt x="805" y="717"/>
                  </a:cubicBezTo>
                  <a:cubicBezTo>
                    <a:pt x="816" y="747"/>
                    <a:pt x="805" y="771"/>
                    <a:pt x="797" y="773"/>
                  </a:cubicBezTo>
                  <a:cubicBezTo>
                    <a:pt x="788" y="775"/>
                    <a:pt x="717" y="795"/>
                    <a:pt x="788" y="797"/>
                  </a:cubicBezTo>
                  <a:cubicBezTo>
                    <a:pt x="860" y="799"/>
                    <a:pt x="877" y="775"/>
                    <a:pt x="892" y="773"/>
                  </a:cubicBezTo>
                  <a:cubicBezTo>
                    <a:pt x="907" y="771"/>
                    <a:pt x="933" y="751"/>
                    <a:pt x="950" y="760"/>
                  </a:cubicBezTo>
                  <a:cubicBezTo>
                    <a:pt x="968" y="769"/>
                    <a:pt x="995" y="755"/>
                    <a:pt x="1009" y="760"/>
                  </a:cubicBezTo>
                  <a:cubicBezTo>
                    <a:pt x="1024" y="764"/>
                    <a:pt x="1056" y="724"/>
                    <a:pt x="1071" y="739"/>
                  </a:cubicBezTo>
                  <a:cubicBezTo>
                    <a:pt x="1087" y="753"/>
                    <a:pt x="1082" y="784"/>
                    <a:pt x="1078" y="795"/>
                  </a:cubicBezTo>
                  <a:cubicBezTo>
                    <a:pt x="1074" y="805"/>
                    <a:pt x="1048" y="814"/>
                    <a:pt x="1054" y="829"/>
                  </a:cubicBezTo>
                  <a:cubicBezTo>
                    <a:pt x="1061" y="844"/>
                    <a:pt x="1074" y="864"/>
                    <a:pt x="1093" y="879"/>
                  </a:cubicBezTo>
                  <a:cubicBezTo>
                    <a:pt x="1113" y="894"/>
                    <a:pt x="1126" y="913"/>
                    <a:pt x="1139" y="898"/>
                  </a:cubicBezTo>
                  <a:cubicBezTo>
                    <a:pt x="1151" y="883"/>
                    <a:pt x="1151" y="864"/>
                    <a:pt x="1158" y="855"/>
                  </a:cubicBezTo>
                  <a:cubicBezTo>
                    <a:pt x="1165" y="846"/>
                    <a:pt x="1225" y="857"/>
                    <a:pt x="1227" y="870"/>
                  </a:cubicBezTo>
                  <a:cubicBezTo>
                    <a:pt x="1229" y="883"/>
                    <a:pt x="1260" y="911"/>
                    <a:pt x="1266" y="913"/>
                  </a:cubicBezTo>
                  <a:cubicBezTo>
                    <a:pt x="1273" y="915"/>
                    <a:pt x="1296" y="926"/>
                    <a:pt x="1296" y="926"/>
                  </a:cubicBezTo>
                  <a:cubicBezTo>
                    <a:pt x="1296" y="926"/>
                    <a:pt x="1303" y="934"/>
                    <a:pt x="1314" y="957"/>
                  </a:cubicBezTo>
                  <a:cubicBezTo>
                    <a:pt x="1325" y="980"/>
                    <a:pt x="1346" y="980"/>
                    <a:pt x="1361" y="976"/>
                  </a:cubicBezTo>
                  <a:cubicBezTo>
                    <a:pt x="1376" y="972"/>
                    <a:pt x="1389" y="939"/>
                    <a:pt x="1409" y="942"/>
                  </a:cubicBezTo>
                  <a:cubicBezTo>
                    <a:pt x="1429" y="944"/>
                    <a:pt x="1439" y="935"/>
                    <a:pt x="1461" y="957"/>
                  </a:cubicBezTo>
                  <a:cubicBezTo>
                    <a:pt x="1481" y="977"/>
                    <a:pt x="1486" y="982"/>
                    <a:pt x="1502" y="994"/>
                  </a:cubicBezTo>
                  <a:cubicBezTo>
                    <a:pt x="1470" y="1118"/>
                    <a:pt x="1405" y="1229"/>
                    <a:pt x="1317" y="1317"/>
                  </a:cubicBezTo>
                  <a:close/>
                  <a:moveTo>
                    <a:pt x="1093" y="1032"/>
                  </a:moveTo>
                  <a:cubicBezTo>
                    <a:pt x="1078" y="1028"/>
                    <a:pt x="1065" y="995"/>
                    <a:pt x="1061" y="972"/>
                  </a:cubicBezTo>
                  <a:cubicBezTo>
                    <a:pt x="1057" y="948"/>
                    <a:pt x="1039" y="920"/>
                    <a:pt x="1015" y="909"/>
                  </a:cubicBezTo>
                  <a:cubicBezTo>
                    <a:pt x="992" y="898"/>
                    <a:pt x="977" y="909"/>
                    <a:pt x="955" y="898"/>
                  </a:cubicBezTo>
                  <a:cubicBezTo>
                    <a:pt x="933" y="887"/>
                    <a:pt x="899" y="864"/>
                    <a:pt x="877" y="857"/>
                  </a:cubicBezTo>
                  <a:cubicBezTo>
                    <a:pt x="856" y="851"/>
                    <a:pt x="825" y="855"/>
                    <a:pt x="803" y="844"/>
                  </a:cubicBezTo>
                  <a:cubicBezTo>
                    <a:pt x="782" y="833"/>
                    <a:pt x="749" y="862"/>
                    <a:pt x="749" y="862"/>
                  </a:cubicBezTo>
                  <a:cubicBezTo>
                    <a:pt x="749" y="862"/>
                    <a:pt x="724" y="909"/>
                    <a:pt x="715" y="922"/>
                  </a:cubicBezTo>
                  <a:cubicBezTo>
                    <a:pt x="706" y="935"/>
                    <a:pt x="704" y="989"/>
                    <a:pt x="708" y="1006"/>
                  </a:cubicBezTo>
                  <a:cubicBezTo>
                    <a:pt x="713" y="1024"/>
                    <a:pt x="756" y="1065"/>
                    <a:pt x="756" y="1065"/>
                  </a:cubicBezTo>
                  <a:cubicBezTo>
                    <a:pt x="756" y="1065"/>
                    <a:pt x="775" y="1097"/>
                    <a:pt x="790" y="1097"/>
                  </a:cubicBezTo>
                  <a:cubicBezTo>
                    <a:pt x="805" y="1097"/>
                    <a:pt x="834" y="1075"/>
                    <a:pt x="858" y="1073"/>
                  </a:cubicBezTo>
                  <a:cubicBezTo>
                    <a:pt x="881" y="1071"/>
                    <a:pt x="894" y="1091"/>
                    <a:pt x="901" y="1101"/>
                  </a:cubicBezTo>
                  <a:cubicBezTo>
                    <a:pt x="907" y="1112"/>
                    <a:pt x="912" y="1162"/>
                    <a:pt x="910" y="1177"/>
                  </a:cubicBezTo>
                  <a:cubicBezTo>
                    <a:pt x="907" y="1192"/>
                    <a:pt x="912" y="1290"/>
                    <a:pt x="918" y="1298"/>
                  </a:cubicBezTo>
                  <a:cubicBezTo>
                    <a:pt x="925" y="1307"/>
                    <a:pt x="972" y="1352"/>
                    <a:pt x="989" y="1352"/>
                  </a:cubicBezTo>
                  <a:cubicBezTo>
                    <a:pt x="1007" y="1352"/>
                    <a:pt x="1026" y="1322"/>
                    <a:pt x="1041" y="1309"/>
                  </a:cubicBezTo>
                  <a:cubicBezTo>
                    <a:pt x="1057" y="1296"/>
                    <a:pt x="1076" y="1242"/>
                    <a:pt x="1076" y="1227"/>
                  </a:cubicBezTo>
                  <a:cubicBezTo>
                    <a:pt x="1076" y="1149"/>
                    <a:pt x="1076" y="1149"/>
                    <a:pt x="1076" y="1149"/>
                  </a:cubicBezTo>
                  <a:cubicBezTo>
                    <a:pt x="1076" y="1136"/>
                    <a:pt x="1095" y="1116"/>
                    <a:pt x="1111" y="1101"/>
                  </a:cubicBezTo>
                  <a:cubicBezTo>
                    <a:pt x="1126" y="1086"/>
                    <a:pt x="1141" y="1058"/>
                    <a:pt x="1136" y="1041"/>
                  </a:cubicBezTo>
                  <a:cubicBezTo>
                    <a:pt x="1132" y="1024"/>
                    <a:pt x="1108" y="1037"/>
                    <a:pt x="1093" y="1032"/>
                  </a:cubicBezTo>
                  <a:close/>
                </a:path>
              </a:pathLst>
            </a:custGeom>
            <a:solidFill>
              <a:srgbClr val="92D050"/>
            </a:solidFill>
            <a:ln>
              <a:noFill/>
            </a:ln>
            <a:extLst>
              <a:ext uri="{91240B29-F687-4F45-9708-019B960494DF}">
                <a14:hiddenLine xmlns:a14="http://schemas.microsoft.com/office/drawing/2010/main" w="9525" cmpd="sng">
                  <a:solidFill>
                    <a:srgbClr val="000000"/>
                  </a:solidFill>
                  <a:bevel/>
                  <a:headEnd/>
                  <a:tailEnd/>
                </a14:hiddenLine>
              </a:ext>
            </a:extLst>
          </p:spPr>
          <p:txBody>
            <a:bodyPr/>
            <a:lstStyle/>
            <a:p>
              <a:endParaRPr lang="zh-CN" altLang="en-US" sz="2800"/>
            </a:p>
          </p:txBody>
        </p:sp>
      </p:grpSp>
      <p:pic>
        <p:nvPicPr>
          <p:cNvPr id="127" name="Picture 131" descr="163389068"/>
          <p:cNvPicPr>
            <a:picLocks noChangeAspect="1" noChangeArrowheads="1"/>
          </p:cNvPicPr>
          <p:nvPr/>
        </p:nvPicPr>
        <p:blipFill>
          <a:blip r:embed="rId2">
            <a:extLst>
              <a:ext uri="{28A0092B-C50C-407E-A947-70E740481C1C}">
                <a14:useLocalDpi xmlns:a14="http://schemas.microsoft.com/office/drawing/2010/main" val="0"/>
              </a:ext>
            </a:extLst>
          </a:blip>
          <a:srcRect l="11877" t="12292" r="565" b="9647"/>
          <a:stretch>
            <a:fillRect/>
          </a:stretch>
        </p:blipFill>
        <p:spPr bwMode="auto">
          <a:xfrm>
            <a:off x="841375" y="4775200"/>
            <a:ext cx="2230438" cy="1741488"/>
          </a:xfrm>
          <a:prstGeom prst="rect">
            <a:avLst/>
          </a:prstGeom>
          <a:noFill/>
          <a:ln w="3810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128" name="Picture 132" descr="abd00a96-5a98-4d4f-b239-5fca002f0c14"/>
          <p:cNvPicPr>
            <a:picLocks noChangeAspect="1" noChangeArrowheads="1"/>
          </p:cNvPicPr>
          <p:nvPr/>
        </p:nvPicPr>
        <p:blipFill>
          <a:blip r:embed="rId3">
            <a:extLst>
              <a:ext uri="{28A0092B-C50C-407E-A947-70E740481C1C}">
                <a14:useLocalDpi xmlns:a14="http://schemas.microsoft.com/office/drawing/2010/main" val="0"/>
              </a:ext>
            </a:extLst>
          </a:blip>
          <a:srcRect l="6429" t="1405" r="4848" b="17287"/>
          <a:stretch>
            <a:fillRect/>
          </a:stretch>
        </p:blipFill>
        <p:spPr bwMode="auto">
          <a:xfrm>
            <a:off x="879475" y="1905000"/>
            <a:ext cx="2185988" cy="1814513"/>
          </a:xfrm>
          <a:prstGeom prst="rect">
            <a:avLst/>
          </a:prstGeom>
          <a:noFill/>
          <a:ln w="38100">
            <a:solidFill>
              <a:srgbClr val="99CC00"/>
            </a:solidFill>
            <a:miter lim="800000"/>
            <a:headEnd/>
            <a:tailEnd/>
          </a:ln>
          <a:extLst>
            <a:ext uri="{909E8E84-426E-40DD-AFC4-6F175D3DCCD1}">
              <a14:hiddenFill xmlns:a14="http://schemas.microsoft.com/office/drawing/2010/main">
                <a:solidFill>
                  <a:srgbClr val="FFFFFF"/>
                </a:solidFill>
              </a14:hiddenFill>
            </a:ext>
          </a:extLst>
        </p:spPr>
      </p:pic>
      <p:pic>
        <p:nvPicPr>
          <p:cNvPr id="129" name="Picture 133" descr="1729807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8875" y="1879600"/>
            <a:ext cx="2246313" cy="1828800"/>
          </a:xfrm>
          <a:prstGeom prst="rect">
            <a:avLst/>
          </a:prstGeom>
          <a:noFill/>
          <a:ln w="38100">
            <a:solidFill>
              <a:srgbClr val="008080"/>
            </a:solidFill>
            <a:miter lim="800000"/>
            <a:headEnd/>
            <a:tailEnd/>
          </a:ln>
          <a:extLst>
            <a:ext uri="{909E8E84-426E-40DD-AFC4-6F175D3DCCD1}">
              <a14:hiddenFill xmlns:a14="http://schemas.microsoft.com/office/drawing/2010/main">
                <a:solidFill>
                  <a:srgbClr val="FFFFFF"/>
                </a:solidFill>
              </a14:hiddenFill>
            </a:ext>
          </a:extLst>
        </p:spPr>
      </p:pic>
      <p:pic>
        <p:nvPicPr>
          <p:cNvPr id="130" name="Picture 134" descr="1RT1Y0"/>
          <p:cNvPicPr>
            <a:picLocks noChangeAspect="1" noChangeArrowheads="1"/>
          </p:cNvPicPr>
          <p:nvPr/>
        </p:nvPicPr>
        <p:blipFill>
          <a:blip r:embed="rId5">
            <a:extLst>
              <a:ext uri="{28A0092B-C50C-407E-A947-70E740481C1C}">
                <a14:useLocalDpi xmlns:a14="http://schemas.microsoft.com/office/drawing/2010/main" val="0"/>
              </a:ext>
            </a:extLst>
          </a:blip>
          <a:srcRect l="1404" t="2403" r="267" b="10368"/>
          <a:stretch>
            <a:fillRect/>
          </a:stretch>
        </p:blipFill>
        <p:spPr bwMode="auto">
          <a:xfrm>
            <a:off x="6234113" y="4730750"/>
            <a:ext cx="2249487" cy="1790700"/>
          </a:xfrm>
          <a:prstGeom prst="rect">
            <a:avLst/>
          </a:prstGeom>
          <a:noFill/>
          <a:ln w="38100">
            <a:solidFill>
              <a:srgbClr val="FF7C8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3879798"/>
      </p:ext>
    </p:extLst>
  </p:cSld>
  <p:clrMapOvr>
    <a:masterClrMapping/>
  </p:clrMapOvr>
  <p:transition spd="slow">
    <p:circl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Picture 3"/>
          <p:cNvPicPr>
            <a:picLocks noChangeAspect="1" noChangeArrowheads="1"/>
          </p:cNvPicPr>
          <p:nvPr/>
        </p:nvPicPr>
        <p:blipFill>
          <a:blip r:embed="rId3"/>
          <a:srcRect/>
          <a:stretch>
            <a:fillRect/>
          </a:stretch>
        </p:blipFill>
        <p:spPr bwMode="auto">
          <a:xfrm>
            <a:off x="3657600" y="5184552"/>
            <a:ext cx="1663700" cy="1663700"/>
          </a:xfrm>
          <a:prstGeom prst="rect">
            <a:avLst/>
          </a:prstGeom>
          <a:noFill/>
        </p:spPr>
      </p:pic>
      <p:sp>
        <p:nvSpPr>
          <p:cNvPr id="5" name="标题 1"/>
          <p:cNvSpPr>
            <a:spLocks noGrp="1"/>
          </p:cNvSpPr>
          <p:nvPr>
            <p:ph type="title"/>
          </p:nvPr>
        </p:nvSpPr>
        <p:spPr>
          <a:xfrm>
            <a:off x="0" y="77443"/>
            <a:ext cx="9144000" cy="873252"/>
          </a:xfrm>
          <a:noFill/>
          <a:ln>
            <a:noFill/>
          </a:ln>
          <a:effectLst/>
        </p:spPr>
        <p:txBody>
          <a:bodyPr vert="horz" wrap="square" lIns="91440" tIns="45720" rIns="91440" bIns="45720" numCol="1" anchor="ctr" anchorCtr="0" compatLnSpc="1">
            <a:prstTxWarp prst="textNoShape">
              <a:avLst/>
            </a:prstTxWarp>
          </a:bodyPr>
          <a:lstStyle/>
          <a:p>
            <a:pPr algn="ctr"/>
            <a:r>
              <a:rPr lang="zh-CN" altLang="en-US" b="0" kern="1200" dirty="0">
                <a:effectLst/>
                <a:latin typeface="微软雅黑" panose="020B0503020204020204" pitchFamily="34" charset="-122"/>
                <a:ea typeface="微软雅黑" panose="020B0503020204020204" pitchFamily="34" charset="-122"/>
              </a:rPr>
              <a:t>互联网金融模式</a:t>
            </a:r>
          </a:p>
        </p:txBody>
      </p:sp>
      <p:sp>
        <p:nvSpPr>
          <p:cNvPr id="40" name="Freeform 3"/>
          <p:cNvSpPr/>
          <p:nvPr/>
        </p:nvSpPr>
        <p:spPr>
          <a:xfrm>
            <a:off x="4485004" y="2756057"/>
            <a:ext cx="50800" cy="327913"/>
          </a:xfrm>
          <a:custGeom>
            <a:avLst/>
            <a:gdLst>
              <a:gd name="connsiteX0" fmla="*/ 12700 w 50800"/>
              <a:gd name="connsiteY0" fmla="*/ 315214 h 327913"/>
              <a:gd name="connsiteX1" fmla="*/ 12700 w 50800"/>
              <a:gd name="connsiteY1" fmla="*/ 12700 h 327913"/>
            </a:gdLst>
            <a:ahLst/>
            <a:cxnLst>
              <a:cxn ang="0">
                <a:pos x="connsiteX0" y="connsiteY0"/>
              </a:cxn>
              <a:cxn ang="1">
                <a:pos x="connsiteX1" y="connsiteY1"/>
              </a:cxn>
            </a:cxnLst>
            <a:rect l="l" t="t" r="r" b="b"/>
            <a:pathLst>
              <a:path w="50800" h="327913">
                <a:moveTo>
                  <a:pt x="12700" y="315214"/>
                </a:moveTo>
                <a:lnTo>
                  <a:pt x="12700" y="12700"/>
                </a:lnTo>
              </a:path>
            </a:pathLst>
          </a:custGeom>
          <a:ln w="25400">
            <a:solidFill>
              <a:srgbClr val="FEB80A">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0">
              <a:latin typeface="微软雅黑" panose="020B0503020204020204" pitchFamily="34" charset="-122"/>
              <a:ea typeface="微软雅黑" panose="020B0503020204020204" pitchFamily="34" charset="-122"/>
            </a:endParaRPr>
          </a:p>
        </p:txBody>
      </p:sp>
      <p:sp>
        <p:nvSpPr>
          <p:cNvPr id="41" name="Freeform 3"/>
          <p:cNvSpPr/>
          <p:nvPr/>
        </p:nvSpPr>
        <p:spPr>
          <a:xfrm>
            <a:off x="5648197" y="3111277"/>
            <a:ext cx="1003046" cy="424180"/>
          </a:xfrm>
          <a:custGeom>
            <a:avLst/>
            <a:gdLst>
              <a:gd name="connsiteX0" fmla="*/ 12700 w 1003046"/>
              <a:gd name="connsiteY0" fmla="*/ 411479 h 424180"/>
              <a:gd name="connsiteX1" fmla="*/ 990345 w 1003046"/>
              <a:gd name="connsiteY1" fmla="*/ 12700 h 424180"/>
            </a:gdLst>
            <a:ahLst/>
            <a:cxnLst>
              <a:cxn ang="0">
                <a:pos x="connsiteX0" y="connsiteY0"/>
              </a:cxn>
              <a:cxn ang="1">
                <a:pos x="connsiteX1" y="connsiteY1"/>
              </a:cxn>
            </a:cxnLst>
            <a:rect l="l" t="t" r="r" b="b"/>
            <a:pathLst>
              <a:path w="1003046" h="424180">
                <a:moveTo>
                  <a:pt x="12700" y="411479"/>
                </a:moveTo>
                <a:lnTo>
                  <a:pt x="990345" y="12700"/>
                </a:lnTo>
              </a:path>
            </a:pathLst>
          </a:custGeom>
          <a:ln w="25400">
            <a:solidFill>
              <a:srgbClr val="FEB80A">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0">
              <a:latin typeface="微软雅黑" panose="020B0503020204020204" pitchFamily="34" charset="-122"/>
              <a:ea typeface="微软雅黑" panose="020B0503020204020204" pitchFamily="34" charset="-122"/>
            </a:endParaRPr>
          </a:p>
        </p:txBody>
      </p:sp>
      <p:sp>
        <p:nvSpPr>
          <p:cNvPr id="42" name="Freeform 3"/>
          <p:cNvSpPr/>
          <p:nvPr/>
        </p:nvSpPr>
        <p:spPr>
          <a:xfrm>
            <a:off x="5479034" y="4613305"/>
            <a:ext cx="794258" cy="511809"/>
          </a:xfrm>
          <a:custGeom>
            <a:avLst/>
            <a:gdLst>
              <a:gd name="connsiteX0" fmla="*/ 12700 w 794258"/>
              <a:gd name="connsiteY0" fmla="*/ 12700 h 511809"/>
              <a:gd name="connsiteX1" fmla="*/ 781557 w 794258"/>
              <a:gd name="connsiteY1" fmla="*/ 499110 h 511809"/>
            </a:gdLst>
            <a:ahLst/>
            <a:cxnLst>
              <a:cxn ang="0">
                <a:pos x="connsiteX0" y="connsiteY0"/>
              </a:cxn>
              <a:cxn ang="1">
                <a:pos x="connsiteX1" y="connsiteY1"/>
              </a:cxn>
            </a:cxnLst>
            <a:rect l="l" t="t" r="r" b="b"/>
            <a:pathLst>
              <a:path w="794258" h="511809">
                <a:moveTo>
                  <a:pt x="12700" y="12700"/>
                </a:moveTo>
                <a:lnTo>
                  <a:pt x="781557" y="499110"/>
                </a:lnTo>
              </a:path>
            </a:pathLst>
          </a:custGeom>
          <a:ln w="25400">
            <a:solidFill>
              <a:srgbClr val="FEB80A">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0">
              <a:latin typeface="微软雅黑" panose="020B0503020204020204" pitchFamily="34" charset="-122"/>
              <a:ea typeface="微软雅黑" panose="020B0503020204020204" pitchFamily="34" charset="-122"/>
            </a:endParaRPr>
          </a:p>
        </p:txBody>
      </p:sp>
      <p:sp>
        <p:nvSpPr>
          <p:cNvPr id="43" name="Freeform 3"/>
          <p:cNvSpPr/>
          <p:nvPr/>
        </p:nvSpPr>
        <p:spPr>
          <a:xfrm>
            <a:off x="4485004" y="4910231"/>
            <a:ext cx="50800" cy="327913"/>
          </a:xfrm>
          <a:custGeom>
            <a:avLst/>
            <a:gdLst>
              <a:gd name="connsiteX0" fmla="*/ 12700 w 50800"/>
              <a:gd name="connsiteY0" fmla="*/ 12700 h 327913"/>
              <a:gd name="connsiteX1" fmla="*/ 12700 w 50800"/>
              <a:gd name="connsiteY1" fmla="*/ 315214 h 327913"/>
            </a:gdLst>
            <a:ahLst/>
            <a:cxnLst>
              <a:cxn ang="0">
                <a:pos x="connsiteX0" y="connsiteY0"/>
              </a:cxn>
              <a:cxn ang="1">
                <a:pos x="connsiteX1" y="connsiteY1"/>
              </a:cxn>
            </a:cxnLst>
            <a:rect l="l" t="t" r="r" b="b"/>
            <a:pathLst>
              <a:path w="50800" h="327913">
                <a:moveTo>
                  <a:pt x="12700" y="12700"/>
                </a:moveTo>
                <a:lnTo>
                  <a:pt x="12700" y="315214"/>
                </a:lnTo>
              </a:path>
            </a:pathLst>
          </a:custGeom>
          <a:ln w="25400">
            <a:solidFill>
              <a:srgbClr val="FEB80A">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0">
              <a:latin typeface="微软雅黑" panose="020B0503020204020204" pitchFamily="34" charset="-122"/>
              <a:ea typeface="微软雅黑" panose="020B0503020204020204" pitchFamily="34" charset="-122"/>
            </a:endParaRPr>
          </a:p>
        </p:txBody>
      </p:sp>
      <p:sp>
        <p:nvSpPr>
          <p:cNvPr id="44" name="Freeform 3"/>
          <p:cNvSpPr/>
          <p:nvPr/>
        </p:nvSpPr>
        <p:spPr>
          <a:xfrm>
            <a:off x="2451607" y="4524405"/>
            <a:ext cx="958469" cy="483234"/>
          </a:xfrm>
          <a:custGeom>
            <a:avLst/>
            <a:gdLst>
              <a:gd name="connsiteX0" fmla="*/ 945769 w 958469"/>
              <a:gd name="connsiteY0" fmla="*/ 12700 h 483234"/>
              <a:gd name="connsiteX1" fmla="*/ 12700 w 958469"/>
              <a:gd name="connsiteY1" fmla="*/ 470535 h 483234"/>
            </a:gdLst>
            <a:ahLst/>
            <a:cxnLst>
              <a:cxn ang="0">
                <a:pos x="connsiteX0" y="connsiteY0"/>
              </a:cxn>
              <a:cxn ang="1">
                <a:pos x="connsiteX1" y="connsiteY1"/>
              </a:cxn>
            </a:cxnLst>
            <a:rect l="l" t="t" r="r" b="b"/>
            <a:pathLst>
              <a:path w="958469" h="483234">
                <a:moveTo>
                  <a:pt x="945769" y="12700"/>
                </a:moveTo>
                <a:lnTo>
                  <a:pt x="12700" y="470535"/>
                </a:lnTo>
              </a:path>
            </a:pathLst>
          </a:custGeom>
          <a:ln w="25400">
            <a:solidFill>
              <a:srgbClr val="FEB80A">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0">
              <a:latin typeface="微软雅黑" panose="020B0503020204020204" pitchFamily="34" charset="-122"/>
              <a:ea typeface="微软雅黑" panose="020B0503020204020204" pitchFamily="34" charset="-122"/>
            </a:endParaRPr>
          </a:p>
        </p:txBody>
      </p:sp>
      <p:sp>
        <p:nvSpPr>
          <p:cNvPr id="45" name="Freeform 3"/>
          <p:cNvSpPr/>
          <p:nvPr/>
        </p:nvSpPr>
        <p:spPr>
          <a:xfrm>
            <a:off x="2457195" y="3145694"/>
            <a:ext cx="894333" cy="384809"/>
          </a:xfrm>
          <a:custGeom>
            <a:avLst/>
            <a:gdLst>
              <a:gd name="connsiteX0" fmla="*/ 881633 w 894333"/>
              <a:gd name="connsiteY0" fmla="*/ 372110 h 384809"/>
              <a:gd name="connsiteX1" fmla="*/ 12700 w 894333"/>
              <a:gd name="connsiteY1" fmla="*/ 12700 h 384809"/>
            </a:gdLst>
            <a:ahLst/>
            <a:cxnLst>
              <a:cxn ang="0">
                <a:pos x="connsiteX0" y="connsiteY0"/>
              </a:cxn>
              <a:cxn ang="1">
                <a:pos x="connsiteX1" y="connsiteY1"/>
              </a:cxn>
            </a:cxnLst>
            <a:rect l="l" t="t" r="r" b="b"/>
            <a:pathLst>
              <a:path w="894333" h="384809">
                <a:moveTo>
                  <a:pt x="881633" y="372110"/>
                </a:moveTo>
                <a:lnTo>
                  <a:pt x="12700" y="12700"/>
                </a:lnTo>
              </a:path>
            </a:pathLst>
          </a:custGeom>
          <a:ln w="25400">
            <a:solidFill>
              <a:srgbClr val="FEB80A">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0">
              <a:latin typeface="微软雅黑" panose="020B0503020204020204" pitchFamily="34" charset="-122"/>
              <a:ea typeface="微软雅黑" panose="020B0503020204020204" pitchFamily="34" charset="-122"/>
            </a:endParaRPr>
          </a:p>
        </p:txBody>
      </p:sp>
      <p:pic>
        <p:nvPicPr>
          <p:cNvPr id="46" name="Picture 3"/>
          <p:cNvPicPr>
            <a:picLocks noChangeAspect="1" noChangeArrowheads="1"/>
          </p:cNvPicPr>
          <p:nvPr/>
        </p:nvPicPr>
        <p:blipFill>
          <a:blip r:embed="rId4"/>
          <a:srcRect/>
          <a:stretch>
            <a:fillRect/>
          </a:stretch>
        </p:blipFill>
        <p:spPr bwMode="auto">
          <a:xfrm>
            <a:off x="927100" y="2060352"/>
            <a:ext cx="1663700" cy="1651000"/>
          </a:xfrm>
          <a:prstGeom prst="rect">
            <a:avLst/>
          </a:prstGeom>
          <a:noFill/>
        </p:spPr>
      </p:pic>
      <p:pic>
        <p:nvPicPr>
          <p:cNvPr id="47" name="Picture 3"/>
          <p:cNvPicPr>
            <a:picLocks noChangeAspect="1" noChangeArrowheads="1"/>
          </p:cNvPicPr>
          <p:nvPr/>
        </p:nvPicPr>
        <p:blipFill>
          <a:blip r:embed="rId5"/>
          <a:srcRect/>
          <a:stretch>
            <a:fillRect/>
          </a:stretch>
        </p:blipFill>
        <p:spPr bwMode="auto">
          <a:xfrm>
            <a:off x="939800" y="4524152"/>
            <a:ext cx="1663700" cy="1663700"/>
          </a:xfrm>
          <a:prstGeom prst="rect">
            <a:avLst/>
          </a:prstGeom>
          <a:noFill/>
        </p:spPr>
      </p:pic>
      <p:pic>
        <p:nvPicPr>
          <p:cNvPr id="48" name="Picture 3"/>
          <p:cNvPicPr>
            <a:picLocks noChangeAspect="1" noChangeArrowheads="1"/>
          </p:cNvPicPr>
          <p:nvPr/>
        </p:nvPicPr>
        <p:blipFill>
          <a:blip r:embed="rId6"/>
          <a:srcRect/>
          <a:stretch>
            <a:fillRect/>
          </a:stretch>
        </p:blipFill>
        <p:spPr bwMode="auto">
          <a:xfrm>
            <a:off x="3378200" y="1196752"/>
            <a:ext cx="1943100" cy="1663700"/>
          </a:xfrm>
          <a:prstGeom prst="rect">
            <a:avLst/>
          </a:prstGeom>
          <a:noFill/>
        </p:spPr>
      </p:pic>
      <p:pic>
        <p:nvPicPr>
          <p:cNvPr id="49" name="Picture 3"/>
          <p:cNvPicPr>
            <a:picLocks noChangeAspect="1" noChangeArrowheads="1"/>
          </p:cNvPicPr>
          <p:nvPr/>
        </p:nvPicPr>
        <p:blipFill>
          <a:blip r:embed="rId7"/>
          <a:srcRect/>
          <a:stretch>
            <a:fillRect/>
          </a:stretch>
        </p:blipFill>
        <p:spPr bwMode="auto">
          <a:xfrm>
            <a:off x="3031363" y="3041029"/>
            <a:ext cx="2844800" cy="1981200"/>
          </a:xfrm>
          <a:prstGeom prst="rect">
            <a:avLst/>
          </a:prstGeom>
          <a:noFill/>
        </p:spPr>
      </p:pic>
      <p:pic>
        <p:nvPicPr>
          <p:cNvPr id="50" name="Picture 3"/>
          <p:cNvPicPr>
            <a:picLocks noChangeAspect="1" noChangeArrowheads="1"/>
          </p:cNvPicPr>
          <p:nvPr/>
        </p:nvPicPr>
        <p:blipFill>
          <a:blip r:embed="rId8"/>
          <a:srcRect/>
          <a:stretch>
            <a:fillRect/>
          </a:stretch>
        </p:blipFill>
        <p:spPr bwMode="auto">
          <a:xfrm>
            <a:off x="6515100" y="1907952"/>
            <a:ext cx="1663700" cy="1778000"/>
          </a:xfrm>
          <a:prstGeom prst="rect">
            <a:avLst/>
          </a:prstGeom>
          <a:noFill/>
        </p:spPr>
      </p:pic>
      <p:pic>
        <p:nvPicPr>
          <p:cNvPr id="51" name="Picture 3"/>
          <p:cNvPicPr>
            <a:picLocks noChangeAspect="1" noChangeArrowheads="1"/>
          </p:cNvPicPr>
          <p:nvPr/>
        </p:nvPicPr>
        <p:blipFill>
          <a:blip r:embed="rId9"/>
          <a:srcRect/>
          <a:stretch>
            <a:fillRect/>
          </a:stretch>
        </p:blipFill>
        <p:spPr bwMode="auto">
          <a:xfrm>
            <a:off x="6045200" y="4625752"/>
            <a:ext cx="1790700" cy="1765300"/>
          </a:xfrm>
          <a:prstGeom prst="rect">
            <a:avLst/>
          </a:prstGeom>
          <a:noFill/>
        </p:spPr>
      </p:pic>
      <p:sp>
        <p:nvSpPr>
          <p:cNvPr id="52" name="TextBox 1"/>
          <p:cNvSpPr txBox="1"/>
          <p:nvPr/>
        </p:nvSpPr>
        <p:spPr>
          <a:xfrm>
            <a:off x="6489699" y="2149252"/>
            <a:ext cx="2247901" cy="4124206"/>
          </a:xfrm>
          <a:prstGeom prst="rect">
            <a:avLst/>
          </a:prstGeom>
          <a:noFill/>
        </p:spPr>
        <p:txBody>
          <a:bodyPr wrap="square" lIns="0" tIns="0" rIns="0" rtlCol="0">
            <a:spAutoFit/>
          </a:bodyPr>
          <a:lstStyle/>
          <a:p>
            <a:pPr>
              <a:lnSpc>
                <a:spcPts val="3100"/>
              </a:lnSpc>
              <a:tabLst>
                <a:tab pos="304800" algn="l"/>
                <a:tab pos="393700" algn="l"/>
                <a:tab pos="698500" algn="l"/>
              </a:tabLst>
            </a:pPr>
            <a:r>
              <a:rPr lang="en-US" altLang="zh-CN" b="0" dirty="0">
                <a:latin typeface="微软雅黑" panose="020B0503020204020204" pitchFamily="34" charset="-122"/>
                <a:ea typeface="微软雅黑" panose="020B0503020204020204" pitchFamily="34" charset="-122"/>
              </a:rPr>
              <a:t>		</a:t>
            </a:r>
            <a:r>
              <a:rPr lang="zh-CN" altLang="en-US" sz="2400" b="0" dirty="0" err="1">
                <a:solidFill>
                  <a:srgbClr val="000000"/>
                </a:solidFill>
                <a:latin typeface="微软雅黑" panose="020B0503020204020204" pitchFamily="34" charset="-122"/>
                <a:ea typeface="微软雅黑" panose="020B0503020204020204" pitchFamily="34" charset="-122"/>
              </a:rPr>
              <a:t>互</a:t>
            </a:r>
            <a:r>
              <a:rPr lang="en-US" altLang="zh-CN" sz="2400" b="0" dirty="0" err="1">
                <a:solidFill>
                  <a:srgbClr val="000000"/>
                </a:solidFill>
                <a:latin typeface="微软雅黑" panose="020B0503020204020204" pitchFamily="34" charset="-122"/>
                <a:ea typeface="微软雅黑" panose="020B0503020204020204" pitchFamily="34" charset="-122"/>
                <a:cs typeface="微软雅黑" pitchFamily="18" charset="0"/>
              </a:rPr>
              <a:t>联网</a:t>
            </a:r>
            <a:endPar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endParaRPr>
          </a:p>
          <a:p>
            <a:pPr>
              <a:lnSpc>
                <a:spcPts val="3700"/>
              </a:lnSpc>
              <a:tabLst>
                <a:tab pos="304800" algn="l"/>
                <a:tab pos="393700" algn="l"/>
                <a:tab pos="698500" algn="l"/>
              </a:tabLst>
            </a:pPr>
            <a:r>
              <a:rPr lang="en-US" altLang="zh-CN" b="0" dirty="0">
                <a:latin typeface="微软雅黑" panose="020B0503020204020204" pitchFamily="34" charset="-122"/>
                <a:ea typeface="微软雅黑" panose="020B0503020204020204" pitchFamily="34" charset="-122"/>
              </a:rPr>
              <a:t>		</a:t>
            </a:r>
            <a:r>
              <a:rPr lang="en-US" altLang="zh-CN" sz="2400" b="0" dirty="0" err="1">
                <a:solidFill>
                  <a:srgbClr val="000000"/>
                </a:solidFill>
                <a:latin typeface="微软雅黑" panose="020B0503020204020204" pitchFamily="34" charset="-122"/>
                <a:ea typeface="微软雅黑" panose="020B0503020204020204" pitchFamily="34" charset="-122"/>
                <a:cs typeface="微软雅黑" pitchFamily="18" charset="0"/>
              </a:rPr>
              <a:t>金融门</a:t>
            </a:r>
            <a:endPar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endParaRPr>
          </a:p>
          <a:p>
            <a:pPr>
              <a:lnSpc>
                <a:spcPts val="3700"/>
              </a:lnSpc>
              <a:tabLst>
                <a:tab pos="304800" algn="l"/>
                <a:tab pos="393700" algn="l"/>
                <a:tab pos="698500" algn="l"/>
              </a:tabLst>
            </a:pPr>
            <a:r>
              <a:rPr lang="en-US" altLang="zh-CN" b="0" dirty="0">
                <a:latin typeface="微软雅黑" panose="020B0503020204020204" pitchFamily="34" charset="-122"/>
                <a:ea typeface="微软雅黑" panose="020B0503020204020204" pitchFamily="34" charset="-122"/>
              </a:rPr>
              <a:t>			</a:t>
            </a:r>
            <a:r>
              <a:rPr lang="en-US" altLang="zh-CN" sz="2402" b="0" dirty="0">
                <a:solidFill>
                  <a:srgbClr val="000000"/>
                </a:solidFill>
                <a:latin typeface="微软雅黑" panose="020B0503020204020204" pitchFamily="34" charset="-122"/>
                <a:ea typeface="微软雅黑" panose="020B0503020204020204" pitchFamily="34" charset="-122"/>
                <a:cs typeface="微软雅黑" pitchFamily="18" charset="0"/>
              </a:rPr>
              <a:t>户</a:t>
            </a: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3900"/>
              </a:lnSpc>
              <a:tabLst>
                <a:tab pos="304800" algn="l"/>
                <a:tab pos="393700" algn="l"/>
                <a:tab pos="698500" algn="l"/>
              </a:tabLst>
            </a:pPr>
            <a:r>
              <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rPr>
              <a:t>信息化</a:t>
            </a:r>
          </a:p>
          <a:p>
            <a:pPr>
              <a:lnSpc>
                <a:spcPts val="3700"/>
              </a:lnSpc>
              <a:tabLst>
                <a:tab pos="304800" algn="l"/>
                <a:tab pos="393700" algn="l"/>
                <a:tab pos="698500" algn="l"/>
              </a:tabLst>
            </a:pPr>
            <a:r>
              <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rPr>
              <a:t>金融机</a:t>
            </a:r>
          </a:p>
          <a:p>
            <a:pPr>
              <a:lnSpc>
                <a:spcPts val="3700"/>
              </a:lnSpc>
              <a:tabLst>
                <a:tab pos="304800" algn="l"/>
                <a:tab pos="393700" algn="l"/>
                <a:tab pos="698500" algn="l"/>
              </a:tabLst>
            </a:pPr>
            <a:r>
              <a:rPr lang="en-US" altLang="zh-CN" b="0" dirty="0">
                <a:latin typeface="微软雅黑" panose="020B0503020204020204" pitchFamily="34" charset="-122"/>
                <a:ea typeface="微软雅黑" panose="020B0503020204020204" pitchFamily="34" charset="-122"/>
              </a:rPr>
              <a:t>	</a:t>
            </a:r>
            <a:r>
              <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rPr>
              <a:t>构</a:t>
            </a:r>
          </a:p>
        </p:txBody>
      </p:sp>
      <p:sp>
        <p:nvSpPr>
          <p:cNvPr id="53" name="TextBox 1"/>
          <p:cNvSpPr txBox="1"/>
          <p:nvPr/>
        </p:nvSpPr>
        <p:spPr>
          <a:xfrm>
            <a:off x="3552208" y="1655664"/>
            <a:ext cx="2029725" cy="4855175"/>
          </a:xfrm>
          <a:prstGeom prst="rect">
            <a:avLst/>
          </a:prstGeom>
          <a:noFill/>
        </p:spPr>
        <p:txBody>
          <a:bodyPr wrap="square" lIns="0" tIns="0" rIns="0" rtlCol="0">
            <a:spAutoFit/>
          </a:bodyPr>
          <a:lstStyle/>
          <a:p>
            <a:pPr>
              <a:lnSpc>
                <a:spcPts val="3100"/>
              </a:lnSpc>
              <a:tabLst>
                <a:tab pos="177800" algn="l"/>
                <a:tab pos="431800" algn="l"/>
                <a:tab pos="584200" algn="l"/>
              </a:tabLst>
            </a:pPr>
            <a:r>
              <a:rPr lang="en-US" altLang="zh-CN" b="0" dirty="0">
                <a:latin typeface="微软雅黑" panose="020B0503020204020204" pitchFamily="34" charset="-122"/>
                <a:ea typeface="微软雅黑" panose="020B0503020204020204" pitchFamily="34" charset="-122"/>
              </a:rPr>
              <a:t>		</a:t>
            </a:r>
            <a:r>
              <a:rPr lang="zh-CN" altLang="en-US" sz="2400" b="0" dirty="0">
                <a:solidFill>
                  <a:srgbClr val="000000"/>
                </a:solidFill>
                <a:latin typeface="微软雅黑" panose="020B0503020204020204" pitchFamily="34" charset="-122"/>
                <a:ea typeface="微软雅黑" panose="020B0503020204020204" pitchFamily="34" charset="-122"/>
                <a:cs typeface="微软雅黑" pitchFamily="18" charset="0"/>
              </a:rPr>
              <a:t>大数据</a:t>
            </a:r>
            <a:endPar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endParaRPr>
          </a:p>
          <a:p>
            <a:pPr>
              <a:lnSpc>
                <a:spcPts val="3100"/>
              </a:lnSpc>
              <a:tabLst>
                <a:tab pos="177800" algn="l"/>
                <a:tab pos="431800" algn="l"/>
                <a:tab pos="584200" algn="l"/>
              </a:tabLst>
            </a:pPr>
            <a:r>
              <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rPr>
              <a:t>       金融</a:t>
            </a: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3900"/>
              </a:lnSpc>
              <a:tabLst>
                <a:tab pos="177800" algn="l"/>
                <a:tab pos="431800" algn="l"/>
                <a:tab pos="584200" algn="l"/>
              </a:tabLst>
            </a:pPr>
            <a:r>
              <a:rPr lang="zh-CN" altLang="en-US" sz="2800" b="0" dirty="0" err="1">
                <a:solidFill>
                  <a:srgbClr val="FF0000"/>
                </a:solidFill>
                <a:latin typeface="微软雅黑" panose="020B0503020204020204" pitchFamily="34" charset="-122"/>
                <a:ea typeface="微软雅黑" panose="020B0503020204020204" pitchFamily="34" charset="-122"/>
                <a:cs typeface="微软雅黑" pitchFamily="18" charset="0"/>
              </a:rPr>
              <a:t>互</a:t>
            </a:r>
            <a:r>
              <a:rPr lang="en-US" altLang="zh-CN" sz="2800" b="0" dirty="0" err="1">
                <a:solidFill>
                  <a:srgbClr val="FF0000"/>
                </a:solidFill>
                <a:latin typeface="微软雅黑" panose="020B0503020204020204" pitchFamily="34" charset="-122"/>
                <a:ea typeface="微软雅黑" panose="020B0503020204020204" pitchFamily="34" charset="-122"/>
                <a:cs typeface="微软雅黑" pitchFamily="18" charset="0"/>
              </a:rPr>
              <a:t>联网金融</a:t>
            </a:r>
            <a:endParaRPr lang="en-US" altLang="zh-CN" sz="2800" b="0" dirty="0">
              <a:solidFill>
                <a:srgbClr val="FF0000"/>
              </a:solidFill>
              <a:latin typeface="微软雅黑" panose="020B0503020204020204" pitchFamily="34" charset="-122"/>
              <a:ea typeface="微软雅黑" panose="020B0503020204020204" pitchFamily="34" charset="-122"/>
              <a:cs typeface="微软雅黑" pitchFamily="18" charset="0"/>
            </a:endParaRPr>
          </a:p>
          <a:p>
            <a:pPr>
              <a:lnSpc>
                <a:spcPts val="4300"/>
              </a:lnSpc>
              <a:tabLst>
                <a:tab pos="177800" algn="l"/>
                <a:tab pos="431800" algn="l"/>
                <a:tab pos="584200" algn="l"/>
              </a:tabLst>
            </a:pPr>
            <a:r>
              <a:rPr lang="en-US" altLang="zh-CN" sz="2400" b="0" dirty="0">
                <a:solidFill>
                  <a:srgbClr val="FF0000"/>
                </a:solidFill>
                <a:latin typeface="微软雅黑" panose="020B0503020204020204" pitchFamily="34" charset="-122"/>
                <a:ea typeface="微软雅黑" panose="020B0503020204020204" pitchFamily="34" charset="-122"/>
              </a:rPr>
              <a:t>	</a:t>
            </a:r>
            <a:r>
              <a:rPr lang="en-US" altLang="zh-CN" sz="2800" b="0" dirty="0">
                <a:solidFill>
                  <a:srgbClr val="FF0000"/>
                </a:solidFill>
                <a:latin typeface="微软雅黑" panose="020B0503020204020204" pitchFamily="34" charset="-122"/>
                <a:ea typeface="微软雅黑" panose="020B0503020204020204" pitchFamily="34" charset="-122"/>
                <a:cs typeface="微软雅黑" pitchFamily="18" charset="0"/>
              </a:rPr>
              <a:t>六大模式</a:t>
            </a: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3400"/>
              </a:lnSpc>
              <a:tabLst>
                <a:tab pos="177800" algn="l"/>
                <a:tab pos="431800" algn="l"/>
                <a:tab pos="584200" algn="l"/>
              </a:tabLst>
            </a:pPr>
            <a:r>
              <a:rPr lang="en-US" altLang="zh-CN" b="0" dirty="0">
                <a:latin typeface="微软雅黑" panose="020B0503020204020204" pitchFamily="34" charset="-122"/>
                <a:ea typeface="微软雅黑" panose="020B0503020204020204" pitchFamily="34" charset="-122"/>
              </a:rPr>
              <a:t>		</a:t>
            </a:r>
            <a:r>
              <a:rPr lang="en-US" altLang="zh-CN" sz="2402" b="0" dirty="0">
                <a:solidFill>
                  <a:srgbClr val="000000"/>
                </a:solidFill>
                <a:latin typeface="微软雅黑" panose="020B0503020204020204" pitchFamily="34" charset="-122"/>
                <a:ea typeface="微软雅黑" panose="020B0503020204020204" pitchFamily="34" charset="-122"/>
                <a:cs typeface="微软雅黑" pitchFamily="18" charset="0"/>
              </a:rPr>
              <a:t>第三方</a:t>
            </a:r>
          </a:p>
          <a:p>
            <a:pPr>
              <a:lnSpc>
                <a:spcPts val="3700"/>
              </a:lnSpc>
              <a:tabLst>
                <a:tab pos="177800" algn="l"/>
                <a:tab pos="431800" algn="l"/>
                <a:tab pos="584200" algn="l"/>
              </a:tabLst>
            </a:pPr>
            <a:r>
              <a:rPr lang="en-US" altLang="zh-CN" b="0" dirty="0">
                <a:latin typeface="微软雅黑" panose="020B0503020204020204" pitchFamily="34" charset="-122"/>
                <a:ea typeface="微软雅黑" panose="020B0503020204020204" pitchFamily="34" charset="-122"/>
              </a:rPr>
              <a:t>			</a:t>
            </a:r>
            <a:r>
              <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rPr>
              <a:t>支付</a:t>
            </a:r>
          </a:p>
        </p:txBody>
      </p:sp>
      <p:sp>
        <p:nvSpPr>
          <p:cNvPr id="54" name="TextBox 1"/>
          <p:cNvSpPr txBox="1"/>
          <p:nvPr/>
        </p:nvSpPr>
        <p:spPr>
          <a:xfrm>
            <a:off x="1447800" y="2314352"/>
            <a:ext cx="615553" cy="3572773"/>
          </a:xfrm>
          <a:prstGeom prst="rect">
            <a:avLst/>
          </a:prstGeom>
          <a:noFill/>
        </p:spPr>
        <p:txBody>
          <a:bodyPr wrap="none" lIns="0" tIns="0" rIns="0" rtlCol="0">
            <a:spAutoFit/>
          </a:bodyPr>
          <a:lstStyle/>
          <a:p>
            <a:pPr>
              <a:lnSpc>
                <a:spcPts val="3100"/>
              </a:lnSpc>
              <a:tabLst/>
            </a:pPr>
            <a:r>
              <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rPr>
              <a:t>P2P</a:t>
            </a: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3100"/>
              </a:lnSpc>
              <a:tabLst/>
            </a:pPr>
            <a:r>
              <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rPr>
              <a:t>模式</a:t>
            </a: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3200"/>
              </a:lnSpc>
              <a:tabLst/>
            </a:pPr>
            <a:r>
              <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rPr>
              <a:t>众筹</a:t>
            </a: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1000"/>
              </a:lnSpc>
            </a:pPr>
            <a:endParaRPr lang="en-US" altLang="zh-CN" b="0" dirty="0">
              <a:latin typeface="微软雅黑" panose="020B0503020204020204" pitchFamily="34" charset="-122"/>
              <a:ea typeface="微软雅黑" panose="020B0503020204020204" pitchFamily="34" charset="-122"/>
            </a:endParaRPr>
          </a:p>
          <a:p>
            <a:pPr>
              <a:lnSpc>
                <a:spcPts val="3100"/>
              </a:lnSpc>
              <a:tabLst/>
            </a:pPr>
            <a:r>
              <a:rPr lang="en-US" altLang="zh-CN" sz="2400" b="0" dirty="0">
                <a:solidFill>
                  <a:srgbClr val="000000"/>
                </a:solidFill>
                <a:latin typeface="微软雅黑" panose="020B0503020204020204" pitchFamily="34" charset="-122"/>
                <a:ea typeface="微软雅黑" panose="020B0503020204020204" pitchFamily="34" charset="-122"/>
                <a:cs typeface="微软雅黑" pitchFamily="18" charset="0"/>
              </a:rPr>
              <a:t>模式</a:t>
            </a:r>
          </a:p>
        </p:txBody>
      </p:sp>
      <p:pic>
        <p:nvPicPr>
          <p:cNvPr id="6" name="图片 5">
            <a:extLst>
              <a:ext uri="{FF2B5EF4-FFF2-40B4-BE49-F238E27FC236}">
                <a16:creationId xmlns:a16="http://schemas.microsoft.com/office/drawing/2014/main" id="{1955693D-3F09-4FDE-A56C-DF6D5CBCF8DC}"/>
              </a:ext>
            </a:extLst>
          </p:cNvPr>
          <p:cNvPicPr>
            <a:picLocks noChangeAspect="1"/>
          </p:cNvPicPr>
          <p:nvPr/>
        </p:nvPicPr>
        <p:blipFill rotWithShape="1">
          <a:blip r:embed="rId10"/>
          <a:srcRect l="11809" r="7868"/>
          <a:stretch/>
        </p:blipFill>
        <p:spPr>
          <a:xfrm>
            <a:off x="416818" y="1130092"/>
            <a:ext cx="7865864" cy="5803074"/>
          </a:xfrm>
          <a:prstGeom prst="rect">
            <a:avLst/>
          </a:prstGeom>
        </p:spPr>
      </p:pic>
      <p:sp>
        <p:nvSpPr>
          <p:cNvPr id="24" name="文本框 23">
            <a:extLst>
              <a:ext uri="{FF2B5EF4-FFF2-40B4-BE49-F238E27FC236}">
                <a16:creationId xmlns:a16="http://schemas.microsoft.com/office/drawing/2014/main" id="{C59268A4-AF7D-4DCB-BEFB-A4C94CF3B7C3}"/>
              </a:ext>
            </a:extLst>
          </p:cNvPr>
          <p:cNvSpPr txBox="1"/>
          <p:nvPr/>
        </p:nvSpPr>
        <p:spPr>
          <a:xfrm>
            <a:off x="6794094" y="1191995"/>
            <a:ext cx="2029725" cy="2221762"/>
          </a:xfrm>
          <a:prstGeom prst="rect">
            <a:avLst/>
          </a:prstGeom>
          <a:noFill/>
        </p:spPr>
        <p:txBody>
          <a:bodyPr wrap="square">
            <a:spAutoFit/>
          </a:bodyPr>
          <a:lstStyle/>
          <a:p>
            <a:pPr>
              <a:lnSpc>
                <a:spcPct val="150000"/>
              </a:lnSpc>
            </a:pPr>
            <a:r>
              <a:rPr lang="zh-CN" altLang="en-US" sz="2400" b="0" dirty="0"/>
              <a:t>核心要素：</a:t>
            </a:r>
            <a:endParaRPr lang="en-US" altLang="zh-CN" sz="2400" b="0" dirty="0"/>
          </a:p>
          <a:p>
            <a:pPr marL="342900" indent="-342900">
              <a:lnSpc>
                <a:spcPct val="150000"/>
              </a:lnSpc>
              <a:buFont typeface="Arial" panose="020B0604020202020204" pitchFamily="34" charset="0"/>
              <a:buChar char="•"/>
            </a:pPr>
            <a:r>
              <a:rPr lang="zh-CN" altLang="en-US" sz="2400" b="0" dirty="0">
                <a:solidFill>
                  <a:srgbClr val="FF0000"/>
                </a:solidFill>
                <a:latin typeface="幼圆" panose="02010509060101010101" pitchFamily="49" charset="-122"/>
                <a:ea typeface="幼圆" panose="02010509060101010101" pitchFamily="49" charset="-122"/>
              </a:rPr>
              <a:t>支付方式</a:t>
            </a:r>
            <a:endParaRPr lang="en-US" altLang="zh-CN" sz="2400" b="0" dirty="0">
              <a:solidFill>
                <a:srgbClr val="FF0000"/>
              </a:solidFill>
              <a:latin typeface="幼圆" panose="02010509060101010101" pitchFamily="49" charset="-122"/>
              <a:ea typeface="幼圆" panose="02010509060101010101" pitchFamily="49" charset="-122"/>
            </a:endParaRPr>
          </a:p>
          <a:p>
            <a:pPr marL="342900" indent="-342900">
              <a:lnSpc>
                <a:spcPct val="150000"/>
              </a:lnSpc>
              <a:buFont typeface="Arial" panose="020B0604020202020204" pitchFamily="34" charset="0"/>
              <a:buChar char="•"/>
            </a:pPr>
            <a:r>
              <a:rPr lang="zh-CN" altLang="en-US" sz="2400" b="0" dirty="0">
                <a:solidFill>
                  <a:srgbClr val="FF0000"/>
                </a:solidFill>
                <a:latin typeface="幼圆" panose="02010509060101010101" pitchFamily="49" charset="-122"/>
                <a:ea typeface="幼圆" panose="02010509060101010101" pitchFamily="49" charset="-122"/>
              </a:rPr>
              <a:t>信息处理</a:t>
            </a:r>
            <a:endParaRPr lang="en-US" altLang="zh-CN" sz="2400" b="0" dirty="0">
              <a:solidFill>
                <a:srgbClr val="FF0000"/>
              </a:solidFill>
              <a:latin typeface="幼圆" panose="02010509060101010101" pitchFamily="49" charset="-122"/>
              <a:ea typeface="幼圆" panose="02010509060101010101" pitchFamily="49" charset="-122"/>
            </a:endParaRPr>
          </a:p>
          <a:p>
            <a:pPr marL="342900" indent="-342900">
              <a:lnSpc>
                <a:spcPct val="150000"/>
              </a:lnSpc>
              <a:buFont typeface="Arial" panose="020B0604020202020204" pitchFamily="34" charset="0"/>
              <a:buChar char="•"/>
            </a:pPr>
            <a:r>
              <a:rPr lang="zh-CN" altLang="en-US" sz="2400" b="0" dirty="0">
                <a:solidFill>
                  <a:srgbClr val="FF0000"/>
                </a:solidFill>
                <a:latin typeface="幼圆" panose="02010509060101010101" pitchFamily="49" charset="-122"/>
                <a:ea typeface="幼圆" panose="02010509060101010101" pitchFamily="49" charset="-122"/>
              </a:rPr>
              <a:t>资源配置</a:t>
            </a:r>
          </a:p>
        </p:txBody>
      </p:sp>
    </p:spTree>
    <p:extLst>
      <p:ext uri="{BB962C8B-B14F-4D97-AF65-F5344CB8AC3E}">
        <p14:creationId xmlns:p14="http://schemas.microsoft.com/office/powerpoint/2010/main" val="3222740369"/>
      </p:ext>
    </p:extLst>
  </p:cSld>
  <p:clrMapOvr>
    <a:masterClrMapping/>
  </p:clrMapOvr>
  <p:transition spd="slow">
    <p:circl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1200" dirty="0"/>
              <a:t>互联网</a:t>
            </a:r>
            <a:r>
              <a:rPr lang="en-US" altLang="zh-CN" kern="1200" dirty="0"/>
              <a:t>+</a:t>
            </a:r>
            <a:r>
              <a:rPr lang="zh-CN" altLang="en-US" kern="1200" dirty="0"/>
              <a:t>工业</a:t>
            </a:r>
          </a:p>
        </p:txBody>
      </p:sp>
      <p:cxnSp>
        <p:nvCxnSpPr>
          <p:cNvPr id="11" name="直接箭头连接符 10"/>
          <p:cNvCxnSpPr/>
          <p:nvPr/>
        </p:nvCxnSpPr>
        <p:spPr>
          <a:xfrm>
            <a:off x="467544" y="5832962"/>
            <a:ext cx="7794398" cy="0"/>
          </a:xfrm>
          <a:prstGeom prst="straightConnector1">
            <a:avLst/>
          </a:prstGeom>
          <a:ln w="3810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7830007" y="5830822"/>
            <a:ext cx="0" cy="54630"/>
          </a:xfrm>
          <a:prstGeom prst="straightConnector1">
            <a:avLst/>
          </a:prstGeom>
          <a:ln w="381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3" name="文本框 7"/>
          <p:cNvSpPr txBox="1">
            <a:spLocks noChangeArrowheads="1"/>
          </p:cNvSpPr>
          <p:nvPr/>
        </p:nvSpPr>
        <p:spPr bwMode="auto">
          <a:xfrm>
            <a:off x="8230090" y="5669237"/>
            <a:ext cx="8064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zh-CN" altLang="en-US" dirty="0">
                <a:solidFill>
                  <a:srgbClr val="000000"/>
                </a:solidFill>
              </a:rPr>
              <a:t>时间</a:t>
            </a:r>
          </a:p>
        </p:txBody>
      </p:sp>
      <p:cxnSp>
        <p:nvCxnSpPr>
          <p:cNvPr id="16" name="直接箭头连接符 15"/>
          <p:cNvCxnSpPr/>
          <p:nvPr/>
        </p:nvCxnSpPr>
        <p:spPr>
          <a:xfrm>
            <a:off x="2195736" y="4887607"/>
            <a:ext cx="0" cy="958777"/>
          </a:xfrm>
          <a:prstGeom prst="straightConnector1">
            <a:avLst/>
          </a:prstGeom>
          <a:ln w="254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pic>
        <p:nvPicPr>
          <p:cNvPr id="17" name="图片 1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58642" y="3816893"/>
            <a:ext cx="1052628" cy="141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文本框 16"/>
          <p:cNvSpPr txBox="1">
            <a:spLocks noChangeArrowheads="1"/>
          </p:cNvSpPr>
          <p:nvPr/>
        </p:nvSpPr>
        <p:spPr bwMode="auto">
          <a:xfrm>
            <a:off x="611560" y="5832963"/>
            <a:ext cx="15672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en-US" altLang="zh-CN" sz="1800" dirty="0">
                <a:solidFill>
                  <a:srgbClr val="000000"/>
                </a:solidFill>
                <a:ea typeface="微软雅黑" pitchFamily="34" charset="-122"/>
              </a:rPr>
              <a:t>18</a:t>
            </a:r>
            <a:r>
              <a:rPr lang="zh-CN" altLang="en-US" sz="1800" dirty="0">
                <a:solidFill>
                  <a:srgbClr val="000000"/>
                </a:solidFill>
                <a:ea typeface="微软雅黑" pitchFamily="34" charset="-122"/>
              </a:rPr>
              <a:t>世纪末</a:t>
            </a:r>
          </a:p>
        </p:txBody>
      </p:sp>
      <p:sp>
        <p:nvSpPr>
          <p:cNvPr id="20" name="文本框 18"/>
          <p:cNvSpPr txBox="1">
            <a:spLocks noChangeArrowheads="1"/>
          </p:cNvSpPr>
          <p:nvPr/>
        </p:nvSpPr>
        <p:spPr bwMode="auto">
          <a:xfrm>
            <a:off x="693529" y="2348880"/>
            <a:ext cx="143019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zh-CN" altLang="en-US" sz="1800" dirty="0">
                <a:solidFill>
                  <a:srgbClr val="000000"/>
                </a:solidFill>
                <a:ea typeface="微软雅黑" pitchFamily="34" charset="-122"/>
              </a:rPr>
              <a:t>工业</a:t>
            </a:r>
            <a:r>
              <a:rPr lang="en-US" altLang="zh-CN" sz="1800" dirty="0">
                <a:solidFill>
                  <a:srgbClr val="000000"/>
                </a:solidFill>
                <a:ea typeface="微软雅黑" pitchFamily="34" charset="-122"/>
              </a:rPr>
              <a:t>1.0</a:t>
            </a:r>
          </a:p>
          <a:p>
            <a:pPr algn="l" fontAlgn="base">
              <a:spcBef>
                <a:spcPct val="0"/>
              </a:spcBef>
              <a:spcAft>
                <a:spcPct val="0"/>
              </a:spcAft>
            </a:pPr>
            <a:r>
              <a:rPr lang="zh-CN" altLang="en-US" sz="1800" dirty="0">
                <a:solidFill>
                  <a:srgbClr val="000000"/>
                </a:solidFill>
                <a:ea typeface="微软雅黑" pitchFamily="34" charset="-122"/>
              </a:rPr>
              <a:t>创造了机器工厂的</a:t>
            </a:r>
            <a:r>
              <a:rPr lang="zh-CN" altLang="en-US" sz="1800" dirty="0">
                <a:solidFill>
                  <a:srgbClr val="FF0000"/>
                </a:solidFill>
                <a:ea typeface="微软雅黑" pitchFamily="34" charset="-122"/>
              </a:rPr>
              <a:t>“蒸汽时代”</a:t>
            </a:r>
          </a:p>
        </p:txBody>
      </p:sp>
      <p:sp>
        <p:nvSpPr>
          <p:cNvPr id="23" name="文本框 21"/>
          <p:cNvSpPr txBox="1">
            <a:spLocks noChangeArrowheads="1"/>
          </p:cNvSpPr>
          <p:nvPr/>
        </p:nvSpPr>
        <p:spPr bwMode="auto">
          <a:xfrm>
            <a:off x="2374569" y="5832963"/>
            <a:ext cx="15672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en-US" altLang="zh-CN" sz="1800" dirty="0">
                <a:solidFill>
                  <a:srgbClr val="000000"/>
                </a:solidFill>
                <a:ea typeface="微软雅黑" pitchFamily="34" charset="-122"/>
              </a:rPr>
              <a:t>20</a:t>
            </a:r>
            <a:r>
              <a:rPr lang="zh-CN" altLang="en-US" sz="1800" dirty="0">
                <a:solidFill>
                  <a:srgbClr val="000000"/>
                </a:solidFill>
                <a:ea typeface="微软雅黑" pitchFamily="34" charset="-122"/>
              </a:rPr>
              <a:t>世纪初</a:t>
            </a:r>
          </a:p>
        </p:txBody>
      </p:sp>
      <p:sp>
        <p:nvSpPr>
          <p:cNvPr id="24" name="文本框 22"/>
          <p:cNvSpPr txBox="1">
            <a:spLocks noChangeArrowheads="1"/>
          </p:cNvSpPr>
          <p:nvPr/>
        </p:nvSpPr>
        <p:spPr bwMode="auto">
          <a:xfrm>
            <a:off x="2547327" y="5229200"/>
            <a:ext cx="1413726" cy="327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zh-CN" altLang="en-US" sz="1500" dirty="0">
                <a:solidFill>
                  <a:srgbClr val="0000FF"/>
                </a:solidFill>
                <a:ea typeface="微软雅黑" pitchFamily="34" charset="-122"/>
              </a:rPr>
              <a:t>电力广泛应用</a:t>
            </a:r>
          </a:p>
        </p:txBody>
      </p:sp>
      <p:sp>
        <p:nvSpPr>
          <p:cNvPr id="25" name="文本框 23"/>
          <p:cNvSpPr txBox="1">
            <a:spLocks noChangeArrowheads="1"/>
          </p:cNvSpPr>
          <p:nvPr/>
        </p:nvSpPr>
        <p:spPr bwMode="auto">
          <a:xfrm>
            <a:off x="827584" y="5373216"/>
            <a:ext cx="804361" cy="327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zh-CN" altLang="en-US" sz="1500" dirty="0">
                <a:solidFill>
                  <a:srgbClr val="0000FF"/>
                </a:solidFill>
                <a:ea typeface="微软雅黑" pitchFamily="34" charset="-122"/>
              </a:rPr>
              <a:t>蒸汽机</a:t>
            </a:r>
          </a:p>
        </p:txBody>
      </p:sp>
      <p:cxnSp>
        <p:nvCxnSpPr>
          <p:cNvPr id="28" name="直接箭头连接符 27"/>
          <p:cNvCxnSpPr/>
          <p:nvPr/>
        </p:nvCxnSpPr>
        <p:spPr>
          <a:xfrm>
            <a:off x="4355976" y="3964872"/>
            <a:ext cx="0" cy="1894612"/>
          </a:xfrm>
          <a:prstGeom prst="straightConnector1">
            <a:avLst/>
          </a:prstGeom>
          <a:ln w="254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588224" y="3043329"/>
            <a:ext cx="0" cy="2829240"/>
          </a:xfrm>
          <a:prstGeom prst="straightConnector1">
            <a:avLst/>
          </a:prstGeom>
          <a:ln w="254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5" name="文本框 30"/>
          <p:cNvSpPr txBox="1">
            <a:spLocks noChangeArrowheads="1"/>
          </p:cNvSpPr>
          <p:nvPr/>
        </p:nvSpPr>
        <p:spPr bwMode="auto">
          <a:xfrm>
            <a:off x="6971372" y="4365104"/>
            <a:ext cx="1413726" cy="327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zh-CN" altLang="en-US" sz="1500" dirty="0">
                <a:solidFill>
                  <a:srgbClr val="0000FF"/>
                </a:solidFill>
                <a:ea typeface="微软雅黑" pitchFamily="34" charset="-122"/>
              </a:rPr>
              <a:t>信息物联系统</a:t>
            </a:r>
          </a:p>
        </p:txBody>
      </p:sp>
      <p:sp>
        <p:nvSpPr>
          <p:cNvPr id="40" name="文本框 21"/>
          <p:cNvSpPr txBox="1">
            <a:spLocks noChangeArrowheads="1"/>
          </p:cNvSpPr>
          <p:nvPr/>
        </p:nvSpPr>
        <p:spPr bwMode="auto">
          <a:xfrm>
            <a:off x="4075975" y="5837551"/>
            <a:ext cx="19470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en-US" altLang="zh-CN" sz="1800" dirty="0">
                <a:solidFill>
                  <a:srgbClr val="000000"/>
                </a:solidFill>
                <a:ea typeface="微软雅黑" pitchFamily="34" charset="-122"/>
              </a:rPr>
              <a:t>1970</a:t>
            </a:r>
            <a:r>
              <a:rPr lang="zh-CN" altLang="en-US" sz="1800" dirty="0">
                <a:solidFill>
                  <a:srgbClr val="000000"/>
                </a:solidFill>
                <a:ea typeface="微软雅黑" pitchFamily="34" charset="-122"/>
              </a:rPr>
              <a:t>年代初</a:t>
            </a:r>
          </a:p>
        </p:txBody>
      </p:sp>
      <p:sp>
        <p:nvSpPr>
          <p:cNvPr id="41" name="文本框 21"/>
          <p:cNvSpPr txBox="1">
            <a:spLocks noChangeArrowheads="1"/>
          </p:cNvSpPr>
          <p:nvPr/>
        </p:nvSpPr>
        <p:spPr bwMode="auto">
          <a:xfrm>
            <a:off x="6492728" y="5837551"/>
            <a:ext cx="8875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zh-CN" altLang="en-US" sz="1800" dirty="0">
                <a:solidFill>
                  <a:srgbClr val="000000"/>
                </a:solidFill>
                <a:ea typeface="微软雅黑" pitchFamily="34" charset="-122"/>
              </a:rPr>
              <a:t>今天</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0117" y="3573016"/>
            <a:ext cx="1579835" cy="15447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文本框 18"/>
          <p:cNvSpPr txBox="1">
            <a:spLocks noChangeArrowheads="1"/>
          </p:cNvSpPr>
          <p:nvPr/>
        </p:nvSpPr>
        <p:spPr bwMode="auto">
          <a:xfrm>
            <a:off x="2330985" y="1772816"/>
            <a:ext cx="178416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zh-CN" altLang="en-US" sz="1800" dirty="0">
                <a:solidFill>
                  <a:srgbClr val="000000"/>
                </a:solidFill>
                <a:ea typeface="微软雅黑" pitchFamily="34" charset="-122"/>
              </a:rPr>
              <a:t>工业</a:t>
            </a:r>
            <a:r>
              <a:rPr lang="en-US" altLang="zh-CN" sz="1800" dirty="0">
                <a:solidFill>
                  <a:srgbClr val="000000"/>
                </a:solidFill>
                <a:ea typeface="微软雅黑" pitchFamily="34" charset="-122"/>
              </a:rPr>
              <a:t>2.0</a:t>
            </a:r>
          </a:p>
          <a:p>
            <a:pPr algn="l"/>
            <a:r>
              <a:rPr lang="zh-CN" altLang="en-US" sz="1800" dirty="0">
                <a:solidFill>
                  <a:srgbClr val="000000"/>
                </a:solidFill>
                <a:ea typeface="微软雅黑" pitchFamily="34" charset="-122"/>
              </a:rPr>
              <a:t>将人类带入分工明确、大批量生产的流水线模式和</a:t>
            </a:r>
            <a:r>
              <a:rPr lang="zh-CN" altLang="en-US" sz="1800" dirty="0">
                <a:solidFill>
                  <a:srgbClr val="FF0000"/>
                </a:solidFill>
                <a:ea typeface="微软雅黑" pitchFamily="34" charset="-122"/>
              </a:rPr>
              <a:t>“电气时代”</a:t>
            </a:r>
            <a:endParaRPr lang="en-US" altLang="zh-CN" sz="1800" dirty="0">
              <a:solidFill>
                <a:srgbClr val="FF0000"/>
              </a:solidFill>
              <a:ea typeface="微软雅黑" pitchFamily="34" charset="-122"/>
            </a:endParaRPr>
          </a:p>
        </p:txBody>
      </p:sp>
      <p:sp>
        <p:nvSpPr>
          <p:cNvPr id="44" name="文本框 18"/>
          <p:cNvSpPr txBox="1">
            <a:spLocks noChangeArrowheads="1"/>
          </p:cNvSpPr>
          <p:nvPr/>
        </p:nvSpPr>
        <p:spPr bwMode="auto">
          <a:xfrm>
            <a:off x="4579217" y="1484784"/>
            <a:ext cx="164126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zh-CN" altLang="en-US" sz="1800" dirty="0">
                <a:solidFill>
                  <a:srgbClr val="000000"/>
                </a:solidFill>
                <a:ea typeface="微软雅黑" pitchFamily="34" charset="-122"/>
              </a:rPr>
              <a:t>工业</a:t>
            </a:r>
            <a:r>
              <a:rPr lang="en-US" altLang="zh-CN" sz="1800" dirty="0">
                <a:solidFill>
                  <a:srgbClr val="000000"/>
                </a:solidFill>
                <a:ea typeface="微软雅黑" pitchFamily="34" charset="-122"/>
              </a:rPr>
              <a:t>3.0</a:t>
            </a:r>
          </a:p>
          <a:p>
            <a:pPr algn="l"/>
            <a:r>
              <a:rPr lang="zh-CN" altLang="en-US" sz="1800" dirty="0">
                <a:solidFill>
                  <a:srgbClr val="000000"/>
                </a:solidFill>
                <a:ea typeface="微软雅黑" pitchFamily="34" charset="-122"/>
              </a:rPr>
              <a:t>应用电子信息技术提高生产自动化水平的</a:t>
            </a:r>
            <a:r>
              <a:rPr lang="zh-CN" altLang="en-US" sz="1800" dirty="0">
                <a:solidFill>
                  <a:srgbClr val="FF0000"/>
                </a:solidFill>
                <a:ea typeface="微软雅黑" pitchFamily="34" charset="-122"/>
              </a:rPr>
              <a:t>信息化时代</a:t>
            </a:r>
            <a:endParaRPr lang="en-US" altLang="zh-CN" sz="1800" dirty="0">
              <a:solidFill>
                <a:srgbClr val="FF0000"/>
              </a:solidFill>
              <a:ea typeface="微软雅黑" pitchFamily="34" charset="-122"/>
            </a:endParaRPr>
          </a:p>
        </p:txBody>
      </p:sp>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4522" y="3223938"/>
            <a:ext cx="1657495" cy="172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7" name="文本框 22"/>
          <p:cNvSpPr txBox="1">
            <a:spLocks noChangeArrowheads="1"/>
          </p:cNvSpPr>
          <p:nvPr/>
        </p:nvSpPr>
        <p:spPr bwMode="auto">
          <a:xfrm>
            <a:off x="4755353" y="4973455"/>
            <a:ext cx="1616847" cy="327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zh-CN" altLang="en-US" sz="1500" dirty="0">
                <a:solidFill>
                  <a:srgbClr val="0000FF"/>
                </a:solidFill>
                <a:ea typeface="微软雅黑" pitchFamily="34" charset="-122"/>
              </a:rPr>
              <a:t>自动化、信息化</a:t>
            </a:r>
          </a:p>
        </p:txBody>
      </p:sp>
      <p:pic>
        <p:nvPicPr>
          <p:cNvPr id="410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13970" y="2708920"/>
            <a:ext cx="1774454" cy="15820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9" name="文本框 18"/>
          <p:cNvSpPr txBox="1">
            <a:spLocks noChangeArrowheads="1"/>
          </p:cNvSpPr>
          <p:nvPr/>
        </p:nvSpPr>
        <p:spPr bwMode="auto">
          <a:xfrm>
            <a:off x="6551490" y="1268760"/>
            <a:ext cx="170455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b="1">
                <a:solidFill>
                  <a:schemeClr val="tx1"/>
                </a:solidFill>
                <a:latin typeface="Tahoma" pitchFamily="34" charset="0"/>
                <a:ea typeface="宋体" pitchFamily="2" charset="-122"/>
              </a:defRPr>
            </a:lvl1pPr>
            <a:lvl2pPr marL="742950" indent="-285750" algn="ctr">
              <a:defRPr b="1">
                <a:solidFill>
                  <a:schemeClr val="tx1"/>
                </a:solidFill>
                <a:latin typeface="Tahoma" pitchFamily="34" charset="0"/>
                <a:ea typeface="宋体" pitchFamily="2" charset="-122"/>
              </a:defRPr>
            </a:lvl2pPr>
            <a:lvl3pPr marL="1143000" indent="-228600" algn="ctr">
              <a:defRPr b="1">
                <a:solidFill>
                  <a:schemeClr val="tx1"/>
                </a:solidFill>
                <a:latin typeface="Tahoma" pitchFamily="34" charset="0"/>
                <a:ea typeface="宋体" pitchFamily="2" charset="-122"/>
              </a:defRPr>
            </a:lvl3pPr>
            <a:lvl4pPr marL="1600200" indent="-228600" algn="ctr">
              <a:defRPr b="1">
                <a:solidFill>
                  <a:schemeClr val="tx1"/>
                </a:solidFill>
                <a:latin typeface="Tahoma" pitchFamily="34" charset="0"/>
                <a:ea typeface="宋体" pitchFamily="2" charset="-122"/>
              </a:defRPr>
            </a:lvl4pPr>
            <a:lvl5pPr marL="2057400" indent="-228600" algn="ctr">
              <a:defRPr b="1">
                <a:solidFill>
                  <a:schemeClr val="tx1"/>
                </a:solidFill>
                <a:latin typeface="Tahoma" pitchFamily="34" charset="0"/>
                <a:ea typeface="宋体" pitchFamily="2" charset="-122"/>
              </a:defRPr>
            </a:lvl5pPr>
            <a:lvl6pPr marL="2514600" indent="-228600" algn="ctr" fontAlgn="base">
              <a:spcBef>
                <a:spcPct val="0"/>
              </a:spcBef>
              <a:spcAft>
                <a:spcPct val="0"/>
              </a:spcAft>
              <a:defRPr b="1">
                <a:solidFill>
                  <a:schemeClr val="tx1"/>
                </a:solidFill>
                <a:latin typeface="Tahoma" pitchFamily="34" charset="0"/>
                <a:ea typeface="宋体" pitchFamily="2" charset="-122"/>
              </a:defRPr>
            </a:lvl6pPr>
            <a:lvl7pPr marL="2971800" indent="-228600" algn="ctr" fontAlgn="base">
              <a:spcBef>
                <a:spcPct val="0"/>
              </a:spcBef>
              <a:spcAft>
                <a:spcPct val="0"/>
              </a:spcAft>
              <a:defRPr b="1">
                <a:solidFill>
                  <a:schemeClr val="tx1"/>
                </a:solidFill>
                <a:latin typeface="Tahoma" pitchFamily="34" charset="0"/>
                <a:ea typeface="宋体" pitchFamily="2" charset="-122"/>
              </a:defRPr>
            </a:lvl7pPr>
            <a:lvl8pPr marL="3429000" indent="-228600" algn="ctr" fontAlgn="base">
              <a:spcBef>
                <a:spcPct val="0"/>
              </a:spcBef>
              <a:spcAft>
                <a:spcPct val="0"/>
              </a:spcAft>
              <a:defRPr b="1">
                <a:solidFill>
                  <a:schemeClr val="tx1"/>
                </a:solidFill>
                <a:latin typeface="Tahoma" pitchFamily="34" charset="0"/>
                <a:ea typeface="宋体" pitchFamily="2" charset="-122"/>
              </a:defRPr>
            </a:lvl8pPr>
            <a:lvl9pPr marL="3886200" indent="-228600" algn="ctr" fontAlgn="base">
              <a:spcBef>
                <a:spcPct val="0"/>
              </a:spcBef>
              <a:spcAft>
                <a:spcPct val="0"/>
              </a:spcAft>
              <a:defRPr b="1">
                <a:solidFill>
                  <a:schemeClr val="tx1"/>
                </a:solidFill>
                <a:latin typeface="Tahoma" pitchFamily="34" charset="0"/>
                <a:ea typeface="宋体" pitchFamily="2" charset="-122"/>
              </a:defRPr>
            </a:lvl9pPr>
          </a:lstStyle>
          <a:p>
            <a:pPr algn="l" fontAlgn="base">
              <a:spcBef>
                <a:spcPct val="0"/>
              </a:spcBef>
              <a:spcAft>
                <a:spcPct val="0"/>
              </a:spcAft>
            </a:pPr>
            <a:r>
              <a:rPr lang="zh-CN" altLang="en-US" sz="1800" dirty="0">
                <a:ea typeface="微软雅黑" pitchFamily="34" charset="-122"/>
              </a:rPr>
              <a:t>工业</a:t>
            </a:r>
            <a:r>
              <a:rPr lang="en-US" altLang="zh-CN" sz="1800" dirty="0">
                <a:ea typeface="微软雅黑" pitchFamily="34" charset="-122"/>
              </a:rPr>
              <a:t>4.0</a:t>
            </a:r>
          </a:p>
          <a:p>
            <a:pPr algn="l" fontAlgn="base">
              <a:spcBef>
                <a:spcPct val="0"/>
              </a:spcBef>
              <a:spcAft>
                <a:spcPct val="0"/>
              </a:spcAft>
            </a:pPr>
            <a:r>
              <a:rPr lang="zh-CN" altLang="en-US" sz="1800" dirty="0">
                <a:ea typeface="微软雅黑" pitchFamily="34" charset="-122"/>
              </a:rPr>
              <a:t>开始应用</a:t>
            </a:r>
            <a:r>
              <a:rPr lang="zh-CN" altLang="en-US" sz="1800" dirty="0">
                <a:solidFill>
                  <a:srgbClr val="FF0000"/>
                </a:solidFill>
                <a:ea typeface="微软雅黑" pitchFamily="34" charset="-122"/>
              </a:rPr>
              <a:t>信息物理融合系统（</a:t>
            </a:r>
            <a:r>
              <a:rPr lang="en-US" altLang="zh-CN" sz="1800" dirty="0">
                <a:solidFill>
                  <a:srgbClr val="FF0000"/>
                </a:solidFill>
                <a:ea typeface="微软雅黑" pitchFamily="34" charset="-122"/>
              </a:rPr>
              <a:t>CPS</a:t>
            </a:r>
            <a:r>
              <a:rPr lang="zh-CN" altLang="en-US" sz="1800" dirty="0">
                <a:solidFill>
                  <a:srgbClr val="FF0000"/>
                </a:solidFill>
                <a:ea typeface="微软雅黑" pitchFamily="34" charset="-122"/>
              </a:rPr>
              <a:t>）</a:t>
            </a:r>
            <a:endParaRPr lang="en-US" altLang="zh-CN" sz="1800" dirty="0">
              <a:solidFill>
                <a:srgbClr val="FF0000"/>
              </a:solidFill>
              <a:ea typeface="微软雅黑" pitchFamily="34" charset="-122"/>
            </a:endParaRPr>
          </a:p>
        </p:txBody>
      </p:sp>
      <p:pic>
        <p:nvPicPr>
          <p:cNvPr id="4" name="图片 3"/>
          <p:cNvPicPr>
            <a:picLocks noChangeAspect="1"/>
          </p:cNvPicPr>
          <p:nvPr/>
        </p:nvPicPr>
        <p:blipFill>
          <a:blip r:embed="rId7"/>
          <a:stretch>
            <a:fillRect/>
          </a:stretch>
        </p:blipFill>
        <p:spPr>
          <a:xfrm>
            <a:off x="431794" y="1075205"/>
            <a:ext cx="6539578" cy="429927"/>
          </a:xfrm>
          <a:prstGeom prst="rect">
            <a:avLst/>
          </a:prstGeom>
        </p:spPr>
      </p:pic>
      <p:pic>
        <p:nvPicPr>
          <p:cNvPr id="5" name="图片 4"/>
          <p:cNvPicPr>
            <a:picLocks noChangeAspect="1"/>
          </p:cNvPicPr>
          <p:nvPr/>
        </p:nvPicPr>
        <p:blipFill>
          <a:blip r:embed="rId8"/>
          <a:stretch>
            <a:fillRect/>
          </a:stretch>
        </p:blipFill>
        <p:spPr>
          <a:xfrm>
            <a:off x="-1" y="1290041"/>
            <a:ext cx="9036495" cy="4921429"/>
          </a:xfrm>
          <a:prstGeom prst="rect">
            <a:avLst/>
          </a:prstGeom>
        </p:spPr>
      </p:pic>
    </p:spTree>
    <p:extLst>
      <p:ext uri="{BB962C8B-B14F-4D97-AF65-F5344CB8AC3E}">
        <p14:creationId xmlns:p14="http://schemas.microsoft.com/office/powerpoint/2010/main" val="2339953167"/>
      </p:ext>
    </p:extLst>
  </p:cSld>
  <p:clrMapOvr>
    <a:masterClrMapping/>
  </p:clrMapOvr>
  <p:transition spd="slow">
    <p:circl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工业</a:t>
            </a:r>
            <a:r>
              <a:rPr lang="en-US" altLang="zh-CN" dirty="0"/>
              <a:t>4.0</a:t>
            </a:r>
            <a:endParaRPr lang="zh-CN" altLang="en-US" dirty="0"/>
          </a:p>
        </p:txBody>
      </p:sp>
      <p:pic>
        <p:nvPicPr>
          <p:cNvPr id="3" name="图片 2"/>
          <p:cNvPicPr>
            <a:picLocks noChangeAspect="1"/>
          </p:cNvPicPr>
          <p:nvPr/>
        </p:nvPicPr>
        <p:blipFill>
          <a:blip r:embed="rId2"/>
          <a:stretch>
            <a:fillRect/>
          </a:stretch>
        </p:blipFill>
        <p:spPr>
          <a:xfrm>
            <a:off x="323528" y="1340768"/>
            <a:ext cx="8568952" cy="5182684"/>
          </a:xfrm>
          <a:prstGeom prst="rect">
            <a:avLst/>
          </a:prstGeom>
        </p:spPr>
      </p:pic>
    </p:spTree>
    <p:extLst>
      <p:ext uri="{BB962C8B-B14F-4D97-AF65-F5344CB8AC3E}">
        <p14:creationId xmlns:p14="http://schemas.microsoft.com/office/powerpoint/2010/main" val="1070423309"/>
      </p:ext>
    </p:extLst>
  </p:cSld>
  <p:clrMapOvr>
    <a:masterClrMapping/>
  </p:clrMapOvr>
  <p:transition spd="slow">
    <p:circl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1200" dirty="0"/>
              <a:t>互联网</a:t>
            </a:r>
            <a:r>
              <a:rPr lang="en-US" altLang="zh-CN" kern="1200" dirty="0"/>
              <a:t>+</a:t>
            </a:r>
            <a:r>
              <a:rPr lang="zh-CN" altLang="en-US" kern="1200" dirty="0"/>
              <a:t>交通</a:t>
            </a:r>
          </a:p>
        </p:txBody>
      </p:sp>
      <p:sp>
        <p:nvSpPr>
          <p:cNvPr id="3" name="内容占位符 2"/>
          <p:cNvSpPr>
            <a:spLocks noGrp="1"/>
          </p:cNvSpPr>
          <p:nvPr>
            <p:ph idx="1"/>
          </p:nvPr>
        </p:nvSpPr>
        <p:spPr>
          <a:xfrm>
            <a:off x="395536" y="1124744"/>
            <a:ext cx="8229600" cy="525621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200000"/>
              </a:lnSpc>
            </a:pPr>
            <a:r>
              <a:rPr lang="zh-CN" altLang="en-US" sz="2400" b="0" dirty="0">
                <a:latin typeface="微软雅黑" panose="020B0503020204020204" pitchFamily="34" charset="-122"/>
                <a:ea typeface="微软雅黑" panose="020B0503020204020204" pitchFamily="34" charset="-122"/>
              </a:rPr>
              <a:t>运用互联网技术，建立</a:t>
            </a:r>
            <a:r>
              <a:rPr lang="zh-CN" altLang="en-US" sz="2400" b="0" dirty="0">
                <a:solidFill>
                  <a:srgbClr val="FF0000"/>
                </a:solidFill>
                <a:latin typeface="微软雅黑" panose="020B0503020204020204" pitchFamily="34" charset="-122"/>
                <a:ea typeface="微软雅黑" panose="020B0503020204020204" pitchFamily="34" charset="-122"/>
              </a:rPr>
              <a:t>车、路、人</a:t>
            </a:r>
            <a:r>
              <a:rPr lang="zh-CN" altLang="en-US" sz="2400" b="0" dirty="0">
                <a:latin typeface="微软雅黑" panose="020B0503020204020204" pitchFamily="34" charset="-122"/>
                <a:ea typeface="微软雅黑" panose="020B0503020204020204" pitchFamily="34" charset="-122"/>
              </a:rPr>
              <a:t>之间的网络，通过整合车、路、人各种信息与服务，最终为人</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车内的人及关注车内的人</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提供服务，使交通变得更加</a:t>
            </a:r>
            <a:r>
              <a:rPr lang="zh-CN" altLang="en-US" sz="2400" b="0" dirty="0">
                <a:solidFill>
                  <a:srgbClr val="FF0000"/>
                </a:solidFill>
                <a:latin typeface="微软雅黑" panose="020B0503020204020204" pitchFamily="34" charset="-122"/>
                <a:ea typeface="微软雅黑" panose="020B0503020204020204" pitchFamily="34" charset="-122"/>
              </a:rPr>
              <a:t>智能、精细和人性</a:t>
            </a:r>
            <a:endParaRPr lang="en-US" altLang="zh-CN" sz="2400" b="0" dirty="0">
              <a:latin typeface="微软雅黑" panose="020B0503020204020204" pitchFamily="34" charset="-122"/>
              <a:ea typeface="微软雅黑" panose="020B0503020204020204" pitchFamily="34" charset="-122"/>
            </a:endParaRPr>
          </a:p>
          <a:p>
            <a:pPr>
              <a:lnSpc>
                <a:spcPct val="200000"/>
              </a:lnSpc>
            </a:pPr>
            <a:endParaRPr lang="zh-CN" altLang="en-US" sz="2400" b="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200000"/>
              </a:lnSpc>
            </a:pPr>
            <a:endParaRPr lang="zh-CN" altLang="en-US" sz="2400" b="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200000"/>
              </a:lnSpc>
            </a:pPr>
            <a:endParaRPr lang="zh-CN" altLang="en-US" sz="2400" b="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200000"/>
              </a:lnSpc>
            </a:pPr>
            <a:endParaRPr lang="zh-CN" altLang="en-US" sz="2400" b="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4296792"/>
            <a:ext cx="2979314" cy="1909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descr="c:\documents and settings\administrator\local settings\application data\360chrome\chrome\User Data\temp\18-15-45-21-29354.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55976" y="4125737"/>
            <a:ext cx="3525235" cy="2028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060884"/>
      </p:ext>
    </p:extLst>
  </p:cSld>
  <p:clrMapOvr>
    <a:masterClrMapping/>
  </p:clrMapOvr>
  <p:transition spd="slow">
    <p:circl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kern="1200" dirty="0"/>
              <a:t>互联网</a:t>
            </a:r>
            <a:r>
              <a:rPr lang="en-US" altLang="zh-CN" kern="1200" dirty="0"/>
              <a:t>+</a:t>
            </a:r>
            <a:r>
              <a:rPr lang="zh-CN" altLang="en-US" kern="1200" dirty="0"/>
              <a:t>交通</a:t>
            </a:r>
          </a:p>
        </p:txBody>
      </p:sp>
      <p:pic>
        <p:nvPicPr>
          <p:cNvPr id="9" name="Picture 2" descr="c:\documents and settings\administrator\local settings\application data\360chrome\chrome\User Data\temp\wKhQtlNnKxGEDFfNAAAAAI-8OJo278.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601" r="3121"/>
          <a:stretch/>
        </p:blipFill>
        <p:spPr bwMode="auto">
          <a:xfrm>
            <a:off x="1009855" y="1432139"/>
            <a:ext cx="3140475" cy="2255616"/>
          </a:xfrm>
          <a:prstGeom prst="roundRect">
            <a:avLst/>
          </a:prstGeom>
          <a:noFill/>
          <a:extLst>
            <a:ext uri="{909E8E84-426E-40DD-AFC4-6F175D3DCCD1}">
              <a14:hiddenFill xmlns:a14="http://schemas.microsoft.com/office/drawing/2010/main">
                <a:solidFill>
                  <a:srgbClr val="FFFFFF"/>
                </a:solidFill>
              </a14:hiddenFill>
            </a:ext>
          </a:extLst>
        </p:spPr>
      </p:pic>
      <p:pic>
        <p:nvPicPr>
          <p:cNvPr id="12" name="Picture 4" descr="c:\documents and settings\administrator\local settings\application data\360chrome\chrome\User Data\temp\20140521100223-1139105185.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312" r="6339"/>
          <a:stretch/>
        </p:blipFill>
        <p:spPr bwMode="auto">
          <a:xfrm>
            <a:off x="5112522" y="1458605"/>
            <a:ext cx="3042603" cy="2229149"/>
          </a:xfrm>
          <a:prstGeom prst="roundRect">
            <a:avLst/>
          </a:prstGeom>
          <a:noFill/>
          <a:extLst>
            <a:ext uri="{909E8E84-426E-40DD-AFC4-6F175D3DCCD1}">
              <a14:hiddenFill xmlns:a14="http://schemas.microsoft.com/office/drawing/2010/main">
                <a:solidFill>
                  <a:srgbClr val="FFFFFF"/>
                </a:solidFill>
              </a14:hiddenFill>
            </a:ext>
          </a:extLst>
        </p:spPr>
      </p:pic>
      <p:pic>
        <p:nvPicPr>
          <p:cNvPr id="19" name="Picture 2" descr="c:\documents and settings\administrator\local settings\application data\360chrome\chrome\User Data\temp\u=4003756325,3224507240&amp;fm=21&amp;gp=0.jpg"/>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899" t="1468" r="1144" b="1251"/>
          <a:stretch/>
        </p:blipFill>
        <p:spPr bwMode="auto">
          <a:xfrm>
            <a:off x="1009855" y="4077072"/>
            <a:ext cx="3140475" cy="2211808"/>
          </a:xfrm>
          <a:prstGeom prst="roundRect">
            <a:avLst/>
          </a:prstGeom>
          <a:noFill/>
          <a:extLst>
            <a:ext uri="{909E8E84-426E-40DD-AFC4-6F175D3DCCD1}">
              <a14:hiddenFill xmlns:a14="http://schemas.microsoft.com/office/drawing/2010/main">
                <a:solidFill>
                  <a:srgbClr val="FFFFFF"/>
                </a:solidFill>
              </a14:hiddenFill>
            </a:ext>
          </a:extLst>
        </p:spPr>
      </p:pic>
      <p:pic>
        <p:nvPicPr>
          <p:cNvPr id="20" name="Picture 8" descr="c:\documents and settings\administrator\local settings\application data\360chrome\chrome\User Data\temp\20140214102435_226.jpg"/>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3351"/>
          <a:stretch/>
        </p:blipFill>
        <p:spPr bwMode="auto">
          <a:xfrm>
            <a:off x="5081252" y="4077072"/>
            <a:ext cx="3042603" cy="2211808"/>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973673"/>
      </p:ext>
    </p:extLst>
  </p:cSld>
  <p:clrMapOvr>
    <a:masterClrMapping/>
  </p:clrMapOvr>
  <p:transition spd="slow">
    <p:circl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b="0" kern="1200" dirty="0">
                <a:effectLst/>
                <a:latin typeface="微软雅黑" panose="020B0503020204020204" pitchFamily="34" charset="-122"/>
                <a:ea typeface="微软雅黑" panose="020B0503020204020204" pitchFamily="34" charset="-122"/>
              </a:rPr>
              <a:t>互联网</a:t>
            </a:r>
            <a:r>
              <a:rPr lang="en-US" altLang="zh-CN" b="0" kern="1200" dirty="0">
                <a:effectLst/>
                <a:latin typeface="微软雅黑" panose="020B0503020204020204" pitchFamily="34" charset="-122"/>
                <a:ea typeface="微软雅黑" panose="020B0503020204020204" pitchFamily="34" charset="-122"/>
              </a:rPr>
              <a:t>+</a:t>
            </a:r>
            <a:r>
              <a:rPr lang="zh-CN" altLang="en-US" b="0" kern="1200" dirty="0">
                <a:effectLst/>
                <a:latin typeface="微软雅黑" panose="020B0503020204020204" pitchFamily="34" charset="-122"/>
                <a:ea typeface="微软雅黑" panose="020B0503020204020204" pitchFamily="34" charset="-122"/>
              </a:rPr>
              <a:t>商务</a:t>
            </a:r>
          </a:p>
        </p:txBody>
      </p:sp>
      <p:sp>
        <p:nvSpPr>
          <p:cNvPr id="6" name="椭圆 5"/>
          <p:cNvSpPr/>
          <p:nvPr/>
        </p:nvSpPr>
        <p:spPr>
          <a:xfrm>
            <a:off x="827584" y="1556792"/>
            <a:ext cx="1584176" cy="2088232"/>
          </a:xfrm>
          <a:prstGeom prst="ellipse">
            <a:avLst/>
          </a:prstGeom>
          <a:solidFill>
            <a:schemeClr val="bg1"/>
          </a:solidFill>
          <a:ln w="3175">
            <a:solidFill>
              <a:srgbClr val="00B050"/>
            </a:solidFill>
          </a:ln>
        </p:spPr>
        <p:style>
          <a:lnRef idx="0">
            <a:schemeClr val="accent2"/>
          </a:lnRef>
          <a:fillRef idx="3">
            <a:schemeClr val="accent2"/>
          </a:fillRef>
          <a:effectRef idx="3">
            <a:schemeClr val="accent2"/>
          </a:effectRef>
          <a:fontRef idx="minor">
            <a:schemeClr val="lt1"/>
          </a:fontRef>
        </p:style>
        <p:txBody>
          <a:bodyPr anchor="ctr"/>
          <a:lstStyle/>
          <a:p>
            <a:pPr algn="ctr">
              <a:lnSpc>
                <a:spcPct val="150000"/>
              </a:lnSpc>
              <a:defRPr/>
            </a:pPr>
            <a:r>
              <a:rPr lang="zh-CN" altLang="en-US" sz="3600" b="1" dirty="0">
                <a:solidFill>
                  <a:srgbClr val="FF0000"/>
                </a:solidFill>
                <a:latin typeface="华文中宋" panose="02010600040101010101" pitchFamily="2" charset="-122"/>
                <a:ea typeface="华文中宋" panose="02010600040101010101" pitchFamily="2" charset="-122"/>
              </a:rPr>
              <a:t>互联网</a:t>
            </a:r>
            <a:r>
              <a:rPr lang="en-US" altLang="zh-CN" sz="3600" b="1" dirty="0">
                <a:solidFill>
                  <a:srgbClr val="FF0000"/>
                </a:solidFill>
                <a:latin typeface="华文中宋" panose="02010600040101010101" pitchFamily="2" charset="-122"/>
                <a:ea typeface="华文中宋" panose="02010600040101010101" pitchFamily="2" charset="-122"/>
              </a:rPr>
              <a:t>+</a:t>
            </a:r>
            <a:endParaRPr lang="zh-CN" altLang="en-US" sz="3600" b="1" dirty="0">
              <a:solidFill>
                <a:srgbClr val="FF0000"/>
              </a:solidFill>
              <a:latin typeface="华文中宋" panose="02010600040101010101" pitchFamily="2" charset="-122"/>
              <a:ea typeface="华文中宋" panose="02010600040101010101" pitchFamily="2" charset="-122"/>
            </a:endParaRPr>
          </a:p>
        </p:txBody>
      </p:sp>
      <p:sp>
        <p:nvSpPr>
          <p:cNvPr id="9" name="椭圆 8"/>
          <p:cNvSpPr/>
          <p:nvPr/>
        </p:nvSpPr>
        <p:spPr>
          <a:xfrm>
            <a:off x="3779912" y="1556792"/>
            <a:ext cx="1584176" cy="2088232"/>
          </a:xfrm>
          <a:prstGeom prst="ellipse">
            <a:avLst/>
          </a:prstGeom>
          <a:solidFill>
            <a:schemeClr val="bg1"/>
          </a:solidFill>
          <a:ln w="3175">
            <a:solidFill>
              <a:srgbClr val="00B050"/>
            </a:solidFill>
          </a:ln>
        </p:spPr>
        <p:style>
          <a:lnRef idx="0">
            <a:schemeClr val="accent2"/>
          </a:lnRef>
          <a:fillRef idx="3">
            <a:schemeClr val="accent2"/>
          </a:fillRef>
          <a:effectRef idx="3">
            <a:schemeClr val="accent2"/>
          </a:effectRef>
          <a:fontRef idx="minor">
            <a:schemeClr val="lt1"/>
          </a:fontRef>
        </p:style>
        <p:txBody>
          <a:bodyPr anchor="ctr"/>
          <a:lstStyle/>
          <a:p>
            <a:pPr algn="ctr">
              <a:lnSpc>
                <a:spcPct val="150000"/>
              </a:lnSpc>
            </a:pPr>
            <a:r>
              <a:rPr lang="zh-CN" altLang="en-US" sz="3600" dirty="0">
                <a:solidFill>
                  <a:srgbClr val="FF0000"/>
                </a:solidFill>
                <a:latin typeface="华文中宋" panose="02010600040101010101" pitchFamily="2" charset="-122"/>
                <a:ea typeface="华文中宋" panose="02010600040101010101" pitchFamily="2" charset="-122"/>
              </a:rPr>
              <a:t>电子商务</a:t>
            </a:r>
          </a:p>
        </p:txBody>
      </p:sp>
      <p:sp>
        <p:nvSpPr>
          <p:cNvPr id="10" name="椭圆 9"/>
          <p:cNvSpPr/>
          <p:nvPr/>
        </p:nvSpPr>
        <p:spPr>
          <a:xfrm>
            <a:off x="6804248" y="1581502"/>
            <a:ext cx="1584176" cy="2088232"/>
          </a:xfrm>
          <a:prstGeom prst="ellipse">
            <a:avLst/>
          </a:prstGeom>
          <a:solidFill>
            <a:schemeClr val="bg1"/>
          </a:solidFill>
          <a:ln w="3175">
            <a:solidFill>
              <a:srgbClr val="00B050"/>
            </a:solidFill>
          </a:ln>
        </p:spPr>
        <p:style>
          <a:lnRef idx="0">
            <a:schemeClr val="accent2"/>
          </a:lnRef>
          <a:fillRef idx="3">
            <a:schemeClr val="accent2"/>
          </a:fillRef>
          <a:effectRef idx="3">
            <a:schemeClr val="accent2"/>
          </a:effectRef>
          <a:fontRef idx="minor">
            <a:schemeClr val="lt1"/>
          </a:fontRef>
        </p:style>
        <p:txBody>
          <a:bodyPr anchor="ctr"/>
          <a:lstStyle/>
          <a:p>
            <a:pPr algn="ctr">
              <a:lnSpc>
                <a:spcPct val="150000"/>
              </a:lnSpc>
            </a:pPr>
            <a:r>
              <a:rPr lang="zh-CN" altLang="en-US" sz="3600" dirty="0">
                <a:solidFill>
                  <a:srgbClr val="FF0000"/>
                </a:solidFill>
                <a:latin typeface="华文中宋" panose="02010600040101010101" pitchFamily="2" charset="-122"/>
                <a:ea typeface="华文中宋" panose="02010600040101010101" pitchFamily="2" charset="-122"/>
              </a:rPr>
              <a:t>社会商务</a:t>
            </a:r>
          </a:p>
        </p:txBody>
      </p:sp>
      <p:sp>
        <p:nvSpPr>
          <p:cNvPr id="8205" name="TextBox 10"/>
          <p:cNvSpPr txBox="1">
            <a:spLocks noChangeArrowheads="1"/>
          </p:cNvSpPr>
          <p:nvPr/>
        </p:nvSpPr>
        <p:spPr bwMode="auto">
          <a:xfrm>
            <a:off x="5724525" y="2228850"/>
            <a:ext cx="6477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7200" b="1"/>
              <a:t>=</a:t>
            </a:r>
            <a:endParaRPr lang="zh-CN" altLang="en-US" sz="7200" b="1"/>
          </a:p>
        </p:txBody>
      </p:sp>
      <p:sp>
        <p:nvSpPr>
          <p:cNvPr id="8206" name="TextBox 11"/>
          <p:cNvSpPr txBox="1">
            <a:spLocks noChangeArrowheads="1"/>
          </p:cNvSpPr>
          <p:nvPr/>
        </p:nvSpPr>
        <p:spPr bwMode="auto">
          <a:xfrm>
            <a:off x="2700338" y="2157413"/>
            <a:ext cx="6477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7200" b="1"/>
              <a:t>+</a:t>
            </a:r>
            <a:endParaRPr lang="zh-CN" altLang="en-US" sz="7200" b="1"/>
          </a:p>
        </p:txBody>
      </p:sp>
      <p:pic>
        <p:nvPicPr>
          <p:cNvPr id="2" name="图片 1"/>
          <p:cNvPicPr>
            <a:picLocks noChangeAspect="1"/>
          </p:cNvPicPr>
          <p:nvPr/>
        </p:nvPicPr>
        <p:blipFill>
          <a:blip r:embed="rId2"/>
          <a:stretch>
            <a:fillRect/>
          </a:stretch>
        </p:blipFill>
        <p:spPr>
          <a:xfrm>
            <a:off x="1043608" y="4365104"/>
            <a:ext cx="3096344" cy="1834071"/>
          </a:xfrm>
          <a:prstGeom prst="roundRect">
            <a:avLst/>
          </a:prstGeom>
        </p:spPr>
      </p:pic>
      <p:pic>
        <p:nvPicPr>
          <p:cNvPr id="3" name="图片 2"/>
          <p:cNvPicPr>
            <a:picLocks noChangeAspect="1"/>
          </p:cNvPicPr>
          <p:nvPr/>
        </p:nvPicPr>
        <p:blipFill>
          <a:blip r:embed="rId3"/>
          <a:stretch>
            <a:fillRect/>
          </a:stretch>
        </p:blipFill>
        <p:spPr>
          <a:xfrm>
            <a:off x="5010537" y="4376186"/>
            <a:ext cx="2827015" cy="1811909"/>
          </a:xfrm>
          <a:prstGeom prst="roundRect">
            <a:avLst/>
          </a:prstGeom>
        </p:spPr>
      </p:pic>
    </p:spTree>
    <p:extLst>
      <p:ext uri="{BB962C8B-B14F-4D97-AF65-F5344CB8AC3E}">
        <p14:creationId xmlns:p14="http://schemas.microsoft.com/office/powerpoint/2010/main" val="1683165527"/>
      </p:ext>
    </p:extLst>
  </p:cSld>
  <p:clrMapOvr>
    <a:masterClrMapping/>
  </p:clrMapOvr>
  <p:transition spd="slow">
    <p:circl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b="0" kern="1200" dirty="0">
                <a:effectLst/>
                <a:latin typeface="微软雅黑" panose="020B0503020204020204" pitchFamily="34" charset="-122"/>
                <a:ea typeface="微软雅黑" panose="020B0503020204020204" pitchFamily="34" charset="-122"/>
              </a:rPr>
              <a:t>例</a:t>
            </a:r>
            <a:r>
              <a:rPr lang="en-US" altLang="zh-CN" b="0" kern="1200" dirty="0">
                <a:effectLst/>
                <a:latin typeface="微软雅黑" panose="020B0503020204020204" pitchFamily="34" charset="-122"/>
                <a:ea typeface="微软雅黑" panose="020B0503020204020204" pitchFamily="34" charset="-122"/>
              </a:rPr>
              <a:t>1</a:t>
            </a:r>
            <a:r>
              <a:rPr lang="zh-CN" altLang="en-US" b="0" kern="1200" dirty="0">
                <a:effectLst/>
                <a:latin typeface="微软雅黑" panose="020B0503020204020204" pitchFamily="34" charset="-122"/>
                <a:ea typeface="微软雅黑" panose="020B0503020204020204" pitchFamily="34" charset="-122"/>
              </a:rPr>
              <a:t>：谁决定商品价格</a:t>
            </a:r>
          </a:p>
        </p:txBody>
      </p:sp>
      <p:pic>
        <p:nvPicPr>
          <p:cNvPr id="9220" name="Picture 3"/>
          <p:cNvPicPr>
            <a:picLocks noChangeAspect="1" noChangeArrowheads="1"/>
          </p:cNvPicPr>
          <p:nvPr/>
        </p:nvPicPr>
        <p:blipFill>
          <a:blip r:embed="rId2">
            <a:extLst>
              <a:ext uri="{28A0092B-C50C-407E-A947-70E740481C1C}">
                <a14:useLocalDpi xmlns:a14="http://schemas.microsoft.com/office/drawing/2010/main" val="0"/>
              </a:ext>
            </a:extLst>
          </a:blip>
          <a:srcRect l="24380" t="20250" r="17297" b="28441"/>
          <a:stretch>
            <a:fillRect/>
          </a:stretch>
        </p:blipFill>
        <p:spPr bwMode="auto">
          <a:xfrm>
            <a:off x="1259632" y="1031240"/>
            <a:ext cx="6882184" cy="4540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椭圆​​ 2"/>
          <p:cNvSpPr/>
          <p:nvPr/>
        </p:nvSpPr>
        <p:spPr>
          <a:xfrm>
            <a:off x="2267756" y="5013176"/>
            <a:ext cx="4608487" cy="165185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5400" b="1" dirty="0">
                <a:solidFill>
                  <a:srgbClr val="FF0000"/>
                </a:solidFill>
              </a:rPr>
              <a:t>企业定价</a:t>
            </a:r>
            <a:r>
              <a:rPr lang="en-US" altLang="zh-CN" sz="5400" b="1" dirty="0">
                <a:solidFill>
                  <a:srgbClr val="FF0000"/>
                </a:solidFill>
              </a:rPr>
              <a:t>!</a:t>
            </a:r>
            <a:endParaRPr lang="zh-CN" altLang="en-US" sz="2400" b="1" dirty="0">
              <a:solidFill>
                <a:srgbClr val="FF0000"/>
              </a:solidFill>
            </a:endParaRPr>
          </a:p>
        </p:txBody>
      </p:sp>
    </p:spTree>
    <p:extLst>
      <p:ext uri="{BB962C8B-B14F-4D97-AF65-F5344CB8AC3E}">
        <p14:creationId xmlns:p14="http://schemas.microsoft.com/office/powerpoint/2010/main" val="1046211853"/>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b="0" kern="1200" dirty="0">
                <a:effectLst/>
                <a:latin typeface="微软雅黑" panose="020B0503020204020204" pitchFamily="34" charset="-122"/>
                <a:ea typeface="微软雅黑" panose="020B0503020204020204" pitchFamily="34" charset="-122"/>
              </a:rPr>
              <a:t>例</a:t>
            </a:r>
            <a:r>
              <a:rPr lang="en-US" altLang="zh-CN" b="0" kern="1200" dirty="0">
                <a:effectLst/>
                <a:latin typeface="微软雅黑" panose="020B0503020204020204" pitchFamily="34" charset="-122"/>
                <a:ea typeface="微软雅黑" panose="020B0503020204020204" pitchFamily="34" charset="-122"/>
              </a:rPr>
              <a:t>1</a:t>
            </a:r>
            <a:r>
              <a:rPr lang="zh-CN" altLang="en-US" b="0" kern="1200" dirty="0">
                <a:effectLst/>
                <a:latin typeface="微软雅黑" panose="020B0503020204020204" pitchFamily="34" charset="-122"/>
                <a:ea typeface="微软雅黑" panose="020B0503020204020204" pitchFamily="34" charset="-122"/>
              </a:rPr>
              <a:t>：谁决定商品价格</a:t>
            </a:r>
          </a:p>
        </p:txBody>
      </p:sp>
      <p:pic>
        <p:nvPicPr>
          <p:cNvPr id="10244" name="Picture 2"/>
          <p:cNvPicPr>
            <a:picLocks noChangeAspect="1" noChangeArrowheads="1"/>
          </p:cNvPicPr>
          <p:nvPr/>
        </p:nvPicPr>
        <p:blipFill>
          <a:blip r:embed="rId3">
            <a:extLst>
              <a:ext uri="{28A0092B-C50C-407E-A947-70E740481C1C}">
                <a14:useLocalDpi xmlns:a14="http://schemas.microsoft.com/office/drawing/2010/main" val="0"/>
              </a:ext>
            </a:extLst>
          </a:blip>
          <a:srcRect l="7542" t="13667" r="9772" b="6709"/>
          <a:stretch>
            <a:fillRect/>
          </a:stretch>
        </p:blipFill>
        <p:spPr bwMode="auto">
          <a:xfrm>
            <a:off x="684213" y="1125538"/>
            <a:ext cx="7775575"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椭圆​​ 4"/>
          <p:cNvSpPr/>
          <p:nvPr/>
        </p:nvSpPr>
        <p:spPr>
          <a:xfrm>
            <a:off x="1871662" y="1340768"/>
            <a:ext cx="5400675" cy="13677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5400" b="1" dirty="0">
                <a:solidFill>
                  <a:srgbClr val="FF0000"/>
                </a:solidFill>
              </a:rPr>
              <a:t>客户定价</a:t>
            </a:r>
            <a:r>
              <a:rPr lang="en-US" altLang="zh-CN" sz="5400" b="1" dirty="0">
                <a:solidFill>
                  <a:srgbClr val="FF0000"/>
                </a:solidFill>
              </a:rPr>
              <a:t>!</a:t>
            </a:r>
            <a:endParaRPr lang="zh-CN" altLang="en-US" sz="2400" b="1" dirty="0">
              <a:solidFill>
                <a:srgbClr val="FF0000"/>
              </a:solidFill>
            </a:endParaRPr>
          </a:p>
        </p:txBody>
      </p:sp>
    </p:spTree>
    <p:extLst>
      <p:ext uri="{BB962C8B-B14F-4D97-AF65-F5344CB8AC3E}">
        <p14:creationId xmlns:p14="http://schemas.microsoft.com/office/powerpoint/2010/main" val="2002802362"/>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b="0" kern="1200" dirty="0">
                <a:effectLst/>
                <a:latin typeface="微软雅黑" panose="020B0503020204020204" pitchFamily="34" charset="-122"/>
                <a:ea typeface="微软雅黑" panose="020B0503020204020204" pitchFamily="34" charset="-122"/>
              </a:rPr>
              <a:t>例</a:t>
            </a:r>
            <a:r>
              <a:rPr lang="en-US" altLang="zh-CN" b="0" kern="1200" dirty="0">
                <a:effectLst/>
                <a:latin typeface="微软雅黑" panose="020B0503020204020204" pitchFamily="34" charset="-122"/>
                <a:ea typeface="微软雅黑" panose="020B0503020204020204" pitchFamily="34" charset="-122"/>
              </a:rPr>
              <a:t>2：</a:t>
            </a:r>
            <a:r>
              <a:rPr lang="zh-CN" altLang="en-US" b="0" kern="1200" dirty="0">
                <a:effectLst/>
                <a:latin typeface="微软雅黑" panose="020B0503020204020204" pitchFamily="34" charset="-122"/>
                <a:ea typeface="微软雅黑" panose="020B0503020204020204" pitchFamily="34" charset="-122"/>
              </a:rPr>
              <a:t>营销</a:t>
            </a:r>
          </a:p>
        </p:txBody>
      </p:sp>
      <p:pic>
        <p:nvPicPr>
          <p:cNvPr id="14340" name="Picture 4" descr="http://t2.baidu.com/it/u=909577875,3331611661&amp;fm=0&amp;gp=0.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l="20786" t="19389" r="15836" b="24715"/>
          <a:stretch>
            <a:fillRect/>
          </a:stretch>
        </p:blipFill>
        <p:spPr bwMode="auto">
          <a:xfrm>
            <a:off x="983969" y="2030640"/>
            <a:ext cx="3167731" cy="20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图片 9" descr="http://t2.baidu.com/it/u=4275117567,2396726636&amp;fm=0&amp;gp=0.jpg">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72225" y="1268413"/>
            <a:ext cx="1584325"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图片 11" descr="http://t3.baidu.com/it/u=1992684877,4045647797&amp;fm=0&amp;gp=0.jpg">
            <a:hlinkClick r:id="rId7"/>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0425" y="2997200"/>
            <a:ext cx="2376488"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图片 13" descr="http://t2.baidu.com/it/u=4275410122,709648885&amp;fm=0&amp;gp=0.jpg">
            <a:hlinkClick r:id="rId9"/>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7400" y="4941888"/>
            <a:ext cx="2416175" cy="169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椭圆​​ 7"/>
          <p:cNvSpPr/>
          <p:nvPr/>
        </p:nvSpPr>
        <p:spPr>
          <a:xfrm>
            <a:off x="869101" y="4509120"/>
            <a:ext cx="4176961" cy="19106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5400" b="1" dirty="0">
                <a:solidFill>
                  <a:srgbClr val="FF0000"/>
                </a:solidFill>
              </a:rPr>
              <a:t>营销员是</a:t>
            </a:r>
            <a:endParaRPr lang="en-US" altLang="zh-CN" sz="5400" b="1" dirty="0">
              <a:solidFill>
                <a:srgbClr val="FF0000"/>
              </a:solidFill>
            </a:endParaRPr>
          </a:p>
          <a:p>
            <a:pPr algn="ctr">
              <a:defRPr/>
            </a:pPr>
            <a:r>
              <a:rPr lang="zh-CN" altLang="en-US" sz="5400" b="1" dirty="0">
                <a:solidFill>
                  <a:srgbClr val="FF0000"/>
                </a:solidFill>
              </a:rPr>
              <a:t>营销主体</a:t>
            </a:r>
            <a:endParaRPr lang="zh-CN" altLang="en-US" sz="2400" b="1" dirty="0">
              <a:solidFill>
                <a:srgbClr val="FF0000"/>
              </a:solidFill>
            </a:endParaRPr>
          </a:p>
        </p:txBody>
      </p:sp>
      <p:sp>
        <p:nvSpPr>
          <p:cNvPr id="11" name="TextBox 10"/>
          <p:cNvSpPr txBox="1"/>
          <p:nvPr/>
        </p:nvSpPr>
        <p:spPr>
          <a:xfrm>
            <a:off x="251520" y="1198703"/>
            <a:ext cx="3671887" cy="768350"/>
          </a:xfrm>
          <a:prstGeom prst="rect">
            <a:avLst/>
          </a:prstGeom>
          <a:noFill/>
        </p:spPr>
        <p:txBody>
          <a:bodyPr>
            <a:spAutoFit/>
          </a:bodyPr>
          <a:lstStyle/>
          <a:p>
            <a:pPr algn="ctr">
              <a:defRPr/>
            </a:pPr>
            <a:r>
              <a:rPr lang="zh-CN" altLang="en-US" sz="4400" b="1" dirty="0">
                <a:solidFill>
                  <a:srgbClr val="0000FF"/>
                </a:solidFill>
                <a:effectLst>
                  <a:outerShdw blurRad="38100" dist="38100" dir="2700000" algn="tl">
                    <a:srgbClr val="000000">
                      <a:alpha val="43137"/>
                    </a:srgbClr>
                  </a:outerShdw>
                </a:effectLst>
                <a:latin typeface="Arial" charset="0"/>
              </a:rPr>
              <a:t>传统营销</a:t>
            </a:r>
            <a:endParaRPr lang="zh-CN" altLang="en-US" sz="2000" b="1" dirty="0">
              <a:solidFill>
                <a:srgbClr val="0000FF"/>
              </a:solidFill>
              <a:effectLst>
                <a:outerShdw blurRad="38100" dist="38100" dir="2700000" algn="tl">
                  <a:srgbClr val="000000">
                    <a:alpha val="43137"/>
                  </a:srgbClr>
                </a:outerShdw>
              </a:effectLst>
              <a:latin typeface="Arial" charset="0"/>
            </a:endParaRPr>
          </a:p>
        </p:txBody>
      </p:sp>
    </p:spTree>
    <p:extLst>
      <p:ext uri="{BB962C8B-B14F-4D97-AF65-F5344CB8AC3E}">
        <p14:creationId xmlns:p14="http://schemas.microsoft.com/office/powerpoint/2010/main" val="3864849040"/>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b="0" kern="1200" dirty="0">
                <a:effectLst/>
                <a:latin typeface="微软雅黑" panose="020B0503020204020204" pitchFamily="34" charset="-122"/>
                <a:ea typeface="微软雅黑" panose="020B0503020204020204" pitchFamily="34" charset="-122"/>
              </a:rPr>
              <a:t>例</a:t>
            </a:r>
            <a:r>
              <a:rPr lang="en-US" altLang="zh-CN" b="0" kern="1200" dirty="0">
                <a:effectLst/>
                <a:latin typeface="微软雅黑" panose="020B0503020204020204" pitchFamily="34" charset="-122"/>
                <a:ea typeface="微软雅黑" panose="020B0503020204020204" pitchFamily="34" charset="-122"/>
              </a:rPr>
              <a:t>2：</a:t>
            </a:r>
            <a:r>
              <a:rPr lang="zh-CN" altLang="en-US" b="0" kern="1200" dirty="0">
                <a:effectLst/>
                <a:latin typeface="微软雅黑" panose="020B0503020204020204" pitchFamily="34" charset="-122"/>
                <a:ea typeface="微软雅黑" panose="020B0503020204020204" pitchFamily="34" charset="-122"/>
              </a:rPr>
              <a:t>营销</a:t>
            </a:r>
          </a:p>
        </p:txBody>
      </p:sp>
      <p:pic>
        <p:nvPicPr>
          <p:cNvPr id="15364" name="Picture 6" descr="I:\A- 余力尤盘\病毒营销\Viral Marketing图片\images1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1485" y="1291426"/>
            <a:ext cx="3079750"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椭圆​​ 7"/>
          <p:cNvSpPr/>
          <p:nvPr/>
        </p:nvSpPr>
        <p:spPr>
          <a:xfrm>
            <a:off x="598512" y="4797152"/>
            <a:ext cx="3933825" cy="17256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4800" b="1" dirty="0">
                <a:solidFill>
                  <a:srgbClr val="FF0000"/>
                </a:solidFill>
              </a:rPr>
              <a:t>客户是</a:t>
            </a:r>
            <a:endParaRPr lang="en-US" altLang="zh-CN" sz="4800" b="1" dirty="0">
              <a:solidFill>
                <a:srgbClr val="FF0000"/>
              </a:solidFill>
            </a:endParaRPr>
          </a:p>
          <a:p>
            <a:pPr algn="ctr">
              <a:defRPr/>
            </a:pPr>
            <a:r>
              <a:rPr lang="zh-CN" altLang="en-US" sz="4800" b="1" dirty="0">
                <a:solidFill>
                  <a:srgbClr val="FF0000"/>
                </a:solidFill>
              </a:rPr>
              <a:t>营销主体</a:t>
            </a:r>
            <a:endParaRPr lang="zh-CN" altLang="en-US" b="1" dirty="0">
              <a:solidFill>
                <a:srgbClr val="FF0000"/>
              </a:solidFill>
            </a:endParaRPr>
          </a:p>
        </p:txBody>
      </p:sp>
      <p:sp>
        <p:nvSpPr>
          <p:cNvPr id="7" name="TextBox 6"/>
          <p:cNvSpPr txBox="1"/>
          <p:nvPr/>
        </p:nvSpPr>
        <p:spPr>
          <a:xfrm>
            <a:off x="729480" y="3685545"/>
            <a:ext cx="3671888" cy="768350"/>
          </a:xfrm>
          <a:prstGeom prst="rect">
            <a:avLst/>
          </a:prstGeom>
          <a:noFill/>
        </p:spPr>
        <p:txBody>
          <a:bodyPr>
            <a:spAutoFit/>
          </a:bodyPr>
          <a:lstStyle/>
          <a:p>
            <a:pPr algn="ctr">
              <a:defRPr/>
            </a:pPr>
            <a:r>
              <a:rPr lang="zh-CN" altLang="en-US" sz="4400" b="1" dirty="0">
                <a:solidFill>
                  <a:srgbClr val="0000FF"/>
                </a:solidFill>
                <a:effectLst>
                  <a:outerShdw blurRad="38100" dist="38100" dir="2700000" algn="tl">
                    <a:srgbClr val="000000">
                      <a:alpha val="43137"/>
                    </a:srgbClr>
                  </a:outerShdw>
                </a:effectLst>
                <a:latin typeface="Arial" charset="0"/>
              </a:rPr>
              <a:t>社会化营销</a:t>
            </a:r>
            <a:endParaRPr lang="zh-CN" altLang="en-US" sz="2000" b="1" dirty="0">
              <a:solidFill>
                <a:srgbClr val="0000FF"/>
              </a:solidFill>
              <a:effectLst>
                <a:outerShdw blurRad="38100" dist="38100" dir="2700000" algn="tl">
                  <a:srgbClr val="000000">
                    <a:alpha val="43137"/>
                  </a:srgbClr>
                </a:outerShdw>
              </a:effectLst>
              <a:latin typeface="Arial" charset="0"/>
            </a:endParaRPr>
          </a:p>
        </p:txBody>
      </p:sp>
      <p:pic>
        <p:nvPicPr>
          <p:cNvPr id="3" name="图片 2"/>
          <p:cNvPicPr>
            <a:picLocks noChangeAspect="1"/>
          </p:cNvPicPr>
          <p:nvPr/>
        </p:nvPicPr>
        <p:blipFill>
          <a:blip r:embed="rId3"/>
          <a:stretch>
            <a:fillRect/>
          </a:stretch>
        </p:blipFill>
        <p:spPr>
          <a:xfrm>
            <a:off x="5004048" y="1291426"/>
            <a:ext cx="3539560" cy="5556589"/>
          </a:xfrm>
          <a:prstGeom prst="rect">
            <a:avLst/>
          </a:prstGeom>
        </p:spPr>
      </p:pic>
    </p:spTree>
    <p:extLst>
      <p:ext uri="{BB962C8B-B14F-4D97-AF65-F5344CB8AC3E}">
        <p14:creationId xmlns:p14="http://schemas.microsoft.com/office/powerpoint/2010/main" val="2588072261"/>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b="0" kern="1200" dirty="0">
                <a:effectLst/>
                <a:latin typeface="微软雅黑" panose="020B0503020204020204" pitchFamily="34" charset="-122"/>
                <a:ea typeface="微软雅黑" panose="020B0503020204020204" pitchFamily="34" charset="-122"/>
              </a:rPr>
              <a:t>两代理念的差距</a:t>
            </a:r>
          </a:p>
        </p:txBody>
      </p:sp>
      <p:sp>
        <p:nvSpPr>
          <p:cNvPr id="6" name="TextBox 6"/>
          <p:cNvSpPr txBox="1"/>
          <p:nvPr/>
        </p:nvSpPr>
        <p:spPr>
          <a:xfrm>
            <a:off x="900112" y="4337809"/>
            <a:ext cx="3671888" cy="1323439"/>
          </a:xfrm>
          <a:prstGeom prst="rect">
            <a:avLst/>
          </a:prstGeom>
          <a:noFill/>
        </p:spPr>
        <p:txBody>
          <a:bodyPr>
            <a:spAutoFit/>
          </a:bodyPr>
          <a:lstStyle/>
          <a:p>
            <a:pPr algn="ctr">
              <a:defRPr/>
            </a:pPr>
            <a:r>
              <a:rPr lang="en-US" altLang="zh-CN" sz="4000" b="1" dirty="0">
                <a:latin typeface="Arial" charset="0"/>
              </a:rPr>
              <a:t>1.0</a:t>
            </a:r>
          </a:p>
          <a:p>
            <a:pPr algn="ctr">
              <a:defRPr/>
            </a:pPr>
            <a:r>
              <a:rPr lang="zh-CN" altLang="en-US" sz="4000" b="1" dirty="0">
                <a:latin typeface="Arial" charset="0"/>
              </a:rPr>
              <a:t>电子商务</a:t>
            </a:r>
            <a:endParaRPr lang="zh-CN" altLang="en-US" sz="1800" b="1" dirty="0">
              <a:latin typeface="Arial" charset="0"/>
            </a:endParaRPr>
          </a:p>
        </p:txBody>
      </p:sp>
      <p:sp>
        <p:nvSpPr>
          <p:cNvPr id="7" name="TextBox 6"/>
          <p:cNvSpPr txBox="1"/>
          <p:nvPr/>
        </p:nvSpPr>
        <p:spPr>
          <a:xfrm>
            <a:off x="4591594" y="4337809"/>
            <a:ext cx="3671888" cy="1323439"/>
          </a:xfrm>
          <a:prstGeom prst="rect">
            <a:avLst/>
          </a:prstGeom>
          <a:noFill/>
        </p:spPr>
        <p:txBody>
          <a:bodyPr>
            <a:spAutoFit/>
          </a:bodyPr>
          <a:lstStyle/>
          <a:p>
            <a:pPr algn="ctr">
              <a:defRPr/>
            </a:pPr>
            <a:r>
              <a:rPr lang="en-US" altLang="zh-CN" sz="4000" b="1" dirty="0">
                <a:latin typeface="Arial" charset="0"/>
              </a:rPr>
              <a:t>2.0</a:t>
            </a:r>
          </a:p>
          <a:p>
            <a:pPr algn="ctr">
              <a:defRPr/>
            </a:pPr>
            <a:r>
              <a:rPr lang="zh-CN" altLang="en-US" sz="4000" b="1" dirty="0">
                <a:latin typeface="Arial" charset="0"/>
              </a:rPr>
              <a:t>社会商务</a:t>
            </a:r>
            <a:endParaRPr lang="zh-CN" altLang="en-US" sz="1800" b="1" dirty="0">
              <a:latin typeface="Arial" charset="0"/>
            </a:endParaRPr>
          </a:p>
        </p:txBody>
      </p:sp>
      <p:sp>
        <p:nvSpPr>
          <p:cNvPr id="8" name="椭圆​​ 7"/>
          <p:cNvSpPr/>
          <p:nvPr/>
        </p:nvSpPr>
        <p:spPr>
          <a:xfrm>
            <a:off x="1547664" y="1601505"/>
            <a:ext cx="2736304" cy="24792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4000" b="1" dirty="0">
                <a:solidFill>
                  <a:srgbClr val="FF0000"/>
                </a:solidFill>
              </a:rPr>
              <a:t>用户是</a:t>
            </a:r>
            <a:r>
              <a:rPr lang="zh-CN" altLang="en-US" sz="4000" b="1" dirty="0">
                <a:solidFill>
                  <a:srgbClr val="0000FF"/>
                </a:solidFill>
              </a:rPr>
              <a:t>上帝</a:t>
            </a:r>
            <a:endParaRPr lang="zh-CN" altLang="en-US" sz="1600" b="1" dirty="0">
              <a:solidFill>
                <a:srgbClr val="0000FF"/>
              </a:solidFill>
            </a:endParaRPr>
          </a:p>
        </p:txBody>
      </p:sp>
      <p:sp>
        <p:nvSpPr>
          <p:cNvPr id="9" name="椭圆​​ 7"/>
          <p:cNvSpPr/>
          <p:nvPr/>
        </p:nvSpPr>
        <p:spPr>
          <a:xfrm>
            <a:off x="5004048" y="1601506"/>
            <a:ext cx="2736304" cy="24792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4000" b="1" dirty="0">
                <a:solidFill>
                  <a:srgbClr val="FF0000"/>
                </a:solidFill>
              </a:rPr>
              <a:t>用户是</a:t>
            </a:r>
            <a:r>
              <a:rPr lang="zh-CN" altLang="en-US" sz="4000" b="1" dirty="0">
                <a:solidFill>
                  <a:srgbClr val="0000FF"/>
                </a:solidFill>
              </a:rPr>
              <a:t>主人</a:t>
            </a:r>
            <a:endParaRPr lang="zh-CN" altLang="en-US" sz="1600" b="1" dirty="0">
              <a:solidFill>
                <a:srgbClr val="0000FF"/>
              </a:solidFill>
            </a:endParaRPr>
          </a:p>
        </p:txBody>
      </p:sp>
    </p:spTree>
    <p:extLst>
      <p:ext uri="{BB962C8B-B14F-4D97-AF65-F5344CB8AC3E}">
        <p14:creationId xmlns:p14="http://schemas.microsoft.com/office/powerpoint/2010/main" val="3919552800"/>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1691680" y="2937718"/>
            <a:ext cx="6264696" cy="923330"/>
          </a:xfrm>
          <a:prstGeom prst="rect">
            <a:avLst/>
          </a:prstGeom>
          <a:noFill/>
        </p:spPr>
        <p:txBody>
          <a:bodyPr wrap="square" rtlCol="0">
            <a:spAutoFit/>
          </a:bodyPr>
          <a:lstStyle/>
          <a:p>
            <a:pPr algn="ctr"/>
            <a:r>
              <a:rPr lang="en-US" altLang="zh-CN" sz="5400" b="0" dirty="0">
                <a:solidFill>
                  <a:srgbClr val="FF0000"/>
                </a:solidFill>
                <a:latin typeface="微软雅黑" panose="020B0503020204020204" pitchFamily="34" charset="-122"/>
                <a:ea typeface="微软雅黑" panose="020B0503020204020204" pitchFamily="34" charset="-122"/>
              </a:rPr>
              <a:t>3. </a:t>
            </a:r>
            <a:r>
              <a:rPr lang="zh-CN" altLang="en-US" sz="5400" b="0" dirty="0">
                <a:solidFill>
                  <a:srgbClr val="FF0000"/>
                </a:solidFill>
                <a:latin typeface="微软雅黑" panose="020B0503020204020204" pitchFamily="34" charset="-122"/>
                <a:ea typeface="微软雅黑" panose="020B0503020204020204" pitchFamily="34" charset="-122"/>
              </a:rPr>
              <a:t>社会计算</a:t>
            </a: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6228184" y="260648"/>
            <a:ext cx="2660986" cy="610982"/>
          </a:xfrm>
          <a:prstGeom prst="rect">
            <a:avLst/>
          </a:prstGeom>
        </p:spPr>
      </p:pic>
    </p:spTree>
    <p:extLst>
      <p:ext uri="{BB962C8B-B14F-4D97-AF65-F5344CB8AC3E}">
        <p14:creationId xmlns:p14="http://schemas.microsoft.com/office/powerpoint/2010/main" val="1923433448"/>
      </p:ext>
    </p:extLst>
  </p:cSld>
  <p:clrMapOvr>
    <a:masterClrMapping/>
  </p:clrMapOvr>
  <p:transition spd="slow">
    <p:circl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dirty="0"/>
              <a:t>社会计算的理解</a:t>
            </a:r>
            <a:endParaRPr lang="zh-CN" altLang="en-US" dirty="0">
              <a:solidFill>
                <a:srgbClr val="2808E8"/>
              </a:solidFill>
            </a:endParaRPr>
          </a:p>
        </p:txBody>
      </p:sp>
      <p:sp>
        <p:nvSpPr>
          <p:cNvPr id="39939" name="内容占位符 2"/>
          <p:cNvSpPr>
            <a:spLocks noGrp="1"/>
          </p:cNvSpPr>
          <p:nvPr>
            <p:ph idx="1"/>
          </p:nvPr>
        </p:nvSpPr>
        <p:spPr/>
        <p:txBody>
          <a:bodyPr/>
          <a:lstStyle/>
          <a:p>
            <a:pPr>
              <a:lnSpc>
                <a:spcPct val="200000"/>
              </a:lnSpc>
            </a:pPr>
            <a:r>
              <a:rPr lang="zh-CN" altLang="zh-CN" sz="2400" dirty="0"/>
              <a:t>社会计算是一门现代计算技术与社会科学之间的交叉学科</a:t>
            </a:r>
            <a:r>
              <a:rPr lang="zh-CN" altLang="zh-CN" sz="2800" dirty="0"/>
              <a:t> </a:t>
            </a:r>
            <a:endParaRPr lang="en-US" altLang="zh-CN" sz="2400" dirty="0"/>
          </a:p>
          <a:p>
            <a:pPr lvl="1">
              <a:lnSpc>
                <a:spcPct val="200000"/>
              </a:lnSpc>
            </a:pPr>
            <a:r>
              <a:rPr lang="zh-CN" altLang="zh-CN" sz="2200" dirty="0">
                <a:solidFill>
                  <a:srgbClr val="2808E8"/>
                </a:solidFill>
              </a:rPr>
              <a:t>从技术层面上</a:t>
            </a:r>
            <a:r>
              <a:rPr lang="zh-CN" altLang="zh-CN" sz="2200" dirty="0"/>
              <a:t>，是研究</a:t>
            </a:r>
            <a:r>
              <a:rPr lang="zh-CN" altLang="zh-CN" sz="2200" dirty="0">
                <a:solidFill>
                  <a:srgbClr val="FF0000"/>
                </a:solidFill>
              </a:rPr>
              <a:t>计算机以及信息技术在社会中得到应用</a:t>
            </a:r>
            <a:r>
              <a:rPr lang="zh-CN" altLang="zh-CN" sz="2200" dirty="0"/>
              <a:t>，从而影响传统的社会交往行为，达到高度有效的社会性交互；</a:t>
            </a:r>
            <a:endParaRPr lang="en-US" altLang="zh-CN" sz="2200" dirty="0"/>
          </a:p>
          <a:p>
            <a:pPr lvl="1">
              <a:lnSpc>
                <a:spcPct val="200000"/>
              </a:lnSpc>
            </a:pPr>
            <a:r>
              <a:rPr lang="zh-CN" altLang="zh-CN" sz="2200" dirty="0">
                <a:solidFill>
                  <a:srgbClr val="2808E8"/>
                </a:solidFill>
              </a:rPr>
              <a:t>从社会层面上</a:t>
            </a:r>
            <a:r>
              <a:rPr lang="zh-CN" altLang="zh-CN" sz="2200" dirty="0"/>
              <a:t>，则是基于社会科学知识、理论和方法学，借助计算机术和信息技术的力量，来</a:t>
            </a:r>
            <a:r>
              <a:rPr lang="zh-CN" altLang="zh-CN" sz="2200" dirty="0">
                <a:solidFill>
                  <a:srgbClr val="FF0000"/>
                </a:solidFill>
              </a:rPr>
              <a:t>帮助人类认识和解决各种事关重大的社会问题</a:t>
            </a:r>
            <a:r>
              <a:rPr lang="zh-CN" altLang="zh-CN" sz="2200" dirty="0"/>
              <a:t>，使社会和谐的发展。</a:t>
            </a:r>
            <a:endParaRPr lang="zh-CN" altLang="en-US" sz="2200" dirty="0"/>
          </a:p>
        </p:txBody>
      </p:sp>
    </p:spTree>
    <p:extLst>
      <p:ext uri="{BB962C8B-B14F-4D97-AF65-F5344CB8AC3E}">
        <p14:creationId xmlns:p14="http://schemas.microsoft.com/office/powerpoint/2010/main" val="2873884393"/>
      </p:ext>
    </p:extLst>
  </p:cSld>
  <p:clrMapOvr>
    <a:masterClrMapping/>
  </p:clrMapOvr>
  <p:transition spd="slow">
    <p:circl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a:t>社会计算的</a:t>
            </a:r>
            <a:r>
              <a:rPr lang="en-GB" altLang="zh-CN"/>
              <a:t>ForBy</a:t>
            </a:r>
            <a:r>
              <a:rPr lang="zh-CN" altLang="en-US"/>
              <a:t>概念模型</a:t>
            </a:r>
          </a:p>
        </p:txBody>
      </p:sp>
      <p:sp>
        <p:nvSpPr>
          <p:cNvPr id="41988" name="云形 4"/>
          <p:cNvSpPr>
            <a:spLocks/>
          </p:cNvSpPr>
          <p:nvPr/>
        </p:nvSpPr>
        <p:spPr bwMode="auto">
          <a:xfrm>
            <a:off x="2267744" y="1268760"/>
            <a:ext cx="4495800" cy="1800225"/>
          </a:xfrm>
          <a:custGeom>
            <a:avLst/>
            <a:gdLst>
              <a:gd name="T0" fmla="*/ 2147483647 w 43200"/>
              <a:gd name="T1" fmla="*/ 2147483647 h 43200"/>
              <a:gd name="T2" fmla="*/ 2147483647 w 43200"/>
              <a:gd name="T3" fmla="*/ 2147483647 h 43200"/>
              <a:gd name="T4" fmla="*/ 2147483647 w 43200"/>
              <a:gd name="T5" fmla="*/ 2147483647 h 43200"/>
              <a:gd name="T6" fmla="*/ 2147483647 w 43200"/>
              <a:gd name="T7" fmla="*/ 2147483647 h 43200"/>
              <a:gd name="T8" fmla="*/ 2147483647 w 43200"/>
              <a:gd name="T9" fmla="*/ 2147483647 h 43200"/>
              <a:gd name="T10" fmla="*/ 2147483647 w 43200"/>
              <a:gd name="T11" fmla="*/ 2147483647 h 43200"/>
              <a:gd name="T12" fmla="*/ 2147483647 w 43200"/>
              <a:gd name="T13" fmla="*/ 2147483647 h 43200"/>
              <a:gd name="T14" fmla="*/ 2147483647 w 43200"/>
              <a:gd name="T15" fmla="*/ 2147483647 h 43200"/>
              <a:gd name="T16" fmla="*/ 2147483647 w 43200"/>
              <a:gd name="T17" fmla="*/ 2147483647 h 43200"/>
              <a:gd name="T18" fmla="*/ 2147483647 w 43200"/>
              <a:gd name="T19" fmla="*/ 2147483647 h 43200"/>
              <a:gd name="T20" fmla="*/ 2147483647 w 43200"/>
              <a:gd name="T21" fmla="*/ 2147483647 h 43200"/>
              <a:gd name="T22" fmla="*/ 2147483647 w 43200"/>
              <a:gd name="T23" fmla="*/ 2147483647 h 43200"/>
              <a:gd name="T24" fmla="*/ 2147483647 w 43200"/>
              <a:gd name="T25" fmla="*/ 2147483647 h 43200"/>
              <a:gd name="T26" fmla="*/ 2147483647 w 43200"/>
              <a:gd name="T27" fmla="*/ 2147483647 h 43200"/>
              <a:gd name="T28" fmla="*/ 2147483647 w 43200"/>
              <a:gd name="T29" fmla="*/ 2147483647 h 43200"/>
              <a:gd name="T30" fmla="*/ 2147483647 w 43200"/>
              <a:gd name="T31" fmla="*/ 2147483647 h 43200"/>
              <a:gd name="T32" fmla="*/ 2147483647 w 43200"/>
              <a:gd name="T33" fmla="*/ 2147483647 h 43200"/>
              <a:gd name="T34" fmla="*/ 2147483647 w 43200"/>
              <a:gd name="T35" fmla="*/ 2147483647 h 43200"/>
              <a:gd name="T36" fmla="*/ 2147483647 w 43200"/>
              <a:gd name="T37" fmla="*/ 2147483647 h 43200"/>
              <a:gd name="T38" fmla="*/ 2147483647 w 43200"/>
              <a:gd name="T39" fmla="*/ 2147483647 h 43200"/>
              <a:gd name="T40" fmla="*/ 2147483647 w 43200"/>
              <a:gd name="T41" fmla="*/ 2147483647 h 43200"/>
              <a:gd name="T42" fmla="*/ 2147483647 w 43200"/>
              <a:gd name="T43" fmla="*/ 2147483647 h 432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3200"/>
              <a:gd name="T67" fmla="*/ 0 h 43200"/>
              <a:gd name="T68" fmla="*/ 43200 w 43200"/>
              <a:gd name="T69" fmla="*/ 43200 h 432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3200" h="43200">
                <a:moveTo>
                  <a:pt x="3900" y="14370"/>
                </a:moveTo>
                <a:cubicBezTo>
                  <a:pt x="3629" y="11657"/>
                  <a:pt x="4261" y="8921"/>
                  <a:pt x="5623" y="6907"/>
                </a:cubicBezTo>
                <a:cubicBezTo>
                  <a:pt x="7775" y="3726"/>
                  <a:pt x="11264" y="3017"/>
                  <a:pt x="14005" y="5202"/>
                </a:cubicBezTo>
                <a:cubicBezTo>
                  <a:pt x="15678" y="909"/>
                  <a:pt x="19914" y="22"/>
                  <a:pt x="22456" y="3432"/>
                </a:cubicBezTo>
                <a:cubicBezTo>
                  <a:pt x="23097" y="1683"/>
                  <a:pt x="24328" y="474"/>
                  <a:pt x="25749" y="200"/>
                </a:cubicBezTo>
                <a:cubicBezTo>
                  <a:pt x="27313" y="-102"/>
                  <a:pt x="28875" y="770"/>
                  <a:pt x="29833" y="2481"/>
                </a:cubicBezTo>
                <a:cubicBezTo>
                  <a:pt x="31215" y="267"/>
                  <a:pt x="33501" y="-460"/>
                  <a:pt x="35463" y="690"/>
                </a:cubicBezTo>
                <a:cubicBezTo>
                  <a:pt x="36958" y="1566"/>
                  <a:pt x="38030" y="3400"/>
                  <a:pt x="38318" y="5576"/>
                </a:cubicBezTo>
                <a:cubicBezTo>
                  <a:pt x="40046" y="6218"/>
                  <a:pt x="41422" y="7998"/>
                  <a:pt x="41982" y="10318"/>
                </a:cubicBezTo>
                <a:cubicBezTo>
                  <a:pt x="42389" y="12002"/>
                  <a:pt x="42331" y="13831"/>
                  <a:pt x="41818" y="15460"/>
                </a:cubicBezTo>
                <a:cubicBezTo>
                  <a:pt x="43079" y="17694"/>
                  <a:pt x="43520" y="20590"/>
                  <a:pt x="43016" y="23322"/>
                </a:cubicBezTo>
                <a:cubicBezTo>
                  <a:pt x="42346" y="26954"/>
                  <a:pt x="40128" y="29674"/>
                  <a:pt x="37404" y="30204"/>
                </a:cubicBezTo>
                <a:cubicBezTo>
                  <a:pt x="37391" y="32471"/>
                  <a:pt x="36658" y="34621"/>
                  <a:pt x="35395" y="36101"/>
                </a:cubicBezTo>
                <a:cubicBezTo>
                  <a:pt x="33476" y="38350"/>
                  <a:pt x="30704" y="38639"/>
                  <a:pt x="28555" y="36815"/>
                </a:cubicBezTo>
                <a:cubicBezTo>
                  <a:pt x="27860" y="39948"/>
                  <a:pt x="25999" y="42343"/>
                  <a:pt x="23667" y="43106"/>
                </a:cubicBezTo>
                <a:cubicBezTo>
                  <a:pt x="20919" y="44005"/>
                  <a:pt x="18051" y="42473"/>
                  <a:pt x="16480" y="39266"/>
                </a:cubicBezTo>
                <a:cubicBezTo>
                  <a:pt x="12772" y="42310"/>
                  <a:pt x="7956" y="40599"/>
                  <a:pt x="5804" y="35472"/>
                </a:cubicBezTo>
                <a:cubicBezTo>
                  <a:pt x="3690" y="35809"/>
                  <a:pt x="1705" y="34024"/>
                  <a:pt x="1110" y="31250"/>
                </a:cubicBezTo>
                <a:cubicBezTo>
                  <a:pt x="679" y="29243"/>
                  <a:pt x="1060" y="27077"/>
                  <a:pt x="2113" y="25551"/>
                </a:cubicBezTo>
                <a:cubicBezTo>
                  <a:pt x="619" y="24354"/>
                  <a:pt x="-213" y="22057"/>
                  <a:pt x="-5" y="19704"/>
                </a:cubicBezTo>
                <a:cubicBezTo>
                  <a:pt x="239" y="16949"/>
                  <a:pt x="1845" y="14791"/>
                  <a:pt x="3863" y="14507"/>
                </a:cubicBezTo>
                <a:cubicBezTo>
                  <a:pt x="3875" y="14461"/>
                  <a:pt x="3888" y="14416"/>
                  <a:pt x="3900" y="14370"/>
                </a:cubicBezTo>
                <a:close/>
              </a:path>
              <a:path w="43200" h="43200" fill="none">
                <a:moveTo>
                  <a:pt x="4693" y="26177"/>
                </a:moveTo>
                <a:cubicBezTo>
                  <a:pt x="3809" y="26271"/>
                  <a:pt x="2925" y="25993"/>
                  <a:pt x="2160" y="25380"/>
                </a:cubicBezTo>
                <a:moveTo>
                  <a:pt x="6928" y="34899"/>
                </a:moveTo>
                <a:cubicBezTo>
                  <a:pt x="6573" y="35092"/>
                  <a:pt x="6200" y="35220"/>
                  <a:pt x="5820" y="35280"/>
                </a:cubicBezTo>
                <a:moveTo>
                  <a:pt x="16478" y="39090"/>
                </a:moveTo>
                <a:cubicBezTo>
                  <a:pt x="16211" y="38544"/>
                  <a:pt x="15987" y="37961"/>
                  <a:pt x="15810" y="37350"/>
                </a:cubicBezTo>
                <a:moveTo>
                  <a:pt x="28827" y="34751"/>
                </a:moveTo>
                <a:cubicBezTo>
                  <a:pt x="28788" y="35398"/>
                  <a:pt x="28698" y="36038"/>
                  <a:pt x="28560" y="36660"/>
                </a:cubicBezTo>
                <a:moveTo>
                  <a:pt x="34129" y="22954"/>
                </a:moveTo>
                <a:cubicBezTo>
                  <a:pt x="36133" y="24282"/>
                  <a:pt x="37398" y="27058"/>
                  <a:pt x="37380" y="30090"/>
                </a:cubicBezTo>
                <a:moveTo>
                  <a:pt x="41798" y="15354"/>
                </a:moveTo>
                <a:cubicBezTo>
                  <a:pt x="41473" y="16386"/>
                  <a:pt x="40978" y="17302"/>
                  <a:pt x="40350" y="18030"/>
                </a:cubicBezTo>
                <a:moveTo>
                  <a:pt x="38324" y="5426"/>
                </a:moveTo>
                <a:cubicBezTo>
                  <a:pt x="38379" y="5843"/>
                  <a:pt x="38405" y="6266"/>
                  <a:pt x="38400" y="6690"/>
                </a:cubicBezTo>
                <a:moveTo>
                  <a:pt x="29078" y="3952"/>
                </a:moveTo>
                <a:cubicBezTo>
                  <a:pt x="29267" y="3369"/>
                  <a:pt x="29516" y="2826"/>
                  <a:pt x="29820" y="2340"/>
                </a:cubicBezTo>
                <a:moveTo>
                  <a:pt x="22141" y="4720"/>
                </a:moveTo>
                <a:cubicBezTo>
                  <a:pt x="22218" y="4238"/>
                  <a:pt x="22339" y="3771"/>
                  <a:pt x="22500" y="3330"/>
                </a:cubicBezTo>
                <a:moveTo>
                  <a:pt x="14000" y="5192"/>
                </a:moveTo>
                <a:cubicBezTo>
                  <a:pt x="14472" y="5568"/>
                  <a:pt x="14908" y="6021"/>
                  <a:pt x="15300" y="6540"/>
                </a:cubicBezTo>
                <a:moveTo>
                  <a:pt x="4127" y="15789"/>
                </a:moveTo>
                <a:cubicBezTo>
                  <a:pt x="4024" y="15325"/>
                  <a:pt x="3948" y="14851"/>
                  <a:pt x="3900" y="14370"/>
                </a:cubicBezTo>
              </a:path>
            </a:pathLst>
          </a:custGeom>
          <a:solidFill>
            <a:schemeClr val="accent1">
              <a:alpha val="47842"/>
            </a:schemeClr>
          </a:solidFill>
          <a:ln w="9525" algn="ctr">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en-US" altLang="zh-CN" sz="2800" b="1">
                <a:solidFill>
                  <a:srgbClr val="FF0000"/>
                </a:solidFill>
              </a:rPr>
              <a:t>For:</a:t>
            </a:r>
            <a:r>
              <a:rPr lang="zh-CN" altLang="en-US" sz="2800" b="1">
                <a:solidFill>
                  <a:srgbClr val="FF0000"/>
                </a:solidFill>
              </a:rPr>
              <a:t>社会系统</a:t>
            </a:r>
            <a:endParaRPr lang="en-US" altLang="zh-CN" sz="2800" b="1">
              <a:solidFill>
                <a:srgbClr val="FF0000"/>
              </a:solidFill>
            </a:endParaRPr>
          </a:p>
          <a:p>
            <a:pPr algn="ctr" eaLnBrk="1" hangingPunct="1">
              <a:lnSpc>
                <a:spcPct val="150000"/>
              </a:lnSpc>
            </a:pPr>
            <a:r>
              <a:rPr lang="zh-CN" altLang="en-US" sz="2800"/>
              <a:t>（物理</a:t>
            </a:r>
            <a:r>
              <a:rPr lang="en-US" altLang="zh-CN" sz="2800"/>
              <a:t>+</a:t>
            </a:r>
            <a:r>
              <a:rPr lang="zh-CN" altLang="en-US" sz="2800"/>
              <a:t>虚拟）</a:t>
            </a:r>
          </a:p>
        </p:txBody>
      </p:sp>
      <p:sp>
        <p:nvSpPr>
          <p:cNvPr id="41989" name="矩形​​ 5"/>
          <p:cNvSpPr>
            <a:spLocks noChangeArrowheads="1"/>
          </p:cNvSpPr>
          <p:nvPr/>
        </p:nvSpPr>
        <p:spPr bwMode="auto">
          <a:xfrm>
            <a:off x="3130841" y="4898119"/>
            <a:ext cx="3240087" cy="1192768"/>
          </a:xfrm>
          <a:prstGeom prst="rect">
            <a:avLst/>
          </a:prstGeom>
          <a:solidFill>
            <a:schemeClr val="accent1">
              <a:alpha val="47842"/>
            </a:schemeClr>
          </a:solidFill>
          <a:ln w="9525" algn="ctr">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en-GB" altLang="zh-CN" sz="2800" b="1" dirty="0">
                <a:solidFill>
                  <a:srgbClr val="FF0000"/>
                </a:solidFill>
              </a:rPr>
              <a:t>By:</a:t>
            </a:r>
            <a:r>
              <a:rPr lang="zh-CN" altLang="en-US" sz="2800" b="1" dirty="0">
                <a:solidFill>
                  <a:srgbClr val="FF0000"/>
                </a:solidFill>
              </a:rPr>
              <a:t>社会方法</a:t>
            </a:r>
            <a:endParaRPr lang="en-US" altLang="zh-CN" sz="2800" b="1" dirty="0">
              <a:solidFill>
                <a:srgbClr val="FF0000"/>
              </a:solidFill>
            </a:endParaRPr>
          </a:p>
          <a:p>
            <a:pPr algn="ctr" eaLnBrk="1" hangingPunct="1">
              <a:lnSpc>
                <a:spcPct val="150000"/>
              </a:lnSpc>
            </a:pPr>
            <a:r>
              <a:rPr lang="zh-CN" altLang="en-US" sz="2800" dirty="0"/>
              <a:t>（协同）</a:t>
            </a:r>
          </a:p>
        </p:txBody>
      </p:sp>
      <p:sp>
        <p:nvSpPr>
          <p:cNvPr id="41990" name="下箭头​​ 6"/>
          <p:cNvSpPr>
            <a:spLocks noChangeArrowheads="1"/>
          </p:cNvSpPr>
          <p:nvPr/>
        </p:nvSpPr>
        <p:spPr bwMode="auto">
          <a:xfrm rot="10800000">
            <a:off x="3931860" y="3140423"/>
            <a:ext cx="1511300" cy="1654175"/>
          </a:xfrm>
          <a:prstGeom prst="downArrow">
            <a:avLst>
              <a:gd name="adj1" fmla="val 50000"/>
              <a:gd name="adj2" fmla="val 50019"/>
            </a:avLst>
          </a:prstGeom>
          <a:solidFill>
            <a:srgbClr val="00B050">
              <a:alpha val="47842"/>
            </a:srgbClr>
          </a:solidFill>
          <a:ln w="9525" algn="ctr">
            <a:solidFill>
              <a:schemeClr val="tx1"/>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1991" name="流程图: 过程 7"/>
          <p:cNvSpPr>
            <a:spLocks noChangeArrowheads="1"/>
          </p:cNvSpPr>
          <p:nvPr/>
        </p:nvSpPr>
        <p:spPr bwMode="auto">
          <a:xfrm>
            <a:off x="3254082" y="3500785"/>
            <a:ext cx="2692400" cy="936625"/>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type="none" w="sm" len="sm"/>
                <a:tailEnd type="none" w="sm" len="sm"/>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dirty="0"/>
              <a:t> 分析                  管理</a:t>
            </a:r>
          </a:p>
        </p:txBody>
      </p:sp>
      <p:sp>
        <p:nvSpPr>
          <p:cNvPr id="41992" name="流程图: 过程 7"/>
          <p:cNvSpPr>
            <a:spLocks noChangeArrowheads="1"/>
          </p:cNvSpPr>
          <p:nvPr/>
        </p:nvSpPr>
        <p:spPr bwMode="auto">
          <a:xfrm>
            <a:off x="4242594" y="3572223"/>
            <a:ext cx="592137" cy="936625"/>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type="none" w="sm" len="sm"/>
                <a:tailEnd type="none" w="sm" len="sm"/>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rgbClr val="FF0000"/>
                </a:solidFill>
                <a:latin typeface="华文琥珀" panose="02010800040101010101" pitchFamily="2" charset="-122"/>
                <a:ea typeface="华文琥珀" panose="02010800040101010101" pitchFamily="2" charset="-122"/>
              </a:rPr>
              <a:t>计</a:t>
            </a:r>
            <a:endParaRPr lang="en-US" altLang="zh-CN" sz="3200">
              <a:solidFill>
                <a:srgbClr val="FF0000"/>
              </a:solidFill>
              <a:latin typeface="华文琥珀" panose="02010800040101010101" pitchFamily="2" charset="-122"/>
              <a:ea typeface="华文琥珀" panose="02010800040101010101" pitchFamily="2" charset="-122"/>
            </a:endParaRPr>
          </a:p>
          <a:p>
            <a:pPr eaLnBrk="1" hangingPunct="1"/>
            <a:r>
              <a:rPr lang="zh-CN" altLang="en-US" sz="3200">
                <a:solidFill>
                  <a:srgbClr val="FF0000"/>
                </a:solidFill>
                <a:latin typeface="华文琥珀" panose="02010800040101010101" pitchFamily="2" charset="-122"/>
                <a:ea typeface="华文琥珀" panose="02010800040101010101" pitchFamily="2" charset="-122"/>
              </a:rPr>
              <a:t>算</a:t>
            </a:r>
            <a:endParaRPr lang="zh-CN" altLang="en-US" sz="3200"/>
          </a:p>
        </p:txBody>
      </p:sp>
      <p:sp>
        <p:nvSpPr>
          <p:cNvPr id="2" name="矩形 1"/>
          <p:cNvSpPr/>
          <p:nvPr/>
        </p:nvSpPr>
        <p:spPr>
          <a:xfrm>
            <a:off x="971600" y="6467142"/>
            <a:ext cx="7511993" cy="369332"/>
          </a:xfrm>
          <a:prstGeom prst="rect">
            <a:avLst/>
          </a:prstGeom>
        </p:spPr>
        <p:txBody>
          <a:bodyPr wrap="none">
            <a:spAutoFit/>
          </a:bodyPr>
          <a:lstStyle/>
          <a:p>
            <a:r>
              <a:rPr lang="zh-CN" altLang="en-US" sz="1800" dirty="0">
                <a:latin typeface="Times New Roman" panose="02020603050405020304" pitchFamily="18" charset="0"/>
                <a:ea typeface="仿宋" panose="02010609060101010101" pitchFamily="49" charset="-122"/>
                <a:cs typeface="Times New Roman" panose="02020603050405020304" pitchFamily="18" charset="0"/>
              </a:rPr>
              <a:t>孟小峰，余力，用社会化方法计算社会，中国计算机学会通讯，</a:t>
            </a:r>
            <a:r>
              <a:rPr lang="en-US" altLang="zh-CN" sz="1800" dirty="0">
                <a:latin typeface="Times New Roman" panose="02020603050405020304" pitchFamily="18" charset="0"/>
                <a:ea typeface="仿宋" panose="02010609060101010101" pitchFamily="49" charset="-122"/>
                <a:cs typeface="Times New Roman" panose="02020603050405020304" pitchFamily="18" charset="0"/>
              </a:rPr>
              <a:t>2011.12</a:t>
            </a:r>
            <a:endParaRPr lang="zh-CN" altLang="en-US" sz="1800" dirty="0">
              <a:latin typeface="Times New Roman" panose="02020603050405020304" pitchFamily="18" charset="0"/>
              <a:ea typeface="仿宋"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2434775635"/>
      </p:ext>
    </p:extLst>
  </p:cSld>
  <p:clrMapOvr>
    <a:masterClrMapping/>
  </p:clrMapOvr>
  <p:transition spd="slow">
    <p:circl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zh-CN" altLang="en-US"/>
              <a:t>第一层函义</a:t>
            </a:r>
            <a:r>
              <a:rPr lang="en-GB" altLang="zh-CN"/>
              <a:t>: For -</a:t>
            </a:r>
            <a:r>
              <a:rPr lang="zh-CN" altLang="en-US"/>
              <a:t>社会是计算的对象</a:t>
            </a:r>
          </a:p>
        </p:txBody>
      </p:sp>
      <p:pic>
        <p:nvPicPr>
          <p:cNvPr id="43012" name="图片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55650" y="3357563"/>
            <a:ext cx="7551738" cy="3394075"/>
          </a:xfrm>
          <a:noFill/>
        </p:spPr>
      </p:pic>
      <p:sp>
        <p:nvSpPr>
          <p:cNvPr id="6" name="云形 5"/>
          <p:cNvSpPr/>
          <p:nvPr/>
        </p:nvSpPr>
        <p:spPr bwMode="auto">
          <a:xfrm>
            <a:off x="885336" y="1412776"/>
            <a:ext cx="3312368" cy="2088232"/>
          </a:xfrm>
          <a:prstGeom prst="cloud">
            <a:avLst/>
          </a:prstGeom>
          <a:solidFill>
            <a:schemeClr val="accent1">
              <a:alpha val="48000"/>
            </a:schemeClr>
          </a:solidFill>
          <a:ln w="9525" cap="flat" cmpd="sng" algn="ctr">
            <a:solidFill>
              <a:schemeClr val="tx1"/>
            </a:solidFill>
            <a:prstDash val="solid"/>
            <a:miter lim="800000"/>
            <a:headEnd type="none" w="sm" len="sm"/>
            <a:tailEnd type="none" w="sm" len="sm"/>
          </a:ln>
          <a:effectLst/>
        </p:spPr>
        <p:txBody>
          <a:bodyPr wrap="none" anchor="ctr"/>
          <a:lstStyle/>
          <a:p>
            <a:pPr marL="0" lvl="1" algn="ctr">
              <a:defRPr/>
            </a:pPr>
            <a:r>
              <a:rPr lang="zh-CN" altLang="en-US" sz="2800" b="1" dirty="0">
                <a:latin typeface="Arial" charset="0"/>
                <a:ea typeface="宋体" charset="-122"/>
              </a:rPr>
              <a:t>物理社会</a:t>
            </a:r>
            <a:endParaRPr lang="en-US" altLang="zh-CN" sz="2800" b="1" dirty="0">
              <a:latin typeface="Arial" charset="0"/>
              <a:ea typeface="宋体" charset="-122"/>
            </a:endParaRPr>
          </a:p>
          <a:p>
            <a:pPr marL="0" lvl="1" algn="ctr">
              <a:defRPr/>
            </a:pPr>
            <a:r>
              <a:rPr lang="en-US" altLang="zh-CN" sz="2800" b="1" dirty="0">
                <a:latin typeface="Arial" charset="0"/>
                <a:ea typeface="宋体" charset="-122"/>
              </a:rPr>
              <a:t>(</a:t>
            </a:r>
            <a:r>
              <a:rPr lang="zh-CN" altLang="en-US" sz="2800" b="1" dirty="0">
                <a:latin typeface="Arial" charset="0"/>
                <a:ea typeface="宋体" charset="-122"/>
              </a:rPr>
              <a:t>现实</a:t>
            </a:r>
            <a:r>
              <a:rPr lang="en-US" altLang="zh-CN" sz="2800" b="1" dirty="0">
                <a:latin typeface="Arial" charset="0"/>
                <a:ea typeface="宋体" charset="-122"/>
              </a:rPr>
              <a:t>)</a:t>
            </a:r>
          </a:p>
          <a:p>
            <a:pPr marL="0" lvl="1" algn="ctr">
              <a:defRPr/>
            </a:pPr>
            <a:r>
              <a:rPr lang="zh-CN" altLang="en-US" b="1" dirty="0">
                <a:solidFill>
                  <a:srgbClr val="FF0000"/>
                </a:solidFill>
                <a:latin typeface="Arial" charset="0"/>
                <a:ea typeface="宋体" charset="-122"/>
              </a:rPr>
              <a:t>国家</a:t>
            </a:r>
            <a:r>
              <a:rPr lang="en-US" altLang="zh-CN" b="1" dirty="0">
                <a:solidFill>
                  <a:srgbClr val="FF0000"/>
                </a:solidFill>
                <a:latin typeface="Arial" charset="0"/>
                <a:ea typeface="宋体" charset="-122"/>
              </a:rPr>
              <a:t>, </a:t>
            </a:r>
            <a:r>
              <a:rPr lang="zh-CN" altLang="en-US" b="1" dirty="0">
                <a:solidFill>
                  <a:srgbClr val="FF0000"/>
                </a:solidFill>
                <a:latin typeface="Arial" charset="0"/>
                <a:ea typeface="宋体" charset="-122"/>
              </a:rPr>
              <a:t>城市</a:t>
            </a:r>
            <a:endParaRPr lang="en-US" altLang="zh-CN" b="1" dirty="0">
              <a:solidFill>
                <a:srgbClr val="FF0000"/>
              </a:solidFill>
              <a:latin typeface="Arial" charset="0"/>
              <a:ea typeface="宋体" charset="-122"/>
            </a:endParaRPr>
          </a:p>
          <a:p>
            <a:pPr marL="0" lvl="1" algn="ctr">
              <a:defRPr/>
            </a:pPr>
            <a:r>
              <a:rPr lang="zh-CN" altLang="en-US" b="1" dirty="0">
                <a:solidFill>
                  <a:srgbClr val="FF0000"/>
                </a:solidFill>
                <a:latin typeface="Arial" charset="0"/>
                <a:ea typeface="宋体" charset="-122"/>
              </a:rPr>
              <a:t>企业</a:t>
            </a:r>
            <a:r>
              <a:rPr lang="en-US" altLang="zh-CN" b="1" dirty="0">
                <a:solidFill>
                  <a:srgbClr val="FF0000"/>
                </a:solidFill>
                <a:latin typeface="Arial" charset="0"/>
                <a:ea typeface="宋体" charset="-122"/>
              </a:rPr>
              <a:t>, </a:t>
            </a:r>
            <a:r>
              <a:rPr lang="zh-CN" altLang="en-US" b="1" dirty="0">
                <a:solidFill>
                  <a:srgbClr val="FF0000"/>
                </a:solidFill>
                <a:latin typeface="Arial" charset="0"/>
                <a:ea typeface="宋体" charset="-122"/>
              </a:rPr>
              <a:t>学校</a:t>
            </a:r>
            <a:endParaRPr lang="zh-CN" altLang="en-US" sz="2800" b="1" dirty="0">
              <a:ln w="12700">
                <a:solidFill>
                  <a:schemeClr val="tx2">
                    <a:satMod val="155000"/>
                  </a:schemeClr>
                </a:solidFill>
                <a:prstDash val="solid"/>
              </a:ln>
              <a:solidFill>
                <a:schemeClr val="bg2">
                  <a:tint val="85000"/>
                  <a:satMod val="155000"/>
                </a:schemeClr>
              </a:solidFill>
              <a:effectLst>
                <a:glow rad="139700">
                  <a:schemeClr val="accent2">
                    <a:satMod val="175000"/>
                    <a:alpha val="40000"/>
                  </a:schemeClr>
                </a:glow>
                <a:outerShdw blurRad="41275" dist="20320" dir="1800000" algn="tl" rotWithShape="0">
                  <a:srgbClr val="000000">
                    <a:alpha val="40000"/>
                  </a:srgbClr>
                </a:outerShdw>
              </a:effectLst>
              <a:latin typeface="Arial" charset="0"/>
              <a:ea typeface="宋体" charset="-122"/>
            </a:endParaRPr>
          </a:p>
        </p:txBody>
      </p:sp>
      <p:sp>
        <p:nvSpPr>
          <p:cNvPr id="5" name="云形 4"/>
          <p:cNvSpPr/>
          <p:nvPr/>
        </p:nvSpPr>
        <p:spPr bwMode="auto">
          <a:xfrm>
            <a:off x="5076056" y="1412776"/>
            <a:ext cx="3168352" cy="2088232"/>
          </a:xfrm>
          <a:prstGeom prst="cloud">
            <a:avLst/>
          </a:prstGeom>
          <a:solidFill>
            <a:schemeClr val="accent1">
              <a:alpha val="48000"/>
            </a:schemeClr>
          </a:solidFill>
          <a:ln w="9525" cap="flat" cmpd="sng" algn="ctr">
            <a:solidFill>
              <a:schemeClr val="tx1"/>
            </a:solidFill>
            <a:prstDash val="solid"/>
            <a:miter lim="800000"/>
            <a:headEnd type="none" w="sm" len="sm"/>
            <a:tailEnd type="none" w="sm" len="sm"/>
          </a:ln>
          <a:effectLst/>
        </p:spPr>
        <p:txBody>
          <a:bodyPr wrap="none" anchor="ctr"/>
          <a:lstStyle/>
          <a:p>
            <a:pPr marL="0" lvl="1" algn="ctr">
              <a:defRPr/>
            </a:pPr>
            <a:r>
              <a:rPr lang="zh-CN" altLang="en-US" sz="2800" b="1" dirty="0">
                <a:latin typeface="Arial" charset="0"/>
                <a:ea typeface="宋体" charset="-122"/>
              </a:rPr>
              <a:t>网络社会</a:t>
            </a:r>
            <a:endParaRPr lang="en-US" altLang="zh-CN" sz="2800" b="1" dirty="0">
              <a:latin typeface="Arial" charset="0"/>
              <a:ea typeface="宋体" charset="-122"/>
            </a:endParaRPr>
          </a:p>
          <a:p>
            <a:pPr marL="0" lvl="1" algn="ctr">
              <a:defRPr/>
            </a:pPr>
            <a:r>
              <a:rPr lang="en-US" altLang="zh-CN" sz="2800" b="1" dirty="0">
                <a:latin typeface="Arial" charset="0"/>
                <a:ea typeface="宋体" charset="-122"/>
              </a:rPr>
              <a:t>(</a:t>
            </a:r>
            <a:r>
              <a:rPr lang="zh-CN" altLang="en-US" sz="2800" b="1" dirty="0">
                <a:latin typeface="Arial" charset="0"/>
                <a:ea typeface="宋体" charset="-122"/>
              </a:rPr>
              <a:t>虚拟</a:t>
            </a:r>
            <a:r>
              <a:rPr lang="en-US" altLang="zh-CN" sz="2800" b="1" dirty="0">
                <a:latin typeface="Arial" charset="0"/>
                <a:ea typeface="宋体" charset="-122"/>
              </a:rPr>
              <a:t>)</a:t>
            </a:r>
          </a:p>
          <a:p>
            <a:pPr marL="0" lvl="1" algn="ctr">
              <a:defRPr/>
            </a:pPr>
            <a:r>
              <a:rPr lang="en-US" altLang="zh-CN" b="1" dirty="0" err="1">
                <a:solidFill>
                  <a:srgbClr val="FF0000"/>
                </a:solidFill>
                <a:latin typeface="Arial" charset="0"/>
                <a:ea typeface="宋体" charset="-122"/>
              </a:rPr>
              <a:t>FaceBook</a:t>
            </a:r>
            <a:r>
              <a:rPr lang="en-US" altLang="zh-CN" b="1" dirty="0">
                <a:solidFill>
                  <a:srgbClr val="FF0000"/>
                </a:solidFill>
                <a:latin typeface="Arial" charset="0"/>
                <a:ea typeface="宋体" charset="-122"/>
              </a:rPr>
              <a:t>, MySpace</a:t>
            </a:r>
          </a:p>
          <a:p>
            <a:pPr marL="0" lvl="1" algn="ctr">
              <a:defRPr/>
            </a:pPr>
            <a:r>
              <a:rPr lang="en-US" altLang="zh-CN" b="1" dirty="0">
                <a:solidFill>
                  <a:srgbClr val="FF0000"/>
                </a:solidFill>
                <a:latin typeface="Arial" charset="0"/>
                <a:ea typeface="宋体" charset="-122"/>
              </a:rPr>
              <a:t>Blogger, QQ,</a:t>
            </a:r>
            <a:endParaRPr lang="zh-CN" altLang="en-US" b="1" dirty="0">
              <a:ln w="12700">
                <a:solidFill>
                  <a:schemeClr val="tx2">
                    <a:satMod val="155000"/>
                  </a:schemeClr>
                </a:solidFill>
                <a:prstDash val="solid"/>
              </a:ln>
              <a:solidFill>
                <a:srgbClr val="FF0000"/>
              </a:solidFill>
              <a:effectLst>
                <a:glow rad="139700">
                  <a:schemeClr val="accent2">
                    <a:satMod val="175000"/>
                    <a:alpha val="40000"/>
                  </a:schemeClr>
                </a:glow>
                <a:outerShdw blurRad="41275" dist="20320" dir="1800000" algn="tl" rotWithShape="0">
                  <a:srgbClr val="000000">
                    <a:alpha val="40000"/>
                  </a:srgbClr>
                </a:outerShdw>
              </a:effectLst>
              <a:latin typeface="Arial" charset="0"/>
              <a:ea typeface="宋体" charset="-122"/>
            </a:endParaRPr>
          </a:p>
        </p:txBody>
      </p:sp>
      <p:pic>
        <p:nvPicPr>
          <p:cNvPr id="43015" name="图片 2"/>
          <p:cNvPicPr>
            <a:picLocks noChangeAspect="1" noChangeArrowheads="1"/>
          </p:cNvPicPr>
          <p:nvPr/>
        </p:nvPicPr>
        <p:blipFill>
          <a:blip r:embed="rId3">
            <a:extLst>
              <a:ext uri="{28A0092B-C50C-407E-A947-70E740481C1C}">
                <a14:useLocalDpi xmlns:a14="http://schemas.microsoft.com/office/drawing/2010/main" val="0"/>
              </a:ext>
            </a:extLst>
          </a:blip>
          <a:srcRect l="50246" t="1985" r="2361" b="3204"/>
          <a:stretch>
            <a:fillRect/>
          </a:stretch>
        </p:blipFill>
        <p:spPr bwMode="auto">
          <a:xfrm>
            <a:off x="5867400" y="3716338"/>
            <a:ext cx="1981200"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0108600"/>
      </p:ext>
    </p:extLst>
  </p:cSld>
  <p:clrMapOvr>
    <a:masterClrMapping/>
  </p:clrMapOvr>
  <p:transition spd="slow">
    <p:circl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a:t>计算什么</a:t>
            </a:r>
          </a:p>
        </p:txBody>
      </p:sp>
      <p:sp>
        <p:nvSpPr>
          <p:cNvPr id="44035" name="内容占位符 2"/>
          <p:cNvSpPr>
            <a:spLocks noGrp="1"/>
          </p:cNvSpPr>
          <p:nvPr>
            <p:ph idx="1"/>
          </p:nvPr>
        </p:nvSpPr>
        <p:spPr>
          <a:xfrm>
            <a:off x="395536" y="1124744"/>
            <a:ext cx="8229600" cy="5327650"/>
          </a:xfrm>
        </p:spPr>
        <p:txBody>
          <a:bodyPr/>
          <a:lstStyle/>
          <a:p>
            <a:r>
              <a:rPr lang="zh-CN" altLang="en-US" sz="2800" dirty="0"/>
              <a:t>物理社会</a:t>
            </a:r>
            <a:endParaRPr lang="en-US" altLang="zh-CN" sz="2800" dirty="0"/>
          </a:p>
          <a:p>
            <a:pPr lvl="1"/>
            <a:r>
              <a:rPr lang="zh-CN" altLang="en-US" sz="2400" dirty="0"/>
              <a:t>突发事件、危机管理 </a:t>
            </a:r>
            <a:r>
              <a:rPr lang="en-US" altLang="zh-CN" sz="2400" dirty="0"/>
              <a:t>(911\</a:t>
            </a:r>
            <a:r>
              <a:rPr lang="zh-CN" altLang="en-US" sz="2400" dirty="0"/>
              <a:t>猪流感</a:t>
            </a:r>
            <a:r>
              <a:rPr lang="en-US" altLang="zh-CN" sz="2400" dirty="0"/>
              <a:t>)</a:t>
            </a:r>
          </a:p>
          <a:p>
            <a:pPr lvl="1"/>
            <a:r>
              <a:rPr lang="zh-CN" altLang="en-US" sz="2400" dirty="0"/>
              <a:t>舆情分析与监控</a:t>
            </a:r>
            <a:r>
              <a:rPr lang="en-US" altLang="zh-CN" sz="2400" dirty="0"/>
              <a:t>\</a:t>
            </a:r>
            <a:r>
              <a:rPr lang="zh-CN" altLang="en-US" sz="2400" dirty="0"/>
              <a:t>智能交通</a:t>
            </a:r>
            <a:endParaRPr lang="en-US" altLang="zh-CN" sz="2400" dirty="0"/>
          </a:p>
          <a:p>
            <a:r>
              <a:rPr lang="zh-CN" altLang="en-US" sz="2800" dirty="0"/>
              <a:t>虚拟社会</a:t>
            </a:r>
            <a:endParaRPr lang="en-US" altLang="zh-CN" sz="2800" dirty="0"/>
          </a:p>
          <a:p>
            <a:pPr lvl="1"/>
            <a:r>
              <a:rPr lang="zh-CN" altLang="en-US" sz="2400" dirty="0"/>
              <a:t>广义</a:t>
            </a:r>
            <a:r>
              <a:rPr lang="en-US" altLang="zh-CN" sz="2400" dirty="0"/>
              <a:t>---</a:t>
            </a:r>
            <a:r>
              <a:rPr lang="zh-CN" altLang="en-US" sz="2400" dirty="0"/>
              <a:t>整个</a:t>
            </a:r>
            <a:r>
              <a:rPr lang="en-US" altLang="zh-CN" sz="2400" dirty="0"/>
              <a:t>Web</a:t>
            </a:r>
          </a:p>
          <a:p>
            <a:pPr lvl="1"/>
            <a:r>
              <a:rPr lang="zh-CN" altLang="en-US" sz="2400" dirty="0"/>
              <a:t>狭义</a:t>
            </a:r>
            <a:r>
              <a:rPr lang="en-US" altLang="zh-CN" sz="2400" dirty="0"/>
              <a:t>---Web2.0</a:t>
            </a:r>
            <a:r>
              <a:rPr lang="zh-CN" altLang="en-US" sz="2400" dirty="0"/>
              <a:t>系统（人真正参与到社会）</a:t>
            </a:r>
            <a:endParaRPr lang="en-US" altLang="zh-CN" sz="2400" dirty="0"/>
          </a:p>
          <a:p>
            <a:pPr lvl="1"/>
            <a:r>
              <a:rPr lang="zh-CN" altLang="en-US" sz="2400" dirty="0"/>
              <a:t>交互：</a:t>
            </a:r>
            <a:r>
              <a:rPr lang="en-US" altLang="zh-CN" sz="2400" dirty="0"/>
              <a:t>HCI、HHI  + </a:t>
            </a:r>
            <a:r>
              <a:rPr lang="zh-CN" altLang="en-US" sz="2400" dirty="0"/>
              <a:t>共享</a:t>
            </a:r>
            <a:endParaRPr lang="en-US" altLang="zh-CN" sz="2400" dirty="0"/>
          </a:p>
          <a:p>
            <a:pPr lvl="1"/>
            <a:r>
              <a:rPr lang="zh-CN" altLang="en-US" sz="2400" dirty="0"/>
              <a:t>促进人与人的交流</a:t>
            </a:r>
            <a:endParaRPr lang="en-US" altLang="zh-CN" sz="2400" dirty="0"/>
          </a:p>
        </p:txBody>
      </p:sp>
      <p:pic>
        <p:nvPicPr>
          <p:cNvPr id="44037" name="图片 4" descr="logo of Douban">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5949950"/>
            <a:ext cx="1916112"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图片 6" descr="logo of Flickr">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02250" y="3323829"/>
            <a:ext cx="160813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9" name="图片 9" descr="logo of Tengxu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08850" y="6021388"/>
            <a:ext cx="1487488"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0" name="图片 13">
            <a:hlinkClick r:id="rId7"/>
          </p:cNvPr>
          <p:cNvPicPr>
            <a:picLocks noChangeAspect="1" noChangeArrowheads="1"/>
          </p:cNvPicPr>
          <p:nvPr/>
        </p:nvPicPr>
        <p:blipFill>
          <a:blip r:embed="rId8">
            <a:extLst>
              <a:ext uri="{28A0092B-C50C-407E-A947-70E740481C1C}">
                <a14:useLocalDpi xmlns:a14="http://schemas.microsoft.com/office/drawing/2010/main" val="0"/>
              </a:ext>
            </a:extLst>
          </a:blip>
          <a:srcRect r="60915"/>
          <a:stretch>
            <a:fillRect/>
          </a:stretch>
        </p:blipFill>
        <p:spPr bwMode="auto">
          <a:xfrm>
            <a:off x="7438816" y="3265290"/>
            <a:ext cx="13604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1" name="图片 6" descr="screen-capture-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5400" y="4923036"/>
            <a:ext cx="1866900"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2" name="图片 7" descr="screen-capture-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06319" y="2205038"/>
            <a:ext cx="2743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192623"/>
      </p:ext>
    </p:extLst>
  </p:cSld>
  <p:clrMapOvr>
    <a:masterClrMapping/>
  </p:clrMapOvr>
  <p:transition spd="slow">
    <p:circl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a:t>第二层涵义</a:t>
            </a:r>
            <a:r>
              <a:rPr lang="en-GB" altLang="zh-CN"/>
              <a:t>: By - </a:t>
            </a:r>
            <a:r>
              <a:rPr lang="zh-CN" altLang="en-US"/>
              <a:t>社会是计算的方法</a:t>
            </a:r>
          </a:p>
        </p:txBody>
      </p:sp>
      <p:sp>
        <p:nvSpPr>
          <p:cNvPr id="52227" name="内容占位符 2"/>
          <p:cNvSpPr>
            <a:spLocks noGrp="1"/>
          </p:cNvSpPr>
          <p:nvPr>
            <p:ph idx="1"/>
          </p:nvPr>
        </p:nvSpPr>
        <p:spPr>
          <a:xfrm>
            <a:off x="468313" y="1053678"/>
            <a:ext cx="8424862" cy="5327650"/>
          </a:xfrm>
        </p:spPr>
        <p:txBody>
          <a:bodyPr/>
          <a:lstStyle/>
          <a:p>
            <a:r>
              <a:rPr lang="zh-CN" altLang="en-US" sz="2400" dirty="0"/>
              <a:t>社会是计算的模式</a:t>
            </a:r>
            <a:endParaRPr lang="en-US" altLang="zh-CN" sz="2400" dirty="0"/>
          </a:p>
          <a:p>
            <a:pPr lvl="1"/>
            <a:r>
              <a:rPr lang="zh-CN" altLang="en-US" sz="2400" dirty="0">
                <a:solidFill>
                  <a:srgbClr val="2808E8"/>
                </a:solidFill>
              </a:rPr>
              <a:t>协同推荐</a:t>
            </a:r>
            <a:r>
              <a:rPr lang="zh-CN" altLang="en-US" sz="2400" dirty="0"/>
              <a:t>（</a:t>
            </a:r>
            <a:r>
              <a:rPr lang="en-US" altLang="zh-CN" sz="2400" dirty="0"/>
              <a:t>CF</a:t>
            </a:r>
            <a:r>
              <a:rPr lang="zh-CN" altLang="en-US" sz="2400" dirty="0"/>
              <a:t>）</a:t>
            </a:r>
            <a:r>
              <a:rPr lang="en-US" altLang="zh-CN" sz="2400" dirty="0"/>
              <a:t>- </a:t>
            </a:r>
            <a:r>
              <a:rPr lang="zh-CN" altLang="en-US" sz="2400" dirty="0"/>
              <a:t>协同过滤</a:t>
            </a:r>
            <a:endParaRPr lang="en-GB" altLang="zh-CN" sz="2400" dirty="0"/>
          </a:p>
          <a:p>
            <a:pPr lvl="1"/>
            <a:r>
              <a:rPr lang="zh-CN" altLang="en-US" sz="2400" dirty="0">
                <a:solidFill>
                  <a:srgbClr val="2808E8"/>
                </a:solidFill>
              </a:rPr>
              <a:t>协同分类</a:t>
            </a:r>
            <a:r>
              <a:rPr lang="zh-CN" altLang="en-US" sz="2400" dirty="0"/>
              <a:t>（</a:t>
            </a:r>
            <a:r>
              <a:rPr lang="en-US" altLang="zh-CN" sz="2400" dirty="0"/>
              <a:t>Folksonomy\CTS</a:t>
            </a:r>
            <a:r>
              <a:rPr lang="zh-CN" altLang="en-US" sz="2400" dirty="0"/>
              <a:t>）</a:t>
            </a:r>
            <a:r>
              <a:rPr lang="en-GB" altLang="zh-CN" sz="2400" dirty="0"/>
              <a:t>- </a:t>
            </a:r>
            <a:r>
              <a:rPr lang="zh-CN" altLang="en-US" sz="2400" dirty="0"/>
              <a:t>协同标注</a:t>
            </a:r>
            <a:endParaRPr lang="en-US" altLang="zh-CN" sz="2400" dirty="0"/>
          </a:p>
          <a:p>
            <a:pPr lvl="1"/>
            <a:r>
              <a:rPr lang="zh-CN" altLang="en-US" sz="2400" dirty="0">
                <a:solidFill>
                  <a:srgbClr val="2808E8"/>
                </a:solidFill>
              </a:rPr>
              <a:t>协同商务</a:t>
            </a:r>
            <a:r>
              <a:rPr lang="zh-CN" altLang="en-US" sz="2400" dirty="0"/>
              <a:t>（</a:t>
            </a:r>
            <a:r>
              <a:rPr lang="en-US" altLang="zh-CN" sz="2400" dirty="0"/>
              <a:t>CC-SWOOPO</a:t>
            </a:r>
            <a:r>
              <a:rPr lang="zh-CN" altLang="en-US" sz="2400" dirty="0"/>
              <a:t>）</a:t>
            </a:r>
            <a:r>
              <a:rPr lang="en-US" altLang="zh-CN" sz="2400" dirty="0"/>
              <a:t>- </a:t>
            </a:r>
            <a:r>
              <a:rPr lang="zh-CN" altLang="en-US" sz="2400" dirty="0"/>
              <a:t>社会商务</a:t>
            </a:r>
            <a:endParaRPr lang="en-US" altLang="zh-CN" sz="2400" dirty="0"/>
          </a:p>
          <a:p>
            <a:pPr lvl="1"/>
            <a:r>
              <a:rPr lang="zh-CN" altLang="en-US" sz="2400" dirty="0">
                <a:solidFill>
                  <a:srgbClr val="2808E8"/>
                </a:solidFill>
              </a:rPr>
              <a:t>协同评价</a:t>
            </a:r>
            <a:r>
              <a:rPr lang="zh-CN" altLang="en-US" sz="2400" dirty="0"/>
              <a:t>（</a:t>
            </a:r>
            <a:r>
              <a:rPr lang="en-US" altLang="zh-CN" sz="2400" dirty="0"/>
              <a:t>CE</a:t>
            </a:r>
            <a:r>
              <a:rPr lang="zh-CN" altLang="en-US" sz="2400" dirty="0"/>
              <a:t>）</a:t>
            </a:r>
            <a:endParaRPr lang="en-US" altLang="zh-CN" sz="2400" dirty="0"/>
          </a:p>
          <a:p>
            <a:pPr lvl="1"/>
            <a:r>
              <a:rPr lang="zh-CN" altLang="en-US" sz="2400" dirty="0">
                <a:solidFill>
                  <a:srgbClr val="2808E8"/>
                </a:solidFill>
              </a:rPr>
              <a:t>协同管理</a:t>
            </a:r>
            <a:r>
              <a:rPr lang="zh-CN" altLang="en-US" sz="2400" dirty="0"/>
              <a:t>（</a:t>
            </a:r>
            <a:r>
              <a:rPr lang="en-US" altLang="zh-CN" sz="2400" dirty="0"/>
              <a:t>Mgt2.0</a:t>
            </a:r>
            <a:r>
              <a:rPr lang="zh-CN" altLang="en-US" sz="2400" dirty="0"/>
              <a:t>）</a:t>
            </a:r>
            <a:endParaRPr lang="en-GB" altLang="zh-CN" sz="2400" dirty="0"/>
          </a:p>
          <a:p>
            <a:pPr lvl="1"/>
            <a:r>
              <a:rPr lang="zh-CN" altLang="en-US" sz="2400" dirty="0">
                <a:solidFill>
                  <a:srgbClr val="2808E8"/>
                </a:solidFill>
              </a:rPr>
              <a:t>协同营销</a:t>
            </a:r>
            <a:r>
              <a:rPr lang="zh-CN" altLang="en-US" sz="2400" dirty="0"/>
              <a:t>（</a:t>
            </a:r>
            <a:r>
              <a:rPr lang="en-US" altLang="zh-CN" sz="2400" dirty="0"/>
              <a:t>Viral Marketing</a:t>
            </a:r>
            <a:r>
              <a:rPr lang="zh-CN" altLang="en-US" sz="2400" dirty="0"/>
              <a:t>）</a:t>
            </a:r>
            <a:r>
              <a:rPr lang="en-US" altLang="zh-CN" sz="2400" dirty="0"/>
              <a:t>- </a:t>
            </a:r>
            <a:r>
              <a:rPr lang="zh-CN" altLang="en-US" sz="2400" dirty="0"/>
              <a:t>病毒营销</a:t>
            </a:r>
            <a:endParaRPr lang="en-US" altLang="zh-CN" sz="2400" dirty="0"/>
          </a:p>
          <a:p>
            <a:pPr lvl="1"/>
            <a:r>
              <a:rPr lang="zh-CN" altLang="en-US" sz="2400" dirty="0"/>
              <a:t>协同编辑（</a:t>
            </a:r>
            <a:r>
              <a:rPr lang="en-US" altLang="zh-CN" sz="2400" dirty="0"/>
              <a:t>Wiki</a:t>
            </a:r>
            <a:r>
              <a:rPr lang="zh-CN" altLang="en-US" sz="2400" dirty="0"/>
              <a:t>）</a:t>
            </a:r>
            <a:endParaRPr lang="en-GB" altLang="zh-CN" sz="2400" dirty="0"/>
          </a:p>
          <a:p>
            <a:pPr lvl="1"/>
            <a:r>
              <a:rPr lang="zh-CN" altLang="en-US" sz="2400" dirty="0"/>
              <a:t>协同搜索（</a:t>
            </a:r>
            <a:r>
              <a:rPr lang="en-US" altLang="zh-CN" sz="2400" dirty="0"/>
              <a:t>Social Search</a:t>
            </a:r>
            <a:r>
              <a:rPr lang="zh-CN" altLang="en-US" sz="2400" dirty="0"/>
              <a:t>）</a:t>
            </a:r>
            <a:endParaRPr lang="en-GB" altLang="zh-CN" sz="2400" dirty="0"/>
          </a:p>
          <a:p>
            <a:pPr lvl="1"/>
            <a:r>
              <a:rPr lang="zh-CN" altLang="en-US" sz="2400" dirty="0"/>
              <a:t>协同教学（</a:t>
            </a:r>
            <a:r>
              <a:rPr lang="en-US" altLang="zh-CN" sz="2400" dirty="0"/>
              <a:t>Teaching2.0, e-Learning</a:t>
            </a:r>
            <a:r>
              <a:rPr lang="zh-CN" altLang="en-US" sz="2400" dirty="0"/>
              <a:t>）</a:t>
            </a:r>
            <a:endParaRPr lang="en-US" altLang="zh-CN" sz="2400" dirty="0"/>
          </a:p>
        </p:txBody>
      </p:sp>
    </p:spTree>
    <p:extLst>
      <p:ext uri="{BB962C8B-B14F-4D97-AF65-F5344CB8AC3E}">
        <p14:creationId xmlns:p14="http://schemas.microsoft.com/office/powerpoint/2010/main" val="4025385309"/>
      </p:ext>
    </p:extLst>
  </p:cSld>
  <p:clrMapOvr>
    <a:masterClrMapping/>
  </p:clrMapOvr>
  <p:transition spd="slow">
    <p:circl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dirty="0"/>
              <a:t>群体协同评价与决策</a:t>
            </a:r>
          </a:p>
        </p:txBody>
      </p:sp>
      <p:pic>
        <p:nvPicPr>
          <p:cNvPr id="26628" name="Picture 2" descr="http://img3.imgtn.bdimg.com/it/u=1183357300,3619665375&amp;fm=21&amp;gp=0.jpg"/>
          <p:cNvPicPr>
            <a:picLocks noChangeAspect="1" noChangeArrowheads="1"/>
          </p:cNvPicPr>
          <p:nvPr/>
        </p:nvPicPr>
        <p:blipFill>
          <a:blip r:embed="rId2">
            <a:extLst>
              <a:ext uri="{28A0092B-C50C-407E-A947-70E740481C1C}">
                <a14:useLocalDpi xmlns:a14="http://schemas.microsoft.com/office/drawing/2010/main" val="0"/>
              </a:ext>
            </a:extLst>
          </a:blip>
          <a:srcRect l="2956" t="18336" r="7896"/>
          <a:stretch>
            <a:fillRect/>
          </a:stretch>
        </p:blipFill>
        <p:spPr bwMode="auto">
          <a:xfrm>
            <a:off x="4616450" y="4017963"/>
            <a:ext cx="38893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AutoShape 4" descr="“proposal review”的图片搜索结果"/>
          <p:cNvSpPr>
            <a:spLocks noChangeAspect="1" noChangeArrowheads="1"/>
          </p:cNvSpPr>
          <p:nvPr/>
        </p:nvSpPr>
        <p:spPr bwMode="auto">
          <a:xfrm>
            <a:off x="0"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SzTx/>
              <a:buFontTx/>
              <a:buNone/>
            </a:pPr>
            <a:endParaRPr lang="zh-CN" altLang="en-US" sz="2000">
              <a:ea typeface="楷体_GB2312" pitchFamily="49" charset="-122"/>
            </a:endParaRPr>
          </a:p>
        </p:txBody>
      </p:sp>
      <p:pic>
        <p:nvPicPr>
          <p:cNvPr id="26632" name="Picture 10" descr="http://www.grecoinc.com/images/snowbanner3_realized.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l="26730" r="7135" b="26802"/>
          <a:stretch>
            <a:fillRect/>
          </a:stretch>
        </p:blipFill>
        <p:spPr bwMode="auto">
          <a:xfrm>
            <a:off x="684213" y="5614988"/>
            <a:ext cx="3121025"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3" name="Picture 2" descr="http://pagesay.com/wp-content/themes/PageSay/framework/timthumb/timthumb.php?src=http://e1.365dm.com/13/11/16-9/20/PAPER-REVIEW_3041597.jpg?20131125113813&amp;w=620&amp;zc=1&amp;q=100">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l="16560" t="9540" r="11748" b="27324"/>
          <a:stretch>
            <a:fillRect/>
          </a:stretch>
        </p:blipFill>
        <p:spPr bwMode="auto">
          <a:xfrm>
            <a:off x="755650" y="4319588"/>
            <a:ext cx="3043238"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5" name="AutoShape 10" descr="“evaluation”的图片搜索结果"/>
          <p:cNvSpPr>
            <a:spLocks noChangeAspect="1" noChangeArrowheads="1"/>
          </p:cNvSpPr>
          <p:nvPr/>
        </p:nvSpPr>
        <p:spPr bwMode="auto">
          <a:xfrm>
            <a:off x="609600" y="4651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SzTx/>
              <a:buFontTx/>
              <a:buNone/>
            </a:pPr>
            <a:endParaRPr lang="zh-CN" altLang="en-US" sz="2000">
              <a:ea typeface="楷体_GB2312" pitchFamily="49" charset="-122"/>
            </a:endParaRPr>
          </a:p>
        </p:txBody>
      </p:sp>
      <p:sp>
        <p:nvSpPr>
          <p:cNvPr id="26636" name="AutoShape 12" descr="“evaluation”的图片搜索结果"/>
          <p:cNvSpPr>
            <a:spLocks noChangeAspect="1" noChangeArrowheads="1"/>
          </p:cNvSpPr>
          <p:nvPr/>
        </p:nvSpPr>
        <p:spPr bwMode="auto">
          <a:xfrm>
            <a:off x="762000" y="6175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SzTx/>
              <a:buFontTx/>
              <a:buNone/>
            </a:pPr>
            <a:endParaRPr lang="zh-CN" altLang="en-US" sz="2000">
              <a:ea typeface="楷体_GB2312" pitchFamily="49" charset="-122"/>
            </a:endParaRPr>
          </a:p>
        </p:txBody>
      </p:sp>
      <p:pic>
        <p:nvPicPr>
          <p:cNvPr id="26637" name="Picture 14" descr="http://dipsplusmore.com/wp-content/uploads/2014/04/9379387_xl-evaluation-scale.jpg">
            <a:hlinkClick r:id="rId7"/>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475" y="1566863"/>
            <a:ext cx="2990850"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8" name="Picture 16" descr="http://st.depositphotos.com/1005979/2033/i/950/depositphotos_20332497-Evaluation-Report-Card-Clipboard-Assessment-Grades.jpg">
            <a:hlinkClick r:id="rId9"/>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3038" y="1185863"/>
            <a:ext cx="2949575" cy="264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9" name="Picture 18" descr="http://static3.demotix.com/sites/default/files/imagecache/a_scale_large/1600-6/photos/1355157277-fig-gymnastics-world-cup-glasgow--mens-competition_1668766.jpg">
            <a:hlinkClick r:id="rId11"/>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27763" y="1341438"/>
            <a:ext cx="2665412" cy="238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9368192"/>
      </p:ext>
    </p:extLst>
  </p:cSld>
  <p:clrMapOvr>
    <a:masterClrMapping/>
  </p:clrMapOvr>
  <p:transition spd="slow">
    <p:circl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a:t>问题</a:t>
            </a:r>
          </a:p>
        </p:txBody>
      </p:sp>
      <p:graphicFrame>
        <p:nvGraphicFramePr>
          <p:cNvPr id="6" name="表格 5"/>
          <p:cNvGraphicFramePr>
            <a:graphicFrameLocks noGrp="1"/>
          </p:cNvGraphicFramePr>
          <p:nvPr/>
        </p:nvGraphicFramePr>
        <p:xfrm>
          <a:off x="2051050" y="1916113"/>
          <a:ext cx="5113338" cy="3462336"/>
        </p:xfrm>
        <a:graphic>
          <a:graphicData uri="http://schemas.openxmlformats.org/drawingml/2006/table">
            <a:tbl>
              <a:tblPr firstRow="1" firstCol="1" lastRow="1" lastCol="1" bandRow="1" bandCol="1">
                <a:tableStyleId>{5940675A-B579-460E-94D1-54222C63F5DA}</a:tableStyleId>
              </a:tblPr>
              <a:tblGrid>
                <a:gridCol w="1041018">
                  <a:extLst>
                    <a:ext uri="{9D8B030D-6E8A-4147-A177-3AD203B41FA5}">
                      <a16:colId xmlns:a16="http://schemas.microsoft.com/office/drawing/2014/main" val="20000"/>
                    </a:ext>
                  </a:extLst>
                </a:gridCol>
                <a:gridCol w="1041018">
                  <a:extLst>
                    <a:ext uri="{9D8B030D-6E8A-4147-A177-3AD203B41FA5}">
                      <a16:colId xmlns:a16="http://schemas.microsoft.com/office/drawing/2014/main" val="20001"/>
                    </a:ext>
                  </a:extLst>
                </a:gridCol>
                <a:gridCol w="1041018">
                  <a:extLst>
                    <a:ext uri="{9D8B030D-6E8A-4147-A177-3AD203B41FA5}">
                      <a16:colId xmlns:a16="http://schemas.microsoft.com/office/drawing/2014/main" val="20002"/>
                    </a:ext>
                  </a:extLst>
                </a:gridCol>
                <a:gridCol w="1041018">
                  <a:extLst>
                    <a:ext uri="{9D8B030D-6E8A-4147-A177-3AD203B41FA5}">
                      <a16:colId xmlns:a16="http://schemas.microsoft.com/office/drawing/2014/main" val="20003"/>
                    </a:ext>
                  </a:extLst>
                </a:gridCol>
                <a:gridCol w="949266">
                  <a:extLst>
                    <a:ext uri="{9D8B030D-6E8A-4147-A177-3AD203B41FA5}">
                      <a16:colId xmlns:a16="http://schemas.microsoft.com/office/drawing/2014/main" val="20004"/>
                    </a:ext>
                  </a:extLst>
                </a:gridCol>
              </a:tblGrid>
              <a:tr h="695592">
                <a:tc>
                  <a:txBody>
                    <a:bodyPr/>
                    <a:lstStyle/>
                    <a:p>
                      <a:pPr marL="0" algn="ctr" defTabSz="914400" rtl="0" eaLnBrk="1" latinLnBrk="0" hangingPunct="1">
                        <a:lnSpc>
                          <a:spcPct val="100000"/>
                        </a:lnSpc>
                        <a:spcBef>
                          <a:spcPts val="600"/>
                        </a:spcBef>
                        <a:spcAft>
                          <a:spcPts val="0"/>
                        </a:spcAft>
                      </a:pPr>
                      <a:r>
                        <a:rPr lang="en-US" sz="2000" kern="1200" dirty="0"/>
                        <a:t>Rating </a:t>
                      </a:r>
                      <a:endParaRPr lang="zh-CN" sz="2000" b="1" kern="1200" dirty="0">
                        <a:solidFill>
                          <a:schemeClr val="tx1"/>
                        </a:solidFill>
                        <a:latin typeface="+mn-lt"/>
                        <a:ea typeface="+mn-ea"/>
                        <a:cs typeface="+mn-cs"/>
                      </a:endParaRPr>
                    </a:p>
                  </a:txBody>
                  <a:tcPr marL="68590" marR="68590" marT="0" marB="0" anchor="ctr"/>
                </a:tc>
                <a:tc>
                  <a:txBody>
                    <a:bodyPr/>
                    <a:lstStyle/>
                    <a:p>
                      <a:pPr marL="0" algn="ctr" defTabSz="914400" rtl="0" eaLnBrk="1" latinLnBrk="0" hangingPunct="1">
                        <a:lnSpc>
                          <a:spcPct val="100000"/>
                        </a:lnSpc>
                        <a:spcBef>
                          <a:spcPts val="600"/>
                        </a:spcBef>
                        <a:spcAft>
                          <a:spcPts val="0"/>
                        </a:spcAft>
                      </a:pPr>
                      <a:r>
                        <a:rPr lang="en-US" sz="2000" kern="1200" dirty="0"/>
                        <a:t>O</a:t>
                      </a:r>
                      <a:r>
                        <a:rPr lang="en-US" sz="1400" kern="1200" dirty="0">
                          <a:solidFill>
                            <a:schemeClr val="tx1"/>
                          </a:solidFill>
                          <a:latin typeface="+mn-lt"/>
                          <a:ea typeface="+mn-ea"/>
                          <a:cs typeface="+mn-cs"/>
                        </a:rPr>
                        <a:t>1</a:t>
                      </a:r>
                      <a:endParaRPr lang="zh-CN" sz="1400" kern="1200" dirty="0">
                        <a:solidFill>
                          <a:schemeClr val="tx1"/>
                        </a:solidFill>
                        <a:latin typeface="+mn-lt"/>
                        <a:ea typeface="+mn-ea"/>
                        <a:cs typeface="+mn-cs"/>
                      </a:endParaRPr>
                    </a:p>
                  </a:txBody>
                  <a:tcPr marL="68590" marR="68590" marT="0" marB="0" anchor="ctr"/>
                </a:tc>
                <a:tc>
                  <a:txBody>
                    <a:bodyPr/>
                    <a:lstStyle/>
                    <a:p>
                      <a:pPr marL="0" algn="ctr" defTabSz="914400" rtl="0" eaLnBrk="1" latinLnBrk="0" hangingPunct="1">
                        <a:lnSpc>
                          <a:spcPct val="100000"/>
                        </a:lnSpc>
                        <a:spcBef>
                          <a:spcPts val="600"/>
                        </a:spcBef>
                        <a:spcAft>
                          <a:spcPts val="0"/>
                        </a:spcAft>
                      </a:pPr>
                      <a:r>
                        <a:rPr lang="en-US" sz="2000" kern="1200" dirty="0"/>
                        <a:t>O</a:t>
                      </a:r>
                      <a:r>
                        <a:rPr lang="en-US" sz="1400" kern="1200" dirty="0">
                          <a:solidFill>
                            <a:schemeClr val="tx1"/>
                          </a:solidFill>
                          <a:latin typeface="+mn-lt"/>
                          <a:ea typeface="+mn-ea"/>
                          <a:cs typeface="+mn-cs"/>
                        </a:rPr>
                        <a:t>2</a:t>
                      </a:r>
                      <a:endParaRPr lang="zh-CN" sz="1400" kern="1200" dirty="0">
                        <a:solidFill>
                          <a:schemeClr val="tx1"/>
                        </a:solidFill>
                        <a:latin typeface="+mn-lt"/>
                        <a:ea typeface="+mn-ea"/>
                        <a:cs typeface="+mn-cs"/>
                      </a:endParaRPr>
                    </a:p>
                  </a:txBody>
                  <a:tcPr marL="68590" marR="68590" marT="0" marB="0" anchor="ctr"/>
                </a:tc>
                <a:tc>
                  <a:txBody>
                    <a:bodyPr/>
                    <a:lstStyle/>
                    <a:p>
                      <a:pPr marL="0" algn="ctr" defTabSz="914400" rtl="0" eaLnBrk="1" latinLnBrk="0" hangingPunct="1">
                        <a:lnSpc>
                          <a:spcPct val="100000"/>
                        </a:lnSpc>
                        <a:spcBef>
                          <a:spcPts val="600"/>
                        </a:spcBef>
                        <a:spcAft>
                          <a:spcPts val="0"/>
                        </a:spcAft>
                      </a:pPr>
                      <a:r>
                        <a:rPr lang="en-US" sz="2000" kern="1200" dirty="0"/>
                        <a:t>…</a:t>
                      </a:r>
                      <a:endParaRPr lang="zh-CN" sz="2000" b="1" kern="1200" dirty="0">
                        <a:solidFill>
                          <a:schemeClr val="tx1"/>
                        </a:solidFill>
                        <a:latin typeface="+mn-lt"/>
                        <a:ea typeface="+mn-ea"/>
                        <a:cs typeface="+mn-cs"/>
                      </a:endParaRPr>
                    </a:p>
                  </a:txBody>
                  <a:tcPr marL="68590" marR="68590" marT="0" marB="0" anchor="ctr"/>
                </a:tc>
                <a:tc>
                  <a:txBody>
                    <a:bodyPr/>
                    <a:lstStyle/>
                    <a:p>
                      <a:pPr marL="0" algn="ctr" defTabSz="914400" rtl="0" eaLnBrk="1" latinLnBrk="0" hangingPunct="1">
                        <a:lnSpc>
                          <a:spcPct val="100000"/>
                        </a:lnSpc>
                        <a:spcBef>
                          <a:spcPts val="600"/>
                        </a:spcBef>
                        <a:spcAft>
                          <a:spcPts val="0"/>
                        </a:spcAft>
                      </a:pPr>
                      <a:r>
                        <a:rPr lang="en-US" sz="2000" kern="1200" dirty="0"/>
                        <a:t>O</a:t>
                      </a:r>
                      <a:r>
                        <a:rPr lang="en-US" sz="1400" kern="1200" dirty="0">
                          <a:solidFill>
                            <a:schemeClr val="tx1"/>
                          </a:solidFill>
                          <a:latin typeface="+mn-lt"/>
                          <a:ea typeface="+mn-ea"/>
                          <a:cs typeface="+mn-cs"/>
                        </a:rPr>
                        <a:t>m</a:t>
                      </a:r>
                      <a:endParaRPr lang="zh-CN" sz="1400" kern="1200" dirty="0">
                        <a:solidFill>
                          <a:schemeClr val="tx1"/>
                        </a:solidFill>
                        <a:latin typeface="+mn-lt"/>
                        <a:ea typeface="+mn-ea"/>
                        <a:cs typeface="+mn-cs"/>
                      </a:endParaRPr>
                    </a:p>
                  </a:txBody>
                  <a:tcPr marL="68590" marR="68590" marT="0" marB="0" anchor="ctr"/>
                </a:tc>
                <a:extLst>
                  <a:ext uri="{0D108BD9-81ED-4DB2-BD59-A6C34878D82A}">
                    <a16:rowId xmlns:a16="http://schemas.microsoft.com/office/drawing/2014/main" val="10000"/>
                  </a:ext>
                </a:extLst>
              </a:tr>
              <a:tr h="695592">
                <a:tc>
                  <a:txBody>
                    <a:bodyPr/>
                    <a:lstStyle/>
                    <a:p>
                      <a:pPr marL="0" algn="ctr" defTabSz="914400" rtl="0" eaLnBrk="1" latinLnBrk="0" hangingPunct="1">
                        <a:lnSpc>
                          <a:spcPct val="100000"/>
                        </a:lnSpc>
                        <a:spcBef>
                          <a:spcPts val="600"/>
                        </a:spcBef>
                        <a:spcAft>
                          <a:spcPts val="0"/>
                        </a:spcAft>
                      </a:pPr>
                      <a:r>
                        <a:rPr lang="en-US" sz="2000" kern="1200" dirty="0"/>
                        <a:t>U</a:t>
                      </a:r>
                      <a:r>
                        <a:rPr lang="en-US" sz="1400" kern="1200" dirty="0"/>
                        <a:t>1</a:t>
                      </a:r>
                      <a:endParaRPr lang="zh-CN" sz="2000" b="1" kern="1200" dirty="0">
                        <a:solidFill>
                          <a:schemeClr val="tx1"/>
                        </a:solidFill>
                        <a:latin typeface="+mn-lt"/>
                        <a:ea typeface="+mn-ea"/>
                        <a:cs typeface="+mn-cs"/>
                      </a:endParaRPr>
                    </a:p>
                  </a:txBody>
                  <a:tcPr marL="68590" marR="68590" marT="0" marB="0" anchor="ctr"/>
                </a:tc>
                <a:tc>
                  <a:txBody>
                    <a:bodyPr/>
                    <a:lstStyle/>
                    <a:p>
                      <a:pPr marL="0" algn="ctr" defTabSz="914400" rtl="0" eaLnBrk="1" latinLnBrk="0" hangingPunct="1">
                        <a:lnSpc>
                          <a:spcPct val="100000"/>
                        </a:lnSpc>
                        <a:spcBef>
                          <a:spcPts val="600"/>
                        </a:spcBef>
                        <a:spcAft>
                          <a:spcPts val="0"/>
                        </a:spcAft>
                      </a:pPr>
                      <a:r>
                        <a:rPr lang="en-US" sz="2000" kern="1200" dirty="0">
                          <a:solidFill>
                            <a:schemeClr val="tx1"/>
                          </a:solidFill>
                          <a:latin typeface="+mn-lt"/>
                          <a:ea typeface="+mn-ea"/>
                          <a:cs typeface="+mn-cs"/>
                        </a:rPr>
                        <a:t>R</a:t>
                      </a:r>
                      <a:r>
                        <a:rPr lang="en-US" sz="1400" kern="1200" dirty="0">
                          <a:solidFill>
                            <a:schemeClr val="tx1"/>
                          </a:solidFill>
                          <a:latin typeface="+mn-lt"/>
                          <a:ea typeface="+mn-ea"/>
                          <a:cs typeface="+mn-cs"/>
                        </a:rPr>
                        <a:t>11</a:t>
                      </a:r>
                      <a:endParaRPr lang="zh-CN" sz="1400" kern="1200" dirty="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dirty="0"/>
                        <a:t>R</a:t>
                      </a:r>
                      <a:r>
                        <a:rPr lang="en-US" sz="1400" kern="1200" dirty="0">
                          <a:solidFill>
                            <a:schemeClr val="tx1"/>
                          </a:solidFill>
                          <a:latin typeface="+mn-lt"/>
                          <a:ea typeface="+mn-ea"/>
                          <a:cs typeface="+mn-cs"/>
                        </a:rPr>
                        <a:t>12</a:t>
                      </a:r>
                      <a:endParaRPr lang="zh-CN" sz="1400" kern="1200" dirty="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a:t> </a:t>
                      </a:r>
                      <a:endParaRPr lang="zh-CN" sz="2000" b="1" kern="120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dirty="0"/>
                        <a:t>R</a:t>
                      </a:r>
                      <a:r>
                        <a:rPr lang="en-US" sz="1400" kern="1200" dirty="0">
                          <a:solidFill>
                            <a:schemeClr val="tx1"/>
                          </a:solidFill>
                          <a:latin typeface="+mn-lt"/>
                          <a:ea typeface="+mn-ea"/>
                          <a:cs typeface="+mn-cs"/>
                        </a:rPr>
                        <a:t>1m</a:t>
                      </a:r>
                      <a:endParaRPr lang="zh-CN" sz="1400" kern="1200" dirty="0">
                        <a:solidFill>
                          <a:schemeClr val="tx1"/>
                        </a:solidFill>
                        <a:latin typeface="+mn-lt"/>
                        <a:ea typeface="+mn-ea"/>
                        <a:cs typeface="+mn-cs"/>
                      </a:endParaRPr>
                    </a:p>
                  </a:txBody>
                  <a:tcPr marL="68590" marR="68590" marT="0" marB="0" anchor="ctr">
                    <a:solidFill>
                      <a:schemeClr val="bg1">
                        <a:lumMod val="85000"/>
                      </a:schemeClr>
                    </a:solidFill>
                  </a:tcPr>
                </a:tc>
                <a:extLst>
                  <a:ext uri="{0D108BD9-81ED-4DB2-BD59-A6C34878D82A}">
                    <a16:rowId xmlns:a16="http://schemas.microsoft.com/office/drawing/2014/main" val="10001"/>
                  </a:ext>
                </a:extLst>
              </a:tr>
              <a:tr h="695592">
                <a:tc>
                  <a:txBody>
                    <a:bodyPr/>
                    <a:lstStyle/>
                    <a:p>
                      <a:pPr marL="0" algn="ctr" defTabSz="914400" rtl="0" eaLnBrk="1" latinLnBrk="0" hangingPunct="1">
                        <a:lnSpc>
                          <a:spcPct val="100000"/>
                        </a:lnSpc>
                        <a:spcBef>
                          <a:spcPts val="600"/>
                        </a:spcBef>
                        <a:spcAft>
                          <a:spcPts val="0"/>
                        </a:spcAft>
                      </a:pPr>
                      <a:r>
                        <a:rPr lang="en-US" sz="2000" kern="1200" dirty="0"/>
                        <a:t>U</a:t>
                      </a:r>
                      <a:r>
                        <a:rPr lang="en-US" sz="1400" kern="1200" dirty="0">
                          <a:solidFill>
                            <a:schemeClr val="tx1"/>
                          </a:solidFill>
                          <a:latin typeface="+mn-lt"/>
                          <a:ea typeface="+mn-ea"/>
                          <a:cs typeface="+mn-cs"/>
                        </a:rPr>
                        <a:t>2</a:t>
                      </a:r>
                      <a:endParaRPr lang="zh-CN" sz="1400" kern="1200" dirty="0">
                        <a:solidFill>
                          <a:schemeClr val="tx1"/>
                        </a:solidFill>
                        <a:latin typeface="+mn-lt"/>
                        <a:ea typeface="+mn-ea"/>
                        <a:cs typeface="+mn-cs"/>
                      </a:endParaRPr>
                    </a:p>
                  </a:txBody>
                  <a:tcPr marL="68590" marR="68590" marT="0" marB="0" anchor="ctr"/>
                </a:tc>
                <a:tc>
                  <a:txBody>
                    <a:bodyPr/>
                    <a:lstStyle/>
                    <a:p>
                      <a:pPr marL="0" algn="ctr" defTabSz="914400" rtl="0" eaLnBrk="1" latinLnBrk="0" hangingPunct="1">
                        <a:lnSpc>
                          <a:spcPct val="100000"/>
                        </a:lnSpc>
                        <a:spcBef>
                          <a:spcPts val="600"/>
                        </a:spcBef>
                        <a:spcAft>
                          <a:spcPts val="0"/>
                        </a:spcAft>
                      </a:pPr>
                      <a:r>
                        <a:rPr lang="en-US" sz="2000" kern="1200" dirty="0"/>
                        <a:t>R</a:t>
                      </a:r>
                      <a:r>
                        <a:rPr lang="en-US" sz="1400" kern="1200" dirty="0">
                          <a:solidFill>
                            <a:schemeClr val="tx1"/>
                          </a:solidFill>
                          <a:latin typeface="+mn-lt"/>
                          <a:ea typeface="+mn-ea"/>
                          <a:cs typeface="+mn-cs"/>
                        </a:rPr>
                        <a:t>21</a:t>
                      </a:r>
                      <a:endParaRPr lang="zh-CN" sz="1400" kern="1200" dirty="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dirty="0"/>
                        <a:t>R</a:t>
                      </a:r>
                      <a:r>
                        <a:rPr lang="en-US" sz="1400" kern="1200" dirty="0">
                          <a:solidFill>
                            <a:schemeClr val="tx1"/>
                          </a:solidFill>
                          <a:latin typeface="+mn-lt"/>
                          <a:ea typeface="+mn-ea"/>
                          <a:cs typeface="+mn-cs"/>
                        </a:rPr>
                        <a:t>22</a:t>
                      </a:r>
                      <a:endParaRPr lang="zh-CN" sz="1400" kern="1200" dirty="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dirty="0"/>
                        <a:t> </a:t>
                      </a:r>
                      <a:endParaRPr lang="zh-CN" sz="2000" b="1" kern="1200" dirty="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dirty="0"/>
                        <a:t>R</a:t>
                      </a:r>
                      <a:r>
                        <a:rPr lang="en-US" sz="1400" kern="1200" dirty="0">
                          <a:solidFill>
                            <a:schemeClr val="tx1"/>
                          </a:solidFill>
                          <a:latin typeface="+mn-lt"/>
                          <a:ea typeface="+mn-ea"/>
                          <a:cs typeface="+mn-cs"/>
                        </a:rPr>
                        <a:t>2m</a:t>
                      </a:r>
                      <a:endParaRPr lang="zh-CN" sz="1400" kern="1200" dirty="0">
                        <a:solidFill>
                          <a:schemeClr val="tx1"/>
                        </a:solidFill>
                        <a:latin typeface="+mn-lt"/>
                        <a:ea typeface="+mn-ea"/>
                        <a:cs typeface="+mn-cs"/>
                      </a:endParaRPr>
                    </a:p>
                  </a:txBody>
                  <a:tcPr marL="68590" marR="68590" marT="0" marB="0" anchor="ctr">
                    <a:solidFill>
                      <a:schemeClr val="bg1">
                        <a:lumMod val="85000"/>
                      </a:schemeClr>
                    </a:solidFill>
                  </a:tcPr>
                </a:tc>
                <a:extLst>
                  <a:ext uri="{0D108BD9-81ED-4DB2-BD59-A6C34878D82A}">
                    <a16:rowId xmlns:a16="http://schemas.microsoft.com/office/drawing/2014/main" val="10002"/>
                  </a:ext>
                </a:extLst>
              </a:tr>
              <a:tr h="679968">
                <a:tc>
                  <a:txBody>
                    <a:bodyPr/>
                    <a:lstStyle/>
                    <a:p>
                      <a:pPr marL="0" algn="ctr" defTabSz="914400" rtl="0" eaLnBrk="1" latinLnBrk="0" hangingPunct="1">
                        <a:lnSpc>
                          <a:spcPct val="100000"/>
                        </a:lnSpc>
                        <a:spcBef>
                          <a:spcPts val="600"/>
                        </a:spcBef>
                        <a:spcAft>
                          <a:spcPts val="0"/>
                        </a:spcAft>
                      </a:pPr>
                      <a:r>
                        <a:rPr lang="en-US" sz="2000" kern="1200"/>
                        <a:t>…</a:t>
                      </a:r>
                      <a:endParaRPr lang="zh-CN" sz="2000" b="1" kern="1200">
                        <a:solidFill>
                          <a:schemeClr val="tx1"/>
                        </a:solidFill>
                        <a:latin typeface="+mn-lt"/>
                        <a:ea typeface="+mn-ea"/>
                        <a:cs typeface="+mn-cs"/>
                      </a:endParaRPr>
                    </a:p>
                  </a:txBody>
                  <a:tcPr marL="68590" marR="68590" marT="0" marB="0" anchor="ctr"/>
                </a:tc>
                <a:tc>
                  <a:txBody>
                    <a:bodyPr/>
                    <a:lstStyle/>
                    <a:p>
                      <a:pPr marL="0" algn="ctr" defTabSz="914400" rtl="0" eaLnBrk="1" latinLnBrk="0" hangingPunct="1">
                        <a:lnSpc>
                          <a:spcPct val="100000"/>
                        </a:lnSpc>
                        <a:spcBef>
                          <a:spcPts val="600"/>
                        </a:spcBef>
                        <a:spcAft>
                          <a:spcPts val="0"/>
                        </a:spcAft>
                      </a:pPr>
                      <a:r>
                        <a:rPr lang="en-US" sz="2000" kern="1200"/>
                        <a:t> </a:t>
                      </a:r>
                      <a:endParaRPr lang="zh-CN" sz="2000" b="1" kern="120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dirty="0"/>
                        <a:t> </a:t>
                      </a:r>
                      <a:endParaRPr lang="zh-CN" sz="2000" b="1" kern="1200" dirty="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dirty="0"/>
                        <a:t> </a:t>
                      </a:r>
                      <a:endParaRPr lang="zh-CN" sz="2000" b="1" kern="1200" dirty="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dirty="0"/>
                        <a:t> </a:t>
                      </a:r>
                      <a:endParaRPr lang="zh-CN" sz="2000" b="1" kern="1200" dirty="0">
                        <a:solidFill>
                          <a:schemeClr val="tx1"/>
                        </a:solidFill>
                        <a:latin typeface="+mn-lt"/>
                        <a:ea typeface="+mn-ea"/>
                        <a:cs typeface="+mn-cs"/>
                      </a:endParaRPr>
                    </a:p>
                  </a:txBody>
                  <a:tcPr marL="68590" marR="68590" marT="0" marB="0" anchor="ctr">
                    <a:solidFill>
                      <a:schemeClr val="bg1">
                        <a:lumMod val="85000"/>
                      </a:schemeClr>
                    </a:solidFill>
                  </a:tcPr>
                </a:tc>
                <a:extLst>
                  <a:ext uri="{0D108BD9-81ED-4DB2-BD59-A6C34878D82A}">
                    <a16:rowId xmlns:a16="http://schemas.microsoft.com/office/drawing/2014/main" val="10003"/>
                  </a:ext>
                </a:extLst>
              </a:tr>
              <a:tr h="695592">
                <a:tc>
                  <a:txBody>
                    <a:bodyPr/>
                    <a:lstStyle/>
                    <a:p>
                      <a:pPr marL="0" algn="ctr" defTabSz="914400" rtl="0" eaLnBrk="1" latinLnBrk="0" hangingPunct="1">
                        <a:lnSpc>
                          <a:spcPct val="100000"/>
                        </a:lnSpc>
                        <a:spcBef>
                          <a:spcPts val="600"/>
                        </a:spcBef>
                        <a:spcAft>
                          <a:spcPts val="0"/>
                        </a:spcAft>
                      </a:pPr>
                      <a:r>
                        <a:rPr lang="en-US" sz="2000" kern="1200" dirty="0"/>
                        <a:t>U</a:t>
                      </a:r>
                      <a:r>
                        <a:rPr lang="en-US" sz="1400" kern="1200" dirty="0">
                          <a:solidFill>
                            <a:schemeClr val="tx1"/>
                          </a:solidFill>
                          <a:latin typeface="+mn-lt"/>
                          <a:ea typeface="+mn-ea"/>
                          <a:cs typeface="+mn-cs"/>
                        </a:rPr>
                        <a:t>n</a:t>
                      </a:r>
                      <a:endParaRPr lang="zh-CN" sz="1400" kern="1200" dirty="0">
                        <a:solidFill>
                          <a:schemeClr val="tx1"/>
                        </a:solidFill>
                        <a:latin typeface="+mn-lt"/>
                        <a:ea typeface="+mn-ea"/>
                        <a:cs typeface="+mn-cs"/>
                      </a:endParaRPr>
                    </a:p>
                  </a:txBody>
                  <a:tcPr marL="68590" marR="68590" marT="0" marB="0" anchor="ctr"/>
                </a:tc>
                <a:tc>
                  <a:txBody>
                    <a:bodyPr/>
                    <a:lstStyle/>
                    <a:p>
                      <a:pPr marL="0" algn="ctr" defTabSz="914400" rtl="0" eaLnBrk="1" latinLnBrk="0" hangingPunct="1">
                        <a:lnSpc>
                          <a:spcPct val="100000"/>
                        </a:lnSpc>
                        <a:spcBef>
                          <a:spcPts val="600"/>
                        </a:spcBef>
                        <a:spcAft>
                          <a:spcPts val="0"/>
                        </a:spcAft>
                      </a:pPr>
                      <a:r>
                        <a:rPr lang="en-US" sz="2000" kern="1200" dirty="0"/>
                        <a:t>R</a:t>
                      </a:r>
                      <a:r>
                        <a:rPr lang="en-US" sz="1400" kern="1200" dirty="0">
                          <a:solidFill>
                            <a:schemeClr val="tx1"/>
                          </a:solidFill>
                          <a:latin typeface="+mn-lt"/>
                          <a:ea typeface="+mn-ea"/>
                          <a:cs typeface="+mn-cs"/>
                        </a:rPr>
                        <a:t>n1</a:t>
                      </a:r>
                      <a:endParaRPr lang="zh-CN" sz="1400" kern="1200" dirty="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dirty="0"/>
                        <a:t>R</a:t>
                      </a:r>
                      <a:r>
                        <a:rPr lang="en-US" sz="1400" kern="1200" dirty="0">
                          <a:solidFill>
                            <a:schemeClr val="tx1"/>
                          </a:solidFill>
                          <a:latin typeface="+mn-lt"/>
                          <a:ea typeface="+mn-ea"/>
                          <a:cs typeface="+mn-cs"/>
                        </a:rPr>
                        <a:t>n2</a:t>
                      </a:r>
                      <a:endParaRPr lang="zh-CN" sz="1400" kern="1200" dirty="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dirty="0"/>
                        <a:t> </a:t>
                      </a:r>
                      <a:endParaRPr lang="zh-CN" sz="2000" kern="1200" dirty="0">
                        <a:solidFill>
                          <a:schemeClr val="tx1"/>
                        </a:solidFill>
                        <a:latin typeface="+mn-lt"/>
                        <a:ea typeface="+mn-ea"/>
                        <a:cs typeface="+mn-cs"/>
                      </a:endParaRPr>
                    </a:p>
                  </a:txBody>
                  <a:tcPr marL="68590" marR="68590" marT="0" marB="0" anchor="ctr">
                    <a:solidFill>
                      <a:schemeClr val="bg1">
                        <a:lumMod val="85000"/>
                      </a:schemeClr>
                    </a:solidFill>
                  </a:tcPr>
                </a:tc>
                <a:tc>
                  <a:txBody>
                    <a:bodyPr/>
                    <a:lstStyle/>
                    <a:p>
                      <a:pPr marL="0" algn="ctr" defTabSz="914400" rtl="0" eaLnBrk="1" latinLnBrk="0" hangingPunct="1">
                        <a:lnSpc>
                          <a:spcPct val="100000"/>
                        </a:lnSpc>
                        <a:spcBef>
                          <a:spcPts val="600"/>
                        </a:spcBef>
                        <a:spcAft>
                          <a:spcPts val="0"/>
                        </a:spcAft>
                      </a:pPr>
                      <a:r>
                        <a:rPr lang="en-US" sz="2000" kern="1200" dirty="0" err="1"/>
                        <a:t>R</a:t>
                      </a:r>
                      <a:r>
                        <a:rPr lang="en-US" sz="1400" kern="1200" dirty="0" err="1">
                          <a:solidFill>
                            <a:schemeClr val="tx1"/>
                          </a:solidFill>
                          <a:latin typeface="+mn-lt"/>
                          <a:ea typeface="+mn-ea"/>
                          <a:cs typeface="+mn-cs"/>
                        </a:rPr>
                        <a:t>nm</a:t>
                      </a:r>
                      <a:endParaRPr lang="zh-CN" sz="1400" kern="1200" dirty="0">
                        <a:solidFill>
                          <a:schemeClr val="tx1"/>
                        </a:solidFill>
                        <a:latin typeface="+mn-lt"/>
                        <a:ea typeface="+mn-ea"/>
                        <a:cs typeface="+mn-cs"/>
                      </a:endParaRPr>
                    </a:p>
                  </a:txBody>
                  <a:tcPr marL="68590" marR="68590" marT="0" marB="0" anchor="ctr">
                    <a:solidFill>
                      <a:schemeClr val="bg1">
                        <a:lumMod val="85000"/>
                      </a:schemeClr>
                    </a:solidFill>
                  </a:tcPr>
                </a:tc>
                <a:extLst>
                  <a:ext uri="{0D108BD9-81ED-4DB2-BD59-A6C34878D82A}">
                    <a16:rowId xmlns:a16="http://schemas.microsoft.com/office/drawing/2014/main" val="10004"/>
                  </a:ext>
                </a:extLst>
              </a:tr>
            </a:tbl>
          </a:graphicData>
        </a:graphic>
      </p:graphicFrame>
      <p:sp>
        <p:nvSpPr>
          <p:cNvPr id="27690" name="矩形 6"/>
          <p:cNvSpPr>
            <a:spLocks noChangeArrowheads="1"/>
          </p:cNvSpPr>
          <p:nvPr/>
        </p:nvSpPr>
        <p:spPr bwMode="auto">
          <a:xfrm>
            <a:off x="3478213" y="1125538"/>
            <a:ext cx="2462212" cy="65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r" eaLnBrk="1" hangingPunct="1">
              <a:lnSpc>
                <a:spcPct val="150000"/>
              </a:lnSpc>
              <a:spcBef>
                <a:spcPct val="0"/>
              </a:spcBef>
              <a:buClrTx/>
              <a:buSzTx/>
              <a:buFontTx/>
              <a:buNone/>
            </a:pPr>
            <a:r>
              <a:rPr lang="en-US" altLang="zh-CN" sz="2800">
                <a:ea typeface="楷体_GB2312" pitchFamily="49" charset="-122"/>
              </a:rPr>
              <a:t>Rating Matrix</a:t>
            </a:r>
          </a:p>
        </p:txBody>
      </p:sp>
      <p:sp>
        <p:nvSpPr>
          <p:cNvPr id="27691" name="矩形 7"/>
          <p:cNvSpPr>
            <a:spLocks noChangeArrowheads="1"/>
          </p:cNvSpPr>
          <p:nvPr/>
        </p:nvSpPr>
        <p:spPr bwMode="auto">
          <a:xfrm>
            <a:off x="1763713" y="5732463"/>
            <a:ext cx="5875337"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r" eaLnBrk="1" hangingPunct="1">
              <a:lnSpc>
                <a:spcPct val="150000"/>
              </a:lnSpc>
              <a:spcBef>
                <a:spcPct val="0"/>
              </a:spcBef>
              <a:buClrTx/>
              <a:buSzTx/>
              <a:buFontTx/>
              <a:buNone/>
            </a:pPr>
            <a:r>
              <a:rPr lang="en-US" altLang="zh-CN" sz="3200">
                <a:ea typeface="楷体_GB2312" pitchFamily="49" charset="-122"/>
              </a:rPr>
              <a:t>Final Score ?     Final Rank ? </a:t>
            </a:r>
          </a:p>
        </p:txBody>
      </p:sp>
    </p:spTree>
    <p:extLst>
      <p:ext uri="{BB962C8B-B14F-4D97-AF65-F5344CB8AC3E}">
        <p14:creationId xmlns:p14="http://schemas.microsoft.com/office/powerpoint/2010/main" val="571962724"/>
      </p:ext>
    </p:extLst>
  </p:cSld>
  <p:clrMapOvr>
    <a:masterClrMapping/>
  </p:clrMapOvr>
  <p:transition spd="slow">
    <p:circl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a:spLocks noGrp="1"/>
          </p:cNvSpPr>
          <p:nvPr>
            <p:ph idx="1"/>
          </p:nvPr>
        </p:nvSpPr>
        <p:spPr/>
        <p:txBody>
          <a:bodyPr/>
          <a:lstStyle/>
          <a:p>
            <a:pPr eaLnBrk="1" hangingPunct="1">
              <a:defRPr/>
            </a:pPr>
            <a:r>
              <a:rPr lang="en-US" altLang="zh-CN" sz="2800" dirty="0"/>
              <a:t>Irregular Rating: Too high or too low rating</a:t>
            </a:r>
          </a:p>
          <a:p>
            <a:pPr marL="0" indent="0" algn="ctr" eaLnBrk="1" hangingPunct="1">
              <a:buFont typeface="Wingdings" panose="05000000000000000000" pitchFamily="2" charset="2"/>
              <a:buNone/>
              <a:defRPr/>
            </a:pPr>
            <a:endParaRPr lang="en-US" altLang="zh-CN" sz="2800" dirty="0"/>
          </a:p>
        </p:txBody>
      </p:sp>
      <p:sp>
        <p:nvSpPr>
          <p:cNvPr id="31747" name="标题 1"/>
          <p:cNvSpPr>
            <a:spLocks noGrp="1"/>
          </p:cNvSpPr>
          <p:nvPr>
            <p:ph type="title"/>
          </p:nvPr>
        </p:nvSpPr>
        <p:spPr/>
        <p:txBody>
          <a:bodyPr/>
          <a:lstStyle/>
          <a:p>
            <a:r>
              <a:rPr lang="zh-CN" altLang="en-US" dirty="0"/>
              <a:t>非正常评分的影响</a:t>
            </a:r>
          </a:p>
        </p:txBody>
      </p:sp>
      <p:graphicFrame>
        <p:nvGraphicFramePr>
          <p:cNvPr id="3" name="表格 2"/>
          <p:cNvGraphicFramePr>
            <a:graphicFrameLocks noGrp="1"/>
          </p:cNvGraphicFramePr>
          <p:nvPr/>
        </p:nvGraphicFramePr>
        <p:xfrm>
          <a:off x="1619250" y="1773238"/>
          <a:ext cx="5832477" cy="2849880"/>
        </p:xfrm>
        <a:graphic>
          <a:graphicData uri="http://schemas.openxmlformats.org/drawingml/2006/table">
            <a:tbl>
              <a:tblPr>
                <a:tableStyleId>{5C22544A-7EE6-4342-B048-85BDC9FD1C3A}</a:tableStyleId>
              </a:tblPr>
              <a:tblGrid>
                <a:gridCol w="417181">
                  <a:extLst>
                    <a:ext uri="{9D8B030D-6E8A-4147-A177-3AD203B41FA5}">
                      <a16:colId xmlns:a16="http://schemas.microsoft.com/office/drawing/2014/main" val="20000"/>
                    </a:ext>
                  </a:extLst>
                </a:gridCol>
                <a:gridCol w="310539">
                  <a:extLst>
                    <a:ext uri="{9D8B030D-6E8A-4147-A177-3AD203B41FA5}">
                      <a16:colId xmlns:a16="http://schemas.microsoft.com/office/drawing/2014/main" val="20001"/>
                    </a:ext>
                  </a:extLst>
                </a:gridCol>
                <a:gridCol w="311879">
                  <a:extLst>
                    <a:ext uri="{9D8B030D-6E8A-4147-A177-3AD203B41FA5}">
                      <a16:colId xmlns:a16="http://schemas.microsoft.com/office/drawing/2014/main" val="20002"/>
                    </a:ext>
                  </a:extLst>
                </a:gridCol>
                <a:gridCol w="311879">
                  <a:extLst>
                    <a:ext uri="{9D8B030D-6E8A-4147-A177-3AD203B41FA5}">
                      <a16:colId xmlns:a16="http://schemas.microsoft.com/office/drawing/2014/main" val="20003"/>
                    </a:ext>
                  </a:extLst>
                </a:gridCol>
                <a:gridCol w="311879">
                  <a:extLst>
                    <a:ext uri="{9D8B030D-6E8A-4147-A177-3AD203B41FA5}">
                      <a16:colId xmlns:a16="http://schemas.microsoft.com/office/drawing/2014/main" val="20004"/>
                    </a:ext>
                  </a:extLst>
                </a:gridCol>
                <a:gridCol w="311879">
                  <a:extLst>
                    <a:ext uri="{9D8B030D-6E8A-4147-A177-3AD203B41FA5}">
                      <a16:colId xmlns:a16="http://schemas.microsoft.com/office/drawing/2014/main" val="20005"/>
                    </a:ext>
                  </a:extLst>
                </a:gridCol>
                <a:gridCol w="311879">
                  <a:extLst>
                    <a:ext uri="{9D8B030D-6E8A-4147-A177-3AD203B41FA5}">
                      <a16:colId xmlns:a16="http://schemas.microsoft.com/office/drawing/2014/main" val="20006"/>
                    </a:ext>
                  </a:extLst>
                </a:gridCol>
                <a:gridCol w="311879">
                  <a:extLst>
                    <a:ext uri="{9D8B030D-6E8A-4147-A177-3AD203B41FA5}">
                      <a16:colId xmlns:a16="http://schemas.microsoft.com/office/drawing/2014/main" val="20007"/>
                    </a:ext>
                  </a:extLst>
                </a:gridCol>
                <a:gridCol w="311879">
                  <a:extLst>
                    <a:ext uri="{9D8B030D-6E8A-4147-A177-3AD203B41FA5}">
                      <a16:colId xmlns:a16="http://schemas.microsoft.com/office/drawing/2014/main" val="20008"/>
                    </a:ext>
                  </a:extLst>
                </a:gridCol>
                <a:gridCol w="311879">
                  <a:extLst>
                    <a:ext uri="{9D8B030D-6E8A-4147-A177-3AD203B41FA5}">
                      <a16:colId xmlns:a16="http://schemas.microsoft.com/office/drawing/2014/main" val="20009"/>
                    </a:ext>
                  </a:extLst>
                </a:gridCol>
                <a:gridCol w="385659">
                  <a:extLst>
                    <a:ext uri="{9D8B030D-6E8A-4147-A177-3AD203B41FA5}">
                      <a16:colId xmlns:a16="http://schemas.microsoft.com/office/drawing/2014/main" val="20010"/>
                    </a:ext>
                  </a:extLst>
                </a:gridCol>
                <a:gridCol w="364195">
                  <a:extLst>
                    <a:ext uri="{9D8B030D-6E8A-4147-A177-3AD203B41FA5}">
                      <a16:colId xmlns:a16="http://schemas.microsoft.com/office/drawing/2014/main" val="20011"/>
                    </a:ext>
                  </a:extLst>
                </a:gridCol>
                <a:gridCol w="372243">
                  <a:extLst>
                    <a:ext uri="{9D8B030D-6E8A-4147-A177-3AD203B41FA5}">
                      <a16:colId xmlns:a16="http://schemas.microsoft.com/office/drawing/2014/main" val="20012"/>
                    </a:ext>
                  </a:extLst>
                </a:gridCol>
                <a:gridCol w="370901">
                  <a:extLst>
                    <a:ext uri="{9D8B030D-6E8A-4147-A177-3AD203B41FA5}">
                      <a16:colId xmlns:a16="http://schemas.microsoft.com/office/drawing/2014/main" val="20013"/>
                    </a:ext>
                  </a:extLst>
                </a:gridCol>
                <a:gridCol w="373583">
                  <a:extLst>
                    <a:ext uri="{9D8B030D-6E8A-4147-A177-3AD203B41FA5}">
                      <a16:colId xmlns:a16="http://schemas.microsoft.com/office/drawing/2014/main" val="20014"/>
                    </a:ext>
                  </a:extLst>
                </a:gridCol>
                <a:gridCol w="364865">
                  <a:extLst>
                    <a:ext uri="{9D8B030D-6E8A-4147-A177-3AD203B41FA5}">
                      <a16:colId xmlns:a16="http://schemas.microsoft.com/office/drawing/2014/main" val="20015"/>
                    </a:ext>
                  </a:extLst>
                </a:gridCol>
                <a:gridCol w="378279">
                  <a:extLst>
                    <a:ext uri="{9D8B030D-6E8A-4147-A177-3AD203B41FA5}">
                      <a16:colId xmlns:a16="http://schemas.microsoft.com/office/drawing/2014/main" val="20016"/>
                    </a:ext>
                  </a:extLst>
                </a:gridCol>
              </a:tblGrid>
              <a:tr h="167621">
                <a:tc>
                  <a:txBody>
                    <a:bodyPr/>
                    <a:lstStyle/>
                    <a:p>
                      <a:pPr algn="ctr">
                        <a:spcBef>
                          <a:spcPts val="180"/>
                        </a:spcBef>
                        <a:spcAft>
                          <a:spcPts val="180"/>
                        </a:spcAft>
                      </a:pPr>
                      <a:r>
                        <a:rPr lang="en-GB" sz="1100" kern="100" dirty="0">
                          <a:effectLst/>
                        </a:rPr>
                        <a:t> </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1</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2</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3</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4</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5</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6</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7</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8</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9</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10</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11</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12</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13</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14</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15</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O</a:t>
                      </a:r>
                      <a:r>
                        <a:rPr lang="en-GB" sz="1100" kern="100" baseline="-25000" dirty="0">
                          <a:effectLst/>
                        </a:rPr>
                        <a:t>16</a:t>
                      </a:r>
                      <a:endParaRPr lang="zh-CN" sz="1100" kern="100" dirty="0">
                        <a:effectLst/>
                        <a:latin typeface="Calibri"/>
                        <a:ea typeface="宋体"/>
                        <a:cs typeface="Times New Roman"/>
                      </a:endParaRPr>
                    </a:p>
                  </a:txBody>
                  <a:tcPr marL="0" marR="0" marT="0" marB="0" anchor="ctr"/>
                </a:tc>
                <a:extLst>
                  <a:ext uri="{0D108BD9-81ED-4DB2-BD59-A6C34878D82A}">
                    <a16:rowId xmlns:a16="http://schemas.microsoft.com/office/drawing/2014/main" val="10000"/>
                  </a:ext>
                </a:extLst>
              </a:tr>
              <a:tr h="167621">
                <a:tc>
                  <a:txBody>
                    <a:bodyPr/>
                    <a:lstStyle/>
                    <a:p>
                      <a:pPr algn="ctr">
                        <a:spcBef>
                          <a:spcPts val="180"/>
                        </a:spcBef>
                        <a:spcAft>
                          <a:spcPts val="180"/>
                        </a:spcAft>
                      </a:pPr>
                      <a:r>
                        <a:rPr lang="en-GB" sz="1100" kern="100">
                          <a:effectLst/>
                        </a:rPr>
                        <a:t>S</a:t>
                      </a:r>
                      <a:r>
                        <a:rPr lang="en-GB" sz="1100" kern="100" baseline="-25000">
                          <a:effectLst/>
                        </a:rPr>
                        <a:t>1</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89</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01"/>
                  </a:ext>
                </a:extLst>
              </a:tr>
              <a:tr h="167621">
                <a:tc>
                  <a:txBody>
                    <a:bodyPr/>
                    <a:lstStyle/>
                    <a:p>
                      <a:pPr algn="ctr">
                        <a:spcBef>
                          <a:spcPts val="180"/>
                        </a:spcBef>
                        <a:spcAft>
                          <a:spcPts val="180"/>
                        </a:spcAft>
                      </a:pPr>
                      <a:r>
                        <a:rPr lang="en-GB" sz="1100" kern="100">
                          <a:effectLst/>
                        </a:rPr>
                        <a:t>S</a:t>
                      </a:r>
                      <a:r>
                        <a:rPr lang="en-GB" sz="1100" kern="100" baseline="-25000">
                          <a:effectLst/>
                        </a:rPr>
                        <a:t>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89</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02"/>
                  </a:ext>
                </a:extLst>
              </a:tr>
              <a:tr h="167621">
                <a:tc>
                  <a:txBody>
                    <a:bodyPr/>
                    <a:lstStyle/>
                    <a:p>
                      <a:pPr algn="ctr">
                        <a:spcBef>
                          <a:spcPts val="180"/>
                        </a:spcBef>
                        <a:spcAft>
                          <a:spcPts val="180"/>
                        </a:spcAft>
                      </a:pPr>
                      <a:r>
                        <a:rPr lang="en-GB" sz="1100" kern="100">
                          <a:effectLst/>
                        </a:rPr>
                        <a:t>S</a:t>
                      </a:r>
                      <a:r>
                        <a:rPr lang="en-GB" sz="1100" kern="100" baseline="-25000">
                          <a:effectLst/>
                        </a:rPr>
                        <a:t>3</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84</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03"/>
                  </a:ext>
                </a:extLst>
              </a:tr>
              <a:tr h="167621">
                <a:tc>
                  <a:txBody>
                    <a:bodyPr/>
                    <a:lstStyle/>
                    <a:p>
                      <a:pPr algn="ctr">
                        <a:spcBef>
                          <a:spcPts val="180"/>
                        </a:spcBef>
                        <a:spcAft>
                          <a:spcPts val="180"/>
                        </a:spcAft>
                      </a:pPr>
                      <a:r>
                        <a:rPr lang="en-GB" sz="1100" kern="100">
                          <a:effectLst/>
                        </a:rPr>
                        <a:t>S</a:t>
                      </a:r>
                      <a:r>
                        <a:rPr lang="en-GB" sz="1100" kern="100" baseline="-25000">
                          <a:effectLst/>
                        </a:rPr>
                        <a:t>4</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89</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89</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91</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89</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94</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04"/>
                  </a:ext>
                </a:extLst>
              </a:tr>
              <a:tr h="167621">
                <a:tc>
                  <a:txBody>
                    <a:bodyPr/>
                    <a:lstStyle/>
                    <a:p>
                      <a:pPr algn="ctr">
                        <a:spcBef>
                          <a:spcPts val="180"/>
                        </a:spcBef>
                        <a:spcAft>
                          <a:spcPts val="180"/>
                        </a:spcAft>
                      </a:pPr>
                      <a:r>
                        <a:rPr lang="en-GB" sz="1100" kern="100">
                          <a:effectLst/>
                        </a:rPr>
                        <a:t>S</a:t>
                      </a:r>
                      <a:r>
                        <a:rPr lang="en-GB" sz="1100" kern="100" baseline="-25000">
                          <a:effectLst/>
                        </a:rPr>
                        <a:t>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83</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92</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05"/>
                  </a:ext>
                </a:extLst>
              </a:tr>
              <a:tr h="167621">
                <a:tc>
                  <a:txBody>
                    <a:bodyPr/>
                    <a:lstStyle/>
                    <a:p>
                      <a:pPr algn="ctr">
                        <a:spcBef>
                          <a:spcPts val="180"/>
                        </a:spcBef>
                        <a:spcAft>
                          <a:spcPts val="180"/>
                        </a:spcAft>
                      </a:pPr>
                      <a:r>
                        <a:rPr lang="en-GB" sz="1100" kern="100">
                          <a:effectLst/>
                        </a:rPr>
                        <a:t>S</a:t>
                      </a:r>
                      <a:r>
                        <a:rPr lang="en-GB" sz="1100" kern="100" baseline="-25000">
                          <a:effectLst/>
                        </a:rPr>
                        <a:t>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91</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06"/>
                  </a:ext>
                </a:extLst>
              </a:tr>
              <a:tr h="167621">
                <a:tc>
                  <a:txBody>
                    <a:bodyPr/>
                    <a:lstStyle/>
                    <a:p>
                      <a:pPr algn="ctr">
                        <a:spcBef>
                          <a:spcPts val="180"/>
                        </a:spcBef>
                        <a:spcAft>
                          <a:spcPts val="180"/>
                        </a:spcAft>
                      </a:pPr>
                      <a:r>
                        <a:rPr lang="en-GB" sz="1100" kern="100">
                          <a:effectLst/>
                        </a:rPr>
                        <a:t>S</a:t>
                      </a:r>
                      <a:r>
                        <a:rPr lang="en-GB" sz="1100" kern="100" baseline="-25000">
                          <a:effectLst/>
                        </a:rPr>
                        <a:t>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81</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93</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83</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89</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89</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07"/>
                  </a:ext>
                </a:extLst>
              </a:tr>
              <a:tr h="167621">
                <a:tc>
                  <a:txBody>
                    <a:bodyPr/>
                    <a:lstStyle/>
                    <a:p>
                      <a:pPr algn="ctr">
                        <a:spcBef>
                          <a:spcPts val="180"/>
                        </a:spcBef>
                        <a:spcAft>
                          <a:spcPts val="180"/>
                        </a:spcAft>
                      </a:pPr>
                      <a:r>
                        <a:rPr lang="en-GB" sz="1100" kern="100">
                          <a:effectLst/>
                        </a:rPr>
                        <a:t>S</a:t>
                      </a:r>
                      <a:r>
                        <a:rPr lang="en-GB" sz="1100" kern="100" baseline="-25000">
                          <a:effectLst/>
                        </a:rPr>
                        <a:t>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91</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94</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08"/>
                  </a:ext>
                </a:extLst>
              </a:tr>
              <a:tr h="167621">
                <a:tc>
                  <a:txBody>
                    <a:bodyPr/>
                    <a:lstStyle/>
                    <a:p>
                      <a:pPr algn="ctr">
                        <a:spcBef>
                          <a:spcPts val="180"/>
                        </a:spcBef>
                        <a:spcAft>
                          <a:spcPts val="180"/>
                        </a:spcAft>
                      </a:pPr>
                      <a:r>
                        <a:rPr lang="en-GB" sz="1100" kern="100">
                          <a:effectLst/>
                        </a:rPr>
                        <a:t>S</a:t>
                      </a:r>
                      <a:r>
                        <a:rPr lang="en-GB" sz="1100" kern="100" baseline="-25000">
                          <a:effectLst/>
                        </a:rPr>
                        <a:t>9</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91</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89</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09"/>
                  </a:ext>
                </a:extLst>
              </a:tr>
              <a:tr h="167621">
                <a:tc>
                  <a:txBody>
                    <a:bodyPr/>
                    <a:lstStyle/>
                    <a:p>
                      <a:pPr algn="ctr">
                        <a:spcBef>
                          <a:spcPts val="180"/>
                        </a:spcBef>
                        <a:spcAft>
                          <a:spcPts val="180"/>
                        </a:spcAft>
                      </a:pPr>
                      <a:r>
                        <a:rPr lang="en-GB" sz="1100" kern="100">
                          <a:effectLst/>
                        </a:rPr>
                        <a:t>S</a:t>
                      </a:r>
                      <a:r>
                        <a:rPr lang="en-GB" sz="1100" kern="100" baseline="-25000">
                          <a:effectLst/>
                        </a:rPr>
                        <a:t>10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10"/>
                  </a:ext>
                </a:extLst>
              </a:tr>
              <a:tr h="167621">
                <a:tc>
                  <a:txBody>
                    <a:bodyPr/>
                    <a:lstStyle/>
                    <a:p>
                      <a:pPr algn="ctr">
                        <a:spcBef>
                          <a:spcPts val="180"/>
                        </a:spcBef>
                        <a:spcAft>
                          <a:spcPts val="180"/>
                        </a:spcAft>
                      </a:pPr>
                      <a:r>
                        <a:rPr lang="en-GB" sz="1100" kern="100">
                          <a:effectLst/>
                        </a:rPr>
                        <a:t>S11</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83</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91</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11"/>
                  </a:ext>
                </a:extLst>
              </a:tr>
              <a:tr h="167621">
                <a:tc>
                  <a:txBody>
                    <a:bodyPr/>
                    <a:lstStyle/>
                    <a:p>
                      <a:pPr algn="ctr">
                        <a:spcBef>
                          <a:spcPts val="180"/>
                        </a:spcBef>
                        <a:spcAft>
                          <a:spcPts val="180"/>
                        </a:spcAft>
                      </a:pPr>
                      <a:r>
                        <a:rPr lang="en-GB" sz="1100" kern="100">
                          <a:effectLst/>
                        </a:rPr>
                        <a:t>S12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93</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89</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93</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93</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92</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93</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12"/>
                  </a:ext>
                </a:extLst>
              </a:tr>
              <a:tr h="167621">
                <a:tc>
                  <a:txBody>
                    <a:bodyPr/>
                    <a:lstStyle/>
                    <a:p>
                      <a:pPr algn="ctr">
                        <a:spcBef>
                          <a:spcPts val="180"/>
                        </a:spcBef>
                        <a:spcAft>
                          <a:spcPts val="180"/>
                        </a:spcAft>
                      </a:pPr>
                      <a:r>
                        <a:rPr lang="en-GB" sz="1100" kern="100">
                          <a:effectLst/>
                        </a:rPr>
                        <a:t>S13</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91</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13"/>
                  </a:ext>
                </a:extLst>
              </a:tr>
              <a:tr h="167621">
                <a:tc>
                  <a:txBody>
                    <a:bodyPr/>
                    <a:lstStyle/>
                    <a:p>
                      <a:pPr algn="ctr">
                        <a:spcBef>
                          <a:spcPts val="180"/>
                        </a:spcBef>
                        <a:spcAft>
                          <a:spcPts val="180"/>
                        </a:spcAft>
                      </a:pPr>
                      <a:r>
                        <a:rPr lang="en-GB" sz="1100" kern="100">
                          <a:effectLst/>
                        </a:rPr>
                        <a:t>S14</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95</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14"/>
                  </a:ext>
                </a:extLst>
              </a:tr>
              <a:tr h="167621">
                <a:tc>
                  <a:txBody>
                    <a:bodyPr/>
                    <a:lstStyle/>
                    <a:p>
                      <a:pPr algn="ctr">
                        <a:spcBef>
                          <a:spcPts val="180"/>
                        </a:spcBef>
                        <a:spcAft>
                          <a:spcPts val="180"/>
                        </a:spcAft>
                      </a:pPr>
                      <a:r>
                        <a:rPr lang="en-GB" sz="1100" kern="100">
                          <a:effectLst/>
                        </a:rPr>
                        <a:t>S15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87</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88</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92</a:t>
                      </a:r>
                      <a:endParaRPr lang="zh-CN" sz="1100" kern="100">
                        <a:effectLst/>
                        <a:latin typeface="Calibri"/>
                        <a:ea typeface="宋体"/>
                        <a:cs typeface="Times New Roman"/>
                      </a:endParaRPr>
                    </a:p>
                  </a:txBody>
                  <a:tcPr marL="0" marR="0" marT="0" marB="0" anchor="ctr"/>
                </a:tc>
                <a:extLst>
                  <a:ext uri="{0D108BD9-81ED-4DB2-BD59-A6C34878D82A}">
                    <a16:rowId xmlns:a16="http://schemas.microsoft.com/office/drawing/2014/main" val="10015"/>
                  </a:ext>
                </a:extLst>
              </a:tr>
              <a:tr h="167621">
                <a:tc>
                  <a:txBody>
                    <a:bodyPr/>
                    <a:lstStyle/>
                    <a:p>
                      <a:pPr algn="ctr">
                        <a:spcBef>
                          <a:spcPts val="180"/>
                        </a:spcBef>
                        <a:spcAft>
                          <a:spcPts val="180"/>
                        </a:spcAft>
                      </a:pPr>
                      <a:r>
                        <a:rPr lang="en-GB" sz="1100" kern="100">
                          <a:effectLst/>
                        </a:rPr>
                        <a:t>S16</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90</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85</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dirty="0">
                          <a:effectLst/>
                        </a:rPr>
                        <a:t>90</a:t>
                      </a:r>
                      <a:endParaRPr lang="zh-CN" sz="1100" kern="100" dirty="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90</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kern="100">
                          <a:effectLst/>
                        </a:rPr>
                        <a:t>85</a:t>
                      </a:r>
                      <a:endParaRPr lang="zh-CN" sz="1100" kern="100">
                        <a:effectLst/>
                        <a:latin typeface="Calibri"/>
                        <a:ea typeface="宋体"/>
                        <a:cs typeface="Times New Roman"/>
                      </a:endParaRPr>
                    </a:p>
                  </a:txBody>
                  <a:tcPr marL="0" marR="0" marT="0" marB="0" anchor="ctr"/>
                </a:tc>
                <a:tc>
                  <a:txBody>
                    <a:bodyPr/>
                    <a:lstStyle/>
                    <a:p>
                      <a:pPr algn="ctr">
                        <a:spcBef>
                          <a:spcPts val="180"/>
                        </a:spcBef>
                        <a:spcAft>
                          <a:spcPts val="180"/>
                        </a:spcAft>
                      </a:pPr>
                      <a:r>
                        <a:rPr lang="en-GB" sz="1100" b="1" kern="100" dirty="0">
                          <a:solidFill>
                            <a:srgbClr val="FF0000"/>
                          </a:solidFill>
                          <a:effectLst/>
                        </a:rPr>
                        <a:t>91</a:t>
                      </a:r>
                      <a:endParaRPr lang="zh-CN" sz="1100" b="1" kern="100" dirty="0">
                        <a:solidFill>
                          <a:srgbClr val="FF0000"/>
                        </a:solidFill>
                        <a:effectLst/>
                        <a:latin typeface="Calibri"/>
                        <a:ea typeface="宋体"/>
                        <a:cs typeface="Times New Roman"/>
                      </a:endParaRPr>
                    </a:p>
                  </a:txBody>
                  <a:tcPr marL="0" marR="0" marT="0" marB="0" anchor="ctr"/>
                </a:tc>
                <a:extLst>
                  <a:ext uri="{0D108BD9-81ED-4DB2-BD59-A6C34878D82A}">
                    <a16:rowId xmlns:a16="http://schemas.microsoft.com/office/drawing/2014/main" val="10016"/>
                  </a:ext>
                </a:extLst>
              </a:tr>
            </a:tbl>
          </a:graphicData>
        </a:graphic>
      </p:graphicFrame>
      <p:graphicFrame>
        <p:nvGraphicFramePr>
          <p:cNvPr id="9" name="表格 8"/>
          <p:cNvGraphicFramePr>
            <a:graphicFrameLocks noGrp="1"/>
          </p:cNvGraphicFramePr>
          <p:nvPr/>
        </p:nvGraphicFramePr>
        <p:xfrm>
          <a:off x="217488" y="5013325"/>
          <a:ext cx="8891595" cy="750888"/>
        </p:xfrm>
        <a:graphic>
          <a:graphicData uri="http://schemas.openxmlformats.org/drawingml/2006/table">
            <a:tbl>
              <a:tblPr>
                <a:tableStyleId>{5C22544A-7EE6-4342-B048-85BDC9FD1C3A}</a:tableStyleId>
              </a:tblPr>
              <a:tblGrid>
                <a:gridCol w="523035">
                  <a:extLst>
                    <a:ext uri="{9D8B030D-6E8A-4147-A177-3AD203B41FA5}">
                      <a16:colId xmlns:a16="http://schemas.microsoft.com/office/drawing/2014/main" val="20000"/>
                    </a:ext>
                  </a:extLst>
                </a:gridCol>
                <a:gridCol w="523035">
                  <a:extLst>
                    <a:ext uri="{9D8B030D-6E8A-4147-A177-3AD203B41FA5}">
                      <a16:colId xmlns:a16="http://schemas.microsoft.com/office/drawing/2014/main" val="20001"/>
                    </a:ext>
                  </a:extLst>
                </a:gridCol>
                <a:gridCol w="523035">
                  <a:extLst>
                    <a:ext uri="{9D8B030D-6E8A-4147-A177-3AD203B41FA5}">
                      <a16:colId xmlns:a16="http://schemas.microsoft.com/office/drawing/2014/main" val="20002"/>
                    </a:ext>
                  </a:extLst>
                </a:gridCol>
                <a:gridCol w="523035">
                  <a:extLst>
                    <a:ext uri="{9D8B030D-6E8A-4147-A177-3AD203B41FA5}">
                      <a16:colId xmlns:a16="http://schemas.microsoft.com/office/drawing/2014/main" val="20003"/>
                    </a:ext>
                  </a:extLst>
                </a:gridCol>
                <a:gridCol w="523035">
                  <a:extLst>
                    <a:ext uri="{9D8B030D-6E8A-4147-A177-3AD203B41FA5}">
                      <a16:colId xmlns:a16="http://schemas.microsoft.com/office/drawing/2014/main" val="20004"/>
                    </a:ext>
                  </a:extLst>
                </a:gridCol>
                <a:gridCol w="523035">
                  <a:extLst>
                    <a:ext uri="{9D8B030D-6E8A-4147-A177-3AD203B41FA5}">
                      <a16:colId xmlns:a16="http://schemas.microsoft.com/office/drawing/2014/main" val="20005"/>
                    </a:ext>
                  </a:extLst>
                </a:gridCol>
                <a:gridCol w="523035">
                  <a:extLst>
                    <a:ext uri="{9D8B030D-6E8A-4147-A177-3AD203B41FA5}">
                      <a16:colId xmlns:a16="http://schemas.microsoft.com/office/drawing/2014/main" val="20006"/>
                    </a:ext>
                  </a:extLst>
                </a:gridCol>
                <a:gridCol w="523035">
                  <a:extLst>
                    <a:ext uri="{9D8B030D-6E8A-4147-A177-3AD203B41FA5}">
                      <a16:colId xmlns:a16="http://schemas.microsoft.com/office/drawing/2014/main" val="20007"/>
                    </a:ext>
                  </a:extLst>
                </a:gridCol>
                <a:gridCol w="523035">
                  <a:extLst>
                    <a:ext uri="{9D8B030D-6E8A-4147-A177-3AD203B41FA5}">
                      <a16:colId xmlns:a16="http://schemas.microsoft.com/office/drawing/2014/main" val="20008"/>
                    </a:ext>
                  </a:extLst>
                </a:gridCol>
                <a:gridCol w="523035">
                  <a:extLst>
                    <a:ext uri="{9D8B030D-6E8A-4147-A177-3AD203B41FA5}">
                      <a16:colId xmlns:a16="http://schemas.microsoft.com/office/drawing/2014/main" val="20009"/>
                    </a:ext>
                  </a:extLst>
                </a:gridCol>
                <a:gridCol w="523035">
                  <a:extLst>
                    <a:ext uri="{9D8B030D-6E8A-4147-A177-3AD203B41FA5}">
                      <a16:colId xmlns:a16="http://schemas.microsoft.com/office/drawing/2014/main" val="20010"/>
                    </a:ext>
                  </a:extLst>
                </a:gridCol>
                <a:gridCol w="523035">
                  <a:extLst>
                    <a:ext uri="{9D8B030D-6E8A-4147-A177-3AD203B41FA5}">
                      <a16:colId xmlns:a16="http://schemas.microsoft.com/office/drawing/2014/main" val="20011"/>
                    </a:ext>
                  </a:extLst>
                </a:gridCol>
                <a:gridCol w="523035">
                  <a:extLst>
                    <a:ext uri="{9D8B030D-6E8A-4147-A177-3AD203B41FA5}">
                      <a16:colId xmlns:a16="http://schemas.microsoft.com/office/drawing/2014/main" val="20012"/>
                    </a:ext>
                  </a:extLst>
                </a:gridCol>
                <a:gridCol w="523035">
                  <a:extLst>
                    <a:ext uri="{9D8B030D-6E8A-4147-A177-3AD203B41FA5}">
                      <a16:colId xmlns:a16="http://schemas.microsoft.com/office/drawing/2014/main" val="20013"/>
                    </a:ext>
                  </a:extLst>
                </a:gridCol>
                <a:gridCol w="523035">
                  <a:extLst>
                    <a:ext uri="{9D8B030D-6E8A-4147-A177-3AD203B41FA5}">
                      <a16:colId xmlns:a16="http://schemas.microsoft.com/office/drawing/2014/main" val="20014"/>
                    </a:ext>
                  </a:extLst>
                </a:gridCol>
                <a:gridCol w="523035">
                  <a:extLst>
                    <a:ext uri="{9D8B030D-6E8A-4147-A177-3AD203B41FA5}">
                      <a16:colId xmlns:a16="http://schemas.microsoft.com/office/drawing/2014/main" val="20015"/>
                    </a:ext>
                  </a:extLst>
                </a:gridCol>
                <a:gridCol w="523035">
                  <a:extLst>
                    <a:ext uri="{9D8B030D-6E8A-4147-A177-3AD203B41FA5}">
                      <a16:colId xmlns:a16="http://schemas.microsoft.com/office/drawing/2014/main" val="20016"/>
                    </a:ext>
                  </a:extLst>
                </a:gridCol>
              </a:tblGrid>
              <a:tr h="375444">
                <a:tc>
                  <a:txBody>
                    <a:bodyPr/>
                    <a:lstStyle/>
                    <a:p>
                      <a:pPr algn="ctr" fontAlgn="ctr">
                        <a:lnSpc>
                          <a:spcPct val="150000"/>
                        </a:lnSpc>
                      </a:pPr>
                      <a:r>
                        <a:rPr lang="en-US" altLang="zh-CN" sz="1600" b="0" i="0" u="none" strike="noStrike" dirty="0">
                          <a:effectLst/>
                          <a:latin typeface="Times New Roman" panose="02020603050405020304" pitchFamily="18" charset="0"/>
                          <a:cs typeface="Times New Roman" panose="02020603050405020304" pitchFamily="18" charset="0"/>
                        </a:rPr>
                        <a:t>Mean</a:t>
                      </a:r>
                      <a:endParaRPr lang="zh-CN" altLang="en-US" sz="1600" b="0" i="0" u="none" strike="noStrike" dirty="0">
                        <a:effectLst/>
                        <a:latin typeface="Times New Roman" panose="02020603050405020304" pitchFamily="18" charset="0"/>
                        <a:cs typeface="Times New Roman" panose="02020603050405020304" pitchFamily="18" charset="0"/>
                      </a:endParaRPr>
                    </a:p>
                  </a:txBody>
                  <a:tcPr marL="9524" marR="9524" marT="9529" marB="0" anchor="ctr"/>
                </a:tc>
                <a:tc>
                  <a:txBody>
                    <a:bodyPr/>
                    <a:lstStyle/>
                    <a:p>
                      <a:pPr algn="ctr" fontAlgn="ctr"/>
                      <a:r>
                        <a:rPr lang="en-US" altLang="zh-CN" sz="1600" b="0" i="0" u="none" strike="noStrike">
                          <a:solidFill>
                            <a:srgbClr val="FF0000"/>
                          </a:solidFill>
                          <a:effectLst/>
                          <a:latin typeface="Times New Roman"/>
                        </a:rPr>
                        <a:t>89.31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86.88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87.50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86.56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89.81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85.69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85.94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90.19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88.94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86.88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89.63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86.00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89.94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87.00 </a:t>
                      </a:r>
                    </a:p>
                  </a:txBody>
                  <a:tcPr marL="9524" marR="9524" marT="9529" marB="0" anchor="ctr"/>
                </a:tc>
                <a:tc>
                  <a:txBody>
                    <a:bodyPr/>
                    <a:lstStyle/>
                    <a:p>
                      <a:pPr algn="ctr" fontAlgn="ctr"/>
                      <a:r>
                        <a:rPr lang="en-US" altLang="zh-CN" sz="1600" b="0" i="0" u="none" strike="noStrike">
                          <a:solidFill>
                            <a:srgbClr val="FF0000"/>
                          </a:solidFill>
                          <a:effectLst/>
                          <a:latin typeface="Times New Roman"/>
                        </a:rPr>
                        <a:t>86.81 </a:t>
                      </a:r>
                    </a:p>
                  </a:txBody>
                  <a:tcPr marL="9524" marR="9524" marT="9529" marB="0" anchor="ctr"/>
                </a:tc>
                <a:tc>
                  <a:txBody>
                    <a:bodyPr/>
                    <a:lstStyle/>
                    <a:p>
                      <a:pPr algn="ctr" fontAlgn="ctr"/>
                      <a:r>
                        <a:rPr lang="en-US" altLang="zh-CN" sz="1600" b="1" i="0" u="none" strike="noStrike" dirty="0">
                          <a:solidFill>
                            <a:srgbClr val="FF0000"/>
                          </a:solidFill>
                          <a:effectLst/>
                          <a:latin typeface="Times New Roman"/>
                        </a:rPr>
                        <a:t>84.94 </a:t>
                      </a:r>
                    </a:p>
                  </a:txBody>
                  <a:tcPr marL="9524" marR="9524" marT="9529" marB="0" anchor="ctr">
                    <a:solidFill>
                      <a:srgbClr val="FFFF00"/>
                    </a:solidFill>
                  </a:tcPr>
                </a:tc>
                <a:extLst>
                  <a:ext uri="{0D108BD9-81ED-4DB2-BD59-A6C34878D82A}">
                    <a16:rowId xmlns:a16="http://schemas.microsoft.com/office/drawing/2014/main" val="10000"/>
                  </a:ext>
                </a:extLst>
              </a:tr>
              <a:tr h="375444">
                <a:tc>
                  <a:txBody>
                    <a:bodyPr/>
                    <a:lstStyle/>
                    <a:p>
                      <a:pPr algn="ctr" fontAlgn="ctr">
                        <a:lnSpc>
                          <a:spcPct val="150000"/>
                        </a:lnSpc>
                      </a:pPr>
                      <a:r>
                        <a:rPr lang="en-US" altLang="zh-CN" sz="1600" b="0" i="0" u="none" strike="noStrike" dirty="0">
                          <a:effectLst/>
                          <a:latin typeface="Times New Roman" panose="02020603050405020304" pitchFamily="18" charset="0"/>
                          <a:cs typeface="Times New Roman" panose="02020603050405020304" pitchFamily="18" charset="0"/>
                        </a:rPr>
                        <a:t>Rank</a:t>
                      </a:r>
                      <a:endParaRPr lang="zh-CN" altLang="en-US" sz="1600" b="0" i="0" u="none" strike="noStrike" dirty="0">
                        <a:effectLst/>
                        <a:latin typeface="Times New Roman" panose="02020603050405020304" pitchFamily="18" charset="0"/>
                        <a:cs typeface="Times New Roman" panose="02020603050405020304" pitchFamily="18" charset="0"/>
                      </a:endParaRPr>
                    </a:p>
                  </a:txBody>
                  <a:tcPr marL="9524" marR="9524" marT="9529" marB="0" anchor="ctr"/>
                </a:tc>
                <a:tc>
                  <a:txBody>
                    <a:bodyPr/>
                    <a:lstStyle/>
                    <a:p>
                      <a:pPr algn="ctr" fontAlgn="ctr"/>
                      <a:r>
                        <a:rPr lang="en-US" altLang="zh-CN" sz="1600" b="0" i="0" u="none" strike="noStrike">
                          <a:effectLst/>
                          <a:latin typeface="Times New Roman"/>
                        </a:rPr>
                        <a:t>5</a:t>
                      </a:r>
                    </a:p>
                  </a:txBody>
                  <a:tcPr marL="9524" marR="9524" marT="9529" marB="0" anchor="ctr"/>
                </a:tc>
                <a:tc>
                  <a:txBody>
                    <a:bodyPr/>
                    <a:lstStyle/>
                    <a:p>
                      <a:pPr algn="ctr" fontAlgn="ctr"/>
                      <a:r>
                        <a:rPr lang="en-US" altLang="zh-CN" sz="1600" b="0" i="0" u="none" strike="noStrike">
                          <a:effectLst/>
                          <a:latin typeface="Times New Roman"/>
                        </a:rPr>
                        <a:t>9</a:t>
                      </a:r>
                    </a:p>
                  </a:txBody>
                  <a:tcPr marL="9524" marR="9524" marT="9529" marB="0" anchor="ctr"/>
                </a:tc>
                <a:tc>
                  <a:txBody>
                    <a:bodyPr/>
                    <a:lstStyle/>
                    <a:p>
                      <a:pPr algn="ctr" fontAlgn="ctr"/>
                      <a:r>
                        <a:rPr lang="en-US" altLang="zh-CN" sz="1600" b="0" i="0" u="none" strike="noStrike">
                          <a:effectLst/>
                          <a:latin typeface="Times New Roman"/>
                        </a:rPr>
                        <a:t>7</a:t>
                      </a:r>
                    </a:p>
                  </a:txBody>
                  <a:tcPr marL="9524" marR="9524" marT="9529" marB="0" anchor="ctr"/>
                </a:tc>
                <a:tc>
                  <a:txBody>
                    <a:bodyPr/>
                    <a:lstStyle/>
                    <a:p>
                      <a:pPr algn="ctr" fontAlgn="ctr"/>
                      <a:r>
                        <a:rPr lang="en-US" altLang="zh-CN" sz="1600" b="0" i="0" u="none" strike="noStrike">
                          <a:effectLst/>
                          <a:latin typeface="Times New Roman"/>
                        </a:rPr>
                        <a:t>12</a:t>
                      </a:r>
                    </a:p>
                  </a:txBody>
                  <a:tcPr marL="9524" marR="9524" marT="9529" marB="0" anchor="ctr"/>
                </a:tc>
                <a:tc>
                  <a:txBody>
                    <a:bodyPr/>
                    <a:lstStyle/>
                    <a:p>
                      <a:pPr algn="ctr" fontAlgn="ctr"/>
                      <a:r>
                        <a:rPr lang="en-US" altLang="zh-CN" sz="1600" b="0" i="0" u="none" strike="noStrike">
                          <a:effectLst/>
                          <a:latin typeface="Times New Roman"/>
                        </a:rPr>
                        <a:t>3</a:t>
                      </a:r>
                    </a:p>
                  </a:txBody>
                  <a:tcPr marL="9524" marR="9524" marT="9529" marB="0" anchor="ctr"/>
                </a:tc>
                <a:tc>
                  <a:txBody>
                    <a:bodyPr/>
                    <a:lstStyle/>
                    <a:p>
                      <a:pPr algn="ctr" fontAlgn="ctr"/>
                      <a:r>
                        <a:rPr lang="en-US" altLang="zh-CN" sz="1600" b="0" i="0" u="none" strike="noStrike">
                          <a:effectLst/>
                          <a:latin typeface="Times New Roman"/>
                        </a:rPr>
                        <a:t>15</a:t>
                      </a:r>
                    </a:p>
                  </a:txBody>
                  <a:tcPr marL="9524" marR="9524" marT="9529" marB="0" anchor="ctr"/>
                </a:tc>
                <a:tc>
                  <a:txBody>
                    <a:bodyPr/>
                    <a:lstStyle/>
                    <a:p>
                      <a:pPr algn="ctr" fontAlgn="ctr"/>
                      <a:r>
                        <a:rPr lang="en-US" altLang="zh-CN" sz="1600" b="0" i="0" u="none" strike="noStrike">
                          <a:effectLst/>
                          <a:latin typeface="Times New Roman"/>
                        </a:rPr>
                        <a:t>14</a:t>
                      </a:r>
                    </a:p>
                  </a:txBody>
                  <a:tcPr marL="9524" marR="9524" marT="9529" marB="0" anchor="ctr"/>
                </a:tc>
                <a:tc>
                  <a:txBody>
                    <a:bodyPr/>
                    <a:lstStyle/>
                    <a:p>
                      <a:pPr algn="ctr" fontAlgn="ctr"/>
                      <a:r>
                        <a:rPr lang="en-US" altLang="zh-CN" sz="1600" b="0" i="0" u="none" strike="noStrike">
                          <a:effectLst/>
                          <a:latin typeface="Times New Roman"/>
                        </a:rPr>
                        <a:t>1</a:t>
                      </a:r>
                    </a:p>
                  </a:txBody>
                  <a:tcPr marL="9524" marR="9524" marT="9529" marB="0" anchor="ctr"/>
                </a:tc>
                <a:tc>
                  <a:txBody>
                    <a:bodyPr/>
                    <a:lstStyle/>
                    <a:p>
                      <a:pPr algn="ctr" fontAlgn="ctr"/>
                      <a:r>
                        <a:rPr lang="en-US" altLang="zh-CN" sz="1600" b="0" i="0" u="none" strike="noStrike">
                          <a:effectLst/>
                          <a:latin typeface="Times New Roman"/>
                        </a:rPr>
                        <a:t>6</a:t>
                      </a:r>
                    </a:p>
                  </a:txBody>
                  <a:tcPr marL="9524" marR="9524" marT="9529" marB="0" anchor="ctr"/>
                </a:tc>
                <a:tc>
                  <a:txBody>
                    <a:bodyPr/>
                    <a:lstStyle/>
                    <a:p>
                      <a:pPr algn="ctr" fontAlgn="ctr"/>
                      <a:r>
                        <a:rPr lang="en-US" altLang="zh-CN" sz="1600" b="0" i="0" u="none" strike="noStrike">
                          <a:effectLst/>
                          <a:latin typeface="Times New Roman"/>
                        </a:rPr>
                        <a:t>9</a:t>
                      </a:r>
                    </a:p>
                  </a:txBody>
                  <a:tcPr marL="9524" marR="9524" marT="9529" marB="0" anchor="ctr"/>
                </a:tc>
                <a:tc>
                  <a:txBody>
                    <a:bodyPr/>
                    <a:lstStyle/>
                    <a:p>
                      <a:pPr algn="ctr" fontAlgn="ctr"/>
                      <a:r>
                        <a:rPr lang="en-US" altLang="zh-CN" sz="1600" b="0" i="0" u="none" strike="noStrike">
                          <a:effectLst/>
                          <a:latin typeface="Times New Roman"/>
                        </a:rPr>
                        <a:t>4</a:t>
                      </a:r>
                    </a:p>
                  </a:txBody>
                  <a:tcPr marL="9524" marR="9524" marT="9529" marB="0" anchor="ctr"/>
                </a:tc>
                <a:tc>
                  <a:txBody>
                    <a:bodyPr/>
                    <a:lstStyle/>
                    <a:p>
                      <a:pPr algn="ctr" fontAlgn="ctr"/>
                      <a:r>
                        <a:rPr lang="en-US" altLang="zh-CN" sz="1600" b="0" i="0" u="none" strike="noStrike">
                          <a:effectLst/>
                          <a:latin typeface="Times New Roman"/>
                        </a:rPr>
                        <a:t>13</a:t>
                      </a:r>
                    </a:p>
                  </a:txBody>
                  <a:tcPr marL="9524" marR="9524" marT="9529" marB="0" anchor="ctr"/>
                </a:tc>
                <a:tc>
                  <a:txBody>
                    <a:bodyPr/>
                    <a:lstStyle/>
                    <a:p>
                      <a:pPr algn="ctr" fontAlgn="ctr"/>
                      <a:r>
                        <a:rPr lang="en-US" altLang="zh-CN" sz="1600" b="0" i="0" u="none" strike="noStrike">
                          <a:effectLst/>
                          <a:latin typeface="Times New Roman"/>
                        </a:rPr>
                        <a:t>2</a:t>
                      </a:r>
                    </a:p>
                  </a:txBody>
                  <a:tcPr marL="9524" marR="9524" marT="9529" marB="0" anchor="ctr"/>
                </a:tc>
                <a:tc>
                  <a:txBody>
                    <a:bodyPr/>
                    <a:lstStyle/>
                    <a:p>
                      <a:pPr algn="ctr" fontAlgn="ctr"/>
                      <a:r>
                        <a:rPr lang="en-US" altLang="zh-CN" sz="1600" b="0" i="0" u="none" strike="noStrike">
                          <a:effectLst/>
                          <a:latin typeface="Times New Roman"/>
                        </a:rPr>
                        <a:t>8</a:t>
                      </a:r>
                    </a:p>
                  </a:txBody>
                  <a:tcPr marL="9524" marR="9524" marT="9529" marB="0" anchor="ctr"/>
                </a:tc>
                <a:tc>
                  <a:txBody>
                    <a:bodyPr/>
                    <a:lstStyle/>
                    <a:p>
                      <a:pPr algn="ctr" fontAlgn="ctr"/>
                      <a:r>
                        <a:rPr lang="en-US" altLang="zh-CN" sz="1600" b="0" i="0" u="none" strike="noStrike">
                          <a:effectLst/>
                          <a:latin typeface="Times New Roman"/>
                        </a:rPr>
                        <a:t>11</a:t>
                      </a:r>
                    </a:p>
                  </a:txBody>
                  <a:tcPr marL="9524" marR="9524" marT="9529" marB="0" anchor="ctr"/>
                </a:tc>
                <a:tc>
                  <a:txBody>
                    <a:bodyPr/>
                    <a:lstStyle/>
                    <a:p>
                      <a:pPr algn="ctr" fontAlgn="ctr"/>
                      <a:r>
                        <a:rPr lang="en-US" altLang="zh-CN" sz="1600" b="1" i="0" u="none" strike="noStrike" dirty="0">
                          <a:effectLst/>
                          <a:latin typeface="Times New Roman"/>
                        </a:rPr>
                        <a:t>16</a:t>
                      </a:r>
                    </a:p>
                  </a:txBody>
                  <a:tcPr marL="9524" marR="9524" marT="9529" marB="0" anchor="ctr">
                    <a:solidFill>
                      <a:srgbClr val="FFFF00"/>
                    </a:solidFill>
                  </a:tcPr>
                </a:tc>
                <a:extLst>
                  <a:ext uri="{0D108BD9-81ED-4DB2-BD59-A6C34878D82A}">
                    <a16:rowId xmlns:a16="http://schemas.microsoft.com/office/drawing/2014/main" val="10001"/>
                  </a:ext>
                </a:extLst>
              </a:tr>
            </a:tbl>
          </a:graphicData>
        </a:graphic>
      </p:graphicFrame>
      <p:graphicFrame>
        <p:nvGraphicFramePr>
          <p:cNvPr id="10" name="表格 9"/>
          <p:cNvGraphicFramePr>
            <a:graphicFrameLocks noGrp="1"/>
          </p:cNvGraphicFramePr>
          <p:nvPr/>
        </p:nvGraphicFramePr>
        <p:xfrm>
          <a:off x="250825" y="6062663"/>
          <a:ext cx="8893176" cy="750888"/>
        </p:xfrm>
        <a:graphic>
          <a:graphicData uri="http://schemas.openxmlformats.org/drawingml/2006/table">
            <a:tbl>
              <a:tblPr>
                <a:tableStyleId>{5C22544A-7EE6-4342-B048-85BDC9FD1C3A}</a:tableStyleId>
              </a:tblPr>
              <a:tblGrid>
                <a:gridCol w="523128">
                  <a:extLst>
                    <a:ext uri="{9D8B030D-6E8A-4147-A177-3AD203B41FA5}">
                      <a16:colId xmlns:a16="http://schemas.microsoft.com/office/drawing/2014/main" val="20000"/>
                    </a:ext>
                  </a:extLst>
                </a:gridCol>
                <a:gridCol w="523128">
                  <a:extLst>
                    <a:ext uri="{9D8B030D-6E8A-4147-A177-3AD203B41FA5}">
                      <a16:colId xmlns:a16="http://schemas.microsoft.com/office/drawing/2014/main" val="20001"/>
                    </a:ext>
                  </a:extLst>
                </a:gridCol>
                <a:gridCol w="523128">
                  <a:extLst>
                    <a:ext uri="{9D8B030D-6E8A-4147-A177-3AD203B41FA5}">
                      <a16:colId xmlns:a16="http://schemas.microsoft.com/office/drawing/2014/main" val="20002"/>
                    </a:ext>
                  </a:extLst>
                </a:gridCol>
                <a:gridCol w="523128">
                  <a:extLst>
                    <a:ext uri="{9D8B030D-6E8A-4147-A177-3AD203B41FA5}">
                      <a16:colId xmlns:a16="http://schemas.microsoft.com/office/drawing/2014/main" val="20003"/>
                    </a:ext>
                  </a:extLst>
                </a:gridCol>
                <a:gridCol w="523128">
                  <a:extLst>
                    <a:ext uri="{9D8B030D-6E8A-4147-A177-3AD203B41FA5}">
                      <a16:colId xmlns:a16="http://schemas.microsoft.com/office/drawing/2014/main" val="20004"/>
                    </a:ext>
                  </a:extLst>
                </a:gridCol>
                <a:gridCol w="523128">
                  <a:extLst>
                    <a:ext uri="{9D8B030D-6E8A-4147-A177-3AD203B41FA5}">
                      <a16:colId xmlns:a16="http://schemas.microsoft.com/office/drawing/2014/main" val="20005"/>
                    </a:ext>
                  </a:extLst>
                </a:gridCol>
                <a:gridCol w="523128">
                  <a:extLst>
                    <a:ext uri="{9D8B030D-6E8A-4147-A177-3AD203B41FA5}">
                      <a16:colId xmlns:a16="http://schemas.microsoft.com/office/drawing/2014/main" val="20006"/>
                    </a:ext>
                  </a:extLst>
                </a:gridCol>
                <a:gridCol w="523128">
                  <a:extLst>
                    <a:ext uri="{9D8B030D-6E8A-4147-A177-3AD203B41FA5}">
                      <a16:colId xmlns:a16="http://schemas.microsoft.com/office/drawing/2014/main" val="20007"/>
                    </a:ext>
                  </a:extLst>
                </a:gridCol>
                <a:gridCol w="523128">
                  <a:extLst>
                    <a:ext uri="{9D8B030D-6E8A-4147-A177-3AD203B41FA5}">
                      <a16:colId xmlns:a16="http://schemas.microsoft.com/office/drawing/2014/main" val="20008"/>
                    </a:ext>
                  </a:extLst>
                </a:gridCol>
                <a:gridCol w="523128">
                  <a:extLst>
                    <a:ext uri="{9D8B030D-6E8A-4147-A177-3AD203B41FA5}">
                      <a16:colId xmlns:a16="http://schemas.microsoft.com/office/drawing/2014/main" val="20009"/>
                    </a:ext>
                  </a:extLst>
                </a:gridCol>
                <a:gridCol w="523128">
                  <a:extLst>
                    <a:ext uri="{9D8B030D-6E8A-4147-A177-3AD203B41FA5}">
                      <a16:colId xmlns:a16="http://schemas.microsoft.com/office/drawing/2014/main" val="20010"/>
                    </a:ext>
                  </a:extLst>
                </a:gridCol>
                <a:gridCol w="523128">
                  <a:extLst>
                    <a:ext uri="{9D8B030D-6E8A-4147-A177-3AD203B41FA5}">
                      <a16:colId xmlns:a16="http://schemas.microsoft.com/office/drawing/2014/main" val="20011"/>
                    </a:ext>
                  </a:extLst>
                </a:gridCol>
                <a:gridCol w="523128">
                  <a:extLst>
                    <a:ext uri="{9D8B030D-6E8A-4147-A177-3AD203B41FA5}">
                      <a16:colId xmlns:a16="http://schemas.microsoft.com/office/drawing/2014/main" val="20012"/>
                    </a:ext>
                  </a:extLst>
                </a:gridCol>
                <a:gridCol w="523128">
                  <a:extLst>
                    <a:ext uri="{9D8B030D-6E8A-4147-A177-3AD203B41FA5}">
                      <a16:colId xmlns:a16="http://schemas.microsoft.com/office/drawing/2014/main" val="20013"/>
                    </a:ext>
                  </a:extLst>
                </a:gridCol>
                <a:gridCol w="523128">
                  <a:extLst>
                    <a:ext uri="{9D8B030D-6E8A-4147-A177-3AD203B41FA5}">
                      <a16:colId xmlns:a16="http://schemas.microsoft.com/office/drawing/2014/main" val="20014"/>
                    </a:ext>
                  </a:extLst>
                </a:gridCol>
                <a:gridCol w="523128">
                  <a:extLst>
                    <a:ext uri="{9D8B030D-6E8A-4147-A177-3AD203B41FA5}">
                      <a16:colId xmlns:a16="http://schemas.microsoft.com/office/drawing/2014/main" val="20015"/>
                    </a:ext>
                  </a:extLst>
                </a:gridCol>
                <a:gridCol w="523128">
                  <a:extLst>
                    <a:ext uri="{9D8B030D-6E8A-4147-A177-3AD203B41FA5}">
                      <a16:colId xmlns:a16="http://schemas.microsoft.com/office/drawing/2014/main" val="20016"/>
                    </a:ext>
                  </a:extLst>
                </a:gridCol>
              </a:tblGrid>
              <a:tr h="375444">
                <a:tc>
                  <a:txBody>
                    <a:bodyPr/>
                    <a:lstStyle/>
                    <a:p>
                      <a:pPr algn="ctr" fontAlgn="ctr">
                        <a:lnSpc>
                          <a:spcPct val="150000"/>
                        </a:lnSpc>
                      </a:pPr>
                      <a:r>
                        <a:rPr lang="en-US" altLang="zh-CN" sz="1600" b="0" i="0" u="none" strike="noStrike" dirty="0">
                          <a:effectLst/>
                          <a:latin typeface="Times New Roman" panose="02020603050405020304" pitchFamily="18" charset="0"/>
                          <a:cs typeface="Times New Roman" panose="02020603050405020304" pitchFamily="18" charset="0"/>
                        </a:rPr>
                        <a:t>Mean</a:t>
                      </a:r>
                      <a:endParaRPr lang="zh-CN" altLang="en-US" sz="1600" b="0" i="0" u="none" strike="noStrike" dirty="0">
                        <a:effectLst/>
                        <a:latin typeface="Times New Roman" panose="02020603050405020304" pitchFamily="18" charset="0"/>
                        <a:cs typeface="Times New Roman" panose="02020603050405020304" pitchFamily="18" charset="0"/>
                      </a:endParaRPr>
                    </a:p>
                  </a:txBody>
                  <a:tcPr marL="9526" marR="9526" marT="9529" marB="0" anchor="ctr"/>
                </a:tc>
                <a:tc>
                  <a:txBody>
                    <a:bodyPr/>
                    <a:lstStyle/>
                    <a:p>
                      <a:pPr algn="ctr" fontAlgn="ctr"/>
                      <a:r>
                        <a:rPr lang="en-US" altLang="zh-CN" sz="1600" b="0" i="0" u="none" strike="noStrike">
                          <a:solidFill>
                            <a:srgbClr val="FF0000"/>
                          </a:solidFill>
                          <a:effectLst/>
                          <a:latin typeface="Times New Roman"/>
                        </a:rPr>
                        <a:t>89.31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86.88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87.50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86.56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89.81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85.69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85.94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90.19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88.94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86.88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89.63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86.00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89.94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87.00 </a:t>
                      </a:r>
                    </a:p>
                  </a:txBody>
                  <a:tcPr marL="9526" marR="9526" marT="9529" marB="0" anchor="ctr"/>
                </a:tc>
                <a:tc>
                  <a:txBody>
                    <a:bodyPr/>
                    <a:lstStyle/>
                    <a:p>
                      <a:pPr algn="ctr" fontAlgn="ctr"/>
                      <a:r>
                        <a:rPr lang="en-US" altLang="zh-CN" sz="1600" b="0" i="0" u="none" strike="noStrike">
                          <a:solidFill>
                            <a:srgbClr val="FF0000"/>
                          </a:solidFill>
                          <a:effectLst/>
                          <a:latin typeface="Times New Roman"/>
                        </a:rPr>
                        <a:t>86.81 </a:t>
                      </a:r>
                    </a:p>
                  </a:txBody>
                  <a:tcPr marL="9526" marR="9526" marT="9529" marB="0" anchor="ctr"/>
                </a:tc>
                <a:tc>
                  <a:txBody>
                    <a:bodyPr/>
                    <a:lstStyle/>
                    <a:p>
                      <a:pPr algn="ctr" fontAlgn="ctr"/>
                      <a:r>
                        <a:rPr lang="en-US" altLang="zh-CN" sz="1600" b="1" i="0" u="none" strike="noStrike" dirty="0">
                          <a:solidFill>
                            <a:srgbClr val="FF0000"/>
                          </a:solidFill>
                          <a:effectLst/>
                          <a:latin typeface="Times New Roman"/>
                        </a:rPr>
                        <a:t>91.19 </a:t>
                      </a:r>
                    </a:p>
                  </a:txBody>
                  <a:tcPr marL="9526" marR="9526" marT="9529" marB="0" anchor="ctr">
                    <a:solidFill>
                      <a:srgbClr val="FFFF00"/>
                    </a:solidFill>
                  </a:tcPr>
                </a:tc>
                <a:extLst>
                  <a:ext uri="{0D108BD9-81ED-4DB2-BD59-A6C34878D82A}">
                    <a16:rowId xmlns:a16="http://schemas.microsoft.com/office/drawing/2014/main" val="10000"/>
                  </a:ext>
                </a:extLst>
              </a:tr>
              <a:tr h="375444">
                <a:tc>
                  <a:txBody>
                    <a:bodyPr/>
                    <a:lstStyle/>
                    <a:p>
                      <a:pPr algn="ctr" fontAlgn="ctr">
                        <a:lnSpc>
                          <a:spcPct val="150000"/>
                        </a:lnSpc>
                      </a:pPr>
                      <a:r>
                        <a:rPr lang="en-US" altLang="zh-CN" sz="1600" b="0" i="0" u="none" strike="noStrike" dirty="0">
                          <a:effectLst/>
                          <a:latin typeface="Times New Roman" panose="02020603050405020304" pitchFamily="18" charset="0"/>
                          <a:cs typeface="Times New Roman" panose="02020603050405020304" pitchFamily="18" charset="0"/>
                        </a:rPr>
                        <a:t>Rank</a:t>
                      </a:r>
                      <a:endParaRPr lang="zh-CN" altLang="en-US" sz="1600" b="0" i="0" u="none" strike="noStrike" dirty="0">
                        <a:effectLst/>
                        <a:latin typeface="Times New Roman" panose="02020603050405020304" pitchFamily="18" charset="0"/>
                        <a:cs typeface="Times New Roman" panose="02020603050405020304" pitchFamily="18" charset="0"/>
                      </a:endParaRPr>
                    </a:p>
                  </a:txBody>
                  <a:tcPr marL="9526" marR="9526" marT="9529" marB="0" anchor="ctr"/>
                </a:tc>
                <a:tc>
                  <a:txBody>
                    <a:bodyPr/>
                    <a:lstStyle/>
                    <a:p>
                      <a:pPr algn="ctr" fontAlgn="ctr"/>
                      <a:r>
                        <a:rPr lang="en-US" altLang="zh-CN" sz="1600" b="0" i="0" u="none" strike="noStrike">
                          <a:effectLst/>
                          <a:latin typeface="Times New Roman"/>
                        </a:rPr>
                        <a:t>6</a:t>
                      </a:r>
                    </a:p>
                  </a:txBody>
                  <a:tcPr marL="9526" marR="9526" marT="9529" marB="0" anchor="ctr"/>
                </a:tc>
                <a:tc>
                  <a:txBody>
                    <a:bodyPr/>
                    <a:lstStyle/>
                    <a:p>
                      <a:pPr algn="ctr" fontAlgn="ctr"/>
                      <a:r>
                        <a:rPr lang="en-US" altLang="zh-CN" sz="1600" b="0" i="0" u="none" strike="noStrike">
                          <a:effectLst/>
                          <a:latin typeface="Times New Roman"/>
                        </a:rPr>
                        <a:t>10</a:t>
                      </a:r>
                    </a:p>
                  </a:txBody>
                  <a:tcPr marL="9526" marR="9526" marT="9529" marB="0" anchor="ctr"/>
                </a:tc>
                <a:tc>
                  <a:txBody>
                    <a:bodyPr/>
                    <a:lstStyle/>
                    <a:p>
                      <a:pPr algn="ctr" fontAlgn="ctr"/>
                      <a:r>
                        <a:rPr lang="en-US" altLang="zh-CN" sz="1600" b="0" i="0" u="none" strike="noStrike">
                          <a:effectLst/>
                          <a:latin typeface="Times New Roman"/>
                        </a:rPr>
                        <a:t>8</a:t>
                      </a:r>
                    </a:p>
                  </a:txBody>
                  <a:tcPr marL="9526" marR="9526" marT="9529" marB="0" anchor="ctr"/>
                </a:tc>
                <a:tc>
                  <a:txBody>
                    <a:bodyPr/>
                    <a:lstStyle/>
                    <a:p>
                      <a:pPr algn="ctr" fontAlgn="ctr"/>
                      <a:r>
                        <a:rPr lang="en-US" altLang="zh-CN" sz="1600" b="0" i="0" u="none" strike="noStrike">
                          <a:effectLst/>
                          <a:latin typeface="Times New Roman"/>
                        </a:rPr>
                        <a:t>13</a:t>
                      </a:r>
                    </a:p>
                  </a:txBody>
                  <a:tcPr marL="9526" marR="9526" marT="9529" marB="0" anchor="ctr"/>
                </a:tc>
                <a:tc>
                  <a:txBody>
                    <a:bodyPr/>
                    <a:lstStyle/>
                    <a:p>
                      <a:pPr algn="ctr" fontAlgn="ctr"/>
                      <a:r>
                        <a:rPr lang="en-US" altLang="zh-CN" sz="1600" b="0" i="0" u="none" strike="noStrike">
                          <a:effectLst/>
                          <a:latin typeface="Times New Roman"/>
                        </a:rPr>
                        <a:t>4</a:t>
                      </a:r>
                    </a:p>
                  </a:txBody>
                  <a:tcPr marL="9526" marR="9526" marT="9529" marB="0" anchor="ctr"/>
                </a:tc>
                <a:tc>
                  <a:txBody>
                    <a:bodyPr/>
                    <a:lstStyle/>
                    <a:p>
                      <a:pPr algn="ctr" fontAlgn="ctr"/>
                      <a:r>
                        <a:rPr lang="en-US" altLang="zh-CN" sz="1600" b="0" i="0" u="none" strike="noStrike">
                          <a:effectLst/>
                          <a:latin typeface="Times New Roman"/>
                        </a:rPr>
                        <a:t>16</a:t>
                      </a:r>
                    </a:p>
                  </a:txBody>
                  <a:tcPr marL="9526" marR="9526" marT="9529" marB="0" anchor="ctr"/>
                </a:tc>
                <a:tc>
                  <a:txBody>
                    <a:bodyPr/>
                    <a:lstStyle/>
                    <a:p>
                      <a:pPr algn="ctr" fontAlgn="ctr"/>
                      <a:r>
                        <a:rPr lang="en-US" altLang="zh-CN" sz="1600" b="0" i="0" u="none" strike="noStrike">
                          <a:effectLst/>
                          <a:latin typeface="Times New Roman"/>
                        </a:rPr>
                        <a:t>15</a:t>
                      </a:r>
                    </a:p>
                  </a:txBody>
                  <a:tcPr marL="9526" marR="9526" marT="9529" marB="0" anchor="ctr"/>
                </a:tc>
                <a:tc>
                  <a:txBody>
                    <a:bodyPr/>
                    <a:lstStyle/>
                    <a:p>
                      <a:pPr algn="ctr" fontAlgn="ctr"/>
                      <a:r>
                        <a:rPr lang="en-US" altLang="zh-CN" sz="1600" b="0" i="0" u="none" strike="noStrike">
                          <a:effectLst/>
                          <a:latin typeface="Times New Roman"/>
                        </a:rPr>
                        <a:t>2</a:t>
                      </a:r>
                    </a:p>
                  </a:txBody>
                  <a:tcPr marL="9526" marR="9526" marT="9529" marB="0" anchor="ctr"/>
                </a:tc>
                <a:tc>
                  <a:txBody>
                    <a:bodyPr/>
                    <a:lstStyle/>
                    <a:p>
                      <a:pPr algn="ctr" fontAlgn="ctr"/>
                      <a:r>
                        <a:rPr lang="en-US" altLang="zh-CN" sz="1600" b="0" i="0" u="none" strike="noStrike">
                          <a:effectLst/>
                          <a:latin typeface="Times New Roman"/>
                        </a:rPr>
                        <a:t>7</a:t>
                      </a:r>
                    </a:p>
                  </a:txBody>
                  <a:tcPr marL="9526" marR="9526" marT="9529" marB="0" anchor="ctr"/>
                </a:tc>
                <a:tc>
                  <a:txBody>
                    <a:bodyPr/>
                    <a:lstStyle/>
                    <a:p>
                      <a:pPr algn="ctr" fontAlgn="ctr"/>
                      <a:r>
                        <a:rPr lang="en-US" altLang="zh-CN" sz="1600" b="0" i="0" u="none" strike="noStrike">
                          <a:effectLst/>
                          <a:latin typeface="Times New Roman"/>
                        </a:rPr>
                        <a:t>10</a:t>
                      </a:r>
                    </a:p>
                  </a:txBody>
                  <a:tcPr marL="9526" marR="9526" marT="9529" marB="0" anchor="ctr"/>
                </a:tc>
                <a:tc>
                  <a:txBody>
                    <a:bodyPr/>
                    <a:lstStyle/>
                    <a:p>
                      <a:pPr algn="ctr" fontAlgn="ctr"/>
                      <a:r>
                        <a:rPr lang="en-US" altLang="zh-CN" sz="1600" b="0" i="0" u="none" strike="noStrike">
                          <a:effectLst/>
                          <a:latin typeface="Times New Roman"/>
                        </a:rPr>
                        <a:t>5</a:t>
                      </a:r>
                    </a:p>
                  </a:txBody>
                  <a:tcPr marL="9526" marR="9526" marT="9529" marB="0" anchor="ctr"/>
                </a:tc>
                <a:tc>
                  <a:txBody>
                    <a:bodyPr/>
                    <a:lstStyle/>
                    <a:p>
                      <a:pPr algn="ctr" fontAlgn="ctr"/>
                      <a:r>
                        <a:rPr lang="en-US" altLang="zh-CN" sz="1600" b="0" i="0" u="none" strike="noStrike">
                          <a:effectLst/>
                          <a:latin typeface="Times New Roman"/>
                        </a:rPr>
                        <a:t>14</a:t>
                      </a:r>
                    </a:p>
                  </a:txBody>
                  <a:tcPr marL="9526" marR="9526" marT="9529" marB="0" anchor="ctr"/>
                </a:tc>
                <a:tc>
                  <a:txBody>
                    <a:bodyPr/>
                    <a:lstStyle/>
                    <a:p>
                      <a:pPr algn="ctr" fontAlgn="ctr"/>
                      <a:r>
                        <a:rPr lang="en-US" altLang="zh-CN" sz="1600" b="0" i="0" u="none" strike="noStrike">
                          <a:effectLst/>
                          <a:latin typeface="Times New Roman"/>
                        </a:rPr>
                        <a:t>3</a:t>
                      </a:r>
                    </a:p>
                  </a:txBody>
                  <a:tcPr marL="9526" marR="9526" marT="9529" marB="0" anchor="ctr"/>
                </a:tc>
                <a:tc>
                  <a:txBody>
                    <a:bodyPr/>
                    <a:lstStyle/>
                    <a:p>
                      <a:pPr algn="ctr" fontAlgn="ctr"/>
                      <a:r>
                        <a:rPr lang="en-US" altLang="zh-CN" sz="1600" b="0" i="0" u="none" strike="noStrike">
                          <a:effectLst/>
                          <a:latin typeface="Times New Roman"/>
                        </a:rPr>
                        <a:t>9</a:t>
                      </a:r>
                    </a:p>
                  </a:txBody>
                  <a:tcPr marL="9526" marR="9526" marT="9529" marB="0" anchor="ctr"/>
                </a:tc>
                <a:tc>
                  <a:txBody>
                    <a:bodyPr/>
                    <a:lstStyle/>
                    <a:p>
                      <a:pPr algn="ctr" fontAlgn="ctr"/>
                      <a:r>
                        <a:rPr lang="en-US" altLang="zh-CN" sz="1600" b="0" i="0" u="none" strike="noStrike">
                          <a:effectLst/>
                          <a:latin typeface="Times New Roman"/>
                        </a:rPr>
                        <a:t>12</a:t>
                      </a:r>
                    </a:p>
                  </a:txBody>
                  <a:tcPr marL="9526" marR="9526" marT="9529" marB="0" anchor="ctr"/>
                </a:tc>
                <a:tc>
                  <a:txBody>
                    <a:bodyPr/>
                    <a:lstStyle/>
                    <a:p>
                      <a:pPr algn="ctr" fontAlgn="ctr"/>
                      <a:r>
                        <a:rPr lang="en-US" altLang="zh-CN" sz="1600" b="1" i="0" u="none" strike="noStrike" dirty="0">
                          <a:effectLst/>
                          <a:latin typeface="Times New Roman"/>
                        </a:rPr>
                        <a:t>1</a:t>
                      </a:r>
                    </a:p>
                  </a:txBody>
                  <a:tcPr marL="9526" marR="9526" marT="9529" marB="0" anchor="ctr">
                    <a:solidFill>
                      <a:srgbClr val="FFFF00"/>
                    </a:solidFill>
                  </a:tcPr>
                </a:tc>
                <a:extLst>
                  <a:ext uri="{0D108BD9-81ED-4DB2-BD59-A6C34878D82A}">
                    <a16:rowId xmlns:a16="http://schemas.microsoft.com/office/drawing/2014/main" val="10001"/>
                  </a:ext>
                </a:extLst>
              </a:tr>
            </a:tbl>
          </a:graphicData>
        </a:graphic>
      </p:graphicFrame>
      <p:sp>
        <p:nvSpPr>
          <p:cNvPr id="32187" name="矩形 10"/>
          <p:cNvSpPr>
            <a:spLocks noChangeArrowheads="1"/>
          </p:cNvSpPr>
          <p:nvPr/>
        </p:nvSpPr>
        <p:spPr bwMode="auto">
          <a:xfrm>
            <a:off x="3836988" y="4500563"/>
            <a:ext cx="15271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SzTx/>
              <a:buFontTx/>
              <a:buNone/>
            </a:pPr>
            <a:r>
              <a:rPr lang="en-US" altLang="zh-CN" sz="3200">
                <a:ea typeface="楷体_GB2312" pitchFamily="49" charset="-122"/>
              </a:rPr>
              <a:t>R</a:t>
            </a:r>
            <a:r>
              <a:rPr lang="en-US" altLang="zh-CN" sz="2000">
                <a:ea typeface="楷体_GB2312" pitchFamily="49" charset="-122"/>
              </a:rPr>
              <a:t>16,16</a:t>
            </a:r>
            <a:r>
              <a:rPr lang="en-US" altLang="zh-CN" sz="3200">
                <a:ea typeface="楷体_GB2312" pitchFamily="49" charset="-122"/>
              </a:rPr>
              <a:t>=0</a:t>
            </a:r>
            <a:endParaRPr lang="zh-CN" altLang="en-US" sz="3200">
              <a:ea typeface="楷体_GB2312" pitchFamily="49" charset="-122"/>
            </a:endParaRPr>
          </a:p>
        </p:txBody>
      </p:sp>
      <p:sp>
        <p:nvSpPr>
          <p:cNvPr id="32188" name="矩形 11"/>
          <p:cNvSpPr>
            <a:spLocks noChangeArrowheads="1"/>
          </p:cNvSpPr>
          <p:nvPr/>
        </p:nvSpPr>
        <p:spPr bwMode="auto">
          <a:xfrm>
            <a:off x="3598863" y="5653088"/>
            <a:ext cx="1981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SzTx/>
              <a:buFontTx/>
              <a:buNone/>
            </a:pPr>
            <a:r>
              <a:rPr lang="en-US" altLang="zh-CN" sz="3200">
                <a:ea typeface="楷体_GB2312" pitchFamily="49" charset="-122"/>
              </a:rPr>
              <a:t>R</a:t>
            </a:r>
            <a:r>
              <a:rPr lang="en-US" altLang="zh-CN" sz="2000">
                <a:ea typeface="楷体_GB2312" pitchFamily="49" charset="-122"/>
              </a:rPr>
              <a:t>16,16</a:t>
            </a:r>
            <a:r>
              <a:rPr lang="en-US" altLang="zh-CN" sz="3200">
                <a:ea typeface="楷体_GB2312" pitchFamily="49" charset="-122"/>
              </a:rPr>
              <a:t>=100</a:t>
            </a:r>
            <a:endParaRPr lang="zh-CN" altLang="en-US" sz="3200">
              <a:ea typeface="楷体_GB2312" pitchFamily="49" charset="-122"/>
            </a:endParaRPr>
          </a:p>
        </p:txBody>
      </p:sp>
    </p:spTree>
    <p:extLst>
      <p:ext uri="{BB962C8B-B14F-4D97-AF65-F5344CB8AC3E}">
        <p14:creationId xmlns:p14="http://schemas.microsoft.com/office/powerpoint/2010/main" val="2984558228"/>
      </p:ext>
    </p:extLst>
  </p:cSld>
  <p:clrMapOvr>
    <a:masterClrMapping/>
  </p:clrMapOvr>
  <p:transition spd="slow">
    <p:circl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a:t>Trimmed Mean</a:t>
            </a:r>
            <a:endParaRPr lang="zh-CN" altLang="en-US"/>
          </a:p>
        </p:txBody>
      </p:sp>
      <p:sp>
        <p:nvSpPr>
          <p:cNvPr id="32771" name="内容占位符 2"/>
          <p:cNvSpPr>
            <a:spLocks noGrp="1"/>
          </p:cNvSpPr>
          <p:nvPr>
            <p:ph idx="1"/>
          </p:nvPr>
        </p:nvSpPr>
        <p:spPr>
          <a:xfrm>
            <a:off x="418011" y="1026387"/>
            <a:ext cx="8229600" cy="5256212"/>
          </a:xfrm>
        </p:spPr>
        <p:txBody>
          <a:bodyPr/>
          <a:lstStyle/>
          <a:p>
            <a:pPr eaLnBrk="1" hangingPunct="1">
              <a:lnSpc>
                <a:spcPct val="150000"/>
              </a:lnSpc>
            </a:pPr>
            <a:r>
              <a:rPr lang="en-US" altLang="zh-CN" sz="2400" dirty="0"/>
              <a:t>Trimmed mean is represented as a mean trimmed by X%, the total percentage of values removed from the upper and lower bounds. </a:t>
            </a:r>
          </a:p>
          <a:p>
            <a:pPr eaLnBrk="1" hangingPunct="1">
              <a:lnSpc>
                <a:spcPct val="150000"/>
              </a:lnSpc>
            </a:pPr>
            <a:endParaRPr lang="en-US" altLang="zh-CN" sz="2400" dirty="0"/>
          </a:p>
          <a:p>
            <a:pPr eaLnBrk="1" hangingPunct="1">
              <a:lnSpc>
                <a:spcPct val="150000"/>
              </a:lnSpc>
            </a:pPr>
            <a:endParaRPr lang="en-US" altLang="zh-CN" sz="2400" dirty="0"/>
          </a:p>
          <a:p>
            <a:pPr eaLnBrk="1" hangingPunct="1">
              <a:lnSpc>
                <a:spcPct val="150000"/>
              </a:lnSpc>
            </a:pPr>
            <a:endParaRPr lang="en-US" altLang="zh-CN" sz="2400" dirty="0"/>
          </a:p>
          <a:p>
            <a:pPr eaLnBrk="1" hangingPunct="1">
              <a:lnSpc>
                <a:spcPct val="150000"/>
              </a:lnSpc>
            </a:pPr>
            <a:endParaRPr lang="en-US" altLang="zh-CN" sz="1000" dirty="0"/>
          </a:p>
          <a:p>
            <a:pPr eaLnBrk="1" hangingPunct="1">
              <a:lnSpc>
                <a:spcPct val="150000"/>
              </a:lnSpc>
            </a:pPr>
            <a:r>
              <a:rPr lang="en-US" altLang="zh-CN" sz="2400" dirty="0"/>
              <a:t>Limitation:</a:t>
            </a:r>
          </a:p>
          <a:p>
            <a:pPr lvl="1" eaLnBrk="1" hangingPunct="1"/>
            <a:r>
              <a:rPr lang="en-US" altLang="zh-CN" sz="2400" dirty="0"/>
              <a:t>Ratings by all evaluators distribute </a:t>
            </a:r>
            <a:r>
              <a:rPr lang="en-US" altLang="zh-CN" sz="2400" dirty="0">
                <a:solidFill>
                  <a:srgbClr val="FF0000"/>
                </a:solidFill>
              </a:rPr>
              <a:t>symmetrically</a:t>
            </a:r>
            <a:r>
              <a:rPr lang="en-US" altLang="zh-CN" sz="2400" dirty="0"/>
              <a:t>. </a:t>
            </a:r>
          </a:p>
          <a:p>
            <a:pPr lvl="1" eaLnBrk="1" hangingPunct="1"/>
            <a:r>
              <a:rPr lang="en-US" altLang="zh-CN" sz="2400" dirty="0"/>
              <a:t>Trimming is an </a:t>
            </a:r>
            <a:r>
              <a:rPr lang="en-US" altLang="zh-CN" sz="2400" dirty="0">
                <a:solidFill>
                  <a:srgbClr val="FF0000"/>
                </a:solidFill>
              </a:rPr>
              <a:t>arbitrary</a:t>
            </a:r>
            <a:r>
              <a:rPr lang="en-US" altLang="zh-CN" sz="2400" dirty="0"/>
              <a:t> decision. </a:t>
            </a:r>
          </a:p>
          <a:p>
            <a:pPr lvl="1" eaLnBrk="1" hangingPunct="1"/>
            <a:r>
              <a:rPr lang="en-US" altLang="zh-CN" sz="2400" dirty="0">
                <a:solidFill>
                  <a:srgbClr val="FF0000"/>
                </a:solidFill>
              </a:rPr>
              <a:t>Lost</a:t>
            </a:r>
            <a:r>
              <a:rPr lang="en-US" altLang="zh-CN" sz="2400" dirty="0"/>
              <a:t> some information.</a:t>
            </a:r>
          </a:p>
        </p:txBody>
      </p:sp>
      <p:pic>
        <p:nvPicPr>
          <p:cNvPr id="32773" name="Picture 2" descr="http://www.aqnews.com.cn/uploadfile/pic_pe/UploadFiles_3435/201208/2012081415272674.jpg"/>
          <p:cNvPicPr>
            <a:picLocks noChangeAspect="1" noChangeArrowheads="1"/>
          </p:cNvPicPr>
          <p:nvPr/>
        </p:nvPicPr>
        <p:blipFill>
          <a:blip r:embed="rId2">
            <a:extLst>
              <a:ext uri="{28A0092B-C50C-407E-A947-70E740481C1C}">
                <a14:useLocalDpi xmlns:a14="http://schemas.microsoft.com/office/drawing/2010/main" val="0"/>
              </a:ext>
            </a:extLst>
          </a:blip>
          <a:srcRect l="4549" t="62991" r="4323" b="8118"/>
          <a:stretch>
            <a:fillRect/>
          </a:stretch>
        </p:blipFill>
        <p:spPr bwMode="auto">
          <a:xfrm>
            <a:off x="404813" y="2708275"/>
            <a:ext cx="8355012"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7166353"/>
      </p:ext>
    </p:extLst>
  </p:cSld>
  <p:clrMapOvr>
    <a:masterClrMapping/>
  </p:clrMapOvr>
  <p:transition spd="slow">
    <p:circl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3"/>
          <p:cNvPicPr>
            <a:picLocks noChangeAspect="1" noChangeArrowheads="1"/>
          </p:cNvPicPr>
          <p:nvPr/>
        </p:nvPicPr>
        <p:blipFill>
          <a:blip r:embed="rId2">
            <a:extLst>
              <a:ext uri="{28A0092B-C50C-407E-A947-70E740481C1C}">
                <a14:useLocalDpi xmlns:a14="http://schemas.microsoft.com/office/drawing/2010/main" val="0"/>
              </a:ext>
            </a:extLst>
          </a:blip>
          <a:srcRect l="4372" t="13200" r="57133" b="36427"/>
          <a:stretch>
            <a:fillRect/>
          </a:stretch>
        </p:blipFill>
        <p:spPr bwMode="auto">
          <a:xfrm>
            <a:off x="471488" y="1217613"/>
            <a:ext cx="8353425" cy="556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椭圆 5"/>
          <p:cNvSpPr/>
          <p:nvPr/>
        </p:nvSpPr>
        <p:spPr>
          <a:xfrm>
            <a:off x="3992563" y="3990975"/>
            <a:ext cx="217487" cy="2889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6868" name="标题 1"/>
          <p:cNvSpPr>
            <a:spLocks noGrp="1"/>
          </p:cNvSpPr>
          <p:nvPr>
            <p:ph type="title"/>
          </p:nvPr>
        </p:nvSpPr>
        <p:spPr/>
        <p:txBody>
          <a:bodyPr/>
          <a:lstStyle/>
          <a:p>
            <a:r>
              <a:rPr lang="zh-CN" altLang="en-US" dirty="0"/>
              <a:t>协同评价算法</a:t>
            </a:r>
          </a:p>
        </p:txBody>
      </p:sp>
      <p:sp>
        <p:nvSpPr>
          <p:cNvPr id="5" name="矩形 4"/>
          <p:cNvSpPr/>
          <p:nvPr/>
        </p:nvSpPr>
        <p:spPr>
          <a:xfrm>
            <a:off x="2051050" y="3716338"/>
            <a:ext cx="2592388" cy="2746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矩形标注 6"/>
          <p:cNvSpPr/>
          <p:nvPr/>
        </p:nvSpPr>
        <p:spPr>
          <a:xfrm>
            <a:off x="5940425" y="3860800"/>
            <a:ext cx="2735263" cy="885825"/>
          </a:xfrm>
          <a:prstGeom prst="wedgeRectCallout">
            <a:avLst>
              <a:gd name="adj1" fmla="val -116050"/>
              <a:gd name="adj2" fmla="val -947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800" dirty="0">
                <a:solidFill>
                  <a:srgbClr val="FF0000"/>
                </a:solidFill>
              </a:rPr>
              <a:t>Penalty Factor</a:t>
            </a:r>
            <a:endParaRPr lang="zh-CN" altLang="en-US" dirty="0">
              <a:solidFill>
                <a:srgbClr val="FF0000"/>
              </a:solidFill>
            </a:endParaRPr>
          </a:p>
        </p:txBody>
      </p:sp>
      <p:sp>
        <p:nvSpPr>
          <p:cNvPr id="8" name="矩形标注 7"/>
          <p:cNvSpPr/>
          <p:nvPr/>
        </p:nvSpPr>
        <p:spPr>
          <a:xfrm>
            <a:off x="5940425" y="1700213"/>
            <a:ext cx="2735263" cy="1462087"/>
          </a:xfrm>
          <a:prstGeom prst="wedgeRectCallout">
            <a:avLst>
              <a:gd name="adj1" fmla="val -134504"/>
              <a:gd name="adj2" fmla="val 8793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800" dirty="0">
                <a:solidFill>
                  <a:srgbClr val="FF0000"/>
                </a:solidFill>
                <a:latin typeface="Times New Roman" pitchFamily="18" charset="0"/>
                <a:cs typeface="Times New Roman" pitchFamily="18" charset="0"/>
              </a:rPr>
              <a:t>Difference from current group opinion</a:t>
            </a:r>
            <a:endParaRPr lang="zh-CN" altLang="en-US" dirty="0">
              <a:solidFill>
                <a:srgbClr val="FF0000"/>
              </a:solidFill>
              <a:latin typeface="Times New Roman" pitchFamily="18" charset="0"/>
              <a:cs typeface="Times New Roman" pitchFamily="18" charset="0"/>
            </a:endParaRPr>
          </a:p>
        </p:txBody>
      </p:sp>
      <p:sp>
        <p:nvSpPr>
          <p:cNvPr id="10" name="矩形标注 9"/>
          <p:cNvSpPr/>
          <p:nvPr/>
        </p:nvSpPr>
        <p:spPr>
          <a:xfrm>
            <a:off x="5940425" y="5516563"/>
            <a:ext cx="2735263" cy="887412"/>
          </a:xfrm>
          <a:prstGeom prst="wedgeRectCallout">
            <a:avLst>
              <a:gd name="adj1" fmla="val -128519"/>
              <a:gd name="adj2" fmla="val 33652"/>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800" dirty="0">
                <a:solidFill>
                  <a:srgbClr val="FF0000"/>
                </a:solidFill>
              </a:rPr>
              <a:t>Condition to End</a:t>
            </a:r>
            <a:endParaRPr lang="zh-CN" altLang="en-US" dirty="0">
              <a:solidFill>
                <a:srgbClr val="FF0000"/>
              </a:solidFill>
            </a:endParaRPr>
          </a:p>
        </p:txBody>
      </p:sp>
      <p:sp>
        <p:nvSpPr>
          <p:cNvPr id="11" name="矩形 10"/>
          <p:cNvSpPr/>
          <p:nvPr/>
        </p:nvSpPr>
        <p:spPr>
          <a:xfrm>
            <a:off x="2065338" y="5959475"/>
            <a:ext cx="1773237" cy="36671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3" name="矩形 2"/>
          <p:cNvSpPr/>
          <p:nvPr/>
        </p:nvSpPr>
        <p:spPr>
          <a:xfrm>
            <a:off x="900113" y="2997200"/>
            <a:ext cx="4751387" cy="3328988"/>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Tree>
    <p:extLst>
      <p:ext uri="{BB962C8B-B14F-4D97-AF65-F5344CB8AC3E}">
        <p14:creationId xmlns:p14="http://schemas.microsoft.com/office/powerpoint/2010/main" val="1966822831"/>
      </p:ext>
    </p:extLst>
  </p:cSld>
  <p:clrMapOvr>
    <a:masterClrMapping/>
  </p:clrMapOvr>
  <p:transition spd="slow">
    <p:circl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zh-CN" altLang="en-US" dirty="0"/>
              <a:t>协同识别非正常分</a:t>
            </a:r>
          </a:p>
        </p:txBody>
      </p:sp>
      <p:graphicFrame>
        <p:nvGraphicFramePr>
          <p:cNvPr id="6" name="表格 5"/>
          <p:cNvGraphicFramePr>
            <a:graphicFrameLocks noGrp="1"/>
          </p:cNvGraphicFramePr>
          <p:nvPr/>
        </p:nvGraphicFramePr>
        <p:xfrm>
          <a:off x="1042988" y="5661025"/>
          <a:ext cx="3889375" cy="947738"/>
        </p:xfrm>
        <a:graphic>
          <a:graphicData uri="http://schemas.openxmlformats.org/drawingml/2006/table">
            <a:tbl>
              <a:tblPr firstRow="1" bandRow="1">
                <a:tableStyleId>{5C22544A-7EE6-4342-B048-85BDC9FD1C3A}</a:tableStyleId>
              </a:tblPr>
              <a:tblGrid>
                <a:gridCol w="838884">
                  <a:extLst>
                    <a:ext uri="{9D8B030D-6E8A-4147-A177-3AD203B41FA5}">
                      <a16:colId xmlns:a16="http://schemas.microsoft.com/office/drawing/2014/main" val="20000"/>
                    </a:ext>
                  </a:extLst>
                </a:gridCol>
                <a:gridCol w="3050491">
                  <a:extLst>
                    <a:ext uri="{9D8B030D-6E8A-4147-A177-3AD203B41FA5}">
                      <a16:colId xmlns:a16="http://schemas.microsoft.com/office/drawing/2014/main" val="20001"/>
                    </a:ext>
                  </a:extLst>
                </a:gridCol>
              </a:tblGrid>
              <a:tr h="366082">
                <a:tc>
                  <a:txBody>
                    <a:bodyPr/>
                    <a:lstStyle/>
                    <a:p>
                      <a:endParaRPr lang="zh-CN" altLang="en-US" sz="1800" dirty="0"/>
                    </a:p>
                  </a:txBody>
                  <a:tcPr marL="91462" marR="91462" marT="45760" marB="45760">
                    <a:solidFill>
                      <a:srgbClr val="FF0000"/>
                    </a:solidFill>
                  </a:tcPr>
                </a:tc>
                <a:tc>
                  <a:txBody>
                    <a:bodyPr/>
                    <a:lstStyle/>
                    <a:p>
                      <a:pPr algn="ctr">
                        <a:spcAft>
                          <a:spcPts val="0"/>
                        </a:spcAft>
                      </a:pPr>
                      <a:r>
                        <a:rPr lang="en-US" altLang="zh-CN" sz="1800" b="1" kern="100" dirty="0">
                          <a:solidFill>
                            <a:schemeClr val="tx1"/>
                          </a:solidFill>
                          <a:effectLst/>
                          <a:latin typeface="Times New Roman" pitchFamily="18" charset="0"/>
                          <a:cs typeface="Times New Roman" pitchFamily="18" charset="0"/>
                        </a:rPr>
                        <a:t>Extremely</a:t>
                      </a:r>
                      <a:r>
                        <a:rPr lang="en-US" altLang="zh-CN" sz="1800" b="0" kern="100" dirty="0">
                          <a:solidFill>
                            <a:schemeClr val="tx1"/>
                          </a:solidFill>
                          <a:effectLst/>
                          <a:latin typeface="Times New Roman" pitchFamily="18" charset="0"/>
                          <a:cs typeface="Times New Roman" pitchFamily="18" charset="0"/>
                        </a:rPr>
                        <a:t> </a:t>
                      </a:r>
                      <a:r>
                        <a:rPr lang="en-US" altLang="zh-CN" sz="1800" b="1" kern="100" dirty="0">
                          <a:solidFill>
                            <a:schemeClr val="tx1"/>
                          </a:solidFill>
                          <a:effectLst/>
                          <a:latin typeface="Times New Roman" pitchFamily="18" charset="0"/>
                          <a:cs typeface="Times New Roman" pitchFamily="18" charset="0"/>
                        </a:rPr>
                        <a:t>Irregular </a:t>
                      </a:r>
                      <a:r>
                        <a:rPr lang="en-US" altLang="zh-CN" sz="1800" b="0" kern="100" dirty="0">
                          <a:solidFill>
                            <a:schemeClr val="tx1"/>
                          </a:solidFill>
                          <a:effectLst/>
                          <a:latin typeface="Times New Roman" pitchFamily="18" charset="0"/>
                          <a:cs typeface="Times New Roman" pitchFamily="18" charset="0"/>
                        </a:rPr>
                        <a:t>Rating</a:t>
                      </a:r>
                      <a:endParaRPr lang="zh-CN" altLang="en-US" sz="1800" b="0" dirty="0">
                        <a:solidFill>
                          <a:schemeClr val="tx1"/>
                        </a:solidFill>
                      </a:endParaRPr>
                    </a:p>
                  </a:txBody>
                  <a:tcPr marL="91462" marR="91462" marT="45760" marB="45760">
                    <a:noFill/>
                  </a:tcPr>
                </a:tc>
                <a:extLst>
                  <a:ext uri="{0D108BD9-81ED-4DB2-BD59-A6C34878D82A}">
                    <a16:rowId xmlns:a16="http://schemas.microsoft.com/office/drawing/2014/main" val="10000"/>
                  </a:ext>
                </a:extLst>
              </a:tr>
              <a:tr h="210489">
                <a:tc>
                  <a:txBody>
                    <a:bodyPr/>
                    <a:lstStyle/>
                    <a:p>
                      <a:endParaRPr lang="zh-CN" altLang="en-US" sz="500" dirty="0"/>
                    </a:p>
                  </a:txBody>
                  <a:tcPr marL="91462" marR="91462" marT="45760" marB="45760">
                    <a:noFill/>
                  </a:tcPr>
                </a:tc>
                <a:tc>
                  <a:txBody>
                    <a:bodyPr/>
                    <a:lstStyle/>
                    <a:p>
                      <a:pPr algn="ctr">
                        <a:spcAft>
                          <a:spcPts val="0"/>
                        </a:spcAft>
                      </a:pPr>
                      <a:endParaRPr lang="zh-CN" altLang="en-US" sz="500" dirty="0">
                        <a:solidFill>
                          <a:schemeClr val="tx1"/>
                        </a:solidFill>
                      </a:endParaRPr>
                    </a:p>
                  </a:txBody>
                  <a:tcPr marL="91462" marR="91462" marT="45760" marB="45760">
                    <a:noFill/>
                  </a:tcPr>
                </a:tc>
                <a:extLst>
                  <a:ext uri="{0D108BD9-81ED-4DB2-BD59-A6C34878D82A}">
                    <a16:rowId xmlns:a16="http://schemas.microsoft.com/office/drawing/2014/main" val="10001"/>
                  </a:ext>
                </a:extLst>
              </a:tr>
              <a:tr h="371167">
                <a:tc>
                  <a:txBody>
                    <a:bodyPr/>
                    <a:lstStyle/>
                    <a:p>
                      <a:endParaRPr lang="zh-CN" altLang="en-US" sz="1800" dirty="0"/>
                    </a:p>
                  </a:txBody>
                  <a:tcPr marL="91462" marR="91462" marT="45760" marB="45760">
                    <a:solidFill>
                      <a:srgbClr val="FFFF00">
                        <a:alpha val="86000"/>
                      </a:srgbClr>
                    </a:solidFill>
                  </a:tcPr>
                </a:tc>
                <a:tc>
                  <a:txBody>
                    <a:bodyPr/>
                    <a:lstStyle/>
                    <a:p>
                      <a:pPr algn="ctr">
                        <a:spcAft>
                          <a:spcPts val="0"/>
                        </a:spcAft>
                      </a:pPr>
                      <a:r>
                        <a:rPr lang="en-US" altLang="zh-CN" sz="1800" b="1" kern="100" dirty="0">
                          <a:effectLst/>
                          <a:latin typeface="Times New Roman" pitchFamily="18" charset="0"/>
                          <a:cs typeface="Times New Roman" pitchFamily="18" charset="0"/>
                        </a:rPr>
                        <a:t>Moderately</a:t>
                      </a:r>
                      <a:r>
                        <a:rPr lang="en-US" altLang="zh-CN" sz="1800" kern="100" dirty="0">
                          <a:effectLst/>
                          <a:latin typeface="Times New Roman" pitchFamily="18" charset="0"/>
                          <a:cs typeface="Times New Roman" pitchFamily="18" charset="0"/>
                        </a:rPr>
                        <a:t> </a:t>
                      </a:r>
                      <a:r>
                        <a:rPr lang="en-US" altLang="zh-CN" sz="1800" b="1" kern="100" dirty="0">
                          <a:effectLst/>
                          <a:latin typeface="Times New Roman" pitchFamily="18" charset="0"/>
                          <a:cs typeface="Times New Roman" pitchFamily="18" charset="0"/>
                        </a:rPr>
                        <a:t>Irregular</a:t>
                      </a:r>
                      <a:r>
                        <a:rPr lang="en-US" altLang="zh-CN" sz="1800" kern="100" dirty="0">
                          <a:effectLst/>
                          <a:latin typeface="Times New Roman" pitchFamily="18" charset="0"/>
                          <a:cs typeface="Times New Roman" pitchFamily="18" charset="0"/>
                        </a:rPr>
                        <a:t> Rating</a:t>
                      </a:r>
                      <a:endParaRPr lang="zh-CN" altLang="en-US" sz="1800" dirty="0">
                        <a:solidFill>
                          <a:schemeClr val="tx1"/>
                        </a:solidFill>
                      </a:endParaRPr>
                    </a:p>
                  </a:txBody>
                  <a:tcPr marL="91462" marR="91462" marT="45760" marB="45760">
                    <a:noFill/>
                  </a:tcPr>
                </a:tc>
                <a:extLst>
                  <a:ext uri="{0D108BD9-81ED-4DB2-BD59-A6C34878D82A}">
                    <a16:rowId xmlns:a16="http://schemas.microsoft.com/office/drawing/2014/main" val="10002"/>
                  </a:ext>
                </a:extLst>
              </a:tr>
            </a:tbl>
          </a:graphicData>
        </a:graphic>
      </p:graphicFrame>
      <p:graphicFrame>
        <p:nvGraphicFramePr>
          <p:cNvPr id="10" name="表格 9"/>
          <p:cNvGraphicFramePr>
            <a:graphicFrameLocks noGrp="1"/>
          </p:cNvGraphicFramePr>
          <p:nvPr/>
        </p:nvGraphicFramePr>
        <p:xfrm>
          <a:off x="5435600" y="5661025"/>
          <a:ext cx="2952750" cy="904875"/>
        </p:xfrm>
        <a:graphic>
          <a:graphicData uri="http://schemas.openxmlformats.org/drawingml/2006/table">
            <a:tbl>
              <a:tblPr firstRow="1" bandRow="1">
                <a:tableStyleId>{5C22544A-7EE6-4342-B048-85BDC9FD1C3A}</a:tableStyleId>
              </a:tblPr>
              <a:tblGrid>
                <a:gridCol w="877844">
                  <a:extLst>
                    <a:ext uri="{9D8B030D-6E8A-4147-A177-3AD203B41FA5}">
                      <a16:colId xmlns:a16="http://schemas.microsoft.com/office/drawing/2014/main" val="20000"/>
                    </a:ext>
                  </a:extLst>
                </a:gridCol>
                <a:gridCol w="2074906">
                  <a:extLst>
                    <a:ext uri="{9D8B030D-6E8A-4147-A177-3AD203B41FA5}">
                      <a16:colId xmlns:a16="http://schemas.microsoft.com/office/drawing/2014/main" val="20001"/>
                    </a:ext>
                  </a:extLst>
                </a:gridCol>
              </a:tblGrid>
              <a:tr h="366017">
                <a:tc>
                  <a:txBody>
                    <a:bodyPr/>
                    <a:lstStyle/>
                    <a:p>
                      <a:endParaRPr lang="zh-CN" altLang="en-US" sz="1800" dirty="0"/>
                    </a:p>
                  </a:txBody>
                  <a:tcPr marL="91453" marR="91453" marT="45752" marB="45752">
                    <a:solidFill>
                      <a:srgbClr val="00B050"/>
                    </a:solidFill>
                  </a:tcPr>
                </a:tc>
                <a:tc>
                  <a:txBody>
                    <a:bodyPr/>
                    <a:lstStyle/>
                    <a:p>
                      <a:pPr algn="ctr">
                        <a:spcAft>
                          <a:spcPts val="0"/>
                        </a:spcAft>
                      </a:pPr>
                      <a:r>
                        <a:rPr lang="en-US" altLang="zh-CN" sz="1800" kern="100" dirty="0">
                          <a:solidFill>
                            <a:schemeClr val="tx1"/>
                          </a:solidFill>
                          <a:effectLst/>
                          <a:latin typeface="Times New Roman" pitchFamily="18" charset="0"/>
                          <a:cs typeface="Times New Roman" pitchFamily="18" charset="0"/>
                        </a:rPr>
                        <a:t>Regular </a:t>
                      </a:r>
                      <a:r>
                        <a:rPr lang="en-US" altLang="zh-CN" sz="1800" b="0" kern="100" dirty="0">
                          <a:solidFill>
                            <a:schemeClr val="tx1"/>
                          </a:solidFill>
                          <a:effectLst/>
                          <a:latin typeface="Times New Roman" pitchFamily="18" charset="0"/>
                          <a:cs typeface="Times New Roman" pitchFamily="18" charset="0"/>
                        </a:rPr>
                        <a:t>Rating</a:t>
                      </a:r>
                      <a:endParaRPr lang="zh-CN" altLang="zh-CN" sz="1600" b="0" kern="100" dirty="0">
                        <a:solidFill>
                          <a:schemeClr val="tx1"/>
                        </a:solidFill>
                        <a:effectLst/>
                        <a:latin typeface="Times New Roman" pitchFamily="18" charset="0"/>
                        <a:ea typeface="+mn-ea"/>
                        <a:cs typeface="Times New Roman" pitchFamily="18" charset="0"/>
                      </a:endParaRPr>
                    </a:p>
                  </a:txBody>
                  <a:tcPr marL="91453" marR="91453" marT="45752" marB="45752">
                    <a:noFill/>
                  </a:tcPr>
                </a:tc>
                <a:extLst>
                  <a:ext uri="{0D108BD9-81ED-4DB2-BD59-A6C34878D82A}">
                    <a16:rowId xmlns:a16="http://schemas.microsoft.com/office/drawing/2014/main" val="10000"/>
                  </a:ext>
                </a:extLst>
              </a:tr>
              <a:tr h="167758">
                <a:tc>
                  <a:txBody>
                    <a:bodyPr/>
                    <a:lstStyle/>
                    <a:p>
                      <a:endParaRPr lang="zh-CN" altLang="en-US" sz="500" dirty="0"/>
                    </a:p>
                  </a:txBody>
                  <a:tcPr marL="91453" marR="91453" marT="45752" marB="45752">
                    <a:noFill/>
                  </a:tcPr>
                </a:tc>
                <a:tc>
                  <a:txBody>
                    <a:bodyPr/>
                    <a:lstStyle/>
                    <a:p>
                      <a:endParaRPr lang="zh-CN" altLang="en-US" sz="500" dirty="0"/>
                    </a:p>
                  </a:txBody>
                  <a:tcPr marL="91453" marR="91453" marT="45752" marB="45752">
                    <a:noFill/>
                  </a:tcPr>
                </a:tc>
                <a:extLst>
                  <a:ext uri="{0D108BD9-81ED-4DB2-BD59-A6C34878D82A}">
                    <a16:rowId xmlns:a16="http://schemas.microsoft.com/office/drawing/2014/main" val="10001"/>
                  </a:ext>
                </a:extLst>
              </a:tr>
              <a:tr h="371100">
                <a:tc>
                  <a:txBody>
                    <a:bodyPr/>
                    <a:lstStyle/>
                    <a:p>
                      <a:endParaRPr lang="zh-CN" altLang="en-US" sz="1800" dirty="0"/>
                    </a:p>
                  </a:txBody>
                  <a:tcPr marL="91453" marR="91453" marT="45752" marB="45752">
                    <a:solidFill>
                      <a:srgbClr val="FA82B5"/>
                    </a:solidFill>
                  </a:tcPr>
                </a:tc>
                <a:tc>
                  <a:txBody>
                    <a:bodyPr/>
                    <a:lstStyle/>
                    <a:p>
                      <a:pPr algn="ctr">
                        <a:spcAft>
                          <a:spcPts val="0"/>
                        </a:spcAft>
                      </a:pPr>
                      <a:r>
                        <a:rPr lang="en-US" altLang="zh-CN" sz="1800" b="1" kern="100" dirty="0">
                          <a:effectLst/>
                          <a:latin typeface="Times New Roman" pitchFamily="18" charset="0"/>
                          <a:cs typeface="Times New Roman" pitchFamily="18" charset="0"/>
                        </a:rPr>
                        <a:t>Perfect</a:t>
                      </a:r>
                      <a:r>
                        <a:rPr lang="en-US" altLang="zh-CN" sz="1800" kern="100" dirty="0">
                          <a:effectLst/>
                          <a:latin typeface="Times New Roman" pitchFamily="18" charset="0"/>
                          <a:cs typeface="Times New Roman" pitchFamily="18" charset="0"/>
                        </a:rPr>
                        <a:t> Rating</a:t>
                      </a:r>
                      <a:endParaRPr lang="zh-CN" altLang="en-US" sz="1800" dirty="0">
                        <a:solidFill>
                          <a:schemeClr val="tx1"/>
                        </a:solidFill>
                      </a:endParaRPr>
                    </a:p>
                  </a:txBody>
                  <a:tcPr marL="91453" marR="91453" marT="45752" marB="45752">
                    <a:noFill/>
                  </a:tcPr>
                </a:tc>
                <a:extLst>
                  <a:ext uri="{0D108BD9-81ED-4DB2-BD59-A6C34878D82A}">
                    <a16:rowId xmlns:a16="http://schemas.microsoft.com/office/drawing/2014/main" val="10002"/>
                  </a:ext>
                </a:extLst>
              </a:tr>
            </a:tbl>
          </a:graphicData>
        </a:graphic>
      </p:graphicFrame>
      <p:pic>
        <p:nvPicPr>
          <p:cNvPr id="40992" name="Picture 2"/>
          <p:cNvPicPr>
            <a:picLocks noChangeAspect="1" noChangeArrowheads="1"/>
          </p:cNvPicPr>
          <p:nvPr/>
        </p:nvPicPr>
        <p:blipFill>
          <a:blip r:embed="rId2">
            <a:extLst>
              <a:ext uri="{28A0092B-C50C-407E-A947-70E740481C1C}">
                <a14:useLocalDpi xmlns:a14="http://schemas.microsoft.com/office/drawing/2010/main" val="0"/>
              </a:ext>
            </a:extLst>
          </a:blip>
          <a:srcRect l="38707" t="29942" r="11559" b="23917"/>
          <a:stretch>
            <a:fillRect/>
          </a:stretch>
        </p:blipFill>
        <p:spPr bwMode="auto">
          <a:xfrm>
            <a:off x="611188" y="1268413"/>
            <a:ext cx="7921625" cy="41322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6685136"/>
      </p:ext>
    </p:extLst>
  </p:cSld>
  <p:clrMapOvr>
    <a:masterClrMapping/>
  </p:clrMapOvr>
  <p:transition spd="slow">
    <p:circl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矩形 2"/>
          <p:cNvSpPr>
            <a:spLocks noGrp="1" noChangeArrowheads="1"/>
          </p:cNvSpPr>
          <p:nvPr>
            <p:ph type="title"/>
          </p:nvPr>
        </p:nvSpPr>
        <p:spPr/>
        <p:txBody>
          <a:bodyPr/>
          <a:lstStyle/>
          <a:p>
            <a:pPr eaLnBrk="1" hangingPunct="1"/>
            <a:r>
              <a:rPr lang="zh-CN" altLang="en-US" dirty="0"/>
              <a:t>极端分的影响</a:t>
            </a:r>
          </a:p>
        </p:txBody>
      </p:sp>
      <p:graphicFrame>
        <p:nvGraphicFramePr>
          <p:cNvPr id="2" name="表格 1"/>
          <p:cNvGraphicFramePr>
            <a:graphicFrameLocks noGrp="1"/>
          </p:cNvGraphicFramePr>
          <p:nvPr/>
        </p:nvGraphicFramePr>
        <p:xfrm>
          <a:off x="122238" y="4797425"/>
          <a:ext cx="8891595" cy="1501776"/>
        </p:xfrm>
        <a:graphic>
          <a:graphicData uri="http://schemas.openxmlformats.org/drawingml/2006/table">
            <a:tbl>
              <a:tblPr>
                <a:tableStyleId>{5C22544A-7EE6-4342-B048-85BDC9FD1C3A}</a:tableStyleId>
              </a:tblPr>
              <a:tblGrid>
                <a:gridCol w="523035">
                  <a:extLst>
                    <a:ext uri="{9D8B030D-6E8A-4147-A177-3AD203B41FA5}">
                      <a16:colId xmlns:a16="http://schemas.microsoft.com/office/drawing/2014/main" val="20000"/>
                    </a:ext>
                  </a:extLst>
                </a:gridCol>
                <a:gridCol w="523035">
                  <a:extLst>
                    <a:ext uri="{9D8B030D-6E8A-4147-A177-3AD203B41FA5}">
                      <a16:colId xmlns:a16="http://schemas.microsoft.com/office/drawing/2014/main" val="20001"/>
                    </a:ext>
                  </a:extLst>
                </a:gridCol>
                <a:gridCol w="523035">
                  <a:extLst>
                    <a:ext uri="{9D8B030D-6E8A-4147-A177-3AD203B41FA5}">
                      <a16:colId xmlns:a16="http://schemas.microsoft.com/office/drawing/2014/main" val="20002"/>
                    </a:ext>
                  </a:extLst>
                </a:gridCol>
                <a:gridCol w="523035">
                  <a:extLst>
                    <a:ext uri="{9D8B030D-6E8A-4147-A177-3AD203B41FA5}">
                      <a16:colId xmlns:a16="http://schemas.microsoft.com/office/drawing/2014/main" val="20003"/>
                    </a:ext>
                  </a:extLst>
                </a:gridCol>
                <a:gridCol w="523035">
                  <a:extLst>
                    <a:ext uri="{9D8B030D-6E8A-4147-A177-3AD203B41FA5}">
                      <a16:colId xmlns:a16="http://schemas.microsoft.com/office/drawing/2014/main" val="20004"/>
                    </a:ext>
                  </a:extLst>
                </a:gridCol>
                <a:gridCol w="523035">
                  <a:extLst>
                    <a:ext uri="{9D8B030D-6E8A-4147-A177-3AD203B41FA5}">
                      <a16:colId xmlns:a16="http://schemas.microsoft.com/office/drawing/2014/main" val="20005"/>
                    </a:ext>
                  </a:extLst>
                </a:gridCol>
                <a:gridCol w="523035">
                  <a:extLst>
                    <a:ext uri="{9D8B030D-6E8A-4147-A177-3AD203B41FA5}">
                      <a16:colId xmlns:a16="http://schemas.microsoft.com/office/drawing/2014/main" val="20006"/>
                    </a:ext>
                  </a:extLst>
                </a:gridCol>
                <a:gridCol w="523035">
                  <a:extLst>
                    <a:ext uri="{9D8B030D-6E8A-4147-A177-3AD203B41FA5}">
                      <a16:colId xmlns:a16="http://schemas.microsoft.com/office/drawing/2014/main" val="20007"/>
                    </a:ext>
                  </a:extLst>
                </a:gridCol>
                <a:gridCol w="523035">
                  <a:extLst>
                    <a:ext uri="{9D8B030D-6E8A-4147-A177-3AD203B41FA5}">
                      <a16:colId xmlns:a16="http://schemas.microsoft.com/office/drawing/2014/main" val="20008"/>
                    </a:ext>
                  </a:extLst>
                </a:gridCol>
                <a:gridCol w="523035">
                  <a:extLst>
                    <a:ext uri="{9D8B030D-6E8A-4147-A177-3AD203B41FA5}">
                      <a16:colId xmlns:a16="http://schemas.microsoft.com/office/drawing/2014/main" val="20009"/>
                    </a:ext>
                  </a:extLst>
                </a:gridCol>
                <a:gridCol w="523035">
                  <a:extLst>
                    <a:ext uri="{9D8B030D-6E8A-4147-A177-3AD203B41FA5}">
                      <a16:colId xmlns:a16="http://schemas.microsoft.com/office/drawing/2014/main" val="20010"/>
                    </a:ext>
                  </a:extLst>
                </a:gridCol>
                <a:gridCol w="523035">
                  <a:extLst>
                    <a:ext uri="{9D8B030D-6E8A-4147-A177-3AD203B41FA5}">
                      <a16:colId xmlns:a16="http://schemas.microsoft.com/office/drawing/2014/main" val="20011"/>
                    </a:ext>
                  </a:extLst>
                </a:gridCol>
                <a:gridCol w="523035">
                  <a:extLst>
                    <a:ext uri="{9D8B030D-6E8A-4147-A177-3AD203B41FA5}">
                      <a16:colId xmlns:a16="http://schemas.microsoft.com/office/drawing/2014/main" val="20012"/>
                    </a:ext>
                  </a:extLst>
                </a:gridCol>
                <a:gridCol w="523035">
                  <a:extLst>
                    <a:ext uri="{9D8B030D-6E8A-4147-A177-3AD203B41FA5}">
                      <a16:colId xmlns:a16="http://schemas.microsoft.com/office/drawing/2014/main" val="20013"/>
                    </a:ext>
                  </a:extLst>
                </a:gridCol>
                <a:gridCol w="523035">
                  <a:extLst>
                    <a:ext uri="{9D8B030D-6E8A-4147-A177-3AD203B41FA5}">
                      <a16:colId xmlns:a16="http://schemas.microsoft.com/office/drawing/2014/main" val="20014"/>
                    </a:ext>
                  </a:extLst>
                </a:gridCol>
                <a:gridCol w="523035">
                  <a:extLst>
                    <a:ext uri="{9D8B030D-6E8A-4147-A177-3AD203B41FA5}">
                      <a16:colId xmlns:a16="http://schemas.microsoft.com/office/drawing/2014/main" val="20015"/>
                    </a:ext>
                  </a:extLst>
                </a:gridCol>
                <a:gridCol w="523035">
                  <a:extLst>
                    <a:ext uri="{9D8B030D-6E8A-4147-A177-3AD203B41FA5}">
                      <a16:colId xmlns:a16="http://schemas.microsoft.com/office/drawing/2014/main" val="20016"/>
                    </a:ext>
                  </a:extLst>
                </a:gridCol>
              </a:tblGrid>
              <a:tr h="375444">
                <a:tc>
                  <a:txBody>
                    <a:bodyPr/>
                    <a:lstStyle/>
                    <a:p>
                      <a:pPr algn="ctr" fontAlgn="ctr">
                        <a:lnSpc>
                          <a:spcPct val="150000"/>
                        </a:lnSpc>
                      </a:pPr>
                      <a:r>
                        <a:rPr lang="en-US" altLang="zh-CN" sz="1600" u="none" strike="noStrike" dirty="0">
                          <a:effectLst/>
                          <a:latin typeface="Times New Roman" panose="02020603050405020304" pitchFamily="18" charset="0"/>
                          <a:cs typeface="Times New Roman" panose="02020603050405020304" pitchFamily="18" charset="0"/>
                        </a:rPr>
                        <a:t>CE</a:t>
                      </a:r>
                      <a:endParaRPr lang="zh-CN" altLang="en-US" sz="16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9524" marR="9524" marT="9523" marB="0" anchor="ctr"/>
                </a:tc>
                <a:tc>
                  <a:txBody>
                    <a:bodyPr/>
                    <a:lstStyle/>
                    <a:p>
                      <a:pPr algn="ctr" fontAlgn="ctr"/>
                      <a:r>
                        <a:rPr lang="en-US" altLang="zh-CN" sz="1600" b="0" i="0" u="none" strike="noStrike">
                          <a:effectLst/>
                          <a:latin typeface="Times New Roman"/>
                        </a:rPr>
                        <a:t>89.33 </a:t>
                      </a:r>
                    </a:p>
                  </a:txBody>
                  <a:tcPr marL="9524" marR="9524" marT="9523" marB="0" anchor="ctr"/>
                </a:tc>
                <a:tc>
                  <a:txBody>
                    <a:bodyPr/>
                    <a:lstStyle/>
                    <a:p>
                      <a:pPr algn="ctr" fontAlgn="ctr"/>
                      <a:r>
                        <a:rPr lang="en-US" altLang="zh-CN" sz="1600" b="0" i="0" u="none" strike="noStrike">
                          <a:effectLst/>
                          <a:latin typeface="Times New Roman"/>
                        </a:rPr>
                        <a:t>86.88 </a:t>
                      </a:r>
                    </a:p>
                  </a:txBody>
                  <a:tcPr marL="9524" marR="9524" marT="9523" marB="0" anchor="ctr"/>
                </a:tc>
                <a:tc>
                  <a:txBody>
                    <a:bodyPr/>
                    <a:lstStyle/>
                    <a:p>
                      <a:pPr algn="ctr" fontAlgn="ctr"/>
                      <a:r>
                        <a:rPr lang="en-US" altLang="zh-CN" sz="1600" b="0" i="0" u="none" strike="noStrike">
                          <a:effectLst/>
                          <a:latin typeface="Times New Roman"/>
                        </a:rPr>
                        <a:t>87.50 </a:t>
                      </a:r>
                    </a:p>
                  </a:txBody>
                  <a:tcPr marL="9524" marR="9524" marT="9523" marB="0" anchor="ctr"/>
                </a:tc>
                <a:tc>
                  <a:txBody>
                    <a:bodyPr/>
                    <a:lstStyle/>
                    <a:p>
                      <a:pPr algn="ctr" fontAlgn="ctr"/>
                      <a:r>
                        <a:rPr lang="en-US" altLang="zh-CN" sz="1600" b="0" i="0" u="none" strike="noStrike">
                          <a:effectLst/>
                          <a:latin typeface="Times New Roman"/>
                        </a:rPr>
                        <a:t>86.58 </a:t>
                      </a:r>
                    </a:p>
                  </a:txBody>
                  <a:tcPr marL="9524" marR="9524" marT="9523" marB="0" anchor="ctr"/>
                </a:tc>
                <a:tc>
                  <a:txBody>
                    <a:bodyPr/>
                    <a:lstStyle/>
                    <a:p>
                      <a:pPr algn="ctr" fontAlgn="ctr"/>
                      <a:r>
                        <a:rPr lang="en-US" altLang="zh-CN" sz="1600" b="0" i="0" u="none" strike="noStrike">
                          <a:effectLst/>
                          <a:latin typeface="Times New Roman"/>
                        </a:rPr>
                        <a:t>89.82 </a:t>
                      </a:r>
                    </a:p>
                  </a:txBody>
                  <a:tcPr marL="9524" marR="9524" marT="9523" marB="0" anchor="ctr"/>
                </a:tc>
                <a:tc>
                  <a:txBody>
                    <a:bodyPr/>
                    <a:lstStyle/>
                    <a:p>
                      <a:pPr algn="ctr" fontAlgn="ctr"/>
                      <a:r>
                        <a:rPr lang="en-US" altLang="zh-CN" sz="1600" b="0" i="0" u="none" strike="noStrike">
                          <a:effectLst/>
                          <a:latin typeface="Times New Roman"/>
                        </a:rPr>
                        <a:t>85.72 </a:t>
                      </a:r>
                    </a:p>
                  </a:txBody>
                  <a:tcPr marL="9524" marR="9524" marT="9523" marB="0" anchor="ctr"/>
                </a:tc>
                <a:tc>
                  <a:txBody>
                    <a:bodyPr/>
                    <a:lstStyle/>
                    <a:p>
                      <a:pPr algn="ctr" fontAlgn="ctr"/>
                      <a:r>
                        <a:rPr lang="en-US" altLang="zh-CN" sz="1600" b="0" i="0" u="none" strike="noStrike">
                          <a:effectLst/>
                          <a:latin typeface="Times New Roman"/>
                        </a:rPr>
                        <a:t>85.94 </a:t>
                      </a:r>
                    </a:p>
                  </a:txBody>
                  <a:tcPr marL="9524" marR="9524" marT="9523" marB="0" anchor="ctr"/>
                </a:tc>
                <a:tc>
                  <a:txBody>
                    <a:bodyPr/>
                    <a:lstStyle/>
                    <a:p>
                      <a:pPr algn="ctr" fontAlgn="ctr"/>
                      <a:r>
                        <a:rPr lang="en-US" altLang="zh-CN" sz="1600" b="0" i="0" u="none" strike="noStrike">
                          <a:effectLst/>
                          <a:latin typeface="Times New Roman"/>
                        </a:rPr>
                        <a:t>90.17 </a:t>
                      </a:r>
                    </a:p>
                  </a:txBody>
                  <a:tcPr marL="9524" marR="9524" marT="9523" marB="0" anchor="ctr"/>
                </a:tc>
                <a:tc>
                  <a:txBody>
                    <a:bodyPr/>
                    <a:lstStyle/>
                    <a:p>
                      <a:pPr algn="ctr" fontAlgn="ctr"/>
                      <a:r>
                        <a:rPr lang="en-US" altLang="zh-CN" sz="1600" b="0" i="0" u="none" strike="noStrike">
                          <a:effectLst/>
                          <a:latin typeface="Times New Roman"/>
                        </a:rPr>
                        <a:t>88.94 </a:t>
                      </a:r>
                    </a:p>
                  </a:txBody>
                  <a:tcPr marL="9524" marR="9524" marT="9523" marB="0" anchor="ctr"/>
                </a:tc>
                <a:tc>
                  <a:txBody>
                    <a:bodyPr/>
                    <a:lstStyle/>
                    <a:p>
                      <a:pPr algn="ctr" fontAlgn="ctr"/>
                      <a:r>
                        <a:rPr lang="en-US" altLang="zh-CN" sz="1600" b="0" i="0" u="none" strike="noStrike">
                          <a:effectLst/>
                          <a:latin typeface="Times New Roman"/>
                        </a:rPr>
                        <a:t>86.91 </a:t>
                      </a:r>
                    </a:p>
                  </a:txBody>
                  <a:tcPr marL="9524" marR="9524" marT="9523" marB="0" anchor="ctr"/>
                </a:tc>
                <a:tc>
                  <a:txBody>
                    <a:bodyPr/>
                    <a:lstStyle/>
                    <a:p>
                      <a:pPr algn="ctr" fontAlgn="ctr"/>
                      <a:r>
                        <a:rPr lang="en-US" altLang="zh-CN" sz="1600" b="0" i="0" u="none" strike="noStrike">
                          <a:effectLst/>
                          <a:latin typeface="Times New Roman"/>
                        </a:rPr>
                        <a:t>89.64 </a:t>
                      </a:r>
                    </a:p>
                  </a:txBody>
                  <a:tcPr marL="9524" marR="9524" marT="9523" marB="0" anchor="ctr"/>
                </a:tc>
                <a:tc>
                  <a:txBody>
                    <a:bodyPr/>
                    <a:lstStyle/>
                    <a:p>
                      <a:pPr algn="ctr" fontAlgn="ctr"/>
                      <a:r>
                        <a:rPr lang="en-US" altLang="zh-CN" sz="1600" b="0" i="0" u="none" strike="noStrike">
                          <a:effectLst/>
                          <a:latin typeface="Times New Roman"/>
                        </a:rPr>
                        <a:t>86.01 </a:t>
                      </a:r>
                    </a:p>
                  </a:txBody>
                  <a:tcPr marL="9524" marR="9524" marT="9523" marB="0" anchor="ctr"/>
                </a:tc>
                <a:tc>
                  <a:txBody>
                    <a:bodyPr/>
                    <a:lstStyle/>
                    <a:p>
                      <a:pPr algn="ctr" fontAlgn="ctr"/>
                      <a:r>
                        <a:rPr lang="en-US" altLang="zh-CN" sz="1600" b="0" i="0" u="none" strike="noStrike">
                          <a:effectLst/>
                          <a:latin typeface="Times New Roman"/>
                        </a:rPr>
                        <a:t>89.93 </a:t>
                      </a:r>
                    </a:p>
                  </a:txBody>
                  <a:tcPr marL="9524" marR="9524" marT="9523" marB="0" anchor="ctr"/>
                </a:tc>
                <a:tc>
                  <a:txBody>
                    <a:bodyPr/>
                    <a:lstStyle/>
                    <a:p>
                      <a:pPr algn="ctr" fontAlgn="ctr"/>
                      <a:r>
                        <a:rPr lang="en-US" altLang="zh-CN" sz="1600" b="0" i="0" u="none" strike="noStrike">
                          <a:effectLst/>
                          <a:latin typeface="Times New Roman"/>
                        </a:rPr>
                        <a:t>87.02 </a:t>
                      </a:r>
                    </a:p>
                  </a:txBody>
                  <a:tcPr marL="9524" marR="9524" marT="9523" marB="0" anchor="ctr"/>
                </a:tc>
                <a:tc>
                  <a:txBody>
                    <a:bodyPr/>
                    <a:lstStyle/>
                    <a:p>
                      <a:pPr algn="ctr" fontAlgn="ctr"/>
                      <a:r>
                        <a:rPr lang="en-US" altLang="zh-CN" sz="1600" b="0" i="0" u="none" strike="noStrike">
                          <a:effectLst/>
                          <a:latin typeface="Times New Roman"/>
                        </a:rPr>
                        <a:t>86.82 </a:t>
                      </a:r>
                    </a:p>
                  </a:txBody>
                  <a:tcPr marL="9524" marR="9524" marT="9523" marB="0" anchor="ctr"/>
                </a:tc>
                <a:tc>
                  <a:txBody>
                    <a:bodyPr/>
                    <a:lstStyle/>
                    <a:p>
                      <a:pPr algn="ctr" fontAlgn="ctr"/>
                      <a:r>
                        <a:rPr lang="en-US" altLang="zh-CN" sz="1600" b="1" i="0" u="none" strike="noStrike" dirty="0">
                          <a:effectLst/>
                          <a:latin typeface="Times New Roman"/>
                        </a:rPr>
                        <a:t>91.16 </a:t>
                      </a:r>
                    </a:p>
                  </a:txBody>
                  <a:tcPr marL="9524" marR="9524" marT="9523" marB="0" anchor="ctr">
                    <a:solidFill>
                      <a:srgbClr val="FFFF00"/>
                    </a:solidFill>
                  </a:tcPr>
                </a:tc>
                <a:extLst>
                  <a:ext uri="{0D108BD9-81ED-4DB2-BD59-A6C34878D82A}">
                    <a16:rowId xmlns:a16="http://schemas.microsoft.com/office/drawing/2014/main" val="10000"/>
                  </a:ext>
                </a:extLst>
              </a:tr>
              <a:tr h="375444">
                <a:tc>
                  <a:txBody>
                    <a:bodyPr/>
                    <a:lstStyle/>
                    <a:p>
                      <a:pPr algn="ctr" fontAlgn="ctr">
                        <a:lnSpc>
                          <a:spcPct val="150000"/>
                        </a:lnSpc>
                      </a:pPr>
                      <a:r>
                        <a:rPr lang="en-US" altLang="zh-CN" sz="1600" b="0" i="0" u="none" strike="noStrike" dirty="0">
                          <a:effectLst/>
                          <a:latin typeface="Times New Roman" panose="02020603050405020304" pitchFamily="18" charset="0"/>
                          <a:cs typeface="Times New Roman" panose="02020603050405020304" pitchFamily="18" charset="0"/>
                        </a:rPr>
                        <a:t>Rank</a:t>
                      </a:r>
                      <a:endParaRPr lang="zh-CN" altLang="en-US" sz="1600" b="0" i="0" u="none" strike="noStrike" dirty="0">
                        <a:effectLst/>
                        <a:latin typeface="Times New Roman" panose="02020603050405020304" pitchFamily="18" charset="0"/>
                        <a:cs typeface="Times New Roman" panose="02020603050405020304" pitchFamily="18" charset="0"/>
                      </a:endParaRPr>
                    </a:p>
                  </a:txBody>
                  <a:tcPr marL="9524" marR="9524" marT="9523" marB="0" anchor="ctr"/>
                </a:tc>
                <a:tc>
                  <a:txBody>
                    <a:bodyPr/>
                    <a:lstStyle/>
                    <a:p>
                      <a:pPr algn="ctr" fontAlgn="ctr"/>
                      <a:r>
                        <a:rPr lang="en-US" altLang="zh-CN" sz="1600" b="1" i="0" u="none" strike="noStrike">
                          <a:solidFill>
                            <a:srgbClr val="0000FF"/>
                          </a:solidFill>
                          <a:effectLst/>
                          <a:latin typeface="Times New Roman"/>
                        </a:rPr>
                        <a:t>6</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11</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8</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13</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4</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16</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15</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2</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7</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10</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5</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14</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3</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9</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12</a:t>
                      </a:r>
                    </a:p>
                  </a:txBody>
                  <a:tcPr marL="9524" marR="9524" marT="9523" marB="0" anchor="ctr"/>
                </a:tc>
                <a:tc>
                  <a:txBody>
                    <a:bodyPr/>
                    <a:lstStyle/>
                    <a:p>
                      <a:pPr algn="ctr" fontAlgn="ctr"/>
                      <a:r>
                        <a:rPr lang="en-US" altLang="zh-CN" sz="1600" b="1" i="0" u="none" strike="noStrike" dirty="0">
                          <a:solidFill>
                            <a:srgbClr val="0000FF"/>
                          </a:solidFill>
                          <a:effectLst/>
                          <a:latin typeface="Times New Roman"/>
                        </a:rPr>
                        <a:t>1</a:t>
                      </a:r>
                    </a:p>
                  </a:txBody>
                  <a:tcPr marL="9524" marR="9524" marT="9523" marB="0" anchor="ctr">
                    <a:solidFill>
                      <a:srgbClr val="FFFF00"/>
                    </a:solidFill>
                  </a:tcPr>
                </a:tc>
                <a:extLst>
                  <a:ext uri="{0D108BD9-81ED-4DB2-BD59-A6C34878D82A}">
                    <a16:rowId xmlns:a16="http://schemas.microsoft.com/office/drawing/2014/main" val="10001"/>
                  </a:ext>
                </a:extLst>
              </a:tr>
              <a:tr h="375444">
                <a:tc>
                  <a:txBody>
                    <a:bodyPr/>
                    <a:lstStyle/>
                    <a:p>
                      <a:pPr algn="ctr" fontAlgn="ctr">
                        <a:lnSpc>
                          <a:spcPct val="150000"/>
                        </a:lnSpc>
                      </a:pPr>
                      <a:r>
                        <a:rPr lang="en-US" altLang="zh-CN" sz="1600" b="0" i="0" u="none" strike="noStrike" dirty="0">
                          <a:effectLst/>
                          <a:latin typeface="Times New Roman" panose="02020603050405020304" pitchFamily="18" charset="0"/>
                          <a:cs typeface="Times New Roman" panose="02020603050405020304" pitchFamily="18" charset="0"/>
                        </a:rPr>
                        <a:t>Mean</a:t>
                      </a:r>
                      <a:endParaRPr lang="zh-CN" altLang="en-US" sz="1600" b="0" i="0" u="none" strike="noStrike" dirty="0">
                        <a:effectLst/>
                        <a:latin typeface="Times New Roman" panose="02020603050405020304" pitchFamily="18" charset="0"/>
                        <a:cs typeface="Times New Roman" panose="02020603050405020304" pitchFamily="18" charset="0"/>
                      </a:endParaRPr>
                    </a:p>
                  </a:txBody>
                  <a:tcPr marL="9524" marR="9524" marT="9523" marB="0" anchor="ctr"/>
                </a:tc>
                <a:tc>
                  <a:txBody>
                    <a:bodyPr/>
                    <a:lstStyle/>
                    <a:p>
                      <a:pPr algn="ctr" fontAlgn="ctr"/>
                      <a:r>
                        <a:rPr lang="en-US" altLang="zh-CN" sz="1600" b="0" i="0" u="none" strike="noStrike">
                          <a:solidFill>
                            <a:srgbClr val="FF0000"/>
                          </a:solidFill>
                          <a:effectLst/>
                          <a:latin typeface="Times New Roman"/>
                        </a:rPr>
                        <a:t>89.31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86.88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87.50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86.56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89.81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85.69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85.94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90.19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88.94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86.88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89.63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86.00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89.94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87.00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86.81 </a:t>
                      </a:r>
                    </a:p>
                  </a:txBody>
                  <a:tcPr marL="9524" marR="9524" marT="9523" marB="0" anchor="ctr"/>
                </a:tc>
                <a:tc>
                  <a:txBody>
                    <a:bodyPr/>
                    <a:lstStyle/>
                    <a:p>
                      <a:pPr algn="ctr" fontAlgn="ctr"/>
                      <a:r>
                        <a:rPr lang="en-US" altLang="zh-CN" sz="1600" b="1" i="0" u="none" strike="noStrike" dirty="0">
                          <a:solidFill>
                            <a:srgbClr val="FF0000"/>
                          </a:solidFill>
                          <a:effectLst/>
                          <a:latin typeface="Times New Roman"/>
                        </a:rPr>
                        <a:t>91.19 </a:t>
                      </a:r>
                    </a:p>
                  </a:txBody>
                  <a:tcPr marL="9524" marR="9524" marT="9523" marB="0" anchor="ctr">
                    <a:solidFill>
                      <a:srgbClr val="FFFF00"/>
                    </a:solidFill>
                  </a:tcPr>
                </a:tc>
                <a:extLst>
                  <a:ext uri="{0D108BD9-81ED-4DB2-BD59-A6C34878D82A}">
                    <a16:rowId xmlns:a16="http://schemas.microsoft.com/office/drawing/2014/main" val="10002"/>
                  </a:ext>
                </a:extLst>
              </a:tr>
              <a:tr h="375444">
                <a:tc>
                  <a:txBody>
                    <a:bodyPr/>
                    <a:lstStyle/>
                    <a:p>
                      <a:pPr algn="ctr" fontAlgn="ctr">
                        <a:lnSpc>
                          <a:spcPct val="150000"/>
                        </a:lnSpc>
                      </a:pPr>
                      <a:r>
                        <a:rPr lang="en-US" altLang="zh-CN" sz="1600" b="0" i="0" u="none" strike="noStrike" dirty="0">
                          <a:effectLst/>
                          <a:latin typeface="Times New Roman" panose="02020603050405020304" pitchFamily="18" charset="0"/>
                          <a:cs typeface="Times New Roman" panose="02020603050405020304" pitchFamily="18" charset="0"/>
                        </a:rPr>
                        <a:t>Rank</a:t>
                      </a:r>
                      <a:endParaRPr lang="zh-CN" altLang="en-US" sz="1600" b="0" i="0" u="none" strike="noStrike" dirty="0">
                        <a:effectLst/>
                        <a:latin typeface="Times New Roman" panose="02020603050405020304" pitchFamily="18" charset="0"/>
                        <a:cs typeface="Times New Roman" panose="02020603050405020304" pitchFamily="18" charset="0"/>
                      </a:endParaRPr>
                    </a:p>
                  </a:txBody>
                  <a:tcPr marL="9524" marR="9524" marT="9523" marB="0" anchor="ctr"/>
                </a:tc>
                <a:tc>
                  <a:txBody>
                    <a:bodyPr/>
                    <a:lstStyle/>
                    <a:p>
                      <a:pPr algn="ctr" fontAlgn="ctr"/>
                      <a:r>
                        <a:rPr lang="en-US" altLang="zh-CN" sz="1600" b="0" i="0" u="none" strike="noStrike">
                          <a:effectLst/>
                          <a:latin typeface="Times New Roman"/>
                        </a:rPr>
                        <a:t>6</a:t>
                      </a:r>
                    </a:p>
                  </a:txBody>
                  <a:tcPr marL="9524" marR="9524" marT="9523" marB="0" anchor="ctr"/>
                </a:tc>
                <a:tc>
                  <a:txBody>
                    <a:bodyPr/>
                    <a:lstStyle/>
                    <a:p>
                      <a:pPr algn="ctr" fontAlgn="ctr"/>
                      <a:r>
                        <a:rPr lang="en-US" altLang="zh-CN" sz="1600" b="0" i="0" u="none" strike="noStrike">
                          <a:effectLst/>
                          <a:latin typeface="Times New Roman"/>
                        </a:rPr>
                        <a:t>10</a:t>
                      </a:r>
                    </a:p>
                  </a:txBody>
                  <a:tcPr marL="9524" marR="9524" marT="9523" marB="0" anchor="ctr"/>
                </a:tc>
                <a:tc>
                  <a:txBody>
                    <a:bodyPr/>
                    <a:lstStyle/>
                    <a:p>
                      <a:pPr algn="ctr" fontAlgn="ctr"/>
                      <a:r>
                        <a:rPr lang="en-US" altLang="zh-CN" sz="1600" b="0" i="0" u="none" strike="noStrike">
                          <a:effectLst/>
                          <a:latin typeface="Times New Roman"/>
                        </a:rPr>
                        <a:t>8</a:t>
                      </a:r>
                    </a:p>
                  </a:txBody>
                  <a:tcPr marL="9524" marR="9524" marT="9523" marB="0" anchor="ctr"/>
                </a:tc>
                <a:tc>
                  <a:txBody>
                    <a:bodyPr/>
                    <a:lstStyle/>
                    <a:p>
                      <a:pPr algn="ctr" fontAlgn="ctr"/>
                      <a:r>
                        <a:rPr lang="en-US" altLang="zh-CN" sz="1600" b="0" i="0" u="none" strike="noStrike">
                          <a:effectLst/>
                          <a:latin typeface="Times New Roman"/>
                        </a:rPr>
                        <a:t>13</a:t>
                      </a:r>
                    </a:p>
                  </a:txBody>
                  <a:tcPr marL="9524" marR="9524" marT="9523" marB="0" anchor="ctr"/>
                </a:tc>
                <a:tc>
                  <a:txBody>
                    <a:bodyPr/>
                    <a:lstStyle/>
                    <a:p>
                      <a:pPr algn="ctr" fontAlgn="ctr"/>
                      <a:r>
                        <a:rPr lang="en-US" altLang="zh-CN" sz="1600" b="0" i="0" u="none" strike="noStrike">
                          <a:effectLst/>
                          <a:latin typeface="Times New Roman"/>
                        </a:rPr>
                        <a:t>4</a:t>
                      </a:r>
                    </a:p>
                  </a:txBody>
                  <a:tcPr marL="9524" marR="9524" marT="9523" marB="0" anchor="ctr"/>
                </a:tc>
                <a:tc>
                  <a:txBody>
                    <a:bodyPr/>
                    <a:lstStyle/>
                    <a:p>
                      <a:pPr algn="ctr" fontAlgn="ctr"/>
                      <a:r>
                        <a:rPr lang="en-US" altLang="zh-CN" sz="1600" b="0" i="0" u="none" strike="noStrike">
                          <a:effectLst/>
                          <a:latin typeface="Times New Roman"/>
                        </a:rPr>
                        <a:t>16</a:t>
                      </a:r>
                    </a:p>
                  </a:txBody>
                  <a:tcPr marL="9524" marR="9524" marT="9523" marB="0" anchor="ctr"/>
                </a:tc>
                <a:tc>
                  <a:txBody>
                    <a:bodyPr/>
                    <a:lstStyle/>
                    <a:p>
                      <a:pPr algn="ctr" fontAlgn="ctr"/>
                      <a:r>
                        <a:rPr lang="en-US" altLang="zh-CN" sz="1600" b="0" i="0" u="none" strike="noStrike">
                          <a:effectLst/>
                          <a:latin typeface="Times New Roman"/>
                        </a:rPr>
                        <a:t>15</a:t>
                      </a:r>
                    </a:p>
                  </a:txBody>
                  <a:tcPr marL="9524" marR="9524" marT="9523" marB="0" anchor="ctr"/>
                </a:tc>
                <a:tc>
                  <a:txBody>
                    <a:bodyPr/>
                    <a:lstStyle/>
                    <a:p>
                      <a:pPr algn="ctr" fontAlgn="ctr"/>
                      <a:r>
                        <a:rPr lang="en-US" altLang="zh-CN" sz="1600" b="0" i="0" u="none" strike="noStrike">
                          <a:effectLst/>
                          <a:latin typeface="Times New Roman"/>
                        </a:rPr>
                        <a:t>2</a:t>
                      </a:r>
                    </a:p>
                  </a:txBody>
                  <a:tcPr marL="9524" marR="9524" marT="9523" marB="0" anchor="ctr"/>
                </a:tc>
                <a:tc>
                  <a:txBody>
                    <a:bodyPr/>
                    <a:lstStyle/>
                    <a:p>
                      <a:pPr algn="ctr" fontAlgn="ctr"/>
                      <a:r>
                        <a:rPr lang="en-US" altLang="zh-CN" sz="1600" b="0" i="0" u="none" strike="noStrike">
                          <a:effectLst/>
                          <a:latin typeface="Times New Roman"/>
                        </a:rPr>
                        <a:t>7</a:t>
                      </a:r>
                    </a:p>
                  </a:txBody>
                  <a:tcPr marL="9524" marR="9524" marT="9523" marB="0" anchor="ctr"/>
                </a:tc>
                <a:tc>
                  <a:txBody>
                    <a:bodyPr/>
                    <a:lstStyle/>
                    <a:p>
                      <a:pPr algn="ctr" fontAlgn="ctr"/>
                      <a:r>
                        <a:rPr lang="en-US" altLang="zh-CN" sz="1600" b="0" i="0" u="none" strike="noStrike">
                          <a:effectLst/>
                          <a:latin typeface="Times New Roman"/>
                        </a:rPr>
                        <a:t>10</a:t>
                      </a:r>
                    </a:p>
                  </a:txBody>
                  <a:tcPr marL="9524" marR="9524" marT="9523" marB="0" anchor="ctr"/>
                </a:tc>
                <a:tc>
                  <a:txBody>
                    <a:bodyPr/>
                    <a:lstStyle/>
                    <a:p>
                      <a:pPr algn="ctr" fontAlgn="ctr"/>
                      <a:r>
                        <a:rPr lang="en-US" altLang="zh-CN" sz="1600" b="0" i="0" u="none" strike="noStrike">
                          <a:effectLst/>
                          <a:latin typeface="Times New Roman"/>
                        </a:rPr>
                        <a:t>5</a:t>
                      </a:r>
                    </a:p>
                  </a:txBody>
                  <a:tcPr marL="9524" marR="9524" marT="9523" marB="0" anchor="ctr"/>
                </a:tc>
                <a:tc>
                  <a:txBody>
                    <a:bodyPr/>
                    <a:lstStyle/>
                    <a:p>
                      <a:pPr algn="ctr" fontAlgn="ctr"/>
                      <a:r>
                        <a:rPr lang="en-US" altLang="zh-CN" sz="1600" b="0" i="0" u="none" strike="noStrike">
                          <a:effectLst/>
                          <a:latin typeface="Times New Roman"/>
                        </a:rPr>
                        <a:t>14</a:t>
                      </a:r>
                    </a:p>
                  </a:txBody>
                  <a:tcPr marL="9524" marR="9524" marT="9523" marB="0" anchor="ctr"/>
                </a:tc>
                <a:tc>
                  <a:txBody>
                    <a:bodyPr/>
                    <a:lstStyle/>
                    <a:p>
                      <a:pPr algn="ctr" fontAlgn="ctr"/>
                      <a:r>
                        <a:rPr lang="en-US" altLang="zh-CN" sz="1600" b="0" i="0" u="none" strike="noStrike">
                          <a:effectLst/>
                          <a:latin typeface="Times New Roman"/>
                        </a:rPr>
                        <a:t>3</a:t>
                      </a:r>
                    </a:p>
                  </a:txBody>
                  <a:tcPr marL="9524" marR="9524" marT="9523" marB="0" anchor="ctr"/>
                </a:tc>
                <a:tc>
                  <a:txBody>
                    <a:bodyPr/>
                    <a:lstStyle/>
                    <a:p>
                      <a:pPr algn="ctr" fontAlgn="ctr"/>
                      <a:r>
                        <a:rPr lang="en-US" altLang="zh-CN" sz="1600" b="0" i="0" u="none" strike="noStrike">
                          <a:effectLst/>
                          <a:latin typeface="Times New Roman"/>
                        </a:rPr>
                        <a:t>9</a:t>
                      </a:r>
                    </a:p>
                  </a:txBody>
                  <a:tcPr marL="9524" marR="9524" marT="9523" marB="0" anchor="ctr"/>
                </a:tc>
                <a:tc>
                  <a:txBody>
                    <a:bodyPr/>
                    <a:lstStyle/>
                    <a:p>
                      <a:pPr algn="ctr" fontAlgn="ctr"/>
                      <a:r>
                        <a:rPr lang="en-US" altLang="zh-CN" sz="1600" b="0" i="0" u="none" strike="noStrike">
                          <a:effectLst/>
                          <a:latin typeface="Times New Roman"/>
                        </a:rPr>
                        <a:t>12</a:t>
                      </a:r>
                    </a:p>
                  </a:txBody>
                  <a:tcPr marL="9524" marR="9524" marT="9523" marB="0" anchor="ctr"/>
                </a:tc>
                <a:tc>
                  <a:txBody>
                    <a:bodyPr/>
                    <a:lstStyle/>
                    <a:p>
                      <a:pPr algn="ctr" fontAlgn="ctr"/>
                      <a:r>
                        <a:rPr lang="en-US" altLang="zh-CN" sz="1600" b="1" i="0" u="none" strike="noStrike" dirty="0">
                          <a:effectLst/>
                          <a:latin typeface="Times New Roman"/>
                        </a:rPr>
                        <a:t>1</a:t>
                      </a:r>
                    </a:p>
                  </a:txBody>
                  <a:tcPr marL="9524" marR="9524" marT="9523" marB="0" anchor="ctr">
                    <a:solidFill>
                      <a:srgbClr val="FFFF00"/>
                    </a:solidFill>
                  </a:tcPr>
                </a:tc>
                <a:extLst>
                  <a:ext uri="{0D108BD9-81ED-4DB2-BD59-A6C34878D82A}">
                    <a16:rowId xmlns:a16="http://schemas.microsoft.com/office/drawing/2014/main" val="10003"/>
                  </a:ext>
                </a:extLst>
              </a:tr>
            </a:tbl>
          </a:graphicData>
        </a:graphic>
      </p:graphicFrame>
      <p:graphicFrame>
        <p:nvGraphicFramePr>
          <p:cNvPr id="7" name="表格 6"/>
          <p:cNvGraphicFramePr>
            <a:graphicFrameLocks noGrp="1"/>
          </p:cNvGraphicFramePr>
          <p:nvPr/>
        </p:nvGraphicFramePr>
        <p:xfrm>
          <a:off x="139700" y="2133600"/>
          <a:ext cx="8891595" cy="1501776"/>
        </p:xfrm>
        <a:graphic>
          <a:graphicData uri="http://schemas.openxmlformats.org/drawingml/2006/table">
            <a:tbl>
              <a:tblPr>
                <a:tableStyleId>{5C22544A-7EE6-4342-B048-85BDC9FD1C3A}</a:tableStyleId>
              </a:tblPr>
              <a:tblGrid>
                <a:gridCol w="523035">
                  <a:extLst>
                    <a:ext uri="{9D8B030D-6E8A-4147-A177-3AD203B41FA5}">
                      <a16:colId xmlns:a16="http://schemas.microsoft.com/office/drawing/2014/main" val="20000"/>
                    </a:ext>
                  </a:extLst>
                </a:gridCol>
                <a:gridCol w="523035">
                  <a:extLst>
                    <a:ext uri="{9D8B030D-6E8A-4147-A177-3AD203B41FA5}">
                      <a16:colId xmlns:a16="http://schemas.microsoft.com/office/drawing/2014/main" val="20001"/>
                    </a:ext>
                  </a:extLst>
                </a:gridCol>
                <a:gridCol w="523035">
                  <a:extLst>
                    <a:ext uri="{9D8B030D-6E8A-4147-A177-3AD203B41FA5}">
                      <a16:colId xmlns:a16="http://schemas.microsoft.com/office/drawing/2014/main" val="20002"/>
                    </a:ext>
                  </a:extLst>
                </a:gridCol>
                <a:gridCol w="523035">
                  <a:extLst>
                    <a:ext uri="{9D8B030D-6E8A-4147-A177-3AD203B41FA5}">
                      <a16:colId xmlns:a16="http://schemas.microsoft.com/office/drawing/2014/main" val="20003"/>
                    </a:ext>
                  </a:extLst>
                </a:gridCol>
                <a:gridCol w="523035">
                  <a:extLst>
                    <a:ext uri="{9D8B030D-6E8A-4147-A177-3AD203B41FA5}">
                      <a16:colId xmlns:a16="http://schemas.microsoft.com/office/drawing/2014/main" val="20004"/>
                    </a:ext>
                  </a:extLst>
                </a:gridCol>
                <a:gridCol w="523035">
                  <a:extLst>
                    <a:ext uri="{9D8B030D-6E8A-4147-A177-3AD203B41FA5}">
                      <a16:colId xmlns:a16="http://schemas.microsoft.com/office/drawing/2014/main" val="20005"/>
                    </a:ext>
                  </a:extLst>
                </a:gridCol>
                <a:gridCol w="523035">
                  <a:extLst>
                    <a:ext uri="{9D8B030D-6E8A-4147-A177-3AD203B41FA5}">
                      <a16:colId xmlns:a16="http://schemas.microsoft.com/office/drawing/2014/main" val="20006"/>
                    </a:ext>
                  </a:extLst>
                </a:gridCol>
                <a:gridCol w="523035">
                  <a:extLst>
                    <a:ext uri="{9D8B030D-6E8A-4147-A177-3AD203B41FA5}">
                      <a16:colId xmlns:a16="http://schemas.microsoft.com/office/drawing/2014/main" val="20007"/>
                    </a:ext>
                  </a:extLst>
                </a:gridCol>
                <a:gridCol w="523035">
                  <a:extLst>
                    <a:ext uri="{9D8B030D-6E8A-4147-A177-3AD203B41FA5}">
                      <a16:colId xmlns:a16="http://schemas.microsoft.com/office/drawing/2014/main" val="20008"/>
                    </a:ext>
                  </a:extLst>
                </a:gridCol>
                <a:gridCol w="523035">
                  <a:extLst>
                    <a:ext uri="{9D8B030D-6E8A-4147-A177-3AD203B41FA5}">
                      <a16:colId xmlns:a16="http://schemas.microsoft.com/office/drawing/2014/main" val="20009"/>
                    </a:ext>
                  </a:extLst>
                </a:gridCol>
                <a:gridCol w="523035">
                  <a:extLst>
                    <a:ext uri="{9D8B030D-6E8A-4147-A177-3AD203B41FA5}">
                      <a16:colId xmlns:a16="http://schemas.microsoft.com/office/drawing/2014/main" val="20010"/>
                    </a:ext>
                  </a:extLst>
                </a:gridCol>
                <a:gridCol w="523035">
                  <a:extLst>
                    <a:ext uri="{9D8B030D-6E8A-4147-A177-3AD203B41FA5}">
                      <a16:colId xmlns:a16="http://schemas.microsoft.com/office/drawing/2014/main" val="20011"/>
                    </a:ext>
                  </a:extLst>
                </a:gridCol>
                <a:gridCol w="523035">
                  <a:extLst>
                    <a:ext uri="{9D8B030D-6E8A-4147-A177-3AD203B41FA5}">
                      <a16:colId xmlns:a16="http://schemas.microsoft.com/office/drawing/2014/main" val="20012"/>
                    </a:ext>
                  </a:extLst>
                </a:gridCol>
                <a:gridCol w="523035">
                  <a:extLst>
                    <a:ext uri="{9D8B030D-6E8A-4147-A177-3AD203B41FA5}">
                      <a16:colId xmlns:a16="http://schemas.microsoft.com/office/drawing/2014/main" val="20013"/>
                    </a:ext>
                  </a:extLst>
                </a:gridCol>
                <a:gridCol w="523035">
                  <a:extLst>
                    <a:ext uri="{9D8B030D-6E8A-4147-A177-3AD203B41FA5}">
                      <a16:colId xmlns:a16="http://schemas.microsoft.com/office/drawing/2014/main" val="20014"/>
                    </a:ext>
                  </a:extLst>
                </a:gridCol>
                <a:gridCol w="523035">
                  <a:extLst>
                    <a:ext uri="{9D8B030D-6E8A-4147-A177-3AD203B41FA5}">
                      <a16:colId xmlns:a16="http://schemas.microsoft.com/office/drawing/2014/main" val="20015"/>
                    </a:ext>
                  </a:extLst>
                </a:gridCol>
                <a:gridCol w="523035">
                  <a:extLst>
                    <a:ext uri="{9D8B030D-6E8A-4147-A177-3AD203B41FA5}">
                      <a16:colId xmlns:a16="http://schemas.microsoft.com/office/drawing/2014/main" val="20016"/>
                    </a:ext>
                  </a:extLst>
                </a:gridCol>
              </a:tblGrid>
              <a:tr h="375444">
                <a:tc>
                  <a:txBody>
                    <a:bodyPr/>
                    <a:lstStyle/>
                    <a:p>
                      <a:pPr algn="ctr" fontAlgn="ctr">
                        <a:lnSpc>
                          <a:spcPct val="150000"/>
                        </a:lnSpc>
                      </a:pPr>
                      <a:r>
                        <a:rPr lang="en-US" altLang="zh-CN" sz="1600" u="none" strike="noStrike" dirty="0">
                          <a:effectLst/>
                          <a:latin typeface="Times New Roman" panose="02020603050405020304" pitchFamily="18" charset="0"/>
                          <a:cs typeface="Times New Roman" panose="02020603050405020304" pitchFamily="18" charset="0"/>
                        </a:rPr>
                        <a:t>CE</a:t>
                      </a:r>
                      <a:endParaRPr lang="zh-CN" altLang="en-US" sz="1600" b="1" i="0" u="none" strike="noStrike" dirty="0">
                        <a:solidFill>
                          <a:srgbClr val="FF0000"/>
                        </a:solidFill>
                        <a:effectLst/>
                        <a:latin typeface="Times New Roman" panose="02020603050405020304" pitchFamily="18" charset="0"/>
                        <a:cs typeface="Times New Roman" panose="02020603050405020304" pitchFamily="18" charset="0"/>
                      </a:endParaRPr>
                    </a:p>
                  </a:txBody>
                  <a:tcPr marL="9524" marR="9524" marT="9523" marB="0" anchor="ctr"/>
                </a:tc>
                <a:tc>
                  <a:txBody>
                    <a:bodyPr/>
                    <a:lstStyle/>
                    <a:p>
                      <a:pPr algn="ctr" fontAlgn="ctr"/>
                      <a:r>
                        <a:rPr lang="en-US" altLang="zh-CN" sz="1600" b="0" i="0" u="none" strike="noStrike">
                          <a:effectLst/>
                          <a:latin typeface="Times New Roman"/>
                        </a:rPr>
                        <a:t>89.33 </a:t>
                      </a:r>
                    </a:p>
                  </a:txBody>
                  <a:tcPr marL="9524" marR="9524" marT="9523" marB="0" anchor="ctr"/>
                </a:tc>
                <a:tc>
                  <a:txBody>
                    <a:bodyPr/>
                    <a:lstStyle/>
                    <a:p>
                      <a:pPr algn="ctr" fontAlgn="ctr"/>
                      <a:r>
                        <a:rPr lang="en-US" altLang="zh-CN" sz="1600" b="0" i="0" u="none" strike="noStrike">
                          <a:effectLst/>
                          <a:latin typeface="Times New Roman"/>
                        </a:rPr>
                        <a:t>86.88 </a:t>
                      </a:r>
                    </a:p>
                  </a:txBody>
                  <a:tcPr marL="9524" marR="9524" marT="9523" marB="0" anchor="ctr"/>
                </a:tc>
                <a:tc>
                  <a:txBody>
                    <a:bodyPr/>
                    <a:lstStyle/>
                    <a:p>
                      <a:pPr algn="ctr" fontAlgn="ctr"/>
                      <a:r>
                        <a:rPr lang="en-US" altLang="zh-CN" sz="1600" b="0" i="0" u="none" strike="noStrike">
                          <a:effectLst/>
                          <a:latin typeface="Times New Roman"/>
                        </a:rPr>
                        <a:t>87.50 </a:t>
                      </a:r>
                    </a:p>
                  </a:txBody>
                  <a:tcPr marL="9524" marR="9524" marT="9523" marB="0" anchor="ctr"/>
                </a:tc>
                <a:tc>
                  <a:txBody>
                    <a:bodyPr/>
                    <a:lstStyle/>
                    <a:p>
                      <a:pPr algn="ctr" fontAlgn="ctr"/>
                      <a:r>
                        <a:rPr lang="en-US" altLang="zh-CN" sz="1600" b="0" i="0" u="none" strike="noStrike">
                          <a:effectLst/>
                          <a:latin typeface="Times New Roman"/>
                        </a:rPr>
                        <a:t>86.58 </a:t>
                      </a:r>
                    </a:p>
                  </a:txBody>
                  <a:tcPr marL="9524" marR="9524" marT="9523" marB="0" anchor="ctr"/>
                </a:tc>
                <a:tc>
                  <a:txBody>
                    <a:bodyPr/>
                    <a:lstStyle/>
                    <a:p>
                      <a:pPr algn="ctr" fontAlgn="ctr"/>
                      <a:r>
                        <a:rPr lang="en-US" altLang="zh-CN" sz="1600" b="0" i="0" u="none" strike="noStrike">
                          <a:effectLst/>
                          <a:latin typeface="Times New Roman"/>
                        </a:rPr>
                        <a:t>89.82 </a:t>
                      </a:r>
                    </a:p>
                  </a:txBody>
                  <a:tcPr marL="9524" marR="9524" marT="9523" marB="0" anchor="ctr"/>
                </a:tc>
                <a:tc>
                  <a:txBody>
                    <a:bodyPr/>
                    <a:lstStyle/>
                    <a:p>
                      <a:pPr algn="ctr" fontAlgn="ctr"/>
                      <a:r>
                        <a:rPr lang="en-US" altLang="zh-CN" sz="1600" b="0" i="0" u="none" strike="noStrike">
                          <a:effectLst/>
                          <a:latin typeface="Times New Roman"/>
                        </a:rPr>
                        <a:t>85.72 </a:t>
                      </a:r>
                    </a:p>
                  </a:txBody>
                  <a:tcPr marL="9524" marR="9524" marT="9523" marB="0" anchor="ctr"/>
                </a:tc>
                <a:tc>
                  <a:txBody>
                    <a:bodyPr/>
                    <a:lstStyle/>
                    <a:p>
                      <a:pPr algn="ctr" fontAlgn="ctr"/>
                      <a:r>
                        <a:rPr lang="en-US" altLang="zh-CN" sz="1600" b="0" i="0" u="none" strike="noStrike">
                          <a:effectLst/>
                          <a:latin typeface="Times New Roman"/>
                        </a:rPr>
                        <a:t>85.94 </a:t>
                      </a:r>
                    </a:p>
                  </a:txBody>
                  <a:tcPr marL="9524" marR="9524" marT="9523" marB="0" anchor="ctr"/>
                </a:tc>
                <a:tc>
                  <a:txBody>
                    <a:bodyPr/>
                    <a:lstStyle/>
                    <a:p>
                      <a:pPr algn="ctr" fontAlgn="ctr"/>
                      <a:r>
                        <a:rPr lang="en-US" altLang="zh-CN" sz="1600" b="0" i="0" u="none" strike="noStrike">
                          <a:effectLst/>
                          <a:latin typeface="Times New Roman"/>
                        </a:rPr>
                        <a:t>90.17 </a:t>
                      </a:r>
                    </a:p>
                  </a:txBody>
                  <a:tcPr marL="9524" marR="9524" marT="9523" marB="0" anchor="ctr"/>
                </a:tc>
                <a:tc>
                  <a:txBody>
                    <a:bodyPr/>
                    <a:lstStyle/>
                    <a:p>
                      <a:pPr algn="ctr" fontAlgn="ctr"/>
                      <a:r>
                        <a:rPr lang="en-US" altLang="zh-CN" sz="1600" b="0" i="0" u="none" strike="noStrike" dirty="0">
                          <a:effectLst/>
                          <a:latin typeface="Times New Roman"/>
                        </a:rPr>
                        <a:t>88.94 </a:t>
                      </a:r>
                    </a:p>
                  </a:txBody>
                  <a:tcPr marL="9524" marR="9524" marT="9523" marB="0" anchor="ctr"/>
                </a:tc>
                <a:tc>
                  <a:txBody>
                    <a:bodyPr/>
                    <a:lstStyle/>
                    <a:p>
                      <a:pPr algn="ctr" fontAlgn="ctr"/>
                      <a:r>
                        <a:rPr lang="en-US" altLang="zh-CN" sz="1600" b="0" i="0" u="none" strike="noStrike">
                          <a:effectLst/>
                          <a:latin typeface="Times New Roman"/>
                        </a:rPr>
                        <a:t>86.91 </a:t>
                      </a:r>
                    </a:p>
                  </a:txBody>
                  <a:tcPr marL="9524" marR="9524" marT="9523" marB="0" anchor="ctr"/>
                </a:tc>
                <a:tc>
                  <a:txBody>
                    <a:bodyPr/>
                    <a:lstStyle/>
                    <a:p>
                      <a:pPr algn="ctr" fontAlgn="ctr"/>
                      <a:r>
                        <a:rPr lang="en-US" altLang="zh-CN" sz="1600" b="0" i="0" u="none" strike="noStrike">
                          <a:effectLst/>
                          <a:latin typeface="Times New Roman"/>
                        </a:rPr>
                        <a:t>89.64 </a:t>
                      </a:r>
                    </a:p>
                  </a:txBody>
                  <a:tcPr marL="9524" marR="9524" marT="9523" marB="0" anchor="ctr"/>
                </a:tc>
                <a:tc>
                  <a:txBody>
                    <a:bodyPr/>
                    <a:lstStyle/>
                    <a:p>
                      <a:pPr algn="ctr" fontAlgn="ctr"/>
                      <a:r>
                        <a:rPr lang="en-US" altLang="zh-CN" sz="1600" b="0" i="0" u="none" strike="noStrike">
                          <a:effectLst/>
                          <a:latin typeface="Times New Roman"/>
                        </a:rPr>
                        <a:t>86.01 </a:t>
                      </a:r>
                    </a:p>
                  </a:txBody>
                  <a:tcPr marL="9524" marR="9524" marT="9523" marB="0" anchor="ctr"/>
                </a:tc>
                <a:tc>
                  <a:txBody>
                    <a:bodyPr/>
                    <a:lstStyle/>
                    <a:p>
                      <a:pPr algn="ctr" fontAlgn="ctr"/>
                      <a:r>
                        <a:rPr lang="en-US" altLang="zh-CN" sz="1600" b="0" i="0" u="none" strike="noStrike">
                          <a:effectLst/>
                          <a:latin typeface="Times New Roman"/>
                        </a:rPr>
                        <a:t>89.93 </a:t>
                      </a:r>
                    </a:p>
                  </a:txBody>
                  <a:tcPr marL="9524" marR="9524" marT="9523" marB="0" anchor="ctr"/>
                </a:tc>
                <a:tc>
                  <a:txBody>
                    <a:bodyPr/>
                    <a:lstStyle/>
                    <a:p>
                      <a:pPr algn="ctr" fontAlgn="ctr"/>
                      <a:r>
                        <a:rPr lang="en-US" altLang="zh-CN" sz="1600" b="0" i="0" u="none" strike="noStrike">
                          <a:effectLst/>
                          <a:latin typeface="Times New Roman"/>
                        </a:rPr>
                        <a:t>87.02 </a:t>
                      </a:r>
                    </a:p>
                  </a:txBody>
                  <a:tcPr marL="9524" marR="9524" marT="9523" marB="0" anchor="ctr"/>
                </a:tc>
                <a:tc>
                  <a:txBody>
                    <a:bodyPr/>
                    <a:lstStyle/>
                    <a:p>
                      <a:pPr algn="ctr" fontAlgn="ctr"/>
                      <a:r>
                        <a:rPr lang="en-US" altLang="zh-CN" sz="1600" b="0" i="0" u="none" strike="noStrike">
                          <a:effectLst/>
                          <a:latin typeface="Times New Roman"/>
                        </a:rPr>
                        <a:t>86.82 </a:t>
                      </a:r>
                    </a:p>
                  </a:txBody>
                  <a:tcPr marL="9524" marR="9524" marT="9523" marB="0" anchor="ctr"/>
                </a:tc>
                <a:tc>
                  <a:txBody>
                    <a:bodyPr/>
                    <a:lstStyle/>
                    <a:p>
                      <a:pPr algn="ctr" fontAlgn="ctr"/>
                      <a:r>
                        <a:rPr lang="en-US" altLang="zh-CN" sz="1600" b="1" i="0" u="none" strike="noStrike" dirty="0">
                          <a:effectLst/>
                          <a:latin typeface="Times New Roman"/>
                        </a:rPr>
                        <a:t>89.97 </a:t>
                      </a:r>
                    </a:p>
                  </a:txBody>
                  <a:tcPr marL="9524" marR="9524" marT="9523" marB="0" anchor="ctr">
                    <a:solidFill>
                      <a:srgbClr val="FFFF00"/>
                    </a:solidFill>
                  </a:tcPr>
                </a:tc>
                <a:extLst>
                  <a:ext uri="{0D108BD9-81ED-4DB2-BD59-A6C34878D82A}">
                    <a16:rowId xmlns:a16="http://schemas.microsoft.com/office/drawing/2014/main" val="10000"/>
                  </a:ext>
                </a:extLst>
              </a:tr>
              <a:tr h="375444">
                <a:tc>
                  <a:txBody>
                    <a:bodyPr/>
                    <a:lstStyle/>
                    <a:p>
                      <a:pPr algn="ctr" fontAlgn="ctr">
                        <a:lnSpc>
                          <a:spcPct val="150000"/>
                        </a:lnSpc>
                      </a:pPr>
                      <a:r>
                        <a:rPr lang="en-US" altLang="zh-CN" sz="1600" b="0" i="0" u="none" strike="noStrike" dirty="0">
                          <a:effectLst/>
                          <a:latin typeface="Times New Roman" panose="02020603050405020304" pitchFamily="18" charset="0"/>
                          <a:cs typeface="Times New Roman" panose="02020603050405020304" pitchFamily="18" charset="0"/>
                        </a:rPr>
                        <a:t>Rank</a:t>
                      </a:r>
                      <a:endParaRPr lang="zh-CN" altLang="en-US" sz="1600" b="0" i="0" u="none" strike="noStrike" dirty="0">
                        <a:effectLst/>
                        <a:latin typeface="Times New Roman" panose="02020603050405020304" pitchFamily="18" charset="0"/>
                        <a:cs typeface="Times New Roman" panose="02020603050405020304" pitchFamily="18" charset="0"/>
                      </a:endParaRPr>
                    </a:p>
                  </a:txBody>
                  <a:tcPr marL="9524" marR="9524" marT="9523" marB="0" anchor="ctr"/>
                </a:tc>
                <a:tc>
                  <a:txBody>
                    <a:bodyPr/>
                    <a:lstStyle/>
                    <a:p>
                      <a:pPr algn="ctr" fontAlgn="ctr"/>
                      <a:r>
                        <a:rPr lang="en-US" altLang="zh-CN" sz="1600" b="1" i="0" u="none" strike="noStrike">
                          <a:solidFill>
                            <a:srgbClr val="0000FF"/>
                          </a:solidFill>
                          <a:effectLst/>
                          <a:latin typeface="Times New Roman"/>
                        </a:rPr>
                        <a:t>6</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11</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8</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13</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4</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16</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15</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7</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10</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5</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14</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3</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9</a:t>
                      </a:r>
                    </a:p>
                  </a:txBody>
                  <a:tcPr marL="9524" marR="9524" marT="9523" marB="0" anchor="ctr"/>
                </a:tc>
                <a:tc>
                  <a:txBody>
                    <a:bodyPr/>
                    <a:lstStyle/>
                    <a:p>
                      <a:pPr algn="ctr" fontAlgn="ctr"/>
                      <a:r>
                        <a:rPr lang="en-US" altLang="zh-CN" sz="1600" b="1" i="0" u="none" strike="noStrike">
                          <a:solidFill>
                            <a:srgbClr val="0000FF"/>
                          </a:solidFill>
                          <a:effectLst/>
                          <a:latin typeface="Times New Roman"/>
                        </a:rPr>
                        <a:t>12</a:t>
                      </a:r>
                    </a:p>
                  </a:txBody>
                  <a:tcPr marL="9524" marR="9524" marT="9523" marB="0" anchor="ctr"/>
                </a:tc>
                <a:tc>
                  <a:txBody>
                    <a:bodyPr/>
                    <a:lstStyle/>
                    <a:p>
                      <a:pPr algn="ctr" fontAlgn="ctr"/>
                      <a:r>
                        <a:rPr lang="en-US" altLang="zh-CN" sz="1600" b="1" i="0" u="none" strike="noStrike" dirty="0">
                          <a:solidFill>
                            <a:srgbClr val="0000FF"/>
                          </a:solidFill>
                          <a:effectLst/>
                          <a:latin typeface="Times New Roman"/>
                        </a:rPr>
                        <a:t>2</a:t>
                      </a:r>
                    </a:p>
                  </a:txBody>
                  <a:tcPr marL="9524" marR="9524" marT="9523" marB="0" anchor="ctr">
                    <a:solidFill>
                      <a:srgbClr val="FFFF00"/>
                    </a:solidFill>
                  </a:tcPr>
                </a:tc>
                <a:extLst>
                  <a:ext uri="{0D108BD9-81ED-4DB2-BD59-A6C34878D82A}">
                    <a16:rowId xmlns:a16="http://schemas.microsoft.com/office/drawing/2014/main" val="10001"/>
                  </a:ext>
                </a:extLst>
              </a:tr>
              <a:tr h="375444">
                <a:tc>
                  <a:txBody>
                    <a:bodyPr/>
                    <a:lstStyle/>
                    <a:p>
                      <a:pPr algn="ctr" fontAlgn="ctr">
                        <a:lnSpc>
                          <a:spcPct val="150000"/>
                        </a:lnSpc>
                      </a:pPr>
                      <a:r>
                        <a:rPr lang="en-US" altLang="zh-CN" sz="1600" b="0" i="0" u="none" strike="noStrike" dirty="0">
                          <a:effectLst/>
                          <a:latin typeface="Times New Roman" panose="02020603050405020304" pitchFamily="18" charset="0"/>
                          <a:cs typeface="Times New Roman" panose="02020603050405020304" pitchFamily="18" charset="0"/>
                        </a:rPr>
                        <a:t>Mean</a:t>
                      </a:r>
                      <a:endParaRPr lang="zh-CN" altLang="en-US" sz="1600" b="0" i="0" u="none" strike="noStrike" dirty="0">
                        <a:effectLst/>
                        <a:latin typeface="Times New Roman" panose="02020603050405020304" pitchFamily="18" charset="0"/>
                        <a:cs typeface="Times New Roman" panose="02020603050405020304" pitchFamily="18" charset="0"/>
                      </a:endParaRPr>
                    </a:p>
                  </a:txBody>
                  <a:tcPr marL="9524" marR="9524" marT="9523" marB="0" anchor="ctr"/>
                </a:tc>
                <a:tc>
                  <a:txBody>
                    <a:bodyPr/>
                    <a:lstStyle/>
                    <a:p>
                      <a:pPr algn="ctr" fontAlgn="ctr"/>
                      <a:r>
                        <a:rPr lang="en-US" altLang="zh-CN" sz="1600" b="0" i="0" u="none" strike="noStrike">
                          <a:solidFill>
                            <a:srgbClr val="FF0000"/>
                          </a:solidFill>
                          <a:effectLst/>
                          <a:latin typeface="Times New Roman"/>
                        </a:rPr>
                        <a:t>89.31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86.88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87.50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86.56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89.81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85.69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85.94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90.19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88.94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86.88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89.63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86.00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89.94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87.00 </a:t>
                      </a:r>
                    </a:p>
                  </a:txBody>
                  <a:tcPr marL="9524" marR="9524" marT="9523" marB="0" anchor="ctr"/>
                </a:tc>
                <a:tc>
                  <a:txBody>
                    <a:bodyPr/>
                    <a:lstStyle/>
                    <a:p>
                      <a:pPr algn="ctr" fontAlgn="ctr"/>
                      <a:r>
                        <a:rPr lang="en-US" altLang="zh-CN" sz="1600" b="0" i="0" u="none" strike="noStrike">
                          <a:solidFill>
                            <a:srgbClr val="FF0000"/>
                          </a:solidFill>
                          <a:effectLst/>
                          <a:latin typeface="Times New Roman"/>
                        </a:rPr>
                        <a:t>86.81 </a:t>
                      </a:r>
                    </a:p>
                  </a:txBody>
                  <a:tcPr marL="9524" marR="9524" marT="9523" marB="0" anchor="ctr"/>
                </a:tc>
                <a:tc>
                  <a:txBody>
                    <a:bodyPr/>
                    <a:lstStyle/>
                    <a:p>
                      <a:pPr algn="ctr" fontAlgn="ctr"/>
                      <a:r>
                        <a:rPr lang="en-US" altLang="zh-CN" sz="1600" b="1" i="0" u="none" strike="noStrike" dirty="0">
                          <a:solidFill>
                            <a:srgbClr val="FF0000"/>
                          </a:solidFill>
                          <a:effectLst/>
                          <a:latin typeface="Times New Roman"/>
                        </a:rPr>
                        <a:t>84.94 </a:t>
                      </a:r>
                    </a:p>
                  </a:txBody>
                  <a:tcPr marL="9524" marR="9524" marT="9523" marB="0" anchor="ctr">
                    <a:solidFill>
                      <a:srgbClr val="FFFF00"/>
                    </a:solidFill>
                  </a:tcPr>
                </a:tc>
                <a:extLst>
                  <a:ext uri="{0D108BD9-81ED-4DB2-BD59-A6C34878D82A}">
                    <a16:rowId xmlns:a16="http://schemas.microsoft.com/office/drawing/2014/main" val="10002"/>
                  </a:ext>
                </a:extLst>
              </a:tr>
              <a:tr h="375444">
                <a:tc>
                  <a:txBody>
                    <a:bodyPr/>
                    <a:lstStyle/>
                    <a:p>
                      <a:pPr algn="ctr" fontAlgn="ctr">
                        <a:lnSpc>
                          <a:spcPct val="150000"/>
                        </a:lnSpc>
                      </a:pPr>
                      <a:r>
                        <a:rPr lang="en-US" altLang="zh-CN" sz="1600" b="0" i="0" u="none" strike="noStrike" dirty="0">
                          <a:effectLst/>
                          <a:latin typeface="Times New Roman" panose="02020603050405020304" pitchFamily="18" charset="0"/>
                          <a:cs typeface="Times New Roman" panose="02020603050405020304" pitchFamily="18" charset="0"/>
                        </a:rPr>
                        <a:t>Rank</a:t>
                      </a:r>
                      <a:endParaRPr lang="zh-CN" altLang="en-US" sz="1600" b="0" i="0" u="none" strike="noStrike" dirty="0">
                        <a:effectLst/>
                        <a:latin typeface="Times New Roman" panose="02020603050405020304" pitchFamily="18" charset="0"/>
                        <a:cs typeface="Times New Roman" panose="02020603050405020304" pitchFamily="18" charset="0"/>
                      </a:endParaRPr>
                    </a:p>
                  </a:txBody>
                  <a:tcPr marL="9524" marR="9524" marT="9523" marB="0" anchor="ctr"/>
                </a:tc>
                <a:tc>
                  <a:txBody>
                    <a:bodyPr/>
                    <a:lstStyle/>
                    <a:p>
                      <a:pPr algn="ctr" fontAlgn="ctr"/>
                      <a:r>
                        <a:rPr lang="en-US" altLang="zh-CN" sz="1600" b="0" i="0" u="none" strike="noStrike">
                          <a:effectLst/>
                          <a:latin typeface="Times New Roman"/>
                        </a:rPr>
                        <a:t>5</a:t>
                      </a:r>
                    </a:p>
                  </a:txBody>
                  <a:tcPr marL="9524" marR="9524" marT="9523" marB="0" anchor="ctr"/>
                </a:tc>
                <a:tc>
                  <a:txBody>
                    <a:bodyPr/>
                    <a:lstStyle/>
                    <a:p>
                      <a:pPr algn="ctr" fontAlgn="ctr"/>
                      <a:r>
                        <a:rPr lang="en-US" altLang="zh-CN" sz="1600" b="0" i="0" u="none" strike="noStrike">
                          <a:effectLst/>
                          <a:latin typeface="Times New Roman"/>
                        </a:rPr>
                        <a:t>9</a:t>
                      </a:r>
                    </a:p>
                  </a:txBody>
                  <a:tcPr marL="9524" marR="9524" marT="9523" marB="0" anchor="ctr"/>
                </a:tc>
                <a:tc>
                  <a:txBody>
                    <a:bodyPr/>
                    <a:lstStyle/>
                    <a:p>
                      <a:pPr algn="ctr" fontAlgn="ctr"/>
                      <a:r>
                        <a:rPr lang="en-US" altLang="zh-CN" sz="1600" b="0" i="0" u="none" strike="noStrike">
                          <a:effectLst/>
                          <a:latin typeface="Times New Roman"/>
                        </a:rPr>
                        <a:t>7</a:t>
                      </a:r>
                    </a:p>
                  </a:txBody>
                  <a:tcPr marL="9524" marR="9524" marT="9523" marB="0" anchor="ctr"/>
                </a:tc>
                <a:tc>
                  <a:txBody>
                    <a:bodyPr/>
                    <a:lstStyle/>
                    <a:p>
                      <a:pPr algn="ctr" fontAlgn="ctr"/>
                      <a:r>
                        <a:rPr lang="en-US" altLang="zh-CN" sz="1600" b="0" i="0" u="none" strike="noStrike">
                          <a:effectLst/>
                          <a:latin typeface="Times New Roman"/>
                        </a:rPr>
                        <a:t>12</a:t>
                      </a:r>
                    </a:p>
                  </a:txBody>
                  <a:tcPr marL="9524" marR="9524" marT="9523" marB="0" anchor="ctr"/>
                </a:tc>
                <a:tc>
                  <a:txBody>
                    <a:bodyPr/>
                    <a:lstStyle/>
                    <a:p>
                      <a:pPr algn="ctr" fontAlgn="ctr"/>
                      <a:r>
                        <a:rPr lang="en-US" altLang="zh-CN" sz="1600" b="0" i="0" u="none" strike="noStrike">
                          <a:effectLst/>
                          <a:latin typeface="Times New Roman"/>
                        </a:rPr>
                        <a:t>3</a:t>
                      </a:r>
                    </a:p>
                  </a:txBody>
                  <a:tcPr marL="9524" marR="9524" marT="9523" marB="0" anchor="ctr"/>
                </a:tc>
                <a:tc>
                  <a:txBody>
                    <a:bodyPr/>
                    <a:lstStyle/>
                    <a:p>
                      <a:pPr algn="ctr" fontAlgn="ctr"/>
                      <a:r>
                        <a:rPr lang="en-US" altLang="zh-CN" sz="1600" b="0" i="0" u="none" strike="noStrike">
                          <a:effectLst/>
                          <a:latin typeface="Times New Roman"/>
                        </a:rPr>
                        <a:t>15</a:t>
                      </a:r>
                    </a:p>
                  </a:txBody>
                  <a:tcPr marL="9524" marR="9524" marT="9523" marB="0" anchor="ctr"/>
                </a:tc>
                <a:tc>
                  <a:txBody>
                    <a:bodyPr/>
                    <a:lstStyle/>
                    <a:p>
                      <a:pPr algn="ctr" fontAlgn="ctr"/>
                      <a:r>
                        <a:rPr lang="en-US" altLang="zh-CN" sz="1600" b="0" i="0" u="none" strike="noStrike">
                          <a:effectLst/>
                          <a:latin typeface="Times New Roman"/>
                        </a:rPr>
                        <a:t>14</a:t>
                      </a:r>
                    </a:p>
                  </a:txBody>
                  <a:tcPr marL="9524" marR="9524" marT="9523" marB="0" anchor="ctr"/>
                </a:tc>
                <a:tc>
                  <a:txBody>
                    <a:bodyPr/>
                    <a:lstStyle/>
                    <a:p>
                      <a:pPr algn="ctr" fontAlgn="ctr"/>
                      <a:r>
                        <a:rPr lang="en-US" altLang="zh-CN" sz="1600" b="0" i="0" u="none" strike="noStrike">
                          <a:effectLst/>
                          <a:latin typeface="Times New Roman"/>
                        </a:rPr>
                        <a:t>1</a:t>
                      </a:r>
                    </a:p>
                  </a:txBody>
                  <a:tcPr marL="9524" marR="9524" marT="9523" marB="0" anchor="ctr"/>
                </a:tc>
                <a:tc>
                  <a:txBody>
                    <a:bodyPr/>
                    <a:lstStyle/>
                    <a:p>
                      <a:pPr algn="ctr" fontAlgn="ctr"/>
                      <a:r>
                        <a:rPr lang="en-US" altLang="zh-CN" sz="1600" b="0" i="0" u="none" strike="noStrike">
                          <a:effectLst/>
                          <a:latin typeface="Times New Roman"/>
                        </a:rPr>
                        <a:t>6</a:t>
                      </a:r>
                    </a:p>
                  </a:txBody>
                  <a:tcPr marL="9524" marR="9524" marT="9523" marB="0" anchor="ctr"/>
                </a:tc>
                <a:tc>
                  <a:txBody>
                    <a:bodyPr/>
                    <a:lstStyle/>
                    <a:p>
                      <a:pPr algn="ctr" fontAlgn="ctr"/>
                      <a:r>
                        <a:rPr lang="en-US" altLang="zh-CN" sz="1600" b="0" i="0" u="none" strike="noStrike">
                          <a:effectLst/>
                          <a:latin typeface="Times New Roman"/>
                        </a:rPr>
                        <a:t>9</a:t>
                      </a:r>
                    </a:p>
                  </a:txBody>
                  <a:tcPr marL="9524" marR="9524" marT="9523" marB="0" anchor="ctr"/>
                </a:tc>
                <a:tc>
                  <a:txBody>
                    <a:bodyPr/>
                    <a:lstStyle/>
                    <a:p>
                      <a:pPr algn="ctr" fontAlgn="ctr"/>
                      <a:r>
                        <a:rPr lang="en-US" altLang="zh-CN" sz="1600" b="0" i="0" u="none" strike="noStrike">
                          <a:effectLst/>
                          <a:latin typeface="Times New Roman"/>
                        </a:rPr>
                        <a:t>4</a:t>
                      </a:r>
                    </a:p>
                  </a:txBody>
                  <a:tcPr marL="9524" marR="9524" marT="9523" marB="0" anchor="ctr"/>
                </a:tc>
                <a:tc>
                  <a:txBody>
                    <a:bodyPr/>
                    <a:lstStyle/>
                    <a:p>
                      <a:pPr algn="ctr" fontAlgn="ctr"/>
                      <a:r>
                        <a:rPr lang="en-US" altLang="zh-CN" sz="1600" b="0" i="0" u="none" strike="noStrike">
                          <a:effectLst/>
                          <a:latin typeface="Times New Roman"/>
                        </a:rPr>
                        <a:t>13</a:t>
                      </a:r>
                    </a:p>
                  </a:txBody>
                  <a:tcPr marL="9524" marR="9524" marT="9523" marB="0" anchor="ctr"/>
                </a:tc>
                <a:tc>
                  <a:txBody>
                    <a:bodyPr/>
                    <a:lstStyle/>
                    <a:p>
                      <a:pPr algn="ctr" fontAlgn="ctr"/>
                      <a:r>
                        <a:rPr lang="en-US" altLang="zh-CN" sz="1600" b="0" i="0" u="none" strike="noStrike">
                          <a:effectLst/>
                          <a:latin typeface="Times New Roman"/>
                        </a:rPr>
                        <a:t>2</a:t>
                      </a:r>
                    </a:p>
                  </a:txBody>
                  <a:tcPr marL="9524" marR="9524" marT="9523" marB="0" anchor="ctr"/>
                </a:tc>
                <a:tc>
                  <a:txBody>
                    <a:bodyPr/>
                    <a:lstStyle/>
                    <a:p>
                      <a:pPr algn="ctr" fontAlgn="ctr"/>
                      <a:r>
                        <a:rPr lang="en-US" altLang="zh-CN" sz="1600" b="0" i="0" u="none" strike="noStrike">
                          <a:effectLst/>
                          <a:latin typeface="Times New Roman"/>
                        </a:rPr>
                        <a:t>8</a:t>
                      </a:r>
                    </a:p>
                  </a:txBody>
                  <a:tcPr marL="9524" marR="9524" marT="9523" marB="0" anchor="ctr"/>
                </a:tc>
                <a:tc>
                  <a:txBody>
                    <a:bodyPr/>
                    <a:lstStyle/>
                    <a:p>
                      <a:pPr algn="ctr" fontAlgn="ctr"/>
                      <a:r>
                        <a:rPr lang="en-US" altLang="zh-CN" sz="1600" b="0" i="0" u="none" strike="noStrike">
                          <a:effectLst/>
                          <a:latin typeface="Times New Roman"/>
                        </a:rPr>
                        <a:t>11</a:t>
                      </a:r>
                    </a:p>
                  </a:txBody>
                  <a:tcPr marL="9524" marR="9524" marT="9523" marB="0" anchor="ctr"/>
                </a:tc>
                <a:tc>
                  <a:txBody>
                    <a:bodyPr/>
                    <a:lstStyle/>
                    <a:p>
                      <a:pPr algn="ctr" fontAlgn="ctr"/>
                      <a:r>
                        <a:rPr lang="en-US" altLang="zh-CN" sz="1600" b="1" i="0" u="none" strike="noStrike" dirty="0">
                          <a:effectLst/>
                          <a:latin typeface="Times New Roman"/>
                        </a:rPr>
                        <a:t>16</a:t>
                      </a:r>
                    </a:p>
                  </a:txBody>
                  <a:tcPr marL="9524" marR="9524" marT="9523" marB="0" anchor="ctr">
                    <a:solidFill>
                      <a:srgbClr val="FFFF00"/>
                    </a:solidFill>
                  </a:tcPr>
                </a:tc>
                <a:extLst>
                  <a:ext uri="{0D108BD9-81ED-4DB2-BD59-A6C34878D82A}">
                    <a16:rowId xmlns:a16="http://schemas.microsoft.com/office/drawing/2014/main" val="10003"/>
                  </a:ext>
                </a:extLst>
              </a:tr>
            </a:tbl>
          </a:graphicData>
        </a:graphic>
      </p:graphicFrame>
      <p:sp>
        <p:nvSpPr>
          <p:cNvPr id="45244" name="矩形 2"/>
          <p:cNvSpPr>
            <a:spLocks noChangeArrowheads="1"/>
          </p:cNvSpPr>
          <p:nvPr/>
        </p:nvSpPr>
        <p:spPr bwMode="auto">
          <a:xfrm>
            <a:off x="3347864" y="3862388"/>
            <a:ext cx="24812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SzTx/>
              <a:buFontTx/>
              <a:buNone/>
            </a:pPr>
            <a:r>
              <a:rPr lang="en-US" altLang="zh-CN" sz="4000" dirty="0">
                <a:ea typeface="楷体_GB2312" pitchFamily="49" charset="-122"/>
              </a:rPr>
              <a:t>R</a:t>
            </a:r>
            <a:r>
              <a:rPr lang="en-US" altLang="zh-CN" sz="2400" dirty="0">
                <a:ea typeface="楷体_GB2312" pitchFamily="49" charset="-122"/>
              </a:rPr>
              <a:t>16,16</a:t>
            </a:r>
            <a:r>
              <a:rPr lang="en-US" altLang="zh-CN" sz="4000" dirty="0">
                <a:ea typeface="楷体_GB2312" pitchFamily="49" charset="-122"/>
              </a:rPr>
              <a:t>=100</a:t>
            </a:r>
            <a:endParaRPr lang="zh-CN" altLang="en-US" sz="4000" dirty="0">
              <a:ea typeface="楷体_GB2312" pitchFamily="49" charset="-122"/>
            </a:endParaRPr>
          </a:p>
        </p:txBody>
      </p:sp>
      <p:sp>
        <p:nvSpPr>
          <p:cNvPr id="45245" name="矩形 8"/>
          <p:cNvSpPr>
            <a:spLocks noChangeArrowheads="1"/>
          </p:cNvSpPr>
          <p:nvPr/>
        </p:nvSpPr>
        <p:spPr bwMode="auto">
          <a:xfrm>
            <a:off x="3347864" y="1166740"/>
            <a:ext cx="1909762"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SzTx/>
              <a:buFontTx/>
              <a:buNone/>
            </a:pPr>
            <a:r>
              <a:rPr lang="en-US" altLang="zh-CN" sz="4000" dirty="0">
                <a:ea typeface="楷体_GB2312" pitchFamily="49" charset="-122"/>
              </a:rPr>
              <a:t>R</a:t>
            </a:r>
            <a:r>
              <a:rPr lang="en-US" altLang="zh-CN" sz="2400" dirty="0">
                <a:ea typeface="楷体_GB2312" pitchFamily="49" charset="-122"/>
              </a:rPr>
              <a:t>16,16</a:t>
            </a:r>
            <a:r>
              <a:rPr lang="en-US" altLang="zh-CN" sz="4000" dirty="0">
                <a:ea typeface="楷体_GB2312" pitchFamily="49" charset="-122"/>
              </a:rPr>
              <a:t>=0</a:t>
            </a:r>
            <a:endParaRPr lang="zh-CN" altLang="en-US" sz="4000" dirty="0">
              <a:ea typeface="楷体_GB2312" pitchFamily="49" charset="-122"/>
            </a:endParaRPr>
          </a:p>
        </p:txBody>
      </p:sp>
    </p:spTree>
    <p:extLst>
      <p:ext uri="{BB962C8B-B14F-4D97-AF65-F5344CB8AC3E}">
        <p14:creationId xmlns:p14="http://schemas.microsoft.com/office/powerpoint/2010/main" val="821837041"/>
      </p:ext>
    </p:extLst>
  </p:cSld>
  <p:clrMapOvr>
    <a:masterClrMapping/>
  </p:clrMapOvr>
  <p:transition spd="slow">
    <p:circl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1169" name="组合 401"/>
          <p:cNvGraphicFramePr>
            <a:graphicFrameLocks noGrp="1"/>
          </p:cNvGraphicFramePr>
          <p:nvPr>
            <p:ph idx="1"/>
          </p:nvPr>
        </p:nvGraphicFramePr>
        <p:xfrm>
          <a:off x="277813" y="1085850"/>
          <a:ext cx="8628067" cy="2640014"/>
        </p:xfrm>
        <a:graphic>
          <a:graphicData uri="http://schemas.openxmlformats.org/drawingml/2006/table">
            <a:tbl>
              <a:tblPr/>
              <a:tblGrid>
                <a:gridCol w="1135483">
                  <a:extLst>
                    <a:ext uri="{9D8B030D-6E8A-4147-A177-3AD203B41FA5}">
                      <a16:colId xmlns:a16="http://schemas.microsoft.com/office/drawing/2014/main" val="20000"/>
                    </a:ext>
                  </a:extLst>
                </a:gridCol>
                <a:gridCol w="681144">
                  <a:extLst>
                    <a:ext uri="{9D8B030D-6E8A-4147-A177-3AD203B41FA5}">
                      <a16:colId xmlns:a16="http://schemas.microsoft.com/office/drawing/2014/main" val="20001"/>
                    </a:ext>
                  </a:extLst>
                </a:gridCol>
                <a:gridCol w="681144">
                  <a:extLst>
                    <a:ext uri="{9D8B030D-6E8A-4147-A177-3AD203B41FA5}">
                      <a16:colId xmlns:a16="http://schemas.microsoft.com/office/drawing/2014/main" val="20002"/>
                    </a:ext>
                  </a:extLst>
                </a:gridCol>
                <a:gridCol w="681144">
                  <a:extLst>
                    <a:ext uri="{9D8B030D-6E8A-4147-A177-3AD203B41FA5}">
                      <a16:colId xmlns:a16="http://schemas.microsoft.com/office/drawing/2014/main" val="20003"/>
                    </a:ext>
                  </a:extLst>
                </a:gridCol>
                <a:gridCol w="681144">
                  <a:extLst>
                    <a:ext uri="{9D8B030D-6E8A-4147-A177-3AD203B41FA5}">
                      <a16:colId xmlns:a16="http://schemas.microsoft.com/office/drawing/2014/main" val="20004"/>
                    </a:ext>
                  </a:extLst>
                </a:gridCol>
                <a:gridCol w="681144">
                  <a:extLst>
                    <a:ext uri="{9D8B030D-6E8A-4147-A177-3AD203B41FA5}">
                      <a16:colId xmlns:a16="http://schemas.microsoft.com/office/drawing/2014/main" val="20005"/>
                    </a:ext>
                  </a:extLst>
                </a:gridCol>
                <a:gridCol w="681144">
                  <a:extLst>
                    <a:ext uri="{9D8B030D-6E8A-4147-A177-3AD203B41FA5}">
                      <a16:colId xmlns:a16="http://schemas.microsoft.com/office/drawing/2014/main" val="20006"/>
                    </a:ext>
                  </a:extLst>
                </a:gridCol>
                <a:gridCol w="681144">
                  <a:extLst>
                    <a:ext uri="{9D8B030D-6E8A-4147-A177-3AD203B41FA5}">
                      <a16:colId xmlns:a16="http://schemas.microsoft.com/office/drawing/2014/main" val="20007"/>
                    </a:ext>
                  </a:extLst>
                </a:gridCol>
                <a:gridCol w="681144">
                  <a:extLst>
                    <a:ext uri="{9D8B030D-6E8A-4147-A177-3AD203B41FA5}">
                      <a16:colId xmlns:a16="http://schemas.microsoft.com/office/drawing/2014/main" val="20008"/>
                    </a:ext>
                  </a:extLst>
                </a:gridCol>
                <a:gridCol w="681144">
                  <a:extLst>
                    <a:ext uri="{9D8B030D-6E8A-4147-A177-3AD203B41FA5}">
                      <a16:colId xmlns:a16="http://schemas.microsoft.com/office/drawing/2014/main" val="20009"/>
                    </a:ext>
                  </a:extLst>
                </a:gridCol>
                <a:gridCol w="681144">
                  <a:extLst>
                    <a:ext uri="{9D8B030D-6E8A-4147-A177-3AD203B41FA5}">
                      <a16:colId xmlns:a16="http://schemas.microsoft.com/office/drawing/2014/main" val="20010"/>
                    </a:ext>
                  </a:extLst>
                </a:gridCol>
                <a:gridCol w="681144">
                  <a:extLst>
                    <a:ext uri="{9D8B030D-6E8A-4147-A177-3AD203B41FA5}">
                      <a16:colId xmlns:a16="http://schemas.microsoft.com/office/drawing/2014/main" val="20011"/>
                    </a:ext>
                  </a:extLst>
                </a:gridCol>
              </a:tblGrid>
              <a:tr h="412137">
                <a:tc>
                  <a:txBody>
                    <a:bodyPr/>
                    <a:lstStyle/>
                    <a:p>
                      <a:pPr marL="0" marR="0" lvl="0" indent="0" algn="ctr" defTabSz="914400" rtl="0" eaLnBrk="1" fontAlgn="base" latinLnBrk="0" hangingPunct="1">
                        <a:lnSpc>
                          <a:spcPct val="100000"/>
                        </a:lnSpc>
                        <a:spcBef>
                          <a:spcPts val="0"/>
                        </a:spcBef>
                        <a:spcAft>
                          <a:spcPts val="0"/>
                        </a:spcAft>
                        <a:buClr>
                          <a:srgbClr val="2D7693"/>
                        </a:buClr>
                        <a:buSzPct val="70000"/>
                        <a:buFont typeface="Wingdings" pitchFamily="2" charset="2"/>
                        <a:buNone/>
                        <a:tabLst/>
                      </a:pPr>
                      <a:r>
                        <a:rPr lang="en-US" altLang="zh-CN" sz="1800" b="1" dirty="0">
                          <a:latin typeface="Arial" panose="020B0604020202020204" pitchFamily="34" charset="0"/>
                          <a:cs typeface="Arial" panose="020B0604020202020204" pitchFamily="34" charset="0"/>
                        </a:rPr>
                        <a:t>R</a:t>
                      </a:r>
                      <a:r>
                        <a:rPr lang="en-US" altLang="zh-CN" sz="1100" dirty="0">
                          <a:latin typeface="Arial" panose="020B0604020202020204" pitchFamily="34" charset="0"/>
                          <a:cs typeface="Arial" panose="020B0604020202020204" pitchFamily="34" charset="0"/>
                        </a:rPr>
                        <a:t>16,16</a:t>
                      </a:r>
                      <a:endParaRPr kumimoji="0" lang="zh-CN" altLang="en-US" sz="18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endParaRP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800" b="1" i="0" u="none" strike="noStrike" kern="1200" cap="none" normalizeH="0" baseline="0" dirty="0">
                          <a:ln>
                            <a:noFill/>
                          </a:ln>
                          <a:solidFill>
                            <a:schemeClr val="tx1"/>
                          </a:solidFill>
                          <a:effectLst/>
                          <a:latin typeface="Book Antiqua" pitchFamily="18" charset="0"/>
                          <a:ea typeface="宋体" pitchFamily="2" charset="-122"/>
                          <a:cs typeface="+mn-cs"/>
                        </a:rPr>
                        <a:t>0</a:t>
                      </a: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800" b="1" i="0" u="none" strike="noStrike" kern="1200" cap="none" normalizeH="0" baseline="0" dirty="0">
                          <a:ln>
                            <a:noFill/>
                          </a:ln>
                          <a:solidFill>
                            <a:schemeClr val="tx1"/>
                          </a:solidFill>
                          <a:effectLst/>
                          <a:latin typeface="Book Antiqua" pitchFamily="18" charset="0"/>
                          <a:ea typeface="宋体" pitchFamily="2" charset="-122"/>
                          <a:cs typeface="+mn-cs"/>
                        </a:rPr>
                        <a:t>10</a:t>
                      </a:r>
                    </a:p>
                  </a:txBody>
                  <a:tcPr marL="91687" marR="91687" marT="45748" marB="45748"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800" b="1" i="0" u="none" strike="noStrike" kern="1200" cap="none" normalizeH="0" baseline="0" dirty="0">
                          <a:ln>
                            <a:noFill/>
                          </a:ln>
                          <a:solidFill>
                            <a:schemeClr val="tx1"/>
                          </a:solidFill>
                          <a:effectLst/>
                          <a:latin typeface="Book Antiqua" pitchFamily="18" charset="0"/>
                          <a:ea typeface="宋体" pitchFamily="2" charset="-122"/>
                          <a:cs typeface="+mn-cs"/>
                        </a:rPr>
                        <a:t>20</a:t>
                      </a: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800" b="1" i="0" u="none" strike="noStrike" cap="none" normalizeH="0" baseline="0" dirty="0">
                          <a:ln>
                            <a:noFill/>
                          </a:ln>
                          <a:solidFill>
                            <a:schemeClr val="tx1"/>
                          </a:solidFill>
                          <a:effectLst/>
                          <a:latin typeface="Book Antiqua" pitchFamily="18" charset="0"/>
                          <a:ea typeface="宋体" pitchFamily="2" charset="-122"/>
                        </a:rPr>
                        <a:t>30</a:t>
                      </a:r>
                      <a:endParaRPr kumimoji="0" lang="en-US" altLang="zh-CN" sz="3200" b="0" i="0" u="none" strike="noStrike" cap="none" normalizeH="0" baseline="0" dirty="0">
                        <a:ln>
                          <a:noFill/>
                        </a:ln>
                        <a:solidFill>
                          <a:schemeClr val="tx1"/>
                        </a:solidFill>
                        <a:effectLst/>
                        <a:latin typeface="Arial" pitchFamily="34" charset="0"/>
                        <a:ea typeface="宋体" pitchFamily="2" charset="-122"/>
                      </a:endParaRP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800" b="1" i="0" u="none" strike="noStrike" cap="none" normalizeH="0" baseline="0" dirty="0">
                          <a:ln>
                            <a:noFill/>
                          </a:ln>
                          <a:solidFill>
                            <a:schemeClr val="tx1"/>
                          </a:solidFill>
                          <a:effectLst/>
                          <a:latin typeface="Book Antiqua" pitchFamily="18" charset="0"/>
                          <a:ea typeface="宋体" pitchFamily="2" charset="-122"/>
                        </a:rPr>
                        <a:t>40</a:t>
                      </a:r>
                      <a:endParaRPr kumimoji="0" lang="en-US" altLang="zh-CN" sz="3200" b="0" i="0" u="none" strike="noStrike" cap="none" normalizeH="0" baseline="0" dirty="0">
                        <a:ln>
                          <a:noFill/>
                        </a:ln>
                        <a:solidFill>
                          <a:schemeClr val="tx1"/>
                        </a:solidFill>
                        <a:effectLst/>
                        <a:latin typeface="Arial" pitchFamily="34" charset="0"/>
                        <a:ea typeface="宋体" pitchFamily="2" charset="-122"/>
                      </a:endParaRP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800" b="1" i="0" u="none" strike="noStrike" cap="none" normalizeH="0" baseline="0" dirty="0">
                          <a:ln>
                            <a:noFill/>
                          </a:ln>
                          <a:solidFill>
                            <a:schemeClr val="tx1"/>
                          </a:solidFill>
                          <a:effectLst/>
                          <a:latin typeface="Book Antiqua" pitchFamily="18" charset="0"/>
                          <a:ea typeface="宋体" pitchFamily="2" charset="-122"/>
                        </a:rPr>
                        <a:t>50</a:t>
                      </a:r>
                      <a:endParaRPr kumimoji="0" lang="en-US" altLang="zh-CN" sz="3200" b="0" i="0" u="none" strike="noStrike" cap="none" normalizeH="0" baseline="0" dirty="0">
                        <a:ln>
                          <a:noFill/>
                        </a:ln>
                        <a:solidFill>
                          <a:schemeClr val="tx1"/>
                        </a:solidFill>
                        <a:effectLst/>
                        <a:latin typeface="Arial" pitchFamily="34" charset="0"/>
                        <a:ea typeface="宋体" pitchFamily="2" charset="-122"/>
                      </a:endParaRP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800" b="1" i="0" u="none" strike="noStrike" cap="none" normalizeH="0" baseline="0" dirty="0">
                          <a:ln>
                            <a:noFill/>
                          </a:ln>
                          <a:solidFill>
                            <a:schemeClr val="tx1"/>
                          </a:solidFill>
                          <a:effectLst/>
                          <a:latin typeface="Book Antiqua" pitchFamily="18" charset="0"/>
                          <a:ea typeface="宋体" pitchFamily="2" charset="-122"/>
                        </a:rPr>
                        <a:t>60</a:t>
                      </a:r>
                      <a:endParaRPr kumimoji="0" lang="en-US" altLang="zh-CN" sz="3200" b="0" i="0" u="none" strike="noStrike" cap="none" normalizeH="0" baseline="0" dirty="0">
                        <a:ln>
                          <a:noFill/>
                        </a:ln>
                        <a:solidFill>
                          <a:schemeClr val="tx1"/>
                        </a:solidFill>
                        <a:effectLst/>
                        <a:latin typeface="Arial" pitchFamily="34" charset="0"/>
                        <a:ea typeface="宋体" pitchFamily="2" charset="-122"/>
                      </a:endParaRP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800" b="1" i="0" u="none" strike="noStrike" cap="none" normalizeH="0" baseline="0" dirty="0">
                          <a:ln>
                            <a:noFill/>
                          </a:ln>
                          <a:solidFill>
                            <a:schemeClr val="tx1"/>
                          </a:solidFill>
                          <a:effectLst/>
                          <a:latin typeface="Book Antiqua" pitchFamily="18" charset="0"/>
                          <a:ea typeface="宋体" pitchFamily="2" charset="-122"/>
                        </a:rPr>
                        <a:t>70</a:t>
                      </a:r>
                      <a:endParaRPr kumimoji="0" lang="en-US" altLang="zh-CN" sz="3200" b="0" i="0" u="none" strike="noStrike" cap="none" normalizeH="0" baseline="0" dirty="0">
                        <a:ln>
                          <a:noFill/>
                        </a:ln>
                        <a:solidFill>
                          <a:schemeClr val="tx1"/>
                        </a:solidFill>
                        <a:effectLst/>
                        <a:latin typeface="Arial" pitchFamily="34" charset="0"/>
                        <a:ea typeface="宋体" pitchFamily="2" charset="-122"/>
                      </a:endParaRP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800" b="1" i="0" u="none" strike="noStrike" cap="none" normalizeH="0" baseline="0" dirty="0">
                          <a:ln>
                            <a:noFill/>
                          </a:ln>
                          <a:solidFill>
                            <a:schemeClr val="tx1"/>
                          </a:solidFill>
                          <a:effectLst/>
                          <a:latin typeface="Book Antiqua" pitchFamily="18" charset="0"/>
                          <a:ea typeface="宋体" pitchFamily="2" charset="-122"/>
                        </a:rPr>
                        <a:t>80</a:t>
                      </a:r>
                      <a:endParaRPr kumimoji="0" lang="en-US" altLang="zh-CN" sz="3200" b="0" i="0" u="none" strike="noStrike" cap="none" normalizeH="0" baseline="0" dirty="0">
                        <a:ln>
                          <a:noFill/>
                        </a:ln>
                        <a:solidFill>
                          <a:schemeClr val="tx1"/>
                        </a:solidFill>
                        <a:effectLst/>
                        <a:latin typeface="Arial" pitchFamily="34" charset="0"/>
                        <a:ea typeface="宋体" pitchFamily="2" charset="-122"/>
                      </a:endParaRP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800" b="1" i="0" u="none" strike="noStrike" cap="none" normalizeH="0" baseline="0" dirty="0">
                          <a:ln>
                            <a:noFill/>
                          </a:ln>
                          <a:solidFill>
                            <a:schemeClr val="tx1"/>
                          </a:solidFill>
                          <a:effectLst/>
                          <a:latin typeface="Book Antiqua" pitchFamily="18" charset="0"/>
                          <a:ea typeface="宋体" pitchFamily="2" charset="-122"/>
                        </a:rPr>
                        <a:t>90</a:t>
                      </a:r>
                      <a:endParaRPr kumimoji="0" lang="en-US" altLang="zh-CN" sz="3200" b="0" i="0" u="none" strike="noStrike" cap="none" normalizeH="0" baseline="0" dirty="0">
                        <a:ln>
                          <a:noFill/>
                        </a:ln>
                        <a:solidFill>
                          <a:schemeClr val="tx1"/>
                        </a:solidFill>
                        <a:effectLst/>
                        <a:latin typeface="Arial" pitchFamily="34" charset="0"/>
                        <a:ea typeface="宋体" pitchFamily="2" charset="-122"/>
                      </a:endParaRP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800" b="1" i="0" u="none" strike="noStrike" cap="none" normalizeH="0" baseline="0" dirty="0">
                          <a:ln>
                            <a:noFill/>
                          </a:ln>
                          <a:solidFill>
                            <a:schemeClr val="tx1"/>
                          </a:solidFill>
                          <a:effectLst/>
                          <a:latin typeface="Book Antiqua" pitchFamily="18" charset="0"/>
                          <a:ea typeface="宋体" pitchFamily="2" charset="-122"/>
                        </a:rPr>
                        <a:t>100</a:t>
                      </a:r>
                      <a:endParaRPr kumimoji="0" lang="en-US" altLang="zh-CN" sz="3200" b="0" i="0" u="none" strike="noStrike" cap="none" normalizeH="0" baseline="0" dirty="0">
                        <a:ln>
                          <a:noFill/>
                        </a:ln>
                        <a:solidFill>
                          <a:schemeClr val="tx1"/>
                        </a:solidFill>
                        <a:effectLst/>
                        <a:latin typeface="Arial" pitchFamily="34" charset="0"/>
                        <a:ea typeface="宋体" pitchFamily="2" charset="-122"/>
                      </a:endParaRPr>
                    </a:p>
                  </a:txBody>
                  <a:tcPr marL="91687" marR="91687" marT="45748" marB="45748"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EE4BA"/>
                    </a:solidFill>
                  </a:tcPr>
                </a:tc>
                <a:extLst>
                  <a:ext uri="{0D108BD9-81ED-4DB2-BD59-A6C34878D82A}">
                    <a16:rowId xmlns:a16="http://schemas.microsoft.com/office/drawing/2014/main" val="10000"/>
                  </a:ext>
                </a:extLst>
              </a:tr>
              <a:tr h="579329">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Effective</a:t>
                      </a:r>
                    </a:p>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Weight</a:t>
                      </a:r>
                      <a:endParaRPr kumimoji="0" lang="zh-CN" altLang="hu-HU" sz="1600" b="0" i="0" u="none" strike="noStrike" cap="none" normalizeH="0" baseline="0" dirty="0">
                        <a:ln>
                          <a:noFill/>
                        </a:ln>
                        <a:solidFill>
                          <a:schemeClr val="tx1"/>
                        </a:solidFill>
                        <a:effectLst/>
                        <a:latin typeface="Arial" pitchFamily="34" charset="0"/>
                        <a:ea typeface="宋体" pitchFamily="2" charset="-122"/>
                        <a:cs typeface="Arial" panose="020B0604020202020204" pitchFamily="34" charset="0"/>
                      </a:endParaRPr>
                    </a:p>
                  </a:txBody>
                  <a:tcPr marL="91687" marR="91687" marT="45748" marB="4574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ts val="0"/>
                        </a:spcBef>
                        <a:spcAft>
                          <a:spcPts val="0"/>
                        </a:spcAft>
                        <a:buClrTx/>
                        <a:buSzTx/>
                        <a:buFontTx/>
                        <a:buNone/>
                        <a:tabLst/>
                      </a:pPr>
                      <a:r>
                        <a:rPr kumimoji="0" lang="en-US" altLang="zh-CN" sz="1400" b="0" i="0" u="none" strike="noStrike" cap="none" normalizeH="0" baseline="0" dirty="0">
                          <a:ln>
                            <a:noFill/>
                          </a:ln>
                          <a:solidFill>
                            <a:schemeClr val="tx1"/>
                          </a:solidFill>
                          <a:effectLst/>
                          <a:latin typeface="Arial" pitchFamily="34" charset="0"/>
                          <a:ea typeface="宋体" pitchFamily="2" charset="-122"/>
                        </a:rPr>
                        <a:t>0.007</a:t>
                      </a: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ts val="0"/>
                        </a:spcBef>
                        <a:spcAft>
                          <a:spcPts val="0"/>
                        </a:spcAft>
                        <a:buClrTx/>
                        <a:buSzTx/>
                        <a:buFontTx/>
                        <a:buNone/>
                        <a:tabLst/>
                      </a:pPr>
                      <a:r>
                        <a:rPr kumimoji="0" lang="en-US" altLang="zh-CN" sz="1400" b="0" i="0" u="none" strike="noStrike" cap="none" normalizeH="0" baseline="0" dirty="0">
                          <a:ln>
                            <a:noFill/>
                          </a:ln>
                          <a:solidFill>
                            <a:schemeClr val="tx1"/>
                          </a:solidFill>
                          <a:effectLst/>
                          <a:latin typeface="Arial" pitchFamily="34" charset="0"/>
                          <a:ea typeface="宋体" pitchFamily="2" charset="-122"/>
                        </a:rPr>
                        <a:t>0.014</a:t>
                      </a:r>
                    </a:p>
                  </a:txBody>
                  <a:tcPr marL="91687" marR="91687" marT="45748" marB="45748"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ts val="0"/>
                        </a:spcBef>
                        <a:spcAft>
                          <a:spcPts val="0"/>
                        </a:spcAft>
                        <a:buClrTx/>
                        <a:buSzTx/>
                        <a:buFontTx/>
                        <a:buNone/>
                        <a:tabLst/>
                      </a:pPr>
                      <a:r>
                        <a:rPr kumimoji="0" lang="en-US" altLang="zh-CN" sz="1400" b="0" i="0" u="none" strike="noStrike" cap="none" normalizeH="0" baseline="0" dirty="0">
                          <a:ln>
                            <a:noFill/>
                          </a:ln>
                          <a:solidFill>
                            <a:schemeClr val="tx1"/>
                          </a:solidFill>
                          <a:effectLst/>
                          <a:latin typeface="Arial" pitchFamily="34" charset="0"/>
                          <a:ea typeface="宋体" pitchFamily="2" charset="-122"/>
                        </a:rPr>
                        <a:t>0.021</a:t>
                      </a: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ts val="0"/>
                        </a:spcBef>
                        <a:spcAft>
                          <a:spcPts val="0"/>
                        </a:spcAft>
                        <a:buClrTx/>
                        <a:buSzTx/>
                        <a:buFontTx/>
                        <a:buNone/>
                        <a:tabLst/>
                      </a:pPr>
                      <a:r>
                        <a:rPr kumimoji="0" lang="en-US" altLang="zh-CN" sz="1400" b="0" i="0" u="none" strike="noStrike" cap="none" normalizeH="0" baseline="0" dirty="0">
                          <a:ln>
                            <a:noFill/>
                          </a:ln>
                          <a:solidFill>
                            <a:schemeClr val="tx1"/>
                          </a:solidFill>
                          <a:effectLst/>
                          <a:latin typeface="Arial" pitchFamily="34" charset="0"/>
                          <a:ea typeface="宋体" pitchFamily="2" charset="-122"/>
                        </a:rPr>
                        <a:t>0.027</a:t>
                      </a: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r" defTabSz="914400" rtl="0" eaLnBrk="1" fontAlgn="base" latinLnBrk="0" hangingPunct="1">
                        <a:lnSpc>
                          <a:spcPct val="100000"/>
                        </a:lnSpc>
                        <a:spcBef>
                          <a:spcPts val="0"/>
                        </a:spcBef>
                        <a:spcAft>
                          <a:spcPts val="0"/>
                        </a:spcAft>
                        <a:buClrTx/>
                        <a:buSzTx/>
                        <a:buFontTx/>
                        <a:buNone/>
                        <a:tabLst/>
                      </a:pPr>
                      <a:r>
                        <a:rPr kumimoji="0" lang="en-US" altLang="zh-CN" sz="1400" b="0" i="0" u="none" strike="noStrike" cap="none" normalizeH="0" baseline="0" dirty="0">
                          <a:ln>
                            <a:noFill/>
                          </a:ln>
                          <a:solidFill>
                            <a:schemeClr val="tx1"/>
                          </a:solidFill>
                          <a:effectLst/>
                          <a:latin typeface="Arial" pitchFamily="34" charset="0"/>
                          <a:ea typeface="宋体" pitchFamily="2" charset="-122"/>
                        </a:rPr>
                        <a:t>0.038</a:t>
                      </a:r>
                    </a:p>
                  </a:txBody>
                  <a:tcPr marL="91687" marR="91687" marT="45748" marB="45748"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effectLst/>
                          <a:latin typeface="Times New Roman"/>
                        </a:rPr>
                        <a:t>0.040</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effectLst/>
                          <a:latin typeface="Times New Roman"/>
                        </a:rPr>
                        <a:t>0.046</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effectLst/>
                          <a:latin typeface="Times New Roman"/>
                        </a:rPr>
                        <a:t>0.052</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effectLst/>
                          <a:latin typeface="Times New Roman"/>
                        </a:rPr>
                        <a:t>0.058</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effectLst/>
                          <a:latin typeface="Times New Roman"/>
                        </a:rPr>
                        <a:t>0.063</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effectLst/>
                          <a:latin typeface="Times New Roman"/>
                        </a:rPr>
                        <a:t>0.059</a:t>
                      </a:r>
                    </a:p>
                  </a:txBody>
                  <a:tcPr marL="9551" marR="9551" marT="9528" marB="0" anchor="ctr">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2137">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CE</a:t>
                      </a:r>
                      <a:endParaRPr kumimoji="0" lang="zh-CN" altLang="hu-HU" sz="1600" b="1" i="0" u="none" strike="noStrike" cap="none" normalizeH="0" baseline="0" dirty="0">
                        <a:ln>
                          <a:noFill/>
                        </a:ln>
                        <a:solidFill>
                          <a:schemeClr val="tx1"/>
                        </a:solidFill>
                        <a:effectLst/>
                        <a:latin typeface="Arial" pitchFamily="34" charset="0"/>
                        <a:ea typeface="宋体" pitchFamily="2" charset="-122"/>
                        <a:cs typeface="Arial" panose="020B0604020202020204" pitchFamily="34" charset="0"/>
                      </a:endParaRPr>
                    </a:p>
                  </a:txBody>
                  <a:tcPr marL="91687" marR="91687" marT="45748" marB="4574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kern="1200" dirty="0">
                          <a:solidFill>
                            <a:srgbClr val="FF0000"/>
                          </a:solidFill>
                          <a:effectLst/>
                          <a:latin typeface="Times New Roman"/>
                          <a:ea typeface="+mn-ea"/>
                          <a:cs typeface="+mn-cs"/>
                        </a:rPr>
                        <a:t>89.97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kern="1200" dirty="0">
                          <a:solidFill>
                            <a:srgbClr val="FF0000"/>
                          </a:solidFill>
                          <a:effectLst/>
                          <a:latin typeface="Times New Roman"/>
                          <a:ea typeface="+mn-ea"/>
                          <a:cs typeface="+mn-cs"/>
                        </a:rPr>
                        <a:t>89.46 </a:t>
                      </a:r>
                    </a:p>
                  </a:txBody>
                  <a:tcPr marL="9551" marR="9551" marT="9528"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kern="1200" dirty="0">
                          <a:solidFill>
                            <a:srgbClr val="FF0000"/>
                          </a:solidFill>
                          <a:effectLst/>
                          <a:latin typeface="Times New Roman"/>
                          <a:ea typeface="+mn-ea"/>
                          <a:cs typeface="+mn-cs"/>
                        </a:rPr>
                        <a:t>89.11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kern="1200" dirty="0">
                          <a:solidFill>
                            <a:srgbClr val="FF0000"/>
                          </a:solidFill>
                          <a:effectLst/>
                          <a:latin typeface="Times New Roman"/>
                          <a:ea typeface="+mn-ea"/>
                          <a:cs typeface="+mn-cs"/>
                        </a:rPr>
                        <a:t>88.91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kern="1200" dirty="0">
                          <a:solidFill>
                            <a:srgbClr val="FF0000"/>
                          </a:solidFill>
                          <a:effectLst/>
                          <a:latin typeface="Times New Roman"/>
                          <a:ea typeface="+mn-ea"/>
                          <a:cs typeface="+mn-cs"/>
                        </a:rPr>
                        <a:t>88.86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kern="1200" dirty="0">
                          <a:solidFill>
                            <a:srgbClr val="FF0000"/>
                          </a:solidFill>
                          <a:effectLst/>
                          <a:latin typeface="Times New Roman"/>
                          <a:ea typeface="+mn-ea"/>
                          <a:cs typeface="+mn-cs"/>
                        </a:rPr>
                        <a:t>88.94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kern="1200" dirty="0">
                          <a:solidFill>
                            <a:srgbClr val="FF0000"/>
                          </a:solidFill>
                          <a:effectLst/>
                          <a:latin typeface="Times New Roman"/>
                          <a:ea typeface="+mn-ea"/>
                          <a:cs typeface="+mn-cs"/>
                        </a:rPr>
                        <a:t>89.16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kern="1200" dirty="0">
                          <a:solidFill>
                            <a:srgbClr val="FF0000"/>
                          </a:solidFill>
                          <a:effectLst/>
                          <a:latin typeface="Times New Roman"/>
                          <a:ea typeface="+mn-ea"/>
                          <a:cs typeface="+mn-cs"/>
                        </a:rPr>
                        <a:t>89.51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kern="1200" dirty="0">
                          <a:solidFill>
                            <a:srgbClr val="FF0000"/>
                          </a:solidFill>
                          <a:effectLst/>
                          <a:latin typeface="Times New Roman"/>
                          <a:ea typeface="+mn-ea"/>
                          <a:cs typeface="+mn-cs"/>
                        </a:rPr>
                        <a:t>89.98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kern="1200" dirty="0">
                          <a:solidFill>
                            <a:srgbClr val="FF0000"/>
                          </a:solidFill>
                          <a:effectLst/>
                          <a:latin typeface="Times New Roman"/>
                          <a:ea typeface="+mn-ea"/>
                          <a:cs typeface="+mn-cs"/>
                        </a:rPr>
                        <a:t>90.56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kern="1200" dirty="0">
                          <a:solidFill>
                            <a:srgbClr val="FF0000"/>
                          </a:solidFill>
                          <a:effectLst/>
                          <a:latin typeface="Times New Roman"/>
                          <a:ea typeface="+mn-ea"/>
                          <a:cs typeface="+mn-cs"/>
                        </a:rPr>
                        <a:t>91.16 </a:t>
                      </a:r>
                    </a:p>
                  </a:txBody>
                  <a:tcPr marL="9551" marR="9551" marT="9528" marB="0" anchor="ctr">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2137">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Rank</a:t>
                      </a:r>
                      <a:endParaRPr kumimoji="0" lang="zh-CN" altLang="hu-HU" sz="1600" b="0" i="0" u="none" strike="noStrike" cap="none" normalizeH="0" baseline="0" dirty="0">
                        <a:ln>
                          <a:noFill/>
                        </a:ln>
                        <a:solidFill>
                          <a:schemeClr val="tx1"/>
                        </a:solidFill>
                        <a:effectLst/>
                        <a:latin typeface="Arial" pitchFamily="34" charset="0"/>
                        <a:ea typeface="宋体" pitchFamily="2" charset="-122"/>
                        <a:cs typeface="Arial" panose="020B0604020202020204" pitchFamily="34" charset="0"/>
                      </a:endParaRPr>
                    </a:p>
                  </a:txBody>
                  <a:tcPr marL="91687" marR="91687" marT="45748" marB="4574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1" i="0" u="none" strike="noStrike" dirty="0">
                          <a:solidFill>
                            <a:srgbClr val="0000FF"/>
                          </a:solidFill>
                          <a:effectLst/>
                          <a:latin typeface="Times New Roman"/>
                        </a:rPr>
                        <a:t>2</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1" i="0" u="none" strike="noStrike" dirty="0">
                          <a:solidFill>
                            <a:srgbClr val="0000FF"/>
                          </a:solidFill>
                          <a:effectLst/>
                          <a:latin typeface="Times New Roman"/>
                        </a:rPr>
                        <a:t>5</a:t>
                      </a:r>
                    </a:p>
                  </a:txBody>
                  <a:tcPr marL="9551" marR="9551" marT="9528"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1" i="0" u="none" strike="noStrike" dirty="0">
                          <a:solidFill>
                            <a:srgbClr val="0000FF"/>
                          </a:solidFill>
                          <a:effectLst/>
                          <a:latin typeface="Times New Roman"/>
                        </a:rPr>
                        <a:t>6</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1" i="0" u="none" strike="noStrike" dirty="0">
                          <a:solidFill>
                            <a:srgbClr val="0000FF"/>
                          </a:solidFill>
                          <a:effectLst/>
                          <a:latin typeface="Times New Roman"/>
                        </a:rPr>
                        <a:t>7</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1" i="0" u="none" strike="noStrike" dirty="0">
                          <a:solidFill>
                            <a:srgbClr val="0000FF"/>
                          </a:solidFill>
                          <a:effectLst/>
                          <a:latin typeface="Times New Roman"/>
                        </a:rPr>
                        <a:t>7</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1" i="0" u="none" strike="noStrike" dirty="0">
                          <a:solidFill>
                            <a:srgbClr val="0000FF"/>
                          </a:solidFill>
                          <a:effectLst/>
                          <a:latin typeface="Times New Roman"/>
                        </a:rPr>
                        <a:t>6</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1" i="0" u="none" strike="noStrike">
                          <a:solidFill>
                            <a:srgbClr val="0000FF"/>
                          </a:solidFill>
                          <a:effectLst/>
                          <a:latin typeface="Times New Roman"/>
                        </a:rPr>
                        <a:t>6</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1" i="0" u="none" strike="noStrike">
                          <a:solidFill>
                            <a:srgbClr val="0000FF"/>
                          </a:solidFill>
                          <a:effectLst/>
                          <a:latin typeface="Times New Roman"/>
                        </a:rPr>
                        <a:t>5</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1" i="0" u="none" strike="noStrike" dirty="0">
                          <a:solidFill>
                            <a:srgbClr val="0000FF"/>
                          </a:solidFill>
                          <a:effectLst/>
                          <a:latin typeface="Times New Roman"/>
                        </a:rPr>
                        <a:t>2</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1" i="0" u="none" strike="noStrike" dirty="0">
                          <a:solidFill>
                            <a:srgbClr val="0000FF"/>
                          </a:solidFill>
                          <a:effectLst/>
                          <a:latin typeface="Times New Roman"/>
                        </a:rPr>
                        <a:t>1</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1" i="0" u="none" strike="noStrike" dirty="0">
                          <a:solidFill>
                            <a:srgbClr val="0000FF"/>
                          </a:solidFill>
                          <a:effectLst/>
                          <a:latin typeface="Times New Roman"/>
                        </a:rPr>
                        <a:t>1</a:t>
                      </a:r>
                    </a:p>
                  </a:txBody>
                  <a:tcPr marL="9551" marR="9551" marT="9528" marB="0" anchor="ctr">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2137">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600" b="1" i="0" u="none" strike="noStrike" cap="none" normalizeH="0" baseline="0" dirty="0">
                          <a:ln>
                            <a:noFill/>
                          </a:ln>
                          <a:solidFill>
                            <a:schemeClr val="tx1"/>
                          </a:solidFill>
                          <a:effectLst/>
                          <a:latin typeface="Arial" panose="020B0604020202020204" pitchFamily="34" charset="0"/>
                          <a:ea typeface="宋体" pitchFamily="2" charset="-122"/>
                          <a:cs typeface="Arial" panose="020B0604020202020204" pitchFamily="34" charset="0"/>
                        </a:rPr>
                        <a:t>Mean</a:t>
                      </a:r>
                      <a:endParaRPr kumimoji="0" lang="zh-CN" altLang="hu-HU" sz="1600" b="1" i="0" u="none" strike="noStrike" cap="none" normalizeH="0" baseline="0" dirty="0">
                        <a:ln>
                          <a:noFill/>
                        </a:ln>
                        <a:solidFill>
                          <a:schemeClr val="tx1"/>
                        </a:solidFill>
                        <a:effectLst/>
                        <a:latin typeface="Arial" pitchFamily="34" charset="0"/>
                        <a:ea typeface="宋体" pitchFamily="2" charset="-122"/>
                        <a:cs typeface="Arial" panose="020B0604020202020204" pitchFamily="34" charset="0"/>
                      </a:endParaRPr>
                    </a:p>
                  </a:txBody>
                  <a:tcPr marL="91687" marR="91687" marT="45748" marB="4574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solidFill>
                            <a:srgbClr val="FF0000"/>
                          </a:solidFill>
                          <a:effectLst/>
                          <a:latin typeface="Times New Roman"/>
                        </a:rPr>
                        <a:t>84.94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solidFill>
                            <a:srgbClr val="FF0000"/>
                          </a:solidFill>
                          <a:effectLst/>
                          <a:latin typeface="Times New Roman"/>
                        </a:rPr>
                        <a:t>85.56 </a:t>
                      </a:r>
                    </a:p>
                  </a:txBody>
                  <a:tcPr marL="9551" marR="9551" marT="9528"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solidFill>
                            <a:srgbClr val="FF0000"/>
                          </a:solidFill>
                          <a:effectLst/>
                          <a:latin typeface="Times New Roman"/>
                        </a:rPr>
                        <a:t>86.19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solidFill>
                            <a:srgbClr val="FF0000"/>
                          </a:solidFill>
                          <a:effectLst/>
                          <a:latin typeface="Times New Roman"/>
                        </a:rPr>
                        <a:t>86.81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solidFill>
                            <a:srgbClr val="FF0000"/>
                          </a:solidFill>
                          <a:effectLst/>
                          <a:latin typeface="Times New Roman"/>
                        </a:rPr>
                        <a:t>87.44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solidFill>
                            <a:srgbClr val="FF0000"/>
                          </a:solidFill>
                          <a:effectLst/>
                          <a:latin typeface="Times New Roman"/>
                        </a:rPr>
                        <a:t>88.06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solidFill>
                            <a:srgbClr val="FF0000"/>
                          </a:solidFill>
                          <a:effectLst/>
                          <a:latin typeface="Times New Roman"/>
                        </a:rPr>
                        <a:t>88.69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solidFill>
                            <a:srgbClr val="FF0000"/>
                          </a:solidFill>
                          <a:effectLst/>
                          <a:latin typeface="Times New Roman"/>
                        </a:rPr>
                        <a:t>89.31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solidFill>
                            <a:srgbClr val="FF0000"/>
                          </a:solidFill>
                          <a:effectLst/>
                          <a:latin typeface="Times New Roman"/>
                        </a:rPr>
                        <a:t>89.94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solidFill>
                            <a:srgbClr val="FF0000"/>
                          </a:solidFill>
                          <a:effectLst/>
                          <a:latin typeface="Times New Roman"/>
                        </a:rPr>
                        <a:t>90.56 </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fontAlgn="ctr">
                        <a:lnSpc>
                          <a:spcPct val="100000"/>
                        </a:lnSpc>
                        <a:spcBef>
                          <a:spcPts val="0"/>
                        </a:spcBef>
                        <a:spcAft>
                          <a:spcPts val="0"/>
                        </a:spcAft>
                      </a:pPr>
                      <a:r>
                        <a:rPr lang="en-US" altLang="zh-CN" sz="1400" b="0" i="0" u="none" strike="noStrike" dirty="0">
                          <a:solidFill>
                            <a:srgbClr val="FF0000"/>
                          </a:solidFill>
                          <a:effectLst/>
                          <a:latin typeface="Times New Roman"/>
                        </a:rPr>
                        <a:t>91.19 </a:t>
                      </a:r>
                    </a:p>
                  </a:txBody>
                  <a:tcPr marL="9551" marR="9551" marT="9528" marB="0" anchor="ctr">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2137">
                <a:tc>
                  <a:txBody>
                    <a:bodyPr/>
                    <a:lstStyle/>
                    <a:p>
                      <a:pPr marL="342900" marR="0" lvl="0" indent="-342900" algn="ctr" defTabSz="914400" rtl="0" eaLnBrk="1" fontAlgn="base" latinLnBrk="0" hangingPunct="1">
                        <a:lnSpc>
                          <a:spcPct val="100000"/>
                        </a:lnSpc>
                        <a:spcBef>
                          <a:spcPts val="0"/>
                        </a:spcBef>
                        <a:spcAft>
                          <a:spcPts val="0"/>
                        </a:spcAft>
                        <a:buClrTx/>
                        <a:buSzTx/>
                        <a:buFontTx/>
                        <a:buNone/>
                        <a:tabLst/>
                      </a:pPr>
                      <a:r>
                        <a:rPr kumimoji="0" lang="en-US" altLang="zh-CN" sz="1600" b="1" i="0" u="none" strike="noStrike" cap="none" normalizeH="0" baseline="0" dirty="0">
                          <a:ln>
                            <a:noFill/>
                          </a:ln>
                          <a:solidFill>
                            <a:schemeClr val="tx1"/>
                          </a:solidFill>
                          <a:effectLst/>
                          <a:latin typeface="Arial" pitchFamily="34" charset="0"/>
                          <a:ea typeface="宋体" pitchFamily="2" charset="-122"/>
                          <a:cs typeface="Arial" panose="020B0604020202020204" pitchFamily="34" charset="0"/>
                        </a:rPr>
                        <a:t>Rank</a:t>
                      </a:r>
                      <a:endParaRPr kumimoji="0" lang="zh-CN" altLang="hu-HU" sz="2000" b="1" i="0" u="none" strike="noStrike" cap="none" normalizeH="0" baseline="0" dirty="0">
                        <a:ln>
                          <a:noFill/>
                        </a:ln>
                        <a:solidFill>
                          <a:schemeClr val="tx1"/>
                        </a:solidFill>
                        <a:effectLst/>
                        <a:latin typeface="Arial" pitchFamily="34" charset="0"/>
                        <a:ea typeface="宋体" pitchFamily="2" charset="-122"/>
                        <a:cs typeface="Arial" panose="020B0604020202020204" pitchFamily="34" charset="0"/>
                      </a:endParaRPr>
                    </a:p>
                  </a:txBody>
                  <a:tcPr marL="91687" marR="91687" marT="45748" marB="45748"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lnSpc>
                          <a:spcPct val="100000"/>
                        </a:lnSpc>
                        <a:spcBef>
                          <a:spcPts val="0"/>
                        </a:spcBef>
                        <a:spcAft>
                          <a:spcPts val="0"/>
                        </a:spcAft>
                      </a:pPr>
                      <a:r>
                        <a:rPr lang="en-US" altLang="zh-CN" sz="1400" b="1" i="0" u="none" strike="noStrike" kern="1200" dirty="0">
                          <a:solidFill>
                            <a:srgbClr val="0000FF"/>
                          </a:solidFill>
                          <a:effectLst/>
                          <a:latin typeface="Times New Roman"/>
                          <a:ea typeface="+mn-ea"/>
                          <a:cs typeface="+mn-cs"/>
                        </a:rPr>
                        <a:t>16</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lnSpc>
                          <a:spcPct val="100000"/>
                        </a:lnSpc>
                        <a:spcBef>
                          <a:spcPts val="0"/>
                        </a:spcBef>
                        <a:spcAft>
                          <a:spcPts val="0"/>
                        </a:spcAft>
                      </a:pPr>
                      <a:r>
                        <a:rPr lang="en-US" altLang="zh-CN" sz="1400" b="1" i="0" u="none" strike="noStrike" kern="1200" dirty="0">
                          <a:solidFill>
                            <a:srgbClr val="0000FF"/>
                          </a:solidFill>
                          <a:effectLst/>
                          <a:latin typeface="Times New Roman"/>
                          <a:ea typeface="+mn-ea"/>
                          <a:cs typeface="+mn-cs"/>
                        </a:rPr>
                        <a:t>16</a:t>
                      </a:r>
                    </a:p>
                  </a:txBody>
                  <a:tcPr marL="9551" marR="9551" marT="9528"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lnSpc>
                          <a:spcPct val="100000"/>
                        </a:lnSpc>
                        <a:spcBef>
                          <a:spcPts val="0"/>
                        </a:spcBef>
                        <a:spcAft>
                          <a:spcPts val="0"/>
                        </a:spcAft>
                      </a:pPr>
                      <a:r>
                        <a:rPr lang="en-US" altLang="zh-CN" sz="1400" b="1" i="0" u="none" strike="noStrike" kern="1200" dirty="0">
                          <a:solidFill>
                            <a:srgbClr val="0000FF"/>
                          </a:solidFill>
                          <a:effectLst/>
                          <a:latin typeface="Times New Roman"/>
                          <a:ea typeface="+mn-ea"/>
                          <a:cs typeface="+mn-cs"/>
                        </a:rPr>
                        <a:t>13</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lnSpc>
                          <a:spcPct val="100000"/>
                        </a:lnSpc>
                        <a:spcBef>
                          <a:spcPts val="0"/>
                        </a:spcBef>
                        <a:spcAft>
                          <a:spcPts val="0"/>
                        </a:spcAft>
                      </a:pPr>
                      <a:r>
                        <a:rPr lang="en-US" altLang="zh-CN" sz="1400" b="1" i="0" u="none" strike="noStrike" kern="1200" dirty="0">
                          <a:solidFill>
                            <a:srgbClr val="0000FF"/>
                          </a:solidFill>
                          <a:effectLst/>
                          <a:latin typeface="Times New Roman"/>
                          <a:ea typeface="+mn-ea"/>
                          <a:cs typeface="+mn-cs"/>
                        </a:rPr>
                        <a:t>11</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lnSpc>
                          <a:spcPct val="100000"/>
                        </a:lnSpc>
                        <a:spcBef>
                          <a:spcPts val="0"/>
                        </a:spcBef>
                        <a:spcAft>
                          <a:spcPts val="0"/>
                        </a:spcAft>
                      </a:pPr>
                      <a:r>
                        <a:rPr lang="en-US" altLang="zh-CN" sz="1400" b="1" i="0" u="none" strike="noStrike" kern="1200" dirty="0">
                          <a:solidFill>
                            <a:srgbClr val="0000FF"/>
                          </a:solidFill>
                          <a:effectLst/>
                          <a:latin typeface="Times New Roman"/>
                          <a:ea typeface="+mn-ea"/>
                          <a:cs typeface="+mn-cs"/>
                        </a:rPr>
                        <a:t>8</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lnSpc>
                          <a:spcPct val="100000"/>
                        </a:lnSpc>
                        <a:spcBef>
                          <a:spcPts val="0"/>
                        </a:spcBef>
                        <a:spcAft>
                          <a:spcPts val="0"/>
                        </a:spcAft>
                      </a:pPr>
                      <a:r>
                        <a:rPr lang="en-US" altLang="zh-CN" sz="1400" b="1" i="0" u="none" strike="noStrike" kern="1200" dirty="0">
                          <a:solidFill>
                            <a:srgbClr val="0000FF"/>
                          </a:solidFill>
                          <a:effectLst/>
                          <a:latin typeface="Times New Roman"/>
                          <a:ea typeface="+mn-ea"/>
                          <a:cs typeface="+mn-cs"/>
                        </a:rPr>
                        <a:t>7</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lnSpc>
                          <a:spcPct val="100000"/>
                        </a:lnSpc>
                        <a:spcBef>
                          <a:spcPts val="0"/>
                        </a:spcBef>
                        <a:spcAft>
                          <a:spcPts val="0"/>
                        </a:spcAft>
                      </a:pPr>
                      <a:r>
                        <a:rPr lang="en-US" altLang="zh-CN" sz="1400" b="1" i="0" u="none" strike="noStrike" kern="1200" dirty="0">
                          <a:solidFill>
                            <a:srgbClr val="0000FF"/>
                          </a:solidFill>
                          <a:effectLst/>
                          <a:latin typeface="Times New Roman"/>
                          <a:ea typeface="+mn-ea"/>
                          <a:cs typeface="+mn-cs"/>
                        </a:rPr>
                        <a:t>7</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lnSpc>
                          <a:spcPct val="100000"/>
                        </a:lnSpc>
                        <a:spcBef>
                          <a:spcPts val="0"/>
                        </a:spcBef>
                        <a:spcAft>
                          <a:spcPts val="0"/>
                        </a:spcAft>
                      </a:pPr>
                      <a:r>
                        <a:rPr lang="en-US" altLang="zh-CN" sz="1400" b="1" i="0" u="none" strike="noStrike" kern="1200" dirty="0">
                          <a:solidFill>
                            <a:srgbClr val="0000FF"/>
                          </a:solidFill>
                          <a:effectLst/>
                          <a:latin typeface="Times New Roman"/>
                          <a:ea typeface="+mn-ea"/>
                          <a:cs typeface="+mn-cs"/>
                        </a:rPr>
                        <a:t>5</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lnSpc>
                          <a:spcPct val="100000"/>
                        </a:lnSpc>
                        <a:spcBef>
                          <a:spcPts val="0"/>
                        </a:spcBef>
                        <a:spcAft>
                          <a:spcPts val="0"/>
                        </a:spcAft>
                      </a:pPr>
                      <a:r>
                        <a:rPr lang="en-US" altLang="zh-CN" sz="1400" b="1" i="0" u="none" strike="noStrike" kern="1200" dirty="0">
                          <a:solidFill>
                            <a:srgbClr val="0000FF"/>
                          </a:solidFill>
                          <a:effectLst/>
                          <a:latin typeface="Times New Roman"/>
                          <a:ea typeface="+mn-ea"/>
                          <a:cs typeface="+mn-cs"/>
                        </a:rPr>
                        <a:t>2</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lnSpc>
                          <a:spcPct val="100000"/>
                        </a:lnSpc>
                        <a:spcBef>
                          <a:spcPts val="0"/>
                        </a:spcBef>
                        <a:spcAft>
                          <a:spcPts val="0"/>
                        </a:spcAft>
                      </a:pPr>
                      <a:r>
                        <a:rPr lang="en-US" altLang="zh-CN" sz="1400" b="1" i="0" u="none" strike="noStrike" kern="1200" dirty="0">
                          <a:solidFill>
                            <a:srgbClr val="0000FF"/>
                          </a:solidFill>
                          <a:effectLst/>
                          <a:latin typeface="Times New Roman"/>
                          <a:ea typeface="+mn-ea"/>
                          <a:cs typeface="+mn-cs"/>
                        </a:rPr>
                        <a:t>1</a:t>
                      </a:r>
                    </a:p>
                  </a:txBody>
                  <a:tcPr marL="9551" marR="9551" marT="9528"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ctr" defTabSz="914400" rtl="0" eaLnBrk="1" fontAlgn="ctr" latinLnBrk="0" hangingPunct="1">
                        <a:lnSpc>
                          <a:spcPct val="100000"/>
                        </a:lnSpc>
                        <a:spcBef>
                          <a:spcPts val="0"/>
                        </a:spcBef>
                        <a:spcAft>
                          <a:spcPts val="0"/>
                        </a:spcAft>
                      </a:pPr>
                      <a:r>
                        <a:rPr lang="en-US" altLang="zh-CN" sz="1400" b="1" i="0" u="none" strike="noStrike" kern="1200" dirty="0">
                          <a:solidFill>
                            <a:srgbClr val="0000FF"/>
                          </a:solidFill>
                          <a:effectLst/>
                          <a:latin typeface="Times New Roman"/>
                          <a:ea typeface="+mn-ea"/>
                          <a:cs typeface="+mn-cs"/>
                        </a:rPr>
                        <a:t>1</a:t>
                      </a:r>
                    </a:p>
                  </a:txBody>
                  <a:tcPr marL="9551" marR="9551" marT="9528" marB="0" anchor="ctr">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6083" name="矩形 397"/>
          <p:cNvSpPr>
            <a:spLocks noGrp="1" noChangeArrowheads="1"/>
          </p:cNvSpPr>
          <p:nvPr>
            <p:ph type="title"/>
          </p:nvPr>
        </p:nvSpPr>
        <p:spPr/>
        <p:txBody>
          <a:bodyPr/>
          <a:lstStyle/>
          <a:p>
            <a:pPr eaLnBrk="1" hangingPunct="1"/>
            <a:r>
              <a:rPr lang="zh-CN" altLang="en-US" dirty="0"/>
              <a:t>仿真实验</a:t>
            </a:r>
          </a:p>
        </p:txBody>
      </p:sp>
      <p:pic>
        <p:nvPicPr>
          <p:cNvPr id="46178" name="Picture 3"/>
          <p:cNvPicPr>
            <a:picLocks noChangeAspect="1" noChangeArrowheads="1"/>
          </p:cNvPicPr>
          <p:nvPr/>
        </p:nvPicPr>
        <p:blipFill>
          <a:blip r:embed="rId2">
            <a:extLst>
              <a:ext uri="{28A0092B-C50C-407E-A947-70E740481C1C}">
                <a14:useLocalDpi xmlns:a14="http://schemas.microsoft.com/office/drawing/2010/main" val="0"/>
              </a:ext>
            </a:extLst>
          </a:blip>
          <a:srcRect l="37350" t="42165" r="26970" b="19183"/>
          <a:stretch>
            <a:fillRect/>
          </a:stretch>
        </p:blipFill>
        <p:spPr bwMode="auto">
          <a:xfrm>
            <a:off x="4643438" y="3959225"/>
            <a:ext cx="4302125" cy="268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179" name="Picture 4"/>
          <p:cNvPicPr>
            <a:picLocks noChangeAspect="1" noChangeArrowheads="1"/>
          </p:cNvPicPr>
          <p:nvPr/>
        </p:nvPicPr>
        <p:blipFill>
          <a:blip r:embed="rId3">
            <a:extLst>
              <a:ext uri="{28A0092B-C50C-407E-A947-70E740481C1C}">
                <a14:useLocalDpi xmlns:a14="http://schemas.microsoft.com/office/drawing/2010/main" val="0"/>
              </a:ext>
            </a:extLst>
          </a:blip>
          <a:srcRect l="41891" t="40433" r="22754" b="21106"/>
          <a:stretch>
            <a:fillRect/>
          </a:stretch>
        </p:blipFill>
        <p:spPr bwMode="auto">
          <a:xfrm>
            <a:off x="250825" y="3959225"/>
            <a:ext cx="4176713" cy="268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2485647"/>
      </p:ext>
    </p:extLst>
  </p:cSld>
  <p:clrMapOvr>
    <a:masterClrMapping/>
  </p:clrMapOvr>
  <p:transition spd="slow">
    <p:circl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矩形 2"/>
          <p:cNvSpPr>
            <a:spLocks noGrp="1" noChangeArrowheads="1"/>
          </p:cNvSpPr>
          <p:nvPr>
            <p:ph type="title"/>
          </p:nvPr>
        </p:nvSpPr>
        <p:spPr/>
        <p:txBody>
          <a:bodyPr/>
          <a:lstStyle/>
          <a:p>
            <a:r>
              <a:rPr lang="zh-CN" altLang="en-US" dirty="0"/>
              <a:t>协同评价与传统评价的关系</a:t>
            </a:r>
          </a:p>
        </p:txBody>
      </p:sp>
      <p:sp>
        <p:nvSpPr>
          <p:cNvPr id="58372" name="矩形 3"/>
          <p:cNvSpPr>
            <a:spLocks noGrp="1" noChangeArrowheads="1"/>
          </p:cNvSpPr>
          <p:nvPr>
            <p:ph type="body" idx="1"/>
          </p:nvPr>
        </p:nvSpPr>
        <p:spPr/>
        <p:txBody>
          <a:bodyPr/>
          <a:lstStyle/>
          <a:p>
            <a:pPr>
              <a:lnSpc>
                <a:spcPct val="200000"/>
              </a:lnSpc>
            </a:pPr>
            <a:r>
              <a:rPr lang="zh-CN" altLang="en-US" sz="2400" dirty="0"/>
              <a:t>本质上有区别</a:t>
            </a:r>
          </a:p>
          <a:p>
            <a:pPr>
              <a:lnSpc>
                <a:spcPct val="200000"/>
              </a:lnSpc>
            </a:pPr>
            <a:r>
              <a:rPr lang="zh-CN" altLang="en-US" sz="2400" dirty="0"/>
              <a:t>相互联系和补充</a:t>
            </a:r>
          </a:p>
          <a:p>
            <a:pPr>
              <a:lnSpc>
                <a:spcPct val="200000"/>
              </a:lnSpc>
            </a:pPr>
            <a:r>
              <a:rPr lang="zh-CN" altLang="en-US" sz="2400" dirty="0"/>
              <a:t>结合使用</a:t>
            </a:r>
          </a:p>
        </p:txBody>
      </p:sp>
      <p:grpSp>
        <p:nvGrpSpPr>
          <p:cNvPr id="58373" name="组合 12"/>
          <p:cNvGrpSpPr>
            <a:grpSpLocks/>
          </p:cNvGrpSpPr>
          <p:nvPr/>
        </p:nvGrpSpPr>
        <p:grpSpPr bwMode="auto">
          <a:xfrm>
            <a:off x="1187450" y="3646488"/>
            <a:ext cx="2736850" cy="1943100"/>
            <a:chOff x="612" y="2115"/>
            <a:chExt cx="1724" cy="1224"/>
          </a:xfrm>
        </p:grpSpPr>
        <p:sp>
          <p:nvSpPr>
            <p:cNvPr id="58377" name="矩形 4"/>
            <p:cNvSpPr>
              <a:spLocks noChangeArrowheads="1"/>
            </p:cNvSpPr>
            <p:nvPr/>
          </p:nvSpPr>
          <p:spPr bwMode="auto">
            <a:xfrm>
              <a:off x="612" y="2115"/>
              <a:ext cx="1724" cy="1224"/>
            </a:xfrm>
            <a:prstGeom prst="rect">
              <a:avLst/>
            </a:prstGeom>
            <a:solidFill>
              <a:schemeClr val="accent1"/>
            </a:solidFill>
            <a:ln w="9525">
              <a:solidFill>
                <a:schemeClr val="tx1"/>
              </a:solidFill>
              <a:miter lim="800000"/>
              <a:headEnd/>
              <a:tailEnd/>
            </a:ln>
          </p:spPr>
          <p:txBody>
            <a:bodyPr wrap="none" anchorCtr="1"/>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0"/>
                </a:spcBef>
                <a:buClrTx/>
                <a:buSzTx/>
                <a:buFontTx/>
                <a:buNone/>
              </a:pPr>
              <a:r>
                <a:rPr lang="zh-CN" altLang="en-US" sz="3200"/>
                <a:t>传统评价</a:t>
              </a:r>
            </a:p>
          </p:txBody>
        </p:sp>
        <p:sp>
          <p:nvSpPr>
            <p:cNvPr id="58378" name="矩形 5"/>
            <p:cNvSpPr>
              <a:spLocks noChangeArrowheads="1"/>
            </p:cNvSpPr>
            <p:nvPr/>
          </p:nvSpPr>
          <p:spPr bwMode="auto">
            <a:xfrm>
              <a:off x="839" y="2614"/>
              <a:ext cx="1270" cy="635"/>
            </a:xfrm>
            <a:prstGeom prst="rect">
              <a:avLst/>
            </a:prstGeom>
            <a:solidFill>
              <a:srgbClr val="FF9900"/>
            </a:solidFill>
            <a:ln w="9525">
              <a:solidFill>
                <a:schemeClr val="tx1"/>
              </a:solidFill>
              <a:miter lim="800000"/>
              <a:headEnd/>
              <a:tailEnd/>
            </a:ln>
          </p:spPr>
          <p:txBody>
            <a:bodyPr wrap="none" anchor="ctr"/>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3200"/>
                <a:t>协同评价</a:t>
              </a:r>
            </a:p>
          </p:txBody>
        </p:sp>
      </p:grpSp>
      <p:grpSp>
        <p:nvGrpSpPr>
          <p:cNvPr id="58374" name="组合 9"/>
          <p:cNvGrpSpPr>
            <a:grpSpLocks/>
          </p:cNvGrpSpPr>
          <p:nvPr/>
        </p:nvGrpSpPr>
        <p:grpSpPr bwMode="auto">
          <a:xfrm>
            <a:off x="5076825" y="3644900"/>
            <a:ext cx="2736850" cy="1943100"/>
            <a:chOff x="612" y="2115"/>
            <a:chExt cx="1724" cy="1224"/>
          </a:xfrm>
        </p:grpSpPr>
        <p:sp>
          <p:nvSpPr>
            <p:cNvPr id="58375" name="矩形 10"/>
            <p:cNvSpPr>
              <a:spLocks noChangeArrowheads="1"/>
            </p:cNvSpPr>
            <p:nvPr/>
          </p:nvSpPr>
          <p:spPr bwMode="auto">
            <a:xfrm>
              <a:off x="612" y="2115"/>
              <a:ext cx="1724" cy="1224"/>
            </a:xfrm>
            <a:prstGeom prst="rect">
              <a:avLst/>
            </a:prstGeom>
            <a:solidFill>
              <a:schemeClr val="accent1"/>
            </a:solidFill>
            <a:ln w="9525">
              <a:solidFill>
                <a:schemeClr val="tx1"/>
              </a:solidFill>
              <a:miter lim="800000"/>
              <a:headEnd/>
              <a:tailEnd/>
            </a:ln>
          </p:spPr>
          <p:txBody>
            <a:bodyPr wrap="none" anchorCtr="1"/>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0"/>
                </a:spcBef>
                <a:buClrTx/>
                <a:buSzTx/>
                <a:buFontTx/>
                <a:buNone/>
              </a:pPr>
              <a:r>
                <a:rPr lang="zh-CN" altLang="en-US" sz="3200"/>
                <a:t>协同评价</a:t>
              </a:r>
            </a:p>
          </p:txBody>
        </p:sp>
        <p:sp>
          <p:nvSpPr>
            <p:cNvPr id="58376" name="矩形 11"/>
            <p:cNvSpPr>
              <a:spLocks noChangeArrowheads="1"/>
            </p:cNvSpPr>
            <p:nvPr/>
          </p:nvSpPr>
          <p:spPr bwMode="auto">
            <a:xfrm>
              <a:off x="839" y="2614"/>
              <a:ext cx="1270" cy="635"/>
            </a:xfrm>
            <a:prstGeom prst="rect">
              <a:avLst/>
            </a:prstGeom>
            <a:solidFill>
              <a:srgbClr val="FF9900"/>
            </a:solidFill>
            <a:ln w="9525">
              <a:solidFill>
                <a:schemeClr val="tx1"/>
              </a:solidFill>
              <a:miter lim="800000"/>
              <a:headEnd/>
              <a:tailEnd/>
            </a:ln>
          </p:spPr>
          <p:txBody>
            <a:bodyPr wrap="none" anchor="ctr"/>
            <a:lstStyle>
              <a:lvl1pPr>
                <a:spcBef>
                  <a:spcPct val="20000"/>
                </a:spcBef>
                <a:buClr>
                  <a:srgbClr val="2D7693"/>
                </a:buClr>
                <a:buSzPct val="70000"/>
                <a:buFont typeface="Wingdings" panose="05000000000000000000" pitchFamily="2" charset="2"/>
                <a:buChar char="n"/>
                <a:defRPr sz="26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FC3A4C"/>
                </a:buClr>
                <a:buSzPct val="70000"/>
                <a:buFont typeface="Wingdings" panose="05000000000000000000" pitchFamily="2" charset="2"/>
                <a:buChar char="Ø"/>
                <a:defRPr sz="22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SzPct val="70000"/>
                <a:buFont typeface="Wingdings" panose="05000000000000000000" pitchFamily="2" charset="2"/>
                <a:buChar char="l"/>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p"/>
                <a:defRPr b="1">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3200"/>
                <a:t>传统评价</a:t>
              </a:r>
            </a:p>
          </p:txBody>
        </p:sp>
      </p:grpSp>
    </p:spTree>
    <p:extLst>
      <p:ext uri="{BB962C8B-B14F-4D97-AF65-F5344CB8AC3E}">
        <p14:creationId xmlns:p14="http://schemas.microsoft.com/office/powerpoint/2010/main" val="1847390691"/>
      </p:ext>
    </p:extLst>
  </p:cSld>
  <p:clrMapOvr>
    <a:masterClrMapping/>
  </p:clrMapOvr>
  <p:transition spd="slow">
    <p:circl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407936" y="2937718"/>
            <a:ext cx="8208912" cy="923330"/>
          </a:xfrm>
          <a:prstGeom prst="rect">
            <a:avLst/>
          </a:prstGeom>
          <a:noFill/>
        </p:spPr>
        <p:txBody>
          <a:bodyPr wrap="square" rtlCol="0">
            <a:spAutoFit/>
          </a:bodyPr>
          <a:lstStyle/>
          <a:p>
            <a:pPr algn="ctr"/>
            <a:r>
              <a:rPr lang="en-US" altLang="zh-CN" sz="5400" b="0" dirty="0">
                <a:solidFill>
                  <a:srgbClr val="FF0000"/>
                </a:solidFill>
                <a:latin typeface="微软雅黑" panose="020B0503020204020204" pitchFamily="34" charset="-122"/>
                <a:ea typeface="微软雅黑" panose="020B0503020204020204" pitchFamily="34" charset="-122"/>
              </a:rPr>
              <a:t>4. </a:t>
            </a:r>
            <a:r>
              <a:rPr lang="en-US" altLang="zh-CN" sz="4800" b="0" dirty="0">
                <a:solidFill>
                  <a:srgbClr val="FF0000"/>
                </a:solidFill>
                <a:latin typeface="微软雅黑" panose="020B0503020204020204" pitchFamily="34" charset="-122"/>
                <a:ea typeface="微软雅黑" panose="020B0503020204020204" pitchFamily="34" charset="-122"/>
              </a:rPr>
              <a:t>Human Computation</a:t>
            </a:r>
            <a:endParaRPr lang="zh-CN" altLang="en-US" sz="5400" b="0" dirty="0">
              <a:solidFill>
                <a:srgbClr val="FF0000"/>
              </a:solidFill>
              <a:latin typeface="微软雅黑" panose="020B0503020204020204" pitchFamily="34" charset="-122"/>
              <a:ea typeface="微软雅黑" panose="020B0503020204020204" pitchFamily="34" charset="-122"/>
            </a:endParaRPr>
          </a:p>
        </p:txBody>
      </p:sp>
      <p:sp>
        <p:nvSpPr>
          <p:cNvPr id="6" name="Freeform 14">
            <a:extLst>
              <a:ext uri="{FF2B5EF4-FFF2-40B4-BE49-F238E27FC236}">
                <a16:creationId xmlns:a16="http://schemas.microsoft.com/office/drawing/2014/main" id="{B602F2C2-90ED-4AB6-9B44-1F7F2F037278}"/>
              </a:ext>
            </a:extLst>
          </p:cNvPr>
          <p:cNvSpPr/>
          <p:nvPr/>
        </p:nvSpPr>
        <p:spPr>
          <a:xfrm>
            <a:off x="4053105" y="1407496"/>
            <a:ext cx="1108861" cy="1039289"/>
          </a:xfrm>
          <a:custGeom>
            <a:avLst/>
            <a:gdLst>
              <a:gd name="connsiteX0" fmla="*/ 388426 w 607282"/>
              <a:gd name="connsiteY0" fmla="*/ 385710 h 569180"/>
              <a:gd name="connsiteX1" fmla="*/ 431276 w 607282"/>
              <a:gd name="connsiteY1" fmla="*/ 385710 h 569180"/>
              <a:gd name="connsiteX2" fmla="*/ 431276 w 607282"/>
              <a:gd name="connsiteY2" fmla="*/ 438433 h 569180"/>
              <a:gd name="connsiteX3" fmla="*/ 522771 w 607282"/>
              <a:gd name="connsiteY3" fmla="*/ 529738 h 569180"/>
              <a:gd name="connsiteX4" fmla="*/ 522771 w 607282"/>
              <a:gd name="connsiteY4" fmla="*/ 559964 h 569180"/>
              <a:gd name="connsiteX5" fmla="*/ 492483 w 607282"/>
              <a:gd name="connsiteY5" fmla="*/ 559964 h 569180"/>
              <a:gd name="connsiteX6" fmla="*/ 431276 w 607282"/>
              <a:gd name="connsiteY6" fmla="*/ 498941 h 569180"/>
              <a:gd name="connsiteX7" fmla="*/ 431276 w 607282"/>
              <a:gd name="connsiteY7" fmla="*/ 547771 h 569180"/>
              <a:gd name="connsiteX8" fmla="*/ 409822 w 607282"/>
              <a:gd name="connsiteY8" fmla="*/ 569180 h 569180"/>
              <a:gd name="connsiteX9" fmla="*/ 388426 w 607282"/>
              <a:gd name="connsiteY9" fmla="*/ 547771 h 569180"/>
              <a:gd name="connsiteX10" fmla="*/ 388426 w 607282"/>
              <a:gd name="connsiteY10" fmla="*/ 498941 h 569180"/>
              <a:gd name="connsiteX11" fmla="*/ 327276 w 607282"/>
              <a:gd name="connsiteY11" fmla="*/ 559964 h 569180"/>
              <a:gd name="connsiteX12" fmla="*/ 296988 w 607282"/>
              <a:gd name="connsiteY12" fmla="*/ 559964 h 569180"/>
              <a:gd name="connsiteX13" fmla="*/ 296988 w 607282"/>
              <a:gd name="connsiteY13" fmla="*/ 529738 h 569180"/>
              <a:gd name="connsiteX14" fmla="*/ 296931 w 607282"/>
              <a:gd name="connsiteY14" fmla="*/ 529738 h 569180"/>
              <a:gd name="connsiteX15" fmla="*/ 388426 w 607282"/>
              <a:gd name="connsiteY15" fmla="*/ 438433 h 569180"/>
              <a:gd name="connsiteX16" fmla="*/ 388426 w 607282"/>
              <a:gd name="connsiteY16" fmla="*/ 434597 h 569180"/>
              <a:gd name="connsiteX17" fmla="*/ 38140 w 607282"/>
              <a:gd name="connsiteY17" fmla="*/ 145929 h 569180"/>
              <a:gd name="connsiteX18" fmla="*/ 38255 w 607282"/>
              <a:gd name="connsiteY18" fmla="*/ 145929 h 569180"/>
              <a:gd name="connsiteX19" fmla="*/ 66358 w 607282"/>
              <a:gd name="connsiteY19" fmla="*/ 145929 h 569180"/>
              <a:gd name="connsiteX20" fmla="*/ 68767 w 607282"/>
              <a:gd name="connsiteY20" fmla="*/ 161160 h 569180"/>
              <a:gd name="connsiteX21" fmla="*/ 76453 w 607282"/>
              <a:gd name="connsiteY21" fmla="*/ 208857 h 569180"/>
              <a:gd name="connsiteX22" fmla="*/ 82589 w 607282"/>
              <a:gd name="connsiteY22" fmla="*/ 246763 h 569180"/>
              <a:gd name="connsiteX23" fmla="*/ 92684 w 607282"/>
              <a:gd name="connsiteY23" fmla="*/ 246763 h 569180"/>
              <a:gd name="connsiteX24" fmla="*/ 99222 w 607282"/>
              <a:gd name="connsiteY24" fmla="*/ 172898 h 569180"/>
              <a:gd name="connsiteX25" fmla="*/ 91594 w 607282"/>
              <a:gd name="connsiteY25" fmla="*/ 145929 h 569180"/>
              <a:gd name="connsiteX26" fmla="*/ 136502 w 607282"/>
              <a:gd name="connsiteY26" fmla="*/ 145929 h 569180"/>
              <a:gd name="connsiteX27" fmla="*/ 128874 w 607282"/>
              <a:gd name="connsiteY27" fmla="*/ 172898 h 569180"/>
              <a:gd name="connsiteX28" fmla="*/ 135355 w 607282"/>
              <a:gd name="connsiteY28" fmla="*/ 246763 h 569180"/>
              <a:gd name="connsiteX29" fmla="*/ 145507 w 607282"/>
              <a:gd name="connsiteY29" fmla="*/ 246763 h 569180"/>
              <a:gd name="connsiteX30" fmla="*/ 153192 w 607282"/>
              <a:gd name="connsiteY30" fmla="*/ 198780 h 569180"/>
              <a:gd name="connsiteX31" fmla="*/ 161738 w 607282"/>
              <a:gd name="connsiteY31" fmla="*/ 145929 h 569180"/>
              <a:gd name="connsiteX32" fmla="*/ 336094 w 607282"/>
              <a:gd name="connsiteY32" fmla="*/ 145929 h 569180"/>
              <a:gd name="connsiteX33" fmla="*/ 374349 w 607282"/>
              <a:gd name="connsiteY33" fmla="*/ 184121 h 569180"/>
              <a:gd name="connsiteX34" fmla="*/ 336094 w 607282"/>
              <a:gd name="connsiteY34" fmla="*/ 222256 h 569180"/>
              <a:gd name="connsiteX35" fmla="*/ 189841 w 607282"/>
              <a:gd name="connsiteY35" fmla="*/ 222256 h 569180"/>
              <a:gd name="connsiteX36" fmla="*/ 189841 w 607282"/>
              <a:gd name="connsiteY36" fmla="*/ 298011 h 569180"/>
              <a:gd name="connsiteX37" fmla="*/ 189841 w 607282"/>
              <a:gd name="connsiteY37" fmla="*/ 365807 h 569180"/>
              <a:gd name="connsiteX38" fmla="*/ 189841 w 607282"/>
              <a:gd name="connsiteY38" fmla="*/ 528081 h 569180"/>
              <a:gd name="connsiteX39" fmla="*/ 151586 w 607282"/>
              <a:gd name="connsiteY39" fmla="*/ 566216 h 569180"/>
              <a:gd name="connsiteX40" fmla="*/ 114019 w 607282"/>
              <a:gd name="connsiteY40" fmla="*/ 535239 h 569180"/>
              <a:gd name="connsiteX41" fmla="*/ 76453 w 607282"/>
              <a:gd name="connsiteY41" fmla="*/ 566216 h 569180"/>
              <a:gd name="connsiteX42" fmla="*/ 38255 w 607282"/>
              <a:gd name="connsiteY42" fmla="*/ 528081 h 569180"/>
              <a:gd name="connsiteX43" fmla="*/ 38255 w 607282"/>
              <a:gd name="connsiteY43" fmla="*/ 384874 h 569180"/>
              <a:gd name="connsiteX44" fmla="*/ 0 w 607282"/>
              <a:gd name="connsiteY44" fmla="*/ 346739 h 569180"/>
              <a:gd name="connsiteX45" fmla="*/ 0 w 607282"/>
              <a:gd name="connsiteY45" fmla="*/ 184121 h 569180"/>
              <a:gd name="connsiteX46" fmla="*/ 38140 w 607282"/>
              <a:gd name="connsiteY46" fmla="*/ 145929 h 569180"/>
              <a:gd name="connsiteX47" fmla="*/ 545532 w 607282"/>
              <a:gd name="connsiteY47" fmla="*/ 89195 h 569180"/>
              <a:gd name="connsiteX48" fmla="*/ 587343 w 607282"/>
              <a:gd name="connsiteY48" fmla="*/ 89195 h 569180"/>
              <a:gd name="connsiteX49" fmla="*/ 587343 w 607282"/>
              <a:gd name="connsiteY49" fmla="*/ 124061 h 569180"/>
              <a:gd name="connsiteX50" fmla="*/ 587228 w 607282"/>
              <a:gd name="connsiteY50" fmla="*/ 124061 h 569180"/>
              <a:gd name="connsiteX51" fmla="*/ 587343 w 607282"/>
              <a:gd name="connsiteY51" fmla="*/ 324787 h 569180"/>
              <a:gd name="connsiteX52" fmla="*/ 541403 w 607282"/>
              <a:gd name="connsiteY52" fmla="*/ 370989 h 569180"/>
              <a:gd name="connsiteX53" fmla="*/ 278325 w 607282"/>
              <a:gd name="connsiteY53" fmla="*/ 370531 h 569180"/>
              <a:gd name="connsiteX54" fmla="*/ 233131 w 607282"/>
              <a:gd name="connsiteY54" fmla="*/ 331027 h 569180"/>
              <a:gd name="connsiteX55" fmla="*/ 232729 w 607282"/>
              <a:gd name="connsiteY55" fmla="*/ 233012 h 569180"/>
              <a:gd name="connsiteX56" fmla="*/ 272475 w 607282"/>
              <a:gd name="connsiteY56" fmla="*/ 233012 h 569180"/>
              <a:gd name="connsiteX57" fmla="*/ 272475 w 607282"/>
              <a:gd name="connsiteY57" fmla="*/ 330340 h 569180"/>
              <a:gd name="connsiteX58" fmla="*/ 545532 w 607282"/>
              <a:gd name="connsiteY58" fmla="*/ 329997 h 569180"/>
              <a:gd name="connsiteX59" fmla="*/ 545532 w 607282"/>
              <a:gd name="connsiteY59" fmla="*/ 124061 h 569180"/>
              <a:gd name="connsiteX60" fmla="*/ 231948 w 607282"/>
              <a:gd name="connsiteY60" fmla="*/ 89124 h 569180"/>
              <a:gd name="connsiteX61" fmla="*/ 273793 w 607282"/>
              <a:gd name="connsiteY61" fmla="*/ 89124 h 569180"/>
              <a:gd name="connsiteX62" fmla="*/ 273793 w 607282"/>
              <a:gd name="connsiteY62" fmla="*/ 135062 h 569180"/>
              <a:gd name="connsiteX63" fmla="*/ 272240 w 607282"/>
              <a:gd name="connsiteY63" fmla="*/ 135062 h 569180"/>
              <a:gd name="connsiteX64" fmla="*/ 233571 w 607282"/>
              <a:gd name="connsiteY64" fmla="*/ 135062 h 569180"/>
              <a:gd name="connsiteX65" fmla="*/ 231948 w 607282"/>
              <a:gd name="connsiteY65" fmla="*/ 135062 h 569180"/>
              <a:gd name="connsiteX66" fmla="*/ 409822 w 607282"/>
              <a:gd name="connsiteY66" fmla="*/ 10232 h 569180"/>
              <a:gd name="connsiteX67" fmla="*/ 437925 w 607282"/>
              <a:gd name="connsiteY67" fmla="*/ 35771 h 569180"/>
              <a:gd name="connsiteX68" fmla="*/ 447503 w 607282"/>
              <a:gd name="connsiteY68" fmla="*/ 35771 h 569180"/>
              <a:gd name="connsiteX69" fmla="*/ 578958 w 607282"/>
              <a:gd name="connsiteY69" fmla="*/ 35828 h 569180"/>
              <a:gd name="connsiteX70" fmla="*/ 593009 w 607282"/>
              <a:gd name="connsiteY70" fmla="*/ 37031 h 569180"/>
              <a:gd name="connsiteX71" fmla="*/ 607233 w 607282"/>
              <a:gd name="connsiteY71" fmla="*/ 57874 h 569180"/>
              <a:gd name="connsiteX72" fmla="*/ 587159 w 607282"/>
              <a:gd name="connsiteY72" fmla="*/ 76828 h 569180"/>
              <a:gd name="connsiteX73" fmla="*/ 579244 w 607282"/>
              <a:gd name="connsiteY73" fmla="*/ 76885 h 569180"/>
              <a:gd name="connsiteX74" fmla="*/ 241776 w 607282"/>
              <a:gd name="connsiteY74" fmla="*/ 76885 h 569180"/>
              <a:gd name="connsiteX75" fmla="*/ 233861 w 607282"/>
              <a:gd name="connsiteY75" fmla="*/ 76828 h 569180"/>
              <a:gd name="connsiteX76" fmla="*/ 212984 w 607282"/>
              <a:gd name="connsiteY76" fmla="*/ 56672 h 569180"/>
              <a:gd name="connsiteX77" fmla="*/ 233287 w 607282"/>
              <a:gd name="connsiteY77" fmla="*/ 35943 h 569180"/>
              <a:gd name="connsiteX78" fmla="*/ 244357 w 607282"/>
              <a:gd name="connsiteY78" fmla="*/ 35771 h 569180"/>
              <a:gd name="connsiteX79" fmla="*/ 371108 w 607282"/>
              <a:gd name="connsiteY79" fmla="*/ 35771 h 569180"/>
              <a:gd name="connsiteX80" fmla="*/ 381661 w 607282"/>
              <a:gd name="connsiteY80" fmla="*/ 35771 h 569180"/>
              <a:gd name="connsiteX81" fmla="*/ 409822 w 607282"/>
              <a:gd name="connsiteY81" fmla="*/ 10232 h 569180"/>
              <a:gd name="connsiteX82" fmla="*/ 114034 w 607282"/>
              <a:gd name="connsiteY82" fmla="*/ 0 h 569180"/>
              <a:gd name="connsiteX83" fmla="*/ 182130 w 607282"/>
              <a:gd name="connsiteY83" fmla="*/ 67990 h 569180"/>
              <a:gd name="connsiteX84" fmla="*/ 114034 w 607282"/>
              <a:gd name="connsiteY84" fmla="*/ 135980 h 569180"/>
              <a:gd name="connsiteX85" fmla="*/ 45938 w 607282"/>
              <a:gd name="connsiteY85" fmla="*/ 67990 h 569180"/>
              <a:gd name="connsiteX86" fmla="*/ 114034 w 607282"/>
              <a:gd name="connsiteY86" fmla="*/ 0 h 5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7282" h="569180">
                <a:moveTo>
                  <a:pt x="388426" y="385710"/>
                </a:moveTo>
                <a:lnTo>
                  <a:pt x="431276" y="385710"/>
                </a:lnTo>
                <a:lnTo>
                  <a:pt x="431276" y="438433"/>
                </a:lnTo>
                <a:lnTo>
                  <a:pt x="522771" y="529738"/>
                </a:lnTo>
                <a:cubicBezTo>
                  <a:pt x="531146" y="538096"/>
                  <a:pt x="531146" y="551606"/>
                  <a:pt x="522771" y="559964"/>
                </a:cubicBezTo>
                <a:cubicBezTo>
                  <a:pt x="514396" y="568321"/>
                  <a:pt x="500858" y="568321"/>
                  <a:pt x="492483" y="559964"/>
                </a:cubicBezTo>
                <a:lnTo>
                  <a:pt x="431276" y="498941"/>
                </a:lnTo>
                <a:lnTo>
                  <a:pt x="431276" y="547771"/>
                </a:lnTo>
                <a:cubicBezTo>
                  <a:pt x="431276" y="559563"/>
                  <a:pt x="421697" y="569180"/>
                  <a:pt x="409822" y="569180"/>
                </a:cubicBezTo>
                <a:cubicBezTo>
                  <a:pt x="398005" y="569180"/>
                  <a:pt x="388426" y="559563"/>
                  <a:pt x="388426" y="547771"/>
                </a:cubicBezTo>
                <a:lnTo>
                  <a:pt x="388426" y="498941"/>
                </a:lnTo>
                <a:lnTo>
                  <a:pt x="327276" y="559964"/>
                </a:lnTo>
                <a:cubicBezTo>
                  <a:pt x="318901" y="568321"/>
                  <a:pt x="305306" y="568321"/>
                  <a:pt x="296988" y="559964"/>
                </a:cubicBezTo>
                <a:cubicBezTo>
                  <a:pt x="288613" y="551606"/>
                  <a:pt x="288613" y="538096"/>
                  <a:pt x="296988" y="529738"/>
                </a:cubicBezTo>
                <a:lnTo>
                  <a:pt x="296931" y="529738"/>
                </a:lnTo>
                <a:lnTo>
                  <a:pt x="388426" y="438433"/>
                </a:lnTo>
                <a:lnTo>
                  <a:pt x="388426" y="434597"/>
                </a:lnTo>
                <a:close/>
                <a:moveTo>
                  <a:pt x="38140" y="145929"/>
                </a:moveTo>
                <a:lnTo>
                  <a:pt x="38255" y="145929"/>
                </a:lnTo>
                <a:lnTo>
                  <a:pt x="66358" y="145929"/>
                </a:lnTo>
                <a:lnTo>
                  <a:pt x="68767" y="161160"/>
                </a:lnTo>
                <a:lnTo>
                  <a:pt x="76453" y="208857"/>
                </a:lnTo>
                <a:lnTo>
                  <a:pt x="82589" y="246763"/>
                </a:lnTo>
                <a:lnTo>
                  <a:pt x="92684" y="246763"/>
                </a:lnTo>
                <a:lnTo>
                  <a:pt x="99222" y="172898"/>
                </a:lnTo>
                <a:lnTo>
                  <a:pt x="91594" y="145929"/>
                </a:lnTo>
                <a:lnTo>
                  <a:pt x="136502" y="145929"/>
                </a:lnTo>
                <a:lnTo>
                  <a:pt x="128874" y="172898"/>
                </a:lnTo>
                <a:lnTo>
                  <a:pt x="135355" y="246763"/>
                </a:lnTo>
                <a:lnTo>
                  <a:pt x="145507" y="246763"/>
                </a:lnTo>
                <a:lnTo>
                  <a:pt x="153192" y="198780"/>
                </a:lnTo>
                <a:lnTo>
                  <a:pt x="161738" y="145929"/>
                </a:lnTo>
                <a:lnTo>
                  <a:pt x="336094" y="145929"/>
                </a:lnTo>
                <a:cubicBezTo>
                  <a:pt x="357200" y="145929"/>
                  <a:pt x="374349" y="162992"/>
                  <a:pt x="374349" y="184121"/>
                </a:cubicBezTo>
                <a:cubicBezTo>
                  <a:pt x="374349" y="205193"/>
                  <a:pt x="357200" y="222256"/>
                  <a:pt x="336094" y="222256"/>
                </a:cubicBezTo>
                <a:lnTo>
                  <a:pt x="189841" y="222256"/>
                </a:lnTo>
                <a:lnTo>
                  <a:pt x="189841" y="298011"/>
                </a:lnTo>
                <a:lnTo>
                  <a:pt x="189841" y="365807"/>
                </a:lnTo>
                <a:lnTo>
                  <a:pt x="189841" y="528081"/>
                </a:lnTo>
                <a:cubicBezTo>
                  <a:pt x="189841" y="549153"/>
                  <a:pt x="172692" y="566216"/>
                  <a:pt x="151586" y="566216"/>
                </a:cubicBezTo>
                <a:cubicBezTo>
                  <a:pt x="132889" y="566216"/>
                  <a:pt x="117403" y="552875"/>
                  <a:pt x="114019" y="535239"/>
                </a:cubicBezTo>
                <a:cubicBezTo>
                  <a:pt x="110693" y="552875"/>
                  <a:pt x="95150" y="566216"/>
                  <a:pt x="76453" y="566216"/>
                </a:cubicBezTo>
                <a:cubicBezTo>
                  <a:pt x="55346" y="566216"/>
                  <a:pt x="38255" y="549153"/>
                  <a:pt x="38255" y="528081"/>
                </a:cubicBezTo>
                <a:lnTo>
                  <a:pt x="38255" y="384874"/>
                </a:lnTo>
                <a:cubicBezTo>
                  <a:pt x="17091" y="384874"/>
                  <a:pt x="0" y="367811"/>
                  <a:pt x="0" y="346739"/>
                </a:cubicBezTo>
                <a:lnTo>
                  <a:pt x="0" y="184121"/>
                </a:lnTo>
                <a:cubicBezTo>
                  <a:pt x="0" y="163050"/>
                  <a:pt x="17091" y="145986"/>
                  <a:pt x="38140" y="145929"/>
                </a:cubicBezTo>
                <a:close/>
                <a:moveTo>
                  <a:pt x="545532" y="89195"/>
                </a:moveTo>
                <a:lnTo>
                  <a:pt x="587343" y="89195"/>
                </a:lnTo>
                <a:lnTo>
                  <a:pt x="587343" y="124061"/>
                </a:lnTo>
                <a:lnTo>
                  <a:pt x="587228" y="124061"/>
                </a:lnTo>
                <a:cubicBezTo>
                  <a:pt x="587228" y="190989"/>
                  <a:pt x="587056" y="257859"/>
                  <a:pt x="587343" y="324787"/>
                </a:cubicBezTo>
                <a:cubicBezTo>
                  <a:pt x="587457" y="352669"/>
                  <a:pt x="567498" y="371104"/>
                  <a:pt x="541403" y="370989"/>
                </a:cubicBezTo>
                <a:cubicBezTo>
                  <a:pt x="453710" y="370646"/>
                  <a:pt x="366018" y="370703"/>
                  <a:pt x="278325" y="370531"/>
                </a:cubicBezTo>
                <a:cubicBezTo>
                  <a:pt x="255441" y="370474"/>
                  <a:pt x="234278" y="353527"/>
                  <a:pt x="233131" y="331027"/>
                </a:cubicBezTo>
                <a:cubicBezTo>
                  <a:pt x="231525" y="299024"/>
                  <a:pt x="232729" y="266905"/>
                  <a:pt x="232729" y="233012"/>
                </a:cubicBezTo>
                <a:lnTo>
                  <a:pt x="272475" y="233012"/>
                </a:lnTo>
                <a:lnTo>
                  <a:pt x="272475" y="330340"/>
                </a:lnTo>
                <a:cubicBezTo>
                  <a:pt x="364010" y="330512"/>
                  <a:pt x="453997" y="330398"/>
                  <a:pt x="545532" y="329997"/>
                </a:cubicBezTo>
                <a:lnTo>
                  <a:pt x="545532" y="124061"/>
                </a:lnTo>
                <a:close/>
                <a:moveTo>
                  <a:pt x="231948" y="89124"/>
                </a:moveTo>
                <a:lnTo>
                  <a:pt x="273793" y="89124"/>
                </a:lnTo>
                <a:lnTo>
                  <a:pt x="273793" y="135062"/>
                </a:lnTo>
                <a:lnTo>
                  <a:pt x="272240" y="135062"/>
                </a:lnTo>
                <a:lnTo>
                  <a:pt x="233571" y="135062"/>
                </a:lnTo>
                <a:lnTo>
                  <a:pt x="231948" y="135062"/>
                </a:lnTo>
                <a:close/>
                <a:moveTo>
                  <a:pt x="409822" y="10232"/>
                </a:moveTo>
                <a:cubicBezTo>
                  <a:pt x="424505" y="10232"/>
                  <a:pt x="436606" y="21455"/>
                  <a:pt x="437925" y="35771"/>
                </a:cubicBezTo>
                <a:lnTo>
                  <a:pt x="447503" y="35771"/>
                </a:lnTo>
                <a:cubicBezTo>
                  <a:pt x="491321" y="35771"/>
                  <a:pt x="535140" y="35771"/>
                  <a:pt x="578958" y="35828"/>
                </a:cubicBezTo>
                <a:cubicBezTo>
                  <a:pt x="583661" y="35828"/>
                  <a:pt x="588650" y="35599"/>
                  <a:pt x="593009" y="37031"/>
                </a:cubicBezTo>
                <a:cubicBezTo>
                  <a:pt x="601326" y="39665"/>
                  <a:pt x="607921" y="50144"/>
                  <a:pt x="607233" y="57874"/>
                </a:cubicBezTo>
                <a:cubicBezTo>
                  <a:pt x="606315" y="67380"/>
                  <a:pt x="597368" y="75912"/>
                  <a:pt x="587159" y="76828"/>
                </a:cubicBezTo>
                <a:cubicBezTo>
                  <a:pt x="584521" y="77057"/>
                  <a:pt x="581883" y="76885"/>
                  <a:pt x="579244" y="76885"/>
                </a:cubicBezTo>
                <a:cubicBezTo>
                  <a:pt x="466774" y="76885"/>
                  <a:pt x="354304" y="76885"/>
                  <a:pt x="241776" y="76885"/>
                </a:cubicBezTo>
                <a:cubicBezTo>
                  <a:pt x="239137" y="76885"/>
                  <a:pt x="236499" y="77057"/>
                  <a:pt x="233861" y="76828"/>
                </a:cubicBezTo>
                <a:cubicBezTo>
                  <a:pt x="223078" y="75740"/>
                  <a:pt x="213156" y="66120"/>
                  <a:pt x="212984" y="56672"/>
                </a:cubicBezTo>
                <a:cubicBezTo>
                  <a:pt x="212755" y="47166"/>
                  <a:pt x="222448" y="37088"/>
                  <a:pt x="233287" y="35943"/>
                </a:cubicBezTo>
                <a:cubicBezTo>
                  <a:pt x="236958" y="35542"/>
                  <a:pt x="240686" y="35771"/>
                  <a:pt x="244357" y="35771"/>
                </a:cubicBezTo>
                <a:cubicBezTo>
                  <a:pt x="286626" y="35771"/>
                  <a:pt x="328839" y="35771"/>
                  <a:pt x="371108" y="35771"/>
                </a:cubicBezTo>
                <a:lnTo>
                  <a:pt x="381661" y="35771"/>
                </a:lnTo>
                <a:cubicBezTo>
                  <a:pt x="382981" y="21455"/>
                  <a:pt x="395082" y="10232"/>
                  <a:pt x="409822" y="10232"/>
                </a:cubicBezTo>
                <a:close/>
                <a:moveTo>
                  <a:pt x="114034" y="0"/>
                </a:moveTo>
                <a:cubicBezTo>
                  <a:pt x="151642" y="0"/>
                  <a:pt x="182130" y="30440"/>
                  <a:pt x="182130" y="67990"/>
                </a:cubicBezTo>
                <a:cubicBezTo>
                  <a:pt x="182130" y="105540"/>
                  <a:pt x="151642" y="135980"/>
                  <a:pt x="114034" y="135980"/>
                </a:cubicBezTo>
                <a:cubicBezTo>
                  <a:pt x="76426" y="135980"/>
                  <a:pt x="45938" y="105540"/>
                  <a:pt x="45938" y="67990"/>
                </a:cubicBezTo>
                <a:cubicBezTo>
                  <a:pt x="45938" y="30440"/>
                  <a:pt x="76426" y="0"/>
                  <a:pt x="114034" y="0"/>
                </a:cubicBezTo>
                <a:close/>
              </a:path>
            </a:pathLst>
          </a:custGeom>
          <a:solidFill>
            <a:srgbClr val="3F3B3A"/>
          </a:solidFill>
          <a:ln w="12700" cap="flat">
            <a:noFill/>
            <a:miter lim="400000"/>
          </a:ln>
          <a:effectLst/>
        </p:spPr>
        <p:txBody>
          <a:bodyPr wrap="square" lIns="91439" tIns="91439" rIns="91439" bIns="91439"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latin typeface="思源黑体 CN Medium" panose="020B0600000000000000" pitchFamily="34" charset="-122"/>
              <a:ea typeface="思源黑体 CN Medium" panose="020B0600000000000000" pitchFamily="34" charset="-122"/>
            </a:endParaRP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6228184" y="260648"/>
            <a:ext cx="2660986" cy="610982"/>
          </a:xfrm>
          <a:prstGeom prst="rect">
            <a:avLst/>
          </a:prstGeom>
        </p:spPr>
      </p:pic>
    </p:spTree>
    <p:extLst>
      <p:ext uri="{BB962C8B-B14F-4D97-AF65-F5344CB8AC3E}">
        <p14:creationId xmlns:p14="http://schemas.microsoft.com/office/powerpoint/2010/main" val="1134621064"/>
      </p:ext>
    </p:extLst>
  </p:cSld>
  <p:clrMapOvr>
    <a:masterClrMapping/>
  </p:clrMapOvr>
  <p:transition spd="slow">
    <p:circl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en-GB" altLang="zh-CN"/>
              <a:t>Work or Play ?</a:t>
            </a:r>
            <a:endParaRPr lang="zh-CN" altLang="en-US"/>
          </a:p>
        </p:txBody>
      </p:sp>
      <p:pic>
        <p:nvPicPr>
          <p:cNvPr id="67588"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268413"/>
            <a:ext cx="7600950"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1196975"/>
            <a:ext cx="7273925" cy="547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2480969"/>
      </p:ext>
    </p:extLst>
  </p:cSld>
  <p:clrMapOvr>
    <a:masterClrMapping/>
  </p:clrMapOvr>
  <p:transition spd="slow">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7042"/>
                                        </p:tgtEl>
                                        <p:attrNameLst>
                                          <p:attrName>style.visibility</p:attrName>
                                        </p:attrNameLst>
                                      </p:cBhvr>
                                      <p:to>
                                        <p:strVal val="visible"/>
                                      </p:to>
                                    </p:set>
                                    <p:anim calcmode="lin" valueType="num">
                                      <p:cBhvr additive="base">
                                        <p:cTn id="7" dur="500" fill="hold"/>
                                        <p:tgtEl>
                                          <p:spTgt spid="87042"/>
                                        </p:tgtEl>
                                        <p:attrNameLst>
                                          <p:attrName>ppt_x</p:attrName>
                                        </p:attrNameLst>
                                      </p:cBhvr>
                                      <p:tavLst>
                                        <p:tav tm="0">
                                          <p:val>
                                            <p:strVal val="#ppt_x"/>
                                          </p:val>
                                        </p:tav>
                                        <p:tav tm="100000">
                                          <p:val>
                                            <p:strVal val="#ppt_x"/>
                                          </p:val>
                                        </p:tav>
                                      </p:tavLst>
                                    </p:anim>
                                    <p:anim calcmode="lin" valueType="num">
                                      <p:cBhvr additive="base">
                                        <p:cTn id="8" dur="500" fill="hold"/>
                                        <p:tgtEl>
                                          <p:spTgt spid="870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r>
              <a:rPr lang="en-GB" altLang="zh-CN" dirty="0" err="1"/>
              <a:t>reCAPTCHA</a:t>
            </a:r>
            <a:endParaRPr lang="zh-CN" altLang="en-US" dirty="0"/>
          </a:p>
        </p:txBody>
      </p:sp>
      <p:pic>
        <p:nvPicPr>
          <p:cNvPr id="71685"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239192"/>
            <a:ext cx="8208911" cy="5142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895078"/>
      </p:ext>
    </p:extLst>
  </p:cSld>
  <p:clrMapOvr>
    <a:masterClrMapping/>
  </p:clrMapOvr>
  <p:transition spd="slow">
    <p:circl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kern="100" dirty="0" err="1">
                <a:cs typeface="Times New Roman" panose="02020603050405020304" pitchFamily="18" charset="0"/>
              </a:rPr>
              <a:t>Zooniverse</a:t>
            </a:r>
            <a:endParaRPr lang="zh-CN" altLang="en-US" dirty="0"/>
          </a:p>
        </p:txBody>
      </p:sp>
      <p:sp>
        <p:nvSpPr>
          <p:cNvPr id="7" name="矩形 6"/>
          <p:cNvSpPr/>
          <p:nvPr/>
        </p:nvSpPr>
        <p:spPr>
          <a:xfrm>
            <a:off x="467544" y="2810495"/>
            <a:ext cx="3330335" cy="369332"/>
          </a:xfrm>
          <a:prstGeom prst="rect">
            <a:avLst/>
          </a:prstGeom>
        </p:spPr>
        <p:txBody>
          <a:bodyPr wrap="none">
            <a:spAutoFit/>
          </a:bodyPr>
          <a:lstStyle/>
          <a:p>
            <a:pPr algn="just">
              <a:spcAft>
                <a:spcPts val="0"/>
              </a:spcAft>
            </a:pPr>
            <a:r>
              <a:rPr lang="en-US" altLang="zh-CN" u="sng" kern="100" dirty="0">
                <a:latin typeface="微软雅黑" panose="020B0503020204020204" pitchFamily="34" charset="-122"/>
                <a:ea typeface="微软雅黑" panose="020B0503020204020204" pitchFamily="34" charset="-122"/>
                <a:cs typeface="Times New Roman" panose="02020603050405020304" pitchFamily="18" charset="0"/>
                <a:hlinkClick r:id="rId2">
                  <a:extLst>
                    <a:ext uri="{A12FA001-AC4F-418D-AE19-62706E023703}">
                      <ahyp:hlinkClr xmlns:ahyp="http://schemas.microsoft.com/office/drawing/2018/hyperlinkcolor" val="tx"/>
                    </a:ext>
                  </a:extLst>
                </a:hlinkClick>
              </a:rPr>
              <a:t>https://www.zooniverse.org/</a:t>
            </a:r>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图片 7"/>
          <p:cNvPicPr>
            <a:picLocks noChangeAspect="1"/>
          </p:cNvPicPr>
          <p:nvPr/>
        </p:nvPicPr>
        <p:blipFill rotWithShape="1">
          <a:blip r:embed="rId3"/>
          <a:srcRect l="6441" t="16671" r="7128" b="17657"/>
          <a:stretch/>
        </p:blipFill>
        <p:spPr>
          <a:xfrm>
            <a:off x="755576" y="3373735"/>
            <a:ext cx="7416824" cy="3168353"/>
          </a:xfrm>
          <a:prstGeom prst="rect">
            <a:avLst/>
          </a:prstGeom>
        </p:spPr>
      </p:pic>
      <p:sp>
        <p:nvSpPr>
          <p:cNvPr id="10" name="矩形 9"/>
          <p:cNvSpPr/>
          <p:nvPr/>
        </p:nvSpPr>
        <p:spPr>
          <a:xfrm>
            <a:off x="4999877" y="2810495"/>
            <a:ext cx="3897221" cy="461665"/>
          </a:xfrm>
          <a:prstGeom prst="rect">
            <a:avLst/>
          </a:prstGeom>
        </p:spPr>
        <p:txBody>
          <a:bodyPr wrap="none">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以科学的名义，让我压榨你</a:t>
            </a:r>
            <a:endParaRPr lang="zh-CN" altLang="en-US" sz="2400" b="1" i="0" dirty="0">
              <a:solidFill>
                <a:srgbClr val="FF0000"/>
              </a:solidFill>
              <a:effectLst/>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rotWithShape="1">
          <a:blip r:embed="rId4"/>
          <a:srcRect b="76742"/>
          <a:stretch/>
        </p:blipFill>
        <p:spPr>
          <a:xfrm>
            <a:off x="993949" y="1345272"/>
            <a:ext cx="7156102" cy="936104"/>
          </a:xfrm>
          <a:prstGeom prst="rect">
            <a:avLst/>
          </a:prstGeom>
        </p:spPr>
      </p:pic>
    </p:spTree>
    <p:extLst>
      <p:ext uri="{BB962C8B-B14F-4D97-AF65-F5344CB8AC3E}">
        <p14:creationId xmlns:p14="http://schemas.microsoft.com/office/powerpoint/2010/main" val="3760483182"/>
      </p:ext>
    </p:extLst>
  </p:cSld>
  <p:clrMapOvr>
    <a:masterClrMapping/>
  </p:clrMapOvr>
  <p:transition spd="slow">
    <p:circl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7AF33988-F3F3-4B9C-9B6C-8918CF43E7B4}"/>
              </a:ext>
            </a:extLst>
          </p:cNvPr>
          <p:cNvSpPr>
            <a:spLocks noGrp="1"/>
          </p:cNvSpPr>
          <p:nvPr>
            <p:ph type="title"/>
          </p:nvPr>
        </p:nvSpPr>
        <p:spPr/>
        <p:txBody>
          <a:bodyPr>
            <a:noAutofit/>
          </a:bodyPr>
          <a:lstStyle/>
          <a:p>
            <a:pPr algn="ctr"/>
            <a:r>
              <a:rPr lang="en-US" altLang="zh-CN" sz="3200" b="0" dirty="0" err="1"/>
              <a:t>Foldit</a:t>
            </a:r>
            <a:r>
              <a:rPr lang="en-US" altLang="zh-CN" sz="3200" b="0" dirty="0"/>
              <a:t> - </a:t>
            </a:r>
            <a:r>
              <a:rPr lang="zh-CN" altLang="en-US" sz="3200" b="0" dirty="0"/>
              <a:t>蛋白质组装</a:t>
            </a:r>
          </a:p>
        </p:txBody>
      </p:sp>
      <p:pic>
        <p:nvPicPr>
          <p:cNvPr id="7" name="内容占位符 3">
            <a:extLst>
              <a:ext uri="{FF2B5EF4-FFF2-40B4-BE49-F238E27FC236}">
                <a16:creationId xmlns:a16="http://schemas.microsoft.com/office/drawing/2014/main" id="{90E60739-E08B-42C9-A67C-5E578C8226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9552" y="1932412"/>
            <a:ext cx="3662597" cy="2442186"/>
          </a:xfrm>
          <a:prstGeom prst="rect">
            <a:avLst/>
          </a:prstGeom>
        </p:spPr>
      </p:pic>
      <p:sp>
        <p:nvSpPr>
          <p:cNvPr id="3" name="矩形 2"/>
          <p:cNvSpPr/>
          <p:nvPr/>
        </p:nvSpPr>
        <p:spPr>
          <a:xfrm>
            <a:off x="1828300" y="1225017"/>
            <a:ext cx="5487400" cy="461665"/>
          </a:xfrm>
          <a:prstGeom prst="rect">
            <a:avLst/>
          </a:prstGeom>
        </p:spPr>
        <p:txBody>
          <a:bodyPr wrap="none">
            <a:spAutoFit/>
          </a:bodyPr>
          <a:lstStyle/>
          <a:p>
            <a:r>
              <a:rPr lang="zh-CN" altLang="en-US" sz="2400" dirty="0">
                <a:latin typeface="华文中宋" panose="02010600040101010101" pitchFamily="2" charset="-122"/>
                <a:ea typeface="华文中宋" panose="02010600040101010101" pitchFamily="2" charset="-122"/>
              </a:rPr>
              <a:t>“公民科学家”（</a:t>
            </a:r>
            <a:r>
              <a:rPr lang="en-US" altLang="zh-CN" sz="2400" dirty="0">
                <a:latin typeface="华文中宋" panose="02010600040101010101" pitchFamily="2" charset="-122"/>
                <a:ea typeface="华文中宋" panose="02010600040101010101" pitchFamily="2" charset="-122"/>
              </a:rPr>
              <a:t>citizen scientists</a:t>
            </a:r>
            <a:r>
              <a:rPr lang="zh-CN" altLang="en-US" sz="2400" dirty="0">
                <a:latin typeface="华文中宋" panose="02010600040101010101" pitchFamily="2" charset="-122"/>
                <a:ea typeface="华文中宋" panose="02010600040101010101" pitchFamily="2" charset="-122"/>
              </a:rPr>
              <a:t>）</a:t>
            </a:r>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6056" y="1669761"/>
            <a:ext cx="3324225" cy="3095625"/>
          </a:xfrm>
          <a:prstGeom prst="rect">
            <a:avLst/>
          </a:prstGeom>
        </p:spPr>
      </p:pic>
      <p:pic>
        <p:nvPicPr>
          <p:cNvPr id="9" name="图片 8"/>
          <p:cNvPicPr>
            <a:picLocks noChangeAspect="1"/>
          </p:cNvPicPr>
          <p:nvPr/>
        </p:nvPicPr>
        <p:blipFill>
          <a:blip r:embed="rId5"/>
          <a:stretch>
            <a:fillRect/>
          </a:stretch>
        </p:blipFill>
        <p:spPr>
          <a:xfrm>
            <a:off x="539551" y="4765386"/>
            <a:ext cx="8205939" cy="1759958"/>
          </a:xfrm>
          <a:prstGeom prst="rect">
            <a:avLst/>
          </a:prstGeom>
        </p:spPr>
      </p:pic>
      <p:sp>
        <p:nvSpPr>
          <p:cNvPr id="10" name="椭圆 9"/>
          <p:cNvSpPr/>
          <p:nvPr/>
        </p:nvSpPr>
        <p:spPr bwMode="auto">
          <a:xfrm>
            <a:off x="4716016" y="5301208"/>
            <a:ext cx="3240360" cy="1008112"/>
          </a:xfrm>
          <a:prstGeom prst="ellipse">
            <a:avLst/>
          </a:prstGeom>
          <a:noFill/>
          <a:ln w="9525" cap="flat" cmpd="sng" algn="ctr">
            <a:solidFill>
              <a:srgbClr val="FF0000"/>
            </a:solidFill>
            <a:prstDash val="sys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pitchFamily="34" charset="0"/>
            </a:endParaRPr>
          </a:p>
        </p:txBody>
      </p:sp>
    </p:spTree>
    <p:extLst>
      <p:ext uri="{BB962C8B-B14F-4D97-AF65-F5344CB8AC3E}">
        <p14:creationId xmlns:p14="http://schemas.microsoft.com/office/powerpoint/2010/main" val="2863116985"/>
      </p:ext>
    </p:extLst>
  </p:cSld>
  <p:clrMapOvr>
    <a:masterClrMapping/>
  </p:clrMapOvr>
  <p:transition spd="slow">
    <p:circl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a:lstStyle/>
          <a:p>
            <a:r>
              <a:rPr lang="en-US" altLang="zh-CN" dirty="0"/>
              <a:t>ESP game</a:t>
            </a:r>
            <a:endParaRPr lang="zh-CN" altLang="en-US" dirty="0"/>
          </a:p>
        </p:txBody>
      </p:sp>
      <p:pic>
        <p:nvPicPr>
          <p:cNvPr id="3" name="图片 2"/>
          <p:cNvPicPr>
            <a:picLocks noChangeAspect="1"/>
          </p:cNvPicPr>
          <p:nvPr/>
        </p:nvPicPr>
        <p:blipFill>
          <a:blip r:embed="rId3"/>
          <a:stretch>
            <a:fillRect/>
          </a:stretch>
        </p:blipFill>
        <p:spPr>
          <a:xfrm>
            <a:off x="181718" y="1227662"/>
            <a:ext cx="4390282" cy="3490634"/>
          </a:xfrm>
          <a:prstGeom prst="rect">
            <a:avLst/>
          </a:prstGeom>
        </p:spPr>
      </p:pic>
      <p:grpSp>
        <p:nvGrpSpPr>
          <p:cNvPr id="6" name="组合 5"/>
          <p:cNvGrpSpPr/>
          <p:nvPr/>
        </p:nvGrpSpPr>
        <p:grpSpPr>
          <a:xfrm>
            <a:off x="4572000" y="1227662"/>
            <a:ext cx="4405824" cy="3276600"/>
            <a:chOff x="1800010" y="1646127"/>
            <a:chExt cx="5111565" cy="3276600"/>
          </a:xfrm>
        </p:grpSpPr>
        <p:sp>
          <p:nvSpPr>
            <p:cNvPr id="7" name="文本框 17"/>
            <p:cNvSpPr txBox="1">
              <a:spLocks noChangeArrowheads="1"/>
            </p:cNvSpPr>
            <p:nvPr/>
          </p:nvSpPr>
          <p:spPr bwMode="auto">
            <a:xfrm>
              <a:off x="2514162" y="4436231"/>
              <a:ext cx="39056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dirty="0">
                  <a:solidFill>
                    <a:srgbClr val="FF0000"/>
                  </a:solidFill>
                  <a:latin typeface="Garamond" panose="02020404030301010803" pitchFamily="18" charset="0"/>
                </a:rPr>
                <a:t>Agreed, “Model, Woman”</a:t>
              </a:r>
            </a:p>
          </p:txBody>
        </p:sp>
        <p:pic>
          <p:nvPicPr>
            <p:cNvPr id="8" name="图片 18" descr="10120_w"/>
            <p:cNvPicPr>
              <a:picLocks noChangeAspect="1" noChangeArrowheads="1"/>
            </p:cNvPicPr>
            <p:nvPr/>
          </p:nvPicPr>
          <p:blipFill rotWithShape="1">
            <a:blip r:embed="rId4">
              <a:extLst>
                <a:ext uri="{28A0092B-C50C-407E-A947-70E740481C1C}">
                  <a14:useLocalDpi xmlns:a14="http://schemas.microsoft.com/office/drawing/2010/main" val="0"/>
                </a:ext>
              </a:extLst>
            </a:blip>
            <a:srcRect t="3012"/>
            <a:stretch/>
          </p:blipFill>
          <p:spPr bwMode="auto">
            <a:xfrm>
              <a:off x="3420616" y="1829937"/>
              <a:ext cx="1727448" cy="2373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4"/>
            <p:cNvSpPr>
              <a:spLocks noChangeArrowheads="1"/>
            </p:cNvSpPr>
            <p:nvPr/>
          </p:nvSpPr>
          <p:spPr bwMode="auto">
            <a:xfrm>
              <a:off x="4925628" y="1646127"/>
              <a:ext cx="1985947"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2400" dirty="0">
                  <a:solidFill>
                    <a:srgbClr val="FF0000"/>
                  </a:solidFill>
                </a:rPr>
                <a:t>Player 2</a:t>
              </a:r>
            </a:p>
            <a:p>
              <a:pPr eaLnBrk="1" hangingPunct="1">
                <a:spcBef>
                  <a:spcPct val="20000"/>
                </a:spcBef>
                <a:buFontTx/>
                <a:buChar char="•"/>
              </a:pPr>
              <a:r>
                <a:rPr lang="en-US" altLang="zh-CN" sz="2400" b="0" dirty="0"/>
                <a:t>Woman</a:t>
              </a:r>
            </a:p>
            <a:p>
              <a:pPr eaLnBrk="1" hangingPunct="1">
                <a:spcBef>
                  <a:spcPct val="20000"/>
                </a:spcBef>
                <a:buFontTx/>
                <a:buChar char="•"/>
              </a:pPr>
              <a:r>
                <a:rPr lang="en-US" altLang="zh-CN" sz="2400" b="0" dirty="0"/>
                <a:t>Shirt</a:t>
              </a:r>
            </a:p>
            <a:p>
              <a:pPr eaLnBrk="1" hangingPunct="1">
                <a:spcBef>
                  <a:spcPct val="20000"/>
                </a:spcBef>
                <a:buFontTx/>
                <a:buChar char="•"/>
              </a:pPr>
              <a:r>
                <a:rPr lang="en-US" altLang="zh-CN" sz="2400" b="0" dirty="0"/>
                <a:t>Denim</a:t>
              </a:r>
            </a:p>
            <a:p>
              <a:pPr eaLnBrk="1" hangingPunct="1">
                <a:spcBef>
                  <a:spcPct val="20000"/>
                </a:spcBef>
                <a:buFontTx/>
                <a:buChar char="•"/>
              </a:pPr>
              <a:r>
                <a:rPr lang="en-US" altLang="zh-CN" sz="2400" b="0" dirty="0"/>
                <a:t>Girl</a:t>
              </a:r>
            </a:p>
            <a:p>
              <a:pPr eaLnBrk="1" hangingPunct="1">
                <a:spcBef>
                  <a:spcPct val="20000"/>
                </a:spcBef>
                <a:buFontTx/>
                <a:buChar char="•"/>
              </a:pPr>
              <a:r>
                <a:rPr lang="en-US" altLang="zh-CN" sz="2400" b="0" dirty="0"/>
                <a:t>Model</a:t>
              </a:r>
            </a:p>
          </p:txBody>
        </p:sp>
        <p:sp>
          <p:nvSpPr>
            <p:cNvPr id="10" name="矩形 13"/>
            <p:cNvSpPr>
              <a:spLocks noChangeArrowheads="1"/>
            </p:cNvSpPr>
            <p:nvPr/>
          </p:nvSpPr>
          <p:spPr bwMode="auto">
            <a:xfrm>
              <a:off x="1800010" y="1727256"/>
              <a:ext cx="2212652" cy="2982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2400" dirty="0">
                  <a:solidFill>
                    <a:srgbClr val="FF0000"/>
                  </a:solidFill>
                </a:rPr>
                <a:t>Player 1</a:t>
              </a:r>
            </a:p>
            <a:p>
              <a:pPr eaLnBrk="1" hangingPunct="1">
                <a:spcBef>
                  <a:spcPct val="20000"/>
                </a:spcBef>
                <a:buFontTx/>
                <a:buChar char="•"/>
              </a:pPr>
              <a:r>
                <a:rPr lang="en-US" altLang="zh-CN" sz="2400" b="0" dirty="0"/>
                <a:t>Pants</a:t>
              </a:r>
            </a:p>
            <a:p>
              <a:pPr eaLnBrk="1" hangingPunct="1">
                <a:spcBef>
                  <a:spcPct val="20000"/>
                </a:spcBef>
                <a:buFontTx/>
                <a:buChar char="•"/>
              </a:pPr>
              <a:r>
                <a:rPr lang="en-US" altLang="zh-CN" sz="2400" b="0" dirty="0"/>
                <a:t>Model</a:t>
              </a:r>
            </a:p>
            <a:p>
              <a:pPr eaLnBrk="1" hangingPunct="1">
                <a:spcBef>
                  <a:spcPct val="20000"/>
                </a:spcBef>
                <a:buFontTx/>
                <a:buChar char="•"/>
              </a:pPr>
              <a:r>
                <a:rPr lang="en-US" altLang="zh-CN" sz="2400" b="0" dirty="0"/>
                <a:t>Lady</a:t>
              </a:r>
            </a:p>
            <a:p>
              <a:pPr eaLnBrk="1" hangingPunct="1">
                <a:spcBef>
                  <a:spcPct val="20000"/>
                </a:spcBef>
                <a:buFontTx/>
                <a:buChar char="•"/>
              </a:pPr>
              <a:r>
                <a:rPr lang="en-US" altLang="zh-CN" sz="2400" b="0" dirty="0"/>
                <a:t>Woman</a:t>
              </a:r>
            </a:p>
            <a:p>
              <a:pPr eaLnBrk="1" hangingPunct="1">
                <a:spcBef>
                  <a:spcPct val="20000"/>
                </a:spcBef>
                <a:buFontTx/>
                <a:buChar char="•"/>
              </a:pPr>
              <a:r>
                <a:rPr lang="en-US" altLang="zh-CN" sz="2400" b="0" dirty="0"/>
                <a:t>Laugh</a:t>
              </a:r>
            </a:p>
          </p:txBody>
        </p:sp>
      </p:grpSp>
      <p:pic>
        <p:nvPicPr>
          <p:cNvPr id="11" name="图片 10"/>
          <p:cNvPicPr>
            <a:picLocks noChangeAspect="1"/>
          </p:cNvPicPr>
          <p:nvPr/>
        </p:nvPicPr>
        <p:blipFill>
          <a:blip r:embed="rId5"/>
          <a:stretch>
            <a:fillRect/>
          </a:stretch>
        </p:blipFill>
        <p:spPr>
          <a:xfrm>
            <a:off x="4090452" y="4911478"/>
            <a:ext cx="4777410" cy="1663922"/>
          </a:xfrm>
          <a:prstGeom prst="roundRect">
            <a:avLst>
              <a:gd name="adj" fmla="val 50000"/>
            </a:avLst>
          </a:prstGeom>
        </p:spPr>
      </p:pic>
      <p:sp>
        <p:nvSpPr>
          <p:cNvPr id="12" name="矩形 11"/>
          <p:cNvSpPr/>
          <p:nvPr/>
        </p:nvSpPr>
        <p:spPr>
          <a:xfrm>
            <a:off x="395536" y="5420273"/>
            <a:ext cx="3310162" cy="646331"/>
          </a:xfrm>
          <a:prstGeom prst="rect">
            <a:avLst/>
          </a:prstGeom>
        </p:spPr>
        <p:txBody>
          <a:bodyPr wrap="square">
            <a:spAutoFit/>
          </a:bodyPr>
          <a:lstStyle/>
          <a:p>
            <a:r>
              <a:rPr lang="zh-CN" altLang="en-US" sz="3600" dirty="0">
                <a:solidFill>
                  <a:srgbClr val="FF0000"/>
                </a:solidFill>
                <a:latin typeface="华文中宋" panose="02010600040101010101" pitchFamily="2" charset="-122"/>
                <a:ea typeface="华文中宋" panose="02010600040101010101" pitchFamily="2" charset="-122"/>
              </a:rPr>
              <a:t>你也可以暴富</a:t>
            </a:r>
            <a:r>
              <a:rPr lang="en-US" altLang="zh-CN" sz="3600" dirty="0">
                <a:solidFill>
                  <a:srgbClr val="FF0000"/>
                </a:solidFill>
                <a:latin typeface="华文中宋" panose="02010600040101010101" pitchFamily="2" charset="-122"/>
                <a:ea typeface="华文中宋" panose="02010600040101010101" pitchFamily="2" charset="-122"/>
              </a:rPr>
              <a:t>!</a:t>
            </a:r>
            <a:endParaRPr lang="zh-CN" altLang="en-US" sz="3600" dirty="0">
              <a:solidFill>
                <a:srgbClr val="FF0000"/>
              </a:solidFill>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605016376"/>
      </p:ext>
    </p:extLst>
  </p:cSld>
  <p:clrMapOvr>
    <a:masterClrMapping/>
  </p:clrMapOvr>
  <p:transition spd="slow">
    <p:circl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en-US" altLang="zh-CN" dirty="0" err="1"/>
              <a:t>Tagatune</a:t>
            </a:r>
            <a:endParaRPr lang="zh-CN" altLang="en-US" dirty="0"/>
          </a:p>
        </p:txBody>
      </p:sp>
      <p:sp>
        <p:nvSpPr>
          <p:cNvPr id="84995" name="内容占位符 2"/>
          <p:cNvSpPr>
            <a:spLocks noGrp="1"/>
          </p:cNvSpPr>
          <p:nvPr>
            <p:ph idx="1"/>
          </p:nvPr>
        </p:nvSpPr>
        <p:spPr/>
        <p:txBody>
          <a:bodyPr/>
          <a:lstStyle/>
          <a:p>
            <a:endParaRPr lang="zh-CN" altLang="en-US"/>
          </a:p>
        </p:txBody>
      </p:sp>
      <p:pic>
        <p:nvPicPr>
          <p:cNvPr id="84997" name="图片 2">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268413"/>
            <a:ext cx="8424862" cy="535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9755050"/>
      </p:ext>
    </p:extLst>
  </p:cSld>
  <p:clrMapOvr>
    <a:masterClrMapping/>
  </p:clrMapOvr>
  <p:transition spd="slow">
    <p:circl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a:lstStyle/>
          <a:p>
            <a:r>
              <a:rPr lang="zh-CN" altLang="en-US"/>
              <a:t>小结</a:t>
            </a:r>
          </a:p>
        </p:txBody>
      </p:sp>
      <p:sp>
        <p:nvSpPr>
          <p:cNvPr id="89091" name="内容占位符 2"/>
          <p:cNvSpPr>
            <a:spLocks noGrp="1"/>
          </p:cNvSpPr>
          <p:nvPr>
            <p:ph idx="1"/>
          </p:nvPr>
        </p:nvSpPr>
        <p:spPr>
          <a:xfrm>
            <a:off x="457200" y="1124744"/>
            <a:ext cx="8229600" cy="5543550"/>
          </a:xfrm>
        </p:spPr>
        <p:txBody>
          <a:bodyPr/>
          <a:lstStyle/>
          <a:p>
            <a:r>
              <a:rPr lang="en-US" altLang="zh-CN" sz="2400" dirty="0">
                <a:solidFill>
                  <a:srgbClr val="FF0000"/>
                </a:solidFill>
              </a:rPr>
              <a:t>Web2.0</a:t>
            </a:r>
            <a:r>
              <a:rPr lang="zh-CN" altLang="en-US" sz="2400" dirty="0">
                <a:solidFill>
                  <a:srgbClr val="FF0000"/>
                </a:solidFill>
              </a:rPr>
              <a:t>时代，互联网</a:t>
            </a:r>
            <a:r>
              <a:rPr lang="en-US" altLang="zh-CN" sz="2400" dirty="0">
                <a:solidFill>
                  <a:srgbClr val="FF0000"/>
                </a:solidFill>
              </a:rPr>
              <a:t>+</a:t>
            </a:r>
            <a:r>
              <a:rPr lang="zh-CN" altLang="en-US" sz="2400" dirty="0">
                <a:solidFill>
                  <a:srgbClr val="FF0000"/>
                </a:solidFill>
              </a:rPr>
              <a:t>时代</a:t>
            </a:r>
            <a:endParaRPr lang="en-US" altLang="zh-CN" sz="2400" dirty="0">
              <a:solidFill>
                <a:srgbClr val="FF0000"/>
              </a:solidFill>
            </a:endParaRPr>
          </a:p>
          <a:p>
            <a:pPr lvl="1"/>
            <a:r>
              <a:rPr lang="zh-CN" altLang="en-US" sz="2400" b="0" dirty="0">
                <a:latin typeface="微软雅黑" panose="020B0503020204020204" pitchFamily="34" charset="-122"/>
                <a:ea typeface="微软雅黑" panose="020B0503020204020204" pitchFamily="34" charset="-122"/>
              </a:rPr>
              <a:t>我们生活的社会变化</a:t>
            </a:r>
            <a:endParaRPr lang="en-US" altLang="zh-CN" sz="2400" b="0" dirty="0">
              <a:latin typeface="微软雅黑" panose="020B0503020204020204" pitchFamily="34" charset="-122"/>
              <a:ea typeface="微软雅黑" panose="020B0503020204020204" pitchFamily="34" charset="-122"/>
            </a:endParaRPr>
          </a:p>
          <a:p>
            <a:pPr lvl="1"/>
            <a:r>
              <a:rPr lang="zh-CN" altLang="en-US" sz="2400" b="0" dirty="0">
                <a:latin typeface="微软雅黑" panose="020B0503020204020204" pitchFamily="34" charset="-122"/>
                <a:ea typeface="微软雅黑" panose="020B0503020204020204" pitchFamily="34" charset="-122"/>
              </a:rPr>
              <a:t>倡导平等自由和科学管理</a:t>
            </a:r>
            <a:endParaRPr lang="en-US" altLang="zh-CN" sz="2400" b="0" dirty="0">
              <a:latin typeface="微软雅黑" panose="020B0503020204020204" pitchFamily="34" charset="-122"/>
              <a:ea typeface="微软雅黑" panose="020B0503020204020204" pitchFamily="34" charset="-122"/>
            </a:endParaRPr>
          </a:p>
          <a:p>
            <a:pPr lvl="1"/>
            <a:r>
              <a:rPr lang="zh-CN" altLang="en-US" sz="2400" b="0" dirty="0">
                <a:latin typeface="微软雅黑" panose="020B0503020204020204" pitchFamily="34" charset="-122"/>
                <a:ea typeface="微软雅黑" panose="020B0503020204020204" pitchFamily="34" charset="-122"/>
              </a:rPr>
              <a:t>思维方式、商业模式创新</a:t>
            </a:r>
            <a:endParaRPr lang="en-US" altLang="zh-CN" sz="2400" b="0" dirty="0">
              <a:latin typeface="微软雅黑" panose="020B0503020204020204" pitchFamily="34" charset="-122"/>
              <a:ea typeface="微软雅黑" panose="020B0503020204020204" pitchFamily="34" charset="-122"/>
            </a:endParaRPr>
          </a:p>
          <a:p>
            <a:r>
              <a:rPr lang="zh-CN" altLang="en-US" sz="2400" b="0" dirty="0">
                <a:solidFill>
                  <a:srgbClr val="FF0000"/>
                </a:solidFill>
                <a:latin typeface="微软雅黑" panose="020B0503020204020204" pitchFamily="34" charset="-122"/>
                <a:ea typeface="微软雅黑" panose="020B0503020204020204" pitchFamily="34" charset="-122"/>
              </a:rPr>
              <a:t>社会计算、</a:t>
            </a:r>
            <a:r>
              <a:rPr lang="en-US" altLang="zh-CN" sz="2400" b="0" dirty="0">
                <a:solidFill>
                  <a:srgbClr val="FF0000"/>
                </a:solidFill>
                <a:latin typeface="微软雅黑" panose="020B0503020204020204" pitchFamily="34" charset="-122"/>
                <a:ea typeface="微软雅黑" panose="020B0503020204020204" pitchFamily="34" charset="-122"/>
              </a:rPr>
              <a:t>Human</a:t>
            </a:r>
            <a:r>
              <a:rPr lang="zh-CN" altLang="en-US" sz="2400" b="0" dirty="0">
                <a:solidFill>
                  <a:srgbClr val="FF0000"/>
                </a:solidFill>
                <a:latin typeface="微软雅黑" panose="020B0503020204020204" pitchFamily="34" charset="-122"/>
                <a:ea typeface="微软雅黑" panose="020B0503020204020204" pitchFamily="34" charset="-122"/>
              </a:rPr>
              <a:t>计算</a:t>
            </a:r>
            <a:endParaRPr lang="en-US" altLang="zh-CN" sz="2400" b="0" dirty="0">
              <a:solidFill>
                <a:srgbClr val="FF0000"/>
              </a:solidFill>
              <a:latin typeface="微软雅黑" panose="020B0503020204020204" pitchFamily="34" charset="-122"/>
              <a:ea typeface="微软雅黑" panose="020B0503020204020204" pitchFamily="34" charset="-122"/>
            </a:endParaRPr>
          </a:p>
          <a:p>
            <a:pPr lvl="1"/>
            <a:r>
              <a:rPr lang="zh-CN" altLang="en-US" sz="2400" dirty="0"/>
              <a:t>一种新型计算范式</a:t>
            </a:r>
            <a:endParaRPr lang="en-US" altLang="zh-CN" sz="2400" dirty="0"/>
          </a:p>
          <a:p>
            <a:pPr lvl="1"/>
            <a:r>
              <a:rPr lang="zh-CN" altLang="en-US" sz="2400" b="0" dirty="0">
                <a:latin typeface="微软雅黑" panose="020B0503020204020204" pitchFamily="34" charset="-122"/>
                <a:ea typeface="微软雅黑" panose="020B0503020204020204" pitchFamily="34" charset="-122"/>
              </a:rPr>
              <a:t>为社会</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人民计算</a:t>
            </a:r>
            <a:endParaRPr lang="en-US" altLang="zh-CN" sz="2400" b="0" dirty="0">
              <a:latin typeface="微软雅黑" panose="020B0503020204020204" pitchFamily="34" charset="-122"/>
              <a:ea typeface="微软雅黑" panose="020B0503020204020204" pitchFamily="34" charset="-122"/>
            </a:endParaRPr>
          </a:p>
          <a:p>
            <a:pPr lvl="1"/>
            <a:r>
              <a:rPr lang="zh-CN" altLang="en-US" sz="2400" b="0" dirty="0">
                <a:latin typeface="微软雅黑" panose="020B0503020204020204" pitchFamily="34" charset="-122"/>
                <a:ea typeface="微软雅黑" panose="020B0503020204020204" pitchFamily="34" charset="-122"/>
              </a:rPr>
              <a:t>用社会</a:t>
            </a:r>
            <a:r>
              <a:rPr lang="en-US" altLang="zh-CN" sz="2400" b="0" dirty="0">
                <a:latin typeface="微软雅黑" panose="020B0503020204020204" pitchFamily="34" charset="-122"/>
                <a:ea typeface="微软雅黑" panose="020B0503020204020204" pitchFamily="34" charset="-122"/>
              </a:rPr>
              <a:t>\</a:t>
            </a:r>
            <a:r>
              <a:rPr lang="zh-CN" altLang="en-US" sz="2400" b="0" dirty="0">
                <a:latin typeface="微软雅黑" panose="020B0503020204020204" pitchFamily="34" charset="-122"/>
                <a:ea typeface="微软雅黑" panose="020B0503020204020204" pitchFamily="34" charset="-122"/>
              </a:rPr>
              <a:t>协同方法计算</a:t>
            </a:r>
            <a:endParaRPr lang="en-US" altLang="zh-CN" sz="2400" b="0" dirty="0">
              <a:latin typeface="微软雅黑" panose="020B0503020204020204" pitchFamily="34" charset="-122"/>
              <a:ea typeface="微软雅黑" panose="020B0503020204020204" pitchFamily="34" charset="-122"/>
            </a:endParaRPr>
          </a:p>
          <a:p>
            <a:r>
              <a:rPr lang="zh-CN" altLang="en-US" sz="2400" dirty="0">
                <a:solidFill>
                  <a:srgbClr val="FF0000"/>
                </a:solidFill>
              </a:rPr>
              <a:t>新时代的机遇与挑战</a:t>
            </a:r>
            <a:endParaRPr lang="en-US" altLang="zh-CN" sz="2400" b="0" dirty="0">
              <a:solidFill>
                <a:srgbClr val="FF0000"/>
              </a:solidFill>
            </a:endParaRPr>
          </a:p>
        </p:txBody>
      </p:sp>
      <p:pic>
        <p:nvPicPr>
          <p:cNvPr id="2" name="图片 1"/>
          <p:cNvPicPr>
            <a:picLocks noChangeAspect="1"/>
          </p:cNvPicPr>
          <p:nvPr/>
        </p:nvPicPr>
        <p:blipFill rotWithShape="1">
          <a:blip r:embed="rId2"/>
          <a:srcRect l="4839" t="4416" r="3217" b="4641"/>
          <a:stretch/>
        </p:blipFill>
        <p:spPr>
          <a:xfrm>
            <a:off x="5542415" y="4074519"/>
            <a:ext cx="2903547" cy="1678035"/>
          </a:xfrm>
          <a:prstGeom prst="roundRect">
            <a:avLst/>
          </a:prstGeom>
        </p:spPr>
      </p:pic>
      <p:pic>
        <p:nvPicPr>
          <p:cNvPr id="3" name="图片 2"/>
          <p:cNvPicPr>
            <a:picLocks noChangeAspect="1"/>
          </p:cNvPicPr>
          <p:nvPr/>
        </p:nvPicPr>
        <p:blipFill>
          <a:blip r:embed="rId3"/>
          <a:stretch>
            <a:fillRect/>
          </a:stretch>
        </p:blipFill>
        <p:spPr>
          <a:xfrm>
            <a:off x="5542414" y="1764358"/>
            <a:ext cx="2903547" cy="1601987"/>
          </a:xfrm>
          <a:prstGeom prst="roundRect">
            <a:avLst/>
          </a:prstGeom>
        </p:spPr>
      </p:pic>
    </p:spTree>
    <p:extLst>
      <p:ext uri="{BB962C8B-B14F-4D97-AF65-F5344CB8AC3E}">
        <p14:creationId xmlns:p14="http://schemas.microsoft.com/office/powerpoint/2010/main" val="1000708512"/>
      </p:ext>
    </p:extLst>
  </p:cSld>
  <p:clrMapOvr>
    <a:masterClrMapping/>
  </p:clrMapOvr>
  <p:transition spd="slow">
    <p:circl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81D1A8D4-A673-4A3B-8AB4-E1C064BCB58F}"/>
              </a:ext>
            </a:extLst>
          </p:cNvPr>
          <p:cNvSpPr txBox="1"/>
          <p:nvPr/>
        </p:nvSpPr>
        <p:spPr>
          <a:xfrm>
            <a:off x="2843808" y="2916713"/>
            <a:ext cx="4197621" cy="1015663"/>
          </a:xfrm>
          <a:prstGeom prst="rect">
            <a:avLst/>
          </a:prstGeom>
          <a:noFill/>
        </p:spPr>
        <p:txBody>
          <a:bodyPr wrap="square" rtlCol="0">
            <a:spAutoFit/>
          </a:bodyPr>
          <a:lstStyle/>
          <a:p>
            <a:r>
              <a:rPr lang="zh-CN" altLang="en-US" sz="6000" b="0" dirty="0">
                <a:solidFill>
                  <a:srgbClr val="FF0000"/>
                </a:solidFill>
                <a:latin typeface="思源黑体 CN Medium" panose="020B0600000000000000" pitchFamily="34" charset="-122"/>
                <a:ea typeface="思源黑体 CN Medium" panose="020B0600000000000000" pitchFamily="34" charset="-122"/>
              </a:rPr>
              <a:t>谢谢大家！</a:t>
            </a:r>
          </a:p>
        </p:txBody>
      </p:sp>
      <p:cxnSp>
        <p:nvCxnSpPr>
          <p:cNvPr id="7" name="直接连接符 6">
            <a:extLst>
              <a:ext uri="{FF2B5EF4-FFF2-40B4-BE49-F238E27FC236}">
                <a16:creationId xmlns:a16="http://schemas.microsoft.com/office/drawing/2014/main" id="{D7FC733E-4E96-45E0-B9E5-24BD4CBE51BD}"/>
              </a:ext>
            </a:extLst>
          </p:cNvPr>
          <p:cNvCxnSpPr>
            <a:cxnSpLocks/>
          </p:cNvCxnSpPr>
          <p:nvPr/>
        </p:nvCxnSpPr>
        <p:spPr>
          <a:xfrm>
            <a:off x="1024175" y="422108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FC733E-4E96-45E0-B9E5-24BD4CBE51BD}"/>
              </a:ext>
            </a:extLst>
          </p:cNvPr>
          <p:cNvCxnSpPr>
            <a:cxnSpLocks/>
          </p:cNvCxnSpPr>
          <p:nvPr/>
        </p:nvCxnSpPr>
        <p:spPr>
          <a:xfrm>
            <a:off x="978293" y="2625728"/>
            <a:ext cx="7056784"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sp>
        <p:nvSpPr>
          <p:cNvPr id="12" name="science-conference_68080">
            <a:extLst>
              <a:ext uri="{FF2B5EF4-FFF2-40B4-BE49-F238E27FC236}">
                <a16:creationId xmlns:a16="http://schemas.microsoft.com/office/drawing/2014/main" id="{F5F06994-9830-4FAD-AC75-CC45B977F649}"/>
              </a:ext>
            </a:extLst>
          </p:cNvPr>
          <p:cNvSpPr>
            <a:spLocks noChangeAspect="1"/>
          </p:cNvSpPr>
          <p:nvPr/>
        </p:nvSpPr>
        <p:spPr bwMode="auto">
          <a:xfrm>
            <a:off x="4140777" y="1030369"/>
            <a:ext cx="823580" cy="1300741"/>
          </a:xfrm>
          <a:custGeom>
            <a:avLst/>
            <a:gdLst>
              <a:gd name="connsiteX0" fmla="*/ 190764 w 385450"/>
              <a:gd name="connsiteY0" fmla="*/ 514563 h 608768"/>
              <a:gd name="connsiteX1" fmla="*/ 211847 w 385450"/>
              <a:gd name="connsiteY1" fmla="*/ 526418 h 608768"/>
              <a:gd name="connsiteX2" fmla="*/ 210607 w 385450"/>
              <a:gd name="connsiteY2" fmla="*/ 529304 h 608768"/>
              <a:gd name="connsiteX3" fmla="*/ 190764 w 385450"/>
              <a:gd name="connsiteY3" fmla="*/ 548787 h 608768"/>
              <a:gd name="connsiteX4" fmla="*/ 170818 w 385450"/>
              <a:gd name="connsiteY4" fmla="*/ 529304 h 608768"/>
              <a:gd name="connsiteX5" fmla="*/ 169578 w 385450"/>
              <a:gd name="connsiteY5" fmla="*/ 526418 h 608768"/>
              <a:gd name="connsiteX6" fmla="*/ 190764 w 385450"/>
              <a:gd name="connsiteY6" fmla="*/ 514563 h 608768"/>
              <a:gd name="connsiteX7" fmla="*/ 219467 w 385450"/>
              <a:gd name="connsiteY7" fmla="*/ 493887 h 608768"/>
              <a:gd name="connsiteX8" fmla="*/ 215033 w 385450"/>
              <a:gd name="connsiteY8" fmla="*/ 517315 h 608768"/>
              <a:gd name="connsiteX9" fmla="*/ 199568 w 385450"/>
              <a:gd name="connsiteY9" fmla="*/ 508749 h 608768"/>
              <a:gd name="connsiteX10" fmla="*/ 208950 w 385450"/>
              <a:gd name="connsiteY10" fmla="*/ 502041 h 608768"/>
              <a:gd name="connsiteX11" fmla="*/ 219467 w 385450"/>
              <a:gd name="connsiteY11" fmla="*/ 493887 h 608768"/>
              <a:gd name="connsiteX12" fmla="*/ 162098 w 385450"/>
              <a:gd name="connsiteY12" fmla="*/ 493887 h 608768"/>
              <a:gd name="connsiteX13" fmla="*/ 172491 w 385450"/>
              <a:gd name="connsiteY13" fmla="*/ 502041 h 608768"/>
              <a:gd name="connsiteX14" fmla="*/ 181856 w 385450"/>
              <a:gd name="connsiteY14" fmla="*/ 508749 h 608768"/>
              <a:gd name="connsiteX15" fmla="*/ 166523 w 385450"/>
              <a:gd name="connsiteY15" fmla="*/ 517315 h 608768"/>
              <a:gd name="connsiteX16" fmla="*/ 162098 w 385450"/>
              <a:gd name="connsiteY16" fmla="*/ 493887 h 608768"/>
              <a:gd name="connsiteX17" fmla="*/ 230644 w 385450"/>
              <a:gd name="connsiteY17" fmla="*/ 484220 h 608768"/>
              <a:gd name="connsiteX18" fmla="*/ 246720 w 385450"/>
              <a:gd name="connsiteY18" fmla="*/ 502370 h 608768"/>
              <a:gd name="connsiteX19" fmla="*/ 256097 w 385450"/>
              <a:gd name="connsiteY19" fmla="*/ 526294 h 608768"/>
              <a:gd name="connsiteX20" fmla="*/ 249296 w 385450"/>
              <a:gd name="connsiteY20" fmla="*/ 528253 h 608768"/>
              <a:gd name="connsiteX21" fmla="*/ 223842 w 385450"/>
              <a:gd name="connsiteY21" fmla="*/ 521447 h 608768"/>
              <a:gd name="connsiteX22" fmla="*/ 229716 w 385450"/>
              <a:gd name="connsiteY22" fmla="*/ 485045 h 608768"/>
              <a:gd name="connsiteX23" fmla="*/ 230644 w 385450"/>
              <a:gd name="connsiteY23" fmla="*/ 484220 h 608768"/>
              <a:gd name="connsiteX24" fmla="*/ 150811 w 385450"/>
              <a:gd name="connsiteY24" fmla="*/ 484220 h 608768"/>
              <a:gd name="connsiteX25" fmla="*/ 151842 w 385450"/>
              <a:gd name="connsiteY25" fmla="*/ 485045 h 608768"/>
              <a:gd name="connsiteX26" fmla="*/ 157723 w 385450"/>
              <a:gd name="connsiteY26" fmla="*/ 521447 h 608768"/>
              <a:gd name="connsiteX27" fmla="*/ 132137 w 385450"/>
              <a:gd name="connsiteY27" fmla="*/ 528253 h 608768"/>
              <a:gd name="connsiteX28" fmla="*/ 125431 w 385450"/>
              <a:gd name="connsiteY28" fmla="*/ 526294 h 608768"/>
              <a:gd name="connsiteX29" fmla="*/ 134820 w 385450"/>
              <a:gd name="connsiteY29" fmla="*/ 502370 h 608768"/>
              <a:gd name="connsiteX30" fmla="*/ 150811 w 385450"/>
              <a:gd name="connsiteY30" fmla="*/ 484220 h 608768"/>
              <a:gd name="connsiteX31" fmla="*/ 190782 w 385450"/>
              <a:gd name="connsiteY31" fmla="*/ 463115 h 608768"/>
              <a:gd name="connsiteX32" fmla="*/ 176120 w 385450"/>
              <a:gd name="connsiteY32" fmla="*/ 477657 h 608768"/>
              <a:gd name="connsiteX33" fmla="*/ 190782 w 385450"/>
              <a:gd name="connsiteY33" fmla="*/ 492199 h 608768"/>
              <a:gd name="connsiteX34" fmla="*/ 205341 w 385450"/>
              <a:gd name="connsiteY34" fmla="*/ 477657 h 608768"/>
              <a:gd name="connsiteX35" fmla="*/ 190782 w 385450"/>
              <a:gd name="connsiteY35" fmla="*/ 463115 h 608768"/>
              <a:gd name="connsiteX36" fmla="*/ 190782 w 385450"/>
              <a:gd name="connsiteY36" fmla="*/ 452183 h 608768"/>
              <a:gd name="connsiteX37" fmla="*/ 203276 w 385450"/>
              <a:gd name="connsiteY37" fmla="*/ 460949 h 608768"/>
              <a:gd name="connsiteX38" fmla="*/ 220210 w 385450"/>
              <a:gd name="connsiteY38" fmla="*/ 474666 h 608768"/>
              <a:gd name="connsiteX39" fmla="*/ 220314 w 385450"/>
              <a:gd name="connsiteY39" fmla="*/ 477657 h 608768"/>
              <a:gd name="connsiteX40" fmla="*/ 220210 w 385450"/>
              <a:gd name="connsiteY40" fmla="*/ 480751 h 608768"/>
              <a:gd name="connsiteX41" fmla="*/ 203276 w 385450"/>
              <a:gd name="connsiteY41" fmla="*/ 494365 h 608768"/>
              <a:gd name="connsiteX42" fmla="*/ 190782 w 385450"/>
              <a:gd name="connsiteY42" fmla="*/ 503131 h 608768"/>
              <a:gd name="connsiteX43" fmla="*/ 178288 w 385450"/>
              <a:gd name="connsiteY43" fmla="*/ 494365 h 608768"/>
              <a:gd name="connsiteX44" fmla="*/ 161251 w 385450"/>
              <a:gd name="connsiteY44" fmla="*/ 480751 h 608768"/>
              <a:gd name="connsiteX45" fmla="*/ 161251 w 385450"/>
              <a:gd name="connsiteY45" fmla="*/ 477657 h 608768"/>
              <a:gd name="connsiteX46" fmla="*/ 161251 w 385450"/>
              <a:gd name="connsiteY46" fmla="*/ 474666 h 608768"/>
              <a:gd name="connsiteX47" fmla="*/ 178288 w 385450"/>
              <a:gd name="connsiteY47" fmla="*/ 460949 h 608768"/>
              <a:gd name="connsiteX48" fmla="*/ 190782 w 385450"/>
              <a:gd name="connsiteY48" fmla="*/ 452183 h 608768"/>
              <a:gd name="connsiteX49" fmla="*/ 215033 w 385450"/>
              <a:gd name="connsiteY49" fmla="*/ 437929 h 608768"/>
              <a:gd name="connsiteX50" fmla="*/ 219467 w 385450"/>
              <a:gd name="connsiteY50" fmla="*/ 461427 h 608768"/>
              <a:gd name="connsiteX51" fmla="*/ 208950 w 385450"/>
              <a:gd name="connsiteY51" fmla="*/ 453182 h 608768"/>
              <a:gd name="connsiteX52" fmla="*/ 199568 w 385450"/>
              <a:gd name="connsiteY52" fmla="*/ 446483 h 608768"/>
              <a:gd name="connsiteX53" fmla="*/ 215033 w 385450"/>
              <a:gd name="connsiteY53" fmla="*/ 437929 h 608768"/>
              <a:gd name="connsiteX54" fmla="*/ 166523 w 385450"/>
              <a:gd name="connsiteY54" fmla="*/ 437929 h 608768"/>
              <a:gd name="connsiteX55" fmla="*/ 181856 w 385450"/>
              <a:gd name="connsiteY55" fmla="*/ 446483 h 608768"/>
              <a:gd name="connsiteX56" fmla="*/ 172491 w 385450"/>
              <a:gd name="connsiteY56" fmla="*/ 453182 h 608768"/>
              <a:gd name="connsiteX57" fmla="*/ 162098 w 385450"/>
              <a:gd name="connsiteY57" fmla="*/ 461427 h 608768"/>
              <a:gd name="connsiteX58" fmla="*/ 166523 w 385450"/>
              <a:gd name="connsiteY58" fmla="*/ 437929 h 608768"/>
              <a:gd name="connsiteX59" fmla="*/ 249292 w 385450"/>
              <a:gd name="connsiteY59" fmla="*/ 426991 h 608768"/>
              <a:gd name="connsiteX60" fmla="*/ 256092 w 385450"/>
              <a:gd name="connsiteY60" fmla="*/ 429053 h 608768"/>
              <a:gd name="connsiteX61" fmla="*/ 252280 w 385450"/>
              <a:gd name="connsiteY61" fmla="*/ 444418 h 608768"/>
              <a:gd name="connsiteX62" fmla="*/ 252177 w 385450"/>
              <a:gd name="connsiteY62" fmla="*/ 444418 h 608768"/>
              <a:gd name="connsiteX63" fmla="*/ 243110 w 385450"/>
              <a:gd name="connsiteY63" fmla="*/ 453596 h 608768"/>
              <a:gd name="connsiteX64" fmla="*/ 243625 w 385450"/>
              <a:gd name="connsiteY64" fmla="*/ 456793 h 608768"/>
              <a:gd name="connsiteX65" fmla="*/ 230642 w 385450"/>
              <a:gd name="connsiteY65" fmla="*/ 471024 h 608768"/>
              <a:gd name="connsiteX66" fmla="*/ 229715 w 385450"/>
              <a:gd name="connsiteY66" fmla="*/ 470199 h 608768"/>
              <a:gd name="connsiteX67" fmla="*/ 223842 w 385450"/>
              <a:gd name="connsiteY67" fmla="*/ 433797 h 608768"/>
              <a:gd name="connsiteX68" fmla="*/ 249292 w 385450"/>
              <a:gd name="connsiteY68" fmla="*/ 426991 h 608768"/>
              <a:gd name="connsiteX69" fmla="*/ 132137 w 385450"/>
              <a:gd name="connsiteY69" fmla="*/ 426991 h 608768"/>
              <a:gd name="connsiteX70" fmla="*/ 136677 w 385450"/>
              <a:gd name="connsiteY70" fmla="*/ 427300 h 608768"/>
              <a:gd name="connsiteX71" fmla="*/ 145240 w 385450"/>
              <a:gd name="connsiteY71" fmla="*/ 433384 h 608768"/>
              <a:gd name="connsiteX72" fmla="*/ 151120 w 385450"/>
              <a:gd name="connsiteY72" fmla="*/ 431219 h 608768"/>
              <a:gd name="connsiteX73" fmla="*/ 157723 w 385450"/>
              <a:gd name="connsiteY73" fmla="*/ 433797 h 608768"/>
              <a:gd name="connsiteX74" fmla="*/ 151739 w 385450"/>
              <a:gd name="connsiteY74" fmla="*/ 470199 h 608768"/>
              <a:gd name="connsiteX75" fmla="*/ 150811 w 385450"/>
              <a:gd name="connsiteY75" fmla="*/ 471024 h 608768"/>
              <a:gd name="connsiteX76" fmla="*/ 134820 w 385450"/>
              <a:gd name="connsiteY76" fmla="*/ 452874 h 608768"/>
              <a:gd name="connsiteX77" fmla="*/ 125431 w 385450"/>
              <a:gd name="connsiteY77" fmla="*/ 429053 h 608768"/>
              <a:gd name="connsiteX78" fmla="*/ 132137 w 385450"/>
              <a:gd name="connsiteY78" fmla="*/ 426991 h 608768"/>
              <a:gd name="connsiteX79" fmla="*/ 190764 w 385450"/>
              <a:gd name="connsiteY79" fmla="*/ 406527 h 608768"/>
              <a:gd name="connsiteX80" fmla="*/ 210607 w 385450"/>
              <a:gd name="connsiteY80" fmla="*/ 426010 h 608768"/>
              <a:gd name="connsiteX81" fmla="*/ 211847 w 385450"/>
              <a:gd name="connsiteY81" fmla="*/ 428896 h 608768"/>
              <a:gd name="connsiteX82" fmla="*/ 190764 w 385450"/>
              <a:gd name="connsiteY82" fmla="*/ 440751 h 608768"/>
              <a:gd name="connsiteX83" fmla="*/ 169578 w 385450"/>
              <a:gd name="connsiteY83" fmla="*/ 428896 h 608768"/>
              <a:gd name="connsiteX84" fmla="*/ 170818 w 385450"/>
              <a:gd name="connsiteY84" fmla="*/ 426010 h 608768"/>
              <a:gd name="connsiteX85" fmla="*/ 190764 w 385450"/>
              <a:gd name="connsiteY85" fmla="*/ 406527 h 608768"/>
              <a:gd name="connsiteX86" fmla="*/ 190761 w 385450"/>
              <a:gd name="connsiteY86" fmla="*/ 397011 h 608768"/>
              <a:gd name="connsiteX87" fmla="*/ 162059 w 385450"/>
              <a:gd name="connsiteY87" fmla="*/ 421960 h 608768"/>
              <a:gd name="connsiteX88" fmla="*/ 160923 w 385450"/>
              <a:gd name="connsiteY88" fmla="*/ 424846 h 608768"/>
              <a:gd name="connsiteX89" fmla="*/ 154213 w 385450"/>
              <a:gd name="connsiteY89" fmla="*/ 422166 h 608768"/>
              <a:gd name="connsiteX90" fmla="*/ 145230 w 385450"/>
              <a:gd name="connsiteY90" fmla="*/ 415052 h 608768"/>
              <a:gd name="connsiteX91" fmla="*/ 138519 w 385450"/>
              <a:gd name="connsiteY91" fmla="*/ 417939 h 608768"/>
              <a:gd name="connsiteX92" fmla="*/ 132118 w 385450"/>
              <a:gd name="connsiteY92" fmla="*/ 417424 h 608768"/>
              <a:gd name="connsiteX93" fmla="*/ 117664 w 385450"/>
              <a:gd name="connsiteY93" fmla="*/ 423300 h 608768"/>
              <a:gd name="connsiteX94" fmla="*/ 127059 w 385450"/>
              <a:gd name="connsiteY94" fmla="*/ 458662 h 608768"/>
              <a:gd name="connsiteX95" fmla="*/ 143888 w 385450"/>
              <a:gd name="connsiteY95" fmla="*/ 477631 h 608768"/>
              <a:gd name="connsiteX96" fmla="*/ 127059 w 385450"/>
              <a:gd name="connsiteY96" fmla="*/ 496601 h 608768"/>
              <a:gd name="connsiteX97" fmla="*/ 117664 w 385450"/>
              <a:gd name="connsiteY97" fmla="*/ 531963 h 608768"/>
              <a:gd name="connsiteX98" fmla="*/ 132118 w 385450"/>
              <a:gd name="connsiteY98" fmla="*/ 537839 h 608768"/>
              <a:gd name="connsiteX99" fmla="*/ 160923 w 385450"/>
              <a:gd name="connsiteY99" fmla="*/ 530416 h 608768"/>
              <a:gd name="connsiteX100" fmla="*/ 162059 w 385450"/>
              <a:gd name="connsiteY100" fmla="*/ 533303 h 608768"/>
              <a:gd name="connsiteX101" fmla="*/ 190761 w 385450"/>
              <a:gd name="connsiteY101" fmla="*/ 558355 h 608768"/>
              <a:gd name="connsiteX102" fmla="*/ 219360 w 385450"/>
              <a:gd name="connsiteY102" fmla="*/ 533303 h 608768"/>
              <a:gd name="connsiteX103" fmla="*/ 220599 w 385450"/>
              <a:gd name="connsiteY103" fmla="*/ 530416 h 608768"/>
              <a:gd name="connsiteX104" fmla="*/ 249301 w 385450"/>
              <a:gd name="connsiteY104" fmla="*/ 537839 h 608768"/>
              <a:gd name="connsiteX105" fmla="*/ 263755 w 385450"/>
              <a:gd name="connsiteY105" fmla="*/ 531963 h 608768"/>
              <a:gd name="connsiteX106" fmla="*/ 254360 w 385450"/>
              <a:gd name="connsiteY106" fmla="*/ 496601 h 608768"/>
              <a:gd name="connsiteX107" fmla="*/ 237531 w 385450"/>
              <a:gd name="connsiteY107" fmla="*/ 477631 h 608768"/>
              <a:gd name="connsiteX108" fmla="*/ 251160 w 385450"/>
              <a:gd name="connsiteY108" fmla="*/ 462682 h 608768"/>
              <a:gd name="connsiteX109" fmla="*/ 252192 w 385450"/>
              <a:gd name="connsiteY109" fmla="*/ 462785 h 608768"/>
              <a:gd name="connsiteX110" fmla="*/ 261381 w 385450"/>
              <a:gd name="connsiteY110" fmla="*/ 453610 h 608768"/>
              <a:gd name="connsiteX111" fmla="*/ 260452 w 385450"/>
              <a:gd name="connsiteY111" fmla="*/ 449589 h 608768"/>
              <a:gd name="connsiteX112" fmla="*/ 263755 w 385450"/>
              <a:gd name="connsiteY112" fmla="*/ 423300 h 608768"/>
              <a:gd name="connsiteX113" fmla="*/ 249301 w 385450"/>
              <a:gd name="connsiteY113" fmla="*/ 417424 h 608768"/>
              <a:gd name="connsiteX114" fmla="*/ 220599 w 385450"/>
              <a:gd name="connsiteY114" fmla="*/ 424846 h 608768"/>
              <a:gd name="connsiteX115" fmla="*/ 219360 w 385450"/>
              <a:gd name="connsiteY115" fmla="*/ 421960 h 608768"/>
              <a:gd name="connsiteX116" fmla="*/ 190761 w 385450"/>
              <a:gd name="connsiteY116" fmla="*/ 397011 h 608768"/>
              <a:gd name="connsiteX117" fmla="*/ 15246 w 385450"/>
              <a:gd name="connsiteY117" fmla="*/ 352474 h 608768"/>
              <a:gd name="connsiteX118" fmla="*/ 370304 w 385450"/>
              <a:gd name="connsiteY118" fmla="*/ 352474 h 608768"/>
              <a:gd name="connsiteX119" fmla="*/ 381557 w 385450"/>
              <a:gd name="connsiteY119" fmla="*/ 357422 h 608768"/>
              <a:gd name="connsiteX120" fmla="*/ 385377 w 385450"/>
              <a:gd name="connsiteY120" fmla="*/ 369072 h 608768"/>
              <a:gd name="connsiteX121" fmla="*/ 355023 w 385450"/>
              <a:gd name="connsiteY121" fmla="*/ 595057 h 608768"/>
              <a:gd name="connsiteX122" fmla="*/ 339950 w 385450"/>
              <a:gd name="connsiteY122" fmla="*/ 608768 h 608768"/>
              <a:gd name="connsiteX123" fmla="*/ 45600 w 385450"/>
              <a:gd name="connsiteY123" fmla="*/ 608768 h 608768"/>
              <a:gd name="connsiteX124" fmla="*/ 30423 w 385450"/>
              <a:gd name="connsiteY124" fmla="*/ 595057 h 608768"/>
              <a:gd name="connsiteX125" fmla="*/ 69 w 385450"/>
              <a:gd name="connsiteY125" fmla="*/ 369072 h 608768"/>
              <a:gd name="connsiteX126" fmla="*/ 3992 w 385450"/>
              <a:gd name="connsiteY126" fmla="*/ 357422 h 608768"/>
              <a:gd name="connsiteX127" fmla="*/ 15246 w 385450"/>
              <a:gd name="connsiteY127" fmla="*/ 352474 h 608768"/>
              <a:gd name="connsiteX128" fmla="*/ 229886 w 385450"/>
              <a:gd name="connsiteY128" fmla="*/ 196878 h 608768"/>
              <a:gd name="connsiteX129" fmla="*/ 251679 w 385450"/>
              <a:gd name="connsiteY129" fmla="*/ 215230 h 608768"/>
              <a:gd name="connsiteX130" fmla="*/ 297227 w 385450"/>
              <a:gd name="connsiteY130" fmla="*/ 236159 h 608768"/>
              <a:gd name="connsiteX131" fmla="*/ 313855 w 385450"/>
              <a:gd name="connsiteY131" fmla="*/ 250387 h 608768"/>
              <a:gd name="connsiteX132" fmla="*/ 341122 w 385450"/>
              <a:gd name="connsiteY132" fmla="*/ 330599 h 608768"/>
              <a:gd name="connsiteX133" fmla="*/ 209538 w 385450"/>
              <a:gd name="connsiteY133" fmla="*/ 330599 h 608768"/>
              <a:gd name="connsiteX134" fmla="*/ 194769 w 385450"/>
              <a:gd name="connsiteY134" fmla="*/ 231726 h 608768"/>
              <a:gd name="connsiteX135" fmla="*/ 155647 w 385450"/>
              <a:gd name="connsiteY135" fmla="*/ 196878 h 608768"/>
              <a:gd name="connsiteX136" fmla="*/ 190747 w 385450"/>
              <a:gd name="connsiteY136" fmla="*/ 231726 h 608768"/>
              <a:gd name="connsiteX137" fmla="*/ 175881 w 385450"/>
              <a:gd name="connsiteY137" fmla="*/ 330599 h 608768"/>
              <a:gd name="connsiteX138" fmla="*/ 44465 w 385450"/>
              <a:gd name="connsiteY138" fmla="*/ 330599 h 608768"/>
              <a:gd name="connsiteX139" fmla="*/ 71615 w 385450"/>
              <a:gd name="connsiteY139" fmla="*/ 250387 h 608768"/>
              <a:gd name="connsiteX140" fmla="*/ 88339 w 385450"/>
              <a:gd name="connsiteY140" fmla="*/ 236159 h 608768"/>
              <a:gd name="connsiteX141" fmla="*/ 133762 w 385450"/>
              <a:gd name="connsiteY141" fmla="*/ 215230 h 608768"/>
              <a:gd name="connsiteX142" fmla="*/ 160716 w 385450"/>
              <a:gd name="connsiteY142" fmla="*/ 70485 h 608768"/>
              <a:gd name="connsiteX143" fmla="*/ 129130 w 385450"/>
              <a:gd name="connsiteY143" fmla="*/ 98962 h 608768"/>
              <a:gd name="connsiteX144" fmla="*/ 191398 w 385450"/>
              <a:gd name="connsiteY144" fmla="*/ 178647 h 608768"/>
              <a:gd name="connsiteX145" fmla="*/ 253666 w 385450"/>
              <a:gd name="connsiteY145" fmla="*/ 98962 h 608768"/>
              <a:gd name="connsiteX146" fmla="*/ 174876 w 385450"/>
              <a:gd name="connsiteY146" fmla="*/ 100611 h 608768"/>
              <a:gd name="connsiteX147" fmla="*/ 160716 w 385450"/>
              <a:gd name="connsiteY147" fmla="*/ 70485 h 608768"/>
              <a:gd name="connsiteX148" fmla="*/ 191398 w 385450"/>
              <a:gd name="connsiteY148" fmla="*/ 0 h 608768"/>
              <a:gd name="connsiteX149" fmla="*/ 273286 w 385450"/>
              <a:gd name="connsiteY149" fmla="*/ 80407 h 608768"/>
              <a:gd name="connsiteX150" fmla="*/ 191398 w 385450"/>
              <a:gd name="connsiteY150" fmla="*/ 196172 h 608768"/>
              <a:gd name="connsiteX151" fmla="*/ 109407 w 385450"/>
              <a:gd name="connsiteY151" fmla="*/ 80407 h 608768"/>
              <a:gd name="connsiteX152" fmla="*/ 191398 w 385450"/>
              <a:gd name="connsiteY152" fmla="*/ 0 h 608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385450" h="608768">
                <a:moveTo>
                  <a:pt x="190764" y="514563"/>
                </a:moveTo>
                <a:cubicBezTo>
                  <a:pt x="197998" y="519099"/>
                  <a:pt x="205026" y="523119"/>
                  <a:pt x="211847" y="526418"/>
                </a:cubicBezTo>
                <a:cubicBezTo>
                  <a:pt x="211433" y="527449"/>
                  <a:pt x="211020" y="528480"/>
                  <a:pt x="210607" y="529304"/>
                </a:cubicBezTo>
                <a:cubicBezTo>
                  <a:pt x="205026" y="541674"/>
                  <a:pt x="197792" y="548787"/>
                  <a:pt x="190764" y="548787"/>
                </a:cubicBezTo>
                <a:cubicBezTo>
                  <a:pt x="183633" y="548787"/>
                  <a:pt x="176399" y="541674"/>
                  <a:pt x="170818" y="529304"/>
                </a:cubicBezTo>
                <a:cubicBezTo>
                  <a:pt x="170405" y="528480"/>
                  <a:pt x="169991" y="527449"/>
                  <a:pt x="169578" y="526418"/>
                </a:cubicBezTo>
                <a:cubicBezTo>
                  <a:pt x="176399" y="523119"/>
                  <a:pt x="183530" y="519099"/>
                  <a:pt x="190764" y="514563"/>
                </a:cubicBezTo>
                <a:close/>
                <a:moveTo>
                  <a:pt x="219467" y="493887"/>
                </a:moveTo>
                <a:cubicBezTo>
                  <a:pt x="218642" y="502247"/>
                  <a:pt x="217095" y="510091"/>
                  <a:pt x="215033" y="517315"/>
                </a:cubicBezTo>
                <a:cubicBezTo>
                  <a:pt x="209981" y="514735"/>
                  <a:pt x="204826" y="511948"/>
                  <a:pt x="199568" y="508749"/>
                </a:cubicBezTo>
                <a:cubicBezTo>
                  <a:pt x="202764" y="506582"/>
                  <a:pt x="205857" y="504311"/>
                  <a:pt x="208950" y="502041"/>
                </a:cubicBezTo>
                <a:cubicBezTo>
                  <a:pt x="212559" y="499357"/>
                  <a:pt x="216064" y="496571"/>
                  <a:pt x="219467" y="493887"/>
                </a:cubicBezTo>
                <a:close/>
                <a:moveTo>
                  <a:pt x="162098" y="493887"/>
                </a:moveTo>
                <a:cubicBezTo>
                  <a:pt x="165494" y="496571"/>
                  <a:pt x="168992" y="499357"/>
                  <a:pt x="172491" y="502041"/>
                </a:cubicBezTo>
                <a:cubicBezTo>
                  <a:pt x="175578" y="504311"/>
                  <a:pt x="178666" y="506582"/>
                  <a:pt x="181856" y="508749"/>
                </a:cubicBezTo>
                <a:cubicBezTo>
                  <a:pt x="176608" y="511948"/>
                  <a:pt x="171462" y="514838"/>
                  <a:pt x="166523" y="517315"/>
                </a:cubicBezTo>
                <a:cubicBezTo>
                  <a:pt x="164362" y="510091"/>
                  <a:pt x="162921" y="502247"/>
                  <a:pt x="162098" y="493887"/>
                </a:cubicBezTo>
                <a:close/>
                <a:moveTo>
                  <a:pt x="230644" y="484220"/>
                </a:moveTo>
                <a:cubicBezTo>
                  <a:pt x="236930" y="490511"/>
                  <a:pt x="242392" y="496595"/>
                  <a:pt x="246720" y="502370"/>
                </a:cubicBezTo>
                <a:cubicBezTo>
                  <a:pt x="257437" y="516704"/>
                  <a:pt x="257643" y="524128"/>
                  <a:pt x="256097" y="526294"/>
                </a:cubicBezTo>
                <a:cubicBezTo>
                  <a:pt x="255067" y="527531"/>
                  <a:pt x="252697" y="528253"/>
                  <a:pt x="249296" y="528253"/>
                </a:cubicBezTo>
                <a:cubicBezTo>
                  <a:pt x="243010" y="528253"/>
                  <a:pt x="234250" y="525881"/>
                  <a:pt x="223842" y="521447"/>
                </a:cubicBezTo>
                <a:cubicBezTo>
                  <a:pt x="227140" y="510619"/>
                  <a:pt x="229201" y="498039"/>
                  <a:pt x="229716" y="485045"/>
                </a:cubicBezTo>
                <a:cubicBezTo>
                  <a:pt x="230025" y="484839"/>
                  <a:pt x="230335" y="484530"/>
                  <a:pt x="230644" y="484220"/>
                </a:cubicBezTo>
                <a:close/>
                <a:moveTo>
                  <a:pt x="150811" y="484220"/>
                </a:moveTo>
                <a:cubicBezTo>
                  <a:pt x="151120" y="484530"/>
                  <a:pt x="151430" y="484839"/>
                  <a:pt x="151842" y="485045"/>
                </a:cubicBezTo>
                <a:cubicBezTo>
                  <a:pt x="152358" y="498039"/>
                  <a:pt x="154421" y="510619"/>
                  <a:pt x="157723" y="521447"/>
                </a:cubicBezTo>
                <a:cubicBezTo>
                  <a:pt x="147303" y="525881"/>
                  <a:pt x="138430" y="528253"/>
                  <a:pt x="132137" y="528253"/>
                </a:cubicBezTo>
                <a:cubicBezTo>
                  <a:pt x="128733" y="528253"/>
                  <a:pt x="126360" y="527531"/>
                  <a:pt x="125431" y="526294"/>
                </a:cubicBezTo>
                <a:cubicBezTo>
                  <a:pt x="123781" y="524128"/>
                  <a:pt x="124090" y="516704"/>
                  <a:pt x="134820" y="502370"/>
                </a:cubicBezTo>
                <a:cubicBezTo>
                  <a:pt x="139153" y="496595"/>
                  <a:pt x="144517" y="490511"/>
                  <a:pt x="150811" y="484220"/>
                </a:cubicBezTo>
                <a:close/>
                <a:moveTo>
                  <a:pt x="190782" y="463115"/>
                </a:moveTo>
                <a:cubicBezTo>
                  <a:pt x="182728" y="463115"/>
                  <a:pt x="176120" y="469612"/>
                  <a:pt x="176120" y="477657"/>
                </a:cubicBezTo>
                <a:cubicBezTo>
                  <a:pt x="176120" y="485702"/>
                  <a:pt x="182728" y="492199"/>
                  <a:pt x="190782" y="492199"/>
                </a:cubicBezTo>
                <a:cubicBezTo>
                  <a:pt x="198836" y="492199"/>
                  <a:pt x="205341" y="485702"/>
                  <a:pt x="205341" y="477657"/>
                </a:cubicBezTo>
                <a:cubicBezTo>
                  <a:pt x="205341" y="469612"/>
                  <a:pt x="198836" y="463115"/>
                  <a:pt x="190782" y="463115"/>
                </a:cubicBezTo>
                <a:close/>
                <a:moveTo>
                  <a:pt x="190782" y="452183"/>
                </a:moveTo>
                <a:cubicBezTo>
                  <a:pt x="194913" y="454967"/>
                  <a:pt x="199146" y="457855"/>
                  <a:pt x="203276" y="460949"/>
                </a:cubicBezTo>
                <a:cubicBezTo>
                  <a:pt x="209162" y="465384"/>
                  <a:pt x="214944" y="469922"/>
                  <a:pt x="220210" y="474666"/>
                </a:cubicBezTo>
                <a:cubicBezTo>
                  <a:pt x="220210" y="475697"/>
                  <a:pt x="220314" y="476729"/>
                  <a:pt x="220314" y="477657"/>
                </a:cubicBezTo>
                <a:cubicBezTo>
                  <a:pt x="220314" y="478688"/>
                  <a:pt x="220210" y="479719"/>
                  <a:pt x="220210" y="480751"/>
                </a:cubicBezTo>
                <a:cubicBezTo>
                  <a:pt x="214944" y="485392"/>
                  <a:pt x="209162" y="490033"/>
                  <a:pt x="203276" y="494365"/>
                </a:cubicBezTo>
                <a:cubicBezTo>
                  <a:pt x="199146" y="497459"/>
                  <a:pt x="194913" y="500347"/>
                  <a:pt x="190782" y="503131"/>
                </a:cubicBezTo>
                <a:cubicBezTo>
                  <a:pt x="186549" y="500347"/>
                  <a:pt x="182315" y="497459"/>
                  <a:pt x="178288" y="494365"/>
                </a:cubicBezTo>
                <a:cubicBezTo>
                  <a:pt x="172299" y="490033"/>
                  <a:pt x="166620" y="485392"/>
                  <a:pt x="161251" y="480751"/>
                </a:cubicBezTo>
                <a:cubicBezTo>
                  <a:pt x="161251" y="479719"/>
                  <a:pt x="161251" y="478688"/>
                  <a:pt x="161251" y="477657"/>
                </a:cubicBezTo>
                <a:cubicBezTo>
                  <a:pt x="161251" y="476729"/>
                  <a:pt x="161251" y="475697"/>
                  <a:pt x="161251" y="474666"/>
                </a:cubicBezTo>
                <a:cubicBezTo>
                  <a:pt x="166620" y="469922"/>
                  <a:pt x="172299" y="465384"/>
                  <a:pt x="178288" y="460949"/>
                </a:cubicBezTo>
                <a:cubicBezTo>
                  <a:pt x="182315" y="457855"/>
                  <a:pt x="186549" y="454967"/>
                  <a:pt x="190782" y="452183"/>
                </a:cubicBezTo>
                <a:close/>
                <a:moveTo>
                  <a:pt x="215033" y="437929"/>
                </a:moveTo>
                <a:cubicBezTo>
                  <a:pt x="217095" y="445143"/>
                  <a:pt x="218642" y="452976"/>
                  <a:pt x="219467" y="461427"/>
                </a:cubicBezTo>
                <a:cubicBezTo>
                  <a:pt x="216064" y="458644"/>
                  <a:pt x="212559" y="455861"/>
                  <a:pt x="208950" y="453182"/>
                </a:cubicBezTo>
                <a:cubicBezTo>
                  <a:pt x="205960" y="450914"/>
                  <a:pt x="202764" y="448647"/>
                  <a:pt x="199568" y="446483"/>
                </a:cubicBezTo>
                <a:cubicBezTo>
                  <a:pt x="204826" y="443288"/>
                  <a:pt x="209981" y="440505"/>
                  <a:pt x="215033" y="437929"/>
                </a:cubicBezTo>
                <a:close/>
                <a:moveTo>
                  <a:pt x="166523" y="437929"/>
                </a:moveTo>
                <a:cubicBezTo>
                  <a:pt x="171462" y="440505"/>
                  <a:pt x="176608" y="443391"/>
                  <a:pt x="181856" y="446483"/>
                </a:cubicBezTo>
                <a:cubicBezTo>
                  <a:pt x="178666" y="448647"/>
                  <a:pt x="175578" y="450914"/>
                  <a:pt x="172491" y="453182"/>
                </a:cubicBezTo>
                <a:cubicBezTo>
                  <a:pt x="168992" y="455861"/>
                  <a:pt x="165494" y="458644"/>
                  <a:pt x="162098" y="461427"/>
                </a:cubicBezTo>
                <a:cubicBezTo>
                  <a:pt x="162921" y="452976"/>
                  <a:pt x="164362" y="445143"/>
                  <a:pt x="166523" y="437929"/>
                </a:cubicBezTo>
                <a:close/>
                <a:moveTo>
                  <a:pt x="249292" y="426991"/>
                </a:moveTo>
                <a:cubicBezTo>
                  <a:pt x="252692" y="426991"/>
                  <a:pt x="255061" y="427713"/>
                  <a:pt x="256092" y="429053"/>
                </a:cubicBezTo>
                <a:cubicBezTo>
                  <a:pt x="257431" y="430806"/>
                  <a:pt x="257225" y="435859"/>
                  <a:pt x="252280" y="444418"/>
                </a:cubicBezTo>
                <a:lnTo>
                  <a:pt x="252177" y="444418"/>
                </a:lnTo>
                <a:cubicBezTo>
                  <a:pt x="247128" y="444418"/>
                  <a:pt x="243110" y="448543"/>
                  <a:pt x="243110" y="453596"/>
                </a:cubicBezTo>
                <a:cubicBezTo>
                  <a:pt x="243110" y="454731"/>
                  <a:pt x="243213" y="455762"/>
                  <a:pt x="243625" y="456793"/>
                </a:cubicBezTo>
                <a:cubicBezTo>
                  <a:pt x="239916" y="461433"/>
                  <a:pt x="235588" y="466177"/>
                  <a:pt x="230642" y="471024"/>
                </a:cubicBezTo>
                <a:cubicBezTo>
                  <a:pt x="230333" y="470714"/>
                  <a:pt x="230024" y="470405"/>
                  <a:pt x="229715" y="470199"/>
                </a:cubicBezTo>
                <a:cubicBezTo>
                  <a:pt x="229200" y="457205"/>
                  <a:pt x="227139" y="444625"/>
                  <a:pt x="223842" y="433797"/>
                </a:cubicBezTo>
                <a:cubicBezTo>
                  <a:pt x="234249" y="429363"/>
                  <a:pt x="243007" y="426991"/>
                  <a:pt x="249292" y="426991"/>
                </a:cubicBezTo>
                <a:close/>
                <a:moveTo>
                  <a:pt x="132137" y="426991"/>
                </a:moveTo>
                <a:cubicBezTo>
                  <a:pt x="133478" y="426991"/>
                  <a:pt x="135026" y="427094"/>
                  <a:pt x="136677" y="427300"/>
                </a:cubicBezTo>
                <a:cubicBezTo>
                  <a:pt x="137915" y="430909"/>
                  <a:pt x="141422" y="433384"/>
                  <a:pt x="145240" y="433384"/>
                </a:cubicBezTo>
                <a:cubicBezTo>
                  <a:pt x="147406" y="433384"/>
                  <a:pt x="149469" y="432559"/>
                  <a:pt x="151120" y="431219"/>
                </a:cubicBezTo>
                <a:cubicBezTo>
                  <a:pt x="153287" y="432044"/>
                  <a:pt x="155453" y="432869"/>
                  <a:pt x="157723" y="433797"/>
                </a:cubicBezTo>
                <a:cubicBezTo>
                  <a:pt x="154421" y="444625"/>
                  <a:pt x="152358" y="457205"/>
                  <a:pt x="151739" y="470199"/>
                </a:cubicBezTo>
                <a:cubicBezTo>
                  <a:pt x="151430" y="470405"/>
                  <a:pt x="151120" y="470714"/>
                  <a:pt x="150811" y="471024"/>
                </a:cubicBezTo>
                <a:cubicBezTo>
                  <a:pt x="144517" y="464836"/>
                  <a:pt x="139153" y="458752"/>
                  <a:pt x="134820" y="452874"/>
                </a:cubicBezTo>
                <a:cubicBezTo>
                  <a:pt x="123987" y="438540"/>
                  <a:pt x="123781" y="431116"/>
                  <a:pt x="125431" y="429053"/>
                </a:cubicBezTo>
                <a:cubicBezTo>
                  <a:pt x="126360" y="427713"/>
                  <a:pt x="128733" y="426991"/>
                  <a:pt x="132137" y="426991"/>
                </a:cubicBezTo>
                <a:close/>
                <a:moveTo>
                  <a:pt x="190764" y="406527"/>
                </a:moveTo>
                <a:cubicBezTo>
                  <a:pt x="197792" y="406527"/>
                  <a:pt x="205026" y="413640"/>
                  <a:pt x="210607" y="426010"/>
                </a:cubicBezTo>
                <a:cubicBezTo>
                  <a:pt x="211020" y="426937"/>
                  <a:pt x="211433" y="427865"/>
                  <a:pt x="211847" y="428896"/>
                </a:cubicBezTo>
                <a:cubicBezTo>
                  <a:pt x="205026" y="432195"/>
                  <a:pt x="197998" y="436215"/>
                  <a:pt x="190764" y="440751"/>
                </a:cubicBezTo>
                <a:cubicBezTo>
                  <a:pt x="183530" y="436215"/>
                  <a:pt x="176399" y="432195"/>
                  <a:pt x="169578" y="428896"/>
                </a:cubicBezTo>
                <a:cubicBezTo>
                  <a:pt x="169991" y="427865"/>
                  <a:pt x="170405" y="426937"/>
                  <a:pt x="170818" y="426010"/>
                </a:cubicBezTo>
                <a:cubicBezTo>
                  <a:pt x="176399" y="413640"/>
                  <a:pt x="183633" y="406527"/>
                  <a:pt x="190764" y="406527"/>
                </a:cubicBezTo>
                <a:close/>
                <a:moveTo>
                  <a:pt x="190761" y="397011"/>
                </a:moveTo>
                <a:cubicBezTo>
                  <a:pt x="179611" y="397011"/>
                  <a:pt x="169390" y="405877"/>
                  <a:pt x="162059" y="421960"/>
                </a:cubicBezTo>
                <a:cubicBezTo>
                  <a:pt x="161646" y="422888"/>
                  <a:pt x="161336" y="423815"/>
                  <a:pt x="160923" y="424846"/>
                </a:cubicBezTo>
                <a:cubicBezTo>
                  <a:pt x="158549" y="423815"/>
                  <a:pt x="156381" y="422991"/>
                  <a:pt x="154213" y="422166"/>
                </a:cubicBezTo>
                <a:cubicBezTo>
                  <a:pt x="153283" y="418042"/>
                  <a:pt x="149567" y="415052"/>
                  <a:pt x="145230" y="415052"/>
                </a:cubicBezTo>
                <a:cubicBezTo>
                  <a:pt x="142752" y="415052"/>
                  <a:pt x="140275" y="416083"/>
                  <a:pt x="138519" y="417939"/>
                </a:cubicBezTo>
                <a:cubicBezTo>
                  <a:pt x="136248" y="417630"/>
                  <a:pt x="134080" y="417424"/>
                  <a:pt x="132118" y="417424"/>
                </a:cubicBezTo>
                <a:cubicBezTo>
                  <a:pt x="125407" y="417424"/>
                  <a:pt x="120555" y="419382"/>
                  <a:pt x="117664" y="423300"/>
                </a:cubicBezTo>
                <a:cubicBezTo>
                  <a:pt x="112089" y="430723"/>
                  <a:pt x="115393" y="442991"/>
                  <a:pt x="127059" y="458662"/>
                </a:cubicBezTo>
                <a:cubicBezTo>
                  <a:pt x="131602" y="464744"/>
                  <a:pt x="137281" y="471136"/>
                  <a:pt x="143888" y="477631"/>
                </a:cubicBezTo>
                <a:cubicBezTo>
                  <a:pt x="137281" y="484126"/>
                  <a:pt x="131602" y="490518"/>
                  <a:pt x="127059" y="496601"/>
                </a:cubicBezTo>
                <a:cubicBezTo>
                  <a:pt x="115393" y="512271"/>
                  <a:pt x="112089" y="524540"/>
                  <a:pt x="117664" y="531963"/>
                </a:cubicBezTo>
                <a:cubicBezTo>
                  <a:pt x="120555" y="535880"/>
                  <a:pt x="125407" y="537839"/>
                  <a:pt x="132118" y="537839"/>
                </a:cubicBezTo>
                <a:cubicBezTo>
                  <a:pt x="139552" y="537839"/>
                  <a:pt x="149463" y="535365"/>
                  <a:pt x="160923" y="530416"/>
                </a:cubicBezTo>
                <a:cubicBezTo>
                  <a:pt x="161336" y="531447"/>
                  <a:pt x="161646" y="532375"/>
                  <a:pt x="162059" y="533303"/>
                </a:cubicBezTo>
                <a:cubicBezTo>
                  <a:pt x="169390" y="549386"/>
                  <a:pt x="179611" y="558355"/>
                  <a:pt x="190761" y="558355"/>
                </a:cubicBezTo>
                <a:cubicBezTo>
                  <a:pt x="201912" y="558355"/>
                  <a:pt x="212029" y="549386"/>
                  <a:pt x="219360" y="533303"/>
                </a:cubicBezTo>
                <a:cubicBezTo>
                  <a:pt x="219773" y="532375"/>
                  <a:pt x="220186" y="531447"/>
                  <a:pt x="220599" y="530416"/>
                </a:cubicBezTo>
                <a:cubicBezTo>
                  <a:pt x="231956" y="535365"/>
                  <a:pt x="241971" y="537839"/>
                  <a:pt x="249301" y="537839"/>
                </a:cubicBezTo>
                <a:cubicBezTo>
                  <a:pt x="256012" y="537839"/>
                  <a:pt x="260865" y="535880"/>
                  <a:pt x="263755" y="531963"/>
                </a:cubicBezTo>
                <a:cubicBezTo>
                  <a:pt x="269331" y="524540"/>
                  <a:pt x="266130" y="512271"/>
                  <a:pt x="254360" y="496601"/>
                </a:cubicBezTo>
                <a:cubicBezTo>
                  <a:pt x="249817" y="490518"/>
                  <a:pt x="244139" y="484126"/>
                  <a:pt x="237531" y="477631"/>
                </a:cubicBezTo>
                <a:cubicBezTo>
                  <a:pt x="242694" y="472579"/>
                  <a:pt x="247236" y="467528"/>
                  <a:pt x="251160" y="462682"/>
                </a:cubicBezTo>
                <a:cubicBezTo>
                  <a:pt x="251573" y="462785"/>
                  <a:pt x="251882" y="462785"/>
                  <a:pt x="252192" y="462785"/>
                </a:cubicBezTo>
                <a:cubicBezTo>
                  <a:pt x="257251" y="462785"/>
                  <a:pt x="261381" y="458662"/>
                  <a:pt x="261381" y="453610"/>
                </a:cubicBezTo>
                <a:cubicBezTo>
                  <a:pt x="261381" y="452270"/>
                  <a:pt x="261071" y="450826"/>
                  <a:pt x="260452" y="449589"/>
                </a:cubicBezTo>
                <a:cubicBezTo>
                  <a:pt x="267162" y="438146"/>
                  <a:pt x="268298" y="429279"/>
                  <a:pt x="263755" y="423300"/>
                </a:cubicBezTo>
                <a:cubicBezTo>
                  <a:pt x="260865" y="419382"/>
                  <a:pt x="256012" y="417424"/>
                  <a:pt x="249301" y="417424"/>
                </a:cubicBezTo>
                <a:cubicBezTo>
                  <a:pt x="241971" y="417424"/>
                  <a:pt x="231956" y="420001"/>
                  <a:pt x="220599" y="424846"/>
                </a:cubicBezTo>
                <a:cubicBezTo>
                  <a:pt x="220186" y="423815"/>
                  <a:pt x="219773" y="422888"/>
                  <a:pt x="219360" y="421960"/>
                </a:cubicBezTo>
                <a:cubicBezTo>
                  <a:pt x="212029" y="405877"/>
                  <a:pt x="201912" y="397011"/>
                  <a:pt x="190761" y="397011"/>
                </a:cubicBezTo>
                <a:close/>
                <a:moveTo>
                  <a:pt x="15246" y="352474"/>
                </a:moveTo>
                <a:lnTo>
                  <a:pt x="370304" y="352474"/>
                </a:lnTo>
                <a:cubicBezTo>
                  <a:pt x="374537" y="352474"/>
                  <a:pt x="378666" y="354329"/>
                  <a:pt x="381557" y="357422"/>
                </a:cubicBezTo>
                <a:cubicBezTo>
                  <a:pt x="384448" y="360618"/>
                  <a:pt x="385790" y="364845"/>
                  <a:pt x="385377" y="369072"/>
                </a:cubicBezTo>
                <a:lnTo>
                  <a:pt x="355023" y="595057"/>
                </a:lnTo>
                <a:cubicBezTo>
                  <a:pt x="354301" y="602789"/>
                  <a:pt x="347796" y="608768"/>
                  <a:pt x="339950" y="608768"/>
                </a:cubicBezTo>
                <a:lnTo>
                  <a:pt x="45600" y="608768"/>
                </a:lnTo>
                <a:cubicBezTo>
                  <a:pt x="37753" y="608768"/>
                  <a:pt x="31249" y="602789"/>
                  <a:pt x="30423" y="595057"/>
                </a:cubicBezTo>
                <a:lnTo>
                  <a:pt x="69" y="369072"/>
                </a:lnTo>
                <a:cubicBezTo>
                  <a:pt x="-344" y="364845"/>
                  <a:pt x="1101" y="360618"/>
                  <a:pt x="3992" y="357422"/>
                </a:cubicBezTo>
                <a:cubicBezTo>
                  <a:pt x="6883" y="354329"/>
                  <a:pt x="10909" y="352474"/>
                  <a:pt x="15246" y="352474"/>
                </a:cubicBezTo>
                <a:close/>
                <a:moveTo>
                  <a:pt x="229886" y="196878"/>
                </a:moveTo>
                <a:lnTo>
                  <a:pt x="251679" y="215230"/>
                </a:lnTo>
                <a:lnTo>
                  <a:pt x="297227" y="236159"/>
                </a:lnTo>
                <a:cubicBezTo>
                  <a:pt x="303940" y="238943"/>
                  <a:pt x="310963" y="243376"/>
                  <a:pt x="313855" y="250387"/>
                </a:cubicBezTo>
                <a:cubicBezTo>
                  <a:pt x="313855" y="250387"/>
                  <a:pt x="333169" y="296163"/>
                  <a:pt x="341122" y="330599"/>
                </a:cubicBezTo>
                <a:lnTo>
                  <a:pt x="209538" y="330599"/>
                </a:lnTo>
                <a:lnTo>
                  <a:pt x="194769" y="231726"/>
                </a:lnTo>
                <a:close/>
                <a:moveTo>
                  <a:pt x="155647" y="196878"/>
                </a:moveTo>
                <a:lnTo>
                  <a:pt x="190747" y="231726"/>
                </a:lnTo>
                <a:lnTo>
                  <a:pt x="175881" y="330599"/>
                </a:lnTo>
                <a:lnTo>
                  <a:pt x="44465" y="330599"/>
                </a:lnTo>
                <a:cubicBezTo>
                  <a:pt x="52414" y="296163"/>
                  <a:pt x="71615" y="250387"/>
                  <a:pt x="71615" y="250387"/>
                </a:cubicBezTo>
                <a:cubicBezTo>
                  <a:pt x="75022" y="243067"/>
                  <a:pt x="81629" y="238943"/>
                  <a:pt x="88339" y="236159"/>
                </a:cubicBezTo>
                <a:lnTo>
                  <a:pt x="133762" y="215230"/>
                </a:lnTo>
                <a:close/>
                <a:moveTo>
                  <a:pt x="160716" y="70485"/>
                </a:moveTo>
                <a:cubicBezTo>
                  <a:pt x="145085" y="69041"/>
                  <a:pt x="126549" y="77366"/>
                  <a:pt x="129130" y="98962"/>
                </a:cubicBezTo>
                <a:cubicBezTo>
                  <a:pt x="133777" y="138753"/>
                  <a:pt x="157321" y="178647"/>
                  <a:pt x="191398" y="178647"/>
                </a:cubicBezTo>
                <a:cubicBezTo>
                  <a:pt x="223822" y="178647"/>
                  <a:pt x="253253" y="130712"/>
                  <a:pt x="253666" y="98962"/>
                </a:cubicBezTo>
                <a:cubicBezTo>
                  <a:pt x="254182" y="45976"/>
                  <a:pt x="217317" y="105147"/>
                  <a:pt x="174876" y="100611"/>
                </a:cubicBezTo>
                <a:cubicBezTo>
                  <a:pt x="189075" y="83138"/>
                  <a:pt x="176347" y="71928"/>
                  <a:pt x="160716" y="70485"/>
                </a:cubicBezTo>
                <a:close/>
                <a:moveTo>
                  <a:pt x="191398" y="0"/>
                </a:moveTo>
                <a:cubicBezTo>
                  <a:pt x="249845" y="0"/>
                  <a:pt x="273802" y="30101"/>
                  <a:pt x="273286" y="80407"/>
                </a:cubicBezTo>
                <a:cubicBezTo>
                  <a:pt x="272563" y="152979"/>
                  <a:pt x="225991" y="196172"/>
                  <a:pt x="191398" y="196172"/>
                </a:cubicBezTo>
                <a:cubicBezTo>
                  <a:pt x="150816" y="196172"/>
                  <a:pt x="110130" y="152979"/>
                  <a:pt x="109407" y="80407"/>
                </a:cubicBezTo>
                <a:cubicBezTo>
                  <a:pt x="108891" y="30101"/>
                  <a:pt x="132848" y="0"/>
                  <a:pt x="191398" y="0"/>
                </a:cubicBezTo>
                <a:close/>
              </a:path>
            </a:pathLst>
          </a:custGeom>
          <a:solidFill>
            <a:srgbClr val="C10000"/>
          </a:solidFill>
          <a:ln>
            <a:noFill/>
          </a:ln>
        </p:spPr>
      </p:sp>
      <p:sp>
        <p:nvSpPr>
          <p:cNvPr id="14" name="female-instructor-giving-a-lecture-standing-at-the-side-of-a-screen_43195">
            <a:extLst>
              <a:ext uri="{FF2B5EF4-FFF2-40B4-BE49-F238E27FC236}">
                <a16:creationId xmlns:a16="http://schemas.microsoft.com/office/drawing/2014/main" id="{A3CC8630-8483-4AC1-83CF-8E9426A7DDC8}"/>
              </a:ext>
            </a:extLst>
          </p:cNvPr>
          <p:cNvSpPr>
            <a:spLocks noChangeAspect="1"/>
          </p:cNvSpPr>
          <p:nvPr/>
        </p:nvSpPr>
        <p:spPr bwMode="auto">
          <a:xfrm>
            <a:off x="107504" y="6525344"/>
            <a:ext cx="294652" cy="253054"/>
          </a:xfrm>
          <a:custGeom>
            <a:avLst/>
            <a:gdLst>
              <a:gd name="connsiteX0" fmla="*/ 45866 w 605777"/>
              <a:gd name="connsiteY0" fmla="*/ 339787 h 520255"/>
              <a:gd name="connsiteX1" fmla="*/ 147937 w 605777"/>
              <a:gd name="connsiteY1" fmla="*/ 341219 h 520255"/>
              <a:gd name="connsiteX2" fmla="*/ 150812 w 605777"/>
              <a:gd name="connsiteY2" fmla="*/ 408537 h 520255"/>
              <a:gd name="connsiteX3" fmla="*/ 130685 w 605777"/>
              <a:gd name="connsiteY3" fmla="*/ 408537 h 520255"/>
              <a:gd name="connsiteX4" fmla="*/ 133561 w 605777"/>
              <a:gd name="connsiteY4" fmla="*/ 447208 h 520255"/>
              <a:gd name="connsiteX5" fmla="*/ 129248 w 605777"/>
              <a:gd name="connsiteY5" fmla="*/ 501635 h 520255"/>
              <a:gd name="connsiteX6" fmla="*/ 150812 w 605777"/>
              <a:gd name="connsiteY6" fmla="*/ 510229 h 520255"/>
              <a:gd name="connsiteX7" fmla="*/ 136436 w 605777"/>
              <a:gd name="connsiteY7" fmla="*/ 520255 h 520255"/>
              <a:gd name="connsiteX8" fmla="*/ 127810 w 605777"/>
              <a:gd name="connsiteY8" fmla="*/ 520255 h 520255"/>
              <a:gd name="connsiteX9" fmla="*/ 104808 w 605777"/>
              <a:gd name="connsiteY9" fmla="*/ 520255 h 520255"/>
              <a:gd name="connsiteX10" fmla="*/ 103371 w 605777"/>
              <a:gd name="connsiteY10" fmla="*/ 520255 h 520255"/>
              <a:gd name="connsiteX11" fmla="*/ 103371 w 605777"/>
              <a:gd name="connsiteY11" fmla="*/ 511661 h 520255"/>
              <a:gd name="connsiteX12" fmla="*/ 106246 w 605777"/>
              <a:gd name="connsiteY12" fmla="*/ 505932 h 520255"/>
              <a:gd name="connsiteX13" fmla="*/ 111996 w 605777"/>
              <a:gd name="connsiteY13" fmla="*/ 447208 h 520255"/>
              <a:gd name="connsiteX14" fmla="*/ 109121 w 605777"/>
              <a:gd name="connsiteY14" fmla="*/ 408537 h 520255"/>
              <a:gd name="connsiteX15" fmla="*/ 96183 w 605777"/>
              <a:gd name="connsiteY15" fmla="*/ 408537 h 520255"/>
              <a:gd name="connsiteX16" fmla="*/ 96183 w 605777"/>
              <a:gd name="connsiteY16" fmla="*/ 507364 h 520255"/>
              <a:gd name="connsiteX17" fmla="*/ 97620 w 605777"/>
              <a:gd name="connsiteY17" fmla="*/ 511661 h 520255"/>
              <a:gd name="connsiteX18" fmla="*/ 97620 w 605777"/>
              <a:gd name="connsiteY18" fmla="*/ 520255 h 520255"/>
              <a:gd name="connsiteX19" fmla="*/ 96183 w 605777"/>
              <a:gd name="connsiteY19" fmla="*/ 520255 h 520255"/>
              <a:gd name="connsiteX20" fmla="*/ 74618 w 605777"/>
              <a:gd name="connsiteY20" fmla="*/ 520255 h 520255"/>
              <a:gd name="connsiteX21" fmla="*/ 65993 w 605777"/>
              <a:gd name="connsiteY21" fmla="*/ 520255 h 520255"/>
              <a:gd name="connsiteX22" fmla="*/ 51617 w 605777"/>
              <a:gd name="connsiteY22" fmla="*/ 510229 h 520255"/>
              <a:gd name="connsiteX23" fmla="*/ 74618 w 605777"/>
              <a:gd name="connsiteY23" fmla="*/ 501635 h 520255"/>
              <a:gd name="connsiteX24" fmla="*/ 74618 w 605777"/>
              <a:gd name="connsiteY24" fmla="*/ 408537 h 520255"/>
              <a:gd name="connsiteX25" fmla="*/ 42991 w 605777"/>
              <a:gd name="connsiteY25" fmla="*/ 408537 h 520255"/>
              <a:gd name="connsiteX26" fmla="*/ 219630 w 605777"/>
              <a:gd name="connsiteY26" fmla="*/ 117545 h 520255"/>
              <a:gd name="connsiteX27" fmla="*/ 219630 w 605777"/>
              <a:gd name="connsiteY27" fmla="*/ 182051 h 520255"/>
              <a:gd name="connsiteX28" fmla="*/ 285663 w 605777"/>
              <a:gd name="connsiteY28" fmla="*/ 197819 h 520255"/>
              <a:gd name="connsiteX29" fmla="*/ 285663 w 605777"/>
              <a:gd name="connsiteY29" fmla="*/ 240823 h 520255"/>
              <a:gd name="connsiteX30" fmla="*/ 219630 w 605777"/>
              <a:gd name="connsiteY30" fmla="*/ 233656 h 520255"/>
              <a:gd name="connsiteX31" fmla="*/ 219630 w 605777"/>
              <a:gd name="connsiteY31" fmla="*/ 341166 h 520255"/>
              <a:gd name="connsiteX32" fmla="*/ 377534 w 605777"/>
              <a:gd name="connsiteY32" fmla="*/ 341166 h 520255"/>
              <a:gd name="connsiteX33" fmla="*/ 403373 w 605777"/>
              <a:gd name="connsiteY33" fmla="*/ 341166 h 520255"/>
              <a:gd name="connsiteX34" fmla="*/ 581374 w 605777"/>
              <a:gd name="connsiteY34" fmla="*/ 341166 h 520255"/>
              <a:gd name="connsiteX35" fmla="*/ 581374 w 605777"/>
              <a:gd name="connsiteY35" fmla="*/ 117545 h 520255"/>
              <a:gd name="connsiteX36" fmla="*/ 107662 w 605777"/>
              <a:gd name="connsiteY36" fmla="*/ 78841 h 520255"/>
              <a:gd name="connsiteX37" fmla="*/ 107662 w 605777"/>
              <a:gd name="connsiteY37" fmla="*/ 98909 h 520255"/>
              <a:gd name="connsiteX38" fmla="*/ 144985 w 605777"/>
              <a:gd name="connsiteY38" fmla="*/ 98909 h 520255"/>
              <a:gd name="connsiteX39" fmla="*/ 144985 w 605777"/>
              <a:gd name="connsiteY39" fmla="*/ 78841 h 520255"/>
              <a:gd name="connsiteX40" fmla="*/ 48807 w 605777"/>
              <a:gd name="connsiteY40" fmla="*/ 78841 h 520255"/>
              <a:gd name="connsiteX41" fmla="*/ 48807 w 605777"/>
              <a:gd name="connsiteY41" fmla="*/ 98909 h 520255"/>
              <a:gd name="connsiteX42" fmla="*/ 87565 w 605777"/>
              <a:gd name="connsiteY42" fmla="*/ 98909 h 520255"/>
              <a:gd name="connsiteX43" fmla="*/ 87565 w 605777"/>
              <a:gd name="connsiteY43" fmla="*/ 78841 h 520255"/>
              <a:gd name="connsiteX44" fmla="*/ 68904 w 605777"/>
              <a:gd name="connsiteY44" fmla="*/ 38704 h 520255"/>
              <a:gd name="connsiteX45" fmla="*/ 24403 w 605777"/>
              <a:gd name="connsiteY45" fmla="*/ 77407 h 520255"/>
              <a:gd name="connsiteX46" fmla="*/ 24403 w 605777"/>
              <a:gd name="connsiteY46" fmla="*/ 81708 h 520255"/>
              <a:gd name="connsiteX47" fmla="*/ 43065 w 605777"/>
              <a:gd name="connsiteY47" fmla="*/ 84575 h 520255"/>
              <a:gd name="connsiteX48" fmla="*/ 43065 w 605777"/>
              <a:gd name="connsiteY48" fmla="*/ 73107 h 520255"/>
              <a:gd name="connsiteX49" fmla="*/ 93307 w 605777"/>
              <a:gd name="connsiteY49" fmla="*/ 73107 h 520255"/>
              <a:gd name="connsiteX50" fmla="*/ 93307 w 605777"/>
              <a:gd name="connsiteY50" fmla="*/ 84575 h 520255"/>
              <a:gd name="connsiteX51" fmla="*/ 101920 w 605777"/>
              <a:gd name="connsiteY51" fmla="*/ 84575 h 520255"/>
              <a:gd name="connsiteX52" fmla="*/ 101920 w 605777"/>
              <a:gd name="connsiteY52" fmla="*/ 73107 h 520255"/>
              <a:gd name="connsiteX53" fmla="*/ 150726 w 605777"/>
              <a:gd name="connsiteY53" fmla="*/ 73107 h 520255"/>
              <a:gd name="connsiteX54" fmla="*/ 150726 w 605777"/>
              <a:gd name="connsiteY54" fmla="*/ 84575 h 520255"/>
              <a:gd name="connsiteX55" fmla="*/ 166517 w 605777"/>
              <a:gd name="connsiteY55" fmla="*/ 81708 h 520255"/>
              <a:gd name="connsiteX56" fmla="*/ 159339 w 605777"/>
              <a:gd name="connsiteY56" fmla="*/ 63073 h 520255"/>
              <a:gd name="connsiteX57" fmla="*/ 68904 w 605777"/>
              <a:gd name="connsiteY57" fmla="*/ 38704 h 520255"/>
              <a:gd name="connsiteX58" fmla="*/ 94742 w 605777"/>
              <a:gd name="connsiteY58" fmla="*/ 0 h 520255"/>
              <a:gd name="connsiteX59" fmla="*/ 180872 w 605777"/>
              <a:gd name="connsiteY59" fmla="*/ 134746 h 520255"/>
              <a:gd name="connsiteX60" fmla="*/ 175130 w 605777"/>
              <a:gd name="connsiteY60" fmla="*/ 172016 h 520255"/>
              <a:gd name="connsiteX61" fmla="*/ 202404 w 605777"/>
              <a:gd name="connsiteY61" fmla="*/ 177750 h 520255"/>
              <a:gd name="connsiteX62" fmla="*/ 202404 w 605777"/>
              <a:gd name="connsiteY62" fmla="*/ 117545 h 520255"/>
              <a:gd name="connsiteX63" fmla="*/ 190920 w 605777"/>
              <a:gd name="connsiteY63" fmla="*/ 117545 h 520255"/>
              <a:gd name="connsiteX64" fmla="*/ 190920 w 605777"/>
              <a:gd name="connsiteY64" fmla="*/ 93176 h 520255"/>
              <a:gd name="connsiteX65" fmla="*/ 202404 w 605777"/>
              <a:gd name="connsiteY65" fmla="*/ 93176 h 520255"/>
              <a:gd name="connsiteX66" fmla="*/ 371792 w 605777"/>
              <a:gd name="connsiteY66" fmla="*/ 93176 h 520255"/>
              <a:gd name="connsiteX67" fmla="*/ 371792 w 605777"/>
              <a:gd name="connsiteY67" fmla="*/ 73107 h 520255"/>
              <a:gd name="connsiteX68" fmla="*/ 420599 w 605777"/>
              <a:gd name="connsiteY68" fmla="*/ 73107 h 520255"/>
              <a:gd name="connsiteX69" fmla="*/ 420599 w 605777"/>
              <a:gd name="connsiteY69" fmla="*/ 93176 h 520255"/>
              <a:gd name="connsiteX70" fmla="*/ 598600 w 605777"/>
              <a:gd name="connsiteY70" fmla="*/ 93176 h 520255"/>
              <a:gd name="connsiteX71" fmla="*/ 605777 w 605777"/>
              <a:gd name="connsiteY71" fmla="*/ 93176 h 520255"/>
              <a:gd name="connsiteX72" fmla="*/ 605777 w 605777"/>
              <a:gd name="connsiteY72" fmla="*/ 117545 h 520255"/>
              <a:gd name="connsiteX73" fmla="*/ 598600 w 605777"/>
              <a:gd name="connsiteY73" fmla="*/ 117545 h 520255"/>
              <a:gd name="connsiteX74" fmla="*/ 598600 w 605777"/>
              <a:gd name="connsiteY74" fmla="*/ 358368 h 520255"/>
              <a:gd name="connsiteX75" fmla="*/ 403373 w 605777"/>
              <a:gd name="connsiteY75" fmla="*/ 358368 h 520255"/>
              <a:gd name="connsiteX76" fmla="*/ 403373 w 605777"/>
              <a:gd name="connsiteY76" fmla="*/ 402805 h 520255"/>
              <a:gd name="connsiteX77" fmla="*/ 500986 w 605777"/>
              <a:gd name="connsiteY77" fmla="*/ 511749 h 520255"/>
              <a:gd name="connsiteX78" fmla="*/ 465099 w 605777"/>
              <a:gd name="connsiteY78" fmla="*/ 511749 h 520255"/>
              <a:gd name="connsiteX79" fmla="*/ 400502 w 605777"/>
              <a:gd name="connsiteY79" fmla="*/ 438642 h 520255"/>
              <a:gd name="connsiteX80" fmla="*/ 400502 w 605777"/>
              <a:gd name="connsiteY80" fmla="*/ 511749 h 520255"/>
              <a:gd name="connsiteX81" fmla="*/ 380405 w 605777"/>
              <a:gd name="connsiteY81" fmla="*/ 511749 h 520255"/>
              <a:gd name="connsiteX82" fmla="*/ 380405 w 605777"/>
              <a:gd name="connsiteY82" fmla="*/ 438642 h 520255"/>
              <a:gd name="connsiteX83" fmla="*/ 315808 w 605777"/>
              <a:gd name="connsiteY83" fmla="*/ 511749 h 520255"/>
              <a:gd name="connsiteX84" fmla="*/ 281356 w 605777"/>
              <a:gd name="connsiteY84" fmla="*/ 511749 h 520255"/>
              <a:gd name="connsiteX85" fmla="*/ 377534 w 605777"/>
              <a:gd name="connsiteY85" fmla="*/ 402805 h 520255"/>
              <a:gd name="connsiteX86" fmla="*/ 377534 w 605777"/>
              <a:gd name="connsiteY86" fmla="*/ 358368 h 520255"/>
              <a:gd name="connsiteX87" fmla="*/ 202404 w 605777"/>
              <a:gd name="connsiteY87" fmla="*/ 358368 h 520255"/>
              <a:gd name="connsiteX88" fmla="*/ 202404 w 605777"/>
              <a:gd name="connsiteY88" fmla="*/ 230789 h 520255"/>
              <a:gd name="connsiteX89" fmla="*/ 147856 w 605777"/>
              <a:gd name="connsiteY89" fmla="*/ 223621 h 520255"/>
              <a:gd name="connsiteX90" fmla="*/ 139243 w 605777"/>
              <a:gd name="connsiteY90" fmla="*/ 273793 h 520255"/>
              <a:gd name="connsiteX91" fmla="*/ 147856 w 605777"/>
              <a:gd name="connsiteY91" fmla="*/ 333999 h 520255"/>
              <a:gd name="connsiteX92" fmla="*/ 123452 w 605777"/>
              <a:gd name="connsiteY92" fmla="*/ 333999 h 520255"/>
              <a:gd name="connsiteX93" fmla="*/ 99049 w 605777"/>
              <a:gd name="connsiteY93" fmla="*/ 333999 h 520255"/>
              <a:gd name="connsiteX94" fmla="*/ 99049 w 605777"/>
              <a:gd name="connsiteY94" fmla="*/ 227922 h 520255"/>
              <a:gd name="connsiteX95" fmla="*/ 123452 w 605777"/>
              <a:gd name="connsiteY95" fmla="*/ 183484 h 520255"/>
              <a:gd name="connsiteX96" fmla="*/ 114839 w 605777"/>
              <a:gd name="connsiteY96" fmla="*/ 179184 h 520255"/>
              <a:gd name="connsiteX97" fmla="*/ 114839 w 605777"/>
              <a:gd name="connsiteY97" fmla="*/ 153381 h 520255"/>
              <a:gd name="connsiteX98" fmla="*/ 166517 w 605777"/>
              <a:gd name="connsiteY98" fmla="*/ 90309 h 520255"/>
              <a:gd name="connsiteX99" fmla="*/ 150726 w 605777"/>
              <a:gd name="connsiteY99" fmla="*/ 93176 h 520255"/>
              <a:gd name="connsiteX100" fmla="*/ 150726 w 605777"/>
              <a:gd name="connsiteY100" fmla="*/ 103210 h 520255"/>
              <a:gd name="connsiteX101" fmla="*/ 101920 w 605777"/>
              <a:gd name="connsiteY101" fmla="*/ 103210 h 520255"/>
              <a:gd name="connsiteX102" fmla="*/ 101920 w 605777"/>
              <a:gd name="connsiteY102" fmla="*/ 96043 h 520255"/>
              <a:gd name="connsiteX103" fmla="*/ 93307 w 605777"/>
              <a:gd name="connsiteY103" fmla="*/ 96043 h 520255"/>
              <a:gd name="connsiteX104" fmla="*/ 93307 w 605777"/>
              <a:gd name="connsiteY104" fmla="*/ 103210 h 520255"/>
              <a:gd name="connsiteX105" fmla="*/ 43065 w 605777"/>
              <a:gd name="connsiteY105" fmla="*/ 103210 h 520255"/>
              <a:gd name="connsiteX106" fmla="*/ 43065 w 605777"/>
              <a:gd name="connsiteY106" fmla="*/ 91742 h 520255"/>
              <a:gd name="connsiteX107" fmla="*/ 24403 w 605777"/>
              <a:gd name="connsiteY107" fmla="*/ 88875 h 520255"/>
              <a:gd name="connsiteX108" fmla="*/ 74646 w 605777"/>
              <a:gd name="connsiteY108" fmla="*/ 151948 h 520255"/>
              <a:gd name="connsiteX109" fmla="*/ 74646 w 605777"/>
              <a:gd name="connsiteY109" fmla="*/ 179184 h 520255"/>
              <a:gd name="connsiteX110" fmla="*/ 67468 w 605777"/>
              <a:gd name="connsiteY110" fmla="*/ 182051 h 520255"/>
              <a:gd name="connsiteX111" fmla="*/ 93307 w 605777"/>
              <a:gd name="connsiteY111" fmla="*/ 229355 h 520255"/>
              <a:gd name="connsiteX112" fmla="*/ 93307 w 605777"/>
              <a:gd name="connsiteY112" fmla="*/ 333999 h 520255"/>
              <a:gd name="connsiteX113" fmla="*/ 45936 w 605777"/>
              <a:gd name="connsiteY113" fmla="*/ 333999 h 520255"/>
              <a:gd name="connsiteX114" fmla="*/ 53113 w 605777"/>
              <a:gd name="connsiteY114" fmla="*/ 276660 h 520255"/>
              <a:gd name="connsiteX115" fmla="*/ 40194 w 605777"/>
              <a:gd name="connsiteY115" fmla="*/ 232222 h 520255"/>
              <a:gd name="connsiteX116" fmla="*/ 28710 w 605777"/>
              <a:gd name="connsiteY116" fmla="*/ 318230 h 520255"/>
              <a:gd name="connsiteX117" fmla="*/ 0 w 605777"/>
              <a:gd name="connsiteY117" fmla="*/ 316797 h 520255"/>
              <a:gd name="connsiteX118" fmla="*/ 12919 w 605777"/>
              <a:gd name="connsiteY118" fmla="*/ 194952 h 520255"/>
              <a:gd name="connsiteX119" fmla="*/ 5742 w 605777"/>
              <a:gd name="connsiteY119" fmla="*/ 87442 h 520255"/>
              <a:gd name="connsiteX120" fmla="*/ 48807 w 605777"/>
              <a:gd name="connsiteY120" fmla="*/ 12901 h 520255"/>
              <a:gd name="connsiteX121" fmla="*/ 60291 w 605777"/>
              <a:gd name="connsiteY121" fmla="*/ 11468 h 520255"/>
              <a:gd name="connsiteX122" fmla="*/ 68904 w 605777"/>
              <a:gd name="connsiteY122" fmla="*/ 2867 h 520255"/>
              <a:gd name="connsiteX123" fmla="*/ 94742 w 605777"/>
              <a:gd name="connsiteY123" fmla="*/ 0 h 52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605777" h="520255">
                <a:moveTo>
                  <a:pt x="45866" y="339787"/>
                </a:moveTo>
                <a:lnTo>
                  <a:pt x="147937" y="341219"/>
                </a:lnTo>
                <a:lnTo>
                  <a:pt x="150812" y="408537"/>
                </a:lnTo>
                <a:lnTo>
                  <a:pt x="130685" y="408537"/>
                </a:lnTo>
                <a:lnTo>
                  <a:pt x="133561" y="447208"/>
                </a:lnTo>
                <a:lnTo>
                  <a:pt x="129248" y="501635"/>
                </a:lnTo>
                <a:cubicBezTo>
                  <a:pt x="142186" y="501635"/>
                  <a:pt x="150812" y="504500"/>
                  <a:pt x="150812" y="510229"/>
                </a:cubicBezTo>
                <a:cubicBezTo>
                  <a:pt x="150812" y="517390"/>
                  <a:pt x="136436" y="520255"/>
                  <a:pt x="136436" y="520255"/>
                </a:cubicBezTo>
                <a:lnTo>
                  <a:pt x="127810" y="520255"/>
                </a:lnTo>
                <a:lnTo>
                  <a:pt x="104808" y="520255"/>
                </a:lnTo>
                <a:lnTo>
                  <a:pt x="103371" y="520255"/>
                </a:lnTo>
                <a:lnTo>
                  <a:pt x="103371" y="511661"/>
                </a:lnTo>
                <a:cubicBezTo>
                  <a:pt x="103371" y="508797"/>
                  <a:pt x="104808" y="507364"/>
                  <a:pt x="106246" y="505932"/>
                </a:cubicBezTo>
                <a:lnTo>
                  <a:pt x="111996" y="447208"/>
                </a:lnTo>
                <a:lnTo>
                  <a:pt x="109121" y="408537"/>
                </a:lnTo>
                <a:lnTo>
                  <a:pt x="96183" y="408537"/>
                </a:lnTo>
                <a:lnTo>
                  <a:pt x="96183" y="507364"/>
                </a:lnTo>
                <a:cubicBezTo>
                  <a:pt x="97620" y="508797"/>
                  <a:pt x="97620" y="510229"/>
                  <a:pt x="97620" y="511661"/>
                </a:cubicBezTo>
                <a:lnTo>
                  <a:pt x="97620" y="520255"/>
                </a:lnTo>
                <a:lnTo>
                  <a:pt x="96183" y="520255"/>
                </a:lnTo>
                <a:lnTo>
                  <a:pt x="74618" y="520255"/>
                </a:lnTo>
                <a:lnTo>
                  <a:pt x="65993" y="520255"/>
                </a:lnTo>
                <a:cubicBezTo>
                  <a:pt x="65993" y="520255"/>
                  <a:pt x="51617" y="517390"/>
                  <a:pt x="51617" y="510229"/>
                </a:cubicBezTo>
                <a:cubicBezTo>
                  <a:pt x="51617" y="504500"/>
                  <a:pt x="60242" y="501635"/>
                  <a:pt x="74618" y="501635"/>
                </a:cubicBezTo>
                <a:lnTo>
                  <a:pt x="74618" y="408537"/>
                </a:lnTo>
                <a:lnTo>
                  <a:pt x="42991" y="408537"/>
                </a:lnTo>
                <a:close/>
                <a:moveTo>
                  <a:pt x="219630" y="117545"/>
                </a:moveTo>
                <a:lnTo>
                  <a:pt x="219630" y="182051"/>
                </a:lnTo>
                <a:lnTo>
                  <a:pt x="285663" y="197819"/>
                </a:lnTo>
                <a:lnTo>
                  <a:pt x="285663" y="240823"/>
                </a:lnTo>
                <a:lnTo>
                  <a:pt x="219630" y="233656"/>
                </a:lnTo>
                <a:lnTo>
                  <a:pt x="219630" y="341166"/>
                </a:lnTo>
                <a:lnTo>
                  <a:pt x="377534" y="341166"/>
                </a:lnTo>
                <a:lnTo>
                  <a:pt x="403373" y="341166"/>
                </a:lnTo>
                <a:lnTo>
                  <a:pt x="581374" y="341166"/>
                </a:lnTo>
                <a:lnTo>
                  <a:pt x="581374" y="117545"/>
                </a:lnTo>
                <a:close/>
                <a:moveTo>
                  <a:pt x="107662" y="78841"/>
                </a:moveTo>
                <a:lnTo>
                  <a:pt x="107662" y="98909"/>
                </a:lnTo>
                <a:lnTo>
                  <a:pt x="144985" y="98909"/>
                </a:lnTo>
                <a:lnTo>
                  <a:pt x="144985" y="78841"/>
                </a:lnTo>
                <a:close/>
                <a:moveTo>
                  <a:pt x="48807" y="78841"/>
                </a:moveTo>
                <a:lnTo>
                  <a:pt x="48807" y="98909"/>
                </a:lnTo>
                <a:lnTo>
                  <a:pt x="87565" y="98909"/>
                </a:lnTo>
                <a:lnTo>
                  <a:pt x="87565" y="78841"/>
                </a:lnTo>
                <a:close/>
                <a:moveTo>
                  <a:pt x="68904" y="38704"/>
                </a:moveTo>
                <a:cubicBezTo>
                  <a:pt x="67468" y="60206"/>
                  <a:pt x="44500" y="75974"/>
                  <a:pt x="24403" y="77407"/>
                </a:cubicBezTo>
                <a:cubicBezTo>
                  <a:pt x="24403" y="78841"/>
                  <a:pt x="24403" y="80274"/>
                  <a:pt x="24403" y="81708"/>
                </a:cubicBezTo>
                <a:lnTo>
                  <a:pt x="43065" y="84575"/>
                </a:lnTo>
                <a:lnTo>
                  <a:pt x="43065" y="73107"/>
                </a:lnTo>
                <a:lnTo>
                  <a:pt x="93307" y="73107"/>
                </a:lnTo>
                <a:lnTo>
                  <a:pt x="93307" y="84575"/>
                </a:lnTo>
                <a:lnTo>
                  <a:pt x="101920" y="84575"/>
                </a:lnTo>
                <a:lnTo>
                  <a:pt x="101920" y="73107"/>
                </a:lnTo>
                <a:lnTo>
                  <a:pt x="150726" y="73107"/>
                </a:lnTo>
                <a:lnTo>
                  <a:pt x="150726" y="84575"/>
                </a:lnTo>
                <a:lnTo>
                  <a:pt x="166517" y="81708"/>
                </a:lnTo>
                <a:cubicBezTo>
                  <a:pt x="166517" y="71674"/>
                  <a:pt x="163646" y="64506"/>
                  <a:pt x="159339" y="63073"/>
                </a:cubicBezTo>
                <a:cubicBezTo>
                  <a:pt x="129194" y="60206"/>
                  <a:pt x="93307" y="58772"/>
                  <a:pt x="68904" y="38704"/>
                </a:cubicBezTo>
                <a:close/>
                <a:moveTo>
                  <a:pt x="94742" y="0"/>
                </a:moveTo>
                <a:cubicBezTo>
                  <a:pt x="185178" y="0"/>
                  <a:pt x="182307" y="103210"/>
                  <a:pt x="180872" y="134746"/>
                </a:cubicBezTo>
                <a:cubicBezTo>
                  <a:pt x="180872" y="153381"/>
                  <a:pt x="176565" y="159115"/>
                  <a:pt x="175130" y="172016"/>
                </a:cubicBezTo>
                <a:lnTo>
                  <a:pt x="202404" y="177750"/>
                </a:lnTo>
                <a:lnTo>
                  <a:pt x="202404" y="117545"/>
                </a:lnTo>
                <a:lnTo>
                  <a:pt x="190920" y="117545"/>
                </a:lnTo>
                <a:lnTo>
                  <a:pt x="190920" y="93176"/>
                </a:lnTo>
                <a:lnTo>
                  <a:pt x="202404" y="93176"/>
                </a:lnTo>
                <a:lnTo>
                  <a:pt x="371792" y="93176"/>
                </a:lnTo>
                <a:lnTo>
                  <a:pt x="371792" y="73107"/>
                </a:lnTo>
                <a:lnTo>
                  <a:pt x="420599" y="73107"/>
                </a:lnTo>
                <a:lnTo>
                  <a:pt x="420599" y="93176"/>
                </a:lnTo>
                <a:lnTo>
                  <a:pt x="598600" y="93176"/>
                </a:lnTo>
                <a:lnTo>
                  <a:pt x="605777" y="93176"/>
                </a:lnTo>
                <a:lnTo>
                  <a:pt x="605777" y="117545"/>
                </a:lnTo>
                <a:lnTo>
                  <a:pt x="598600" y="117545"/>
                </a:lnTo>
                <a:lnTo>
                  <a:pt x="598600" y="358368"/>
                </a:lnTo>
                <a:lnTo>
                  <a:pt x="403373" y="358368"/>
                </a:lnTo>
                <a:lnTo>
                  <a:pt x="403373" y="402805"/>
                </a:lnTo>
                <a:lnTo>
                  <a:pt x="500986" y="511749"/>
                </a:lnTo>
                <a:lnTo>
                  <a:pt x="465099" y="511749"/>
                </a:lnTo>
                <a:lnTo>
                  <a:pt x="400502" y="438642"/>
                </a:lnTo>
                <a:lnTo>
                  <a:pt x="400502" y="511749"/>
                </a:lnTo>
                <a:lnTo>
                  <a:pt x="380405" y="511749"/>
                </a:lnTo>
                <a:lnTo>
                  <a:pt x="380405" y="438642"/>
                </a:lnTo>
                <a:lnTo>
                  <a:pt x="315808" y="511749"/>
                </a:lnTo>
                <a:lnTo>
                  <a:pt x="281356" y="511749"/>
                </a:lnTo>
                <a:lnTo>
                  <a:pt x="377534" y="402805"/>
                </a:lnTo>
                <a:lnTo>
                  <a:pt x="377534" y="358368"/>
                </a:lnTo>
                <a:lnTo>
                  <a:pt x="202404" y="358368"/>
                </a:lnTo>
                <a:lnTo>
                  <a:pt x="202404" y="230789"/>
                </a:lnTo>
                <a:lnTo>
                  <a:pt x="147856" y="223621"/>
                </a:lnTo>
                <a:cubicBezTo>
                  <a:pt x="142114" y="249424"/>
                  <a:pt x="139243" y="273793"/>
                  <a:pt x="139243" y="273793"/>
                </a:cubicBezTo>
                <a:lnTo>
                  <a:pt x="147856" y="333999"/>
                </a:lnTo>
                <a:lnTo>
                  <a:pt x="123452" y="333999"/>
                </a:lnTo>
                <a:lnTo>
                  <a:pt x="99049" y="333999"/>
                </a:lnTo>
                <a:lnTo>
                  <a:pt x="99049" y="227922"/>
                </a:lnTo>
                <a:lnTo>
                  <a:pt x="123452" y="183484"/>
                </a:lnTo>
                <a:lnTo>
                  <a:pt x="114839" y="179184"/>
                </a:lnTo>
                <a:lnTo>
                  <a:pt x="114839" y="153381"/>
                </a:lnTo>
                <a:cubicBezTo>
                  <a:pt x="153597" y="149081"/>
                  <a:pt x="166517" y="114678"/>
                  <a:pt x="166517" y="90309"/>
                </a:cubicBezTo>
                <a:lnTo>
                  <a:pt x="150726" y="93176"/>
                </a:lnTo>
                <a:lnTo>
                  <a:pt x="150726" y="103210"/>
                </a:lnTo>
                <a:lnTo>
                  <a:pt x="101920" y="103210"/>
                </a:lnTo>
                <a:lnTo>
                  <a:pt x="101920" y="96043"/>
                </a:lnTo>
                <a:lnTo>
                  <a:pt x="93307" y="96043"/>
                </a:lnTo>
                <a:lnTo>
                  <a:pt x="93307" y="103210"/>
                </a:lnTo>
                <a:lnTo>
                  <a:pt x="43065" y="103210"/>
                </a:lnTo>
                <a:lnTo>
                  <a:pt x="43065" y="91742"/>
                </a:lnTo>
                <a:lnTo>
                  <a:pt x="24403" y="88875"/>
                </a:lnTo>
                <a:cubicBezTo>
                  <a:pt x="25839" y="118978"/>
                  <a:pt x="47371" y="143347"/>
                  <a:pt x="74646" y="151948"/>
                </a:cubicBezTo>
                <a:lnTo>
                  <a:pt x="74646" y="179184"/>
                </a:lnTo>
                <a:lnTo>
                  <a:pt x="67468" y="182051"/>
                </a:lnTo>
                <a:lnTo>
                  <a:pt x="93307" y="229355"/>
                </a:lnTo>
                <a:lnTo>
                  <a:pt x="93307" y="333999"/>
                </a:lnTo>
                <a:lnTo>
                  <a:pt x="45936" y="333999"/>
                </a:lnTo>
                <a:lnTo>
                  <a:pt x="53113" y="276660"/>
                </a:lnTo>
                <a:cubicBezTo>
                  <a:pt x="53113" y="276660"/>
                  <a:pt x="45936" y="255158"/>
                  <a:pt x="40194" y="232222"/>
                </a:cubicBezTo>
                <a:lnTo>
                  <a:pt x="28710" y="318230"/>
                </a:lnTo>
                <a:lnTo>
                  <a:pt x="0" y="316797"/>
                </a:lnTo>
                <a:lnTo>
                  <a:pt x="12919" y="194952"/>
                </a:lnTo>
                <a:lnTo>
                  <a:pt x="5742" y="87442"/>
                </a:lnTo>
                <a:cubicBezTo>
                  <a:pt x="5742" y="87442"/>
                  <a:pt x="4306" y="34403"/>
                  <a:pt x="48807" y="12901"/>
                </a:cubicBezTo>
                <a:cubicBezTo>
                  <a:pt x="51678" y="11468"/>
                  <a:pt x="57420" y="12901"/>
                  <a:pt x="60291" y="11468"/>
                </a:cubicBezTo>
                <a:cubicBezTo>
                  <a:pt x="63162" y="10034"/>
                  <a:pt x="64597" y="5734"/>
                  <a:pt x="68904" y="2867"/>
                </a:cubicBezTo>
                <a:cubicBezTo>
                  <a:pt x="73210" y="1433"/>
                  <a:pt x="84694" y="0"/>
                  <a:pt x="94742" y="0"/>
                </a:cubicBezTo>
                <a:close/>
              </a:path>
            </a:pathLst>
          </a:custGeom>
          <a:solidFill>
            <a:srgbClr val="C10000"/>
          </a:solidFill>
          <a:ln>
            <a:noFill/>
          </a:ln>
        </p:spPr>
        <p:txBody>
          <a:bodyPr/>
          <a:lstStyle/>
          <a:p>
            <a:endParaRPr lang="zh-CN" altLang="en-US" dirty="0"/>
          </a:p>
        </p:txBody>
      </p:sp>
      <p:pic>
        <p:nvPicPr>
          <p:cNvPr id="9" name="图片 8"/>
          <p:cNvPicPr>
            <a:picLocks noChangeAspect="1"/>
          </p:cNvPicPr>
          <p:nvPr/>
        </p:nvPicPr>
        <p:blipFill>
          <a:blip r:embed="rId2"/>
          <a:stretch>
            <a:fillRect/>
          </a:stretch>
        </p:blipFill>
        <p:spPr>
          <a:xfrm>
            <a:off x="6228184" y="260648"/>
            <a:ext cx="2660986" cy="610982"/>
          </a:xfrm>
          <a:prstGeom prst="rect">
            <a:avLst/>
          </a:prstGeom>
        </p:spPr>
      </p:pic>
      <p:pic>
        <p:nvPicPr>
          <p:cNvPr id="8" name="图片 7"/>
          <p:cNvPicPr>
            <a:picLocks noChangeAspect="1"/>
          </p:cNvPicPr>
          <p:nvPr/>
        </p:nvPicPr>
        <p:blipFill>
          <a:blip r:embed="rId3"/>
          <a:stretch>
            <a:fillRect/>
          </a:stretch>
        </p:blipFill>
        <p:spPr>
          <a:xfrm>
            <a:off x="3647713" y="4531528"/>
            <a:ext cx="1809708" cy="1793067"/>
          </a:xfrm>
          <a:prstGeom prst="rect">
            <a:avLst/>
          </a:prstGeom>
          <a:ln>
            <a:solidFill>
              <a:srgbClr val="FF0000"/>
            </a:solidFill>
          </a:ln>
        </p:spPr>
      </p:pic>
    </p:spTree>
    <p:extLst>
      <p:ext uri="{BB962C8B-B14F-4D97-AF65-F5344CB8AC3E}">
        <p14:creationId xmlns:p14="http://schemas.microsoft.com/office/powerpoint/2010/main" val="1707383443"/>
      </p:ext>
    </p:extLst>
  </p:cSld>
  <p:clrMapOvr>
    <a:masterClrMapping/>
  </p:clrMapOvr>
  <p:transition spd="slow">
    <p:circle/>
  </p:transition>
</p:sld>
</file>

<file path=ppt/theme/theme1.xml><?xml version="1.0" encoding="utf-8"?>
<a:theme xmlns:a="http://schemas.openxmlformats.org/drawingml/2006/main" name="yu_讲义模板">
  <a:themeElements>
    <a:clrScheme name="1_讲义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讲义模板">
      <a:majorFont>
        <a:latin typeface="Book Antiqua"/>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1_讲义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讲义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讲义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讲义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讲义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讲义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讲义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讲义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讲义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讲义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讲义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讲义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21]_报告PPT模版_V2" id="{8EC8653A-606D-47E4-A478-266612CD6098}" vid="{7E307012-7BE2-4DF2-B728-4130463293FE}"/>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[2021]_报告PPT模版_V2</Template>
  <TotalTime>1196</TotalTime>
  <Words>3029</Words>
  <Application>Microsoft Office PowerPoint</Application>
  <PresentationFormat>全屏显示(4:3)</PresentationFormat>
  <Paragraphs>971</Paragraphs>
  <Slides>52</Slides>
  <Notes>13</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52</vt:i4>
      </vt:variant>
    </vt:vector>
  </HeadingPairs>
  <TitlesOfParts>
    <vt:vector size="68" baseType="lpstr">
      <vt:lpstr>仿宋</vt:lpstr>
      <vt:lpstr>华文琥珀</vt:lpstr>
      <vt:lpstr>华文中宋</vt:lpstr>
      <vt:lpstr>思源黑体 CN Medium</vt:lpstr>
      <vt:lpstr>微软雅黑</vt:lpstr>
      <vt:lpstr>幼圆</vt:lpstr>
      <vt:lpstr>Arial</vt:lpstr>
      <vt:lpstr>Book Antiqua</vt:lpstr>
      <vt:lpstr>Calibri</vt:lpstr>
      <vt:lpstr>Garamond</vt:lpstr>
      <vt:lpstr>Tahoma</vt:lpstr>
      <vt:lpstr>Times New Roman</vt:lpstr>
      <vt:lpstr>Verdana</vt:lpstr>
      <vt:lpstr>Wingdings</vt:lpstr>
      <vt:lpstr>Wingdings 2</vt:lpstr>
      <vt:lpstr>yu_讲义模板</vt:lpstr>
      <vt:lpstr>PowerPoint 演示文稿</vt:lpstr>
      <vt:lpstr>课程内容</vt:lpstr>
      <vt:lpstr>PowerPoint 演示文稿</vt:lpstr>
      <vt:lpstr>目录</vt:lpstr>
      <vt:lpstr>PowerPoint 演示文稿</vt:lpstr>
      <vt:lpstr>Web2.0</vt:lpstr>
      <vt:lpstr>Web2.0的理念</vt:lpstr>
      <vt:lpstr>Web1.0 与Web2.0的比较</vt:lpstr>
      <vt:lpstr>传统Web 2.0概念</vt:lpstr>
      <vt:lpstr>Web2.0的延伸</vt:lpstr>
      <vt:lpstr>广义Web2.0概念</vt:lpstr>
      <vt:lpstr>PowerPoint 演示文稿</vt:lpstr>
      <vt:lpstr>互联网“+”典型应用</vt:lpstr>
      <vt:lpstr>互联网+ = 新一代ICT+创新2.0</vt:lpstr>
      <vt:lpstr>新技术、新模式、新思维</vt:lpstr>
      <vt:lpstr>互联网+的特征</vt:lpstr>
      <vt:lpstr>还能“+”什么？</vt:lpstr>
      <vt:lpstr>互联网金融模式</vt:lpstr>
      <vt:lpstr>互联网+工业</vt:lpstr>
      <vt:lpstr>工业4.0</vt:lpstr>
      <vt:lpstr>互联网+交通</vt:lpstr>
      <vt:lpstr>互联网+交通</vt:lpstr>
      <vt:lpstr>互联网+商务</vt:lpstr>
      <vt:lpstr>例1：谁决定商品价格</vt:lpstr>
      <vt:lpstr>例1：谁决定商品价格</vt:lpstr>
      <vt:lpstr>例2：营销</vt:lpstr>
      <vt:lpstr>例2：营销</vt:lpstr>
      <vt:lpstr>两代理念的差距</vt:lpstr>
      <vt:lpstr>PowerPoint 演示文稿</vt:lpstr>
      <vt:lpstr>社会计算的理解</vt:lpstr>
      <vt:lpstr>社会计算的ForBy概念模型</vt:lpstr>
      <vt:lpstr>第一层函义: For -社会是计算的对象</vt:lpstr>
      <vt:lpstr>计算什么</vt:lpstr>
      <vt:lpstr>第二层涵义: By - 社会是计算的方法</vt:lpstr>
      <vt:lpstr>群体协同评价与决策</vt:lpstr>
      <vt:lpstr>问题</vt:lpstr>
      <vt:lpstr>非正常评分的影响</vt:lpstr>
      <vt:lpstr>Trimmed Mean</vt:lpstr>
      <vt:lpstr>协同评价算法</vt:lpstr>
      <vt:lpstr>协同识别非正常分</vt:lpstr>
      <vt:lpstr>极端分的影响</vt:lpstr>
      <vt:lpstr>仿真实验</vt:lpstr>
      <vt:lpstr>协同评价与传统评价的关系</vt:lpstr>
      <vt:lpstr>PowerPoint 演示文稿</vt:lpstr>
      <vt:lpstr>Work or Play ?</vt:lpstr>
      <vt:lpstr>reCAPTCHA</vt:lpstr>
      <vt:lpstr>Zooniverse</vt:lpstr>
      <vt:lpstr>Foldit - 蛋白质组装</vt:lpstr>
      <vt:lpstr>ESP game</vt:lpstr>
      <vt:lpstr>Tagatune</vt:lpstr>
      <vt:lpstr>小结</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yuli</dc:creator>
  <cp:lastModifiedBy>webuser</cp:lastModifiedBy>
  <cp:revision>84</cp:revision>
  <dcterms:created xsi:type="dcterms:W3CDTF">2021-09-11T11:16:46Z</dcterms:created>
  <dcterms:modified xsi:type="dcterms:W3CDTF">2025-03-08T00:32:38Z</dcterms:modified>
</cp:coreProperties>
</file>