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64"/>
  </p:notesMasterIdLst>
  <p:handoutMasterIdLst>
    <p:handoutMasterId r:id="rId65"/>
  </p:handoutMasterIdLst>
  <p:sldIdLst>
    <p:sldId id="1121" r:id="rId2"/>
    <p:sldId id="1125" r:id="rId3"/>
    <p:sldId id="1126" r:id="rId4"/>
    <p:sldId id="1127" r:id="rId5"/>
    <p:sldId id="1128" r:id="rId6"/>
    <p:sldId id="1129" r:id="rId7"/>
    <p:sldId id="1134" r:id="rId8"/>
    <p:sldId id="1139" r:id="rId9"/>
    <p:sldId id="1140" r:id="rId10"/>
    <p:sldId id="1141" r:id="rId11"/>
    <p:sldId id="1148" r:id="rId12"/>
    <p:sldId id="1149" r:id="rId13"/>
    <p:sldId id="1150" r:id="rId14"/>
    <p:sldId id="1151" r:id="rId15"/>
    <p:sldId id="1153" r:id="rId16"/>
    <p:sldId id="1154" r:id="rId17"/>
    <p:sldId id="1155" r:id="rId18"/>
    <p:sldId id="1156" r:id="rId19"/>
    <p:sldId id="1157" r:id="rId20"/>
    <p:sldId id="1158" r:id="rId21"/>
    <p:sldId id="1159" r:id="rId22"/>
    <p:sldId id="1160" r:id="rId23"/>
    <p:sldId id="1161" r:id="rId24"/>
    <p:sldId id="1162" r:id="rId25"/>
    <p:sldId id="1163" r:id="rId26"/>
    <p:sldId id="1164" r:id="rId27"/>
    <p:sldId id="1165" r:id="rId28"/>
    <p:sldId id="1166" r:id="rId29"/>
    <p:sldId id="1167" r:id="rId30"/>
    <p:sldId id="1168" r:id="rId31"/>
    <p:sldId id="1169" r:id="rId32"/>
    <p:sldId id="1170" r:id="rId33"/>
    <p:sldId id="1171" r:id="rId34"/>
    <p:sldId id="1172" r:id="rId35"/>
    <p:sldId id="1173" r:id="rId36"/>
    <p:sldId id="1174" r:id="rId37"/>
    <p:sldId id="1175" r:id="rId38"/>
    <p:sldId id="1176" r:id="rId39"/>
    <p:sldId id="1183" r:id="rId40"/>
    <p:sldId id="1184" r:id="rId41"/>
    <p:sldId id="1185" r:id="rId42"/>
    <p:sldId id="1186" r:id="rId43"/>
    <p:sldId id="1187" r:id="rId44"/>
    <p:sldId id="1188" r:id="rId45"/>
    <p:sldId id="1189" r:id="rId46"/>
    <p:sldId id="1190" r:id="rId47"/>
    <p:sldId id="1191" r:id="rId48"/>
    <p:sldId id="1193" r:id="rId49"/>
    <p:sldId id="1194" r:id="rId50"/>
    <p:sldId id="1195" r:id="rId51"/>
    <p:sldId id="1196" r:id="rId52"/>
    <p:sldId id="1197" r:id="rId53"/>
    <p:sldId id="1198" r:id="rId54"/>
    <p:sldId id="1199" r:id="rId55"/>
    <p:sldId id="1200" r:id="rId56"/>
    <p:sldId id="1201" r:id="rId57"/>
    <p:sldId id="1202" r:id="rId58"/>
    <p:sldId id="1203" r:id="rId59"/>
    <p:sldId id="1204" r:id="rId60"/>
    <p:sldId id="1205" r:id="rId61"/>
    <p:sldId id="1206" r:id="rId62"/>
    <p:sldId id="1207" r:id="rId63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CCFFCC"/>
    <a:srgbClr val="2DE3B8"/>
    <a:srgbClr val="56E8C5"/>
    <a:srgbClr val="3BE5BD"/>
    <a:srgbClr val="35E2EB"/>
    <a:srgbClr val="00CC00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44" autoAdjust="0"/>
    <p:restoredTop sz="91758" autoAdjust="0"/>
  </p:normalViewPr>
  <p:slideViewPr>
    <p:cSldViewPr>
      <p:cViewPr varScale="1">
        <p:scale>
          <a:sx n="74" d="100"/>
          <a:sy n="74" d="100"/>
        </p:scale>
        <p:origin x="1248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1842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矩形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kumimoji="1" sz="1200" b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3235" name="矩形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b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3236" name="矩形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kumimoji="1" sz="1200" b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3237" name="矩形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EF99D79-75DE-49ED-8806-60820F95F58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矩形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kumimoji="1" sz="1200" b="0">
                <a:latin typeface="Verdan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5" name="矩形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b="0">
                <a:latin typeface="Verdan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0" name="矩形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7" name="矩形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8678" name="矩形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kumimoji="1" sz="1200" b="0">
                <a:latin typeface="Verdan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9" name="矩形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b="0">
                <a:latin typeface="Verdan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ED3B4BA-DCD8-4F6D-A0E0-FDE7D729BE4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1126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B88314F-8330-4E4D-8D15-53C958A252E6}" type="slidenum">
              <a:rPr lang="zh-CN" altLang="en-US" smtClean="0"/>
              <a:pPr>
                <a:spcBef>
                  <a:spcPct val="0"/>
                </a:spcBef>
              </a:pPr>
              <a:t>1</a:t>
            </a:fld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35067160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多模态</a:t>
            </a:r>
            <a:endParaRPr lang="en-US" altLang="zh-CN" dirty="0" smtClean="0"/>
          </a:p>
          <a:p>
            <a:r>
              <a:rPr lang="zh-CN" altLang="en-US" dirty="0" smtClean="0"/>
              <a:t>特征工程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D3B4BA-DCD8-4F6D-A0E0-FDE7D729BE48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58081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Y=k1x1+k2x2+…+k10x10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D3B4BA-DCD8-4F6D-A0E0-FDE7D729BE48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56370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D3B4BA-DCD8-4F6D-A0E0-FDE7D729BE48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71074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D3B4BA-DCD8-4F6D-A0E0-FDE7D729BE48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7862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将强化学习框架中的状态（</a:t>
            </a:r>
            <a:r>
              <a:rPr kumimoji="1" lang="en-US" altLang="zh-CN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state</a:t>
            </a:r>
            <a: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）</a:t>
            </a:r>
            <a:b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</a:br>
            <a: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定义为用户的综合偏好表达𝑠𝑡，包括用户位置状态表达𝑔</a:t>
            </a:r>
            <a:r>
              <a:rPr kumimoji="1" lang="en-US" altLang="zh-CN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_</a:t>
            </a:r>
            <a: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𝑙𝑜𝑐𝑡、路线状态表达</a:t>
            </a:r>
            <a:b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</a:br>
            <a: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𝑔</a:t>
            </a:r>
            <a:r>
              <a:rPr kumimoji="1" lang="en-US" altLang="zh-CN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_</a:t>
            </a:r>
            <a: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𝑤𝑎𝑦𝑡、 短期偏好𝑢𝑡和长期偏好</a:t>
            </a:r>
            <a:r>
              <a:rPr kumimoji="1" lang="en-US" altLang="zh-CN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ℎ</a:t>
            </a:r>
            <a: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𝑢；将强化学习框架中的动作（</a:t>
            </a:r>
            <a:r>
              <a:rPr kumimoji="1" lang="en-US" altLang="zh-CN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action</a:t>
            </a:r>
            <a: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）定义为</a:t>
            </a:r>
            <a:b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</a:br>
            <a: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景点的向量表达，包括基于评论文本的景点特征表达和基于游览顺序的景点顺</a:t>
            </a:r>
            <a:r>
              <a:rPr lang="zh-CN" altLang="en-US" dirty="0" smtClean="0"/>
              <a:t/>
            </a:r>
            <a:br>
              <a:rPr lang="zh-CN" altLang="en-US" dirty="0" smtClean="0"/>
            </a:br>
            <a: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序表达；同时定义反馈（</a:t>
            </a:r>
            <a:r>
              <a:rPr kumimoji="1" lang="en-US" altLang="zh-CN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reward</a:t>
            </a:r>
            <a: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）为用户的是否选择景点以及对景点的评分。 </a:t>
            </a:r>
            <a:r>
              <a:rPr lang="zh-CN" altLang="en-US" dirty="0" smtClean="0"/>
              <a:t/>
            </a:r>
            <a:br>
              <a:rPr lang="zh-CN" altLang="en-US" dirty="0" smtClean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D3B4BA-DCD8-4F6D-A0E0-FDE7D729BE48}" type="slidenum">
              <a:rPr lang="en-US" altLang="zh-CN" smtClean="0"/>
              <a:pPr>
                <a:defRPr/>
              </a:pPr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02989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D3B4BA-DCD8-4F6D-A0E0-FDE7D729BE48}" type="slidenum">
              <a:rPr lang="en-US" altLang="zh-CN" smtClean="0"/>
              <a:pPr>
                <a:defRPr/>
              </a:pPr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04271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Mean Reciprocal Rank</a:t>
            </a:r>
            <a: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， </a:t>
            </a:r>
            <a:r>
              <a:rPr kumimoji="1" lang="en-US" altLang="zh-CN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MRR</a:t>
            </a:r>
            <a:r>
              <a:rPr lang="en-US" altLang="zh-CN" dirty="0" smtClean="0"/>
              <a:t> </a:t>
            </a:r>
            <a:br>
              <a:rPr lang="en-US" altLang="zh-CN" dirty="0" smtClean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D3B4BA-DCD8-4F6D-A0E0-FDE7D729BE48}" type="slidenum">
              <a:rPr lang="en-US" altLang="zh-CN" smtClean="0"/>
              <a:pPr>
                <a:defRPr/>
              </a:pPr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7516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yu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7646" y="1085555"/>
            <a:ext cx="8627897" cy="5403216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defRPr sz="22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b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b="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b="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77443"/>
            <a:ext cx="9144000" cy="936104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3200" b="0"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76459721"/>
      </p:ext>
    </p:extLst>
  </p:cSld>
  <p:clrMapOvr>
    <a:masterClrMapping/>
  </p:clrMapOvr>
  <p:transition spd="slow">
    <p:circl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u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0" y="77443"/>
            <a:ext cx="9144000" cy="936104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3200" b="0"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76911087"/>
      </p:ext>
    </p:extLst>
  </p:cSld>
  <p:clrMapOvr>
    <a:masterClrMapping/>
  </p:clrMapOvr>
  <p:transition spd="slow">
    <p:circl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yu_全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3"/>
          <p:cNvSpPr>
            <a:spLocks noChangeArrowheads="1"/>
          </p:cNvSpPr>
          <p:nvPr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defRPr/>
            </a:pPr>
            <a:endParaRPr lang="zh-CN" altLang="en-US" smtClean="0"/>
          </a:p>
        </p:txBody>
      </p:sp>
      <p:sp>
        <p:nvSpPr>
          <p:cNvPr id="4" name="矩形 4"/>
          <p:cNvSpPr>
            <a:spLocks noChangeArrowheads="1"/>
          </p:cNvSpPr>
          <p:nvPr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defRPr/>
            </a:pPr>
            <a:endParaRPr lang="zh-CN" altLang="en-US" smtClean="0"/>
          </a:p>
        </p:txBody>
      </p:sp>
      <p:sp>
        <p:nvSpPr>
          <p:cNvPr id="5" name="矩形 5"/>
          <p:cNvSpPr>
            <a:spLocks noChangeArrowheads="1"/>
          </p:cNvSpPr>
          <p:nvPr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defRPr/>
            </a:pPr>
            <a:endParaRPr lang="zh-CN" altLang="en-US" smtClean="0"/>
          </a:p>
        </p:txBody>
      </p:sp>
      <p:sp>
        <p:nvSpPr>
          <p:cNvPr id="6" name="矩形 6"/>
          <p:cNvSpPr>
            <a:spLocks noChangeArrowheads="1"/>
          </p:cNvSpPr>
          <p:nvPr userDrawn="1"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defRPr/>
            </a:pPr>
            <a:endParaRPr lang="zh-CN" altLang="en-US" smtClean="0"/>
          </a:p>
        </p:txBody>
      </p:sp>
      <p:sp>
        <p:nvSpPr>
          <p:cNvPr id="7" name="矩形 14"/>
          <p:cNvSpPr txBox="1">
            <a:spLocks noChangeArrowheads="1"/>
          </p:cNvSpPr>
          <p:nvPr userDrawn="1"/>
        </p:nvSpPr>
        <p:spPr bwMode="auto">
          <a:xfrm>
            <a:off x="7010400" y="6434062"/>
            <a:ext cx="2133600" cy="4064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FC3A4C"/>
                </a:solidFill>
                <a:latin typeface="Book Antiqua" panose="0204060205030503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pPr>
              <a:defRPr/>
            </a:pPr>
            <a:fld id="{AA8CF565-2697-4D8A-9440-517CC2056E4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24900786"/>
      </p:ext>
    </p:extLst>
  </p:cSld>
  <p:clrMapOvr>
    <a:masterClrMapping/>
  </p:clrMapOvr>
  <p:transition spd="slow">
    <p:circl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yu_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3"/>
          <p:cNvSpPr>
            <a:spLocks noChangeArrowheads="1"/>
          </p:cNvSpPr>
          <p:nvPr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defRPr/>
            </a:pPr>
            <a:endParaRPr lang="zh-CN" altLang="en-US" smtClean="0"/>
          </a:p>
        </p:txBody>
      </p:sp>
      <p:sp>
        <p:nvSpPr>
          <p:cNvPr id="4" name="矩形 4"/>
          <p:cNvSpPr>
            <a:spLocks noChangeArrowheads="1"/>
          </p:cNvSpPr>
          <p:nvPr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defRPr/>
            </a:pPr>
            <a:endParaRPr lang="zh-CN" altLang="en-US" smtClean="0"/>
          </a:p>
        </p:txBody>
      </p:sp>
      <p:sp>
        <p:nvSpPr>
          <p:cNvPr id="5" name="矩形 5"/>
          <p:cNvSpPr>
            <a:spLocks noChangeArrowheads="1"/>
          </p:cNvSpPr>
          <p:nvPr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defRPr/>
            </a:pPr>
            <a:endParaRPr lang="zh-CN" altLang="en-US" smtClean="0"/>
          </a:p>
        </p:txBody>
      </p:sp>
      <p:sp>
        <p:nvSpPr>
          <p:cNvPr id="6" name="矩形 6"/>
          <p:cNvSpPr>
            <a:spLocks noChangeArrowheads="1"/>
          </p:cNvSpPr>
          <p:nvPr userDrawn="1"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defRPr/>
            </a:pPr>
            <a:endParaRPr lang="zh-CN" altLang="en-US" smtClean="0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695325" y="1196752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6589061"/>
      </p:ext>
    </p:extLst>
  </p:cSld>
  <p:clrMapOvr>
    <a:masterClrMapping/>
  </p:clrMapOvr>
  <p:transition spd="slow">
    <p:circl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1068E7D-3DF1-4376-A698-ED0B6F40EADB}" type="datetime1">
              <a:rPr lang="zh-CN" altLang="en-US"/>
              <a:pPr>
                <a:defRPr/>
              </a:pPr>
              <a:t>2024/6/16</a:t>
            </a:fld>
            <a:endParaRPr lang="zh-CN" altLang="en-US" sz="180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79E951-A046-4B4B-BBE6-D284E8FC2067}" type="slidenum">
              <a:rPr lang="zh-CN" altLang="en-US"/>
              <a:pPr>
                <a:defRPr/>
              </a:pPr>
              <a:t>‹#›</a:t>
            </a:fld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07356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矩形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矩形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748D44-0B7E-4F28-9AB5-56ADCF4785E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934915"/>
      </p:ext>
    </p:extLst>
  </p:cSld>
  <p:clrMapOvr>
    <a:masterClrMapping/>
  </p:clrMapOvr>
  <p:transition>
    <p:pull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2"/>
          <p:cNvSpPr>
            <a:spLocks noChangeArrowheads="1"/>
          </p:cNvSpPr>
          <p:nvPr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/>
            <a:endParaRPr lang="zh-CN" altLang="en-US"/>
          </a:p>
        </p:txBody>
      </p:sp>
      <p:sp>
        <p:nvSpPr>
          <p:cNvPr id="5" name="矩形 3"/>
          <p:cNvSpPr>
            <a:spLocks noChangeArrowheads="1"/>
          </p:cNvSpPr>
          <p:nvPr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/>
            <a:endParaRPr lang="zh-CN" altLang="en-US"/>
          </a:p>
        </p:txBody>
      </p:sp>
      <p:sp>
        <p:nvSpPr>
          <p:cNvPr id="6" name="矩形 4"/>
          <p:cNvSpPr>
            <a:spLocks noChangeArrowheads="1"/>
          </p:cNvSpPr>
          <p:nvPr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/>
            <a:endParaRPr lang="zh-CN" altLang="en-US"/>
          </a:p>
        </p:txBody>
      </p:sp>
      <p:sp>
        <p:nvSpPr>
          <p:cNvPr id="7" name="矩形 5"/>
          <p:cNvSpPr>
            <a:spLocks noChangeArrowheads="1"/>
          </p:cNvSpPr>
          <p:nvPr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/>
            <a:endParaRPr lang="zh-CN" altLang="en-US"/>
          </a:p>
        </p:txBody>
      </p:sp>
      <p:sp>
        <p:nvSpPr>
          <p:cNvPr id="1113094" name="矩形 6"/>
          <p:cNvSpPr>
            <a:spLocks noGrp="1" noChangeArrowheads="1"/>
          </p:cNvSpPr>
          <p:nvPr>
            <p:ph type="ctrTitle"/>
          </p:nvPr>
        </p:nvSpPr>
        <p:spPr>
          <a:xfrm>
            <a:off x="765175" y="1196975"/>
            <a:ext cx="7623175" cy="1752600"/>
          </a:xfrm>
        </p:spPr>
        <p:txBody>
          <a:bodyPr anchor="t"/>
          <a:lstStyle>
            <a:lvl1pPr>
              <a:defRPr sz="4200">
                <a:latin typeface="Arial" pitchFamily="34" charset="0"/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hu-HU" altLang="en-US" noProof="0" dirty="0" smtClean="0"/>
          </a:p>
        </p:txBody>
      </p:sp>
      <p:sp>
        <p:nvSpPr>
          <p:cNvPr id="1113095" name="矩形 7"/>
          <p:cNvSpPr>
            <a:spLocks noGrp="1" noChangeArrowheads="1"/>
          </p:cNvSpPr>
          <p:nvPr>
            <p:ph type="subTitle" idx="1"/>
          </p:nvPr>
        </p:nvSpPr>
        <p:spPr>
          <a:xfrm>
            <a:off x="1042988" y="3500438"/>
            <a:ext cx="6986587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hu-HU" altLang="en-US" noProof="0" smtClean="0"/>
          </a:p>
        </p:txBody>
      </p:sp>
    </p:spTree>
    <p:extLst>
      <p:ext uri="{BB962C8B-B14F-4D97-AF65-F5344CB8AC3E}">
        <p14:creationId xmlns:p14="http://schemas.microsoft.com/office/powerpoint/2010/main" val="3800983163"/>
      </p:ext>
    </p:extLst>
  </p:cSld>
  <p:clrMapOvr>
    <a:masterClrMapping/>
  </p:clrMapOvr>
  <p:transition>
    <p:pull dir="r"/>
  </p:transition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yu_小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3"/>
          <p:cNvSpPr>
            <a:spLocks noChangeArrowheads="1"/>
          </p:cNvSpPr>
          <p:nvPr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defRPr/>
            </a:pPr>
            <a:endParaRPr lang="zh-CN" altLang="en-US" smtClean="0"/>
          </a:p>
        </p:txBody>
      </p:sp>
      <p:sp>
        <p:nvSpPr>
          <p:cNvPr id="4" name="矩形 4"/>
          <p:cNvSpPr>
            <a:spLocks noChangeArrowheads="1"/>
          </p:cNvSpPr>
          <p:nvPr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defRPr/>
            </a:pPr>
            <a:endParaRPr lang="zh-CN" altLang="en-US" smtClean="0"/>
          </a:p>
        </p:txBody>
      </p:sp>
      <p:sp>
        <p:nvSpPr>
          <p:cNvPr id="5" name="矩形 5"/>
          <p:cNvSpPr>
            <a:spLocks noChangeArrowheads="1"/>
          </p:cNvSpPr>
          <p:nvPr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defRPr/>
            </a:pPr>
            <a:endParaRPr lang="zh-CN" altLang="en-US" smtClean="0"/>
          </a:p>
        </p:txBody>
      </p:sp>
      <p:sp>
        <p:nvSpPr>
          <p:cNvPr id="6" name="矩形 6"/>
          <p:cNvSpPr>
            <a:spLocks noChangeArrowheads="1"/>
          </p:cNvSpPr>
          <p:nvPr userDrawn="1"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defRPr/>
            </a:pPr>
            <a:endParaRPr lang="zh-CN" altLang="en-US" smtClean="0"/>
          </a:p>
        </p:txBody>
      </p:sp>
      <p:sp>
        <p:nvSpPr>
          <p:cNvPr id="8" name="标题 1"/>
          <p:cNvSpPr>
            <a:spLocks noGrp="1"/>
          </p:cNvSpPr>
          <p:nvPr>
            <p:ph type="title" hasCustomPrompt="1"/>
          </p:nvPr>
        </p:nvSpPr>
        <p:spPr>
          <a:xfrm>
            <a:off x="695325" y="2768049"/>
            <a:ext cx="7886700" cy="1325563"/>
          </a:xfrm>
          <a:prstGeom prst="rect">
            <a:avLst/>
          </a:prstGeom>
        </p:spPr>
        <p:txBody>
          <a:bodyPr tIns="288000"/>
          <a:lstStyle>
            <a:lvl1pPr>
              <a:defRPr sz="5400"/>
            </a:lvl1pPr>
          </a:lstStyle>
          <a:p>
            <a:r>
              <a:rPr lang="zh-CN" altLang="en-US" dirty="0" smtClean="0"/>
              <a:t>此处编辑母版标题样式</a:t>
            </a:r>
            <a:endParaRPr lang="zh-CN" altLang="en-US" dirty="0"/>
          </a:p>
        </p:txBody>
      </p:sp>
      <p:sp>
        <p:nvSpPr>
          <p:cNvPr id="7" name="Freeform 14">
            <a:extLst>
              <a:ext uri="{FF2B5EF4-FFF2-40B4-BE49-F238E27FC236}">
                <a16:creationId xmlns:a16="http://schemas.microsoft.com/office/drawing/2014/main" id="{B602F2C2-90ED-4AB6-9B44-1F7F2F037278}"/>
              </a:ext>
            </a:extLst>
          </p:cNvPr>
          <p:cNvSpPr/>
          <p:nvPr userDrawn="1"/>
        </p:nvSpPr>
        <p:spPr>
          <a:xfrm>
            <a:off x="4053105" y="1407496"/>
            <a:ext cx="1108861" cy="1039289"/>
          </a:xfrm>
          <a:custGeom>
            <a:avLst/>
            <a:gdLst>
              <a:gd name="connsiteX0" fmla="*/ 388426 w 607282"/>
              <a:gd name="connsiteY0" fmla="*/ 385710 h 569180"/>
              <a:gd name="connsiteX1" fmla="*/ 431276 w 607282"/>
              <a:gd name="connsiteY1" fmla="*/ 385710 h 569180"/>
              <a:gd name="connsiteX2" fmla="*/ 431276 w 607282"/>
              <a:gd name="connsiteY2" fmla="*/ 438433 h 569180"/>
              <a:gd name="connsiteX3" fmla="*/ 522771 w 607282"/>
              <a:gd name="connsiteY3" fmla="*/ 529738 h 569180"/>
              <a:gd name="connsiteX4" fmla="*/ 522771 w 607282"/>
              <a:gd name="connsiteY4" fmla="*/ 559964 h 569180"/>
              <a:gd name="connsiteX5" fmla="*/ 492483 w 607282"/>
              <a:gd name="connsiteY5" fmla="*/ 559964 h 569180"/>
              <a:gd name="connsiteX6" fmla="*/ 431276 w 607282"/>
              <a:gd name="connsiteY6" fmla="*/ 498941 h 569180"/>
              <a:gd name="connsiteX7" fmla="*/ 431276 w 607282"/>
              <a:gd name="connsiteY7" fmla="*/ 547771 h 569180"/>
              <a:gd name="connsiteX8" fmla="*/ 409822 w 607282"/>
              <a:gd name="connsiteY8" fmla="*/ 569180 h 569180"/>
              <a:gd name="connsiteX9" fmla="*/ 388426 w 607282"/>
              <a:gd name="connsiteY9" fmla="*/ 547771 h 569180"/>
              <a:gd name="connsiteX10" fmla="*/ 388426 w 607282"/>
              <a:gd name="connsiteY10" fmla="*/ 498941 h 569180"/>
              <a:gd name="connsiteX11" fmla="*/ 327276 w 607282"/>
              <a:gd name="connsiteY11" fmla="*/ 559964 h 569180"/>
              <a:gd name="connsiteX12" fmla="*/ 296988 w 607282"/>
              <a:gd name="connsiteY12" fmla="*/ 559964 h 569180"/>
              <a:gd name="connsiteX13" fmla="*/ 296988 w 607282"/>
              <a:gd name="connsiteY13" fmla="*/ 529738 h 569180"/>
              <a:gd name="connsiteX14" fmla="*/ 296931 w 607282"/>
              <a:gd name="connsiteY14" fmla="*/ 529738 h 569180"/>
              <a:gd name="connsiteX15" fmla="*/ 388426 w 607282"/>
              <a:gd name="connsiteY15" fmla="*/ 438433 h 569180"/>
              <a:gd name="connsiteX16" fmla="*/ 388426 w 607282"/>
              <a:gd name="connsiteY16" fmla="*/ 434597 h 569180"/>
              <a:gd name="connsiteX17" fmla="*/ 38140 w 607282"/>
              <a:gd name="connsiteY17" fmla="*/ 145929 h 569180"/>
              <a:gd name="connsiteX18" fmla="*/ 38255 w 607282"/>
              <a:gd name="connsiteY18" fmla="*/ 145929 h 569180"/>
              <a:gd name="connsiteX19" fmla="*/ 66358 w 607282"/>
              <a:gd name="connsiteY19" fmla="*/ 145929 h 569180"/>
              <a:gd name="connsiteX20" fmla="*/ 68767 w 607282"/>
              <a:gd name="connsiteY20" fmla="*/ 161160 h 569180"/>
              <a:gd name="connsiteX21" fmla="*/ 76453 w 607282"/>
              <a:gd name="connsiteY21" fmla="*/ 208857 h 569180"/>
              <a:gd name="connsiteX22" fmla="*/ 82589 w 607282"/>
              <a:gd name="connsiteY22" fmla="*/ 246763 h 569180"/>
              <a:gd name="connsiteX23" fmla="*/ 92684 w 607282"/>
              <a:gd name="connsiteY23" fmla="*/ 246763 h 569180"/>
              <a:gd name="connsiteX24" fmla="*/ 99222 w 607282"/>
              <a:gd name="connsiteY24" fmla="*/ 172898 h 569180"/>
              <a:gd name="connsiteX25" fmla="*/ 91594 w 607282"/>
              <a:gd name="connsiteY25" fmla="*/ 145929 h 569180"/>
              <a:gd name="connsiteX26" fmla="*/ 136502 w 607282"/>
              <a:gd name="connsiteY26" fmla="*/ 145929 h 569180"/>
              <a:gd name="connsiteX27" fmla="*/ 128874 w 607282"/>
              <a:gd name="connsiteY27" fmla="*/ 172898 h 569180"/>
              <a:gd name="connsiteX28" fmla="*/ 135355 w 607282"/>
              <a:gd name="connsiteY28" fmla="*/ 246763 h 569180"/>
              <a:gd name="connsiteX29" fmla="*/ 145507 w 607282"/>
              <a:gd name="connsiteY29" fmla="*/ 246763 h 569180"/>
              <a:gd name="connsiteX30" fmla="*/ 153192 w 607282"/>
              <a:gd name="connsiteY30" fmla="*/ 198780 h 569180"/>
              <a:gd name="connsiteX31" fmla="*/ 161738 w 607282"/>
              <a:gd name="connsiteY31" fmla="*/ 145929 h 569180"/>
              <a:gd name="connsiteX32" fmla="*/ 336094 w 607282"/>
              <a:gd name="connsiteY32" fmla="*/ 145929 h 569180"/>
              <a:gd name="connsiteX33" fmla="*/ 374349 w 607282"/>
              <a:gd name="connsiteY33" fmla="*/ 184121 h 569180"/>
              <a:gd name="connsiteX34" fmla="*/ 336094 w 607282"/>
              <a:gd name="connsiteY34" fmla="*/ 222256 h 569180"/>
              <a:gd name="connsiteX35" fmla="*/ 189841 w 607282"/>
              <a:gd name="connsiteY35" fmla="*/ 222256 h 569180"/>
              <a:gd name="connsiteX36" fmla="*/ 189841 w 607282"/>
              <a:gd name="connsiteY36" fmla="*/ 298011 h 569180"/>
              <a:gd name="connsiteX37" fmla="*/ 189841 w 607282"/>
              <a:gd name="connsiteY37" fmla="*/ 365807 h 569180"/>
              <a:gd name="connsiteX38" fmla="*/ 189841 w 607282"/>
              <a:gd name="connsiteY38" fmla="*/ 528081 h 569180"/>
              <a:gd name="connsiteX39" fmla="*/ 151586 w 607282"/>
              <a:gd name="connsiteY39" fmla="*/ 566216 h 569180"/>
              <a:gd name="connsiteX40" fmla="*/ 114019 w 607282"/>
              <a:gd name="connsiteY40" fmla="*/ 535239 h 569180"/>
              <a:gd name="connsiteX41" fmla="*/ 76453 w 607282"/>
              <a:gd name="connsiteY41" fmla="*/ 566216 h 569180"/>
              <a:gd name="connsiteX42" fmla="*/ 38255 w 607282"/>
              <a:gd name="connsiteY42" fmla="*/ 528081 h 569180"/>
              <a:gd name="connsiteX43" fmla="*/ 38255 w 607282"/>
              <a:gd name="connsiteY43" fmla="*/ 384874 h 569180"/>
              <a:gd name="connsiteX44" fmla="*/ 0 w 607282"/>
              <a:gd name="connsiteY44" fmla="*/ 346739 h 569180"/>
              <a:gd name="connsiteX45" fmla="*/ 0 w 607282"/>
              <a:gd name="connsiteY45" fmla="*/ 184121 h 569180"/>
              <a:gd name="connsiteX46" fmla="*/ 38140 w 607282"/>
              <a:gd name="connsiteY46" fmla="*/ 145929 h 569180"/>
              <a:gd name="connsiteX47" fmla="*/ 545532 w 607282"/>
              <a:gd name="connsiteY47" fmla="*/ 89195 h 569180"/>
              <a:gd name="connsiteX48" fmla="*/ 587343 w 607282"/>
              <a:gd name="connsiteY48" fmla="*/ 89195 h 569180"/>
              <a:gd name="connsiteX49" fmla="*/ 587343 w 607282"/>
              <a:gd name="connsiteY49" fmla="*/ 124061 h 569180"/>
              <a:gd name="connsiteX50" fmla="*/ 587228 w 607282"/>
              <a:gd name="connsiteY50" fmla="*/ 124061 h 569180"/>
              <a:gd name="connsiteX51" fmla="*/ 587343 w 607282"/>
              <a:gd name="connsiteY51" fmla="*/ 324787 h 569180"/>
              <a:gd name="connsiteX52" fmla="*/ 541403 w 607282"/>
              <a:gd name="connsiteY52" fmla="*/ 370989 h 569180"/>
              <a:gd name="connsiteX53" fmla="*/ 278325 w 607282"/>
              <a:gd name="connsiteY53" fmla="*/ 370531 h 569180"/>
              <a:gd name="connsiteX54" fmla="*/ 233131 w 607282"/>
              <a:gd name="connsiteY54" fmla="*/ 331027 h 569180"/>
              <a:gd name="connsiteX55" fmla="*/ 232729 w 607282"/>
              <a:gd name="connsiteY55" fmla="*/ 233012 h 569180"/>
              <a:gd name="connsiteX56" fmla="*/ 272475 w 607282"/>
              <a:gd name="connsiteY56" fmla="*/ 233012 h 569180"/>
              <a:gd name="connsiteX57" fmla="*/ 272475 w 607282"/>
              <a:gd name="connsiteY57" fmla="*/ 330340 h 569180"/>
              <a:gd name="connsiteX58" fmla="*/ 545532 w 607282"/>
              <a:gd name="connsiteY58" fmla="*/ 329997 h 569180"/>
              <a:gd name="connsiteX59" fmla="*/ 545532 w 607282"/>
              <a:gd name="connsiteY59" fmla="*/ 124061 h 569180"/>
              <a:gd name="connsiteX60" fmla="*/ 231948 w 607282"/>
              <a:gd name="connsiteY60" fmla="*/ 89124 h 569180"/>
              <a:gd name="connsiteX61" fmla="*/ 273793 w 607282"/>
              <a:gd name="connsiteY61" fmla="*/ 89124 h 569180"/>
              <a:gd name="connsiteX62" fmla="*/ 273793 w 607282"/>
              <a:gd name="connsiteY62" fmla="*/ 135062 h 569180"/>
              <a:gd name="connsiteX63" fmla="*/ 272240 w 607282"/>
              <a:gd name="connsiteY63" fmla="*/ 135062 h 569180"/>
              <a:gd name="connsiteX64" fmla="*/ 233571 w 607282"/>
              <a:gd name="connsiteY64" fmla="*/ 135062 h 569180"/>
              <a:gd name="connsiteX65" fmla="*/ 231948 w 607282"/>
              <a:gd name="connsiteY65" fmla="*/ 135062 h 569180"/>
              <a:gd name="connsiteX66" fmla="*/ 409822 w 607282"/>
              <a:gd name="connsiteY66" fmla="*/ 10232 h 569180"/>
              <a:gd name="connsiteX67" fmla="*/ 437925 w 607282"/>
              <a:gd name="connsiteY67" fmla="*/ 35771 h 569180"/>
              <a:gd name="connsiteX68" fmla="*/ 447503 w 607282"/>
              <a:gd name="connsiteY68" fmla="*/ 35771 h 569180"/>
              <a:gd name="connsiteX69" fmla="*/ 578958 w 607282"/>
              <a:gd name="connsiteY69" fmla="*/ 35828 h 569180"/>
              <a:gd name="connsiteX70" fmla="*/ 593009 w 607282"/>
              <a:gd name="connsiteY70" fmla="*/ 37031 h 569180"/>
              <a:gd name="connsiteX71" fmla="*/ 607233 w 607282"/>
              <a:gd name="connsiteY71" fmla="*/ 57874 h 569180"/>
              <a:gd name="connsiteX72" fmla="*/ 587159 w 607282"/>
              <a:gd name="connsiteY72" fmla="*/ 76828 h 569180"/>
              <a:gd name="connsiteX73" fmla="*/ 579244 w 607282"/>
              <a:gd name="connsiteY73" fmla="*/ 76885 h 569180"/>
              <a:gd name="connsiteX74" fmla="*/ 241776 w 607282"/>
              <a:gd name="connsiteY74" fmla="*/ 76885 h 569180"/>
              <a:gd name="connsiteX75" fmla="*/ 233861 w 607282"/>
              <a:gd name="connsiteY75" fmla="*/ 76828 h 569180"/>
              <a:gd name="connsiteX76" fmla="*/ 212984 w 607282"/>
              <a:gd name="connsiteY76" fmla="*/ 56672 h 569180"/>
              <a:gd name="connsiteX77" fmla="*/ 233287 w 607282"/>
              <a:gd name="connsiteY77" fmla="*/ 35943 h 569180"/>
              <a:gd name="connsiteX78" fmla="*/ 244357 w 607282"/>
              <a:gd name="connsiteY78" fmla="*/ 35771 h 569180"/>
              <a:gd name="connsiteX79" fmla="*/ 371108 w 607282"/>
              <a:gd name="connsiteY79" fmla="*/ 35771 h 569180"/>
              <a:gd name="connsiteX80" fmla="*/ 381661 w 607282"/>
              <a:gd name="connsiteY80" fmla="*/ 35771 h 569180"/>
              <a:gd name="connsiteX81" fmla="*/ 409822 w 607282"/>
              <a:gd name="connsiteY81" fmla="*/ 10232 h 569180"/>
              <a:gd name="connsiteX82" fmla="*/ 114034 w 607282"/>
              <a:gd name="connsiteY82" fmla="*/ 0 h 569180"/>
              <a:gd name="connsiteX83" fmla="*/ 182130 w 607282"/>
              <a:gd name="connsiteY83" fmla="*/ 67990 h 569180"/>
              <a:gd name="connsiteX84" fmla="*/ 114034 w 607282"/>
              <a:gd name="connsiteY84" fmla="*/ 135980 h 569180"/>
              <a:gd name="connsiteX85" fmla="*/ 45938 w 607282"/>
              <a:gd name="connsiteY85" fmla="*/ 67990 h 569180"/>
              <a:gd name="connsiteX86" fmla="*/ 114034 w 607282"/>
              <a:gd name="connsiteY86" fmla="*/ 0 h 5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607282" h="569180">
                <a:moveTo>
                  <a:pt x="388426" y="385710"/>
                </a:moveTo>
                <a:lnTo>
                  <a:pt x="431276" y="385710"/>
                </a:lnTo>
                <a:lnTo>
                  <a:pt x="431276" y="438433"/>
                </a:lnTo>
                <a:lnTo>
                  <a:pt x="522771" y="529738"/>
                </a:lnTo>
                <a:cubicBezTo>
                  <a:pt x="531146" y="538096"/>
                  <a:pt x="531146" y="551606"/>
                  <a:pt x="522771" y="559964"/>
                </a:cubicBezTo>
                <a:cubicBezTo>
                  <a:pt x="514396" y="568321"/>
                  <a:pt x="500858" y="568321"/>
                  <a:pt x="492483" y="559964"/>
                </a:cubicBezTo>
                <a:lnTo>
                  <a:pt x="431276" y="498941"/>
                </a:lnTo>
                <a:lnTo>
                  <a:pt x="431276" y="547771"/>
                </a:lnTo>
                <a:cubicBezTo>
                  <a:pt x="431276" y="559563"/>
                  <a:pt x="421697" y="569180"/>
                  <a:pt x="409822" y="569180"/>
                </a:cubicBezTo>
                <a:cubicBezTo>
                  <a:pt x="398005" y="569180"/>
                  <a:pt x="388426" y="559563"/>
                  <a:pt x="388426" y="547771"/>
                </a:cubicBezTo>
                <a:lnTo>
                  <a:pt x="388426" y="498941"/>
                </a:lnTo>
                <a:lnTo>
                  <a:pt x="327276" y="559964"/>
                </a:lnTo>
                <a:cubicBezTo>
                  <a:pt x="318901" y="568321"/>
                  <a:pt x="305306" y="568321"/>
                  <a:pt x="296988" y="559964"/>
                </a:cubicBezTo>
                <a:cubicBezTo>
                  <a:pt x="288613" y="551606"/>
                  <a:pt x="288613" y="538096"/>
                  <a:pt x="296988" y="529738"/>
                </a:cubicBezTo>
                <a:lnTo>
                  <a:pt x="296931" y="529738"/>
                </a:lnTo>
                <a:lnTo>
                  <a:pt x="388426" y="438433"/>
                </a:lnTo>
                <a:lnTo>
                  <a:pt x="388426" y="434597"/>
                </a:lnTo>
                <a:close/>
                <a:moveTo>
                  <a:pt x="38140" y="145929"/>
                </a:moveTo>
                <a:lnTo>
                  <a:pt x="38255" y="145929"/>
                </a:lnTo>
                <a:lnTo>
                  <a:pt x="66358" y="145929"/>
                </a:lnTo>
                <a:lnTo>
                  <a:pt x="68767" y="161160"/>
                </a:lnTo>
                <a:lnTo>
                  <a:pt x="76453" y="208857"/>
                </a:lnTo>
                <a:lnTo>
                  <a:pt x="82589" y="246763"/>
                </a:lnTo>
                <a:lnTo>
                  <a:pt x="92684" y="246763"/>
                </a:lnTo>
                <a:lnTo>
                  <a:pt x="99222" y="172898"/>
                </a:lnTo>
                <a:lnTo>
                  <a:pt x="91594" y="145929"/>
                </a:lnTo>
                <a:lnTo>
                  <a:pt x="136502" y="145929"/>
                </a:lnTo>
                <a:lnTo>
                  <a:pt x="128874" y="172898"/>
                </a:lnTo>
                <a:lnTo>
                  <a:pt x="135355" y="246763"/>
                </a:lnTo>
                <a:lnTo>
                  <a:pt x="145507" y="246763"/>
                </a:lnTo>
                <a:lnTo>
                  <a:pt x="153192" y="198780"/>
                </a:lnTo>
                <a:lnTo>
                  <a:pt x="161738" y="145929"/>
                </a:lnTo>
                <a:lnTo>
                  <a:pt x="336094" y="145929"/>
                </a:lnTo>
                <a:cubicBezTo>
                  <a:pt x="357200" y="145929"/>
                  <a:pt x="374349" y="162992"/>
                  <a:pt x="374349" y="184121"/>
                </a:cubicBezTo>
                <a:cubicBezTo>
                  <a:pt x="374349" y="205193"/>
                  <a:pt x="357200" y="222256"/>
                  <a:pt x="336094" y="222256"/>
                </a:cubicBezTo>
                <a:lnTo>
                  <a:pt x="189841" y="222256"/>
                </a:lnTo>
                <a:lnTo>
                  <a:pt x="189841" y="298011"/>
                </a:lnTo>
                <a:lnTo>
                  <a:pt x="189841" y="365807"/>
                </a:lnTo>
                <a:lnTo>
                  <a:pt x="189841" y="528081"/>
                </a:lnTo>
                <a:cubicBezTo>
                  <a:pt x="189841" y="549153"/>
                  <a:pt x="172692" y="566216"/>
                  <a:pt x="151586" y="566216"/>
                </a:cubicBezTo>
                <a:cubicBezTo>
                  <a:pt x="132889" y="566216"/>
                  <a:pt x="117403" y="552875"/>
                  <a:pt x="114019" y="535239"/>
                </a:cubicBezTo>
                <a:cubicBezTo>
                  <a:pt x="110693" y="552875"/>
                  <a:pt x="95150" y="566216"/>
                  <a:pt x="76453" y="566216"/>
                </a:cubicBezTo>
                <a:cubicBezTo>
                  <a:pt x="55346" y="566216"/>
                  <a:pt x="38255" y="549153"/>
                  <a:pt x="38255" y="528081"/>
                </a:cubicBezTo>
                <a:lnTo>
                  <a:pt x="38255" y="384874"/>
                </a:lnTo>
                <a:cubicBezTo>
                  <a:pt x="17091" y="384874"/>
                  <a:pt x="0" y="367811"/>
                  <a:pt x="0" y="346739"/>
                </a:cubicBezTo>
                <a:lnTo>
                  <a:pt x="0" y="184121"/>
                </a:lnTo>
                <a:cubicBezTo>
                  <a:pt x="0" y="163050"/>
                  <a:pt x="17091" y="145986"/>
                  <a:pt x="38140" y="145929"/>
                </a:cubicBezTo>
                <a:close/>
                <a:moveTo>
                  <a:pt x="545532" y="89195"/>
                </a:moveTo>
                <a:lnTo>
                  <a:pt x="587343" y="89195"/>
                </a:lnTo>
                <a:lnTo>
                  <a:pt x="587343" y="124061"/>
                </a:lnTo>
                <a:lnTo>
                  <a:pt x="587228" y="124061"/>
                </a:lnTo>
                <a:cubicBezTo>
                  <a:pt x="587228" y="190989"/>
                  <a:pt x="587056" y="257859"/>
                  <a:pt x="587343" y="324787"/>
                </a:cubicBezTo>
                <a:cubicBezTo>
                  <a:pt x="587457" y="352669"/>
                  <a:pt x="567498" y="371104"/>
                  <a:pt x="541403" y="370989"/>
                </a:cubicBezTo>
                <a:cubicBezTo>
                  <a:pt x="453710" y="370646"/>
                  <a:pt x="366018" y="370703"/>
                  <a:pt x="278325" y="370531"/>
                </a:cubicBezTo>
                <a:cubicBezTo>
                  <a:pt x="255441" y="370474"/>
                  <a:pt x="234278" y="353527"/>
                  <a:pt x="233131" y="331027"/>
                </a:cubicBezTo>
                <a:cubicBezTo>
                  <a:pt x="231525" y="299024"/>
                  <a:pt x="232729" y="266905"/>
                  <a:pt x="232729" y="233012"/>
                </a:cubicBezTo>
                <a:lnTo>
                  <a:pt x="272475" y="233012"/>
                </a:lnTo>
                <a:lnTo>
                  <a:pt x="272475" y="330340"/>
                </a:lnTo>
                <a:cubicBezTo>
                  <a:pt x="364010" y="330512"/>
                  <a:pt x="453997" y="330398"/>
                  <a:pt x="545532" y="329997"/>
                </a:cubicBezTo>
                <a:lnTo>
                  <a:pt x="545532" y="124061"/>
                </a:lnTo>
                <a:close/>
                <a:moveTo>
                  <a:pt x="231948" y="89124"/>
                </a:moveTo>
                <a:lnTo>
                  <a:pt x="273793" y="89124"/>
                </a:lnTo>
                <a:lnTo>
                  <a:pt x="273793" y="135062"/>
                </a:lnTo>
                <a:lnTo>
                  <a:pt x="272240" y="135062"/>
                </a:lnTo>
                <a:lnTo>
                  <a:pt x="233571" y="135062"/>
                </a:lnTo>
                <a:lnTo>
                  <a:pt x="231948" y="135062"/>
                </a:lnTo>
                <a:close/>
                <a:moveTo>
                  <a:pt x="409822" y="10232"/>
                </a:moveTo>
                <a:cubicBezTo>
                  <a:pt x="424505" y="10232"/>
                  <a:pt x="436606" y="21455"/>
                  <a:pt x="437925" y="35771"/>
                </a:cubicBezTo>
                <a:lnTo>
                  <a:pt x="447503" y="35771"/>
                </a:lnTo>
                <a:cubicBezTo>
                  <a:pt x="491321" y="35771"/>
                  <a:pt x="535140" y="35771"/>
                  <a:pt x="578958" y="35828"/>
                </a:cubicBezTo>
                <a:cubicBezTo>
                  <a:pt x="583661" y="35828"/>
                  <a:pt x="588650" y="35599"/>
                  <a:pt x="593009" y="37031"/>
                </a:cubicBezTo>
                <a:cubicBezTo>
                  <a:pt x="601326" y="39665"/>
                  <a:pt x="607921" y="50144"/>
                  <a:pt x="607233" y="57874"/>
                </a:cubicBezTo>
                <a:cubicBezTo>
                  <a:pt x="606315" y="67380"/>
                  <a:pt x="597368" y="75912"/>
                  <a:pt x="587159" y="76828"/>
                </a:cubicBezTo>
                <a:cubicBezTo>
                  <a:pt x="584521" y="77057"/>
                  <a:pt x="581883" y="76885"/>
                  <a:pt x="579244" y="76885"/>
                </a:cubicBezTo>
                <a:cubicBezTo>
                  <a:pt x="466774" y="76885"/>
                  <a:pt x="354304" y="76885"/>
                  <a:pt x="241776" y="76885"/>
                </a:cubicBezTo>
                <a:cubicBezTo>
                  <a:pt x="239137" y="76885"/>
                  <a:pt x="236499" y="77057"/>
                  <a:pt x="233861" y="76828"/>
                </a:cubicBezTo>
                <a:cubicBezTo>
                  <a:pt x="223078" y="75740"/>
                  <a:pt x="213156" y="66120"/>
                  <a:pt x="212984" y="56672"/>
                </a:cubicBezTo>
                <a:cubicBezTo>
                  <a:pt x="212755" y="47166"/>
                  <a:pt x="222448" y="37088"/>
                  <a:pt x="233287" y="35943"/>
                </a:cubicBezTo>
                <a:cubicBezTo>
                  <a:pt x="236958" y="35542"/>
                  <a:pt x="240686" y="35771"/>
                  <a:pt x="244357" y="35771"/>
                </a:cubicBezTo>
                <a:cubicBezTo>
                  <a:pt x="286626" y="35771"/>
                  <a:pt x="328839" y="35771"/>
                  <a:pt x="371108" y="35771"/>
                </a:cubicBezTo>
                <a:lnTo>
                  <a:pt x="381661" y="35771"/>
                </a:lnTo>
                <a:cubicBezTo>
                  <a:pt x="382981" y="21455"/>
                  <a:pt x="395082" y="10232"/>
                  <a:pt x="409822" y="10232"/>
                </a:cubicBezTo>
                <a:close/>
                <a:moveTo>
                  <a:pt x="114034" y="0"/>
                </a:moveTo>
                <a:cubicBezTo>
                  <a:pt x="151642" y="0"/>
                  <a:pt x="182130" y="30440"/>
                  <a:pt x="182130" y="67990"/>
                </a:cubicBezTo>
                <a:cubicBezTo>
                  <a:pt x="182130" y="105540"/>
                  <a:pt x="151642" y="135980"/>
                  <a:pt x="114034" y="135980"/>
                </a:cubicBezTo>
                <a:cubicBezTo>
                  <a:pt x="76426" y="135980"/>
                  <a:pt x="45938" y="105540"/>
                  <a:pt x="45938" y="67990"/>
                </a:cubicBezTo>
                <a:cubicBezTo>
                  <a:pt x="45938" y="30440"/>
                  <a:pt x="76426" y="0"/>
                  <a:pt x="114034" y="0"/>
                </a:cubicBezTo>
                <a:close/>
              </a:path>
            </a:pathLst>
          </a:custGeom>
          <a:solidFill>
            <a:srgbClr val="3F3B3A"/>
          </a:solidFill>
          <a:ln w="12700" cap="flat">
            <a:noFill/>
            <a:miter lim="400000"/>
          </a:ln>
          <a:effectLst/>
        </p:spPr>
        <p:txBody>
          <a:bodyPr wrap="square" lIns="91439" tIns="91439" rIns="91439" bIns="91439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7FC733E-4E96-45E0-B9E5-24BD4CBE51BD}"/>
              </a:ext>
            </a:extLst>
          </p:cNvPr>
          <p:cNvCxnSpPr>
            <a:cxnSpLocks/>
          </p:cNvCxnSpPr>
          <p:nvPr userDrawn="1"/>
        </p:nvCxnSpPr>
        <p:spPr>
          <a:xfrm>
            <a:off x="1024175" y="4221088"/>
            <a:ext cx="7056784" cy="0"/>
          </a:xfrm>
          <a:prstGeom prst="line">
            <a:avLst/>
          </a:prstGeom>
          <a:ln w="15875">
            <a:solidFill>
              <a:srgbClr val="3F3B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7FC733E-4E96-45E0-B9E5-24BD4CBE51BD}"/>
              </a:ext>
            </a:extLst>
          </p:cNvPr>
          <p:cNvCxnSpPr>
            <a:cxnSpLocks/>
          </p:cNvCxnSpPr>
          <p:nvPr userDrawn="1"/>
        </p:nvCxnSpPr>
        <p:spPr>
          <a:xfrm>
            <a:off x="978293" y="2625728"/>
            <a:ext cx="7056784" cy="0"/>
          </a:xfrm>
          <a:prstGeom prst="line">
            <a:avLst/>
          </a:prstGeom>
          <a:ln w="15875">
            <a:solidFill>
              <a:srgbClr val="3F3B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28184" y="260648"/>
            <a:ext cx="2660986" cy="61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678144"/>
      </p:ext>
    </p:extLst>
  </p:cSld>
  <p:clrMapOvr>
    <a:masterClrMapping/>
  </p:clrMapOvr>
  <p:transition spd="slow">
    <p:circl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矩形 6"/>
          <p:cNvSpPr>
            <a:spLocks noChangeArrowheads="1"/>
          </p:cNvSpPr>
          <p:nvPr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defRPr/>
            </a:pPr>
            <a:endParaRPr lang="zh-CN" altLang="en-US" smtClean="0"/>
          </a:p>
        </p:txBody>
      </p:sp>
      <p:sp>
        <p:nvSpPr>
          <p:cNvPr id="1031" name="矩形 7"/>
          <p:cNvSpPr>
            <a:spLocks noChangeArrowheads="1"/>
          </p:cNvSpPr>
          <p:nvPr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defRPr/>
            </a:pPr>
            <a:endParaRPr lang="zh-CN" altLang="en-US" smtClean="0"/>
          </a:p>
        </p:txBody>
      </p:sp>
      <p:sp>
        <p:nvSpPr>
          <p:cNvPr id="1032" name="矩形 8"/>
          <p:cNvSpPr>
            <a:spLocks noChangeArrowheads="1"/>
          </p:cNvSpPr>
          <p:nvPr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defRPr/>
            </a:pPr>
            <a:endParaRPr lang="zh-CN" altLang="en-US" smtClean="0"/>
          </a:p>
        </p:txBody>
      </p:sp>
      <p:sp>
        <p:nvSpPr>
          <p:cNvPr id="1033" name="矩形 9"/>
          <p:cNvSpPr>
            <a:spLocks noChangeArrowheads="1"/>
          </p:cNvSpPr>
          <p:nvPr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defRPr/>
            </a:pPr>
            <a:endParaRPr lang="zh-CN" altLang="en-US" smtClean="0"/>
          </a:p>
        </p:txBody>
      </p:sp>
      <p:sp>
        <p:nvSpPr>
          <p:cNvPr id="1034" name="矩形 10"/>
          <p:cNvSpPr>
            <a:spLocks noChangeArrowheads="1"/>
          </p:cNvSpPr>
          <p:nvPr/>
        </p:nvSpPr>
        <p:spPr bwMode="gray">
          <a:xfrm>
            <a:off x="304800" y="980728"/>
            <a:ext cx="8410575" cy="46037"/>
          </a:xfrm>
          <a:prstGeom prst="rect">
            <a:avLst/>
          </a:prstGeom>
          <a:gradFill rotWithShape="1">
            <a:gsLst>
              <a:gs pos="0">
                <a:srgbClr val="800000">
                  <a:alpha val="50000"/>
                </a:srgbClr>
              </a:gs>
              <a:gs pos="100000">
                <a:srgbClr val="FAE2F6">
                  <a:alpha val="50000"/>
                </a:srgbClr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defRPr/>
            </a:pPr>
            <a:endParaRPr kumimoji="1" lang="zh-CN" altLang="en-US" sz="2400" smtClean="0">
              <a:latin typeface="Book Antiqua" panose="02040602050305030304" pitchFamily="18" charset="0"/>
              <a:ea typeface="宋体" panose="02010600030101010101" pitchFamily="2" charset="-122"/>
            </a:endParaRPr>
          </a:p>
        </p:txBody>
      </p:sp>
      <p:pic>
        <p:nvPicPr>
          <p:cNvPr id="1035" name="图片 25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2950" y="3414713"/>
            <a:ext cx="38100" cy="2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矩形 14"/>
          <p:cNvSpPr txBox="1">
            <a:spLocks noChangeArrowheads="1"/>
          </p:cNvSpPr>
          <p:nvPr userDrawn="1"/>
        </p:nvSpPr>
        <p:spPr bwMode="auto">
          <a:xfrm>
            <a:off x="7010400" y="6434062"/>
            <a:ext cx="2133600" cy="4064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FC3A4C"/>
                </a:solidFill>
                <a:latin typeface="Book Antiqua" panose="0204060205030503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pPr>
              <a:defRPr/>
            </a:pPr>
            <a:fld id="{AA8CF565-2697-4D8A-9440-517CC2056E4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63" r:id="rId1"/>
    <p:sldLayoutId id="2147484566" r:id="rId2"/>
    <p:sldLayoutId id="2147484567" r:id="rId3"/>
    <p:sldLayoutId id="2147484565" r:id="rId4"/>
    <p:sldLayoutId id="2147484569" r:id="rId5"/>
    <p:sldLayoutId id="2147484570" r:id="rId6"/>
    <p:sldLayoutId id="2147484572" r:id="rId7"/>
    <p:sldLayoutId id="2147484573" r:id="rId8"/>
  </p:sldLayoutIdLst>
  <p:transition spd="slow">
    <p:circle/>
  </p:transition>
  <p:timing>
    <p:tnLst>
      <p:par>
        <p:cTn id="1" dur="indefinite" restart="never" nodeType="tmRoot"/>
      </p:par>
    </p:tnLst>
  </p:timing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 b="0">
          <a:solidFill>
            <a:srgbClr val="FF0000"/>
          </a:solidFill>
          <a:effectLst/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800" b="1">
          <a:solidFill>
            <a:srgbClr val="FF0000"/>
          </a:solidFill>
          <a:effectLst>
            <a:outerShdw blurRad="38100" dist="38100" dir="2700000" algn="tl">
              <a:srgbClr val="C0C0C0"/>
            </a:outerShdw>
          </a:effectLst>
          <a:latin typeface="Book Antiqua" pitchFamily="18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800" b="1">
          <a:solidFill>
            <a:srgbClr val="FF0000"/>
          </a:solidFill>
          <a:effectLst>
            <a:outerShdw blurRad="38100" dist="38100" dir="2700000" algn="tl">
              <a:srgbClr val="C0C0C0"/>
            </a:outerShdw>
          </a:effectLst>
          <a:latin typeface="Book Antiqua" pitchFamily="18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800" b="1">
          <a:solidFill>
            <a:srgbClr val="FF0000"/>
          </a:solidFill>
          <a:effectLst>
            <a:outerShdw blurRad="38100" dist="38100" dir="2700000" algn="tl">
              <a:srgbClr val="C0C0C0"/>
            </a:outerShdw>
          </a:effectLst>
          <a:latin typeface="Book Antiqua" pitchFamily="18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800" b="1">
          <a:solidFill>
            <a:srgbClr val="FF0000"/>
          </a:solidFill>
          <a:effectLst>
            <a:outerShdw blurRad="38100" dist="38100" dir="2700000" algn="tl">
              <a:srgbClr val="C0C0C0"/>
            </a:outerShdw>
          </a:effectLst>
          <a:latin typeface="Book Antiqua" pitchFamily="18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800" b="1">
          <a:solidFill>
            <a:srgbClr val="FF0000"/>
          </a:solidFill>
          <a:effectLst>
            <a:outerShdw blurRad="38100" dist="38100" dir="2700000" algn="tl">
              <a:srgbClr val="C0C0C0"/>
            </a:outerShdw>
          </a:effectLst>
          <a:latin typeface="Book Antiqua" pitchFamily="18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800" b="1">
          <a:solidFill>
            <a:srgbClr val="FF0000"/>
          </a:solidFill>
          <a:effectLst>
            <a:outerShdw blurRad="38100" dist="38100" dir="2700000" algn="tl">
              <a:srgbClr val="C0C0C0"/>
            </a:outerShdw>
          </a:effectLst>
          <a:latin typeface="Book Antiqua" pitchFamily="18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800" b="1">
          <a:solidFill>
            <a:srgbClr val="FF0000"/>
          </a:solidFill>
          <a:effectLst>
            <a:outerShdw blurRad="38100" dist="38100" dir="2700000" algn="tl">
              <a:srgbClr val="C0C0C0"/>
            </a:outerShdw>
          </a:effectLst>
          <a:latin typeface="Book Antiqua" pitchFamily="18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800" b="1">
          <a:solidFill>
            <a:srgbClr val="FF0000"/>
          </a:solidFill>
          <a:effectLst>
            <a:outerShdw blurRad="38100" dist="38100" dir="2700000" algn="tl">
              <a:srgbClr val="C0C0C0"/>
            </a:outerShdw>
          </a:effectLst>
          <a:latin typeface="Book Antiqua" pitchFamily="18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rgbClr val="2D7693"/>
        </a:buClr>
        <a:buSzPct val="70000"/>
        <a:buFont typeface="Wingdings" panose="05000000000000000000" pitchFamily="2" charset="2"/>
        <a:buChar char="n"/>
        <a:defRPr sz="2400" b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rgbClr val="FC3A4C"/>
        </a:buClr>
        <a:buSzPct val="70000"/>
        <a:buFont typeface="Wingdings" panose="05000000000000000000" pitchFamily="2" charset="2"/>
        <a:buChar char="Ø"/>
        <a:defRPr sz="2000" b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marL="1143000" indent="-2286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0FF"/>
        </a:buClr>
        <a:buSzPct val="70000"/>
        <a:buFont typeface="Wingdings" panose="05000000000000000000" pitchFamily="2" charset="2"/>
        <a:buChar char="l"/>
        <a:defRPr sz="2000" b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marL="1600200" indent="-2286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p"/>
        <a:defRPr sz="2000" b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marL="2057400" indent="-2286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p"/>
        <a:defRPr sz="2000" b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p"/>
        <a:defRPr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p"/>
        <a:defRPr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p"/>
        <a:defRPr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p"/>
        <a:defRPr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Box 3"/>
          <p:cNvSpPr txBox="1">
            <a:spLocks noChangeArrowheads="1"/>
          </p:cNvSpPr>
          <p:nvPr/>
        </p:nvSpPr>
        <p:spPr bwMode="auto">
          <a:xfrm>
            <a:off x="367867" y="1729092"/>
            <a:ext cx="8424936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rgbClr val="0000CC"/>
                </a:solidFill>
                <a:latin typeface="Gill Sans MT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BBB59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ts val="1800"/>
              </a:spcAft>
              <a:buClrTx/>
              <a:buSzTx/>
              <a:buNone/>
            </a:pPr>
            <a:r>
              <a:rPr lang="zh-CN" altLang="en-US" sz="5400" dirty="0" smtClean="0">
                <a:solidFill>
                  <a:srgbClr val="FF0000"/>
                </a:solidFill>
                <a:latin typeface="华文中宋" panose="02010600040101010101" pitchFamily="2" charset="-122"/>
              </a:rPr>
              <a:t>第</a:t>
            </a:r>
            <a:r>
              <a:rPr lang="en-US" altLang="zh-CN" sz="5400" dirty="0" smtClean="0">
                <a:solidFill>
                  <a:srgbClr val="FF0000"/>
                </a:solidFill>
                <a:latin typeface="华文中宋" panose="02010600040101010101" pitchFamily="2" charset="-122"/>
              </a:rPr>
              <a:t>1</a:t>
            </a:r>
            <a:r>
              <a:rPr lang="zh-CN" altLang="en-US" sz="5400" dirty="0" smtClean="0">
                <a:solidFill>
                  <a:srgbClr val="FF0000"/>
                </a:solidFill>
                <a:latin typeface="华文中宋" panose="02010600040101010101" pitchFamily="2" charset="-122"/>
              </a:rPr>
              <a:t>讲 </a:t>
            </a:r>
            <a:r>
              <a:rPr lang="zh-CN" altLang="en-US" sz="5400" dirty="0" smtClean="0">
                <a:solidFill>
                  <a:srgbClr val="FF0000"/>
                </a:solidFill>
                <a:latin typeface="华文中宋" panose="02010600040101010101" pitchFamily="2" charset="-122"/>
              </a:rPr>
              <a:t>研究写作</a:t>
            </a:r>
            <a:endParaRPr lang="zh-CN" altLang="en-US" sz="5400" dirty="0">
              <a:solidFill>
                <a:srgbClr val="FF0000"/>
              </a:solidFill>
              <a:latin typeface="华文中宋" panose="0201060004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79512" y="337201"/>
            <a:ext cx="48965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Aft>
                <a:spcPts val="1800"/>
              </a:spcAft>
            </a:pPr>
            <a:r>
              <a:rPr lang="zh-CN" altLang="en-US" sz="2400" dirty="0" smtClean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大数据推荐与决策 </a:t>
            </a:r>
            <a:r>
              <a:rPr lang="en-US" altLang="zh-CN" sz="2400" dirty="0" smtClean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(</a:t>
            </a:r>
            <a:r>
              <a:rPr lang="zh-CN" altLang="en-US" sz="2400" dirty="0" smtClean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四</a:t>
            </a:r>
            <a:r>
              <a:rPr lang="en-US" altLang="zh-CN" sz="2400" dirty="0" smtClean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) </a:t>
            </a:r>
            <a:r>
              <a:rPr lang="zh-CN" altLang="en-US" sz="2400" dirty="0" smtClean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研究篇</a:t>
            </a:r>
            <a:endParaRPr lang="en-US" altLang="zh-CN" sz="2400" dirty="0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184" y="260648"/>
            <a:ext cx="2660986" cy="610982"/>
          </a:xfrm>
          <a:prstGeom prst="rect">
            <a:avLst/>
          </a:prstGeom>
        </p:spPr>
      </p:pic>
      <p:sp>
        <p:nvSpPr>
          <p:cNvPr id="8" name="TextBox 3"/>
          <p:cNvSpPr txBox="1">
            <a:spLocks noChangeArrowheads="1"/>
          </p:cNvSpPr>
          <p:nvPr/>
        </p:nvSpPr>
        <p:spPr bwMode="auto">
          <a:xfrm>
            <a:off x="539552" y="3298626"/>
            <a:ext cx="8001223" cy="3154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rgbClr val="0000CC"/>
                </a:solidFill>
                <a:latin typeface="Gill Sans MT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BBB59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ts val="1800"/>
              </a:spcAft>
              <a:buClrTx/>
              <a:buSzTx/>
              <a:buFontTx/>
              <a:buNone/>
            </a:pPr>
            <a:r>
              <a:rPr lang="zh-CN" altLang="en-US" sz="5400" dirty="0" smtClean="0">
                <a:latin typeface="华文中宋" panose="02010600040101010101" pitchFamily="2" charset="-122"/>
              </a:rPr>
              <a:t>余力 </a:t>
            </a:r>
            <a:r>
              <a:rPr lang="zh-CN" altLang="en-US" sz="4000" dirty="0" smtClean="0">
                <a:latin typeface="华文中宋" panose="02010600040101010101" pitchFamily="2" charset="-122"/>
              </a:rPr>
              <a:t>博士</a:t>
            </a:r>
            <a:endParaRPr lang="en-US" altLang="zh-CN" sz="4000" dirty="0" smtClean="0">
              <a:latin typeface="华文中宋" panose="02010600040101010101" pitchFamily="2" charset="-122"/>
            </a:endParaRPr>
          </a:p>
          <a:p>
            <a:pPr algn="ctr" eaLnBrk="1" hangingPunct="1">
              <a:spcBef>
                <a:spcPct val="0"/>
              </a:spcBef>
              <a:spcAft>
                <a:spcPts val="1800"/>
              </a:spcAft>
              <a:buClrTx/>
              <a:buSzTx/>
              <a:buFontTx/>
              <a:buNone/>
            </a:pPr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教授、博士生导师</a:t>
            </a:r>
            <a:endParaRPr lang="en-US" altLang="zh-CN"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ctr" eaLnBrk="1" hangingPunct="1">
              <a:spcBef>
                <a:spcPct val="0"/>
              </a:spcBef>
              <a:spcAft>
                <a:spcPts val="1800"/>
              </a:spcAft>
              <a:buClrTx/>
              <a:buSzTx/>
              <a:buFontTx/>
              <a:buNone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大数据分析与智能决策实验室  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ctr" eaLnBrk="1" hangingPunct="1">
              <a:spcBef>
                <a:spcPct val="0"/>
              </a:spcBef>
              <a:spcAft>
                <a:spcPts val="1800"/>
              </a:spcAft>
              <a:buClrTx/>
              <a:buSzTx/>
              <a:buFontTx/>
              <a:buNone/>
            </a:pPr>
            <a:r>
              <a:rPr lang="en-US" altLang="zh-CN" sz="3600" b="0" dirty="0" smtClean="0">
                <a:latin typeface="+mn-lt"/>
              </a:rPr>
              <a:t>buaayuli@ruc.edu.cn</a:t>
            </a:r>
          </a:p>
        </p:txBody>
      </p:sp>
    </p:spTree>
    <p:extLst>
      <p:ext uri="{BB962C8B-B14F-4D97-AF65-F5344CB8AC3E}">
        <p14:creationId xmlns:p14="http://schemas.microsoft.com/office/powerpoint/2010/main" val="1422028743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2195736" y="1844824"/>
            <a:ext cx="4896544" cy="2736304"/>
          </a:xfrm>
        </p:spPr>
        <p:txBody>
          <a:bodyPr/>
          <a:lstStyle/>
          <a:p>
            <a:pPr marL="0" indent="0">
              <a:lnSpc>
                <a:spcPct val="250000"/>
              </a:lnSpc>
              <a:buNone/>
            </a:pPr>
            <a:r>
              <a:rPr lang="en-US" altLang="zh-CN" sz="2800" dirty="0" smtClean="0"/>
              <a:t>1</a:t>
            </a:r>
            <a:r>
              <a:rPr lang="zh-CN" altLang="en-US" sz="2800" dirty="0" smtClean="0"/>
              <a:t>、大数据驱动的管理决策</a:t>
            </a:r>
            <a:endParaRPr lang="en-US" altLang="zh-CN" sz="2800" dirty="0" smtClean="0"/>
          </a:p>
          <a:p>
            <a:pPr marL="0" indent="0">
              <a:lnSpc>
                <a:spcPct val="250000"/>
              </a:lnSpc>
              <a:buNone/>
            </a:pPr>
            <a:r>
              <a:rPr lang="en-US" altLang="zh-CN" sz="2800" dirty="0" smtClean="0"/>
              <a:t>2</a:t>
            </a:r>
            <a:r>
              <a:rPr lang="zh-CN" altLang="en-US" sz="2800" dirty="0" smtClean="0"/>
              <a:t>、论文研究写作方法论</a:t>
            </a:r>
            <a:endParaRPr lang="zh-CN" altLang="en-US" sz="28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内容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4350830"/>
      </p:ext>
    </p:extLst>
  </p:cSld>
  <p:clrMapOvr>
    <a:masterClrMapping/>
  </p:clrMapOvr>
  <p:transition spd="slow">
    <p:circl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4">
            <a:extLst>
              <a:ext uri="{FF2B5EF4-FFF2-40B4-BE49-F238E27FC236}">
                <a16:creationId xmlns:a16="http://schemas.microsoft.com/office/drawing/2014/main" id="{B602F2C2-90ED-4AB6-9B44-1F7F2F037278}"/>
              </a:ext>
            </a:extLst>
          </p:cNvPr>
          <p:cNvSpPr/>
          <p:nvPr/>
        </p:nvSpPr>
        <p:spPr>
          <a:xfrm>
            <a:off x="4053105" y="1407496"/>
            <a:ext cx="1108861" cy="1039289"/>
          </a:xfrm>
          <a:custGeom>
            <a:avLst/>
            <a:gdLst>
              <a:gd name="connsiteX0" fmla="*/ 388426 w 607282"/>
              <a:gd name="connsiteY0" fmla="*/ 385710 h 569180"/>
              <a:gd name="connsiteX1" fmla="*/ 431276 w 607282"/>
              <a:gd name="connsiteY1" fmla="*/ 385710 h 569180"/>
              <a:gd name="connsiteX2" fmla="*/ 431276 w 607282"/>
              <a:gd name="connsiteY2" fmla="*/ 438433 h 569180"/>
              <a:gd name="connsiteX3" fmla="*/ 522771 w 607282"/>
              <a:gd name="connsiteY3" fmla="*/ 529738 h 569180"/>
              <a:gd name="connsiteX4" fmla="*/ 522771 w 607282"/>
              <a:gd name="connsiteY4" fmla="*/ 559964 h 569180"/>
              <a:gd name="connsiteX5" fmla="*/ 492483 w 607282"/>
              <a:gd name="connsiteY5" fmla="*/ 559964 h 569180"/>
              <a:gd name="connsiteX6" fmla="*/ 431276 w 607282"/>
              <a:gd name="connsiteY6" fmla="*/ 498941 h 569180"/>
              <a:gd name="connsiteX7" fmla="*/ 431276 w 607282"/>
              <a:gd name="connsiteY7" fmla="*/ 547771 h 569180"/>
              <a:gd name="connsiteX8" fmla="*/ 409822 w 607282"/>
              <a:gd name="connsiteY8" fmla="*/ 569180 h 569180"/>
              <a:gd name="connsiteX9" fmla="*/ 388426 w 607282"/>
              <a:gd name="connsiteY9" fmla="*/ 547771 h 569180"/>
              <a:gd name="connsiteX10" fmla="*/ 388426 w 607282"/>
              <a:gd name="connsiteY10" fmla="*/ 498941 h 569180"/>
              <a:gd name="connsiteX11" fmla="*/ 327276 w 607282"/>
              <a:gd name="connsiteY11" fmla="*/ 559964 h 569180"/>
              <a:gd name="connsiteX12" fmla="*/ 296988 w 607282"/>
              <a:gd name="connsiteY12" fmla="*/ 559964 h 569180"/>
              <a:gd name="connsiteX13" fmla="*/ 296988 w 607282"/>
              <a:gd name="connsiteY13" fmla="*/ 529738 h 569180"/>
              <a:gd name="connsiteX14" fmla="*/ 296931 w 607282"/>
              <a:gd name="connsiteY14" fmla="*/ 529738 h 569180"/>
              <a:gd name="connsiteX15" fmla="*/ 388426 w 607282"/>
              <a:gd name="connsiteY15" fmla="*/ 438433 h 569180"/>
              <a:gd name="connsiteX16" fmla="*/ 388426 w 607282"/>
              <a:gd name="connsiteY16" fmla="*/ 434597 h 569180"/>
              <a:gd name="connsiteX17" fmla="*/ 38140 w 607282"/>
              <a:gd name="connsiteY17" fmla="*/ 145929 h 569180"/>
              <a:gd name="connsiteX18" fmla="*/ 38255 w 607282"/>
              <a:gd name="connsiteY18" fmla="*/ 145929 h 569180"/>
              <a:gd name="connsiteX19" fmla="*/ 66358 w 607282"/>
              <a:gd name="connsiteY19" fmla="*/ 145929 h 569180"/>
              <a:gd name="connsiteX20" fmla="*/ 68767 w 607282"/>
              <a:gd name="connsiteY20" fmla="*/ 161160 h 569180"/>
              <a:gd name="connsiteX21" fmla="*/ 76453 w 607282"/>
              <a:gd name="connsiteY21" fmla="*/ 208857 h 569180"/>
              <a:gd name="connsiteX22" fmla="*/ 82589 w 607282"/>
              <a:gd name="connsiteY22" fmla="*/ 246763 h 569180"/>
              <a:gd name="connsiteX23" fmla="*/ 92684 w 607282"/>
              <a:gd name="connsiteY23" fmla="*/ 246763 h 569180"/>
              <a:gd name="connsiteX24" fmla="*/ 99222 w 607282"/>
              <a:gd name="connsiteY24" fmla="*/ 172898 h 569180"/>
              <a:gd name="connsiteX25" fmla="*/ 91594 w 607282"/>
              <a:gd name="connsiteY25" fmla="*/ 145929 h 569180"/>
              <a:gd name="connsiteX26" fmla="*/ 136502 w 607282"/>
              <a:gd name="connsiteY26" fmla="*/ 145929 h 569180"/>
              <a:gd name="connsiteX27" fmla="*/ 128874 w 607282"/>
              <a:gd name="connsiteY27" fmla="*/ 172898 h 569180"/>
              <a:gd name="connsiteX28" fmla="*/ 135355 w 607282"/>
              <a:gd name="connsiteY28" fmla="*/ 246763 h 569180"/>
              <a:gd name="connsiteX29" fmla="*/ 145507 w 607282"/>
              <a:gd name="connsiteY29" fmla="*/ 246763 h 569180"/>
              <a:gd name="connsiteX30" fmla="*/ 153192 w 607282"/>
              <a:gd name="connsiteY30" fmla="*/ 198780 h 569180"/>
              <a:gd name="connsiteX31" fmla="*/ 161738 w 607282"/>
              <a:gd name="connsiteY31" fmla="*/ 145929 h 569180"/>
              <a:gd name="connsiteX32" fmla="*/ 336094 w 607282"/>
              <a:gd name="connsiteY32" fmla="*/ 145929 h 569180"/>
              <a:gd name="connsiteX33" fmla="*/ 374349 w 607282"/>
              <a:gd name="connsiteY33" fmla="*/ 184121 h 569180"/>
              <a:gd name="connsiteX34" fmla="*/ 336094 w 607282"/>
              <a:gd name="connsiteY34" fmla="*/ 222256 h 569180"/>
              <a:gd name="connsiteX35" fmla="*/ 189841 w 607282"/>
              <a:gd name="connsiteY35" fmla="*/ 222256 h 569180"/>
              <a:gd name="connsiteX36" fmla="*/ 189841 w 607282"/>
              <a:gd name="connsiteY36" fmla="*/ 298011 h 569180"/>
              <a:gd name="connsiteX37" fmla="*/ 189841 w 607282"/>
              <a:gd name="connsiteY37" fmla="*/ 365807 h 569180"/>
              <a:gd name="connsiteX38" fmla="*/ 189841 w 607282"/>
              <a:gd name="connsiteY38" fmla="*/ 528081 h 569180"/>
              <a:gd name="connsiteX39" fmla="*/ 151586 w 607282"/>
              <a:gd name="connsiteY39" fmla="*/ 566216 h 569180"/>
              <a:gd name="connsiteX40" fmla="*/ 114019 w 607282"/>
              <a:gd name="connsiteY40" fmla="*/ 535239 h 569180"/>
              <a:gd name="connsiteX41" fmla="*/ 76453 w 607282"/>
              <a:gd name="connsiteY41" fmla="*/ 566216 h 569180"/>
              <a:gd name="connsiteX42" fmla="*/ 38255 w 607282"/>
              <a:gd name="connsiteY42" fmla="*/ 528081 h 569180"/>
              <a:gd name="connsiteX43" fmla="*/ 38255 w 607282"/>
              <a:gd name="connsiteY43" fmla="*/ 384874 h 569180"/>
              <a:gd name="connsiteX44" fmla="*/ 0 w 607282"/>
              <a:gd name="connsiteY44" fmla="*/ 346739 h 569180"/>
              <a:gd name="connsiteX45" fmla="*/ 0 w 607282"/>
              <a:gd name="connsiteY45" fmla="*/ 184121 h 569180"/>
              <a:gd name="connsiteX46" fmla="*/ 38140 w 607282"/>
              <a:gd name="connsiteY46" fmla="*/ 145929 h 569180"/>
              <a:gd name="connsiteX47" fmla="*/ 545532 w 607282"/>
              <a:gd name="connsiteY47" fmla="*/ 89195 h 569180"/>
              <a:gd name="connsiteX48" fmla="*/ 587343 w 607282"/>
              <a:gd name="connsiteY48" fmla="*/ 89195 h 569180"/>
              <a:gd name="connsiteX49" fmla="*/ 587343 w 607282"/>
              <a:gd name="connsiteY49" fmla="*/ 124061 h 569180"/>
              <a:gd name="connsiteX50" fmla="*/ 587228 w 607282"/>
              <a:gd name="connsiteY50" fmla="*/ 124061 h 569180"/>
              <a:gd name="connsiteX51" fmla="*/ 587343 w 607282"/>
              <a:gd name="connsiteY51" fmla="*/ 324787 h 569180"/>
              <a:gd name="connsiteX52" fmla="*/ 541403 w 607282"/>
              <a:gd name="connsiteY52" fmla="*/ 370989 h 569180"/>
              <a:gd name="connsiteX53" fmla="*/ 278325 w 607282"/>
              <a:gd name="connsiteY53" fmla="*/ 370531 h 569180"/>
              <a:gd name="connsiteX54" fmla="*/ 233131 w 607282"/>
              <a:gd name="connsiteY54" fmla="*/ 331027 h 569180"/>
              <a:gd name="connsiteX55" fmla="*/ 232729 w 607282"/>
              <a:gd name="connsiteY55" fmla="*/ 233012 h 569180"/>
              <a:gd name="connsiteX56" fmla="*/ 272475 w 607282"/>
              <a:gd name="connsiteY56" fmla="*/ 233012 h 569180"/>
              <a:gd name="connsiteX57" fmla="*/ 272475 w 607282"/>
              <a:gd name="connsiteY57" fmla="*/ 330340 h 569180"/>
              <a:gd name="connsiteX58" fmla="*/ 545532 w 607282"/>
              <a:gd name="connsiteY58" fmla="*/ 329997 h 569180"/>
              <a:gd name="connsiteX59" fmla="*/ 545532 w 607282"/>
              <a:gd name="connsiteY59" fmla="*/ 124061 h 569180"/>
              <a:gd name="connsiteX60" fmla="*/ 231948 w 607282"/>
              <a:gd name="connsiteY60" fmla="*/ 89124 h 569180"/>
              <a:gd name="connsiteX61" fmla="*/ 273793 w 607282"/>
              <a:gd name="connsiteY61" fmla="*/ 89124 h 569180"/>
              <a:gd name="connsiteX62" fmla="*/ 273793 w 607282"/>
              <a:gd name="connsiteY62" fmla="*/ 135062 h 569180"/>
              <a:gd name="connsiteX63" fmla="*/ 272240 w 607282"/>
              <a:gd name="connsiteY63" fmla="*/ 135062 h 569180"/>
              <a:gd name="connsiteX64" fmla="*/ 233571 w 607282"/>
              <a:gd name="connsiteY64" fmla="*/ 135062 h 569180"/>
              <a:gd name="connsiteX65" fmla="*/ 231948 w 607282"/>
              <a:gd name="connsiteY65" fmla="*/ 135062 h 569180"/>
              <a:gd name="connsiteX66" fmla="*/ 409822 w 607282"/>
              <a:gd name="connsiteY66" fmla="*/ 10232 h 569180"/>
              <a:gd name="connsiteX67" fmla="*/ 437925 w 607282"/>
              <a:gd name="connsiteY67" fmla="*/ 35771 h 569180"/>
              <a:gd name="connsiteX68" fmla="*/ 447503 w 607282"/>
              <a:gd name="connsiteY68" fmla="*/ 35771 h 569180"/>
              <a:gd name="connsiteX69" fmla="*/ 578958 w 607282"/>
              <a:gd name="connsiteY69" fmla="*/ 35828 h 569180"/>
              <a:gd name="connsiteX70" fmla="*/ 593009 w 607282"/>
              <a:gd name="connsiteY70" fmla="*/ 37031 h 569180"/>
              <a:gd name="connsiteX71" fmla="*/ 607233 w 607282"/>
              <a:gd name="connsiteY71" fmla="*/ 57874 h 569180"/>
              <a:gd name="connsiteX72" fmla="*/ 587159 w 607282"/>
              <a:gd name="connsiteY72" fmla="*/ 76828 h 569180"/>
              <a:gd name="connsiteX73" fmla="*/ 579244 w 607282"/>
              <a:gd name="connsiteY73" fmla="*/ 76885 h 569180"/>
              <a:gd name="connsiteX74" fmla="*/ 241776 w 607282"/>
              <a:gd name="connsiteY74" fmla="*/ 76885 h 569180"/>
              <a:gd name="connsiteX75" fmla="*/ 233861 w 607282"/>
              <a:gd name="connsiteY75" fmla="*/ 76828 h 569180"/>
              <a:gd name="connsiteX76" fmla="*/ 212984 w 607282"/>
              <a:gd name="connsiteY76" fmla="*/ 56672 h 569180"/>
              <a:gd name="connsiteX77" fmla="*/ 233287 w 607282"/>
              <a:gd name="connsiteY77" fmla="*/ 35943 h 569180"/>
              <a:gd name="connsiteX78" fmla="*/ 244357 w 607282"/>
              <a:gd name="connsiteY78" fmla="*/ 35771 h 569180"/>
              <a:gd name="connsiteX79" fmla="*/ 371108 w 607282"/>
              <a:gd name="connsiteY79" fmla="*/ 35771 h 569180"/>
              <a:gd name="connsiteX80" fmla="*/ 381661 w 607282"/>
              <a:gd name="connsiteY80" fmla="*/ 35771 h 569180"/>
              <a:gd name="connsiteX81" fmla="*/ 409822 w 607282"/>
              <a:gd name="connsiteY81" fmla="*/ 10232 h 569180"/>
              <a:gd name="connsiteX82" fmla="*/ 114034 w 607282"/>
              <a:gd name="connsiteY82" fmla="*/ 0 h 569180"/>
              <a:gd name="connsiteX83" fmla="*/ 182130 w 607282"/>
              <a:gd name="connsiteY83" fmla="*/ 67990 h 569180"/>
              <a:gd name="connsiteX84" fmla="*/ 114034 w 607282"/>
              <a:gd name="connsiteY84" fmla="*/ 135980 h 569180"/>
              <a:gd name="connsiteX85" fmla="*/ 45938 w 607282"/>
              <a:gd name="connsiteY85" fmla="*/ 67990 h 569180"/>
              <a:gd name="connsiteX86" fmla="*/ 114034 w 607282"/>
              <a:gd name="connsiteY86" fmla="*/ 0 h 5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607282" h="569180">
                <a:moveTo>
                  <a:pt x="388426" y="385710"/>
                </a:moveTo>
                <a:lnTo>
                  <a:pt x="431276" y="385710"/>
                </a:lnTo>
                <a:lnTo>
                  <a:pt x="431276" y="438433"/>
                </a:lnTo>
                <a:lnTo>
                  <a:pt x="522771" y="529738"/>
                </a:lnTo>
                <a:cubicBezTo>
                  <a:pt x="531146" y="538096"/>
                  <a:pt x="531146" y="551606"/>
                  <a:pt x="522771" y="559964"/>
                </a:cubicBezTo>
                <a:cubicBezTo>
                  <a:pt x="514396" y="568321"/>
                  <a:pt x="500858" y="568321"/>
                  <a:pt x="492483" y="559964"/>
                </a:cubicBezTo>
                <a:lnTo>
                  <a:pt x="431276" y="498941"/>
                </a:lnTo>
                <a:lnTo>
                  <a:pt x="431276" y="547771"/>
                </a:lnTo>
                <a:cubicBezTo>
                  <a:pt x="431276" y="559563"/>
                  <a:pt x="421697" y="569180"/>
                  <a:pt x="409822" y="569180"/>
                </a:cubicBezTo>
                <a:cubicBezTo>
                  <a:pt x="398005" y="569180"/>
                  <a:pt x="388426" y="559563"/>
                  <a:pt x="388426" y="547771"/>
                </a:cubicBezTo>
                <a:lnTo>
                  <a:pt x="388426" y="498941"/>
                </a:lnTo>
                <a:lnTo>
                  <a:pt x="327276" y="559964"/>
                </a:lnTo>
                <a:cubicBezTo>
                  <a:pt x="318901" y="568321"/>
                  <a:pt x="305306" y="568321"/>
                  <a:pt x="296988" y="559964"/>
                </a:cubicBezTo>
                <a:cubicBezTo>
                  <a:pt x="288613" y="551606"/>
                  <a:pt x="288613" y="538096"/>
                  <a:pt x="296988" y="529738"/>
                </a:cubicBezTo>
                <a:lnTo>
                  <a:pt x="296931" y="529738"/>
                </a:lnTo>
                <a:lnTo>
                  <a:pt x="388426" y="438433"/>
                </a:lnTo>
                <a:lnTo>
                  <a:pt x="388426" y="434597"/>
                </a:lnTo>
                <a:close/>
                <a:moveTo>
                  <a:pt x="38140" y="145929"/>
                </a:moveTo>
                <a:lnTo>
                  <a:pt x="38255" y="145929"/>
                </a:lnTo>
                <a:lnTo>
                  <a:pt x="66358" y="145929"/>
                </a:lnTo>
                <a:lnTo>
                  <a:pt x="68767" y="161160"/>
                </a:lnTo>
                <a:lnTo>
                  <a:pt x="76453" y="208857"/>
                </a:lnTo>
                <a:lnTo>
                  <a:pt x="82589" y="246763"/>
                </a:lnTo>
                <a:lnTo>
                  <a:pt x="92684" y="246763"/>
                </a:lnTo>
                <a:lnTo>
                  <a:pt x="99222" y="172898"/>
                </a:lnTo>
                <a:lnTo>
                  <a:pt x="91594" y="145929"/>
                </a:lnTo>
                <a:lnTo>
                  <a:pt x="136502" y="145929"/>
                </a:lnTo>
                <a:lnTo>
                  <a:pt x="128874" y="172898"/>
                </a:lnTo>
                <a:lnTo>
                  <a:pt x="135355" y="246763"/>
                </a:lnTo>
                <a:lnTo>
                  <a:pt x="145507" y="246763"/>
                </a:lnTo>
                <a:lnTo>
                  <a:pt x="153192" y="198780"/>
                </a:lnTo>
                <a:lnTo>
                  <a:pt x="161738" y="145929"/>
                </a:lnTo>
                <a:lnTo>
                  <a:pt x="336094" y="145929"/>
                </a:lnTo>
                <a:cubicBezTo>
                  <a:pt x="357200" y="145929"/>
                  <a:pt x="374349" y="162992"/>
                  <a:pt x="374349" y="184121"/>
                </a:cubicBezTo>
                <a:cubicBezTo>
                  <a:pt x="374349" y="205193"/>
                  <a:pt x="357200" y="222256"/>
                  <a:pt x="336094" y="222256"/>
                </a:cubicBezTo>
                <a:lnTo>
                  <a:pt x="189841" y="222256"/>
                </a:lnTo>
                <a:lnTo>
                  <a:pt x="189841" y="298011"/>
                </a:lnTo>
                <a:lnTo>
                  <a:pt x="189841" y="365807"/>
                </a:lnTo>
                <a:lnTo>
                  <a:pt x="189841" y="528081"/>
                </a:lnTo>
                <a:cubicBezTo>
                  <a:pt x="189841" y="549153"/>
                  <a:pt x="172692" y="566216"/>
                  <a:pt x="151586" y="566216"/>
                </a:cubicBezTo>
                <a:cubicBezTo>
                  <a:pt x="132889" y="566216"/>
                  <a:pt x="117403" y="552875"/>
                  <a:pt x="114019" y="535239"/>
                </a:cubicBezTo>
                <a:cubicBezTo>
                  <a:pt x="110693" y="552875"/>
                  <a:pt x="95150" y="566216"/>
                  <a:pt x="76453" y="566216"/>
                </a:cubicBezTo>
                <a:cubicBezTo>
                  <a:pt x="55346" y="566216"/>
                  <a:pt x="38255" y="549153"/>
                  <a:pt x="38255" y="528081"/>
                </a:cubicBezTo>
                <a:lnTo>
                  <a:pt x="38255" y="384874"/>
                </a:lnTo>
                <a:cubicBezTo>
                  <a:pt x="17091" y="384874"/>
                  <a:pt x="0" y="367811"/>
                  <a:pt x="0" y="346739"/>
                </a:cubicBezTo>
                <a:lnTo>
                  <a:pt x="0" y="184121"/>
                </a:lnTo>
                <a:cubicBezTo>
                  <a:pt x="0" y="163050"/>
                  <a:pt x="17091" y="145986"/>
                  <a:pt x="38140" y="145929"/>
                </a:cubicBezTo>
                <a:close/>
                <a:moveTo>
                  <a:pt x="545532" y="89195"/>
                </a:moveTo>
                <a:lnTo>
                  <a:pt x="587343" y="89195"/>
                </a:lnTo>
                <a:lnTo>
                  <a:pt x="587343" y="124061"/>
                </a:lnTo>
                <a:lnTo>
                  <a:pt x="587228" y="124061"/>
                </a:lnTo>
                <a:cubicBezTo>
                  <a:pt x="587228" y="190989"/>
                  <a:pt x="587056" y="257859"/>
                  <a:pt x="587343" y="324787"/>
                </a:cubicBezTo>
                <a:cubicBezTo>
                  <a:pt x="587457" y="352669"/>
                  <a:pt x="567498" y="371104"/>
                  <a:pt x="541403" y="370989"/>
                </a:cubicBezTo>
                <a:cubicBezTo>
                  <a:pt x="453710" y="370646"/>
                  <a:pt x="366018" y="370703"/>
                  <a:pt x="278325" y="370531"/>
                </a:cubicBezTo>
                <a:cubicBezTo>
                  <a:pt x="255441" y="370474"/>
                  <a:pt x="234278" y="353527"/>
                  <a:pt x="233131" y="331027"/>
                </a:cubicBezTo>
                <a:cubicBezTo>
                  <a:pt x="231525" y="299024"/>
                  <a:pt x="232729" y="266905"/>
                  <a:pt x="232729" y="233012"/>
                </a:cubicBezTo>
                <a:lnTo>
                  <a:pt x="272475" y="233012"/>
                </a:lnTo>
                <a:lnTo>
                  <a:pt x="272475" y="330340"/>
                </a:lnTo>
                <a:cubicBezTo>
                  <a:pt x="364010" y="330512"/>
                  <a:pt x="453997" y="330398"/>
                  <a:pt x="545532" y="329997"/>
                </a:cubicBezTo>
                <a:lnTo>
                  <a:pt x="545532" y="124061"/>
                </a:lnTo>
                <a:close/>
                <a:moveTo>
                  <a:pt x="231948" y="89124"/>
                </a:moveTo>
                <a:lnTo>
                  <a:pt x="273793" y="89124"/>
                </a:lnTo>
                <a:lnTo>
                  <a:pt x="273793" y="135062"/>
                </a:lnTo>
                <a:lnTo>
                  <a:pt x="272240" y="135062"/>
                </a:lnTo>
                <a:lnTo>
                  <a:pt x="233571" y="135062"/>
                </a:lnTo>
                <a:lnTo>
                  <a:pt x="231948" y="135062"/>
                </a:lnTo>
                <a:close/>
                <a:moveTo>
                  <a:pt x="409822" y="10232"/>
                </a:moveTo>
                <a:cubicBezTo>
                  <a:pt x="424505" y="10232"/>
                  <a:pt x="436606" y="21455"/>
                  <a:pt x="437925" y="35771"/>
                </a:cubicBezTo>
                <a:lnTo>
                  <a:pt x="447503" y="35771"/>
                </a:lnTo>
                <a:cubicBezTo>
                  <a:pt x="491321" y="35771"/>
                  <a:pt x="535140" y="35771"/>
                  <a:pt x="578958" y="35828"/>
                </a:cubicBezTo>
                <a:cubicBezTo>
                  <a:pt x="583661" y="35828"/>
                  <a:pt x="588650" y="35599"/>
                  <a:pt x="593009" y="37031"/>
                </a:cubicBezTo>
                <a:cubicBezTo>
                  <a:pt x="601326" y="39665"/>
                  <a:pt x="607921" y="50144"/>
                  <a:pt x="607233" y="57874"/>
                </a:cubicBezTo>
                <a:cubicBezTo>
                  <a:pt x="606315" y="67380"/>
                  <a:pt x="597368" y="75912"/>
                  <a:pt x="587159" y="76828"/>
                </a:cubicBezTo>
                <a:cubicBezTo>
                  <a:pt x="584521" y="77057"/>
                  <a:pt x="581883" y="76885"/>
                  <a:pt x="579244" y="76885"/>
                </a:cubicBezTo>
                <a:cubicBezTo>
                  <a:pt x="466774" y="76885"/>
                  <a:pt x="354304" y="76885"/>
                  <a:pt x="241776" y="76885"/>
                </a:cubicBezTo>
                <a:cubicBezTo>
                  <a:pt x="239137" y="76885"/>
                  <a:pt x="236499" y="77057"/>
                  <a:pt x="233861" y="76828"/>
                </a:cubicBezTo>
                <a:cubicBezTo>
                  <a:pt x="223078" y="75740"/>
                  <a:pt x="213156" y="66120"/>
                  <a:pt x="212984" y="56672"/>
                </a:cubicBezTo>
                <a:cubicBezTo>
                  <a:pt x="212755" y="47166"/>
                  <a:pt x="222448" y="37088"/>
                  <a:pt x="233287" y="35943"/>
                </a:cubicBezTo>
                <a:cubicBezTo>
                  <a:pt x="236958" y="35542"/>
                  <a:pt x="240686" y="35771"/>
                  <a:pt x="244357" y="35771"/>
                </a:cubicBezTo>
                <a:cubicBezTo>
                  <a:pt x="286626" y="35771"/>
                  <a:pt x="328839" y="35771"/>
                  <a:pt x="371108" y="35771"/>
                </a:cubicBezTo>
                <a:lnTo>
                  <a:pt x="381661" y="35771"/>
                </a:lnTo>
                <a:cubicBezTo>
                  <a:pt x="382981" y="21455"/>
                  <a:pt x="395082" y="10232"/>
                  <a:pt x="409822" y="10232"/>
                </a:cubicBezTo>
                <a:close/>
                <a:moveTo>
                  <a:pt x="114034" y="0"/>
                </a:moveTo>
                <a:cubicBezTo>
                  <a:pt x="151642" y="0"/>
                  <a:pt x="182130" y="30440"/>
                  <a:pt x="182130" y="67990"/>
                </a:cubicBezTo>
                <a:cubicBezTo>
                  <a:pt x="182130" y="105540"/>
                  <a:pt x="151642" y="135980"/>
                  <a:pt x="114034" y="135980"/>
                </a:cubicBezTo>
                <a:cubicBezTo>
                  <a:pt x="76426" y="135980"/>
                  <a:pt x="45938" y="105540"/>
                  <a:pt x="45938" y="67990"/>
                </a:cubicBezTo>
                <a:cubicBezTo>
                  <a:pt x="45938" y="30440"/>
                  <a:pt x="76426" y="0"/>
                  <a:pt x="114034" y="0"/>
                </a:cubicBezTo>
                <a:close/>
              </a:path>
            </a:pathLst>
          </a:custGeom>
          <a:solidFill>
            <a:srgbClr val="3F3B3A"/>
          </a:solidFill>
          <a:ln w="12700" cap="flat">
            <a:noFill/>
            <a:miter lim="400000"/>
          </a:ln>
          <a:effectLst/>
        </p:spPr>
        <p:txBody>
          <a:bodyPr wrap="square" lIns="91439" tIns="91439" rIns="91439" bIns="91439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7FC733E-4E96-45E0-B9E5-24BD4CBE51BD}"/>
              </a:ext>
            </a:extLst>
          </p:cNvPr>
          <p:cNvCxnSpPr>
            <a:cxnSpLocks/>
          </p:cNvCxnSpPr>
          <p:nvPr/>
        </p:nvCxnSpPr>
        <p:spPr>
          <a:xfrm>
            <a:off x="1024175" y="4221088"/>
            <a:ext cx="7056784" cy="0"/>
          </a:xfrm>
          <a:prstGeom prst="line">
            <a:avLst/>
          </a:prstGeom>
          <a:ln w="15875">
            <a:solidFill>
              <a:srgbClr val="3F3B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7FC733E-4E96-45E0-B9E5-24BD4CBE51BD}"/>
              </a:ext>
            </a:extLst>
          </p:cNvPr>
          <p:cNvCxnSpPr>
            <a:cxnSpLocks/>
          </p:cNvCxnSpPr>
          <p:nvPr/>
        </p:nvCxnSpPr>
        <p:spPr>
          <a:xfrm>
            <a:off x="978293" y="2625728"/>
            <a:ext cx="7056784" cy="0"/>
          </a:xfrm>
          <a:prstGeom prst="line">
            <a:avLst/>
          </a:prstGeom>
          <a:ln w="15875">
            <a:solidFill>
              <a:srgbClr val="3F3B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176" y="260648"/>
            <a:ext cx="2660986" cy="61098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大数据驱动的管理决策</a:t>
            </a: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82649445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大数据驱动的管理决策</a:t>
            </a:r>
            <a:r>
              <a:rPr lang="en-US" altLang="zh-CN" dirty="0" smtClean="0"/>
              <a:t>-</a:t>
            </a:r>
            <a:r>
              <a:rPr lang="zh-CN" altLang="en-US" dirty="0" smtClean="0"/>
              <a:t>科学问题范式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699792" y="1312892"/>
            <a:ext cx="3360215" cy="1107996"/>
          </a:xfrm>
          <a:prstGeom prst="rect">
            <a:avLst/>
          </a:prstGeom>
          <a:solidFill>
            <a:srgbClr val="92D050">
              <a:alpha val="28000"/>
            </a:srgbClr>
          </a:solidFill>
        </p:spPr>
        <p:txBody>
          <a:bodyPr wrap="none">
            <a:spAutoFit/>
          </a:bodyPr>
          <a:lstStyle/>
          <a:p>
            <a:r>
              <a:rPr lang="en-US" altLang="zh-CN" sz="6600" dirty="0" smtClean="0">
                <a:latin typeface="Yu Gothic UI Semilight" panose="020B0400000000000000" pitchFamily="34" charset="-128"/>
                <a:ea typeface="Yu Gothic UI Semilight" panose="020B0400000000000000" pitchFamily="34" charset="-128"/>
                <a:cs typeface="Arial" panose="020B0604020202020204" pitchFamily="34" charset="0"/>
              </a:rPr>
              <a:t>y = f ( x )</a:t>
            </a:r>
            <a:endParaRPr lang="zh-CN" altLang="en-US" sz="6600" dirty="0">
              <a:latin typeface="Yu Gothic UI Semilight" panose="020B0400000000000000" pitchFamily="34" charset="-128"/>
              <a:ea typeface="Yu Gothic UI Semilight" panose="020B04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5" name="圆角矩形标注 4"/>
          <p:cNvSpPr/>
          <p:nvPr/>
        </p:nvSpPr>
        <p:spPr bwMode="auto">
          <a:xfrm>
            <a:off x="6732240" y="3389646"/>
            <a:ext cx="2088232" cy="1353442"/>
          </a:xfrm>
          <a:prstGeom prst="wedgeRoundRectCallout">
            <a:avLst>
              <a:gd name="adj1" fmla="val -109725"/>
              <a:gd name="adj2" fmla="val -121579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dirty="0" smtClean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大数据</a:t>
            </a:r>
            <a:endParaRPr lang="en-US" altLang="zh-CN" sz="2400" dirty="0" smtClean="0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（对象）</a:t>
            </a:r>
          </a:p>
        </p:txBody>
      </p:sp>
      <p:sp>
        <p:nvSpPr>
          <p:cNvPr id="8" name="圆角矩形标注 7"/>
          <p:cNvSpPr/>
          <p:nvPr/>
        </p:nvSpPr>
        <p:spPr bwMode="auto">
          <a:xfrm>
            <a:off x="3599892" y="3389646"/>
            <a:ext cx="2088232" cy="1353442"/>
          </a:xfrm>
          <a:prstGeom prst="wedgeRoundRectCallout">
            <a:avLst>
              <a:gd name="adj1" fmla="val -11496"/>
              <a:gd name="adj2" fmla="val -119733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dirty="0" smtClean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机器学习</a:t>
            </a:r>
            <a:endParaRPr lang="en-US" altLang="zh-CN" sz="2400" dirty="0" smtClean="0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（技术）</a:t>
            </a:r>
          </a:p>
        </p:txBody>
      </p:sp>
      <p:sp>
        <p:nvSpPr>
          <p:cNvPr id="9" name="圆角矩形标注 8"/>
          <p:cNvSpPr/>
          <p:nvPr/>
        </p:nvSpPr>
        <p:spPr bwMode="auto">
          <a:xfrm>
            <a:off x="467544" y="3356992"/>
            <a:ext cx="2088232" cy="1353442"/>
          </a:xfrm>
          <a:prstGeom prst="wedgeRoundRectCallout">
            <a:avLst>
              <a:gd name="adj1" fmla="val 68248"/>
              <a:gd name="adj2" fmla="val -118029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dirty="0" smtClean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管理决策</a:t>
            </a:r>
            <a:endParaRPr lang="en-US" altLang="zh-CN" sz="2400" dirty="0" smtClean="0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（应用）</a:t>
            </a:r>
          </a:p>
        </p:txBody>
      </p:sp>
      <p:sp>
        <p:nvSpPr>
          <p:cNvPr id="2" name="矩形 1"/>
          <p:cNvSpPr/>
          <p:nvPr/>
        </p:nvSpPr>
        <p:spPr>
          <a:xfrm>
            <a:off x="6984268" y="4941168"/>
            <a:ext cx="183620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b="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表格、文本交易、交互社交网络、</a:t>
            </a:r>
            <a:endParaRPr lang="en-US" altLang="zh-CN" sz="2400" b="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2400" b="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多模态</a:t>
            </a:r>
            <a:endParaRPr lang="zh-CN" altLang="en-US" sz="2400" b="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995936" y="4797152"/>
            <a:ext cx="158417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数据挖掘</a:t>
            </a:r>
            <a:endParaRPr lang="en-US" altLang="zh-CN" sz="2400" b="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b="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分类回归</a:t>
            </a:r>
            <a:endParaRPr lang="en-US" altLang="zh-CN" sz="2400" b="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b="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集成学习</a:t>
            </a:r>
          </a:p>
          <a:p>
            <a:r>
              <a:rPr lang="zh-CN" altLang="en-US" sz="2400" b="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深度学习</a:t>
            </a:r>
            <a:endParaRPr lang="zh-CN" altLang="en-US" sz="2400" b="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19572" y="4725144"/>
            <a:ext cx="158417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预测</a:t>
            </a:r>
            <a:endParaRPr lang="en-US" altLang="zh-CN" sz="2400" b="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推荐</a:t>
            </a:r>
            <a:endParaRPr lang="en-US" altLang="zh-CN" sz="2400" b="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决策支持</a:t>
            </a:r>
            <a:endParaRPr lang="zh-CN" altLang="en-US" sz="2400" b="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81684450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75000"/>
              </a:lnSpc>
            </a:pPr>
            <a:r>
              <a:rPr lang="zh-CN" altLang="en-US" sz="28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光有技术是不行</a:t>
            </a:r>
            <a:endParaRPr lang="en-US" altLang="zh-CN" sz="2800" dirty="0" smtClean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75000"/>
              </a:lnSpc>
            </a:pP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创新是关键，是王道</a:t>
            </a:r>
            <a:endParaRPr lang="en-US" altLang="zh-CN" sz="24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75000"/>
              </a:lnSpc>
            </a:pP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技术不是问题（开源）</a:t>
            </a:r>
            <a:endParaRPr lang="en-US" altLang="zh-CN" sz="24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5000"/>
              </a:lnSpc>
            </a:pPr>
            <a:r>
              <a:rPr lang="zh-CN" altLang="en-US" sz="28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只懂管理也不行</a:t>
            </a:r>
            <a:endParaRPr lang="en-US" altLang="zh-CN" sz="2800" dirty="0" smtClean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75000"/>
              </a:lnSpc>
            </a:pP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各行各业大数据分析</a:t>
            </a:r>
            <a:endParaRPr lang="en-US" altLang="zh-CN" sz="24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75000"/>
              </a:lnSpc>
            </a:pP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法律、新闻、历史、社会、</a:t>
            </a:r>
            <a:r>
              <a:rPr lang="en-US" altLang="zh-CN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</a:p>
          <a:p>
            <a:pPr>
              <a:lnSpc>
                <a:spcPct val="175000"/>
              </a:lnSpc>
            </a:pPr>
            <a:r>
              <a:rPr lang="zh-CN" altLang="en-US" sz="28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两手抓、两手都要硬</a:t>
            </a:r>
            <a:endParaRPr lang="en-US" altLang="zh-CN" sz="2400" b="0" dirty="0" smtClean="0"/>
          </a:p>
          <a:p>
            <a:pPr lvl="1">
              <a:lnSpc>
                <a:spcPct val="150000"/>
              </a:lnSpc>
            </a:pPr>
            <a:endParaRPr lang="zh-CN" altLang="en-US" sz="2400" dirty="0" smtClean="0"/>
          </a:p>
        </p:txBody>
      </p:sp>
      <p:sp>
        <p:nvSpPr>
          <p:cNvPr id="112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大数据赋能管理</a:t>
            </a:r>
          </a:p>
        </p:txBody>
      </p:sp>
      <p:pic>
        <p:nvPicPr>
          <p:cNvPr id="11269" name="Picture 6" descr="https://ss1.bdstatic.com/70cFuXSh_Q1YnxGkpoWK1HF6hhy/it/u=282810964,1306484329&amp;fm=27&amp;gp=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3798788"/>
            <a:ext cx="3349625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0" name="TextBox 2"/>
          <p:cNvSpPr txBox="1">
            <a:spLocks noChangeArrowheads="1"/>
          </p:cNvSpPr>
          <p:nvPr/>
        </p:nvSpPr>
        <p:spPr bwMode="auto">
          <a:xfrm>
            <a:off x="5706988" y="2620863"/>
            <a:ext cx="2630488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2D7693"/>
              </a:buClr>
              <a:buSzPct val="70000"/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C3A4C"/>
              </a:buClr>
              <a:buSzPct val="70000"/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给管理插上智慧的翅膀</a:t>
            </a:r>
          </a:p>
        </p:txBody>
      </p:sp>
      <p:sp>
        <p:nvSpPr>
          <p:cNvPr id="11271" name="矩形 1"/>
          <p:cNvSpPr>
            <a:spLocks noChangeArrowheads="1"/>
          </p:cNvSpPr>
          <p:nvPr/>
        </p:nvSpPr>
        <p:spPr bwMode="auto">
          <a:xfrm>
            <a:off x="5761580" y="1412776"/>
            <a:ext cx="25003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zh-CN" altLang="en-US" sz="4000" dirty="0">
                <a:solidFill>
                  <a:srgbClr val="00CC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技术</a:t>
            </a:r>
            <a:r>
              <a:rPr lang="en-US" altLang="zh-CN" sz="4000" dirty="0">
                <a:solidFill>
                  <a:srgbClr val="00CC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+</a:t>
            </a:r>
            <a:r>
              <a:rPr lang="zh-CN" altLang="en-US" sz="4000" dirty="0">
                <a:solidFill>
                  <a:srgbClr val="00CC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管理</a:t>
            </a:r>
            <a:endParaRPr lang="zh-CN" altLang="en-US" sz="4000" dirty="0">
              <a:solidFill>
                <a:srgbClr val="00CC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989059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大数据时代</a:t>
            </a:r>
            <a:r>
              <a:rPr lang="zh-CN" altLang="en-US" dirty="0" smtClean="0"/>
              <a:t>的双子星</a:t>
            </a:r>
            <a:endParaRPr lang="zh-CN" altLang="en-US" b="0" dirty="0" smtClean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44" name="椭圆 4"/>
          <p:cNvSpPr>
            <a:spLocks noChangeArrowheads="1"/>
          </p:cNvSpPr>
          <p:nvPr/>
        </p:nvSpPr>
        <p:spPr bwMode="auto">
          <a:xfrm>
            <a:off x="1779376" y="3205163"/>
            <a:ext cx="2125663" cy="1308100"/>
          </a:xfrm>
          <a:prstGeom prst="ellipse">
            <a:avLst/>
          </a:prstGeom>
          <a:gradFill rotWithShape="0">
            <a:gsLst>
              <a:gs pos="0">
                <a:srgbClr val="FFF200"/>
              </a:gs>
              <a:gs pos="72000">
                <a:srgbClr val="FF7A00"/>
              </a:gs>
              <a:gs pos="100000">
                <a:srgbClr val="FF0300"/>
              </a:gs>
              <a:gs pos="100000">
                <a:srgbClr val="4D0808"/>
              </a:gs>
            </a:gsLst>
            <a:lin ang="5400000"/>
          </a:gra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rgbClr val="2D7693"/>
              </a:buClr>
              <a:buSzPct val="70000"/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C3A4C"/>
              </a:buClr>
              <a:buSzPct val="70000"/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ts val="4200"/>
              </a:spcBef>
              <a:buClrTx/>
              <a:buSzTx/>
              <a:buFontTx/>
              <a:buNone/>
            </a:pPr>
            <a:r>
              <a:rPr lang="zh-CN" altLang="en-US" sz="3600">
                <a:ea typeface="楷体_GB2312" pitchFamily="49" charset="-122"/>
              </a:rPr>
              <a:t>大数据</a:t>
            </a:r>
          </a:p>
        </p:txBody>
      </p:sp>
      <p:sp>
        <p:nvSpPr>
          <p:cNvPr id="10245" name="椭圆 5"/>
          <p:cNvSpPr>
            <a:spLocks noChangeArrowheads="1"/>
          </p:cNvSpPr>
          <p:nvPr/>
        </p:nvSpPr>
        <p:spPr bwMode="auto">
          <a:xfrm>
            <a:off x="5575089" y="3222625"/>
            <a:ext cx="2109787" cy="1290638"/>
          </a:xfrm>
          <a:prstGeom prst="ellipse">
            <a:avLst/>
          </a:prstGeom>
          <a:gradFill rotWithShape="0">
            <a:gsLst>
              <a:gs pos="0">
                <a:srgbClr val="FFF200"/>
              </a:gs>
              <a:gs pos="66000">
                <a:srgbClr val="FF7A00"/>
              </a:gs>
              <a:gs pos="96001">
                <a:srgbClr val="FF0300"/>
              </a:gs>
              <a:gs pos="100000">
                <a:srgbClr val="4D0808"/>
              </a:gs>
            </a:gsLst>
            <a:lin ang="5400000"/>
          </a:gra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rgbClr val="2D7693"/>
              </a:buClr>
              <a:buSzPct val="70000"/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C3A4C"/>
              </a:buClr>
              <a:buSzPct val="70000"/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ts val="4200"/>
              </a:spcBef>
              <a:buClrTx/>
              <a:buSzTx/>
              <a:buFontTx/>
              <a:buNone/>
            </a:pPr>
            <a:r>
              <a:rPr lang="zh-CN" altLang="en-US" sz="3600">
                <a:ea typeface="楷体_GB2312" pitchFamily="49" charset="-122"/>
              </a:rPr>
              <a:t>互联网</a:t>
            </a:r>
            <a:r>
              <a:rPr lang="en-US" altLang="zh-CN" sz="3600">
                <a:ea typeface="楷体_GB2312" pitchFamily="49" charset="-122"/>
              </a:rPr>
              <a:t>+</a:t>
            </a:r>
            <a:endParaRPr lang="zh-CN" altLang="en-US" sz="3600">
              <a:ea typeface="楷体_GB2312" pitchFamily="49" charset="-122"/>
            </a:endParaRPr>
          </a:p>
        </p:txBody>
      </p:sp>
      <p:sp>
        <p:nvSpPr>
          <p:cNvPr id="10246" name="上弧形箭头 7"/>
          <p:cNvSpPr>
            <a:spLocks noChangeArrowheads="1"/>
          </p:cNvSpPr>
          <p:nvPr/>
        </p:nvSpPr>
        <p:spPr bwMode="auto">
          <a:xfrm>
            <a:off x="2500101" y="2062163"/>
            <a:ext cx="4679950" cy="1150937"/>
          </a:xfrm>
          <a:prstGeom prst="curvedDownArrow">
            <a:avLst>
              <a:gd name="adj1" fmla="val 25018"/>
              <a:gd name="adj2" fmla="val 91207"/>
              <a:gd name="adj3" fmla="val 37509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rgbClr val="2D7693"/>
              </a:buClr>
              <a:buSzPct val="70000"/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C3A4C"/>
              </a:buClr>
              <a:buSzPct val="70000"/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>
              <a:ea typeface="楷体_GB2312" pitchFamily="49" charset="-122"/>
            </a:endParaRPr>
          </a:p>
        </p:txBody>
      </p:sp>
      <p:sp>
        <p:nvSpPr>
          <p:cNvPr id="10247" name="上弧形箭头 8"/>
          <p:cNvSpPr>
            <a:spLocks noChangeArrowheads="1"/>
          </p:cNvSpPr>
          <p:nvPr/>
        </p:nvSpPr>
        <p:spPr bwMode="auto">
          <a:xfrm rot="10800000">
            <a:off x="2284201" y="4508500"/>
            <a:ext cx="4608513" cy="1152525"/>
          </a:xfrm>
          <a:prstGeom prst="curvedDownArrow">
            <a:avLst>
              <a:gd name="adj1" fmla="val 24973"/>
              <a:gd name="adj2" fmla="val 91098"/>
              <a:gd name="adj3" fmla="val 37509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rgbClr val="2D7693"/>
              </a:buClr>
              <a:buSzPct val="70000"/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C3A4C"/>
              </a:buClr>
              <a:buSzPct val="70000"/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>
              <a:ea typeface="楷体_GB2312" pitchFamily="49" charset="-122"/>
            </a:endParaRPr>
          </a:p>
        </p:txBody>
      </p:sp>
      <p:sp>
        <p:nvSpPr>
          <p:cNvPr id="10248" name="TextBox 9"/>
          <p:cNvSpPr txBox="1">
            <a:spLocks noChangeArrowheads="1"/>
          </p:cNvSpPr>
          <p:nvPr/>
        </p:nvSpPr>
        <p:spPr bwMode="auto">
          <a:xfrm>
            <a:off x="3076364" y="2492375"/>
            <a:ext cx="3309937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2D7693"/>
              </a:buClr>
              <a:buSzPct val="70000"/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C3A4C"/>
              </a:buClr>
              <a:buSzPct val="70000"/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00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你中有我</a:t>
            </a:r>
            <a:endParaRPr lang="en-US" altLang="zh-CN" sz="4000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4000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4000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00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我中有你</a:t>
            </a:r>
          </a:p>
        </p:txBody>
      </p:sp>
      <p:pic>
        <p:nvPicPr>
          <p:cNvPr id="10249" name="Picture 2" descr="https://timgsa.baidu.com/timg?image&amp;quality=80&amp;size=b9999_10000&amp;sec=1562944942&amp;di=9c139fbc2e7ef2e834f363b8dd1b5c7f&amp;imgtype=jpg&amp;er=1&amp;src=http%3A%2F%2Fwww.ccmclick.com%2Fuserfiles%2Fimages%2F14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1" t="2148" r="1517" b="2731"/>
          <a:stretch>
            <a:fillRect/>
          </a:stretch>
        </p:blipFill>
        <p:spPr bwMode="auto">
          <a:xfrm>
            <a:off x="3932026" y="3490913"/>
            <a:ext cx="16192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云形 9"/>
          <p:cNvSpPr/>
          <p:nvPr/>
        </p:nvSpPr>
        <p:spPr bwMode="auto">
          <a:xfrm>
            <a:off x="339638" y="5013176"/>
            <a:ext cx="2088232" cy="1656184"/>
          </a:xfrm>
          <a:prstGeom prst="cloud">
            <a:avLst/>
          </a:prstGeom>
          <a:solidFill>
            <a:schemeClr val="accent1">
              <a:alpha val="48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  <a:extLst/>
        </p:spPr>
        <p:txBody>
          <a:bodyPr wrap="none" anchor="ctr"/>
          <a:lstStyle/>
          <a:p>
            <a:pPr marL="0" lvl="1" algn="ctr" eaLnBrk="1" hangingPunct="1">
              <a:defRPr/>
            </a:pP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物理社会</a:t>
            </a:r>
            <a:endParaRPr lang="en-US" altLang="zh-CN" sz="2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algn="ctr" eaLnBrk="1" hangingPunct="1">
              <a:defRPr/>
            </a:pP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现实</a:t>
            </a: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0" lvl="1" algn="ctr" eaLnBrk="1" hangingPunct="1">
              <a:defRPr/>
            </a:pPr>
            <a:r>
              <a:rPr lang="zh-CN" altLang="en-US" sz="18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国家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8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城市</a:t>
            </a:r>
            <a:endParaRPr lang="en-US" altLang="zh-CN" sz="1800" b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algn="ctr" eaLnBrk="1" hangingPunct="1">
              <a:defRPr/>
            </a:pPr>
            <a:r>
              <a:rPr lang="zh-CN" altLang="en-US" sz="1800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企业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8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学校</a:t>
            </a:r>
            <a:endParaRPr lang="zh-CN" altLang="en-US" sz="2400" b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glow rad="139700">
                  <a:schemeClr val="accent2">
                    <a:satMod val="175000"/>
                    <a:alpha val="40000"/>
                  </a:schemeClr>
                </a:glow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云形 10"/>
          <p:cNvSpPr/>
          <p:nvPr/>
        </p:nvSpPr>
        <p:spPr bwMode="auto">
          <a:xfrm>
            <a:off x="339638" y="1340768"/>
            <a:ext cx="2088232" cy="1711424"/>
          </a:xfrm>
          <a:prstGeom prst="cloud">
            <a:avLst/>
          </a:prstGeom>
          <a:solidFill>
            <a:schemeClr val="accent1">
              <a:alpha val="48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  <a:extLst/>
        </p:spPr>
        <p:txBody>
          <a:bodyPr wrap="none" anchor="ctr"/>
          <a:lstStyle/>
          <a:p>
            <a:pPr marL="0" lvl="1" algn="ctr" eaLnBrk="1" hangingPunct="1">
              <a:defRPr/>
            </a:pP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数字社会</a:t>
            </a:r>
            <a:endParaRPr lang="en-US" altLang="zh-CN" sz="2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algn="ctr" eaLnBrk="1" hangingPunct="1">
              <a:defRPr/>
            </a:pP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虚拟</a:t>
            </a: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0" lvl="1" algn="ctr" eaLnBrk="1" hangingPunct="1">
              <a:defRPr/>
            </a:pPr>
            <a:r>
              <a:rPr lang="zh-CN" altLang="en-US" sz="18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</a:t>
            </a:r>
            <a:r>
              <a:rPr lang="en-US" altLang="zh-CN" sz="18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8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微博</a:t>
            </a:r>
            <a:r>
              <a:rPr lang="en-US" altLang="zh-CN" sz="18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QQ</a:t>
            </a:r>
            <a:endParaRPr lang="en-US" altLang="zh-CN" sz="1800" b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algn="ctr" eaLnBrk="1" hangingPunct="1">
              <a:defRPr/>
            </a:pPr>
            <a:r>
              <a:rPr lang="en-US" altLang="zh-CN" sz="1800" b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SAP, ERP</a:t>
            </a:r>
            <a:endParaRPr lang="zh-CN" altLang="en-US" sz="1800" b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0000FF"/>
              </a:solidFill>
              <a:effectLst>
                <a:glow rad="139700">
                  <a:schemeClr val="accent2">
                    <a:satMod val="175000"/>
                    <a:alpha val="40000"/>
                  </a:schemeClr>
                </a:glow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52" name="下箭头 11"/>
          <p:cNvSpPr>
            <a:spLocks noChangeArrowheads="1"/>
          </p:cNvSpPr>
          <p:nvPr/>
        </p:nvSpPr>
        <p:spPr bwMode="auto">
          <a:xfrm flipV="1">
            <a:off x="699876" y="3081338"/>
            <a:ext cx="1152525" cy="1931987"/>
          </a:xfrm>
          <a:prstGeom prst="downArrow">
            <a:avLst>
              <a:gd name="adj1" fmla="val 55472"/>
              <a:gd name="adj2" fmla="val 68123"/>
            </a:avLst>
          </a:prstGeom>
          <a:solidFill>
            <a:srgbClr val="CC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rgbClr val="2D7693"/>
              </a:buClr>
              <a:buSzPct val="70000"/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C3A4C"/>
              </a:buClr>
              <a:buSzPct val="70000"/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>
              <a:solidFill>
                <a:srgbClr val="FFC000"/>
              </a:solidFill>
              <a:ea typeface="楷体_GB2312" pitchFamily="49" charset="-122"/>
            </a:endParaRPr>
          </a:p>
        </p:txBody>
      </p:sp>
      <p:grpSp>
        <p:nvGrpSpPr>
          <p:cNvPr id="10253" name="组合 12"/>
          <p:cNvGrpSpPr>
            <a:grpSpLocks/>
          </p:cNvGrpSpPr>
          <p:nvPr/>
        </p:nvGrpSpPr>
        <p:grpSpPr bwMode="auto">
          <a:xfrm>
            <a:off x="7583954" y="1268413"/>
            <a:ext cx="1135062" cy="1135062"/>
            <a:chOff x="3607297" y="509383"/>
            <a:chExt cx="1134826" cy="1134826"/>
          </a:xfrm>
        </p:grpSpPr>
        <p:sp>
          <p:nvSpPr>
            <p:cNvPr id="14" name="椭圆 13"/>
            <p:cNvSpPr/>
            <p:nvPr/>
          </p:nvSpPr>
          <p:spPr>
            <a:xfrm>
              <a:off x="3607297" y="509383"/>
              <a:ext cx="1134826" cy="1134826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椭圆 4"/>
            <p:cNvSpPr/>
            <p:nvPr/>
          </p:nvSpPr>
          <p:spPr>
            <a:xfrm>
              <a:off x="3773949" y="676035"/>
              <a:ext cx="801521" cy="80152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30480" tIns="30480" rIns="30480" bIns="30480" spcCol="1270" anchor="ctr"/>
            <a:lstStyle/>
            <a:p>
              <a:pPr algn="ctr" defTabSz="1066800" eaLnBrk="1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zh-CN" altLang="en-US" sz="2400" b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智慧营销</a:t>
              </a:r>
            </a:p>
          </p:txBody>
        </p:sp>
      </p:grpSp>
      <p:grpSp>
        <p:nvGrpSpPr>
          <p:cNvPr id="10254" name="组合 15"/>
          <p:cNvGrpSpPr>
            <a:grpSpLocks/>
          </p:cNvGrpSpPr>
          <p:nvPr/>
        </p:nvGrpSpPr>
        <p:grpSpPr bwMode="auto">
          <a:xfrm>
            <a:off x="7610941" y="2725738"/>
            <a:ext cx="1135063" cy="1135062"/>
            <a:chOff x="4345119" y="1787329"/>
            <a:chExt cx="1134826" cy="1134826"/>
          </a:xfrm>
        </p:grpSpPr>
        <p:sp>
          <p:nvSpPr>
            <p:cNvPr id="32" name="椭圆 31"/>
            <p:cNvSpPr/>
            <p:nvPr/>
          </p:nvSpPr>
          <p:spPr>
            <a:xfrm>
              <a:off x="4345119" y="1787329"/>
              <a:ext cx="1134826" cy="1134826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3" name="椭圆 4"/>
            <p:cNvSpPr/>
            <p:nvPr/>
          </p:nvSpPr>
          <p:spPr>
            <a:xfrm>
              <a:off x="4511772" y="1953981"/>
              <a:ext cx="801520" cy="80152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30480" tIns="30480" rIns="30480" bIns="30480" spcCol="1270" anchor="ctr"/>
            <a:lstStyle/>
            <a:p>
              <a:pPr algn="ctr" defTabSz="1066800" eaLnBrk="1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zh-CN" altLang="en-US" sz="2400" b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智慧社区</a:t>
              </a:r>
            </a:p>
          </p:txBody>
        </p:sp>
      </p:grpSp>
      <p:grpSp>
        <p:nvGrpSpPr>
          <p:cNvPr id="10255" name="组合 16"/>
          <p:cNvGrpSpPr>
            <a:grpSpLocks/>
          </p:cNvGrpSpPr>
          <p:nvPr/>
        </p:nvGrpSpPr>
        <p:grpSpPr bwMode="auto">
          <a:xfrm>
            <a:off x="7582366" y="4214813"/>
            <a:ext cx="1135063" cy="1135062"/>
            <a:chOff x="4088876" y="3240555"/>
            <a:chExt cx="1134826" cy="1134826"/>
          </a:xfrm>
        </p:grpSpPr>
        <p:sp>
          <p:nvSpPr>
            <p:cNvPr id="30" name="椭圆 29"/>
            <p:cNvSpPr/>
            <p:nvPr/>
          </p:nvSpPr>
          <p:spPr>
            <a:xfrm>
              <a:off x="4088876" y="3240555"/>
              <a:ext cx="1134826" cy="1134826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1" name="椭圆 6"/>
            <p:cNvSpPr/>
            <p:nvPr/>
          </p:nvSpPr>
          <p:spPr>
            <a:xfrm>
              <a:off x="4255529" y="3407207"/>
              <a:ext cx="801520" cy="80152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30480" tIns="30480" rIns="30480" bIns="30480" spcCol="1270" anchor="ctr"/>
            <a:lstStyle/>
            <a:p>
              <a:pPr algn="ctr" defTabSz="1066800" eaLnBrk="1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zh-CN" altLang="en-US" sz="2400" b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智慧城市</a:t>
              </a:r>
            </a:p>
          </p:txBody>
        </p:sp>
      </p:grpSp>
      <p:grpSp>
        <p:nvGrpSpPr>
          <p:cNvPr id="10256" name="组合 17"/>
          <p:cNvGrpSpPr>
            <a:grpSpLocks/>
          </p:cNvGrpSpPr>
          <p:nvPr/>
        </p:nvGrpSpPr>
        <p:grpSpPr bwMode="auto">
          <a:xfrm>
            <a:off x="7683966" y="5607050"/>
            <a:ext cx="1135063" cy="1135063"/>
            <a:chOff x="1482822" y="4189081"/>
            <a:chExt cx="1134826" cy="1134826"/>
          </a:xfrm>
        </p:grpSpPr>
        <p:sp>
          <p:nvSpPr>
            <p:cNvPr id="28" name="椭圆 27"/>
            <p:cNvSpPr/>
            <p:nvPr/>
          </p:nvSpPr>
          <p:spPr>
            <a:xfrm>
              <a:off x="1482822" y="4189081"/>
              <a:ext cx="1134826" cy="1134826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9" name="椭圆 8"/>
            <p:cNvSpPr/>
            <p:nvPr/>
          </p:nvSpPr>
          <p:spPr>
            <a:xfrm>
              <a:off x="1649475" y="4355734"/>
              <a:ext cx="801520" cy="80152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30480" tIns="30480" rIns="30480" bIns="30480" spcCol="1270" anchor="ctr"/>
            <a:lstStyle/>
            <a:p>
              <a:pPr algn="ctr" defTabSz="1066800" eaLnBrk="1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zh-CN" altLang="en-US" sz="2400" b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智慧交通</a:t>
              </a:r>
            </a:p>
          </p:txBody>
        </p:sp>
      </p:grpSp>
      <p:grpSp>
        <p:nvGrpSpPr>
          <p:cNvPr id="10257" name="组合 19"/>
          <p:cNvGrpSpPr>
            <a:grpSpLocks/>
          </p:cNvGrpSpPr>
          <p:nvPr/>
        </p:nvGrpSpPr>
        <p:grpSpPr bwMode="auto">
          <a:xfrm>
            <a:off x="6359991" y="5607050"/>
            <a:ext cx="1135063" cy="1135063"/>
            <a:chOff x="96169" y="1787329"/>
            <a:chExt cx="1134826" cy="1134826"/>
          </a:xfrm>
        </p:grpSpPr>
        <p:sp>
          <p:nvSpPr>
            <p:cNvPr id="24" name="椭圆 23"/>
            <p:cNvSpPr/>
            <p:nvPr/>
          </p:nvSpPr>
          <p:spPr>
            <a:xfrm>
              <a:off x="96169" y="1787329"/>
              <a:ext cx="1134826" cy="1134826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5" name="椭圆 12"/>
            <p:cNvSpPr/>
            <p:nvPr/>
          </p:nvSpPr>
          <p:spPr>
            <a:xfrm>
              <a:off x="262822" y="1953982"/>
              <a:ext cx="801520" cy="80152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30480" tIns="30480" rIns="30480" bIns="30480" spcCol="1270" anchor="ctr"/>
            <a:lstStyle/>
            <a:p>
              <a:pPr algn="ctr" defTabSz="1066800" eaLnBrk="1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zh-CN" altLang="en-US" sz="2400" b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智慧医疗</a:t>
              </a:r>
            </a:p>
          </p:txBody>
        </p:sp>
      </p:grpSp>
      <p:grpSp>
        <p:nvGrpSpPr>
          <p:cNvPr id="10258" name="组合 20"/>
          <p:cNvGrpSpPr>
            <a:grpSpLocks/>
          </p:cNvGrpSpPr>
          <p:nvPr/>
        </p:nvGrpSpPr>
        <p:grpSpPr bwMode="auto">
          <a:xfrm>
            <a:off x="6271091" y="1285875"/>
            <a:ext cx="1135063" cy="1135063"/>
            <a:chOff x="833992" y="509383"/>
            <a:chExt cx="1134826" cy="1134826"/>
          </a:xfrm>
        </p:grpSpPr>
        <p:sp>
          <p:nvSpPr>
            <p:cNvPr id="22" name="椭圆 21"/>
            <p:cNvSpPr/>
            <p:nvPr/>
          </p:nvSpPr>
          <p:spPr>
            <a:xfrm>
              <a:off x="833992" y="509383"/>
              <a:ext cx="1134826" cy="1134826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" name="椭圆 14"/>
            <p:cNvSpPr/>
            <p:nvPr/>
          </p:nvSpPr>
          <p:spPr>
            <a:xfrm>
              <a:off x="1000645" y="676036"/>
              <a:ext cx="801520" cy="80152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30480" tIns="30480" rIns="30480" bIns="30480" spcCol="1270" anchor="ctr"/>
            <a:lstStyle/>
            <a:p>
              <a:pPr algn="ctr" defTabSz="1066800" eaLnBrk="1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zh-CN" altLang="en-US" sz="2400" b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精准推荐</a:t>
              </a:r>
            </a:p>
          </p:txBody>
        </p:sp>
      </p:grpSp>
      <p:cxnSp>
        <p:nvCxnSpPr>
          <p:cNvPr id="10259" name="直接连接符 35"/>
          <p:cNvCxnSpPr>
            <a:cxnSpLocks noChangeShapeType="1"/>
          </p:cNvCxnSpPr>
          <p:nvPr/>
        </p:nvCxnSpPr>
        <p:spPr bwMode="auto">
          <a:xfrm>
            <a:off x="7439491" y="6167438"/>
            <a:ext cx="309563" cy="0"/>
          </a:xfrm>
          <a:prstGeom prst="line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260" name="直接连接符 38"/>
          <p:cNvCxnSpPr>
            <a:cxnSpLocks noChangeShapeType="1"/>
          </p:cNvCxnSpPr>
          <p:nvPr/>
        </p:nvCxnSpPr>
        <p:spPr bwMode="auto">
          <a:xfrm>
            <a:off x="7339479" y="1824038"/>
            <a:ext cx="309562" cy="0"/>
          </a:xfrm>
          <a:prstGeom prst="line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261" name="直接连接符 39"/>
          <p:cNvCxnSpPr>
            <a:cxnSpLocks noChangeShapeType="1"/>
          </p:cNvCxnSpPr>
          <p:nvPr/>
        </p:nvCxnSpPr>
        <p:spPr bwMode="auto">
          <a:xfrm>
            <a:off x="8179266" y="2384425"/>
            <a:ext cx="0" cy="322263"/>
          </a:xfrm>
          <a:prstGeom prst="line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262" name="直接连接符 41"/>
          <p:cNvCxnSpPr>
            <a:cxnSpLocks noChangeShapeType="1"/>
          </p:cNvCxnSpPr>
          <p:nvPr/>
        </p:nvCxnSpPr>
        <p:spPr bwMode="auto">
          <a:xfrm>
            <a:off x="8149104" y="3859213"/>
            <a:ext cx="0" cy="322262"/>
          </a:xfrm>
          <a:prstGeom prst="line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263" name="直接连接符 42"/>
          <p:cNvCxnSpPr>
            <a:cxnSpLocks noChangeShapeType="1"/>
          </p:cNvCxnSpPr>
          <p:nvPr/>
        </p:nvCxnSpPr>
        <p:spPr bwMode="auto">
          <a:xfrm>
            <a:off x="8184029" y="5338763"/>
            <a:ext cx="0" cy="322262"/>
          </a:xfrm>
          <a:prstGeom prst="line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406217306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数据智能（大数据分析）</a:t>
            </a:r>
            <a:endParaRPr lang="zh-CN" altLang="en-US" dirty="0"/>
          </a:p>
        </p:txBody>
      </p:sp>
      <p:cxnSp>
        <p:nvCxnSpPr>
          <p:cNvPr id="4" name="直接箭头连接符 3"/>
          <p:cNvCxnSpPr/>
          <p:nvPr/>
        </p:nvCxnSpPr>
        <p:spPr bwMode="auto">
          <a:xfrm>
            <a:off x="2555776" y="4739964"/>
            <a:ext cx="54006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" name="直接箭头连接符 4"/>
          <p:cNvCxnSpPr/>
          <p:nvPr/>
        </p:nvCxnSpPr>
        <p:spPr bwMode="auto">
          <a:xfrm flipV="1">
            <a:off x="2555776" y="1889773"/>
            <a:ext cx="0" cy="285019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圆角矩形 9"/>
          <p:cNvSpPr/>
          <p:nvPr/>
        </p:nvSpPr>
        <p:spPr bwMode="auto">
          <a:xfrm>
            <a:off x="827584" y="2548322"/>
            <a:ext cx="1584176" cy="648072"/>
          </a:xfrm>
          <a:prstGeom prst="roundRect">
            <a:avLst/>
          </a:prstGeom>
          <a:solidFill>
            <a:srgbClr val="FF0000">
              <a:alpha val="17000"/>
            </a:srgbClr>
          </a:solidFill>
          <a:ln w="6350" cap="flat" cmpd="sng" algn="ctr">
            <a:solidFill>
              <a:schemeClr val="tx1">
                <a:alpha val="34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1" hangingPunct="1">
              <a:lnSpc>
                <a:spcPct val="150000"/>
              </a:lnSpc>
            </a:pPr>
            <a:r>
              <a:rPr lang="zh-CN" altLang="en-US" b="0" dirty="0">
                <a:latin typeface="华文中宋" panose="02010600040101010101" pitchFamily="2" charset="-122"/>
                <a:ea typeface="华文中宋" panose="02010600040101010101" pitchFamily="2" charset="-122"/>
              </a:rPr>
              <a:t>预测性分析</a:t>
            </a:r>
          </a:p>
        </p:txBody>
      </p:sp>
      <p:sp>
        <p:nvSpPr>
          <p:cNvPr id="11" name="圆角矩形 10"/>
          <p:cNvSpPr/>
          <p:nvPr/>
        </p:nvSpPr>
        <p:spPr bwMode="auto">
          <a:xfrm>
            <a:off x="827584" y="3814963"/>
            <a:ext cx="1584176" cy="648072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描述性分析</a:t>
            </a:r>
          </a:p>
        </p:txBody>
      </p:sp>
      <p:sp>
        <p:nvSpPr>
          <p:cNvPr id="12" name="圆角矩形 11"/>
          <p:cNvSpPr/>
          <p:nvPr/>
        </p:nvSpPr>
        <p:spPr bwMode="auto">
          <a:xfrm>
            <a:off x="3437262" y="4895102"/>
            <a:ext cx="682855" cy="432048"/>
          </a:xfrm>
          <a:prstGeom prst="roundRect">
            <a:avLst/>
          </a:prstGeom>
          <a:solidFill>
            <a:srgbClr val="FFFF00">
              <a:alpha val="48000"/>
            </a:srgbClr>
          </a:solidFill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仿宋" panose="02010600040101010101" pitchFamily="2" charset="-122"/>
                <a:ea typeface="华文仿宋" panose="02010600040101010101" pitchFamily="2" charset="-122"/>
              </a:rPr>
              <a:t>表格</a:t>
            </a:r>
          </a:p>
        </p:txBody>
      </p:sp>
      <p:sp>
        <p:nvSpPr>
          <p:cNvPr id="13" name="圆角矩形 12"/>
          <p:cNvSpPr/>
          <p:nvPr/>
        </p:nvSpPr>
        <p:spPr bwMode="auto">
          <a:xfrm>
            <a:off x="4283967" y="4895102"/>
            <a:ext cx="682855" cy="432048"/>
          </a:xfrm>
          <a:prstGeom prst="roundRect">
            <a:avLst/>
          </a:prstGeom>
          <a:solidFill>
            <a:srgbClr val="FFFF00">
              <a:alpha val="48000"/>
            </a:srgbClr>
          </a:solidFill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zh-CN" altLang="en-US" b="0" dirty="0">
                <a:latin typeface="华文仿宋" panose="02010600040101010101" pitchFamily="2" charset="-122"/>
                <a:ea typeface="华文仿宋" panose="02010600040101010101" pitchFamily="2" charset="-122"/>
              </a:rPr>
              <a:t>文本</a:t>
            </a:r>
          </a:p>
        </p:txBody>
      </p:sp>
      <p:sp>
        <p:nvSpPr>
          <p:cNvPr id="14" name="圆角矩形 13"/>
          <p:cNvSpPr/>
          <p:nvPr/>
        </p:nvSpPr>
        <p:spPr bwMode="auto">
          <a:xfrm>
            <a:off x="5130672" y="4895102"/>
            <a:ext cx="682855" cy="432048"/>
          </a:xfrm>
          <a:prstGeom prst="roundRect">
            <a:avLst/>
          </a:prstGeom>
          <a:solidFill>
            <a:srgbClr val="FFFF00">
              <a:alpha val="48000"/>
            </a:srgbClr>
          </a:solidFill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zh-CN" altLang="en-US" b="0" dirty="0">
                <a:latin typeface="华文仿宋" panose="02010600040101010101" pitchFamily="2" charset="-122"/>
                <a:ea typeface="华文仿宋" panose="02010600040101010101" pitchFamily="2" charset="-122"/>
              </a:rPr>
              <a:t>图像</a:t>
            </a:r>
          </a:p>
        </p:txBody>
      </p:sp>
      <p:sp>
        <p:nvSpPr>
          <p:cNvPr id="15" name="圆角矩形 14"/>
          <p:cNvSpPr/>
          <p:nvPr/>
        </p:nvSpPr>
        <p:spPr bwMode="auto">
          <a:xfrm>
            <a:off x="5977377" y="4895102"/>
            <a:ext cx="682855" cy="432048"/>
          </a:xfrm>
          <a:prstGeom prst="roundRect">
            <a:avLst/>
          </a:prstGeom>
          <a:solidFill>
            <a:srgbClr val="FFFF00">
              <a:alpha val="48000"/>
            </a:srgbClr>
          </a:solidFill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zh-CN" altLang="en-US" b="0" dirty="0">
                <a:latin typeface="华文仿宋" panose="02010600040101010101" pitchFamily="2" charset="-122"/>
                <a:ea typeface="华文仿宋" panose="02010600040101010101" pitchFamily="2" charset="-122"/>
              </a:rPr>
              <a:t>视频</a:t>
            </a:r>
          </a:p>
        </p:txBody>
      </p:sp>
      <p:sp>
        <p:nvSpPr>
          <p:cNvPr id="18" name="圆角矩形 17"/>
          <p:cNvSpPr/>
          <p:nvPr/>
        </p:nvSpPr>
        <p:spPr bwMode="auto">
          <a:xfrm>
            <a:off x="2448985" y="4895102"/>
            <a:ext cx="834344" cy="432048"/>
          </a:xfrm>
          <a:prstGeom prst="roundRect">
            <a:avLst/>
          </a:prstGeom>
          <a:solidFill>
            <a:schemeClr val="bg1"/>
          </a:solidFill>
          <a:ln w="15875">
            <a:noFill/>
            <a:prstDash val="dash"/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多模态</a:t>
            </a:r>
          </a:p>
        </p:txBody>
      </p:sp>
      <p:sp>
        <p:nvSpPr>
          <p:cNvPr id="20" name="圆角矩形 19"/>
          <p:cNvSpPr/>
          <p:nvPr/>
        </p:nvSpPr>
        <p:spPr bwMode="auto">
          <a:xfrm>
            <a:off x="3437262" y="5451571"/>
            <a:ext cx="682855" cy="432048"/>
          </a:xfrm>
          <a:prstGeom prst="roundRect">
            <a:avLst/>
          </a:prstGeom>
          <a:solidFill>
            <a:srgbClr val="FFFF00">
              <a:alpha val="48000"/>
            </a:srgbClr>
          </a:solidFill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仿宋" panose="02010600040101010101" pitchFamily="2" charset="-122"/>
                <a:ea typeface="华文仿宋" panose="02010600040101010101" pitchFamily="2" charset="-122"/>
              </a:rPr>
              <a:t>微信</a:t>
            </a:r>
          </a:p>
        </p:txBody>
      </p:sp>
      <p:sp>
        <p:nvSpPr>
          <p:cNvPr id="21" name="圆角矩形 20"/>
          <p:cNvSpPr/>
          <p:nvPr/>
        </p:nvSpPr>
        <p:spPr bwMode="auto">
          <a:xfrm>
            <a:off x="4283967" y="5451571"/>
            <a:ext cx="682855" cy="432048"/>
          </a:xfrm>
          <a:prstGeom prst="roundRect">
            <a:avLst/>
          </a:prstGeom>
          <a:solidFill>
            <a:srgbClr val="FFFF00">
              <a:alpha val="48000"/>
            </a:srgbClr>
          </a:solidFill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zh-CN" altLang="en-US" b="0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陶宝</a:t>
            </a:r>
            <a:endParaRPr lang="zh-CN" altLang="en-US" b="0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sp>
        <p:nvSpPr>
          <p:cNvPr id="22" name="圆角矩形 21"/>
          <p:cNvSpPr/>
          <p:nvPr/>
        </p:nvSpPr>
        <p:spPr bwMode="auto">
          <a:xfrm>
            <a:off x="5130672" y="5451571"/>
            <a:ext cx="682855" cy="432048"/>
          </a:xfrm>
          <a:prstGeom prst="roundRect">
            <a:avLst/>
          </a:prstGeom>
          <a:solidFill>
            <a:srgbClr val="FFFF00">
              <a:alpha val="48000"/>
            </a:srgbClr>
          </a:solidFill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zh-CN" altLang="en-US" b="0" dirty="0">
                <a:latin typeface="华文仿宋" panose="02010600040101010101" pitchFamily="2" charset="-122"/>
                <a:ea typeface="华文仿宋" panose="02010600040101010101" pitchFamily="2" charset="-122"/>
              </a:rPr>
              <a:t>微</a:t>
            </a:r>
            <a:r>
              <a:rPr lang="zh-CN" altLang="en-US" b="0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博</a:t>
            </a:r>
            <a:endParaRPr lang="zh-CN" altLang="en-US" b="0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sp>
        <p:nvSpPr>
          <p:cNvPr id="23" name="圆角矩形 22"/>
          <p:cNvSpPr/>
          <p:nvPr/>
        </p:nvSpPr>
        <p:spPr bwMode="auto">
          <a:xfrm>
            <a:off x="5977377" y="5451571"/>
            <a:ext cx="682855" cy="432048"/>
          </a:xfrm>
          <a:prstGeom prst="roundRect">
            <a:avLst/>
          </a:prstGeom>
          <a:solidFill>
            <a:srgbClr val="FFFF00">
              <a:alpha val="48000"/>
            </a:srgbClr>
          </a:solidFill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zh-CN" altLang="en-US" b="0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电信</a:t>
            </a:r>
            <a:endParaRPr lang="zh-CN" altLang="en-US" b="0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sp>
        <p:nvSpPr>
          <p:cNvPr id="24" name="圆角矩形 23"/>
          <p:cNvSpPr/>
          <p:nvPr/>
        </p:nvSpPr>
        <p:spPr bwMode="auto">
          <a:xfrm>
            <a:off x="2448985" y="5451571"/>
            <a:ext cx="834344" cy="432048"/>
          </a:xfrm>
          <a:prstGeom prst="roundRect">
            <a:avLst/>
          </a:prstGeom>
          <a:solidFill>
            <a:schemeClr val="bg1"/>
          </a:solidFill>
          <a:ln w="15875">
            <a:noFill/>
            <a:prstDash val="dash"/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多源</a:t>
            </a:r>
          </a:p>
        </p:txBody>
      </p:sp>
      <p:sp>
        <p:nvSpPr>
          <p:cNvPr id="25" name="圆角矩形 24"/>
          <p:cNvSpPr/>
          <p:nvPr/>
        </p:nvSpPr>
        <p:spPr bwMode="auto">
          <a:xfrm>
            <a:off x="3423917" y="5977851"/>
            <a:ext cx="682855" cy="432048"/>
          </a:xfrm>
          <a:prstGeom prst="roundRect">
            <a:avLst/>
          </a:prstGeom>
          <a:solidFill>
            <a:srgbClr val="FFFF00">
              <a:alpha val="48000"/>
            </a:srgbClr>
          </a:solidFill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仿宋" panose="02010600040101010101" pitchFamily="2" charset="-122"/>
                <a:ea typeface="华文仿宋" panose="02010600040101010101" pitchFamily="2" charset="-122"/>
              </a:rPr>
              <a:t>观看</a:t>
            </a:r>
          </a:p>
        </p:txBody>
      </p:sp>
      <p:sp>
        <p:nvSpPr>
          <p:cNvPr id="26" name="圆角矩形 25"/>
          <p:cNvSpPr/>
          <p:nvPr/>
        </p:nvSpPr>
        <p:spPr bwMode="auto">
          <a:xfrm>
            <a:off x="4270622" y="5977851"/>
            <a:ext cx="682855" cy="432048"/>
          </a:xfrm>
          <a:prstGeom prst="roundRect">
            <a:avLst/>
          </a:prstGeom>
          <a:solidFill>
            <a:srgbClr val="FFFF00">
              <a:alpha val="48000"/>
            </a:srgbClr>
          </a:solidFill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zh-CN" altLang="en-US" b="0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购买</a:t>
            </a:r>
            <a:endParaRPr lang="zh-CN" altLang="en-US" b="0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sp>
        <p:nvSpPr>
          <p:cNvPr id="27" name="圆角矩形 26"/>
          <p:cNvSpPr/>
          <p:nvPr/>
        </p:nvSpPr>
        <p:spPr bwMode="auto">
          <a:xfrm>
            <a:off x="5117327" y="5977851"/>
            <a:ext cx="682855" cy="432048"/>
          </a:xfrm>
          <a:prstGeom prst="roundRect">
            <a:avLst/>
          </a:prstGeom>
          <a:solidFill>
            <a:srgbClr val="FFFF00">
              <a:alpha val="48000"/>
            </a:srgbClr>
          </a:solidFill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zh-CN" altLang="en-US" b="0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点赞</a:t>
            </a:r>
            <a:endParaRPr lang="zh-CN" altLang="en-US" b="0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sp>
        <p:nvSpPr>
          <p:cNvPr id="28" name="圆角矩形 27"/>
          <p:cNvSpPr/>
          <p:nvPr/>
        </p:nvSpPr>
        <p:spPr bwMode="auto">
          <a:xfrm>
            <a:off x="5964032" y="5977851"/>
            <a:ext cx="682855" cy="432048"/>
          </a:xfrm>
          <a:prstGeom prst="roundRect">
            <a:avLst/>
          </a:prstGeom>
          <a:solidFill>
            <a:srgbClr val="FFFF00">
              <a:alpha val="48000"/>
            </a:srgbClr>
          </a:solidFill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zh-CN" altLang="en-US" b="0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评论</a:t>
            </a:r>
            <a:endParaRPr lang="zh-CN" altLang="en-US" b="0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sp>
        <p:nvSpPr>
          <p:cNvPr id="29" name="圆角矩形 28"/>
          <p:cNvSpPr/>
          <p:nvPr/>
        </p:nvSpPr>
        <p:spPr bwMode="auto">
          <a:xfrm>
            <a:off x="2435640" y="5977851"/>
            <a:ext cx="834344" cy="432048"/>
          </a:xfrm>
          <a:prstGeom prst="roundRect">
            <a:avLst/>
          </a:prstGeom>
          <a:solidFill>
            <a:schemeClr val="bg1"/>
          </a:solidFill>
          <a:ln w="15875">
            <a:noFill/>
            <a:prstDash val="dash"/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多行为</a:t>
            </a:r>
          </a:p>
        </p:txBody>
      </p:sp>
      <p:sp>
        <p:nvSpPr>
          <p:cNvPr id="30" name="圆角矩形 29"/>
          <p:cNvSpPr/>
          <p:nvPr/>
        </p:nvSpPr>
        <p:spPr bwMode="auto">
          <a:xfrm>
            <a:off x="859632" y="1371484"/>
            <a:ext cx="1455036" cy="867554"/>
          </a:xfrm>
          <a:prstGeom prst="roundRect">
            <a:avLst/>
          </a:prstGeom>
          <a:solidFill>
            <a:schemeClr val="bg1"/>
          </a:solidFill>
          <a:ln w="15875">
            <a:noFill/>
            <a:prstDash val="dash"/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dirty="0" smtClean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纵向要求</a:t>
            </a:r>
            <a:endParaRPr lang="en-US" altLang="zh-CN" sz="2400" dirty="0" smtClean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分析层次</a:t>
            </a:r>
          </a:p>
        </p:txBody>
      </p:sp>
      <p:sp>
        <p:nvSpPr>
          <p:cNvPr id="32" name="圆角矩形 31"/>
          <p:cNvSpPr/>
          <p:nvPr/>
        </p:nvSpPr>
        <p:spPr bwMode="auto">
          <a:xfrm>
            <a:off x="6948264" y="4936393"/>
            <a:ext cx="1338400" cy="432048"/>
          </a:xfrm>
          <a:prstGeom prst="roundRect">
            <a:avLst/>
          </a:prstGeom>
          <a:solidFill>
            <a:schemeClr val="bg1"/>
          </a:solidFill>
          <a:ln w="15875">
            <a:noFill/>
            <a:prstDash val="dash"/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横向要求</a:t>
            </a:r>
            <a:endParaRPr kumimoji="0" lang="en-US" altLang="zh-CN" sz="2400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分析对象</a:t>
            </a:r>
          </a:p>
        </p:txBody>
      </p:sp>
      <p:cxnSp>
        <p:nvCxnSpPr>
          <p:cNvPr id="35" name="直接连接符 34"/>
          <p:cNvCxnSpPr/>
          <p:nvPr/>
        </p:nvCxnSpPr>
        <p:spPr bwMode="auto">
          <a:xfrm>
            <a:off x="2555797" y="3518457"/>
            <a:ext cx="4795359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" name="椭圆 44"/>
          <p:cNvSpPr/>
          <p:nvPr/>
        </p:nvSpPr>
        <p:spPr bwMode="auto">
          <a:xfrm>
            <a:off x="3004061" y="2407384"/>
            <a:ext cx="1800200" cy="869355"/>
          </a:xfrm>
          <a:prstGeom prst="ellipse">
            <a:avLst/>
          </a:prstGeom>
          <a:solidFill>
            <a:srgbClr val="FF0000">
              <a:alpha val="17000"/>
            </a:srgbClr>
          </a:solidFill>
          <a:ln w="6350" cap="flat" cmpd="sng" algn="ctr">
            <a:solidFill>
              <a:schemeClr val="tx1">
                <a:alpha val="34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回归预测</a:t>
            </a:r>
          </a:p>
        </p:txBody>
      </p:sp>
      <p:sp>
        <p:nvSpPr>
          <p:cNvPr id="46" name="椭圆 45"/>
          <p:cNvSpPr/>
          <p:nvPr/>
        </p:nvSpPr>
        <p:spPr bwMode="auto">
          <a:xfrm>
            <a:off x="5148659" y="2407384"/>
            <a:ext cx="1800200" cy="869355"/>
          </a:xfrm>
          <a:prstGeom prst="ellipse">
            <a:avLst/>
          </a:prstGeom>
          <a:solidFill>
            <a:srgbClr val="FF0000">
              <a:alpha val="17000"/>
            </a:srgbClr>
          </a:solidFill>
          <a:ln w="6350" cap="flat" cmpd="sng" algn="ctr">
            <a:solidFill>
              <a:schemeClr val="tx1">
                <a:alpha val="34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分类预测</a:t>
            </a:r>
          </a:p>
        </p:txBody>
      </p:sp>
      <p:sp>
        <p:nvSpPr>
          <p:cNvPr id="47" name="椭圆 46"/>
          <p:cNvSpPr/>
          <p:nvPr/>
        </p:nvSpPr>
        <p:spPr bwMode="auto">
          <a:xfrm>
            <a:off x="3004061" y="3715472"/>
            <a:ext cx="1800200" cy="869355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1" hangingPunct="1">
              <a:lnSpc>
                <a:spcPct val="150000"/>
              </a:lnSpc>
            </a:pPr>
            <a:r>
              <a:rPr lang="zh-CN" altLang="en-US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特征工程</a:t>
            </a:r>
          </a:p>
        </p:txBody>
      </p:sp>
      <p:sp>
        <p:nvSpPr>
          <p:cNvPr id="48" name="椭圆 47"/>
          <p:cNvSpPr/>
          <p:nvPr/>
        </p:nvSpPr>
        <p:spPr bwMode="auto">
          <a:xfrm>
            <a:off x="5130672" y="3715472"/>
            <a:ext cx="1800200" cy="869355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1" hangingPunct="1">
              <a:lnSpc>
                <a:spcPct val="150000"/>
              </a:lnSpc>
            </a:pPr>
            <a:r>
              <a:rPr lang="zh-CN" altLang="en-US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建模依据</a:t>
            </a:r>
          </a:p>
        </p:txBody>
      </p:sp>
      <p:sp>
        <p:nvSpPr>
          <p:cNvPr id="49" name="矩形 48"/>
          <p:cNvSpPr/>
          <p:nvPr/>
        </p:nvSpPr>
        <p:spPr>
          <a:xfrm>
            <a:off x="2697089" y="1402638"/>
            <a:ext cx="45127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大</a:t>
            </a:r>
            <a:r>
              <a:rPr lang="zh-CN" altLang="en-US" sz="2800" dirty="0" smtClean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数据分析的二维概念框架</a:t>
            </a:r>
            <a:endParaRPr lang="zh-CN" altLang="en-US" sz="2800" dirty="0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4048636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>
            <p:extLst/>
          </p:nvPr>
        </p:nvGraphicFramePr>
        <p:xfrm>
          <a:off x="452554" y="1074097"/>
          <a:ext cx="8280924" cy="56886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077">
                  <a:extLst>
                    <a:ext uri="{9D8B030D-6E8A-4147-A177-3AD203B41FA5}">
                      <a16:colId xmlns:a16="http://schemas.microsoft.com/office/drawing/2014/main" val="2104281111"/>
                    </a:ext>
                  </a:extLst>
                </a:gridCol>
                <a:gridCol w="690077">
                  <a:extLst>
                    <a:ext uri="{9D8B030D-6E8A-4147-A177-3AD203B41FA5}">
                      <a16:colId xmlns:a16="http://schemas.microsoft.com/office/drawing/2014/main" val="2821570698"/>
                    </a:ext>
                  </a:extLst>
                </a:gridCol>
                <a:gridCol w="690077">
                  <a:extLst>
                    <a:ext uri="{9D8B030D-6E8A-4147-A177-3AD203B41FA5}">
                      <a16:colId xmlns:a16="http://schemas.microsoft.com/office/drawing/2014/main" val="405653861"/>
                    </a:ext>
                  </a:extLst>
                </a:gridCol>
                <a:gridCol w="690077">
                  <a:extLst>
                    <a:ext uri="{9D8B030D-6E8A-4147-A177-3AD203B41FA5}">
                      <a16:colId xmlns:a16="http://schemas.microsoft.com/office/drawing/2014/main" val="198006328"/>
                    </a:ext>
                  </a:extLst>
                </a:gridCol>
                <a:gridCol w="690077">
                  <a:extLst>
                    <a:ext uri="{9D8B030D-6E8A-4147-A177-3AD203B41FA5}">
                      <a16:colId xmlns:a16="http://schemas.microsoft.com/office/drawing/2014/main" val="1255675933"/>
                    </a:ext>
                  </a:extLst>
                </a:gridCol>
                <a:gridCol w="690077">
                  <a:extLst>
                    <a:ext uri="{9D8B030D-6E8A-4147-A177-3AD203B41FA5}">
                      <a16:colId xmlns:a16="http://schemas.microsoft.com/office/drawing/2014/main" val="346163333"/>
                    </a:ext>
                  </a:extLst>
                </a:gridCol>
                <a:gridCol w="690077">
                  <a:extLst>
                    <a:ext uri="{9D8B030D-6E8A-4147-A177-3AD203B41FA5}">
                      <a16:colId xmlns:a16="http://schemas.microsoft.com/office/drawing/2014/main" val="1651433617"/>
                    </a:ext>
                  </a:extLst>
                </a:gridCol>
                <a:gridCol w="690077">
                  <a:extLst>
                    <a:ext uri="{9D8B030D-6E8A-4147-A177-3AD203B41FA5}">
                      <a16:colId xmlns:a16="http://schemas.microsoft.com/office/drawing/2014/main" val="4256746619"/>
                    </a:ext>
                  </a:extLst>
                </a:gridCol>
                <a:gridCol w="690077">
                  <a:extLst>
                    <a:ext uri="{9D8B030D-6E8A-4147-A177-3AD203B41FA5}">
                      <a16:colId xmlns:a16="http://schemas.microsoft.com/office/drawing/2014/main" val="3386747695"/>
                    </a:ext>
                  </a:extLst>
                </a:gridCol>
                <a:gridCol w="690077">
                  <a:extLst>
                    <a:ext uri="{9D8B030D-6E8A-4147-A177-3AD203B41FA5}">
                      <a16:colId xmlns:a16="http://schemas.microsoft.com/office/drawing/2014/main" val="3102591041"/>
                    </a:ext>
                  </a:extLst>
                </a:gridCol>
                <a:gridCol w="690077">
                  <a:extLst>
                    <a:ext uri="{9D8B030D-6E8A-4147-A177-3AD203B41FA5}">
                      <a16:colId xmlns:a16="http://schemas.microsoft.com/office/drawing/2014/main" val="3883089577"/>
                    </a:ext>
                  </a:extLst>
                </a:gridCol>
                <a:gridCol w="690077">
                  <a:extLst>
                    <a:ext uri="{9D8B030D-6E8A-4147-A177-3AD203B41FA5}">
                      <a16:colId xmlns:a16="http://schemas.microsoft.com/office/drawing/2014/main" val="35444583"/>
                    </a:ext>
                  </a:extLst>
                </a:gridCol>
              </a:tblGrid>
              <a:tr h="437587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X1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X2</a:t>
                      </a:r>
                      <a:endParaRPr lang="zh-CN" alt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</a:rPr>
                        <a:t>X3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宋体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</a:rPr>
                        <a:t>X4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宋体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</a:rPr>
                        <a:t>X5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宋体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</a:rPr>
                        <a:t>X6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宋体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</a:rPr>
                        <a:t>X7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宋体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</a:rPr>
                        <a:t>X8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宋体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</a:rPr>
                        <a:t>X9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宋体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</a:rPr>
                        <a:t>X10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宋体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y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0650806"/>
                  </a:ext>
                </a:extLst>
              </a:tr>
              <a:tr h="43758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P1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6365954"/>
                  </a:ext>
                </a:extLst>
              </a:tr>
              <a:tr h="43758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P2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642163"/>
                  </a:ext>
                </a:extLst>
              </a:tr>
              <a:tr h="43758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P3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9720242"/>
                  </a:ext>
                </a:extLst>
              </a:tr>
              <a:tr h="43758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P4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3524409"/>
                  </a:ext>
                </a:extLst>
              </a:tr>
              <a:tr h="43758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P5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4933067"/>
                  </a:ext>
                </a:extLst>
              </a:tr>
              <a:tr h="43758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P6</a:t>
                      </a:r>
                      <a:endParaRPr lang="zh-CN" alt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4644876"/>
                  </a:ext>
                </a:extLst>
              </a:tr>
              <a:tr h="4375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</a:rPr>
                        <a:t>P7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宋体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7311955"/>
                  </a:ext>
                </a:extLst>
              </a:tr>
              <a:tr h="4375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</a:rPr>
                        <a:t>P8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宋体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4432061"/>
                  </a:ext>
                </a:extLst>
              </a:tr>
              <a:tr h="4375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</a:rPr>
                        <a:t>P9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宋体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1739063"/>
                  </a:ext>
                </a:extLst>
              </a:tr>
              <a:tr h="4375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</a:rPr>
                        <a:t>P10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宋体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55794"/>
                  </a:ext>
                </a:extLst>
              </a:tr>
              <a:tr h="4375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</a:rPr>
                        <a:t>…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宋体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649541"/>
                  </a:ext>
                </a:extLst>
              </a:tr>
              <a:tr h="43758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New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8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7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8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9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064703"/>
                  </a:ext>
                </a:extLst>
              </a:tr>
            </a:tbl>
          </a:graphicData>
        </a:graphic>
      </p:graphicFrame>
      <p:cxnSp>
        <p:nvCxnSpPr>
          <p:cNvPr id="5" name="直接连接符 4"/>
          <p:cNvCxnSpPr/>
          <p:nvPr/>
        </p:nvCxnSpPr>
        <p:spPr bwMode="auto">
          <a:xfrm>
            <a:off x="452554" y="6309320"/>
            <a:ext cx="8280920" cy="0"/>
          </a:xfrm>
          <a:prstGeom prst="line">
            <a:avLst/>
          </a:prstGeom>
          <a:ln w="38100">
            <a:solidFill>
              <a:srgbClr val="FF0000"/>
            </a:solidFill>
            <a:prstDash val="solid"/>
            <a:headEnd type="none" w="med" len="med"/>
            <a:tailEnd type="none" w="med" len="med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 bwMode="auto">
          <a:xfrm>
            <a:off x="8026457" y="1054341"/>
            <a:ext cx="0" cy="5688631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直接连接符 7"/>
          <p:cNvCxnSpPr/>
          <p:nvPr/>
        </p:nvCxnSpPr>
        <p:spPr bwMode="auto">
          <a:xfrm>
            <a:off x="465617" y="1499774"/>
            <a:ext cx="8280920" cy="0"/>
          </a:xfrm>
          <a:prstGeom prst="line">
            <a:avLst/>
          </a:prstGeom>
          <a:ln w="38100">
            <a:solidFill>
              <a:srgbClr val="FF0000"/>
            </a:solidFill>
            <a:prstDash val="solid"/>
            <a:headEnd type="none" w="med" len="med"/>
            <a:tailEnd type="none" w="med" len="med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机器学习（预测）问题范式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3723420"/>
      </p:ext>
    </p:extLst>
  </p:cSld>
  <p:clrMapOvr>
    <a:masterClrMapping/>
  </p:clrMapOvr>
  <p:transition spd="slow">
    <p:circl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机器学习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64" y="1340768"/>
            <a:ext cx="8817871" cy="42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577788"/>
      </p:ext>
    </p:extLst>
  </p:cSld>
  <p:clrMapOvr>
    <a:masterClrMapping/>
  </p:clrMapOvr>
  <p:transition spd="slow">
    <p:circl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9969" y="1149926"/>
            <a:ext cx="2550502" cy="5526088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4338" name="标题 1"/>
          <p:cNvSpPr>
            <a:spLocks noGrp="1"/>
          </p:cNvSpPr>
          <p:nvPr>
            <p:ph type="title"/>
          </p:nvPr>
        </p:nvSpPr>
        <p:spPr>
          <a:xfrm>
            <a:off x="179388" y="95250"/>
            <a:ext cx="8964612" cy="936625"/>
          </a:xfrm>
        </p:spPr>
        <p:txBody>
          <a:bodyPr/>
          <a:lstStyle/>
          <a:p>
            <a:r>
              <a:rPr lang="zh-CN" altLang="en-US" b="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大数据应用：个性化推荐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164" y="1172842"/>
            <a:ext cx="2518719" cy="5457224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0736" y="1172841"/>
            <a:ext cx="2518719" cy="5457224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6" name="椭圆 5"/>
          <p:cNvSpPr/>
          <p:nvPr/>
        </p:nvSpPr>
        <p:spPr bwMode="auto">
          <a:xfrm>
            <a:off x="539552" y="1631533"/>
            <a:ext cx="648072" cy="432048"/>
          </a:xfrm>
          <a:prstGeom prst="ellipse">
            <a:avLst/>
          </a:prstGeom>
          <a:noFill/>
          <a:ln w="9525">
            <a:solidFill>
              <a:srgbClr val="00CC00"/>
            </a:solidFill>
            <a:prstDash val="sysDash"/>
            <a:headEnd type="none" w="med" len="med"/>
            <a:tailEnd type="none" w="med" len="med"/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5" name="椭圆 14"/>
          <p:cNvSpPr/>
          <p:nvPr/>
        </p:nvSpPr>
        <p:spPr bwMode="auto">
          <a:xfrm>
            <a:off x="4644761" y="1414765"/>
            <a:ext cx="648072" cy="432048"/>
          </a:xfrm>
          <a:prstGeom prst="ellipse">
            <a:avLst/>
          </a:prstGeom>
          <a:noFill/>
          <a:ln w="9525">
            <a:solidFill>
              <a:srgbClr val="FF0000"/>
            </a:solidFill>
            <a:prstDash val="sysDash"/>
            <a:headEnd type="none" w="med" len="med"/>
            <a:tailEnd type="none" w="med" len="med"/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6" name="椭圆 15"/>
          <p:cNvSpPr/>
          <p:nvPr/>
        </p:nvSpPr>
        <p:spPr bwMode="auto">
          <a:xfrm>
            <a:off x="6236103" y="1829880"/>
            <a:ext cx="648072" cy="432048"/>
          </a:xfrm>
          <a:prstGeom prst="ellipse">
            <a:avLst/>
          </a:prstGeom>
          <a:noFill/>
          <a:ln w="9525">
            <a:solidFill>
              <a:srgbClr val="0000FF"/>
            </a:solidFill>
            <a:prstDash val="sysDash"/>
            <a:headEnd type="none" w="med" len="med"/>
            <a:tailEnd type="none" w="med" len="med"/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9" name="Picture 4" descr="电子商务个性化---正面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9937" y="3397334"/>
            <a:ext cx="2440315" cy="3200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8813042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4">
            <a:extLst>
              <a:ext uri="{FF2B5EF4-FFF2-40B4-BE49-F238E27FC236}">
                <a16:creationId xmlns:a16="http://schemas.microsoft.com/office/drawing/2014/main" id="{B602F2C2-90ED-4AB6-9B44-1F7F2F037278}"/>
              </a:ext>
            </a:extLst>
          </p:cNvPr>
          <p:cNvSpPr/>
          <p:nvPr/>
        </p:nvSpPr>
        <p:spPr>
          <a:xfrm>
            <a:off x="4053105" y="1407496"/>
            <a:ext cx="1108861" cy="1039289"/>
          </a:xfrm>
          <a:custGeom>
            <a:avLst/>
            <a:gdLst>
              <a:gd name="connsiteX0" fmla="*/ 388426 w 607282"/>
              <a:gd name="connsiteY0" fmla="*/ 385710 h 569180"/>
              <a:gd name="connsiteX1" fmla="*/ 431276 w 607282"/>
              <a:gd name="connsiteY1" fmla="*/ 385710 h 569180"/>
              <a:gd name="connsiteX2" fmla="*/ 431276 w 607282"/>
              <a:gd name="connsiteY2" fmla="*/ 438433 h 569180"/>
              <a:gd name="connsiteX3" fmla="*/ 522771 w 607282"/>
              <a:gd name="connsiteY3" fmla="*/ 529738 h 569180"/>
              <a:gd name="connsiteX4" fmla="*/ 522771 w 607282"/>
              <a:gd name="connsiteY4" fmla="*/ 559964 h 569180"/>
              <a:gd name="connsiteX5" fmla="*/ 492483 w 607282"/>
              <a:gd name="connsiteY5" fmla="*/ 559964 h 569180"/>
              <a:gd name="connsiteX6" fmla="*/ 431276 w 607282"/>
              <a:gd name="connsiteY6" fmla="*/ 498941 h 569180"/>
              <a:gd name="connsiteX7" fmla="*/ 431276 w 607282"/>
              <a:gd name="connsiteY7" fmla="*/ 547771 h 569180"/>
              <a:gd name="connsiteX8" fmla="*/ 409822 w 607282"/>
              <a:gd name="connsiteY8" fmla="*/ 569180 h 569180"/>
              <a:gd name="connsiteX9" fmla="*/ 388426 w 607282"/>
              <a:gd name="connsiteY9" fmla="*/ 547771 h 569180"/>
              <a:gd name="connsiteX10" fmla="*/ 388426 w 607282"/>
              <a:gd name="connsiteY10" fmla="*/ 498941 h 569180"/>
              <a:gd name="connsiteX11" fmla="*/ 327276 w 607282"/>
              <a:gd name="connsiteY11" fmla="*/ 559964 h 569180"/>
              <a:gd name="connsiteX12" fmla="*/ 296988 w 607282"/>
              <a:gd name="connsiteY12" fmla="*/ 559964 h 569180"/>
              <a:gd name="connsiteX13" fmla="*/ 296988 w 607282"/>
              <a:gd name="connsiteY13" fmla="*/ 529738 h 569180"/>
              <a:gd name="connsiteX14" fmla="*/ 296931 w 607282"/>
              <a:gd name="connsiteY14" fmla="*/ 529738 h 569180"/>
              <a:gd name="connsiteX15" fmla="*/ 388426 w 607282"/>
              <a:gd name="connsiteY15" fmla="*/ 438433 h 569180"/>
              <a:gd name="connsiteX16" fmla="*/ 388426 w 607282"/>
              <a:gd name="connsiteY16" fmla="*/ 434597 h 569180"/>
              <a:gd name="connsiteX17" fmla="*/ 38140 w 607282"/>
              <a:gd name="connsiteY17" fmla="*/ 145929 h 569180"/>
              <a:gd name="connsiteX18" fmla="*/ 38255 w 607282"/>
              <a:gd name="connsiteY18" fmla="*/ 145929 h 569180"/>
              <a:gd name="connsiteX19" fmla="*/ 66358 w 607282"/>
              <a:gd name="connsiteY19" fmla="*/ 145929 h 569180"/>
              <a:gd name="connsiteX20" fmla="*/ 68767 w 607282"/>
              <a:gd name="connsiteY20" fmla="*/ 161160 h 569180"/>
              <a:gd name="connsiteX21" fmla="*/ 76453 w 607282"/>
              <a:gd name="connsiteY21" fmla="*/ 208857 h 569180"/>
              <a:gd name="connsiteX22" fmla="*/ 82589 w 607282"/>
              <a:gd name="connsiteY22" fmla="*/ 246763 h 569180"/>
              <a:gd name="connsiteX23" fmla="*/ 92684 w 607282"/>
              <a:gd name="connsiteY23" fmla="*/ 246763 h 569180"/>
              <a:gd name="connsiteX24" fmla="*/ 99222 w 607282"/>
              <a:gd name="connsiteY24" fmla="*/ 172898 h 569180"/>
              <a:gd name="connsiteX25" fmla="*/ 91594 w 607282"/>
              <a:gd name="connsiteY25" fmla="*/ 145929 h 569180"/>
              <a:gd name="connsiteX26" fmla="*/ 136502 w 607282"/>
              <a:gd name="connsiteY26" fmla="*/ 145929 h 569180"/>
              <a:gd name="connsiteX27" fmla="*/ 128874 w 607282"/>
              <a:gd name="connsiteY27" fmla="*/ 172898 h 569180"/>
              <a:gd name="connsiteX28" fmla="*/ 135355 w 607282"/>
              <a:gd name="connsiteY28" fmla="*/ 246763 h 569180"/>
              <a:gd name="connsiteX29" fmla="*/ 145507 w 607282"/>
              <a:gd name="connsiteY29" fmla="*/ 246763 h 569180"/>
              <a:gd name="connsiteX30" fmla="*/ 153192 w 607282"/>
              <a:gd name="connsiteY30" fmla="*/ 198780 h 569180"/>
              <a:gd name="connsiteX31" fmla="*/ 161738 w 607282"/>
              <a:gd name="connsiteY31" fmla="*/ 145929 h 569180"/>
              <a:gd name="connsiteX32" fmla="*/ 336094 w 607282"/>
              <a:gd name="connsiteY32" fmla="*/ 145929 h 569180"/>
              <a:gd name="connsiteX33" fmla="*/ 374349 w 607282"/>
              <a:gd name="connsiteY33" fmla="*/ 184121 h 569180"/>
              <a:gd name="connsiteX34" fmla="*/ 336094 w 607282"/>
              <a:gd name="connsiteY34" fmla="*/ 222256 h 569180"/>
              <a:gd name="connsiteX35" fmla="*/ 189841 w 607282"/>
              <a:gd name="connsiteY35" fmla="*/ 222256 h 569180"/>
              <a:gd name="connsiteX36" fmla="*/ 189841 w 607282"/>
              <a:gd name="connsiteY36" fmla="*/ 298011 h 569180"/>
              <a:gd name="connsiteX37" fmla="*/ 189841 w 607282"/>
              <a:gd name="connsiteY37" fmla="*/ 365807 h 569180"/>
              <a:gd name="connsiteX38" fmla="*/ 189841 w 607282"/>
              <a:gd name="connsiteY38" fmla="*/ 528081 h 569180"/>
              <a:gd name="connsiteX39" fmla="*/ 151586 w 607282"/>
              <a:gd name="connsiteY39" fmla="*/ 566216 h 569180"/>
              <a:gd name="connsiteX40" fmla="*/ 114019 w 607282"/>
              <a:gd name="connsiteY40" fmla="*/ 535239 h 569180"/>
              <a:gd name="connsiteX41" fmla="*/ 76453 w 607282"/>
              <a:gd name="connsiteY41" fmla="*/ 566216 h 569180"/>
              <a:gd name="connsiteX42" fmla="*/ 38255 w 607282"/>
              <a:gd name="connsiteY42" fmla="*/ 528081 h 569180"/>
              <a:gd name="connsiteX43" fmla="*/ 38255 w 607282"/>
              <a:gd name="connsiteY43" fmla="*/ 384874 h 569180"/>
              <a:gd name="connsiteX44" fmla="*/ 0 w 607282"/>
              <a:gd name="connsiteY44" fmla="*/ 346739 h 569180"/>
              <a:gd name="connsiteX45" fmla="*/ 0 w 607282"/>
              <a:gd name="connsiteY45" fmla="*/ 184121 h 569180"/>
              <a:gd name="connsiteX46" fmla="*/ 38140 w 607282"/>
              <a:gd name="connsiteY46" fmla="*/ 145929 h 569180"/>
              <a:gd name="connsiteX47" fmla="*/ 545532 w 607282"/>
              <a:gd name="connsiteY47" fmla="*/ 89195 h 569180"/>
              <a:gd name="connsiteX48" fmla="*/ 587343 w 607282"/>
              <a:gd name="connsiteY48" fmla="*/ 89195 h 569180"/>
              <a:gd name="connsiteX49" fmla="*/ 587343 w 607282"/>
              <a:gd name="connsiteY49" fmla="*/ 124061 h 569180"/>
              <a:gd name="connsiteX50" fmla="*/ 587228 w 607282"/>
              <a:gd name="connsiteY50" fmla="*/ 124061 h 569180"/>
              <a:gd name="connsiteX51" fmla="*/ 587343 w 607282"/>
              <a:gd name="connsiteY51" fmla="*/ 324787 h 569180"/>
              <a:gd name="connsiteX52" fmla="*/ 541403 w 607282"/>
              <a:gd name="connsiteY52" fmla="*/ 370989 h 569180"/>
              <a:gd name="connsiteX53" fmla="*/ 278325 w 607282"/>
              <a:gd name="connsiteY53" fmla="*/ 370531 h 569180"/>
              <a:gd name="connsiteX54" fmla="*/ 233131 w 607282"/>
              <a:gd name="connsiteY54" fmla="*/ 331027 h 569180"/>
              <a:gd name="connsiteX55" fmla="*/ 232729 w 607282"/>
              <a:gd name="connsiteY55" fmla="*/ 233012 h 569180"/>
              <a:gd name="connsiteX56" fmla="*/ 272475 w 607282"/>
              <a:gd name="connsiteY56" fmla="*/ 233012 h 569180"/>
              <a:gd name="connsiteX57" fmla="*/ 272475 w 607282"/>
              <a:gd name="connsiteY57" fmla="*/ 330340 h 569180"/>
              <a:gd name="connsiteX58" fmla="*/ 545532 w 607282"/>
              <a:gd name="connsiteY58" fmla="*/ 329997 h 569180"/>
              <a:gd name="connsiteX59" fmla="*/ 545532 w 607282"/>
              <a:gd name="connsiteY59" fmla="*/ 124061 h 569180"/>
              <a:gd name="connsiteX60" fmla="*/ 231948 w 607282"/>
              <a:gd name="connsiteY60" fmla="*/ 89124 h 569180"/>
              <a:gd name="connsiteX61" fmla="*/ 273793 w 607282"/>
              <a:gd name="connsiteY61" fmla="*/ 89124 h 569180"/>
              <a:gd name="connsiteX62" fmla="*/ 273793 w 607282"/>
              <a:gd name="connsiteY62" fmla="*/ 135062 h 569180"/>
              <a:gd name="connsiteX63" fmla="*/ 272240 w 607282"/>
              <a:gd name="connsiteY63" fmla="*/ 135062 h 569180"/>
              <a:gd name="connsiteX64" fmla="*/ 233571 w 607282"/>
              <a:gd name="connsiteY64" fmla="*/ 135062 h 569180"/>
              <a:gd name="connsiteX65" fmla="*/ 231948 w 607282"/>
              <a:gd name="connsiteY65" fmla="*/ 135062 h 569180"/>
              <a:gd name="connsiteX66" fmla="*/ 409822 w 607282"/>
              <a:gd name="connsiteY66" fmla="*/ 10232 h 569180"/>
              <a:gd name="connsiteX67" fmla="*/ 437925 w 607282"/>
              <a:gd name="connsiteY67" fmla="*/ 35771 h 569180"/>
              <a:gd name="connsiteX68" fmla="*/ 447503 w 607282"/>
              <a:gd name="connsiteY68" fmla="*/ 35771 h 569180"/>
              <a:gd name="connsiteX69" fmla="*/ 578958 w 607282"/>
              <a:gd name="connsiteY69" fmla="*/ 35828 h 569180"/>
              <a:gd name="connsiteX70" fmla="*/ 593009 w 607282"/>
              <a:gd name="connsiteY70" fmla="*/ 37031 h 569180"/>
              <a:gd name="connsiteX71" fmla="*/ 607233 w 607282"/>
              <a:gd name="connsiteY71" fmla="*/ 57874 h 569180"/>
              <a:gd name="connsiteX72" fmla="*/ 587159 w 607282"/>
              <a:gd name="connsiteY72" fmla="*/ 76828 h 569180"/>
              <a:gd name="connsiteX73" fmla="*/ 579244 w 607282"/>
              <a:gd name="connsiteY73" fmla="*/ 76885 h 569180"/>
              <a:gd name="connsiteX74" fmla="*/ 241776 w 607282"/>
              <a:gd name="connsiteY74" fmla="*/ 76885 h 569180"/>
              <a:gd name="connsiteX75" fmla="*/ 233861 w 607282"/>
              <a:gd name="connsiteY75" fmla="*/ 76828 h 569180"/>
              <a:gd name="connsiteX76" fmla="*/ 212984 w 607282"/>
              <a:gd name="connsiteY76" fmla="*/ 56672 h 569180"/>
              <a:gd name="connsiteX77" fmla="*/ 233287 w 607282"/>
              <a:gd name="connsiteY77" fmla="*/ 35943 h 569180"/>
              <a:gd name="connsiteX78" fmla="*/ 244357 w 607282"/>
              <a:gd name="connsiteY78" fmla="*/ 35771 h 569180"/>
              <a:gd name="connsiteX79" fmla="*/ 371108 w 607282"/>
              <a:gd name="connsiteY79" fmla="*/ 35771 h 569180"/>
              <a:gd name="connsiteX80" fmla="*/ 381661 w 607282"/>
              <a:gd name="connsiteY80" fmla="*/ 35771 h 569180"/>
              <a:gd name="connsiteX81" fmla="*/ 409822 w 607282"/>
              <a:gd name="connsiteY81" fmla="*/ 10232 h 569180"/>
              <a:gd name="connsiteX82" fmla="*/ 114034 w 607282"/>
              <a:gd name="connsiteY82" fmla="*/ 0 h 569180"/>
              <a:gd name="connsiteX83" fmla="*/ 182130 w 607282"/>
              <a:gd name="connsiteY83" fmla="*/ 67990 h 569180"/>
              <a:gd name="connsiteX84" fmla="*/ 114034 w 607282"/>
              <a:gd name="connsiteY84" fmla="*/ 135980 h 569180"/>
              <a:gd name="connsiteX85" fmla="*/ 45938 w 607282"/>
              <a:gd name="connsiteY85" fmla="*/ 67990 h 569180"/>
              <a:gd name="connsiteX86" fmla="*/ 114034 w 607282"/>
              <a:gd name="connsiteY86" fmla="*/ 0 h 5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607282" h="569180">
                <a:moveTo>
                  <a:pt x="388426" y="385710"/>
                </a:moveTo>
                <a:lnTo>
                  <a:pt x="431276" y="385710"/>
                </a:lnTo>
                <a:lnTo>
                  <a:pt x="431276" y="438433"/>
                </a:lnTo>
                <a:lnTo>
                  <a:pt x="522771" y="529738"/>
                </a:lnTo>
                <a:cubicBezTo>
                  <a:pt x="531146" y="538096"/>
                  <a:pt x="531146" y="551606"/>
                  <a:pt x="522771" y="559964"/>
                </a:cubicBezTo>
                <a:cubicBezTo>
                  <a:pt x="514396" y="568321"/>
                  <a:pt x="500858" y="568321"/>
                  <a:pt x="492483" y="559964"/>
                </a:cubicBezTo>
                <a:lnTo>
                  <a:pt x="431276" y="498941"/>
                </a:lnTo>
                <a:lnTo>
                  <a:pt x="431276" y="547771"/>
                </a:lnTo>
                <a:cubicBezTo>
                  <a:pt x="431276" y="559563"/>
                  <a:pt x="421697" y="569180"/>
                  <a:pt x="409822" y="569180"/>
                </a:cubicBezTo>
                <a:cubicBezTo>
                  <a:pt x="398005" y="569180"/>
                  <a:pt x="388426" y="559563"/>
                  <a:pt x="388426" y="547771"/>
                </a:cubicBezTo>
                <a:lnTo>
                  <a:pt x="388426" y="498941"/>
                </a:lnTo>
                <a:lnTo>
                  <a:pt x="327276" y="559964"/>
                </a:lnTo>
                <a:cubicBezTo>
                  <a:pt x="318901" y="568321"/>
                  <a:pt x="305306" y="568321"/>
                  <a:pt x="296988" y="559964"/>
                </a:cubicBezTo>
                <a:cubicBezTo>
                  <a:pt x="288613" y="551606"/>
                  <a:pt x="288613" y="538096"/>
                  <a:pt x="296988" y="529738"/>
                </a:cubicBezTo>
                <a:lnTo>
                  <a:pt x="296931" y="529738"/>
                </a:lnTo>
                <a:lnTo>
                  <a:pt x="388426" y="438433"/>
                </a:lnTo>
                <a:lnTo>
                  <a:pt x="388426" y="434597"/>
                </a:lnTo>
                <a:close/>
                <a:moveTo>
                  <a:pt x="38140" y="145929"/>
                </a:moveTo>
                <a:lnTo>
                  <a:pt x="38255" y="145929"/>
                </a:lnTo>
                <a:lnTo>
                  <a:pt x="66358" y="145929"/>
                </a:lnTo>
                <a:lnTo>
                  <a:pt x="68767" y="161160"/>
                </a:lnTo>
                <a:lnTo>
                  <a:pt x="76453" y="208857"/>
                </a:lnTo>
                <a:lnTo>
                  <a:pt x="82589" y="246763"/>
                </a:lnTo>
                <a:lnTo>
                  <a:pt x="92684" y="246763"/>
                </a:lnTo>
                <a:lnTo>
                  <a:pt x="99222" y="172898"/>
                </a:lnTo>
                <a:lnTo>
                  <a:pt x="91594" y="145929"/>
                </a:lnTo>
                <a:lnTo>
                  <a:pt x="136502" y="145929"/>
                </a:lnTo>
                <a:lnTo>
                  <a:pt x="128874" y="172898"/>
                </a:lnTo>
                <a:lnTo>
                  <a:pt x="135355" y="246763"/>
                </a:lnTo>
                <a:lnTo>
                  <a:pt x="145507" y="246763"/>
                </a:lnTo>
                <a:lnTo>
                  <a:pt x="153192" y="198780"/>
                </a:lnTo>
                <a:lnTo>
                  <a:pt x="161738" y="145929"/>
                </a:lnTo>
                <a:lnTo>
                  <a:pt x="336094" y="145929"/>
                </a:lnTo>
                <a:cubicBezTo>
                  <a:pt x="357200" y="145929"/>
                  <a:pt x="374349" y="162992"/>
                  <a:pt x="374349" y="184121"/>
                </a:cubicBezTo>
                <a:cubicBezTo>
                  <a:pt x="374349" y="205193"/>
                  <a:pt x="357200" y="222256"/>
                  <a:pt x="336094" y="222256"/>
                </a:cubicBezTo>
                <a:lnTo>
                  <a:pt x="189841" y="222256"/>
                </a:lnTo>
                <a:lnTo>
                  <a:pt x="189841" y="298011"/>
                </a:lnTo>
                <a:lnTo>
                  <a:pt x="189841" y="365807"/>
                </a:lnTo>
                <a:lnTo>
                  <a:pt x="189841" y="528081"/>
                </a:lnTo>
                <a:cubicBezTo>
                  <a:pt x="189841" y="549153"/>
                  <a:pt x="172692" y="566216"/>
                  <a:pt x="151586" y="566216"/>
                </a:cubicBezTo>
                <a:cubicBezTo>
                  <a:pt x="132889" y="566216"/>
                  <a:pt x="117403" y="552875"/>
                  <a:pt x="114019" y="535239"/>
                </a:cubicBezTo>
                <a:cubicBezTo>
                  <a:pt x="110693" y="552875"/>
                  <a:pt x="95150" y="566216"/>
                  <a:pt x="76453" y="566216"/>
                </a:cubicBezTo>
                <a:cubicBezTo>
                  <a:pt x="55346" y="566216"/>
                  <a:pt x="38255" y="549153"/>
                  <a:pt x="38255" y="528081"/>
                </a:cubicBezTo>
                <a:lnTo>
                  <a:pt x="38255" y="384874"/>
                </a:lnTo>
                <a:cubicBezTo>
                  <a:pt x="17091" y="384874"/>
                  <a:pt x="0" y="367811"/>
                  <a:pt x="0" y="346739"/>
                </a:cubicBezTo>
                <a:lnTo>
                  <a:pt x="0" y="184121"/>
                </a:lnTo>
                <a:cubicBezTo>
                  <a:pt x="0" y="163050"/>
                  <a:pt x="17091" y="145986"/>
                  <a:pt x="38140" y="145929"/>
                </a:cubicBezTo>
                <a:close/>
                <a:moveTo>
                  <a:pt x="545532" y="89195"/>
                </a:moveTo>
                <a:lnTo>
                  <a:pt x="587343" y="89195"/>
                </a:lnTo>
                <a:lnTo>
                  <a:pt x="587343" y="124061"/>
                </a:lnTo>
                <a:lnTo>
                  <a:pt x="587228" y="124061"/>
                </a:lnTo>
                <a:cubicBezTo>
                  <a:pt x="587228" y="190989"/>
                  <a:pt x="587056" y="257859"/>
                  <a:pt x="587343" y="324787"/>
                </a:cubicBezTo>
                <a:cubicBezTo>
                  <a:pt x="587457" y="352669"/>
                  <a:pt x="567498" y="371104"/>
                  <a:pt x="541403" y="370989"/>
                </a:cubicBezTo>
                <a:cubicBezTo>
                  <a:pt x="453710" y="370646"/>
                  <a:pt x="366018" y="370703"/>
                  <a:pt x="278325" y="370531"/>
                </a:cubicBezTo>
                <a:cubicBezTo>
                  <a:pt x="255441" y="370474"/>
                  <a:pt x="234278" y="353527"/>
                  <a:pt x="233131" y="331027"/>
                </a:cubicBezTo>
                <a:cubicBezTo>
                  <a:pt x="231525" y="299024"/>
                  <a:pt x="232729" y="266905"/>
                  <a:pt x="232729" y="233012"/>
                </a:cubicBezTo>
                <a:lnTo>
                  <a:pt x="272475" y="233012"/>
                </a:lnTo>
                <a:lnTo>
                  <a:pt x="272475" y="330340"/>
                </a:lnTo>
                <a:cubicBezTo>
                  <a:pt x="364010" y="330512"/>
                  <a:pt x="453997" y="330398"/>
                  <a:pt x="545532" y="329997"/>
                </a:cubicBezTo>
                <a:lnTo>
                  <a:pt x="545532" y="124061"/>
                </a:lnTo>
                <a:close/>
                <a:moveTo>
                  <a:pt x="231948" y="89124"/>
                </a:moveTo>
                <a:lnTo>
                  <a:pt x="273793" y="89124"/>
                </a:lnTo>
                <a:lnTo>
                  <a:pt x="273793" y="135062"/>
                </a:lnTo>
                <a:lnTo>
                  <a:pt x="272240" y="135062"/>
                </a:lnTo>
                <a:lnTo>
                  <a:pt x="233571" y="135062"/>
                </a:lnTo>
                <a:lnTo>
                  <a:pt x="231948" y="135062"/>
                </a:lnTo>
                <a:close/>
                <a:moveTo>
                  <a:pt x="409822" y="10232"/>
                </a:moveTo>
                <a:cubicBezTo>
                  <a:pt x="424505" y="10232"/>
                  <a:pt x="436606" y="21455"/>
                  <a:pt x="437925" y="35771"/>
                </a:cubicBezTo>
                <a:lnTo>
                  <a:pt x="447503" y="35771"/>
                </a:lnTo>
                <a:cubicBezTo>
                  <a:pt x="491321" y="35771"/>
                  <a:pt x="535140" y="35771"/>
                  <a:pt x="578958" y="35828"/>
                </a:cubicBezTo>
                <a:cubicBezTo>
                  <a:pt x="583661" y="35828"/>
                  <a:pt x="588650" y="35599"/>
                  <a:pt x="593009" y="37031"/>
                </a:cubicBezTo>
                <a:cubicBezTo>
                  <a:pt x="601326" y="39665"/>
                  <a:pt x="607921" y="50144"/>
                  <a:pt x="607233" y="57874"/>
                </a:cubicBezTo>
                <a:cubicBezTo>
                  <a:pt x="606315" y="67380"/>
                  <a:pt x="597368" y="75912"/>
                  <a:pt x="587159" y="76828"/>
                </a:cubicBezTo>
                <a:cubicBezTo>
                  <a:pt x="584521" y="77057"/>
                  <a:pt x="581883" y="76885"/>
                  <a:pt x="579244" y="76885"/>
                </a:cubicBezTo>
                <a:cubicBezTo>
                  <a:pt x="466774" y="76885"/>
                  <a:pt x="354304" y="76885"/>
                  <a:pt x="241776" y="76885"/>
                </a:cubicBezTo>
                <a:cubicBezTo>
                  <a:pt x="239137" y="76885"/>
                  <a:pt x="236499" y="77057"/>
                  <a:pt x="233861" y="76828"/>
                </a:cubicBezTo>
                <a:cubicBezTo>
                  <a:pt x="223078" y="75740"/>
                  <a:pt x="213156" y="66120"/>
                  <a:pt x="212984" y="56672"/>
                </a:cubicBezTo>
                <a:cubicBezTo>
                  <a:pt x="212755" y="47166"/>
                  <a:pt x="222448" y="37088"/>
                  <a:pt x="233287" y="35943"/>
                </a:cubicBezTo>
                <a:cubicBezTo>
                  <a:pt x="236958" y="35542"/>
                  <a:pt x="240686" y="35771"/>
                  <a:pt x="244357" y="35771"/>
                </a:cubicBezTo>
                <a:cubicBezTo>
                  <a:pt x="286626" y="35771"/>
                  <a:pt x="328839" y="35771"/>
                  <a:pt x="371108" y="35771"/>
                </a:cubicBezTo>
                <a:lnTo>
                  <a:pt x="381661" y="35771"/>
                </a:lnTo>
                <a:cubicBezTo>
                  <a:pt x="382981" y="21455"/>
                  <a:pt x="395082" y="10232"/>
                  <a:pt x="409822" y="10232"/>
                </a:cubicBezTo>
                <a:close/>
                <a:moveTo>
                  <a:pt x="114034" y="0"/>
                </a:moveTo>
                <a:cubicBezTo>
                  <a:pt x="151642" y="0"/>
                  <a:pt x="182130" y="30440"/>
                  <a:pt x="182130" y="67990"/>
                </a:cubicBezTo>
                <a:cubicBezTo>
                  <a:pt x="182130" y="105540"/>
                  <a:pt x="151642" y="135980"/>
                  <a:pt x="114034" y="135980"/>
                </a:cubicBezTo>
                <a:cubicBezTo>
                  <a:pt x="76426" y="135980"/>
                  <a:pt x="45938" y="105540"/>
                  <a:pt x="45938" y="67990"/>
                </a:cubicBezTo>
                <a:cubicBezTo>
                  <a:pt x="45938" y="30440"/>
                  <a:pt x="76426" y="0"/>
                  <a:pt x="114034" y="0"/>
                </a:cubicBezTo>
                <a:close/>
              </a:path>
            </a:pathLst>
          </a:custGeom>
          <a:solidFill>
            <a:srgbClr val="3F3B3A"/>
          </a:solidFill>
          <a:ln w="12700" cap="flat">
            <a:noFill/>
            <a:miter lim="400000"/>
          </a:ln>
          <a:effectLst/>
        </p:spPr>
        <p:txBody>
          <a:bodyPr wrap="square" lIns="91439" tIns="91439" rIns="91439" bIns="91439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7FC733E-4E96-45E0-B9E5-24BD4CBE51BD}"/>
              </a:ext>
            </a:extLst>
          </p:cNvPr>
          <p:cNvCxnSpPr>
            <a:cxnSpLocks/>
          </p:cNvCxnSpPr>
          <p:nvPr/>
        </p:nvCxnSpPr>
        <p:spPr>
          <a:xfrm>
            <a:off x="1024175" y="4221088"/>
            <a:ext cx="7056784" cy="0"/>
          </a:xfrm>
          <a:prstGeom prst="line">
            <a:avLst/>
          </a:prstGeom>
          <a:ln w="15875">
            <a:solidFill>
              <a:srgbClr val="3F3B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7FC733E-4E96-45E0-B9E5-24BD4CBE51BD}"/>
              </a:ext>
            </a:extLst>
          </p:cNvPr>
          <p:cNvCxnSpPr>
            <a:cxnSpLocks/>
          </p:cNvCxnSpPr>
          <p:nvPr/>
        </p:nvCxnSpPr>
        <p:spPr>
          <a:xfrm>
            <a:off x="978293" y="2625728"/>
            <a:ext cx="7056784" cy="0"/>
          </a:xfrm>
          <a:prstGeom prst="line">
            <a:avLst/>
          </a:prstGeom>
          <a:ln w="15875">
            <a:solidFill>
              <a:srgbClr val="3F3B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4185" y="2790817"/>
            <a:ext cx="7886700" cy="1325563"/>
          </a:xfrm>
        </p:spPr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研究写作方法论</a:t>
            </a: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17873210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研究范式</a:t>
            </a:r>
            <a:endParaRPr lang="zh-CN" altLang="en-US" dirty="0"/>
          </a:p>
        </p:txBody>
      </p:sp>
      <p:sp>
        <p:nvSpPr>
          <p:cNvPr id="14" name="圆角矩形 13"/>
          <p:cNvSpPr/>
          <p:nvPr/>
        </p:nvSpPr>
        <p:spPr bwMode="auto">
          <a:xfrm>
            <a:off x="3193902" y="1531672"/>
            <a:ext cx="2736304" cy="1656184"/>
          </a:xfrm>
          <a:prstGeom prst="roundRect">
            <a:avLst/>
          </a:prstGeom>
          <a:solidFill>
            <a:srgbClr val="FFFF00"/>
          </a:solidFill>
          <a:ln>
            <a:headEnd type="none" w="med" len="med"/>
            <a:tailEnd type="none" w="med" len="med"/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32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预测性</a:t>
            </a:r>
            <a:r>
              <a:rPr lang="zh-CN" altLang="en-US" sz="3200" dirty="0" smtClean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分析</a:t>
            </a:r>
            <a:endParaRPr lang="en-US" altLang="zh-CN" sz="3200" dirty="0" smtClean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8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（机器学习）</a:t>
            </a:r>
            <a:endParaRPr lang="zh-CN" altLang="en-US" sz="28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5" name="圆角矩形 14"/>
          <p:cNvSpPr/>
          <p:nvPr/>
        </p:nvSpPr>
        <p:spPr bwMode="auto">
          <a:xfrm>
            <a:off x="3193902" y="3881333"/>
            <a:ext cx="2711418" cy="1728192"/>
          </a:xfrm>
          <a:prstGeom prst="roundRect">
            <a:avLst/>
          </a:prstGeom>
          <a:solidFill>
            <a:srgbClr val="56E8C5"/>
          </a:solidFill>
          <a:ln>
            <a:headEnd type="none" w="med" len="med"/>
            <a:tailEnd type="none" w="med" len="med"/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描述性分析</a:t>
            </a:r>
            <a:endParaRPr kumimoji="0" lang="en-US" altLang="zh-CN" sz="3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8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（统计图、云图）</a:t>
            </a:r>
            <a:endParaRPr kumimoji="0" lang="zh-CN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右箭头 2"/>
          <p:cNvSpPr/>
          <p:nvPr/>
        </p:nvSpPr>
        <p:spPr bwMode="auto">
          <a:xfrm rot="16200000">
            <a:off x="4357148" y="3079844"/>
            <a:ext cx="648072" cy="864096"/>
          </a:xfrm>
          <a:prstGeom prst="rightArrow">
            <a:avLst/>
          </a:prstGeom>
          <a:ln w="15875">
            <a:prstDash val="dash"/>
            <a:headEnd type="none" w="med" len="med"/>
            <a:tailEnd type="none" w="med" len="med"/>
          </a:ln>
          <a:ex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i="0" u="none" strike="noStrike" normalizeH="0" baseline="0" smtClean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rial" pitchFamily="34" charset="0"/>
            </a:endParaRPr>
          </a:p>
        </p:txBody>
      </p:sp>
      <p:sp>
        <p:nvSpPr>
          <p:cNvPr id="7" name="右箭头 6"/>
          <p:cNvSpPr/>
          <p:nvPr/>
        </p:nvSpPr>
        <p:spPr bwMode="auto">
          <a:xfrm>
            <a:off x="2418918" y="3200562"/>
            <a:ext cx="449683" cy="761858"/>
          </a:xfrm>
          <a:prstGeom prst="rightArrow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i="0" u="none" strike="noStrike" normalizeH="0" baseline="0" smtClean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rial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247" y="3966669"/>
            <a:ext cx="1437132" cy="1557520"/>
          </a:xfrm>
          <a:prstGeom prst="rect">
            <a:avLst/>
          </a:prstGeom>
        </p:spPr>
      </p:pic>
      <p:sp>
        <p:nvSpPr>
          <p:cNvPr id="16" name="圆角矩形 15"/>
          <p:cNvSpPr/>
          <p:nvPr/>
        </p:nvSpPr>
        <p:spPr bwMode="auto">
          <a:xfrm>
            <a:off x="6902711" y="1518585"/>
            <a:ext cx="1626810" cy="1656184"/>
          </a:xfrm>
          <a:prstGeom prst="roundRect">
            <a:avLst/>
          </a:prstGeom>
          <a:solidFill>
            <a:srgbClr val="CCFFCC"/>
          </a:solidFill>
          <a:ln>
            <a:headEnd type="none" w="med" len="med"/>
            <a:tailEnd type="none" w="med" len="med"/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3200" dirty="0" smtClean="0">
                <a:solidFill>
                  <a:srgbClr val="0000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预测</a:t>
            </a:r>
            <a:endParaRPr lang="en-US" altLang="zh-CN" sz="3200" dirty="0" smtClean="0">
              <a:solidFill>
                <a:srgbClr val="0000FF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3200" dirty="0" smtClean="0">
                <a:solidFill>
                  <a:srgbClr val="0000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推荐</a:t>
            </a:r>
            <a:endParaRPr lang="zh-CN" altLang="en-US" sz="2800" dirty="0">
              <a:solidFill>
                <a:srgbClr val="0000FF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7" name="圆角矩形 16"/>
          <p:cNvSpPr/>
          <p:nvPr/>
        </p:nvSpPr>
        <p:spPr bwMode="auto">
          <a:xfrm>
            <a:off x="6902711" y="3881333"/>
            <a:ext cx="1626810" cy="1656184"/>
          </a:xfrm>
          <a:prstGeom prst="roundRect">
            <a:avLst/>
          </a:prstGeom>
          <a:solidFill>
            <a:srgbClr val="CCFFCC"/>
          </a:solidFill>
          <a:ln>
            <a:headEnd type="none" w="med" len="med"/>
            <a:tailEnd type="none" w="med" len="med"/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1" hangingPunct="1">
              <a:lnSpc>
                <a:spcPct val="150000"/>
              </a:lnSpc>
            </a:pPr>
            <a:r>
              <a:rPr lang="zh-CN" altLang="en-US" sz="3200" dirty="0">
                <a:solidFill>
                  <a:srgbClr val="0000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模拟</a:t>
            </a:r>
            <a:endParaRPr lang="en-US" altLang="zh-CN" sz="3200" dirty="0">
              <a:solidFill>
                <a:srgbClr val="0000FF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ctr" eaLnBrk="1" hangingPunct="1">
              <a:lnSpc>
                <a:spcPct val="150000"/>
              </a:lnSpc>
            </a:pPr>
            <a:r>
              <a:rPr lang="zh-CN" altLang="en-US" sz="3200" dirty="0">
                <a:solidFill>
                  <a:srgbClr val="0000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仿真</a:t>
            </a:r>
          </a:p>
        </p:txBody>
      </p:sp>
      <p:sp>
        <p:nvSpPr>
          <p:cNvPr id="18" name="圆角矩形 17"/>
          <p:cNvSpPr/>
          <p:nvPr/>
        </p:nvSpPr>
        <p:spPr bwMode="auto">
          <a:xfrm>
            <a:off x="6692589" y="1216767"/>
            <a:ext cx="2088232" cy="4716525"/>
          </a:xfrm>
          <a:prstGeom prst="roundRect">
            <a:avLst/>
          </a:prstGeom>
          <a:noFill/>
          <a:ln w="12700">
            <a:solidFill>
              <a:srgbClr val="FF0000"/>
            </a:solidFill>
            <a:prstDash val="dash"/>
            <a:headEnd type="none" w="med" len="med"/>
            <a:tailEnd type="none" w="med" len="med"/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zh-CN" altLang="en-US" sz="28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9" name="圆角矩形 18"/>
          <p:cNvSpPr/>
          <p:nvPr/>
        </p:nvSpPr>
        <p:spPr bwMode="auto">
          <a:xfrm>
            <a:off x="2880984" y="1216767"/>
            <a:ext cx="3302021" cy="4716525"/>
          </a:xfrm>
          <a:prstGeom prst="roundRect">
            <a:avLst/>
          </a:prstGeom>
          <a:noFill/>
          <a:ln w="12700">
            <a:solidFill>
              <a:srgbClr val="FF0000"/>
            </a:solidFill>
            <a:prstDash val="dash"/>
            <a:headEnd type="none" w="med" len="med"/>
            <a:tailEnd type="none" w="med" len="med"/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zh-CN" altLang="en-US" sz="28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691" y="1607561"/>
            <a:ext cx="1257300" cy="13525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4"/>
          <a:srcRect l="-1" t="66551" r="4344"/>
          <a:stretch/>
        </p:blipFill>
        <p:spPr>
          <a:xfrm>
            <a:off x="690792" y="3032785"/>
            <a:ext cx="583120" cy="618079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4"/>
          <a:srcRect t="35377" r="3155" b="33449"/>
          <a:stretch/>
        </p:blipFill>
        <p:spPr>
          <a:xfrm>
            <a:off x="1349145" y="3053792"/>
            <a:ext cx="590364" cy="576064"/>
          </a:xfrm>
          <a:prstGeom prst="rect">
            <a:avLst/>
          </a:prstGeom>
        </p:spPr>
      </p:pic>
      <p:sp>
        <p:nvSpPr>
          <p:cNvPr id="21" name="圆角矩形 20"/>
          <p:cNvSpPr/>
          <p:nvPr/>
        </p:nvSpPr>
        <p:spPr bwMode="auto">
          <a:xfrm>
            <a:off x="385732" y="1223228"/>
            <a:ext cx="1973858" cy="4716525"/>
          </a:xfrm>
          <a:prstGeom prst="roundRect">
            <a:avLst/>
          </a:prstGeom>
          <a:noFill/>
          <a:ln w="12700">
            <a:solidFill>
              <a:srgbClr val="FF0000"/>
            </a:solidFill>
            <a:prstDash val="dash"/>
            <a:headEnd type="none" w="med" len="med"/>
            <a:tailEnd type="none" w="med" len="med"/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zh-CN" altLang="en-US" sz="28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2" name="圆角矩形 28"/>
          <p:cNvSpPr>
            <a:spLocks noChangeArrowheads="1"/>
          </p:cNvSpPr>
          <p:nvPr/>
        </p:nvSpPr>
        <p:spPr bwMode="auto">
          <a:xfrm>
            <a:off x="1023269" y="5952810"/>
            <a:ext cx="476250" cy="550863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rgbClr val="2D7693"/>
              </a:buClr>
              <a:buSzPct val="70000"/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C3A4C"/>
              </a:buClr>
              <a:buSzPct val="70000"/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4200"/>
              </a:spcBef>
              <a:buClrTx/>
              <a:buSzTx/>
              <a:buFontTx/>
              <a:buNone/>
            </a:pPr>
            <a:r>
              <a:rPr lang="zh-CN" altLang="en-US" sz="3200" dirty="0" smtClean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大数据</a:t>
            </a:r>
            <a:endParaRPr lang="zh-CN" altLang="en-US" sz="2400" dirty="0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3" name="圆角矩形 28"/>
          <p:cNvSpPr>
            <a:spLocks noChangeArrowheads="1"/>
          </p:cNvSpPr>
          <p:nvPr/>
        </p:nvSpPr>
        <p:spPr bwMode="auto">
          <a:xfrm>
            <a:off x="4311774" y="5996168"/>
            <a:ext cx="476250" cy="550863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rgbClr val="2D7693"/>
              </a:buClr>
              <a:buSzPct val="70000"/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C3A4C"/>
              </a:buClr>
              <a:buSzPct val="70000"/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4200"/>
              </a:spcBef>
              <a:buClrTx/>
              <a:buSzTx/>
              <a:buFontTx/>
              <a:buNone/>
            </a:pPr>
            <a:r>
              <a:rPr lang="zh-CN" altLang="en-US" sz="3200" dirty="0" smtClean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分析</a:t>
            </a:r>
            <a:endParaRPr lang="zh-CN" altLang="en-US" sz="2400" dirty="0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4" name="圆角矩形 28"/>
          <p:cNvSpPr>
            <a:spLocks noChangeArrowheads="1"/>
          </p:cNvSpPr>
          <p:nvPr/>
        </p:nvSpPr>
        <p:spPr bwMode="auto">
          <a:xfrm>
            <a:off x="7460038" y="5952810"/>
            <a:ext cx="476250" cy="550863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rgbClr val="2D7693"/>
              </a:buClr>
              <a:buSzPct val="70000"/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C3A4C"/>
              </a:buClr>
              <a:buSzPct val="70000"/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4200"/>
              </a:spcBef>
              <a:buClrTx/>
              <a:buSzTx/>
              <a:buFontTx/>
              <a:buNone/>
            </a:pPr>
            <a:r>
              <a:rPr lang="zh-CN" altLang="en-US" sz="3200" dirty="0" smtClean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管理决策</a:t>
            </a:r>
            <a:endParaRPr lang="zh-CN" altLang="en-US" sz="2400" dirty="0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5" name="右箭头 24"/>
          <p:cNvSpPr/>
          <p:nvPr/>
        </p:nvSpPr>
        <p:spPr bwMode="auto">
          <a:xfrm>
            <a:off x="6238615" y="3174769"/>
            <a:ext cx="449683" cy="761858"/>
          </a:xfrm>
          <a:prstGeom prst="rightArrow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i="0" u="none" strike="noStrike" normalizeH="0" baseline="0" smtClean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4491572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圆角矩形 8"/>
          <p:cNvSpPr>
            <a:spLocks noChangeArrowheads="1"/>
          </p:cNvSpPr>
          <p:nvPr/>
        </p:nvSpPr>
        <p:spPr bwMode="auto">
          <a:xfrm>
            <a:off x="323850" y="3284315"/>
            <a:ext cx="8569325" cy="1441450"/>
          </a:xfrm>
          <a:prstGeom prst="roundRect">
            <a:avLst>
              <a:gd name="adj" fmla="val 16667"/>
            </a:avLst>
          </a:prstGeom>
          <a:solidFill>
            <a:schemeClr val="accent1">
              <a:alpha val="0"/>
            </a:schemeClr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rgbClr val="2D7693"/>
              </a:buClr>
              <a:buSzPct val="70000"/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C3A4C"/>
              </a:buClr>
              <a:buSzPct val="70000"/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 b="0">
              <a:ea typeface="楷体_GB2312" pitchFamily="49" charset="-122"/>
            </a:endParaRPr>
          </a:p>
        </p:txBody>
      </p:sp>
      <p:sp>
        <p:nvSpPr>
          <p:cNvPr id="1331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研究基本框架</a:t>
            </a:r>
          </a:p>
        </p:txBody>
      </p:sp>
      <p:sp>
        <p:nvSpPr>
          <p:cNvPr id="13317" name="圆角矩形 4"/>
          <p:cNvSpPr>
            <a:spLocks noChangeArrowheads="1"/>
          </p:cNvSpPr>
          <p:nvPr/>
        </p:nvSpPr>
        <p:spPr bwMode="auto">
          <a:xfrm>
            <a:off x="2879725" y="4022502"/>
            <a:ext cx="930275" cy="5175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rgbClr val="2D7693"/>
              </a:buClr>
              <a:buSzPct val="70000"/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C3A4C"/>
              </a:buClr>
              <a:buSzPct val="70000"/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4200"/>
              </a:spcBef>
              <a:buClrTx/>
              <a:buSzTx/>
              <a:buFontTx/>
              <a:buNone/>
            </a:pP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文本</a:t>
            </a:r>
          </a:p>
        </p:txBody>
      </p:sp>
      <p:sp>
        <p:nvSpPr>
          <p:cNvPr id="13318" name="圆角矩形 5"/>
          <p:cNvSpPr>
            <a:spLocks noChangeArrowheads="1"/>
          </p:cNvSpPr>
          <p:nvPr/>
        </p:nvSpPr>
        <p:spPr bwMode="auto">
          <a:xfrm>
            <a:off x="4241800" y="3989165"/>
            <a:ext cx="935038" cy="55086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rgbClr val="2D7693"/>
              </a:buClr>
              <a:buSzPct val="70000"/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C3A4C"/>
              </a:buClr>
              <a:buSzPct val="70000"/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4200"/>
              </a:spcBef>
              <a:buClrTx/>
              <a:buSzTx/>
              <a:buFontTx/>
              <a:buNone/>
            </a:pP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视频</a:t>
            </a:r>
          </a:p>
        </p:txBody>
      </p:sp>
      <p:sp>
        <p:nvSpPr>
          <p:cNvPr id="13319" name="圆角矩形 6"/>
          <p:cNvSpPr>
            <a:spLocks noChangeArrowheads="1"/>
          </p:cNvSpPr>
          <p:nvPr/>
        </p:nvSpPr>
        <p:spPr bwMode="auto">
          <a:xfrm>
            <a:off x="7121525" y="4022502"/>
            <a:ext cx="1584325" cy="5175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rgbClr val="2D7693"/>
              </a:buClr>
              <a:buSzPct val="70000"/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C3A4C"/>
              </a:buClr>
              <a:buSzPct val="70000"/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4200"/>
              </a:spcBef>
              <a:buClrTx/>
              <a:buSzTx/>
              <a:buFontTx/>
              <a:buNone/>
            </a:pP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社会网络</a:t>
            </a:r>
          </a:p>
        </p:txBody>
      </p:sp>
      <p:sp>
        <p:nvSpPr>
          <p:cNvPr id="13320" name="圆角矩形 7"/>
          <p:cNvSpPr>
            <a:spLocks noChangeArrowheads="1"/>
          </p:cNvSpPr>
          <p:nvPr/>
        </p:nvSpPr>
        <p:spPr bwMode="auto">
          <a:xfrm>
            <a:off x="5618163" y="3989165"/>
            <a:ext cx="1143000" cy="55086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rgbClr val="2D7693"/>
              </a:buClr>
              <a:buSzPct val="70000"/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C3A4C"/>
              </a:buClr>
              <a:buSzPct val="70000"/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4200"/>
              </a:spcBef>
              <a:buClrTx/>
              <a:buSzTx/>
              <a:buFontTx/>
              <a:buNone/>
            </a:pP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音频</a:t>
            </a:r>
          </a:p>
        </p:txBody>
      </p:sp>
      <p:sp>
        <p:nvSpPr>
          <p:cNvPr id="11" name="云形 319"/>
          <p:cNvSpPr>
            <a:spLocks/>
          </p:cNvSpPr>
          <p:nvPr/>
        </p:nvSpPr>
        <p:spPr bwMode="auto">
          <a:xfrm>
            <a:off x="1096963" y="5466804"/>
            <a:ext cx="7015162" cy="698500"/>
          </a:xfrm>
          <a:custGeom>
            <a:avLst/>
            <a:gdLst>
              <a:gd name="T0" fmla="*/ 375335 w 43200"/>
              <a:gd name="T1" fmla="*/ 283196 h 43200"/>
              <a:gd name="T2" fmla="*/ 172752 w 43200"/>
              <a:gd name="T3" fmla="*/ 274574 h 43200"/>
              <a:gd name="T4" fmla="*/ 554085 w 43200"/>
              <a:gd name="T5" fmla="*/ 377555 h 43200"/>
              <a:gd name="T6" fmla="*/ 465470 w 43200"/>
              <a:gd name="T7" fmla="*/ 381677 h 43200"/>
              <a:gd name="T8" fmla="*/ 1317872 w 43200"/>
              <a:gd name="T9" fmla="*/ 422896 h 43200"/>
              <a:gd name="T10" fmla="*/ 1264447 w 43200"/>
              <a:gd name="T11" fmla="*/ 404072 h 43200"/>
              <a:gd name="T12" fmla="*/ 2305516 w 43200"/>
              <a:gd name="T13" fmla="*/ 375954 h 43200"/>
              <a:gd name="T14" fmla="*/ 2284162 w 43200"/>
              <a:gd name="T15" fmla="*/ 396607 h 43200"/>
              <a:gd name="T16" fmla="*/ 2729558 w 43200"/>
              <a:gd name="T17" fmla="*/ 248328 h 43200"/>
              <a:gd name="T18" fmla="*/ 2989565 w 43200"/>
              <a:gd name="T19" fmla="*/ 325529 h 43200"/>
              <a:gd name="T20" fmla="*/ 3342906 w 43200"/>
              <a:gd name="T21" fmla="*/ 166108 h 43200"/>
              <a:gd name="T22" fmla="*/ 3227099 w 43200"/>
              <a:gd name="T23" fmla="*/ 195058 h 43200"/>
              <a:gd name="T24" fmla="*/ 3065064 w 43200"/>
              <a:gd name="T25" fmla="*/ 58701 h 43200"/>
              <a:gd name="T26" fmla="*/ 3071142 w 43200"/>
              <a:gd name="T27" fmla="*/ 72376 h 43200"/>
              <a:gd name="T28" fmla="*/ 2325590 w 43200"/>
              <a:gd name="T29" fmla="*/ 42755 h 43200"/>
              <a:gd name="T30" fmla="*/ 2384934 w 43200"/>
              <a:gd name="T31" fmla="*/ 25315 h 43200"/>
              <a:gd name="T32" fmla="*/ 1770785 w 43200"/>
              <a:gd name="T33" fmla="*/ 51063 h 43200"/>
              <a:gd name="T34" fmla="*/ 1799497 w 43200"/>
              <a:gd name="T35" fmla="*/ 36026 h 43200"/>
              <a:gd name="T36" fmla="*/ 1119687 w 43200"/>
              <a:gd name="T37" fmla="*/ 56170 h 43200"/>
              <a:gd name="T38" fmla="*/ 1223658 w 43200"/>
              <a:gd name="T39" fmla="*/ 70753 h 43200"/>
              <a:gd name="T40" fmla="*/ 330068 w 43200"/>
              <a:gd name="T41" fmla="*/ 170814 h 43200"/>
              <a:gd name="T42" fmla="*/ 311913 w 43200"/>
              <a:gd name="T43" fmla="*/ 155462 h 43200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w 43200"/>
              <a:gd name="T67" fmla="*/ 0 h 43200"/>
              <a:gd name="T68" fmla="*/ 43200 w 43200"/>
              <a:gd name="T69" fmla="*/ 43200 h 43200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T66" t="T67" r="T68" b="T69"/>
            <a:pathLst>
              <a:path w="43200" h="43200">
                <a:moveTo>
                  <a:pt x="3900" y="14370"/>
                </a:moveTo>
                <a:cubicBezTo>
                  <a:pt x="3629" y="11657"/>
                  <a:pt x="4261" y="8921"/>
                  <a:pt x="5623" y="6907"/>
                </a:cubicBezTo>
                <a:cubicBezTo>
                  <a:pt x="7775" y="3726"/>
                  <a:pt x="11264" y="3017"/>
                  <a:pt x="14005" y="5202"/>
                </a:cubicBezTo>
                <a:cubicBezTo>
                  <a:pt x="15678" y="909"/>
                  <a:pt x="19914" y="22"/>
                  <a:pt x="22456" y="3432"/>
                </a:cubicBezTo>
                <a:cubicBezTo>
                  <a:pt x="23097" y="1683"/>
                  <a:pt x="24328" y="474"/>
                  <a:pt x="25749" y="200"/>
                </a:cubicBezTo>
                <a:cubicBezTo>
                  <a:pt x="27313" y="-102"/>
                  <a:pt x="28875" y="770"/>
                  <a:pt x="29833" y="2481"/>
                </a:cubicBezTo>
                <a:cubicBezTo>
                  <a:pt x="31215" y="267"/>
                  <a:pt x="33501" y="-460"/>
                  <a:pt x="35463" y="690"/>
                </a:cubicBezTo>
                <a:cubicBezTo>
                  <a:pt x="36958" y="1566"/>
                  <a:pt x="38030" y="3400"/>
                  <a:pt x="38318" y="5576"/>
                </a:cubicBezTo>
                <a:cubicBezTo>
                  <a:pt x="40046" y="6218"/>
                  <a:pt x="41422" y="7998"/>
                  <a:pt x="41982" y="10318"/>
                </a:cubicBezTo>
                <a:cubicBezTo>
                  <a:pt x="42389" y="12002"/>
                  <a:pt x="42331" y="13831"/>
                  <a:pt x="41818" y="15460"/>
                </a:cubicBezTo>
                <a:cubicBezTo>
                  <a:pt x="43079" y="17694"/>
                  <a:pt x="43520" y="20590"/>
                  <a:pt x="43016" y="23322"/>
                </a:cubicBezTo>
                <a:cubicBezTo>
                  <a:pt x="42346" y="26954"/>
                  <a:pt x="40128" y="29674"/>
                  <a:pt x="37404" y="30204"/>
                </a:cubicBezTo>
                <a:cubicBezTo>
                  <a:pt x="37391" y="32471"/>
                  <a:pt x="36658" y="34621"/>
                  <a:pt x="35395" y="36101"/>
                </a:cubicBezTo>
                <a:cubicBezTo>
                  <a:pt x="33476" y="38350"/>
                  <a:pt x="30704" y="38639"/>
                  <a:pt x="28555" y="36815"/>
                </a:cubicBezTo>
                <a:cubicBezTo>
                  <a:pt x="27860" y="39948"/>
                  <a:pt x="25999" y="42343"/>
                  <a:pt x="23667" y="43106"/>
                </a:cubicBezTo>
                <a:cubicBezTo>
                  <a:pt x="20919" y="44005"/>
                  <a:pt x="18051" y="42473"/>
                  <a:pt x="16480" y="39266"/>
                </a:cubicBezTo>
                <a:cubicBezTo>
                  <a:pt x="12772" y="42310"/>
                  <a:pt x="7956" y="40599"/>
                  <a:pt x="5804" y="35472"/>
                </a:cubicBezTo>
                <a:cubicBezTo>
                  <a:pt x="3690" y="35809"/>
                  <a:pt x="1705" y="34024"/>
                  <a:pt x="1110" y="31250"/>
                </a:cubicBezTo>
                <a:cubicBezTo>
                  <a:pt x="679" y="29243"/>
                  <a:pt x="1060" y="27077"/>
                  <a:pt x="2113" y="25551"/>
                </a:cubicBezTo>
                <a:cubicBezTo>
                  <a:pt x="619" y="24354"/>
                  <a:pt x="-213" y="22057"/>
                  <a:pt x="-5" y="19704"/>
                </a:cubicBezTo>
                <a:cubicBezTo>
                  <a:pt x="239" y="16949"/>
                  <a:pt x="1845" y="14791"/>
                  <a:pt x="3863" y="14507"/>
                </a:cubicBezTo>
                <a:cubicBezTo>
                  <a:pt x="3875" y="14461"/>
                  <a:pt x="3888" y="14416"/>
                  <a:pt x="3900" y="14370"/>
                </a:cubicBezTo>
                <a:close/>
              </a:path>
              <a:path w="43200" h="43200" fill="none">
                <a:moveTo>
                  <a:pt x="4693" y="26177"/>
                </a:moveTo>
                <a:cubicBezTo>
                  <a:pt x="3809" y="26271"/>
                  <a:pt x="2925" y="25993"/>
                  <a:pt x="2160" y="25380"/>
                </a:cubicBezTo>
                <a:moveTo>
                  <a:pt x="6928" y="34899"/>
                </a:moveTo>
                <a:cubicBezTo>
                  <a:pt x="6573" y="35092"/>
                  <a:pt x="6200" y="35220"/>
                  <a:pt x="5820" y="35280"/>
                </a:cubicBezTo>
                <a:moveTo>
                  <a:pt x="16478" y="39090"/>
                </a:moveTo>
                <a:cubicBezTo>
                  <a:pt x="16211" y="38544"/>
                  <a:pt x="15987" y="37961"/>
                  <a:pt x="15810" y="37350"/>
                </a:cubicBezTo>
                <a:moveTo>
                  <a:pt x="28827" y="34751"/>
                </a:moveTo>
                <a:cubicBezTo>
                  <a:pt x="28788" y="35398"/>
                  <a:pt x="28698" y="36038"/>
                  <a:pt x="28560" y="36660"/>
                </a:cubicBezTo>
                <a:moveTo>
                  <a:pt x="34129" y="22954"/>
                </a:moveTo>
                <a:cubicBezTo>
                  <a:pt x="36133" y="24282"/>
                  <a:pt x="37398" y="27058"/>
                  <a:pt x="37380" y="30090"/>
                </a:cubicBezTo>
                <a:moveTo>
                  <a:pt x="41798" y="15354"/>
                </a:moveTo>
                <a:cubicBezTo>
                  <a:pt x="41473" y="16386"/>
                  <a:pt x="40978" y="17302"/>
                  <a:pt x="40350" y="18030"/>
                </a:cubicBezTo>
                <a:moveTo>
                  <a:pt x="38324" y="5426"/>
                </a:moveTo>
                <a:cubicBezTo>
                  <a:pt x="38379" y="5843"/>
                  <a:pt x="38405" y="6266"/>
                  <a:pt x="38400" y="6690"/>
                </a:cubicBezTo>
                <a:moveTo>
                  <a:pt x="29078" y="3952"/>
                </a:moveTo>
                <a:cubicBezTo>
                  <a:pt x="29267" y="3369"/>
                  <a:pt x="29516" y="2826"/>
                  <a:pt x="29820" y="2340"/>
                </a:cubicBezTo>
                <a:moveTo>
                  <a:pt x="22141" y="4720"/>
                </a:moveTo>
                <a:cubicBezTo>
                  <a:pt x="22218" y="4238"/>
                  <a:pt x="22339" y="3771"/>
                  <a:pt x="22500" y="3330"/>
                </a:cubicBezTo>
                <a:moveTo>
                  <a:pt x="14000" y="5192"/>
                </a:moveTo>
                <a:cubicBezTo>
                  <a:pt x="14472" y="5568"/>
                  <a:pt x="14908" y="6021"/>
                  <a:pt x="15300" y="6540"/>
                </a:cubicBezTo>
                <a:moveTo>
                  <a:pt x="4127" y="15789"/>
                </a:moveTo>
                <a:cubicBezTo>
                  <a:pt x="4024" y="15325"/>
                  <a:pt x="3948" y="14851"/>
                  <a:pt x="3900" y="14370"/>
                </a:cubicBezTo>
              </a:path>
            </a:pathLst>
          </a:custGeom>
          <a:solidFill>
            <a:srgbClr val="00B0F0">
              <a:alpha val="23000"/>
            </a:srgbClr>
          </a:solidFill>
          <a:ln w="9525" algn="ctr">
            <a:solidFill>
              <a:srgbClr val="4A7EBB"/>
            </a:solidFill>
            <a:miter lim="800000"/>
            <a:headEnd/>
            <a:tailEnd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</p:spPr>
        <p:txBody>
          <a:bodyPr anchor="ctr" upright="1"/>
          <a:lstStyle/>
          <a:p>
            <a:pPr algn="ctr" eaLnBrk="1" hangingPunct="1">
              <a:lnSpc>
                <a:spcPts val="2000"/>
              </a:lnSpc>
              <a:spcAft>
                <a:spcPts val="0"/>
              </a:spcAft>
              <a:defRPr/>
            </a:pPr>
            <a:r>
              <a:rPr lang="zh-CN" altLang="en-US" sz="2800" b="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网络社会、物理社会</a:t>
            </a:r>
            <a:endParaRPr lang="zh-CN" sz="800" b="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/>
            </a:endParaRPr>
          </a:p>
        </p:txBody>
      </p:sp>
      <p:sp>
        <p:nvSpPr>
          <p:cNvPr id="13322" name="圆角矩形 16"/>
          <p:cNvSpPr>
            <a:spLocks noChangeArrowheads="1"/>
          </p:cNvSpPr>
          <p:nvPr/>
        </p:nvSpPr>
        <p:spPr bwMode="auto">
          <a:xfrm>
            <a:off x="638175" y="3989165"/>
            <a:ext cx="1806575" cy="55086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rgbClr val="2D7693"/>
              </a:buClr>
              <a:buSzPct val="70000"/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C3A4C"/>
              </a:buClr>
              <a:buSzPct val="70000"/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4200"/>
              </a:spcBef>
              <a:buClrTx/>
              <a:buSzTx/>
              <a:buFontTx/>
              <a:buNone/>
            </a:pP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结构化数据</a:t>
            </a:r>
          </a:p>
        </p:txBody>
      </p:sp>
      <p:sp>
        <p:nvSpPr>
          <p:cNvPr id="13323" name="圆角矩形 17"/>
          <p:cNvSpPr>
            <a:spLocks noChangeArrowheads="1"/>
          </p:cNvSpPr>
          <p:nvPr/>
        </p:nvSpPr>
        <p:spPr bwMode="auto">
          <a:xfrm>
            <a:off x="3090863" y="3382740"/>
            <a:ext cx="2849562" cy="550862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rgbClr val="2D7693"/>
              </a:buClr>
              <a:buSzPct val="70000"/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C3A4C"/>
              </a:buClr>
              <a:buSzPct val="70000"/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42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大数据集成与管理</a:t>
            </a:r>
          </a:p>
        </p:txBody>
      </p:sp>
      <p:sp>
        <p:nvSpPr>
          <p:cNvPr id="13324" name="圆角矩形 18"/>
          <p:cNvSpPr>
            <a:spLocks noChangeArrowheads="1"/>
          </p:cNvSpPr>
          <p:nvPr/>
        </p:nvSpPr>
        <p:spPr bwMode="auto">
          <a:xfrm>
            <a:off x="319088" y="1196752"/>
            <a:ext cx="8569325" cy="1439863"/>
          </a:xfrm>
          <a:prstGeom prst="roundRect">
            <a:avLst>
              <a:gd name="adj" fmla="val 16667"/>
            </a:avLst>
          </a:prstGeom>
          <a:solidFill>
            <a:srgbClr val="00CC00">
              <a:alpha val="14902"/>
            </a:srgbClr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rgbClr val="2D7693"/>
              </a:buClr>
              <a:buSzPct val="70000"/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C3A4C"/>
              </a:buClr>
              <a:buSzPct val="70000"/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 b="0">
              <a:ea typeface="楷体_GB2312" pitchFamily="49" charset="-122"/>
            </a:endParaRPr>
          </a:p>
        </p:txBody>
      </p:sp>
      <p:sp>
        <p:nvSpPr>
          <p:cNvPr id="13325" name="圆角矩形 23"/>
          <p:cNvSpPr>
            <a:spLocks noChangeArrowheads="1"/>
          </p:cNvSpPr>
          <p:nvPr/>
        </p:nvSpPr>
        <p:spPr bwMode="auto">
          <a:xfrm>
            <a:off x="5724525" y="1917477"/>
            <a:ext cx="1130300" cy="54927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rgbClr val="2D7693"/>
              </a:buClr>
              <a:buSzPct val="70000"/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C3A4C"/>
              </a:buClr>
              <a:buSzPct val="70000"/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4200"/>
              </a:spcBef>
              <a:buClrTx/>
              <a:buSzTx/>
              <a:buFontTx/>
              <a:buNone/>
            </a:pP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预测</a:t>
            </a:r>
          </a:p>
        </p:txBody>
      </p:sp>
      <p:sp>
        <p:nvSpPr>
          <p:cNvPr id="13326" name="圆角矩形 24"/>
          <p:cNvSpPr>
            <a:spLocks noChangeArrowheads="1"/>
          </p:cNvSpPr>
          <p:nvPr/>
        </p:nvSpPr>
        <p:spPr bwMode="auto">
          <a:xfrm>
            <a:off x="3203575" y="1293590"/>
            <a:ext cx="2849563" cy="550862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rgbClr val="2D7693"/>
              </a:buClr>
              <a:buSzPct val="70000"/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C3A4C"/>
              </a:buClr>
              <a:buSzPct val="70000"/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42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大数据分析与应用</a:t>
            </a:r>
          </a:p>
        </p:txBody>
      </p:sp>
      <p:sp>
        <p:nvSpPr>
          <p:cNvPr id="13327" name="圆角矩形 25"/>
          <p:cNvSpPr>
            <a:spLocks noChangeArrowheads="1"/>
          </p:cNvSpPr>
          <p:nvPr/>
        </p:nvSpPr>
        <p:spPr bwMode="auto">
          <a:xfrm>
            <a:off x="7510463" y="1917477"/>
            <a:ext cx="1093787" cy="54927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rgbClr val="2D7693"/>
              </a:buClr>
              <a:buSzPct val="70000"/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C3A4C"/>
              </a:buClr>
              <a:buSzPct val="70000"/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4200"/>
              </a:spcBef>
              <a:buClrTx/>
              <a:buSzTx/>
              <a:buFontTx/>
              <a:buNone/>
            </a:pP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推荐</a:t>
            </a:r>
          </a:p>
        </p:txBody>
      </p:sp>
      <p:sp>
        <p:nvSpPr>
          <p:cNvPr id="13328" name="圆角矩形 26"/>
          <p:cNvSpPr>
            <a:spLocks noChangeArrowheads="1"/>
          </p:cNvSpPr>
          <p:nvPr/>
        </p:nvSpPr>
        <p:spPr bwMode="auto">
          <a:xfrm>
            <a:off x="565150" y="1903190"/>
            <a:ext cx="1622425" cy="55086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rgbClr val="2D7693"/>
              </a:buClr>
              <a:buSzPct val="70000"/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C3A4C"/>
              </a:buClr>
              <a:buSzPct val="70000"/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4200"/>
              </a:spcBef>
              <a:buClrTx/>
              <a:buSzTx/>
              <a:buFontTx/>
              <a:buNone/>
            </a:pP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数据挖掘</a:t>
            </a:r>
          </a:p>
        </p:txBody>
      </p:sp>
      <p:sp>
        <p:nvSpPr>
          <p:cNvPr id="13329" name="圆角矩形 27"/>
          <p:cNvSpPr>
            <a:spLocks noChangeArrowheads="1"/>
          </p:cNvSpPr>
          <p:nvPr/>
        </p:nvSpPr>
        <p:spPr bwMode="auto">
          <a:xfrm>
            <a:off x="2860675" y="1909540"/>
            <a:ext cx="1743075" cy="55086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rgbClr val="2D7693"/>
              </a:buClr>
              <a:buSzPct val="70000"/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C3A4C"/>
              </a:buClr>
              <a:buSzPct val="70000"/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4200"/>
              </a:spcBef>
              <a:buClrTx/>
              <a:buSzTx/>
              <a:buFontTx/>
              <a:buNone/>
            </a:pP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机器学习</a:t>
            </a:r>
          </a:p>
        </p:txBody>
      </p:sp>
      <p:sp>
        <p:nvSpPr>
          <p:cNvPr id="13330" name="圆角矩形 28"/>
          <p:cNvSpPr>
            <a:spLocks noChangeArrowheads="1"/>
          </p:cNvSpPr>
          <p:nvPr/>
        </p:nvSpPr>
        <p:spPr bwMode="auto">
          <a:xfrm>
            <a:off x="2339975" y="1844452"/>
            <a:ext cx="476250" cy="550863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rgbClr val="2D7693"/>
              </a:buClr>
              <a:buSzPct val="70000"/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C3A4C"/>
              </a:buClr>
              <a:buSzPct val="70000"/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4200"/>
              </a:spcBef>
              <a:buClrTx/>
              <a:buSzTx/>
              <a:buFontTx/>
              <a:buNone/>
            </a:pPr>
            <a:r>
              <a:rPr lang="en-US" altLang="zh-CN" sz="32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31" name="圆角矩形 29"/>
          <p:cNvSpPr>
            <a:spLocks noChangeArrowheads="1"/>
          </p:cNvSpPr>
          <p:nvPr/>
        </p:nvSpPr>
        <p:spPr bwMode="auto">
          <a:xfrm>
            <a:off x="6935788" y="1909540"/>
            <a:ext cx="476250" cy="550862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rgbClr val="2D7693"/>
              </a:buClr>
              <a:buSzPct val="70000"/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C3A4C"/>
              </a:buClr>
              <a:buSzPct val="70000"/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4200"/>
              </a:spcBef>
              <a:buClrTx/>
              <a:buSzTx/>
              <a:buFontTx/>
              <a:buNone/>
            </a:pPr>
            <a:r>
              <a:rPr lang="en-US" altLang="zh-CN" sz="32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24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32" name="右箭头 31"/>
          <p:cNvSpPr>
            <a:spLocks noChangeArrowheads="1"/>
          </p:cNvSpPr>
          <p:nvPr/>
        </p:nvSpPr>
        <p:spPr bwMode="auto">
          <a:xfrm>
            <a:off x="4837113" y="1917477"/>
            <a:ext cx="671512" cy="490538"/>
          </a:xfrm>
          <a:prstGeom prst="rightArrow">
            <a:avLst>
              <a:gd name="adj1" fmla="val 50000"/>
              <a:gd name="adj2" fmla="val 50188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rgbClr val="2D7693"/>
              </a:buClr>
              <a:buSzPct val="70000"/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C3A4C"/>
              </a:buClr>
              <a:buSzPct val="70000"/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>
              <a:ea typeface="楷体_GB2312" pitchFamily="49" charset="-122"/>
            </a:endParaRPr>
          </a:p>
        </p:txBody>
      </p:sp>
      <p:sp>
        <p:nvSpPr>
          <p:cNvPr id="13333" name="右箭头 32"/>
          <p:cNvSpPr>
            <a:spLocks noChangeArrowheads="1"/>
          </p:cNvSpPr>
          <p:nvPr/>
        </p:nvSpPr>
        <p:spPr bwMode="auto">
          <a:xfrm rot="-5400000">
            <a:off x="4206081" y="2299271"/>
            <a:ext cx="630238" cy="13398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rgbClr val="2D7693"/>
              </a:buClr>
              <a:buSzPct val="70000"/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C3A4C"/>
              </a:buClr>
              <a:buSzPct val="70000"/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>
              <a:ea typeface="楷体_GB2312" pitchFamily="49" charset="-122"/>
            </a:endParaRPr>
          </a:p>
        </p:txBody>
      </p:sp>
      <p:sp>
        <p:nvSpPr>
          <p:cNvPr id="13334" name="右箭头 33"/>
          <p:cNvSpPr>
            <a:spLocks noChangeArrowheads="1"/>
          </p:cNvSpPr>
          <p:nvPr/>
        </p:nvSpPr>
        <p:spPr bwMode="auto">
          <a:xfrm rot="-5400000">
            <a:off x="4248944" y="4415409"/>
            <a:ext cx="719137" cy="13398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rgbClr val="2D7693"/>
              </a:buClr>
              <a:buSzPct val="70000"/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C3A4C"/>
              </a:buClr>
              <a:buSzPct val="70000"/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>
              <a:ea typeface="楷体_GB2312" pitchFamily="49" charset="-122"/>
            </a:endParaRPr>
          </a:p>
        </p:txBody>
      </p:sp>
      <p:sp>
        <p:nvSpPr>
          <p:cNvPr id="13335" name="矩形 1"/>
          <p:cNvSpPr>
            <a:spLocks noChangeArrowheads="1"/>
          </p:cNvSpPr>
          <p:nvPr/>
        </p:nvSpPr>
        <p:spPr bwMode="auto">
          <a:xfrm>
            <a:off x="334963" y="5173440"/>
            <a:ext cx="698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京东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3336" name="矩形 23"/>
          <p:cNvSpPr>
            <a:spLocks noChangeArrowheads="1"/>
          </p:cNvSpPr>
          <p:nvPr/>
        </p:nvSpPr>
        <p:spPr bwMode="auto">
          <a:xfrm>
            <a:off x="8083550" y="5198840"/>
            <a:ext cx="6969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微博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3337" name="矩形 24"/>
          <p:cNvSpPr>
            <a:spLocks noChangeArrowheads="1"/>
          </p:cNvSpPr>
          <p:nvPr/>
        </p:nvSpPr>
        <p:spPr bwMode="auto">
          <a:xfrm>
            <a:off x="319088" y="5922740"/>
            <a:ext cx="6969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淘宝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3338" name="矩形 25"/>
          <p:cNvSpPr>
            <a:spLocks noChangeArrowheads="1"/>
          </p:cNvSpPr>
          <p:nvPr/>
        </p:nvSpPr>
        <p:spPr bwMode="auto">
          <a:xfrm>
            <a:off x="1470025" y="5054307"/>
            <a:ext cx="12105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搜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弧财经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3339" name="矩形 27"/>
          <p:cNvSpPr>
            <a:spLocks noChangeArrowheads="1"/>
          </p:cNvSpPr>
          <p:nvPr/>
        </p:nvSpPr>
        <p:spPr bwMode="auto">
          <a:xfrm>
            <a:off x="8054975" y="5983065"/>
            <a:ext cx="6969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3340" name="矩形 28"/>
          <p:cNvSpPr>
            <a:spLocks noChangeArrowheads="1"/>
          </p:cNvSpPr>
          <p:nvPr/>
        </p:nvSpPr>
        <p:spPr bwMode="auto">
          <a:xfrm>
            <a:off x="1376362" y="6134908"/>
            <a:ext cx="69762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雪球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3341" name="矩形 30"/>
          <p:cNvSpPr>
            <a:spLocks noChangeArrowheads="1"/>
          </p:cNvSpPr>
          <p:nvPr/>
        </p:nvSpPr>
        <p:spPr bwMode="auto">
          <a:xfrm>
            <a:off x="6958012" y="5078189"/>
            <a:ext cx="95410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房天下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3342" name="矩形 31"/>
          <p:cNvSpPr>
            <a:spLocks noChangeArrowheads="1"/>
          </p:cNvSpPr>
          <p:nvPr/>
        </p:nvSpPr>
        <p:spPr bwMode="auto">
          <a:xfrm>
            <a:off x="5738813" y="6164094"/>
            <a:ext cx="1209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今日头条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3343" name="矩形 32"/>
          <p:cNvSpPr>
            <a:spLocks noChangeArrowheads="1"/>
          </p:cNvSpPr>
          <p:nvPr/>
        </p:nvSpPr>
        <p:spPr bwMode="auto">
          <a:xfrm>
            <a:off x="3779838" y="6165627"/>
            <a:ext cx="1724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互联网大数据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32" name="矩形 30"/>
          <p:cNvSpPr>
            <a:spLocks noChangeArrowheads="1"/>
          </p:cNvSpPr>
          <p:nvPr/>
        </p:nvSpPr>
        <p:spPr bwMode="auto">
          <a:xfrm>
            <a:off x="5666351" y="4978290"/>
            <a:ext cx="95410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携程网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3" name="矩形 25"/>
          <p:cNvSpPr>
            <a:spLocks noChangeArrowheads="1"/>
          </p:cNvSpPr>
          <p:nvPr/>
        </p:nvSpPr>
        <p:spPr bwMode="auto">
          <a:xfrm>
            <a:off x="2967803" y="4999432"/>
            <a:ext cx="69762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高德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4" name="矩形 28"/>
          <p:cNvSpPr>
            <a:spLocks noChangeArrowheads="1"/>
          </p:cNvSpPr>
          <p:nvPr/>
        </p:nvSpPr>
        <p:spPr bwMode="auto">
          <a:xfrm>
            <a:off x="2442448" y="6164034"/>
            <a:ext cx="12105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好看视频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5" name="矩形 23"/>
          <p:cNvSpPr>
            <a:spLocks noChangeArrowheads="1"/>
          </p:cNvSpPr>
          <p:nvPr/>
        </p:nvSpPr>
        <p:spPr bwMode="auto">
          <a:xfrm>
            <a:off x="6948264" y="6080323"/>
            <a:ext cx="10967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dirty="0" smtClean="0">
                <a:solidFill>
                  <a:srgbClr val="FF0000"/>
                </a:solidFill>
              </a:rPr>
              <a:t>meetup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4666695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信管故事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偏应用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故事导向，利用已有基本算法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一般要抓取特定应用数据</a:t>
            </a:r>
          </a:p>
          <a:p>
            <a:r>
              <a:rPr lang="zh-CN" altLang="en-US" dirty="0" smtClean="0"/>
              <a:t>计算机故事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偏算法</a:t>
            </a:r>
            <a:r>
              <a:rPr lang="en-US" altLang="zh-CN" dirty="0" smtClean="0"/>
              <a:t>-</a:t>
            </a:r>
            <a:r>
              <a:rPr lang="zh-CN" altLang="en-US" dirty="0" smtClean="0"/>
              <a:t>技术驱动，核心就是模型</a:t>
            </a:r>
            <a:endParaRPr lang="en-US" altLang="zh-CN" dirty="0" smtClean="0"/>
          </a:p>
          <a:p>
            <a:pPr lvl="1"/>
            <a:r>
              <a:rPr lang="zh-CN" altLang="en-US" b="0" dirty="0" smtClean="0"/>
              <a:t>可以用经典</a:t>
            </a:r>
            <a:r>
              <a:rPr lang="zh-CN" altLang="en-US" b="0" dirty="0"/>
              <a:t>数据集</a:t>
            </a:r>
            <a:endParaRPr lang="en-US" altLang="zh-CN" b="0" dirty="0" smtClean="0"/>
          </a:p>
          <a:p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 smtClean="0"/>
              <a:t>两种故事</a:t>
            </a:r>
            <a:endParaRPr lang="zh-CN" altLang="en-US" dirty="0"/>
          </a:p>
        </p:txBody>
      </p:sp>
      <p:grpSp>
        <p:nvGrpSpPr>
          <p:cNvPr id="13" name="组合 12"/>
          <p:cNvGrpSpPr/>
          <p:nvPr/>
        </p:nvGrpSpPr>
        <p:grpSpPr>
          <a:xfrm>
            <a:off x="467544" y="4129647"/>
            <a:ext cx="8058364" cy="2548196"/>
            <a:chOff x="467544" y="3816957"/>
            <a:chExt cx="8058364" cy="2808312"/>
          </a:xfrm>
        </p:grpSpPr>
        <p:sp>
          <p:nvSpPr>
            <p:cNvPr id="8" name="左右箭头 7"/>
            <p:cNvSpPr/>
            <p:nvPr/>
          </p:nvSpPr>
          <p:spPr bwMode="auto">
            <a:xfrm>
              <a:off x="618091" y="3816957"/>
              <a:ext cx="7907817" cy="2808312"/>
            </a:xfrm>
            <a:prstGeom prst="leftRightArrow">
              <a:avLst>
                <a:gd name="adj1" fmla="val 70763"/>
                <a:gd name="adj2" fmla="val 31859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7013167" y="4860437"/>
              <a:ext cx="1162498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1"/>
              <a:r>
                <a:rPr lang="zh-CN" altLang="en-US" dirty="0" smtClean="0">
                  <a:solidFill>
                    <a:srgbClr val="FF0000"/>
                  </a:solidFill>
                </a:rPr>
                <a:t>技术</a:t>
              </a:r>
              <a:endParaRPr lang="en-US" altLang="zh-CN" dirty="0" smtClean="0">
                <a:solidFill>
                  <a:srgbClr val="FF0000"/>
                </a:solidFill>
              </a:endParaRPr>
            </a:p>
            <a:p>
              <a:pPr lvl="1"/>
              <a:r>
                <a:rPr lang="zh-CN" altLang="en-US" dirty="0" smtClean="0">
                  <a:solidFill>
                    <a:srgbClr val="FF0000"/>
                  </a:solidFill>
                </a:rPr>
                <a:t>视角</a:t>
              </a:r>
              <a:endParaRPr lang="en-US" altLang="zh-CN" dirty="0">
                <a:solidFill>
                  <a:srgbClr val="FF0000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467544" y="4862544"/>
              <a:ext cx="1162498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1"/>
              <a:r>
                <a:rPr lang="zh-CN" altLang="en-US" dirty="0" smtClean="0">
                  <a:solidFill>
                    <a:srgbClr val="FF0000"/>
                  </a:solidFill>
                </a:rPr>
                <a:t>应用</a:t>
              </a:r>
              <a:endParaRPr lang="en-US" altLang="zh-CN" dirty="0" smtClean="0">
                <a:solidFill>
                  <a:srgbClr val="FF0000"/>
                </a:solidFill>
              </a:endParaRPr>
            </a:p>
            <a:p>
              <a:pPr lvl="1"/>
              <a:r>
                <a:rPr lang="zh-CN" altLang="en-US" dirty="0" smtClean="0">
                  <a:solidFill>
                    <a:srgbClr val="FF0000"/>
                  </a:solidFill>
                </a:rPr>
                <a:t>视角</a:t>
              </a:r>
              <a:endParaRPr lang="en-US" altLang="zh-CN" dirty="0">
                <a:solidFill>
                  <a:srgbClr val="FF0000"/>
                </a:solidFill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1616979" y="4479782"/>
              <a:ext cx="3878062" cy="707886"/>
            </a:xfrm>
            <a:prstGeom prst="rect">
              <a:avLst/>
            </a:prstGeom>
            <a:solidFill>
              <a:srgbClr val="EAA8C9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srgbClr val="0000FF"/>
                  </a:solidFill>
                </a:rPr>
                <a:t>信</a:t>
              </a:r>
              <a:r>
                <a:rPr lang="zh-CN" altLang="en-US" dirty="0" smtClean="0">
                  <a:solidFill>
                    <a:srgbClr val="0000FF"/>
                  </a:solidFill>
                </a:rPr>
                <a:t>管</a:t>
              </a:r>
              <a:endParaRPr lang="en-US" altLang="zh-CN" dirty="0" smtClean="0">
                <a:solidFill>
                  <a:srgbClr val="0000FF"/>
                </a:solidFill>
              </a:endParaRPr>
            </a:p>
            <a:p>
              <a:pPr algn="ctr"/>
              <a:r>
                <a:rPr lang="zh-CN" altLang="en-US" dirty="0" smtClean="0">
                  <a:latin typeface="华文仿宋" panose="02010600040101010101" pitchFamily="2" charset="-122"/>
                  <a:ea typeface="华文仿宋" panose="02010600040101010101" pitchFamily="2" charset="-122"/>
                </a:rPr>
                <a:t>（</a:t>
              </a:r>
              <a:r>
                <a:rPr lang="en-US" altLang="zh-CN" dirty="0" smtClean="0">
                  <a:latin typeface="华文仿宋" panose="02010600040101010101" pitchFamily="2" charset="-122"/>
                  <a:ea typeface="华文仿宋" panose="02010600040101010101" pitchFamily="2" charset="-122"/>
                </a:rPr>
                <a:t>70%</a:t>
              </a:r>
              <a:r>
                <a:rPr lang="zh-CN" altLang="en-US" dirty="0" smtClean="0">
                  <a:latin typeface="华文仿宋" panose="02010600040101010101" pitchFamily="2" charset="-122"/>
                  <a:ea typeface="华文仿宋" panose="02010600040101010101" pitchFamily="2" charset="-122"/>
                </a:rPr>
                <a:t>应用</a:t>
              </a:r>
              <a:r>
                <a:rPr lang="en-US" altLang="zh-CN" dirty="0" smtClean="0">
                  <a:latin typeface="华文仿宋" panose="02010600040101010101" pitchFamily="2" charset="-122"/>
                  <a:ea typeface="华文仿宋" panose="02010600040101010101" pitchFamily="2" charset="-122"/>
                </a:rPr>
                <a:t>+30%</a:t>
              </a:r>
              <a:r>
                <a:rPr lang="zh-CN" altLang="en-US" dirty="0" smtClean="0">
                  <a:latin typeface="华文仿宋" panose="02010600040101010101" pitchFamily="2" charset="-122"/>
                  <a:ea typeface="华文仿宋" panose="02010600040101010101" pitchFamily="2" charset="-122"/>
                </a:rPr>
                <a:t>技术）</a:t>
              </a:r>
              <a:endPara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3707904" y="5286388"/>
              <a:ext cx="3751109" cy="707886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srgbClr val="0000FF"/>
                  </a:solidFill>
                </a:rPr>
                <a:t>计算机</a:t>
              </a:r>
              <a:endParaRPr lang="en-US" altLang="zh-CN" dirty="0" smtClean="0">
                <a:solidFill>
                  <a:srgbClr val="0000FF"/>
                </a:solidFill>
              </a:endParaRPr>
            </a:p>
            <a:p>
              <a:pPr algn="ctr"/>
              <a:r>
                <a:rPr lang="zh-CN" altLang="en-US" dirty="0" smtClean="0">
                  <a:latin typeface="华文仿宋" panose="02010600040101010101" pitchFamily="2" charset="-122"/>
                  <a:ea typeface="华文仿宋" panose="02010600040101010101" pitchFamily="2" charset="-122"/>
                </a:rPr>
                <a:t>（</a:t>
              </a:r>
              <a:r>
                <a:rPr lang="en-US" altLang="zh-CN" dirty="0" smtClean="0">
                  <a:latin typeface="华文仿宋" panose="02010600040101010101" pitchFamily="2" charset="-122"/>
                  <a:ea typeface="华文仿宋" panose="02010600040101010101" pitchFamily="2" charset="-122"/>
                </a:rPr>
                <a:t>30%</a:t>
              </a:r>
              <a:r>
                <a:rPr lang="zh-CN" altLang="en-US" dirty="0" smtClean="0">
                  <a:latin typeface="华文仿宋" panose="02010600040101010101" pitchFamily="2" charset="-122"/>
                  <a:ea typeface="华文仿宋" panose="02010600040101010101" pitchFamily="2" charset="-122"/>
                </a:rPr>
                <a:t>应用</a:t>
              </a:r>
              <a:r>
                <a:rPr lang="en-US" altLang="zh-CN" dirty="0" smtClean="0">
                  <a:latin typeface="华文仿宋" panose="02010600040101010101" pitchFamily="2" charset="-122"/>
                  <a:ea typeface="华文仿宋" panose="02010600040101010101" pitchFamily="2" charset="-122"/>
                </a:rPr>
                <a:t>+70%</a:t>
              </a:r>
              <a:r>
                <a:rPr lang="zh-CN" altLang="en-US" dirty="0" smtClean="0">
                  <a:latin typeface="华文仿宋" panose="02010600040101010101" pitchFamily="2" charset="-122"/>
                  <a:ea typeface="华文仿宋" panose="02010600040101010101" pitchFamily="2" charset="-122"/>
                </a:rPr>
                <a:t>技术）</a:t>
              </a:r>
              <a:endPara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endParaRPr>
            </a:p>
          </p:txBody>
        </p:sp>
      </p:grpSp>
      <p:cxnSp>
        <p:nvCxnSpPr>
          <p:cNvPr id="6" name="直接连接符 5"/>
          <p:cNvCxnSpPr/>
          <p:nvPr/>
        </p:nvCxnSpPr>
        <p:spPr bwMode="auto">
          <a:xfrm>
            <a:off x="4571999" y="4070702"/>
            <a:ext cx="0" cy="262020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dashDot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937290239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如何</a:t>
            </a:r>
            <a:r>
              <a:rPr lang="zh-CN" altLang="en-US" dirty="0"/>
              <a:t>设计</a:t>
            </a:r>
            <a:r>
              <a:rPr lang="zh-CN" altLang="en-US" dirty="0" smtClean="0"/>
              <a:t>展示你的研究</a:t>
            </a:r>
            <a:endParaRPr lang="zh-CN" altLang="en-US" dirty="0"/>
          </a:p>
        </p:txBody>
      </p:sp>
      <p:sp>
        <p:nvSpPr>
          <p:cNvPr id="2" name="圆角矩形 1"/>
          <p:cNvSpPr/>
          <p:nvPr/>
        </p:nvSpPr>
        <p:spPr bwMode="auto">
          <a:xfrm>
            <a:off x="1570885" y="1556792"/>
            <a:ext cx="5809427" cy="1656184"/>
          </a:xfrm>
          <a:prstGeom prst="roundRect">
            <a:avLst/>
          </a:prstGeom>
          <a:solidFill>
            <a:srgbClr val="FFFF00">
              <a:alpha val="34000"/>
            </a:srgbClr>
          </a:solidFill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r>
              <a:rPr kumimoji="0" lang="zh-CN" altLang="en-US" sz="280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、研究设计层面</a:t>
            </a:r>
            <a:endParaRPr kumimoji="0" lang="en-US" altLang="zh-CN" sz="280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240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dirty="0" smtClean="0">
                <a:solidFill>
                  <a:srgbClr val="0000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（吹牛套路、研究逻辑）</a:t>
            </a:r>
            <a:endParaRPr kumimoji="0" lang="en-US" altLang="zh-CN" sz="2400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0" name="圆角矩形 9"/>
          <p:cNvSpPr/>
          <p:nvPr/>
        </p:nvSpPr>
        <p:spPr bwMode="auto">
          <a:xfrm>
            <a:off x="1546353" y="3645024"/>
            <a:ext cx="5809427" cy="2376264"/>
          </a:xfrm>
          <a:prstGeom prst="roundRect">
            <a:avLst/>
          </a:prstGeom>
          <a:solidFill>
            <a:schemeClr val="accent1">
              <a:alpha val="34000"/>
            </a:schemeClr>
          </a:solidFill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r>
              <a:rPr kumimoji="0" lang="zh-CN" altLang="en-US" sz="280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、论文写作层面</a:t>
            </a:r>
            <a:endParaRPr kumimoji="0" lang="en-US" altLang="zh-CN" sz="280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240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圆角矩形 7"/>
          <p:cNvSpPr/>
          <p:nvPr/>
        </p:nvSpPr>
        <p:spPr bwMode="auto">
          <a:xfrm>
            <a:off x="4595738" y="4540297"/>
            <a:ext cx="2088232" cy="1296144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dirty="0" smtClean="0">
                <a:solidFill>
                  <a:srgbClr val="0000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写作排版</a:t>
            </a:r>
            <a:endParaRPr lang="en-US" altLang="zh-CN" sz="2400" dirty="0" smtClean="0">
              <a:solidFill>
                <a:srgbClr val="0000FF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dirty="0" smtClean="0">
                <a:solidFill>
                  <a:srgbClr val="0000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规范</a:t>
            </a:r>
            <a:endParaRPr lang="zh-CN" altLang="en-US" sz="2400" dirty="0">
              <a:solidFill>
                <a:srgbClr val="0000FF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3" name="圆角矩形 12"/>
          <p:cNvSpPr/>
          <p:nvPr/>
        </p:nvSpPr>
        <p:spPr bwMode="auto">
          <a:xfrm>
            <a:off x="2195736" y="4540297"/>
            <a:ext cx="2088232" cy="1296144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dirty="0">
                <a:solidFill>
                  <a:srgbClr val="0000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写作</a:t>
            </a:r>
            <a:r>
              <a:rPr lang="zh-CN" altLang="en-US" sz="2400" dirty="0" smtClean="0">
                <a:solidFill>
                  <a:srgbClr val="0000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逻辑</a:t>
            </a:r>
            <a:endParaRPr lang="en-US" altLang="zh-CN" sz="2400" dirty="0" smtClean="0">
              <a:solidFill>
                <a:srgbClr val="0000FF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dirty="0" smtClean="0">
                <a:solidFill>
                  <a:srgbClr val="0000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规范</a:t>
            </a:r>
            <a:endParaRPr lang="zh-CN" altLang="en-US" sz="2400" dirty="0">
              <a:solidFill>
                <a:srgbClr val="0000FF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3748217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研究设计（研究套路）</a:t>
            </a:r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550039" y="1742182"/>
            <a:ext cx="2026907" cy="2553433"/>
            <a:chOff x="2026558" y="3645071"/>
            <a:chExt cx="3624628" cy="1539924"/>
          </a:xfrm>
        </p:grpSpPr>
        <p:sp>
          <p:nvSpPr>
            <p:cNvPr id="6" name="椭圆 5"/>
            <p:cNvSpPr/>
            <p:nvPr/>
          </p:nvSpPr>
          <p:spPr>
            <a:xfrm>
              <a:off x="2026558" y="3645071"/>
              <a:ext cx="3624628" cy="1539924"/>
            </a:xfrm>
            <a:prstGeom prst="ellipse">
              <a:avLst/>
            </a:prstGeom>
            <a:solidFill>
              <a:srgbClr val="CCFFCC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椭圆 4"/>
            <p:cNvSpPr/>
            <p:nvPr/>
          </p:nvSpPr>
          <p:spPr>
            <a:xfrm>
              <a:off x="2227928" y="3870588"/>
              <a:ext cx="3221892" cy="108889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6000" tIns="182880" rIns="36000" bIns="182880" numCol="1" spcCol="1270" anchor="ctr" anchorCtr="0">
              <a:noAutofit/>
            </a:bodyPr>
            <a:lstStyle/>
            <a:p>
              <a:pPr lvl="0" algn="ctr" defTabSz="213360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</a:pPr>
              <a:r>
                <a:rPr lang="zh-CN" altLang="en-US" sz="4000" b="1" kern="1200" dirty="0" smtClean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研究</a:t>
              </a:r>
              <a:endParaRPr lang="en-US" altLang="zh-CN" sz="4000" b="1" kern="12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pPr lvl="0" algn="ctr" defTabSz="213360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</a:pPr>
              <a:r>
                <a:rPr lang="zh-CN" altLang="en-US" sz="4000" b="1" kern="1200" dirty="0" smtClean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动机</a:t>
              </a:r>
              <a:endParaRPr lang="en-US" altLang="zh-CN" sz="4000" b="1" kern="12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15" name="右箭头 14"/>
          <p:cNvSpPr/>
          <p:nvPr/>
        </p:nvSpPr>
        <p:spPr bwMode="auto">
          <a:xfrm>
            <a:off x="2671892" y="2264778"/>
            <a:ext cx="783983" cy="1368152"/>
          </a:xfrm>
          <a:prstGeom prst="rightArrow">
            <a:avLst/>
          </a:prstGeom>
          <a:gradFill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lin ang="16200000" scaled="0"/>
          </a:gra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6" name="右箭头 15"/>
          <p:cNvSpPr/>
          <p:nvPr/>
        </p:nvSpPr>
        <p:spPr bwMode="auto">
          <a:xfrm>
            <a:off x="5657076" y="2264778"/>
            <a:ext cx="783984" cy="1368152"/>
          </a:xfrm>
          <a:prstGeom prst="rightArrow">
            <a:avLst/>
          </a:prstGeom>
          <a:gradFill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lin ang="16200000" scaled="0"/>
          </a:gra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6590847" y="1749203"/>
            <a:ext cx="2026907" cy="2553433"/>
            <a:chOff x="2026558" y="3645071"/>
            <a:chExt cx="3624628" cy="1539924"/>
          </a:xfrm>
        </p:grpSpPr>
        <p:sp>
          <p:nvSpPr>
            <p:cNvPr id="17" name="椭圆 16"/>
            <p:cNvSpPr/>
            <p:nvPr/>
          </p:nvSpPr>
          <p:spPr>
            <a:xfrm>
              <a:off x="2026558" y="3645071"/>
              <a:ext cx="3624628" cy="1539924"/>
            </a:xfrm>
            <a:prstGeom prst="ellipse">
              <a:avLst/>
            </a:prstGeom>
            <a:solidFill>
              <a:srgbClr val="CCFFCC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8" name="椭圆 4"/>
            <p:cNvSpPr/>
            <p:nvPr/>
          </p:nvSpPr>
          <p:spPr>
            <a:xfrm>
              <a:off x="2227928" y="3870588"/>
              <a:ext cx="3221892" cy="108889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6000" tIns="182880" rIns="36000" bIns="182880" numCol="1" spcCol="1270" anchor="ctr" anchorCtr="0">
              <a:noAutofit/>
            </a:bodyPr>
            <a:lstStyle/>
            <a:p>
              <a:pPr lvl="0" algn="ctr" defTabSz="213360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</a:pPr>
              <a:r>
                <a:rPr lang="zh-CN" altLang="en-US" sz="4000" b="1" kern="1200" dirty="0" smtClean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实验</a:t>
              </a:r>
              <a:endParaRPr lang="en-US" altLang="zh-CN" sz="4000" b="1" kern="12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pPr lvl="0" algn="ctr" defTabSz="213360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</a:pPr>
              <a:r>
                <a:rPr lang="zh-CN" altLang="en-US" sz="4000" b="1" kern="1200" dirty="0" smtClean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论证</a:t>
              </a:r>
              <a:endParaRPr lang="en-US" altLang="zh-CN" sz="4000" b="1" kern="12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3570443" y="1752489"/>
            <a:ext cx="2026907" cy="2550147"/>
            <a:chOff x="2026558" y="3645071"/>
            <a:chExt cx="3624628" cy="1539924"/>
          </a:xfrm>
        </p:grpSpPr>
        <p:sp>
          <p:nvSpPr>
            <p:cNvPr id="20" name="椭圆 19"/>
            <p:cNvSpPr/>
            <p:nvPr/>
          </p:nvSpPr>
          <p:spPr>
            <a:xfrm>
              <a:off x="2026558" y="3645071"/>
              <a:ext cx="3624628" cy="1539924"/>
            </a:xfrm>
            <a:prstGeom prst="ellipse">
              <a:avLst/>
            </a:prstGeom>
            <a:solidFill>
              <a:srgbClr val="CCFFCC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椭圆 4"/>
            <p:cNvSpPr/>
            <p:nvPr/>
          </p:nvSpPr>
          <p:spPr>
            <a:xfrm>
              <a:off x="2227928" y="3870588"/>
              <a:ext cx="3221892" cy="108889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6000" tIns="182880" rIns="36000" bIns="182880" numCol="1" spcCol="1270" anchor="ctr" anchorCtr="0">
              <a:noAutofit/>
            </a:bodyPr>
            <a:lstStyle/>
            <a:p>
              <a:pPr lvl="0" algn="ctr" defTabSz="213360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</a:pPr>
              <a:r>
                <a:rPr lang="zh-CN" altLang="en-US" sz="4000" b="1" kern="1200" dirty="0" smtClean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研究</a:t>
              </a:r>
              <a:endParaRPr lang="en-US" altLang="zh-CN" sz="4000" b="1" kern="12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pPr lvl="0" algn="ctr" defTabSz="213360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</a:pPr>
              <a:r>
                <a:rPr lang="zh-CN" altLang="en-US" sz="4000" b="1" kern="1200" dirty="0" smtClean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方案</a:t>
              </a:r>
              <a:endParaRPr lang="en-US" altLang="zh-CN" sz="4000" b="1" kern="12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2" name="圆角矩形 1"/>
          <p:cNvSpPr/>
          <p:nvPr/>
        </p:nvSpPr>
        <p:spPr bwMode="auto">
          <a:xfrm>
            <a:off x="534325" y="4695683"/>
            <a:ext cx="2009246" cy="864096"/>
          </a:xfrm>
          <a:prstGeom prst="roundRect">
            <a:avLst/>
          </a:prstGeom>
          <a:noFill/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800" dirty="0" smtClean="0">
                <a:solidFill>
                  <a:srgbClr val="FF0000"/>
                </a:solidFill>
              </a:rPr>
              <a:t>研究什么？</a:t>
            </a:r>
            <a:endParaRPr kumimoji="0" lang="zh-CN" altLang="en-US" sz="280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22" name="圆角矩形 21"/>
          <p:cNvSpPr/>
          <p:nvPr/>
        </p:nvSpPr>
        <p:spPr bwMode="auto">
          <a:xfrm>
            <a:off x="3709176" y="4689160"/>
            <a:ext cx="2009246" cy="864096"/>
          </a:xfrm>
          <a:prstGeom prst="roundRect">
            <a:avLst/>
          </a:prstGeom>
          <a:noFill/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800" dirty="0" smtClean="0">
                <a:solidFill>
                  <a:srgbClr val="FF0000"/>
                </a:solidFill>
              </a:rPr>
              <a:t>怎么研究？</a:t>
            </a:r>
            <a:endParaRPr kumimoji="0" lang="zh-CN" altLang="en-US" sz="280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23" name="圆角矩形 22"/>
          <p:cNvSpPr/>
          <p:nvPr/>
        </p:nvSpPr>
        <p:spPr bwMode="auto">
          <a:xfrm>
            <a:off x="6703454" y="4676097"/>
            <a:ext cx="2009246" cy="864096"/>
          </a:xfrm>
          <a:prstGeom prst="roundRect">
            <a:avLst/>
          </a:prstGeom>
          <a:noFill/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800" dirty="0" smtClean="0">
                <a:solidFill>
                  <a:srgbClr val="FF0000"/>
                </a:solidFill>
              </a:rPr>
              <a:t>如何验证？</a:t>
            </a:r>
            <a:endParaRPr kumimoji="0" lang="zh-CN" altLang="en-US" sz="280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6347" y="1510910"/>
            <a:ext cx="6195311" cy="3888432"/>
          </a:xfrm>
          <a:prstGeom prst="rect">
            <a:avLst/>
          </a:prstGeom>
          <a:noFill/>
          <a:ln>
            <a:solidFill>
              <a:srgbClr val="00B050"/>
            </a:solidFill>
            <a:prstDash val="dash"/>
          </a:ln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4" name="左大括号 23"/>
          <p:cNvSpPr/>
          <p:nvPr/>
        </p:nvSpPr>
        <p:spPr bwMode="auto">
          <a:xfrm rot="16200000">
            <a:off x="3232517" y="3209182"/>
            <a:ext cx="374713" cy="4752528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5" name="圆角矩形 24"/>
          <p:cNvSpPr/>
          <p:nvPr/>
        </p:nvSpPr>
        <p:spPr bwMode="auto">
          <a:xfrm>
            <a:off x="2423253" y="5862491"/>
            <a:ext cx="2009246" cy="864096"/>
          </a:xfrm>
          <a:prstGeom prst="roundRect">
            <a:avLst/>
          </a:prstGeom>
          <a:noFill/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800" dirty="0" smtClean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研究设计书</a:t>
            </a:r>
            <a:endParaRPr kumimoji="0" lang="zh-CN" altLang="en-US" sz="280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48079551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 smtClean="0"/>
              <a:t>目标：</a:t>
            </a:r>
            <a:r>
              <a:rPr lang="zh-CN" altLang="en-US" dirty="0" smtClean="0">
                <a:solidFill>
                  <a:srgbClr val="0000FF"/>
                </a:solidFill>
              </a:rPr>
              <a:t>这个研究有什么用，对谁有用</a:t>
            </a:r>
            <a:endParaRPr lang="en-US" altLang="zh-CN" dirty="0" smtClean="0">
              <a:solidFill>
                <a:srgbClr val="0000FF"/>
              </a:solidFill>
            </a:endParaRPr>
          </a:p>
          <a:p>
            <a:r>
              <a:rPr lang="zh-CN" altLang="en-US" dirty="0" smtClean="0">
                <a:solidFill>
                  <a:srgbClr val="FF0000"/>
                </a:solidFill>
              </a:rPr>
              <a:t>（</a:t>
            </a:r>
            <a:r>
              <a:rPr lang="en-US" altLang="zh-CN" dirty="0" smtClean="0">
                <a:solidFill>
                  <a:srgbClr val="FF0000"/>
                </a:solidFill>
              </a:rPr>
              <a:t>1</a:t>
            </a:r>
            <a:r>
              <a:rPr lang="zh-CN" altLang="en-US" dirty="0" smtClean="0">
                <a:solidFill>
                  <a:srgbClr val="FF0000"/>
                </a:solidFill>
              </a:rPr>
              <a:t>）研究靶子：研究</a:t>
            </a:r>
            <a:r>
              <a:rPr lang="zh-CN" altLang="en-US" dirty="0">
                <a:solidFill>
                  <a:srgbClr val="FF0000"/>
                </a:solidFill>
              </a:rPr>
              <a:t>问题是什么？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 smtClean="0"/>
              <a:t>从应用场景入手说明实践中存在什么问题需要解决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对应哪个网站（要列举</a:t>
            </a:r>
            <a:r>
              <a:rPr lang="en-US" altLang="zh-CN" dirty="0" smtClean="0"/>
              <a:t>3</a:t>
            </a:r>
            <a:r>
              <a:rPr lang="zh-CN" altLang="en-US" dirty="0" smtClean="0"/>
              <a:t>个左右具体应用网站）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选择一个</a:t>
            </a:r>
            <a:r>
              <a:rPr lang="zh-CN" altLang="en-US" dirty="0"/>
              <a:t>较为流行的网站</a:t>
            </a:r>
            <a:r>
              <a:rPr lang="zh-CN" altLang="en-US" dirty="0" smtClean="0"/>
              <a:t>进行应用场景实例说明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FF0000"/>
                </a:solidFill>
              </a:rPr>
              <a:t>（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 smtClean="0">
                <a:solidFill>
                  <a:srgbClr val="FF0000"/>
                </a:solidFill>
              </a:rPr>
              <a:t>）研究</a:t>
            </a:r>
            <a:r>
              <a:rPr lang="en-US" altLang="zh-CN" dirty="0" smtClean="0">
                <a:solidFill>
                  <a:srgbClr val="FF0000"/>
                </a:solidFill>
              </a:rPr>
              <a:t>GAP</a:t>
            </a:r>
            <a:r>
              <a:rPr lang="zh-CN" altLang="en-US" dirty="0" smtClean="0">
                <a:solidFill>
                  <a:srgbClr val="FF0000"/>
                </a:solidFill>
              </a:rPr>
              <a:t>：大家</a:t>
            </a:r>
            <a:r>
              <a:rPr lang="zh-CN" altLang="en-US" dirty="0">
                <a:solidFill>
                  <a:srgbClr val="FF0000"/>
                </a:solidFill>
              </a:rPr>
              <a:t>怎么做的？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大体有哪些方法（要有总的归纳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引言中列举紧密相关代表性研究文献（要新、要顶级）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国内外研究现状部分详细介绍，指出存在不足，说得出</a:t>
            </a:r>
            <a:r>
              <a:rPr lang="en-US" altLang="zh-CN" dirty="0" smtClean="0"/>
              <a:t>gap</a:t>
            </a:r>
          </a:p>
          <a:p>
            <a:r>
              <a:rPr lang="zh-CN" altLang="en-US" dirty="0" smtClean="0">
                <a:solidFill>
                  <a:srgbClr val="FF0000"/>
                </a:solidFill>
              </a:rPr>
              <a:t>（</a:t>
            </a:r>
            <a:r>
              <a:rPr lang="en-US" altLang="zh-CN" dirty="0" smtClean="0">
                <a:solidFill>
                  <a:srgbClr val="FF0000"/>
                </a:solidFill>
              </a:rPr>
              <a:t>3</a:t>
            </a:r>
            <a:r>
              <a:rPr lang="zh-CN" altLang="en-US" dirty="0" smtClean="0">
                <a:solidFill>
                  <a:srgbClr val="FF0000"/>
                </a:solidFill>
              </a:rPr>
              <a:t>）研究视角：你准备怎么做？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讲清你的基本的、总体的</a:t>
            </a:r>
            <a:r>
              <a:rPr lang="zh-CN" altLang="en-US" dirty="0" smtClean="0"/>
              <a:t>思路，大</a:t>
            </a:r>
            <a:r>
              <a:rPr lang="zh-CN" altLang="en-US" dirty="0"/>
              <a:t>一新生能听</a:t>
            </a:r>
            <a:r>
              <a:rPr lang="zh-CN" altLang="en-US" dirty="0" smtClean="0"/>
              <a:t>懂</a:t>
            </a:r>
            <a:endParaRPr lang="en-US" altLang="zh-CN" dirty="0"/>
          </a:p>
          <a:p>
            <a:pPr lvl="1"/>
            <a:endParaRPr lang="en-US" altLang="zh-CN" dirty="0">
              <a:solidFill>
                <a:srgbClr val="FF0000"/>
              </a:solidFill>
            </a:endParaRPr>
          </a:p>
          <a:p>
            <a:pPr lvl="1"/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研究套路 </a:t>
            </a:r>
            <a:r>
              <a:rPr lang="zh-CN" altLang="en-US" sz="2000" dirty="0" smtClean="0"/>
              <a:t>之一</a:t>
            </a:r>
            <a:r>
              <a:rPr lang="zh-CN" altLang="en-US" dirty="0" smtClean="0"/>
              <a:t>：</a:t>
            </a:r>
            <a:r>
              <a:rPr lang="zh-CN" altLang="en-US" dirty="0" smtClean="0">
                <a:solidFill>
                  <a:srgbClr val="0000FF"/>
                </a:solidFill>
              </a:rPr>
              <a:t>研究动机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9771749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 smtClean="0"/>
              <a:t>目标：</a:t>
            </a:r>
            <a:r>
              <a:rPr lang="zh-CN" altLang="en-US" dirty="0" smtClean="0">
                <a:solidFill>
                  <a:srgbClr val="0000FF"/>
                </a:solidFill>
              </a:rPr>
              <a:t>向读者展示你的解决方案</a:t>
            </a:r>
            <a:endParaRPr lang="en-US" altLang="zh-CN" dirty="0" smtClean="0">
              <a:solidFill>
                <a:srgbClr val="0000FF"/>
              </a:solidFill>
            </a:endParaRPr>
          </a:p>
          <a:p>
            <a:r>
              <a:rPr lang="zh-CN" altLang="en-US" dirty="0" smtClean="0">
                <a:solidFill>
                  <a:srgbClr val="FF0000"/>
                </a:solidFill>
              </a:rPr>
              <a:t>（</a:t>
            </a:r>
            <a:r>
              <a:rPr lang="en-US" altLang="zh-CN" dirty="0" smtClean="0">
                <a:solidFill>
                  <a:srgbClr val="FF0000"/>
                </a:solidFill>
              </a:rPr>
              <a:t>1</a:t>
            </a:r>
            <a:r>
              <a:rPr lang="zh-CN" altLang="en-US" dirty="0" smtClean="0">
                <a:solidFill>
                  <a:srgbClr val="FF0000"/>
                </a:solidFill>
              </a:rPr>
              <a:t>）研究思路：如何切入点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1"/>
            <a:r>
              <a:rPr lang="zh-CN" altLang="en-US" dirty="0" smtClean="0"/>
              <a:t>研究视角的具体展开，专业的学生能听懂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FF0000"/>
                </a:solidFill>
              </a:rPr>
              <a:t>（</a:t>
            </a:r>
            <a:r>
              <a:rPr lang="en-US" altLang="zh-CN" dirty="0" smtClean="0">
                <a:solidFill>
                  <a:srgbClr val="FF0000"/>
                </a:solidFill>
              </a:rPr>
              <a:t>2</a:t>
            </a:r>
            <a:r>
              <a:rPr lang="zh-CN" altLang="en-US" dirty="0" smtClean="0">
                <a:solidFill>
                  <a:srgbClr val="FF0000"/>
                </a:solidFill>
              </a:rPr>
              <a:t>）研究框架：如何落实思路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1"/>
            <a:r>
              <a:rPr lang="zh-CN" altLang="en-US" dirty="0" smtClean="0"/>
              <a:t>模型图层面，具体的模型细节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根据</a:t>
            </a:r>
            <a:r>
              <a:rPr lang="zh-CN" altLang="en-US" dirty="0"/>
              <a:t>那个</a:t>
            </a:r>
            <a:r>
              <a:rPr lang="zh-CN" altLang="en-US" dirty="0" smtClean="0"/>
              <a:t>切入点你是怎么</a:t>
            </a:r>
            <a:r>
              <a:rPr lang="zh-CN" altLang="en-US" dirty="0"/>
              <a:t>做</a:t>
            </a:r>
            <a:r>
              <a:rPr lang="zh-CN" altLang="en-US" dirty="0" smtClean="0"/>
              <a:t>了（大论文、小论文 表述上有些区别）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构建具体深度学习模型，包含哪几层，每层的用意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模型要能实现你</a:t>
            </a:r>
            <a:r>
              <a:rPr lang="zh-CN" altLang="en-US" dirty="0"/>
              <a:t>的切入点，要有</a:t>
            </a:r>
            <a:r>
              <a:rPr lang="zh-CN" altLang="en-US" dirty="0" smtClean="0"/>
              <a:t>对应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FF0000"/>
                </a:solidFill>
              </a:rPr>
              <a:t>（</a:t>
            </a:r>
            <a:r>
              <a:rPr lang="en-US" altLang="zh-CN" dirty="0" smtClean="0">
                <a:solidFill>
                  <a:srgbClr val="FF0000"/>
                </a:solidFill>
              </a:rPr>
              <a:t>3</a:t>
            </a:r>
            <a:r>
              <a:rPr lang="zh-CN" altLang="en-US" dirty="0" smtClean="0">
                <a:solidFill>
                  <a:srgbClr val="FF0000"/>
                </a:solidFill>
              </a:rPr>
              <a:t>）研究内容：包含几点主要研究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一般归纳为三</a:t>
            </a:r>
            <a:r>
              <a:rPr lang="zh-CN" altLang="en-US" dirty="0" smtClean="0"/>
              <a:t>点，每点要明确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FF0000"/>
                </a:solidFill>
              </a:rPr>
              <a:t>（</a:t>
            </a:r>
            <a:r>
              <a:rPr lang="en-US" altLang="zh-CN" dirty="0" smtClean="0">
                <a:solidFill>
                  <a:srgbClr val="FF0000"/>
                </a:solidFill>
              </a:rPr>
              <a:t>4</a:t>
            </a:r>
            <a:r>
              <a:rPr lang="zh-CN" altLang="en-US" dirty="0" smtClean="0">
                <a:solidFill>
                  <a:srgbClr val="FF0000"/>
                </a:solidFill>
              </a:rPr>
              <a:t>）研究贡献：总结几点贡献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研究</a:t>
            </a:r>
            <a:r>
              <a:rPr lang="zh-CN" altLang="en-US" dirty="0" smtClean="0"/>
              <a:t>套路 </a:t>
            </a:r>
            <a:r>
              <a:rPr lang="zh-CN" altLang="en-US" sz="2000" dirty="0" smtClean="0"/>
              <a:t>之</a:t>
            </a:r>
            <a:r>
              <a:rPr lang="zh-CN" altLang="en-US" sz="2000" dirty="0"/>
              <a:t>二</a:t>
            </a:r>
            <a:r>
              <a:rPr lang="zh-CN" altLang="en-US" dirty="0" smtClean="0"/>
              <a:t>：</a:t>
            </a:r>
            <a:r>
              <a:rPr lang="zh-CN" altLang="en-US" dirty="0" smtClean="0">
                <a:solidFill>
                  <a:srgbClr val="0000FF"/>
                </a:solidFill>
              </a:rPr>
              <a:t>研究方案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664572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75000"/>
              </a:lnSpc>
            </a:pPr>
            <a:r>
              <a:rPr lang="zh-CN" altLang="en-US" b="1" dirty="0" smtClean="0"/>
              <a:t>目标：</a:t>
            </a:r>
            <a:r>
              <a:rPr lang="zh-CN" altLang="en-US" dirty="0" smtClean="0">
                <a:solidFill>
                  <a:srgbClr val="0000FF"/>
                </a:solidFill>
              </a:rPr>
              <a:t>你的方法到底</a:t>
            </a:r>
            <a:r>
              <a:rPr lang="zh-CN" altLang="en-US" dirty="0">
                <a:solidFill>
                  <a:srgbClr val="0000FF"/>
                </a:solidFill>
              </a:rPr>
              <a:t>好不好，如何证明</a:t>
            </a:r>
            <a:endParaRPr lang="en-US" altLang="zh-CN" dirty="0">
              <a:solidFill>
                <a:srgbClr val="0000FF"/>
              </a:solidFill>
            </a:endParaRPr>
          </a:p>
          <a:p>
            <a:pPr>
              <a:lnSpc>
                <a:spcPct val="175000"/>
              </a:lnSpc>
            </a:pPr>
            <a:r>
              <a:rPr lang="zh-CN" altLang="en-US" dirty="0" smtClean="0">
                <a:solidFill>
                  <a:srgbClr val="FF0000"/>
                </a:solidFill>
              </a:rPr>
              <a:t>（</a:t>
            </a:r>
            <a:r>
              <a:rPr lang="en-US" altLang="zh-CN" dirty="0" smtClean="0">
                <a:solidFill>
                  <a:srgbClr val="FF0000"/>
                </a:solidFill>
              </a:rPr>
              <a:t>1</a:t>
            </a:r>
            <a:r>
              <a:rPr lang="zh-CN" altLang="en-US" dirty="0" smtClean="0">
                <a:solidFill>
                  <a:srgbClr val="FF0000"/>
                </a:solidFill>
              </a:rPr>
              <a:t>）数据集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1">
              <a:lnSpc>
                <a:spcPct val="175000"/>
              </a:lnSpc>
            </a:pPr>
            <a:r>
              <a:rPr lang="zh-CN" altLang="en-US" dirty="0" smtClean="0"/>
              <a:t>权威数据、实际数据、大数据、多数据</a:t>
            </a:r>
            <a:endParaRPr lang="en-US" altLang="zh-CN" dirty="0" smtClean="0"/>
          </a:p>
          <a:p>
            <a:pPr>
              <a:lnSpc>
                <a:spcPct val="175000"/>
              </a:lnSpc>
            </a:pPr>
            <a:r>
              <a:rPr lang="zh-CN" altLang="en-US" dirty="0" smtClean="0">
                <a:solidFill>
                  <a:srgbClr val="FF0000"/>
                </a:solidFill>
              </a:rPr>
              <a:t>（</a:t>
            </a:r>
            <a:r>
              <a:rPr lang="en-US" altLang="zh-CN" dirty="0" smtClean="0">
                <a:solidFill>
                  <a:srgbClr val="FF0000"/>
                </a:solidFill>
              </a:rPr>
              <a:t>2</a:t>
            </a:r>
            <a:r>
              <a:rPr lang="zh-CN" altLang="en-US" dirty="0" smtClean="0">
                <a:solidFill>
                  <a:srgbClr val="FF0000"/>
                </a:solidFill>
              </a:rPr>
              <a:t>）实验设计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1">
              <a:lnSpc>
                <a:spcPct val="175000"/>
              </a:lnSpc>
            </a:pPr>
            <a:r>
              <a:rPr lang="zh-CN" altLang="en-US" dirty="0" smtClean="0"/>
              <a:t>明确做哪几个实验才能证明你的</a:t>
            </a:r>
            <a:r>
              <a:rPr lang="en-US" altLang="zh-CN" dirty="0" smtClean="0"/>
              <a:t>IDEA</a:t>
            </a:r>
          </a:p>
          <a:p>
            <a:pPr lvl="2">
              <a:lnSpc>
                <a:spcPct val="175000"/>
              </a:lnSpc>
            </a:pPr>
            <a:r>
              <a:rPr lang="zh-CN" altLang="en-US" dirty="0" smtClean="0"/>
              <a:t>实验一：</a:t>
            </a:r>
            <a:r>
              <a:rPr lang="en-US" altLang="zh-CN" dirty="0" smtClean="0"/>
              <a:t>*****</a:t>
            </a:r>
            <a:r>
              <a:rPr lang="zh-CN" altLang="en-US" dirty="0" smtClean="0"/>
              <a:t>； 实验二：</a:t>
            </a:r>
            <a:r>
              <a:rPr lang="en-US" altLang="zh-CN" dirty="0" smtClean="0"/>
              <a:t>*****</a:t>
            </a:r>
          </a:p>
          <a:p>
            <a:pPr lvl="1">
              <a:lnSpc>
                <a:spcPct val="175000"/>
              </a:lnSpc>
            </a:pPr>
            <a:r>
              <a:rPr lang="zh-CN" altLang="en-US" dirty="0" smtClean="0"/>
              <a:t>对比实验（与外部比、自己内部比）、应用实证</a:t>
            </a:r>
            <a:endParaRPr lang="en-US" altLang="zh-CN" dirty="0" smtClean="0"/>
          </a:p>
          <a:p>
            <a:pPr lvl="1">
              <a:lnSpc>
                <a:spcPct val="175000"/>
              </a:lnSpc>
            </a:pPr>
            <a:r>
              <a:rPr lang="en-US" altLang="zh-CN" dirty="0"/>
              <a:t>Baseline</a:t>
            </a:r>
            <a:r>
              <a:rPr lang="zh-CN" altLang="en-US" dirty="0"/>
              <a:t>：</a:t>
            </a:r>
            <a:r>
              <a:rPr lang="zh-CN" altLang="en-US" dirty="0" smtClean="0"/>
              <a:t>和谁比较（主流文献、新的）</a:t>
            </a:r>
            <a:endParaRPr lang="en-US" altLang="zh-CN" dirty="0" smtClean="0"/>
          </a:p>
          <a:p>
            <a:pPr>
              <a:lnSpc>
                <a:spcPct val="175000"/>
              </a:lnSpc>
            </a:pPr>
            <a:r>
              <a:rPr lang="zh-CN" altLang="en-US" dirty="0" smtClean="0">
                <a:solidFill>
                  <a:srgbClr val="FF0000"/>
                </a:solidFill>
              </a:rPr>
              <a:t>（</a:t>
            </a:r>
            <a:r>
              <a:rPr lang="en-US" altLang="zh-CN" dirty="0" smtClean="0">
                <a:solidFill>
                  <a:srgbClr val="FF0000"/>
                </a:solidFill>
              </a:rPr>
              <a:t>3</a:t>
            </a:r>
            <a:r>
              <a:rPr lang="zh-CN" altLang="en-US" dirty="0" smtClean="0">
                <a:solidFill>
                  <a:srgbClr val="FF0000"/>
                </a:solidFill>
              </a:rPr>
              <a:t>）实验结果</a:t>
            </a:r>
            <a:endParaRPr lang="zh-CN" altLang="en-US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研究</a:t>
            </a:r>
            <a:r>
              <a:rPr lang="zh-CN" altLang="en-US" dirty="0" smtClean="0"/>
              <a:t>套路 </a:t>
            </a:r>
            <a:r>
              <a:rPr lang="zh-CN" altLang="en-US" sz="2000" dirty="0" smtClean="0"/>
              <a:t>之三</a:t>
            </a:r>
            <a:r>
              <a:rPr lang="zh-CN" altLang="en-US" dirty="0" smtClean="0"/>
              <a:t>：</a:t>
            </a:r>
            <a:r>
              <a:rPr lang="zh-CN" altLang="en-US" dirty="0" smtClean="0">
                <a:solidFill>
                  <a:srgbClr val="0000FF"/>
                </a:solidFill>
              </a:rPr>
              <a:t>实验论证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5822827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套路总结</a:t>
            </a:r>
            <a:endParaRPr lang="zh-CN" altLang="en-US" dirty="0"/>
          </a:p>
        </p:txBody>
      </p:sp>
      <p:grpSp>
        <p:nvGrpSpPr>
          <p:cNvPr id="23" name="组合 22"/>
          <p:cNvGrpSpPr/>
          <p:nvPr/>
        </p:nvGrpSpPr>
        <p:grpSpPr>
          <a:xfrm>
            <a:off x="1475656" y="1196752"/>
            <a:ext cx="6264696" cy="1008112"/>
            <a:chOff x="1475656" y="1530666"/>
            <a:chExt cx="6264696" cy="1008112"/>
          </a:xfrm>
        </p:grpSpPr>
        <p:sp>
          <p:nvSpPr>
            <p:cNvPr id="5" name="矩形 4"/>
            <p:cNvSpPr/>
            <p:nvPr/>
          </p:nvSpPr>
          <p:spPr>
            <a:xfrm>
              <a:off x="1475656" y="1530666"/>
              <a:ext cx="6264696" cy="1008112"/>
            </a:xfrm>
            <a:prstGeom prst="rect">
              <a:avLst/>
            </a:prstGeom>
            <a:solidFill>
              <a:schemeClr val="lt1">
                <a:alpha val="0"/>
              </a:schemeClr>
            </a:solidFill>
            <a:ln w="3175">
              <a:solidFill>
                <a:schemeClr val="tx1"/>
              </a:solidFill>
              <a:prstDash val="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1050" kern="100">
                  <a:effectLst/>
                  <a:ea typeface="等线" panose="02010600030101010101" pitchFamily="2" charset="-122"/>
                  <a:cs typeface="Times New Roman" panose="02020603050405020304" pitchFamily="18" charset="0"/>
                </a:rPr>
                <a:t> </a:t>
              </a:r>
              <a:endParaRPr lang="zh-CN" sz="1050" kern="100">
                <a:effectLst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1680399" y="1740320"/>
              <a:ext cx="5804906" cy="607071"/>
              <a:chOff x="1680399" y="1740320"/>
              <a:chExt cx="5804906" cy="607071"/>
            </a:xfrm>
          </p:grpSpPr>
          <p:sp>
            <p:nvSpPr>
              <p:cNvPr id="7" name="矩形 6"/>
              <p:cNvSpPr/>
              <p:nvPr/>
            </p:nvSpPr>
            <p:spPr>
              <a:xfrm>
                <a:off x="1680399" y="1740320"/>
                <a:ext cx="1369643" cy="607071"/>
              </a:xfrm>
              <a:prstGeom prst="rect">
                <a:avLst/>
              </a:prstGeom>
              <a:solidFill>
                <a:srgbClr val="CCFFCC"/>
              </a:solidFill>
              <a:ln>
                <a:solidFill>
                  <a:srgbClr val="0000FF"/>
                </a:solidFill>
                <a:prstDash val="sysDash"/>
              </a:ln>
            </p:spPr>
            <p:txBody>
              <a:bodyPr wrap="square" tIns="72000" bIns="72000">
                <a:spAutoFit/>
              </a:bodyPr>
              <a:lstStyle/>
              <a:p>
                <a:pPr algn="ctr">
                  <a:lnSpc>
                    <a:spcPct val="150000"/>
                  </a:lnSpc>
                  <a:spcAft>
                    <a:spcPts val="1200"/>
                  </a:spcAft>
                </a:pPr>
                <a:r>
                  <a:rPr lang="zh-CN" altLang="en-US" dirty="0">
                    <a:solidFill>
                      <a:srgbClr val="FF0000"/>
                    </a:solidFill>
                  </a:rPr>
                  <a:t>研究靶子</a:t>
                </a:r>
              </a:p>
            </p:txBody>
          </p:sp>
          <p:sp>
            <p:nvSpPr>
              <p:cNvPr id="8" name="右箭头 7"/>
              <p:cNvSpPr/>
              <p:nvPr/>
            </p:nvSpPr>
            <p:spPr bwMode="auto">
              <a:xfrm>
                <a:off x="3332184" y="1835941"/>
                <a:ext cx="288032" cy="377486"/>
              </a:xfrm>
              <a:prstGeom prst="rightArrow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3889621" y="1740320"/>
                <a:ext cx="1467317" cy="607071"/>
              </a:xfrm>
              <a:prstGeom prst="rect">
                <a:avLst/>
              </a:prstGeom>
              <a:solidFill>
                <a:srgbClr val="CCFFCC"/>
              </a:solidFill>
              <a:ln>
                <a:solidFill>
                  <a:srgbClr val="0000FF"/>
                </a:solidFill>
                <a:prstDash val="sysDash"/>
              </a:ln>
            </p:spPr>
            <p:txBody>
              <a:bodyPr wrap="square" tIns="72000" bIns="72000">
                <a:spAutoFit/>
              </a:bodyPr>
              <a:lstStyle/>
              <a:p>
                <a:pPr algn="ctr">
                  <a:lnSpc>
                    <a:spcPct val="150000"/>
                  </a:lnSpc>
                  <a:spcAft>
                    <a:spcPts val="1200"/>
                  </a:spcAft>
                </a:pPr>
                <a:r>
                  <a:rPr lang="zh-CN" altLang="en-US" dirty="0">
                    <a:solidFill>
                      <a:srgbClr val="FF0000"/>
                    </a:solidFill>
                  </a:rPr>
                  <a:t>研究</a:t>
                </a:r>
                <a:r>
                  <a:rPr lang="en-US" altLang="zh-CN" dirty="0" smtClean="0">
                    <a:solidFill>
                      <a:srgbClr val="FF0000"/>
                    </a:solidFill>
                  </a:rPr>
                  <a:t>GAP</a:t>
                </a:r>
                <a:endParaRPr lang="zh-CN" altLang="en-US" dirty="0"/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6215610" y="1740320"/>
                <a:ext cx="1269695" cy="607071"/>
              </a:xfrm>
              <a:prstGeom prst="rect">
                <a:avLst/>
              </a:prstGeom>
              <a:solidFill>
                <a:srgbClr val="CCFFCC"/>
              </a:solidFill>
              <a:ln>
                <a:solidFill>
                  <a:srgbClr val="0000FF"/>
                </a:solidFill>
                <a:prstDash val="sysDash"/>
              </a:ln>
            </p:spPr>
            <p:txBody>
              <a:bodyPr wrap="square" tIns="72000" bIns="72000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1200"/>
                  </a:spcAft>
                </a:pPr>
                <a:r>
                  <a:rPr lang="zh-CN" altLang="en-US" dirty="0">
                    <a:solidFill>
                      <a:srgbClr val="FF0000"/>
                    </a:solidFill>
                  </a:rPr>
                  <a:t>研究</a:t>
                </a:r>
                <a:r>
                  <a:rPr lang="zh-CN" altLang="en-US" dirty="0" smtClean="0">
                    <a:solidFill>
                      <a:srgbClr val="FF0000"/>
                    </a:solidFill>
                  </a:rPr>
                  <a:t>视角   </a:t>
                </a:r>
                <a:endParaRPr lang="en-US" altLang="zh-CN" dirty="0" smtClean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1" name="右箭头 10"/>
              <p:cNvSpPr/>
              <p:nvPr/>
            </p:nvSpPr>
            <p:spPr bwMode="auto">
              <a:xfrm>
                <a:off x="5678916" y="1835941"/>
                <a:ext cx="288032" cy="377486"/>
              </a:xfrm>
              <a:prstGeom prst="rightArrow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</p:grpSp>
      </p:grpSp>
      <p:grpSp>
        <p:nvGrpSpPr>
          <p:cNvPr id="24" name="组合 23"/>
          <p:cNvGrpSpPr/>
          <p:nvPr/>
        </p:nvGrpSpPr>
        <p:grpSpPr>
          <a:xfrm>
            <a:off x="899592" y="2722306"/>
            <a:ext cx="7187535" cy="1008112"/>
            <a:chOff x="984865" y="3415937"/>
            <a:chExt cx="7187535" cy="1008112"/>
          </a:xfrm>
        </p:grpSpPr>
        <p:sp>
          <p:nvSpPr>
            <p:cNvPr id="6" name="矩形 5"/>
            <p:cNvSpPr/>
            <p:nvPr/>
          </p:nvSpPr>
          <p:spPr>
            <a:xfrm>
              <a:off x="984865" y="3415937"/>
              <a:ext cx="7187535" cy="1008112"/>
            </a:xfrm>
            <a:prstGeom prst="rect">
              <a:avLst/>
            </a:prstGeom>
            <a:solidFill>
              <a:schemeClr val="lt1">
                <a:alpha val="0"/>
              </a:schemeClr>
            </a:solidFill>
            <a:ln w="3175">
              <a:solidFill>
                <a:schemeClr val="tx1"/>
              </a:solidFill>
              <a:prstDash val="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1233183" y="3620053"/>
              <a:ext cx="6667213" cy="607071"/>
              <a:chOff x="1233183" y="3620053"/>
              <a:chExt cx="6667213" cy="607071"/>
            </a:xfrm>
          </p:grpSpPr>
          <p:sp>
            <p:nvSpPr>
              <p:cNvPr id="13" name="矩形 12"/>
              <p:cNvSpPr/>
              <p:nvPr/>
            </p:nvSpPr>
            <p:spPr>
              <a:xfrm>
                <a:off x="1233183" y="3620053"/>
                <a:ext cx="1224136" cy="607071"/>
              </a:xfrm>
              <a:prstGeom prst="rect">
                <a:avLst/>
              </a:prstGeom>
              <a:solidFill>
                <a:srgbClr val="CCFFCC"/>
              </a:solidFill>
              <a:ln>
                <a:solidFill>
                  <a:srgbClr val="0000FF"/>
                </a:solidFill>
                <a:prstDash val="sysDash"/>
              </a:ln>
            </p:spPr>
            <p:txBody>
              <a:bodyPr wrap="square" tIns="72000" bIns="72000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1200"/>
                  </a:spcAft>
                </a:pPr>
                <a:r>
                  <a:rPr lang="zh-CN" altLang="en-US" dirty="0">
                    <a:solidFill>
                      <a:srgbClr val="FF0000"/>
                    </a:solidFill>
                  </a:rPr>
                  <a:t>研究思路</a:t>
                </a:r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3016293" y="3620053"/>
                <a:ext cx="1224136" cy="607071"/>
              </a:xfrm>
              <a:prstGeom prst="rect">
                <a:avLst/>
              </a:prstGeom>
              <a:solidFill>
                <a:srgbClr val="CCFFCC"/>
              </a:solidFill>
              <a:ln>
                <a:solidFill>
                  <a:srgbClr val="0000FF"/>
                </a:solidFill>
                <a:prstDash val="sysDash"/>
              </a:ln>
            </p:spPr>
            <p:txBody>
              <a:bodyPr wrap="square" tIns="72000" bIns="72000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1200"/>
                  </a:spcAft>
                </a:pPr>
                <a:r>
                  <a:rPr lang="zh-CN" altLang="en-US" dirty="0" smtClean="0">
                    <a:solidFill>
                      <a:srgbClr val="FF0000"/>
                    </a:solidFill>
                  </a:rPr>
                  <a:t>研究框架</a:t>
                </a:r>
                <a:endParaRPr lang="zh-CN" altLang="en-US" dirty="0"/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4845100" y="3620053"/>
                <a:ext cx="1224136" cy="607071"/>
              </a:xfrm>
              <a:prstGeom prst="rect">
                <a:avLst/>
              </a:prstGeom>
              <a:solidFill>
                <a:srgbClr val="CCFFCC"/>
              </a:solidFill>
              <a:ln>
                <a:solidFill>
                  <a:srgbClr val="0000FF"/>
                </a:solidFill>
                <a:prstDash val="sysDash"/>
              </a:ln>
            </p:spPr>
            <p:txBody>
              <a:bodyPr wrap="square" tIns="72000" bIns="72000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1200"/>
                  </a:spcAft>
                </a:pPr>
                <a:r>
                  <a:rPr lang="zh-CN" altLang="en-US" dirty="0" smtClean="0">
                    <a:solidFill>
                      <a:srgbClr val="FF0000"/>
                    </a:solidFill>
                  </a:rPr>
                  <a:t>研究内容</a:t>
                </a:r>
                <a:endParaRPr lang="zh-CN" altLang="en-US" dirty="0"/>
              </a:p>
            </p:txBody>
          </p:sp>
          <p:sp>
            <p:nvSpPr>
              <p:cNvPr id="17" name="矩形 16"/>
              <p:cNvSpPr/>
              <p:nvPr/>
            </p:nvSpPr>
            <p:spPr>
              <a:xfrm>
                <a:off x="6676260" y="3620053"/>
                <a:ext cx="1224136" cy="607071"/>
              </a:xfrm>
              <a:prstGeom prst="rect">
                <a:avLst/>
              </a:prstGeom>
              <a:solidFill>
                <a:srgbClr val="CCFFCC"/>
              </a:solidFill>
              <a:ln>
                <a:solidFill>
                  <a:srgbClr val="0000FF"/>
                </a:solidFill>
                <a:prstDash val="sysDash"/>
              </a:ln>
            </p:spPr>
            <p:txBody>
              <a:bodyPr wrap="square" tIns="72000" bIns="72000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1200"/>
                  </a:spcAft>
                </a:pPr>
                <a:r>
                  <a:rPr lang="zh-CN" altLang="en-US" dirty="0" smtClean="0">
                    <a:solidFill>
                      <a:srgbClr val="FF0000"/>
                    </a:solidFill>
                  </a:rPr>
                  <a:t>研究贡献</a:t>
                </a:r>
                <a:endParaRPr lang="zh-CN" altLang="en-US" dirty="0"/>
              </a:p>
            </p:txBody>
          </p:sp>
          <p:sp>
            <p:nvSpPr>
              <p:cNvPr id="18" name="右箭头 17"/>
              <p:cNvSpPr/>
              <p:nvPr/>
            </p:nvSpPr>
            <p:spPr bwMode="auto">
              <a:xfrm>
                <a:off x="2615638" y="3734845"/>
                <a:ext cx="288032" cy="377486"/>
              </a:xfrm>
              <a:prstGeom prst="rightArrow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  <p:sp>
            <p:nvSpPr>
              <p:cNvPr id="19" name="右箭头 18"/>
              <p:cNvSpPr/>
              <p:nvPr/>
            </p:nvSpPr>
            <p:spPr bwMode="auto">
              <a:xfrm>
                <a:off x="4434616" y="3789055"/>
                <a:ext cx="288032" cy="377486"/>
              </a:xfrm>
              <a:prstGeom prst="rightArrow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  <p:sp>
            <p:nvSpPr>
              <p:cNvPr id="20" name="右箭头 19"/>
              <p:cNvSpPr/>
              <p:nvPr/>
            </p:nvSpPr>
            <p:spPr bwMode="auto">
              <a:xfrm>
                <a:off x="6254799" y="3789055"/>
                <a:ext cx="288032" cy="377486"/>
              </a:xfrm>
              <a:prstGeom prst="rightArrow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</p:grpSp>
      </p:grpSp>
      <p:grpSp>
        <p:nvGrpSpPr>
          <p:cNvPr id="25" name="组合 24"/>
          <p:cNvGrpSpPr/>
          <p:nvPr/>
        </p:nvGrpSpPr>
        <p:grpSpPr>
          <a:xfrm>
            <a:off x="1505027" y="4260600"/>
            <a:ext cx="6264696" cy="1008112"/>
            <a:chOff x="1475656" y="1530666"/>
            <a:chExt cx="6264696" cy="1008112"/>
          </a:xfrm>
        </p:grpSpPr>
        <p:sp>
          <p:nvSpPr>
            <p:cNvPr id="26" name="矩形 25"/>
            <p:cNvSpPr/>
            <p:nvPr/>
          </p:nvSpPr>
          <p:spPr>
            <a:xfrm>
              <a:off x="1475656" y="1530666"/>
              <a:ext cx="6264696" cy="1008112"/>
            </a:xfrm>
            <a:prstGeom prst="rect">
              <a:avLst/>
            </a:prstGeom>
            <a:solidFill>
              <a:schemeClr val="lt1">
                <a:alpha val="0"/>
              </a:schemeClr>
            </a:solidFill>
            <a:ln w="3175">
              <a:solidFill>
                <a:schemeClr val="tx1"/>
              </a:solidFill>
              <a:prstDash val="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1050" kern="100">
                  <a:effectLst/>
                  <a:ea typeface="等线" panose="02010600030101010101" pitchFamily="2" charset="-122"/>
                  <a:cs typeface="Times New Roman" panose="02020603050405020304" pitchFamily="18" charset="0"/>
                </a:rPr>
                <a:t> </a:t>
              </a:r>
              <a:endParaRPr lang="zh-CN" sz="1050" kern="100">
                <a:effectLst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1680399" y="1740320"/>
              <a:ext cx="5804906" cy="607071"/>
              <a:chOff x="1680399" y="1740320"/>
              <a:chExt cx="5804906" cy="607071"/>
            </a:xfrm>
          </p:grpSpPr>
          <p:sp>
            <p:nvSpPr>
              <p:cNvPr id="28" name="矩形 27"/>
              <p:cNvSpPr/>
              <p:nvPr/>
            </p:nvSpPr>
            <p:spPr>
              <a:xfrm>
                <a:off x="1680399" y="1740320"/>
                <a:ext cx="1369643" cy="607071"/>
              </a:xfrm>
              <a:prstGeom prst="rect">
                <a:avLst/>
              </a:prstGeom>
              <a:solidFill>
                <a:srgbClr val="CCFFCC"/>
              </a:solidFill>
              <a:ln>
                <a:solidFill>
                  <a:srgbClr val="0000FF"/>
                </a:solidFill>
                <a:prstDash val="sysDash"/>
              </a:ln>
            </p:spPr>
            <p:txBody>
              <a:bodyPr wrap="square" tIns="72000" bIns="72000">
                <a:spAutoFit/>
              </a:bodyPr>
              <a:lstStyle/>
              <a:p>
                <a:pPr algn="ctr">
                  <a:lnSpc>
                    <a:spcPct val="150000"/>
                  </a:lnSpc>
                  <a:spcAft>
                    <a:spcPts val="1200"/>
                  </a:spcAft>
                </a:pPr>
                <a:r>
                  <a:rPr lang="zh-CN" altLang="en-US" dirty="0" smtClean="0">
                    <a:solidFill>
                      <a:srgbClr val="FF0000"/>
                    </a:solidFill>
                  </a:rPr>
                  <a:t>实验数据</a:t>
                </a:r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9" name="右箭头 28"/>
              <p:cNvSpPr/>
              <p:nvPr/>
            </p:nvSpPr>
            <p:spPr bwMode="auto">
              <a:xfrm>
                <a:off x="3332184" y="1835941"/>
                <a:ext cx="288032" cy="377486"/>
              </a:xfrm>
              <a:prstGeom prst="rightArrow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  <p:sp>
            <p:nvSpPr>
              <p:cNvPr id="30" name="矩形 29"/>
              <p:cNvSpPr/>
              <p:nvPr/>
            </p:nvSpPr>
            <p:spPr>
              <a:xfrm>
                <a:off x="3889621" y="1740320"/>
                <a:ext cx="1467317" cy="607071"/>
              </a:xfrm>
              <a:prstGeom prst="rect">
                <a:avLst/>
              </a:prstGeom>
              <a:solidFill>
                <a:srgbClr val="CCFFCC"/>
              </a:solidFill>
              <a:ln>
                <a:solidFill>
                  <a:srgbClr val="0000FF"/>
                </a:solidFill>
                <a:prstDash val="sysDash"/>
              </a:ln>
            </p:spPr>
            <p:txBody>
              <a:bodyPr wrap="square" tIns="72000" bIns="72000">
                <a:spAutoFit/>
              </a:bodyPr>
              <a:lstStyle/>
              <a:p>
                <a:pPr algn="ctr">
                  <a:lnSpc>
                    <a:spcPct val="150000"/>
                  </a:lnSpc>
                  <a:spcAft>
                    <a:spcPts val="1200"/>
                  </a:spcAft>
                </a:pPr>
                <a:r>
                  <a:rPr lang="zh-CN" altLang="en-US" dirty="0" smtClean="0">
                    <a:solidFill>
                      <a:srgbClr val="FF0000"/>
                    </a:solidFill>
                  </a:rPr>
                  <a:t>实验设计</a:t>
                </a:r>
                <a:endParaRPr lang="zh-CN" altLang="en-US" dirty="0"/>
              </a:p>
            </p:txBody>
          </p:sp>
          <p:sp>
            <p:nvSpPr>
              <p:cNvPr id="31" name="矩形 30"/>
              <p:cNvSpPr/>
              <p:nvPr/>
            </p:nvSpPr>
            <p:spPr>
              <a:xfrm>
                <a:off x="6215610" y="1740320"/>
                <a:ext cx="1269695" cy="607071"/>
              </a:xfrm>
              <a:prstGeom prst="rect">
                <a:avLst/>
              </a:prstGeom>
              <a:solidFill>
                <a:srgbClr val="CCFFCC"/>
              </a:solidFill>
              <a:ln>
                <a:solidFill>
                  <a:srgbClr val="0000FF"/>
                </a:solidFill>
                <a:prstDash val="sysDash"/>
              </a:ln>
            </p:spPr>
            <p:txBody>
              <a:bodyPr wrap="square" tIns="72000" bIns="72000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1200"/>
                  </a:spcAft>
                </a:pPr>
                <a:r>
                  <a:rPr lang="zh-CN" altLang="en-US" dirty="0" smtClean="0">
                    <a:solidFill>
                      <a:srgbClr val="FF0000"/>
                    </a:solidFill>
                  </a:rPr>
                  <a:t>实验结果   </a:t>
                </a:r>
                <a:endParaRPr lang="en-US" altLang="zh-CN" dirty="0" smtClean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2" name="右箭头 31"/>
              <p:cNvSpPr/>
              <p:nvPr/>
            </p:nvSpPr>
            <p:spPr bwMode="auto">
              <a:xfrm>
                <a:off x="5678916" y="1835941"/>
                <a:ext cx="288032" cy="377486"/>
              </a:xfrm>
              <a:prstGeom prst="rightArrow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</p:grpSp>
      </p:grpSp>
      <p:sp>
        <p:nvSpPr>
          <p:cNvPr id="33" name="下箭头 32"/>
          <p:cNvSpPr/>
          <p:nvPr/>
        </p:nvSpPr>
        <p:spPr bwMode="auto">
          <a:xfrm>
            <a:off x="3918992" y="2204864"/>
            <a:ext cx="1467317" cy="517442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4" name="下箭头 33"/>
          <p:cNvSpPr/>
          <p:nvPr/>
        </p:nvSpPr>
        <p:spPr bwMode="auto">
          <a:xfrm>
            <a:off x="3874345" y="3730591"/>
            <a:ext cx="1467317" cy="517442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094129" y="5329993"/>
            <a:ext cx="6955750" cy="12245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zh-CN" altLang="en-US" sz="2400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研究强调讲好故事，自言其说！</a:t>
            </a:r>
            <a:endParaRPr lang="en-US" altLang="zh-CN" sz="2400" dirty="0" smtClean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zh-CN" altLang="en-US" sz="2400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鼓励吹牛，敢于吹牛！吹牛有套路，吹得有道理！</a:t>
            </a:r>
            <a:endParaRPr lang="zh-CN" altLang="en-US" sz="2400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04216368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6" y="293799"/>
            <a:ext cx="4422804" cy="631444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969" y="180223"/>
            <a:ext cx="4522346" cy="6486178"/>
          </a:xfrm>
          <a:prstGeom prst="rect">
            <a:avLst/>
          </a:prstGeom>
        </p:spPr>
      </p:pic>
      <p:cxnSp>
        <p:nvCxnSpPr>
          <p:cNvPr id="10" name="直接连接符 9"/>
          <p:cNvCxnSpPr/>
          <p:nvPr/>
        </p:nvCxnSpPr>
        <p:spPr bwMode="auto">
          <a:xfrm>
            <a:off x="4497259" y="180223"/>
            <a:ext cx="0" cy="642802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998559102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/>
          <p:cNvGrpSpPr/>
          <p:nvPr/>
        </p:nvGrpSpPr>
        <p:grpSpPr>
          <a:xfrm>
            <a:off x="720191" y="2241815"/>
            <a:ext cx="5638658" cy="792088"/>
            <a:chOff x="499683" y="834345"/>
            <a:chExt cx="5638658" cy="792088"/>
          </a:xfrm>
        </p:grpSpPr>
        <p:sp>
          <p:nvSpPr>
            <p:cNvPr id="3" name="圆角矩形 2"/>
            <p:cNvSpPr/>
            <p:nvPr/>
          </p:nvSpPr>
          <p:spPr bwMode="auto">
            <a:xfrm>
              <a:off x="499683" y="834345"/>
              <a:ext cx="1512168" cy="792088"/>
            </a:xfrm>
            <a:prstGeom prst="roundRect">
              <a:avLst/>
            </a:prstGeom>
            <a:solidFill>
              <a:srgbClr val="CEF9FE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400" b="0" i="0" u="none" strike="noStrike" cap="none" normalizeH="0" baseline="0" dirty="0" smtClean="0">
                  <a:ln>
                    <a:noFill/>
                  </a:ln>
                  <a:solidFill>
                    <a:srgbClr val="0033CC"/>
                  </a:solidFill>
                  <a:effectLst/>
                  <a:latin typeface="华文中宋" panose="02010600040101010101" pitchFamily="2" charset="-122"/>
                  <a:ea typeface="华文中宋" panose="02010600040101010101" pitchFamily="2" charset="-122"/>
                </a:rPr>
                <a:t>数据分析</a:t>
              </a:r>
            </a:p>
          </p:txBody>
        </p:sp>
        <p:sp>
          <p:nvSpPr>
            <p:cNvPr id="8" name="圆角矩形 7"/>
            <p:cNvSpPr/>
            <p:nvPr/>
          </p:nvSpPr>
          <p:spPr bwMode="auto">
            <a:xfrm>
              <a:off x="2555776" y="942357"/>
              <a:ext cx="864096" cy="576064"/>
            </a:xfrm>
            <a:prstGeom prst="roundRect">
              <a:avLst/>
            </a:prstGeom>
            <a:solidFill>
              <a:srgbClr val="CCFFCC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800" b="0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华文中宋" panose="02010600040101010101" pitchFamily="2" charset="-122"/>
                  <a:ea typeface="华文中宋" panose="02010600040101010101" pitchFamily="2" charset="-122"/>
                </a:rPr>
                <a:t>分析</a:t>
              </a:r>
              <a:r>
                <a:rPr kumimoji="0" lang="en-US" altLang="zh-CN" sz="1800" b="0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华文中宋" panose="02010600040101010101" pitchFamily="2" charset="-122"/>
                  <a:ea typeface="华文中宋" panose="02010600040101010101" pitchFamily="2" charset="-122"/>
                </a:rPr>
                <a:t>1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9" name="圆角矩形 8"/>
            <p:cNvSpPr/>
            <p:nvPr/>
          </p:nvSpPr>
          <p:spPr bwMode="auto">
            <a:xfrm>
              <a:off x="3962580" y="942357"/>
              <a:ext cx="864096" cy="576064"/>
            </a:xfrm>
            <a:prstGeom prst="roundRect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800" b="0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华文中宋" panose="02010600040101010101" pitchFamily="2" charset="-122"/>
                  <a:ea typeface="华文中宋" panose="02010600040101010101" pitchFamily="2" charset="-122"/>
                </a:rPr>
                <a:t>分析</a:t>
              </a:r>
              <a:r>
                <a:rPr kumimoji="0" lang="en-US" altLang="zh-CN" sz="1800" b="0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华文中宋" panose="02010600040101010101" pitchFamily="2" charset="-122"/>
                  <a:ea typeface="华文中宋" panose="02010600040101010101" pitchFamily="2" charset="-122"/>
                </a:rPr>
                <a:t>2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0" name="圆角矩形 9"/>
            <p:cNvSpPr/>
            <p:nvPr/>
          </p:nvSpPr>
          <p:spPr bwMode="auto">
            <a:xfrm>
              <a:off x="5325589" y="942357"/>
              <a:ext cx="812752" cy="576064"/>
            </a:xfrm>
            <a:prstGeom prst="roundRect">
              <a:avLst/>
            </a:prstGeom>
            <a:solidFill>
              <a:srgbClr val="56E8C5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800" b="0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华文中宋" panose="02010600040101010101" pitchFamily="2" charset="-122"/>
                  <a:ea typeface="华文中宋" panose="02010600040101010101" pitchFamily="2" charset="-122"/>
                </a:rPr>
                <a:t>分析</a:t>
              </a:r>
              <a:r>
                <a:rPr kumimoji="0" lang="en-US" altLang="zh-CN" sz="1800" b="0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华文中宋" panose="02010600040101010101" pitchFamily="2" charset="-122"/>
                  <a:ea typeface="华文中宋" panose="02010600040101010101" pitchFamily="2" charset="-122"/>
                </a:rPr>
                <a:t>3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cxnSp>
          <p:nvCxnSpPr>
            <p:cNvPr id="37" name="直接连接符 36"/>
            <p:cNvCxnSpPr>
              <a:stCxn id="3" idx="3"/>
              <a:endCxn id="8" idx="1"/>
            </p:cNvCxnSpPr>
            <p:nvPr/>
          </p:nvCxnSpPr>
          <p:spPr bwMode="auto">
            <a:xfrm>
              <a:off x="2011851" y="1230389"/>
              <a:ext cx="543925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" name="直接连接符 37"/>
            <p:cNvCxnSpPr/>
            <p:nvPr/>
          </p:nvCxnSpPr>
          <p:spPr bwMode="auto">
            <a:xfrm>
              <a:off x="3419872" y="1230389"/>
              <a:ext cx="543925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" name="直接连接符 38"/>
            <p:cNvCxnSpPr/>
            <p:nvPr/>
          </p:nvCxnSpPr>
          <p:spPr bwMode="auto">
            <a:xfrm>
              <a:off x="4812821" y="1230389"/>
              <a:ext cx="543925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" name="组合 40"/>
          <p:cNvGrpSpPr/>
          <p:nvPr/>
        </p:nvGrpSpPr>
        <p:grpSpPr>
          <a:xfrm>
            <a:off x="720191" y="3384892"/>
            <a:ext cx="5638658" cy="792088"/>
            <a:chOff x="499683" y="834345"/>
            <a:chExt cx="5638658" cy="792088"/>
          </a:xfrm>
        </p:grpSpPr>
        <p:sp>
          <p:nvSpPr>
            <p:cNvPr id="42" name="圆角矩形 41"/>
            <p:cNvSpPr/>
            <p:nvPr/>
          </p:nvSpPr>
          <p:spPr bwMode="auto">
            <a:xfrm>
              <a:off x="499683" y="834345"/>
              <a:ext cx="1512168" cy="792088"/>
            </a:xfrm>
            <a:prstGeom prst="roundRect">
              <a:avLst/>
            </a:prstGeom>
            <a:solidFill>
              <a:srgbClr val="CEF9FE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lnSpc>
                  <a:spcPct val="150000"/>
                </a:lnSpc>
              </a:pPr>
              <a:r>
                <a:rPr lang="zh-CN" altLang="en-US" sz="2400" b="0" dirty="0" smtClean="0">
                  <a:solidFill>
                    <a:srgbClr val="0033CC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设计理念</a:t>
              </a:r>
              <a:endParaRPr lang="zh-CN" altLang="en-US" sz="2400" b="0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43" name="圆角矩形 42"/>
            <p:cNvSpPr/>
            <p:nvPr/>
          </p:nvSpPr>
          <p:spPr bwMode="auto">
            <a:xfrm>
              <a:off x="2555776" y="942357"/>
              <a:ext cx="864096" cy="576064"/>
            </a:xfrm>
            <a:prstGeom prst="roundRect">
              <a:avLst/>
            </a:prstGeom>
            <a:solidFill>
              <a:srgbClr val="CCFFCC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800" b="0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华文中宋" panose="02010600040101010101" pitchFamily="2" charset="-122"/>
                  <a:ea typeface="华文中宋" panose="02010600040101010101" pitchFamily="2" charset="-122"/>
                </a:rPr>
                <a:t>理念</a:t>
              </a:r>
              <a:r>
                <a:rPr kumimoji="0" lang="en-US" altLang="zh-CN" sz="1800" b="0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华文中宋" panose="02010600040101010101" pitchFamily="2" charset="-122"/>
                  <a:ea typeface="华文中宋" panose="02010600040101010101" pitchFamily="2" charset="-122"/>
                </a:rPr>
                <a:t>1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44" name="圆角矩形 43"/>
            <p:cNvSpPr/>
            <p:nvPr/>
          </p:nvSpPr>
          <p:spPr bwMode="auto">
            <a:xfrm>
              <a:off x="3962580" y="942357"/>
              <a:ext cx="864096" cy="576064"/>
            </a:xfrm>
            <a:prstGeom prst="roundRect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lnSpc>
                  <a:spcPct val="150000"/>
                </a:lnSpc>
              </a:pPr>
              <a:r>
                <a:rPr lang="zh-CN" altLang="en-US" sz="1800" b="0" dirty="0" smtClean="0">
                  <a:solidFill>
                    <a:srgbClr val="FF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理念</a:t>
              </a:r>
              <a:r>
                <a:rPr kumimoji="0" lang="en-US" altLang="zh-CN" sz="1800" b="0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华文中宋" panose="02010600040101010101" pitchFamily="2" charset="-122"/>
                  <a:ea typeface="华文中宋" panose="02010600040101010101" pitchFamily="2" charset="-122"/>
                </a:rPr>
                <a:t>2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45" name="圆角矩形 44"/>
            <p:cNvSpPr/>
            <p:nvPr/>
          </p:nvSpPr>
          <p:spPr bwMode="auto">
            <a:xfrm>
              <a:off x="5315096" y="942357"/>
              <a:ext cx="823245" cy="576064"/>
            </a:xfrm>
            <a:prstGeom prst="roundRect">
              <a:avLst/>
            </a:prstGeom>
            <a:solidFill>
              <a:srgbClr val="56E8C5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lnSpc>
                  <a:spcPct val="150000"/>
                </a:lnSpc>
              </a:pPr>
              <a:r>
                <a:rPr lang="zh-CN" altLang="en-US" sz="1800" b="0" dirty="0" smtClean="0">
                  <a:solidFill>
                    <a:srgbClr val="FF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理念</a:t>
              </a:r>
              <a:r>
                <a:rPr kumimoji="0" lang="en-US" altLang="zh-CN" sz="1800" b="0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华文中宋" panose="02010600040101010101" pitchFamily="2" charset="-122"/>
                  <a:ea typeface="华文中宋" panose="02010600040101010101" pitchFamily="2" charset="-122"/>
                </a:rPr>
                <a:t>3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cxnSp>
          <p:nvCxnSpPr>
            <p:cNvPr id="46" name="直接连接符 45"/>
            <p:cNvCxnSpPr>
              <a:stCxn id="42" idx="3"/>
              <a:endCxn id="43" idx="1"/>
            </p:cNvCxnSpPr>
            <p:nvPr/>
          </p:nvCxnSpPr>
          <p:spPr bwMode="auto">
            <a:xfrm>
              <a:off x="2011851" y="1230389"/>
              <a:ext cx="543925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" name="直接连接符 46"/>
            <p:cNvCxnSpPr/>
            <p:nvPr/>
          </p:nvCxnSpPr>
          <p:spPr bwMode="auto">
            <a:xfrm>
              <a:off x="3419872" y="1230389"/>
              <a:ext cx="543925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8" name="直接连接符 47"/>
            <p:cNvCxnSpPr/>
            <p:nvPr/>
          </p:nvCxnSpPr>
          <p:spPr bwMode="auto">
            <a:xfrm>
              <a:off x="4812821" y="1230389"/>
              <a:ext cx="543925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2" name="组合 51"/>
          <p:cNvGrpSpPr/>
          <p:nvPr/>
        </p:nvGrpSpPr>
        <p:grpSpPr>
          <a:xfrm>
            <a:off x="720191" y="4550875"/>
            <a:ext cx="5638658" cy="792088"/>
            <a:chOff x="499683" y="834345"/>
            <a:chExt cx="5638658" cy="792088"/>
          </a:xfrm>
        </p:grpSpPr>
        <p:sp>
          <p:nvSpPr>
            <p:cNvPr id="53" name="圆角矩形 52"/>
            <p:cNvSpPr/>
            <p:nvPr/>
          </p:nvSpPr>
          <p:spPr bwMode="auto">
            <a:xfrm>
              <a:off x="499683" y="834345"/>
              <a:ext cx="1512168" cy="792088"/>
            </a:xfrm>
            <a:prstGeom prst="roundRect">
              <a:avLst/>
            </a:prstGeom>
            <a:solidFill>
              <a:srgbClr val="CEF9FE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lnSpc>
                  <a:spcPct val="150000"/>
                </a:lnSpc>
              </a:pPr>
              <a:r>
                <a:rPr lang="zh-CN" altLang="en-US" sz="2400" b="0" dirty="0">
                  <a:solidFill>
                    <a:srgbClr val="0033CC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模型结构</a:t>
              </a:r>
            </a:p>
          </p:txBody>
        </p:sp>
        <p:sp>
          <p:nvSpPr>
            <p:cNvPr id="54" name="圆角矩形 53"/>
            <p:cNvSpPr/>
            <p:nvPr/>
          </p:nvSpPr>
          <p:spPr bwMode="auto">
            <a:xfrm>
              <a:off x="2555776" y="942357"/>
              <a:ext cx="864096" cy="576064"/>
            </a:xfrm>
            <a:prstGeom prst="roundRect">
              <a:avLst/>
            </a:prstGeom>
            <a:solidFill>
              <a:srgbClr val="CCFFCC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lnSpc>
                  <a:spcPct val="150000"/>
                </a:lnSpc>
              </a:pPr>
              <a:r>
                <a:rPr lang="zh-CN" altLang="en-US" sz="1800" b="0" dirty="0" smtClean="0">
                  <a:solidFill>
                    <a:srgbClr val="FF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模块</a:t>
              </a:r>
              <a:r>
                <a:rPr kumimoji="0" lang="en-US" altLang="zh-CN" sz="1800" b="0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华文中宋" panose="02010600040101010101" pitchFamily="2" charset="-122"/>
                  <a:ea typeface="华文中宋" panose="02010600040101010101" pitchFamily="2" charset="-122"/>
                </a:rPr>
                <a:t>1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55" name="圆角矩形 54"/>
            <p:cNvSpPr/>
            <p:nvPr/>
          </p:nvSpPr>
          <p:spPr bwMode="auto">
            <a:xfrm>
              <a:off x="3962580" y="942357"/>
              <a:ext cx="864096" cy="576064"/>
            </a:xfrm>
            <a:prstGeom prst="roundRect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lnSpc>
                  <a:spcPct val="150000"/>
                </a:lnSpc>
              </a:pPr>
              <a:r>
                <a:rPr lang="zh-CN" altLang="en-US" sz="1800" b="0" dirty="0" smtClean="0">
                  <a:solidFill>
                    <a:srgbClr val="FF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模块</a:t>
              </a:r>
              <a:r>
                <a:rPr kumimoji="0" lang="en-US" altLang="zh-CN" sz="1800" b="0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华文中宋" panose="02010600040101010101" pitchFamily="2" charset="-122"/>
                  <a:ea typeface="华文中宋" panose="02010600040101010101" pitchFamily="2" charset="-122"/>
                </a:rPr>
                <a:t>2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56" name="圆角矩形 55"/>
            <p:cNvSpPr/>
            <p:nvPr/>
          </p:nvSpPr>
          <p:spPr bwMode="auto">
            <a:xfrm>
              <a:off x="5325589" y="942357"/>
              <a:ext cx="812752" cy="576064"/>
            </a:xfrm>
            <a:prstGeom prst="roundRect">
              <a:avLst/>
            </a:prstGeom>
            <a:solidFill>
              <a:srgbClr val="56E8C5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800" b="0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华文中宋" panose="02010600040101010101" pitchFamily="2" charset="-122"/>
                  <a:ea typeface="华文中宋" panose="02010600040101010101" pitchFamily="2" charset="-122"/>
                </a:rPr>
                <a:t>模块</a:t>
              </a:r>
              <a:r>
                <a:rPr kumimoji="0" lang="en-US" altLang="zh-CN" sz="1800" b="0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华文中宋" panose="02010600040101010101" pitchFamily="2" charset="-122"/>
                  <a:ea typeface="华文中宋" panose="02010600040101010101" pitchFamily="2" charset="-122"/>
                </a:rPr>
                <a:t>3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cxnSp>
          <p:nvCxnSpPr>
            <p:cNvPr id="57" name="直接连接符 56"/>
            <p:cNvCxnSpPr>
              <a:stCxn id="53" idx="3"/>
              <a:endCxn id="54" idx="1"/>
            </p:cNvCxnSpPr>
            <p:nvPr/>
          </p:nvCxnSpPr>
          <p:spPr bwMode="auto">
            <a:xfrm>
              <a:off x="2011851" y="1230389"/>
              <a:ext cx="543925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8" name="直接连接符 57"/>
            <p:cNvCxnSpPr/>
            <p:nvPr/>
          </p:nvCxnSpPr>
          <p:spPr bwMode="auto">
            <a:xfrm>
              <a:off x="3419872" y="1230389"/>
              <a:ext cx="543925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9" name="直接连接符 58"/>
            <p:cNvCxnSpPr/>
            <p:nvPr/>
          </p:nvCxnSpPr>
          <p:spPr bwMode="auto">
            <a:xfrm>
              <a:off x="4812821" y="1230389"/>
              <a:ext cx="543925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64" name="组合 63"/>
          <p:cNvGrpSpPr/>
          <p:nvPr/>
        </p:nvGrpSpPr>
        <p:grpSpPr>
          <a:xfrm>
            <a:off x="689034" y="5705736"/>
            <a:ext cx="5638658" cy="792088"/>
            <a:chOff x="499683" y="834345"/>
            <a:chExt cx="5638658" cy="792088"/>
          </a:xfrm>
        </p:grpSpPr>
        <p:sp>
          <p:nvSpPr>
            <p:cNvPr id="65" name="圆角矩形 64"/>
            <p:cNvSpPr/>
            <p:nvPr/>
          </p:nvSpPr>
          <p:spPr bwMode="auto">
            <a:xfrm>
              <a:off x="499683" y="834345"/>
              <a:ext cx="1512168" cy="792088"/>
            </a:xfrm>
            <a:prstGeom prst="roundRect">
              <a:avLst/>
            </a:prstGeom>
            <a:solidFill>
              <a:srgbClr val="CEF9FE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lnSpc>
                  <a:spcPct val="150000"/>
                </a:lnSpc>
              </a:pPr>
              <a:r>
                <a:rPr lang="zh-CN" altLang="en-US" sz="2400" b="0" dirty="0">
                  <a:solidFill>
                    <a:srgbClr val="0033CC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实验评估</a:t>
              </a:r>
            </a:p>
          </p:txBody>
        </p:sp>
        <p:sp>
          <p:nvSpPr>
            <p:cNvPr id="66" name="圆角矩形 65"/>
            <p:cNvSpPr/>
            <p:nvPr/>
          </p:nvSpPr>
          <p:spPr bwMode="auto">
            <a:xfrm>
              <a:off x="2555776" y="942357"/>
              <a:ext cx="864096" cy="576064"/>
            </a:xfrm>
            <a:prstGeom prst="roundRect">
              <a:avLst/>
            </a:prstGeom>
            <a:solidFill>
              <a:srgbClr val="CCFFCC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800" b="0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华文中宋" panose="02010600040101010101" pitchFamily="2" charset="-122"/>
                  <a:ea typeface="华文中宋" panose="02010600040101010101" pitchFamily="2" charset="-122"/>
                </a:rPr>
                <a:t>消融</a:t>
              </a:r>
              <a:r>
                <a:rPr kumimoji="0" lang="en-US" altLang="zh-CN" sz="1800" b="0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华文中宋" panose="02010600040101010101" pitchFamily="2" charset="-122"/>
                  <a:ea typeface="华文中宋" panose="02010600040101010101" pitchFamily="2" charset="-122"/>
                </a:rPr>
                <a:t>1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67" name="圆角矩形 66"/>
            <p:cNvSpPr/>
            <p:nvPr/>
          </p:nvSpPr>
          <p:spPr bwMode="auto">
            <a:xfrm>
              <a:off x="3962580" y="942357"/>
              <a:ext cx="864096" cy="576064"/>
            </a:xfrm>
            <a:prstGeom prst="roundRect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800" b="0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华文中宋" panose="02010600040101010101" pitchFamily="2" charset="-122"/>
                  <a:ea typeface="华文中宋" panose="02010600040101010101" pitchFamily="2" charset="-122"/>
                </a:rPr>
                <a:t>消融</a:t>
              </a:r>
              <a:r>
                <a:rPr kumimoji="0" lang="en-US" altLang="zh-CN" sz="1800" b="0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华文中宋" panose="02010600040101010101" pitchFamily="2" charset="-122"/>
                  <a:ea typeface="华文中宋" panose="02010600040101010101" pitchFamily="2" charset="-122"/>
                </a:rPr>
                <a:t>2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68" name="圆角矩形 67"/>
            <p:cNvSpPr/>
            <p:nvPr/>
          </p:nvSpPr>
          <p:spPr bwMode="auto">
            <a:xfrm>
              <a:off x="5346253" y="942357"/>
              <a:ext cx="792088" cy="576064"/>
            </a:xfrm>
            <a:prstGeom prst="roundRect">
              <a:avLst/>
            </a:prstGeom>
            <a:solidFill>
              <a:srgbClr val="56E8C5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800" b="0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华文中宋" panose="02010600040101010101" pitchFamily="2" charset="-122"/>
                  <a:ea typeface="华文中宋" panose="02010600040101010101" pitchFamily="2" charset="-122"/>
                </a:rPr>
                <a:t>消融</a:t>
              </a:r>
              <a:r>
                <a:rPr kumimoji="0" lang="en-US" altLang="zh-CN" sz="1800" b="0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华文中宋" panose="02010600040101010101" pitchFamily="2" charset="-122"/>
                  <a:ea typeface="华文中宋" panose="02010600040101010101" pitchFamily="2" charset="-122"/>
                </a:rPr>
                <a:t>3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cxnSp>
          <p:nvCxnSpPr>
            <p:cNvPr id="69" name="直接连接符 68"/>
            <p:cNvCxnSpPr>
              <a:stCxn id="65" idx="3"/>
              <a:endCxn id="66" idx="1"/>
            </p:cNvCxnSpPr>
            <p:nvPr/>
          </p:nvCxnSpPr>
          <p:spPr bwMode="auto">
            <a:xfrm>
              <a:off x="2011851" y="1230389"/>
              <a:ext cx="543925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0" name="直接连接符 69"/>
            <p:cNvCxnSpPr/>
            <p:nvPr/>
          </p:nvCxnSpPr>
          <p:spPr bwMode="auto">
            <a:xfrm>
              <a:off x="3419872" y="1230389"/>
              <a:ext cx="543925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" name="直接连接符 70"/>
            <p:cNvCxnSpPr/>
            <p:nvPr/>
          </p:nvCxnSpPr>
          <p:spPr bwMode="auto">
            <a:xfrm>
              <a:off x="4812821" y="1230389"/>
              <a:ext cx="543925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72" name="圆角矩形 71"/>
          <p:cNvSpPr/>
          <p:nvPr/>
        </p:nvSpPr>
        <p:spPr bwMode="auto">
          <a:xfrm>
            <a:off x="6577774" y="5813748"/>
            <a:ext cx="952020" cy="57606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基准比较</a:t>
            </a:r>
          </a:p>
        </p:txBody>
      </p:sp>
      <p:sp>
        <p:nvSpPr>
          <p:cNvPr id="73" name="圆角矩形 72"/>
          <p:cNvSpPr/>
          <p:nvPr/>
        </p:nvSpPr>
        <p:spPr bwMode="auto">
          <a:xfrm>
            <a:off x="7619944" y="5813748"/>
            <a:ext cx="989970" cy="57606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参数性能</a:t>
            </a:r>
          </a:p>
        </p:txBody>
      </p:sp>
      <p:sp>
        <p:nvSpPr>
          <p:cNvPr id="74" name="圆角矩形 73"/>
          <p:cNvSpPr/>
          <p:nvPr/>
        </p:nvSpPr>
        <p:spPr bwMode="auto">
          <a:xfrm>
            <a:off x="6577774" y="4671985"/>
            <a:ext cx="2032140" cy="57606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800" b="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其他非关键模块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76" name="圆角矩形 75"/>
          <p:cNvSpPr/>
          <p:nvPr/>
        </p:nvSpPr>
        <p:spPr bwMode="auto">
          <a:xfrm>
            <a:off x="6577774" y="3506002"/>
            <a:ext cx="952020" cy="57606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文献表明</a:t>
            </a:r>
          </a:p>
        </p:txBody>
      </p:sp>
      <p:sp>
        <p:nvSpPr>
          <p:cNvPr id="77" name="圆角矩形 76"/>
          <p:cNvSpPr/>
          <p:nvPr/>
        </p:nvSpPr>
        <p:spPr bwMode="auto">
          <a:xfrm>
            <a:off x="7619944" y="3506002"/>
            <a:ext cx="989970" cy="57606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举例说明</a:t>
            </a:r>
          </a:p>
        </p:txBody>
      </p:sp>
      <p:sp>
        <p:nvSpPr>
          <p:cNvPr id="78" name="圆角矩形 77"/>
          <p:cNvSpPr/>
          <p:nvPr/>
        </p:nvSpPr>
        <p:spPr bwMode="auto">
          <a:xfrm>
            <a:off x="6577774" y="2329134"/>
            <a:ext cx="952020" cy="57606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影响分析</a:t>
            </a:r>
          </a:p>
        </p:txBody>
      </p:sp>
      <p:sp>
        <p:nvSpPr>
          <p:cNvPr id="79" name="圆角矩形 78"/>
          <p:cNvSpPr/>
          <p:nvPr/>
        </p:nvSpPr>
        <p:spPr bwMode="auto">
          <a:xfrm>
            <a:off x="7619944" y="2329134"/>
            <a:ext cx="989970" cy="57606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相关分析</a:t>
            </a:r>
          </a:p>
        </p:txBody>
      </p:sp>
      <p:grpSp>
        <p:nvGrpSpPr>
          <p:cNvPr id="80" name="组合 79"/>
          <p:cNvGrpSpPr/>
          <p:nvPr/>
        </p:nvGrpSpPr>
        <p:grpSpPr>
          <a:xfrm>
            <a:off x="2776284" y="1312165"/>
            <a:ext cx="3569098" cy="576064"/>
            <a:chOff x="2555776" y="942357"/>
            <a:chExt cx="3569098" cy="576064"/>
          </a:xfrm>
        </p:grpSpPr>
        <p:sp>
          <p:nvSpPr>
            <p:cNvPr id="82" name="圆角矩形 81"/>
            <p:cNvSpPr/>
            <p:nvPr/>
          </p:nvSpPr>
          <p:spPr bwMode="auto">
            <a:xfrm>
              <a:off x="2555776" y="942357"/>
              <a:ext cx="864096" cy="576064"/>
            </a:xfrm>
            <a:prstGeom prst="roundRect">
              <a:avLst/>
            </a:prstGeom>
            <a:solidFill>
              <a:srgbClr val="CCFFCC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lnSpc>
                  <a:spcPct val="150000"/>
                </a:lnSpc>
              </a:pPr>
              <a:r>
                <a:rPr lang="zh-CN" altLang="en-US" sz="1800" b="0" dirty="0" smtClean="0">
                  <a:solidFill>
                    <a:srgbClr val="FF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逻辑链</a:t>
              </a:r>
              <a:r>
                <a:rPr kumimoji="0" lang="en-US" altLang="zh-CN" sz="1800" b="0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华文中宋" panose="02010600040101010101" pitchFamily="2" charset="-122"/>
                  <a:ea typeface="华文中宋" panose="02010600040101010101" pitchFamily="2" charset="-122"/>
                </a:rPr>
                <a:t>1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" name="圆角矩形 82"/>
            <p:cNvSpPr/>
            <p:nvPr/>
          </p:nvSpPr>
          <p:spPr bwMode="auto">
            <a:xfrm>
              <a:off x="3962580" y="942357"/>
              <a:ext cx="864096" cy="576064"/>
            </a:xfrm>
            <a:prstGeom prst="roundRect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lnSpc>
                  <a:spcPct val="150000"/>
                </a:lnSpc>
              </a:pPr>
              <a:r>
                <a:rPr lang="zh-CN" altLang="en-US" sz="1800" b="0" dirty="0" smtClean="0">
                  <a:solidFill>
                    <a:srgbClr val="FF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逻辑链</a:t>
              </a:r>
              <a:r>
                <a:rPr kumimoji="0" lang="en-US" altLang="zh-CN" sz="1800" b="0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华文中宋" panose="02010600040101010101" pitchFamily="2" charset="-122"/>
                  <a:ea typeface="华文中宋" panose="02010600040101010101" pitchFamily="2" charset="-122"/>
                </a:rPr>
                <a:t>2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4" name="圆角矩形 83"/>
            <p:cNvSpPr/>
            <p:nvPr/>
          </p:nvSpPr>
          <p:spPr bwMode="auto">
            <a:xfrm>
              <a:off x="5325589" y="942357"/>
              <a:ext cx="799285" cy="576064"/>
            </a:xfrm>
            <a:prstGeom prst="roundRect">
              <a:avLst/>
            </a:prstGeom>
            <a:solidFill>
              <a:srgbClr val="56E8C5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800" b="0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华文中宋" panose="02010600040101010101" pitchFamily="2" charset="-122"/>
                  <a:ea typeface="华文中宋" panose="02010600040101010101" pitchFamily="2" charset="-122"/>
                </a:rPr>
                <a:t>逻辑链</a:t>
              </a:r>
              <a:r>
                <a:rPr kumimoji="0" lang="en-US" altLang="zh-CN" sz="1800" b="0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华文中宋" panose="02010600040101010101" pitchFamily="2" charset="-122"/>
                  <a:ea typeface="华文中宋" panose="02010600040101010101" pitchFamily="2" charset="-122"/>
                </a:rPr>
                <a:t>3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cxnSp>
          <p:nvCxnSpPr>
            <p:cNvPr id="86" name="直接连接符 85"/>
            <p:cNvCxnSpPr/>
            <p:nvPr/>
          </p:nvCxnSpPr>
          <p:spPr bwMode="auto">
            <a:xfrm>
              <a:off x="3419872" y="1230389"/>
              <a:ext cx="543925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7" name="直接连接符 86"/>
            <p:cNvCxnSpPr/>
            <p:nvPr/>
          </p:nvCxnSpPr>
          <p:spPr bwMode="auto">
            <a:xfrm>
              <a:off x="4812821" y="1230389"/>
              <a:ext cx="543925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92" name="组合 91"/>
          <p:cNvGrpSpPr/>
          <p:nvPr/>
        </p:nvGrpSpPr>
        <p:grpSpPr>
          <a:xfrm>
            <a:off x="3222187" y="2922211"/>
            <a:ext cx="2754473" cy="579744"/>
            <a:chOff x="3208332" y="2548126"/>
            <a:chExt cx="2754473" cy="579744"/>
          </a:xfrm>
        </p:grpSpPr>
        <p:cxnSp>
          <p:nvCxnSpPr>
            <p:cNvPr id="89" name="直接箭头连接符 88"/>
            <p:cNvCxnSpPr/>
            <p:nvPr/>
          </p:nvCxnSpPr>
          <p:spPr bwMode="auto">
            <a:xfrm>
              <a:off x="3208332" y="2548126"/>
              <a:ext cx="0" cy="576064"/>
            </a:xfrm>
            <a:prstGeom prst="straightConnector1">
              <a:avLst/>
            </a:prstGeom>
            <a:solidFill>
              <a:schemeClr val="accent1"/>
            </a:solidFill>
            <a:ln w="4445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0" name="直接箭头连接符 89"/>
            <p:cNvCxnSpPr/>
            <p:nvPr/>
          </p:nvCxnSpPr>
          <p:spPr bwMode="auto">
            <a:xfrm>
              <a:off x="4615136" y="2551806"/>
              <a:ext cx="0" cy="576064"/>
            </a:xfrm>
            <a:prstGeom prst="straightConnector1">
              <a:avLst/>
            </a:prstGeom>
            <a:solidFill>
              <a:schemeClr val="accent1"/>
            </a:solidFill>
            <a:ln w="4445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1" name="直接箭头连接符 90"/>
            <p:cNvCxnSpPr/>
            <p:nvPr/>
          </p:nvCxnSpPr>
          <p:spPr bwMode="auto">
            <a:xfrm>
              <a:off x="5962805" y="2551806"/>
              <a:ext cx="0" cy="576064"/>
            </a:xfrm>
            <a:prstGeom prst="straightConnector1">
              <a:avLst/>
            </a:prstGeom>
            <a:solidFill>
              <a:schemeClr val="accent1"/>
            </a:solidFill>
            <a:ln w="4445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93" name="组合 92"/>
          <p:cNvGrpSpPr/>
          <p:nvPr/>
        </p:nvGrpSpPr>
        <p:grpSpPr>
          <a:xfrm>
            <a:off x="3218740" y="4089472"/>
            <a:ext cx="2754473" cy="576064"/>
            <a:chOff x="3208332" y="2551806"/>
            <a:chExt cx="2754473" cy="576064"/>
          </a:xfrm>
        </p:grpSpPr>
        <p:cxnSp>
          <p:nvCxnSpPr>
            <p:cNvPr id="94" name="直接箭头连接符 93"/>
            <p:cNvCxnSpPr/>
            <p:nvPr/>
          </p:nvCxnSpPr>
          <p:spPr bwMode="auto">
            <a:xfrm>
              <a:off x="3208332" y="2551806"/>
              <a:ext cx="0" cy="576064"/>
            </a:xfrm>
            <a:prstGeom prst="straightConnector1">
              <a:avLst/>
            </a:prstGeom>
            <a:solidFill>
              <a:schemeClr val="accent1"/>
            </a:solidFill>
            <a:ln w="4445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5" name="直接箭头连接符 94"/>
            <p:cNvCxnSpPr/>
            <p:nvPr/>
          </p:nvCxnSpPr>
          <p:spPr bwMode="auto">
            <a:xfrm>
              <a:off x="4615136" y="2551806"/>
              <a:ext cx="0" cy="576064"/>
            </a:xfrm>
            <a:prstGeom prst="straightConnector1">
              <a:avLst/>
            </a:prstGeom>
            <a:solidFill>
              <a:schemeClr val="accent1"/>
            </a:solidFill>
            <a:ln w="4445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6" name="直接箭头连接符 95"/>
            <p:cNvCxnSpPr/>
            <p:nvPr/>
          </p:nvCxnSpPr>
          <p:spPr bwMode="auto">
            <a:xfrm>
              <a:off x="5962805" y="2551806"/>
              <a:ext cx="0" cy="576064"/>
            </a:xfrm>
            <a:prstGeom prst="straightConnector1">
              <a:avLst/>
            </a:prstGeom>
            <a:solidFill>
              <a:schemeClr val="accent1"/>
            </a:solidFill>
            <a:ln w="4445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97" name="组合 96"/>
          <p:cNvGrpSpPr/>
          <p:nvPr/>
        </p:nvGrpSpPr>
        <p:grpSpPr>
          <a:xfrm>
            <a:off x="3224044" y="5255454"/>
            <a:ext cx="2726763" cy="576064"/>
            <a:chOff x="3208332" y="2551806"/>
            <a:chExt cx="2726763" cy="576064"/>
          </a:xfrm>
        </p:grpSpPr>
        <p:cxnSp>
          <p:nvCxnSpPr>
            <p:cNvPr id="98" name="直接箭头连接符 97"/>
            <p:cNvCxnSpPr/>
            <p:nvPr/>
          </p:nvCxnSpPr>
          <p:spPr bwMode="auto">
            <a:xfrm>
              <a:off x="3208332" y="2551806"/>
              <a:ext cx="0" cy="576064"/>
            </a:xfrm>
            <a:prstGeom prst="straightConnector1">
              <a:avLst/>
            </a:prstGeom>
            <a:solidFill>
              <a:schemeClr val="accent1"/>
            </a:solidFill>
            <a:ln w="4445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9" name="直接箭头连接符 98"/>
            <p:cNvCxnSpPr/>
            <p:nvPr/>
          </p:nvCxnSpPr>
          <p:spPr bwMode="auto">
            <a:xfrm>
              <a:off x="4601281" y="2551806"/>
              <a:ext cx="0" cy="576064"/>
            </a:xfrm>
            <a:prstGeom prst="straightConnector1">
              <a:avLst/>
            </a:prstGeom>
            <a:solidFill>
              <a:schemeClr val="accent1"/>
            </a:solidFill>
            <a:ln w="4445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0" name="直接箭头连接符 99"/>
            <p:cNvCxnSpPr/>
            <p:nvPr/>
          </p:nvCxnSpPr>
          <p:spPr bwMode="auto">
            <a:xfrm>
              <a:off x="5935095" y="2551806"/>
              <a:ext cx="0" cy="576064"/>
            </a:xfrm>
            <a:prstGeom prst="straightConnector1">
              <a:avLst/>
            </a:prstGeom>
            <a:solidFill>
              <a:schemeClr val="accent1"/>
            </a:solidFill>
            <a:ln w="4445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01" name="组合 100"/>
          <p:cNvGrpSpPr/>
          <p:nvPr/>
        </p:nvGrpSpPr>
        <p:grpSpPr>
          <a:xfrm>
            <a:off x="3196334" y="1888228"/>
            <a:ext cx="2754473" cy="477675"/>
            <a:chOff x="3208332" y="2548126"/>
            <a:chExt cx="2754473" cy="579744"/>
          </a:xfrm>
        </p:grpSpPr>
        <p:cxnSp>
          <p:nvCxnSpPr>
            <p:cNvPr id="102" name="直接箭头连接符 101"/>
            <p:cNvCxnSpPr/>
            <p:nvPr/>
          </p:nvCxnSpPr>
          <p:spPr bwMode="auto">
            <a:xfrm>
              <a:off x="3208332" y="2548126"/>
              <a:ext cx="0" cy="576064"/>
            </a:xfrm>
            <a:prstGeom prst="straightConnector1">
              <a:avLst/>
            </a:prstGeom>
            <a:solidFill>
              <a:schemeClr val="accent1"/>
            </a:solidFill>
            <a:ln w="22225" cap="flat" cmpd="sng" algn="ctr">
              <a:solidFill>
                <a:schemeClr val="tx1"/>
              </a:solidFill>
              <a:prstDash val="sysDot"/>
              <a:miter lim="800000"/>
              <a:headEnd type="none" w="med" len="med"/>
              <a:tailEnd type="non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3" name="直接箭头连接符 102"/>
            <p:cNvCxnSpPr/>
            <p:nvPr/>
          </p:nvCxnSpPr>
          <p:spPr bwMode="auto">
            <a:xfrm>
              <a:off x="4615136" y="2551806"/>
              <a:ext cx="0" cy="576064"/>
            </a:xfrm>
            <a:prstGeom prst="straightConnector1">
              <a:avLst/>
            </a:prstGeom>
            <a:solidFill>
              <a:schemeClr val="accent1"/>
            </a:solidFill>
            <a:ln w="22225" cap="flat" cmpd="sng" algn="ctr">
              <a:solidFill>
                <a:schemeClr val="tx1"/>
              </a:solidFill>
              <a:prstDash val="sysDot"/>
              <a:miter lim="800000"/>
              <a:headEnd type="none" w="med" len="med"/>
              <a:tailEnd type="non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4" name="直接箭头连接符 103"/>
            <p:cNvCxnSpPr/>
            <p:nvPr/>
          </p:nvCxnSpPr>
          <p:spPr bwMode="auto">
            <a:xfrm>
              <a:off x="5962805" y="2551806"/>
              <a:ext cx="0" cy="576064"/>
            </a:xfrm>
            <a:prstGeom prst="straightConnector1">
              <a:avLst/>
            </a:prstGeom>
            <a:solidFill>
              <a:schemeClr val="accent1"/>
            </a:solidFill>
            <a:ln w="22225" cap="flat" cmpd="sng" algn="ctr">
              <a:solidFill>
                <a:schemeClr val="tx1"/>
              </a:solidFill>
              <a:prstDash val="sysDot"/>
              <a:miter lim="800000"/>
              <a:headEnd type="none" w="med" len="med"/>
              <a:tailEnd type="non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5" name="标题 10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关键：论文研究逻辑链</a:t>
            </a:r>
            <a:endParaRPr lang="zh-CN" altLang="en-US" dirty="0"/>
          </a:p>
        </p:txBody>
      </p:sp>
      <p:cxnSp>
        <p:nvCxnSpPr>
          <p:cNvPr id="107" name="直接箭头连接符 106"/>
          <p:cNvCxnSpPr>
            <a:stCxn id="8" idx="2"/>
            <a:endCxn id="44" idx="0"/>
          </p:cNvCxnSpPr>
          <p:nvPr/>
        </p:nvCxnSpPr>
        <p:spPr bwMode="auto">
          <a:xfrm>
            <a:off x="3208332" y="2925891"/>
            <a:ext cx="1406804" cy="567013"/>
          </a:xfrm>
          <a:prstGeom prst="straightConnector1">
            <a:avLst/>
          </a:prstGeom>
          <a:solidFill>
            <a:schemeClr val="accent1"/>
          </a:solidFill>
          <a:ln w="3175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9" name="直接箭头连接符 108"/>
          <p:cNvCxnSpPr/>
          <p:nvPr/>
        </p:nvCxnSpPr>
        <p:spPr bwMode="auto">
          <a:xfrm>
            <a:off x="3208332" y="4073493"/>
            <a:ext cx="1406804" cy="56701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0" name="直接箭头连接符 109"/>
          <p:cNvCxnSpPr/>
          <p:nvPr/>
        </p:nvCxnSpPr>
        <p:spPr bwMode="auto">
          <a:xfrm>
            <a:off x="4627307" y="2940339"/>
            <a:ext cx="1406804" cy="567013"/>
          </a:xfrm>
          <a:prstGeom prst="straightConnector1">
            <a:avLst/>
          </a:prstGeom>
          <a:solidFill>
            <a:schemeClr val="accent1"/>
          </a:solidFill>
          <a:ln w="3175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1" name="直接箭头连接符 110"/>
          <p:cNvCxnSpPr/>
          <p:nvPr/>
        </p:nvCxnSpPr>
        <p:spPr bwMode="auto">
          <a:xfrm>
            <a:off x="4613673" y="4090507"/>
            <a:ext cx="1406804" cy="567013"/>
          </a:xfrm>
          <a:prstGeom prst="straightConnector1">
            <a:avLst/>
          </a:prstGeom>
          <a:solidFill>
            <a:schemeClr val="accent1"/>
          </a:solidFill>
          <a:ln w="3175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2" name="直接箭头连接符 111"/>
          <p:cNvCxnSpPr>
            <a:stCxn id="10" idx="2"/>
            <a:endCxn id="43" idx="0"/>
          </p:cNvCxnSpPr>
          <p:nvPr/>
        </p:nvCxnSpPr>
        <p:spPr bwMode="auto">
          <a:xfrm flipH="1">
            <a:off x="3208332" y="2925891"/>
            <a:ext cx="2744141" cy="56701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6" name="直接箭头连接符 115"/>
          <p:cNvCxnSpPr/>
          <p:nvPr/>
        </p:nvCxnSpPr>
        <p:spPr bwMode="auto">
          <a:xfrm flipH="1">
            <a:off x="3218740" y="4090560"/>
            <a:ext cx="2754473" cy="56701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ysDot"/>
            <a:miter lim="800000"/>
            <a:headEnd type="none" w="med" len="med"/>
            <a:tailEnd type="non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836627572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277646" y="1123655"/>
            <a:ext cx="8627897" cy="5403216"/>
          </a:xfrm>
        </p:spPr>
        <p:txBody>
          <a:bodyPr/>
          <a:lstStyle/>
          <a:p>
            <a:r>
              <a:rPr lang="zh-CN" altLang="en-US" b="1" dirty="0" smtClean="0"/>
              <a:t>逻辑结构规范</a:t>
            </a:r>
            <a:endParaRPr lang="en-US" altLang="zh-CN" b="1" dirty="0" smtClean="0"/>
          </a:p>
          <a:p>
            <a:pPr lvl="1"/>
            <a:r>
              <a:rPr lang="zh-CN" altLang="en-US" dirty="0" smtClean="0"/>
              <a:t>说（介绍论文、任何讲话）、写（论文、</a:t>
            </a:r>
            <a:r>
              <a:rPr lang="en-US" altLang="zh-CN" dirty="0" smtClean="0"/>
              <a:t>PPT</a:t>
            </a:r>
            <a:r>
              <a:rPr lang="zh-CN" altLang="en-US" dirty="0" smtClean="0"/>
              <a:t>、任何报告）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严密的层级关系：论文</a:t>
            </a:r>
            <a:r>
              <a:rPr lang="en-US" altLang="zh-CN" dirty="0" smtClean="0"/>
              <a:t>-</a:t>
            </a:r>
            <a:r>
              <a:rPr lang="zh-CN" altLang="en-US" dirty="0" smtClean="0"/>
              <a:t>章</a:t>
            </a:r>
            <a:r>
              <a:rPr lang="en-US" altLang="zh-CN" dirty="0" smtClean="0"/>
              <a:t>-</a:t>
            </a:r>
            <a:r>
              <a:rPr lang="zh-CN" altLang="en-US" dirty="0" smtClean="0"/>
              <a:t>节</a:t>
            </a:r>
            <a:r>
              <a:rPr lang="en-US" altLang="zh-CN" dirty="0" smtClean="0"/>
              <a:t>-</a:t>
            </a:r>
            <a:r>
              <a:rPr lang="zh-CN" altLang="en-US" dirty="0" smtClean="0"/>
              <a:t>小节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各章对整个论文是充分必要的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各章是独立的，清晰具体的，没有包含关系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每一个逻辑单元包含：标题、摘要、具体内容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确保整个论文围绕一个中心思想</a:t>
            </a:r>
            <a:endParaRPr lang="en-US" altLang="zh-CN" dirty="0" smtClean="0"/>
          </a:p>
          <a:p>
            <a:r>
              <a:rPr lang="zh-CN" altLang="en-US" b="1" dirty="0" smtClean="0"/>
              <a:t>要点概括规范</a:t>
            </a:r>
            <a:endParaRPr lang="en-US" altLang="zh-CN" b="1" dirty="0" smtClean="0"/>
          </a:p>
          <a:p>
            <a:pPr lvl="1"/>
            <a:r>
              <a:rPr lang="zh-CN" altLang="en-US" dirty="0" smtClean="0"/>
              <a:t>研究内容、贡献、创新、难点、研究方法、研究综述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明确有几点，每一点能用</a:t>
            </a:r>
            <a:r>
              <a:rPr lang="en-US" altLang="zh-CN" dirty="0" smtClean="0"/>
              <a:t>20</a:t>
            </a:r>
            <a:r>
              <a:rPr lang="zh-CN" altLang="en-US" dirty="0" smtClean="0"/>
              <a:t>左右字准确概括</a:t>
            </a:r>
            <a:endParaRPr lang="en-US" altLang="zh-CN" dirty="0"/>
          </a:p>
          <a:p>
            <a:pPr lvl="1"/>
            <a:r>
              <a:rPr lang="zh-CN" altLang="en-US" dirty="0" smtClean="0"/>
              <a:t>确保人家看（听）得懂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写作</a:t>
            </a:r>
            <a:r>
              <a:rPr lang="zh-CN" altLang="en-US" dirty="0" smtClean="0"/>
              <a:t>逻辑规范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3554423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7646" y="1071907"/>
            <a:ext cx="8627897" cy="5403216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dirty="0"/>
              <a:t>版面规范是好文档的必要</a:t>
            </a:r>
            <a:r>
              <a:rPr lang="zh-CN" altLang="en-US" dirty="0" smtClean="0"/>
              <a:t>文件，顶级期刊文献排版绝对一流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dirty="0" smtClean="0">
                <a:solidFill>
                  <a:srgbClr val="FF0000"/>
                </a:solidFill>
              </a:rPr>
              <a:t>文档规范反映态度</a:t>
            </a:r>
            <a:r>
              <a:rPr lang="zh-CN" altLang="en-US" dirty="0" smtClean="0"/>
              <a:t>，不</a:t>
            </a:r>
            <a:r>
              <a:rPr lang="zh-CN" altLang="en-US" dirty="0"/>
              <a:t>规范的</a:t>
            </a:r>
            <a:r>
              <a:rPr lang="zh-CN" altLang="en-US" dirty="0" smtClean="0"/>
              <a:t>文档都</a:t>
            </a:r>
            <a:r>
              <a:rPr lang="zh-CN" altLang="en-US" dirty="0"/>
              <a:t>不想</a:t>
            </a:r>
            <a:r>
              <a:rPr lang="zh-CN" altLang="en-US" dirty="0" smtClean="0"/>
              <a:t>看，评委直接毙了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en-US" altLang="zh-CN" dirty="0" smtClean="0"/>
              <a:t>PPT</a:t>
            </a:r>
            <a:r>
              <a:rPr lang="zh-CN" altLang="en-US" dirty="0"/>
              <a:t>文档规范：</a:t>
            </a:r>
            <a:endParaRPr lang="en-US" altLang="zh-CN" dirty="0"/>
          </a:p>
          <a:p>
            <a:pPr lvl="1">
              <a:lnSpc>
                <a:spcPct val="200000"/>
              </a:lnSpc>
            </a:pPr>
            <a:r>
              <a:rPr lang="zh-CN" altLang="en-US" dirty="0"/>
              <a:t>一是</a:t>
            </a:r>
            <a:r>
              <a:rPr lang="zh-CN" altLang="en-US" b="1" u="sng" dirty="0"/>
              <a:t>内容逻辑结构清晰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FF0000"/>
                </a:solidFill>
              </a:rPr>
              <a:t>页面间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FF0000"/>
                </a:solidFill>
              </a:rPr>
              <a:t>页面内</a:t>
            </a:r>
            <a:r>
              <a:rPr lang="zh-CN" altLang="en-US" dirty="0"/>
              <a:t>有</a:t>
            </a:r>
            <a:r>
              <a:rPr lang="zh-CN" altLang="en-US" dirty="0">
                <a:solidFill>
                  <a:srgbClr val="FF0000"/>
                </a:solidFill>
              </a:rPr>
              <a:t>明显清楚</a:t>
            </a:r>
            <a:r>
              <a:rPr lang="zh-CN" altLang="en-US" dirty="0"/>
              <a:t>上下级逻辑关系；</a:t>
            </a:r>
            <a:endParaRPr lang="en-US" altLang="zh-CN" dirty="0"/>
          </a:p>
          <a:p>
            <a:pPr lvl="1">
              <a:lnSpc>
                <a:spcPct val="200000"/>
              </a:lnSpc>
            </a:pPr>
            <a:r>
              <a:rPr lang="zh-CN" altLang="en-US" dirty="0"/>
              <a:t>二是</a:t>
            </a:r>
            <a:r>
              <a:rPr lang="zh-CN" altLang="en-US" b="1" u="sng" dirty="0"/>
              <a:t>表现形式图文结合</a:t>
            </a:r>
            <a:r>
              <a:rPr lang="zh-CN" altLang="en-US" dirty="0"/>
              <a:t>，尽量</a:t>
            </a:r>
            <a:r>
              <a:rPr lang="zh-CN" altLang="en-US" dirty="0">
                <a:solidFill>
                  <a:srgbClr val="FF0000"/>
                </a:solidFill>
              </a:rPr>
              <a:t>用借助图框表达</a:t>
            </a:r>
            <a:r>
              <a:rPr lang="zh-CN" altLang="en-US" dirty="0"/>
              <a:t>，要点文字，直观形象；</a:t>
            </a:r>
            <a:endParaRPr lang="en-US" altLang="zh-CN" dirty="0"/>
          </a:p>
          <a:p>
            <a:pPr lvl="1">
              <a:lnSpc>
                <a:spcPct val="200000"/>
              </a:lnSpc>
            </a:pPr>
            <a:r>
              <a:rPr lang="zh-CN" altLang="en-US" dirty="0"/>
              <a:t>三是</a:t>
            </a:r>
            <a:r>
              <a:rPr lang="zh-CN" altLang="en-US" b="1" u="sng" dirty="0"/>
              <a:t>页面内容分布均匀</a:t>
            </a:r>
            <a:r>
              <a:rPr lang="zh-CN" altLang="en-US" dirty="0"/>
              <a:t>，内容</a:t>
            </a:r>
            <a:r>
              <a:rPr lang="zh-CN" altLang="en-US" dirty="0">
                <a:solidFill>
                  <a:srgbClr val="FF0000"/>
                </a:solidFill>
              </a:rPr>
              <a:t>总体均匀</a:t>
            </a:r>
            <a:r>
              <a:rPr lang="zh-CN" altLang="en-US" dirty="0"/>
              <a:t>，没密密麻麻，也没空一</a:t>
            </a:r>
            <a:r>
              <a:rPr lang="zh-CN" altLang="en-US" dirty="0" smtClean="0"/>
              <a:t>大片；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dirty="0" smtClean="0">
                <a:solidFill>
                  <a:srgbClr val="0000FF"/>
                </a:solidFill>
              </a:rPr>
              <a:t>实验室</a:t>
            </a:r>
            <a:r>
              <a:rPr lang="en-US" altLang="zh-CN" dirty="0" smtClean="0">
                <a:solidFill>
                  <a:srgbClr val="0000FF"/>
                </a:solidFill>
              </a:rPr>
              <a:t>PPT</a:t>
            </a:r>
            <a:r>
              <a:rPr lang="zh-CN" altLang="en-US" dirty="0" smtClean="0"/>
              <a:t>模板、</a:t>
            </a:r>
            <a:r>
              <a:rPr lang="zh-CN" altLang="en-US" dirty="0">
                <a:solidFill>
                  <a:srgbClr val="0000FF"/>
                </a:solidFill>
              </a:rPr>
              <a:t>研究设计书</a:t>
            </a:r>
            <a:r>
              <a:rPr lang="zh-CN" altLang="en-US" dirty="0" smtClean="0"/>
              <a:t>模板、</a:t>
            </a:r>
            <a:r>
              <a:rPr lang="zh-CN" altLang="en-US" dirty="0">
                <a:solidFill>
                  <a:srgbClr val="0000FF"/>
                </a:solidFill>
              </a:rPr>
              <a:t>科研笔记</a:t>
            </a:r>
            <a:r>
              <a:rPr lang="zh-CN" altLang="en-US" dirty="0" smtClean="0"/>
              <a:t>模板</a:t>
            </a:r>
            <a:endParaRPr lang="en-US" altLang="zh-CN" dirty="0" smtClean="0"/>
          </a:p>
          <a:p>
            <a:pPr>
              <a:lnSpc>
                <a:spcPct val="200000"/>
              </a:lnSpc>
            </a:pPr>
            <a:r>
              <a:rPr lang="zh-CN" altLang="en-US" dirty="0" smtClean="0"/>
              <a:t>优秀样例：吴岩</a:t>
            </a:r>
            <a:r>
              <a:rPr lang="en-US" altLang="zh-CN" dirty="0" smtClean="0"/>
              <a:t>PPT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论文排版规范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69052244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12" y="65046"/>
            <a:ext cx="2880312" cy="161954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91" y="1769250"/>
            <a:ext cx="2879833" cy="1614474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3361" y="1769250"/>
            <a:ext cx="2805865" cy="161447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3361" y="59222"/>
            <a:ext cx="2805865" cy="163146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5872" y="59223"/>
            <a:ext cx="2885445" cy="162537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5871" y="1778341"/>
            <a:ext cx="2885445" cy="159614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5152" y="3463399"/>
            <a:ext cx="2896972" cy="1591029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73361" y="3463399"/>
            <a:ext cx="2805865" cy="158178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15871" y="3463399"/>
            <a:ext cx="2885445" cy="158178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0030" y="5134103"/>
            <a:ext cx="2896972" cy="1689321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73361" y="5134104"/>
            <a:ext cx="2805865" cy="168932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12302" y="5134104"/>
            <a:ext cx="2889014" cy="1689320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090567768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602" y="141646"/>
            <a:ext cx="2767936" cy="389115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6487" y="141646"/>
            <a:ext cx="2724455" cy="389115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6409" y="141646"/>
            <a:ext cx="2764975" cy="389115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0032" y="4186300"/>
            <a:ext cx="3691901" cy="2576639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568" y="4209442"/>
            <a:ext cx="3161499" cy="253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168918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244060"/>
            <a:ext cx="4194846" cy="308002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2874" y="244060"/>
            <a:ext cx="4104456" cy="308002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8" y="3700444"/>
            <a:ext cx="4194846" cy="288032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2874" y="3700445"/>
            <a:ext cx="4104456" cy="2880320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164898592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1D1A8D4-A673-4A3B-8AB4-E1C064BCB58F}"/>
              </a:ext>
            </a:extLst>
          </p:cNvPr>
          <p:cNvSpPr txBox="1"/>
          <p:nvPr/>
        </p:nvSpPr>
        <p:spPr>
          <a:xfrm>
            <a:off x="1403648" y="2937718"/>
            <a:ext cx="62646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0" dirty="0" smtClean="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3. </a:t>
            </a:r>
            <a:r>
              <a:rPr lang="zh-CN" altLang="en-US" sz="5400" b="0" dirty="0" smtClean="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两个研究实例</a:t>
            </a:r>
            <a:endParaRPr lang="zh-CN" altLang="en-US" sz="5400" b="0" dirty="0">
              <a:solidFill>
                <a:srgbClr val="FF0000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B602F2C2-90ED-4AB6-9B44-1F7F2F037278}"/>
              </a:ext>
            </a:extLst>
          </p:cNvPr>
          <p:cNvSpPr/>
          <p:nvPr/>
        </p:nvSpPr>
        <p:spPr>
          <a:xfrm>
            <a:off x="4053105" y="1407496"/>
            <a:ext cx="1108861" cy="1039289"/>
          </a:xfrm>
          <a:custGeom>
            <a:avLst/>
            <a:gdLst>
              <a:gd name="connsiteX0" fmla="*/ 388426 w 607282"/>
              <a:gd name="connsiteY0" fmla="*/ 385710 h 569180"/>
              <a:gd name="connsiteX1" fmla="*/ 431276 w 607282"/>
              <a:gd name="connsiteY1" fmla="*/ 385710 h 569180"/>
              <a:gd name="connsiteX2" fmla="*/ 431276 w 607282"/>
              <a:gd name="connsiteY2" fmla="*/ 438433 h 569180"/>
              <a:gd name="connsiteX3" fmla="*/ 522771 w 607282"/>
              <a:gd name="connsiteY3" fmla="*/ 529738 h 569180"/>
              <a:gd name="connsiteX4" fmla="*/ 522771 w 607282"/>
              <a:gd name="connsiteY4" fmla="*/ 559964 h 569180"/>
              <a:gd name="connsiteX5" fmla="*/ 492483 w 607282"/>
              <a:gd name="connsiteY5" fmla="*/ 559964 h 569180"/>
              <a:gd name="connsiteX6" fmla="*/ 431276 w 607282"/>
              <a:gd name="connsiteY6" fmla="*/ 498941 h 569180"/>
              <a:gd name="connsiteX7" fmla="*/ 431276 w 607282"/>
              <a:gd name="connsiteY7" fmla="*/ 547771 h 569180"/>
              <a:gd name="connsiteX8" fmla="*/ 409822 w 607282"/>
              <a:gd name="connsiteY8" fmla="*/ 569180 h 569180"/>
              <a:gd name="connsiteX9" fmla="*/ 388426 w 607282"/>
              <a:gd name="connsiteY9" fmla="*/ 547771 h 569180"/>
              <a:gd name="connsiteX10" fmla="*/ 388426 w 607282"/>
              <a:gd name="connsiteY10" fmla="*/ 498941 h 569180"/>
              <a:gd name="connsiteX11" fmla="*/ 327276 w 607282"/>
              <a:gd name="connsiteY11" fmla="*/ 559964 h 569180"/>
              <a:gd name="connsiteX12" fmla="*/ 296988 w 607282"/>
              <a:gd name="connsiteY12" fmla="*/ 559964 h 569180"/>
              <a:gd name="connsiteX13" fmla="*/ 296988 w 607282"/>
              <a:gd name="connsiteY13" fmla="*/ 529738 h 569180"/>
              <a:gd name="connsiteX14" fmla="*/ 296931 w 607282"/>
              <a:gd name="connsiteY14" fmla="*/ 529738 h 569180"/>
              <a:gd name="connsiteX15" fmla="*/ 388426 w 607282"/>
              <a:gd name="connsiteY15" fmla="*/ 438433 h 569180"/>
              <a:gd name="connsiteX16" fmla="*/ 388426 w 607282"/>
              <a:gd name="connsiteY16" fmla="*/ 434597 h 569180"/>
              <a:gd name="connsiteX17" fmla="*/ 38140 w 607282"/>
              <a:gd name="connsiteY17" fmla="*/ 145929 h 569180"/>
              <a:gd name="connsiteX18" fmla="*/ 38255 w 607282"/>
              <a:gd name="connsiteY18" fmla="*/ 145929 h 569180"/>
              <a:gd name="connsiteX19" fmla="*/ 66358 w 607282"/>
              <a:gd name="connsiteY19" fmla="*/ 145929 h 569180"/>
              <a:gd name="connsiteX20" fmla="*/ 68767 w 607282"/>
              <a:gd name="connsiteY20" fmla="*/ 161160 h 569180"/>
              <a:gd name="connsiteX21" fmla="*/ 76453 w 607282"/>
              <a:gd name="connsiteY21" fmla="*/ 208857 h 569180"/>
              <a:gd name="connsiteX22" fmla="*/ 82589 w 607282"/>
              <a:gd name="connsiteY22" fmla="*/ 246763 h 569180"/>
              <a:gd name="connsiteX23" fmla="*/ 92684 w 607282"/>
              <a:gd name="connsiteY23" fmla="*/ 246763 h 569180"/>
              <a:gd name="connsiteX24" fmla="*/ 99222 w 607282"/>
              <a:gd name="connsiteY24" fmla="*/ 172898 h 569180"/>
              <a:gd name="connsiteX25" fmla="*/ 91594 w 607282"/>
              <a:gd name="connsiteY25" fmla="*/ 145929 h 569180"/>
              <a:gd name="connsiteX26" fmla="*/ 136502 w 607282"/>
              <a:gd name="connsiteY26" fmla="*/ 145929 h 569180"/>
              <a:gd name="connsiteX27" fmla="*/ 128874 w 607282"/>
              <a:gd name="connsiteY27" fmla="*/ 172898 h 569180"/>
              <a:gd name="connsiteX28" fmla="*/ 135355 w 607282"/>
              <a:gd name="connsiteY28" fmla="*/ 246763 h 569180"/>
              <a:gd name="connsiteX29" fmla="*/ 145507 w 607282"/>
              <a:gd name="connsiteY29" fmla="*/ 246763 h 569180"/>
              <a:gd name="connsiteX30" fmla="*/ 153192 w 607282"/>
              <a:gd name="connsiteY30" fmla="*/ 198780 h 569180"/>
              <a:gd name="connsiteX31" fmla="*/ 161738 w 607282"/>
              <a:gd name="connsiteY31" fmla="*/ 145929 h 569180"/>
              <a:gd name="connsiteX32" fmla="*/ 336094 w 607282"/>
              <a:gd name="connsiteY32" fmla="*/ 145929 h 569180"/>
              <a:gd name="connsiteX33" fmla="*/ 374349 w 607282"/>
              <a:gd name="connsiteY33" fmla="*/ 184121 h 569180"/>
              <a:gd name="connsiteX34" fmla="*/ 336094 w 607282"/>
              <a:gd name="connsiteY34" fmla="*/ 222256 h 569180"/>
              <a:gd name="connsiteX35" fmla="*/ 189841 w 607282"/>
              <a:gd name="connsiteY35" fmla="*/ 222256 h 569180"/>
              <a:gd name="connsiteX36" fmla="*/ 189841 w 607282"/>
              <a:gd name="connsiteY36" fmla="*/ 298011 h 569180"/>
              <a:gd name="connsiteX37" fmla="*/ 189841 w 607282"/>
              <a:gd name="connsiteY37" fmla="*/ 365807 h 569180"/>
              <a:gd name="connsiteX38" fmla="*/ 189841 w 607282"/>
              <a:gd name="connsiteY38" fmla="*/ 528081 h 569180"/>
              <a:gd name="connsiteX39" fmla="*/ 151586 w 607282"/>
              <a:gd name="connsiteY39" fmla="*/ 566216 h 569180"/>
              <a:gd name="connsiteX40" fmla="*/ 114019 w 607282"/>
              <a:gd name="connsiteY40" fmla="*/ 535239 h 569180"/>
              <a:gd name="connsiteX41" fmla="*/ 76453 w 607282"/>
              <a:gd name="connsiteY41" fmla="*/ 566216 h 569180"/>
              <a:gd name="connsiteX42" fmla="*/ 38255 w 607282"/>
              <a:gd name="connsiteY42" fmla="*/ 528081 h 569180"/>
              <a:gd name="connsiteX43" fmla="*/ 38255 w 607282"/>
              <a:gd name="connsiteY43" fmla="*/ 384874 h 569180"/>
              <a:gd name="connsiteX44" fmla="*/ 0 w 607282"/>
              <a:gd name="connsiteY44" fmla="*/ 346739 h 569180"/>
              <a:gd name="connsiteX45" fmla="*/ 0 w 607282"/>
              <a:gd name="connsiteY45" fmla="*/ 184121 h 569180"/>
              <a:gd name="connsiteX46" fmla="*/ 38140 w 607282"/>
              <a:gd name="connsiteY46" fmla="*/ 145929 h 569180"/>
              <a:gd name="connsiteX47" fmla="*/ 545532 w 607282"/>
              <a:gd name="connsiteY47" fmla="*/ 89195 h 569180"/>
              <a:gd name="connsiteX48" fmla="*/ 587343 w 607282"/>
              <a:gd name="connsiteY48" fmla="*/ 89195 h 569180"/>
              <a:gd name="connsiteX49" fmla="*/ 587343 w 607282"/>
              <a:gd name="connsiteY49" fmla="*/ 124061 h 569180"/>
              <a:gd name="connsiteX50" fmla="*/ 587228 w 607282"/>
              <a:gd name="connsiteY50" fmla="*/ 124061 h 569180"/>
              <a:gd name="connsiteX51" fmla="*/ 587343 w 607282"/>
              <a:gd name="connsiteY51" fmla="*/ 324787 h 569180"/>
              <a:gd name="connsiteX52" fmla="*/ 541403 w 607282"/>
              <a:gd name="connsiteY52" fmla="*/ 370989 h 569180"/>
              <a:gd name="connsiteX53" fmla="*/ 278325 w 607282"/>
              <a:gd name="connsiteY53" fmla="*/ 370531 h 569180"/>
              <a:gd name="connsiteX54" fmla="*/ 233131 w 607282"/>
              <a:gd name="connsiteY54" fmla="*/ 331027 h 569180"/>
              <a:gd name="connsiteX55" fmla="*/ 232729 w 607282"/>
              <a:gd name="connsiteY55" fmla="*/ 233012 h 569180"/>
              <a:gd name="connsiteX56" fmla="*/ 272475 w 607282"/>
              <a:gd name="connsiteY56" fmla="*/ 233012 h 569180"/>
              <a:gd name="connsiteX57" fmla="*/ 272475 w 607282"/>
              <a:gd name="connsiteY57" fmla="*/ 330340 h 569180"/>
              <a:gd name="connsiteX58" fmla="*/ 545532 w 607282"/>
              <a:gd name="connsiteY58" fmla="*/ 329997 h 569180"/>
              <a:gd name="connsiteX59" fmla="*/ 545532 w 607282"/>
              <a:gd name="connsiteY59" fmla="*/ 124061 h 569180"/>
              <a:gd name="connsiteX60" fmla="*/ 231948 w 607282"/>
              <a:gd name="connsiteY60" fmla="*/ 89124 h 569180"/>
              <a:gd name="connsiteX61" fmla="*/ 273793 w 607282"/>
              <a:gd name="connsiteY61" fmla="*/ 89124 h 569180"/>
              <a:gd name="connsiteX62" fmla="*/ 273793 w 607282"/>
              <a:gd name="connsiteY62" fmla="*/ 135062 h 569180"/>
              <a:gd name="connsiteX63" fmla="*/ 272240 w 607282"/>
              <a:gd name="connsiteY63" fmla="*/ 135062 h 569180"/>
              <a:gd name="connsiteX64" fmla="*/ 233571 w 607282"/>
              <a:gd name="connsiteY64" fmla="*/ 135062 h 569180"/>
              <a:gd name="connsiteX65" fmla="*/ 231948 w 607282"/>
              <a:gd name="connsiteY65" fmla="*/ 135062 h 569180"/>
              <a:gd name="connsiteX66" fmla="*/ 409822 w 607282"/>
              <a:gd name="connsiteY66" fmla="*/ 10232 h 569180"/>
              <a:gd name="connsiteX67" fmla="*/ 437925 w 607282"/>
              <a:gd name="connsiteY67" fmla="*/ 35771 h 569180"/>
              <a:gd name="connsiteX68" fmla="*/ 447503 w 607282"/>
              <a:gd name="connsiteY68" fmla="*/ 35771 h 569180"/>
              <a:gd name="connsiteX69" fmla="*/ 578958 w 607282"/>
              <a:gd name="connsiteY69" fmla="*/ 35828 h 569180"/>
              <a:gd name="connsiteX70" fmla="*/ 593009 w 607282"/>
              <a:gd name="connsiteY70" fmla="*/ 37031 h 569180"/>
              <a:gd name="connsiteX71" fmla="*/ 607233 w 607282"/>
              <a:gd name="connsiteY71" fmla="*/ 57874 h 569180"/>
              <a:gd name="connsiteX72" fmla="*/ 587159 w 607282"/>
              <a:gd name="connsiteY72" fmla="*/ 76828 h 569180"/>
              <a:gd name="connsiteX73" fmla="*/ 579244 w 607282"/>
              <a:gd name="connsiteY73" fmla="*/ 76885 h 569180"/>
              <a:gd name="connsiteX74" fmla="*/ 241776 w 607282"/>
              <a:gd name="connsiteY74" fmla="*/ 76885 h 569180"/>
              <a:gd name="connsiteX75" fmla="*/ 233861 w 607282"/>
              <a:gd name="connsiteY75" fmla="*/ 76828 h 569180"/>
              <a:gd name="connsiteX76" fmla="*/ 212984 w 607282"/>
              <a:gd name="connsiteY76" fmla="*/ 56672 h 569180"/>
              <a:gd name="connsiteX77" fmla="*/ 233287 w 607282"/>
              <a:gd name="connsiteY77" fmla="*/ 35943 h 569180"/>
              <a:gd name="connsiteX78" fmla="*/ 244357 w 607282"/>
              <a:gd name="connsiteY78" fmla="*/ 35771 h 569180"/>
              <a:gd name="connsiteX79" fmla="*/ 371108 w 607282"/>
              <a:gd name="connsiteY79" fmla="*/ 35771 h 569180"/>
              <a:gd name="connsiteX80" fmla="*/ 381661 w 607282"/>
              <a:gd name="connsiteY80" fmla="*/ 35771 h 569180"/>
              <a:gd name="connsiteX81" fmla="*/ 409822 w 607282"/>
              <a:gd name="connsiteY81" fmla="*/ 10232 h 569180"/>
              <a:gd name="connsiteX82" fmla="*/ 114034 w 607282"/>
              <a:gd name="connsiteY82" fmla="*/ 0 h 569180"/>
              <a:gd name="connsiteX83" fmla="*/ 182130 w 607282"/>
              <a:gd name="connsiteY83" fmla="*/ 67990 h 569180"/>
              <a:gd name="connsiteX84" fmla="*/ 114034 w 607282"/>
              <a:gd name="connsiteY84" fmla="*/ 135980 h 569180"/>
              <a:gd name="connsiteX85" fmla="*/ 45938 w 607282"/>
              <a:gd name="connsiteY85" fmla="*/ 67990 h 569180"/>
              <a:gd name="connsiteX86" fmla="*/ 114034 w 607282"/>
              <a:gd name="connsiteY86" fmla="*/ 0 h 5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607282" h="569180">
                <a:moveTo>
                  <a:pt x="388426" y="385710"/>
                </a:moveTo>
                <a:lnTo>
                  <a:pt x="431276" y="385710"/>
                </a:lnTo>
                <a:lnTo>
                  <a:pt x="431276" y="438433"/>
                </a:lnTo>
                <a:lnTo>
                  <a:pt x="522771" y="529738"/>
                </a:lnTo>
                <a:cubicBezTo>
                  <a:pt x="531146" y="538096"/>
                  <a:pt x="531146" y="551606"/>
                  <a:pt x="522771" y="559964"/>
                </a:cubicBezTo>
                <a:cubicBezTo>
                  <a:pt x="514396" y="568321"/>
                  <a:pt x="500858" y="568321"/>
                  <a:pt x="492483" y="559964"/>
                </a:cubicBezTo>
                <a:lnTo>
                  <a:pt x="431276" y="498941"/>
                </a:lnTo>
                <a:lnTo>
                  <a:pt x="431276" y="547771"/>
                </a:lnTo>
                <a:cubicBezTo>
                  <a:pt x="431276" y="559563"/>
                  <a:pt x="421697" y="569180"/>
                  <a:pt x="409822" y="569180"/>
                </a:cubicBezTo>
                <a:cubicBezTo>
                  <a:pt x="398005" y="569180"/>
                  <a:pt x="388426" y="559563"/>
                  <a:pt x="388426" y="547771"/>
                </a:cubicBezTo>
                <a:lnTo>
                  <a:pt x="388426" y="498941"/>
                </a:lnTo>
                <a:lnTo>
                  <a:pt x="327276" y="559964"/>
                </a:lnTo>
                <a:cubicBezTo>
                  <a:pt x="318901" y="568321"/>
                  <a:pt x="305306" y="568321"/>
                  <a:pt x="296988" y="559964"/>
                </a:cubicBezTo>
                <a:cubicBezTo>
                  <a:pt x="288613" y="551606"/>
                  <a:pt x="288613" y="538096"/>
                  <a:pt x="296988" y="529738"/>
                </a:cubicBezTo>
                <a:lnTo>
                  <a:pt x="296931" y="529738"/>
                </a:lnTo>
                <a:lnTo>
                  <a:pt x="388426" y="438433"/>
                </a:lnTo>
                <a:lnTo>
                  <a:pt x="388426" y="434597"/>
                </a:lnTo>
                <a:close/>
                <a:moveTo>
                  <a:pt x="38140" y="145929"/>
                </a:moveTo>
                <a:lnTo>
                  <a:pt x="38255" y="145929"/>
                </a:lnTo>
                <a:lnTo>
                  <a:pt x="66358" y="145929"/>
                </a:lnTo>
                <a:lnTo>
                  <a:pt x="68767" y="161160"/>
                </a:lnTo>
                <a:lnTo>
                  <a:pt x="76453" y="208857"/>
                </a:lnTo>
                <a:lnTo>
                  <a:pt x="82589" y="246763"/>
                </a:lnTo>
                <a:lnTo>
                  <a:pt x="92684" y="246763"/>
                </a:lnTo>
                <a:lnTo>
                  <a:pt x="99222" y="172898"/>
                </a:lnTo>
                <a:lnTo>
                  <a:pt x="91594" y="145929"/>
                </a:lnTo>
                <a:lnTo>
                  <a:pt x="136502" y="145929"/>
                </a:lnTo>
                <a:lnTo>
                  <a:pt x="128874" y="172898"/>
                </a:lnTo>
                <a:lnTo>
                  <a:pt x="135355" y="246763"/>
                </a:lnTo>
                <a:lnTo>
                  <a:pt x="145507" y="246763"/>
                </a:lnTo>
                <a:lnTo>
                  <a:pt x="153192" y="198780"/>
                </a:lnTo>
                <a:lnTo>
                  <a:pt x="161738" y="145929"/>
                </a:lnTo>
                <a:lnTo>
                  <a:pt x="336094" y="145929"/>
                </a:lnTo>
                <a:cubicBezTo>
                  <a:pt x="357200" y="145929"/>
                  <a:pt x="374349" y="162992"/>
                  <a:pt x="374349" y="184121"/>
                </a:cubicBezTo>
                <a:cubicBezTo>
                  <a:pt x="374349" y="205193"/>
                  <a:pt x="357200" y="222256"/>
                  <a:pt x="336094" y="222256"/>
                </a:cubicBezTo>
                <a:lnTo>
                  <a:pt x="189841" y="222256"/>
                </a:lnTo>
                <a:lnTo>
                  <a:pt x="189841" y="298011"/>
                </a:lnTo>
                <a:lnTo>
                  <a:pt x="189841" y="365807"/>
                </a:lnTo>
                <a:lnTo>
                  <a:pt x="189841" y="528081"/>
                </a:lnTo>
                <a:cubicBezTo>
                  <a:pt x="189841" y="549153"/>
                  <a:pt x="172692" y="566216"/>
                  <a:pt x="151586" y="566216"/>
                </a:cubicBezTo>
                <a:cubicBezTo>
                  <a:pt x="132889" y="566216"/>
                  <a:pt x="117403" y="552875"/>
                  <a:pt x="114019" y="535239"/>
                </a:cubicBezTo>
                <a:cubicBezTo>
                  <a:pt x="110693" y="552875"/>
                  <a:pt x="95150" y="566216"/>
                  <a:pt x="76453" y="566216"/>
                </a:cubicBezTo>
                <a:cubicBezTo>
                  <a:pt x="55346" y="566216"/>
                  <a:pt x="38255" y="549153"/>
                  <a:pt x="38255" y="528081"/>
                </a:cubicBezTo>
                <a:lnTo>
                  <a:pt x="38255" y="384874"/>
                </a:lnTo>
                <a:cubicBezTo>
                  <a:pt x="17091" y="384874"/>
                  <a:pt x="0" y="367811"/>
                  <a:pt x="0" y="346739"/>
                </a:cubicBezTo>
                <a:lnTo>
                  <a:pt x="0" y="184121"/>
                </a:lnTo>
                <a:cubicBezTo>
                  <a:pt x="0" y="163050"/>
                  <a:pt x="17091" y="145986"/>
                  <a:pt x="38140" y="145929"/>
                </a:cubicBezTo>
                <a:close/>
                <a:moveTo>
                  <a:pt x="545532" y="89195"/>
                </a:moveTo>
                <a:lnTo>
                  <a:pt x="587343" y="89195"/>
                </a:lnTo>
                <a:lnTo>
                  <a:pt x="587343" y="124061"/>
                </a:lnTo>
                <a:lnTo>
                  <a:pt x="587228" y="124061"/>
                </a:lnTo>
                <a:cubicBezTo>
                  <a:pt x="587228" y="190989"/>
                  <a:pt x="587056" y="257859"/>
                  <a:pt x="587343" y="324787"/>
                </a:cubicBezTo>
                <a:cubicBezTo>
                  <a:pt x="587457" y="352669"/>
                  <a:pt x="567498" y="371104"/>
                  <a:pt x="541403" y="370989"/>
                </a:cubicBezTo>
                <a:cubicBezTo>
                  <a:pt x="453710" y="370646"/>
                  <a:pt x="366018" y="370703"/>
                  <a:pt x="278325" y="370531"/>
                </a:cubicBezTo>
                <a:cubicBezTo>
                  <a:pt x="255441" y="370474"/>
                  <a:pt x="234278" y="353527"/>
                  <a:pt x="233131" y="331027"/>
                </a:cubicBezTo>
                <a:cubicBezTo>
                  <a:pt x="231525" y="299024"/>
                  <a:pt x="232729" y="266905"/>
                  <a:pt x="232729" y="233012"/>
                </a:cubicBezTo>
                <a:lnTo>
                  <a:pt x="272475" y="233012"/>
                </a:lnTo>
                <a:lnTo>
                  <a:pt x="272475" y="330340"/>
                </a:lnTo>
                <a:cubicBezTo>
                  <a:pt x="364010" y="330512"/>
                  <a:pt x="453997" y="330398"/>
                  <a:pt x="545532" y="329997"/>
                </a:cubicBezTo>
                <a:lnTo>
                  <a:pt x="545532" y="124061"/>
                </a:lnTo>
                <a:close/>
                <a:moveTo>
                  <a:pt x="231948" y="89124"/>
                </a:moveTo>
                <a:lnTo>
                  <a:pt x="273793" y="89124"/>
                </a:lnTo>
                <a:lnTo>
                  <a:pt x="273793" y="135062"/>
                </a:lnTo>
                <a:lnTo>
                  <a:pt x="272240" y="135062"/>
                </a:lnTo>
                <a:lnTo>
                  <a:pt x="233571" y="135062"/>
                </a:lnTo>
                <a:lnTo>
                  <a:pt x="231948" y="135062"/>
                </a:lnTo>
                <a:close/>
                <a:moveTo>
                  <a:pt x="409822" y="10232"/>
                </a:moveTo>
                <a:cubicBezTo>
                  <a:pt x="424505" y="10232"/>
                  <a:pt x="436606" y="21455"/>
                  <a:pt x="437925" y="35771"/>
                </a:cubicBezTo>
                <a:lnTo>
                  <a:pt x="447503" y="35771"/>
                </a:lnTo>
                <a:cubicBezTo>
                  <a:pt x="491321" y="35771"/>
                  <a:pt x="535140" y="35771"/>
                  <a:pt x="578958" y="35828"/>
                </a:cubicBezTo>
                <a:cubicBezTo>
                  <a:pt x="583661" y="35828"/>
                  <a:pt x="588650" y="35599"/>
                  <a:pt x="593009" y="37031"/>
                </a:cubicBezTo>
                <a:cubicBezTo>
                  <a:pt x="601326" y="39665"/>
                  <a:pt x="607921" y="50144"/>
                  <a:pt x="607233" y="57874"/>
                </a:cubicBezTo>
                <a:cubicBezTo>
                  <a:pt x="606315" y="67380"/>
                  <a:pt x="597368" y="75912"/>
                  <a:pt x="587159" y="76828"/>
                </a:cubicBezTo>
                <a:cubicBezTo>
                  <a:pt x="584521" y="77057"/>
                  <a:pt x="581883" y="76885"/>
                  <a:pt x="579244" y="76885"/>
                </a:cubicBezTo>
                <a:cubicBezTo>
                  <a:pt x="466774" y="76885"/>
                  <a:pt x="354304" y="76885"/>
                  <a:pt x="241776" y="76885"/>
                </a:cubicBezTo>
                <a:cubicBezTo>
                  <a:pt x="239137" y="76885"/>
                  <a:pt x="236499" y="77057"/>
                  <a:pt x="233861" y="76828"/>
                </a:cubicBezTo>
                <a:cubicBezTo>
                  <a:pt x="223078" y="75740"/>
                  <a:pt x="213156" y="66120"/>
                  <a:pt x="212984" y="56672"/>
                </a:cubicBezTo>
                <a:cubicBezTo>
                  <a:pt x="212755" y="47166"/>
                  <a:pt x="222448" y="37088"/>
                  <a:pt x="233287" y="35943"/>
                </a:cubicBezTo>
                <a:cubicBezTo>
                  <a:pt x="236958" y="35542"/>
                  <a:pt x="240686" y="35771"/>
                  <a:pt x="244357" y="35771"/>
                </a:cubicBezTo>
                <a:cubicBezTo>
                  <a:pt x="286626" y="35771"/>
                  <a:pt x="328839" y="35771"/>
                  <a:pt x="371108" y="35771"/>
                </a:cubicBezTo>
                <a:lnTo>
                  <a:pt x="381661" y="35771"/>
                </a:lnTo>
                <a:cubicBezTo>
                  <a:pt x="382981" y="21455"/>
                  <a:pt x="395082" y="10232"/>
                  <a:pt x="409822" y="10232"/>
                </a:cubicBezTo>
                <a:close/>
                <a:moveTo>
                  <a:pt x="114034" y="0"/>
                </a:moveTo>
                <a:cubicBezTo>
                  <a:pt x="151642" y="0"/>
                  <a:pt x="182130" y="30440"/>
                  <a:pt x="182130" y="67990"/>
                </a:cubicBezTo>
                <a:cubicBezTo>
                  <a:pt x="182130" y="105540"/>
                  <a:pt x="151642" y="135980"/>
                  <a:pt x="114034" y="135980"/>
                </a:cubicBezTo>
                <a:cubicBezTo>
                  <a:pt x="76426" y="135980"/>
                  <a:pt x="45938" y="105540"/>
                  <a:pt x="45938" y="67990"/>
                </a:cubicBezTo>
                <a:cubicBezTo>
                  <a:pt x="45938" y="30440"/>
                  <a:pt x="76426" y="0"/>
                  <a:pt x="114034" y="0"/>
                </a:cubicBezTo>
                <a:close/>
              </a:path>
            </a:pathLst>
          </a:custGeom>
          <a:solidFill>
            <a:srgbClr val="3F3B3A"/>
          </a:solidFill>
          <a:ln w="12700" cap="flat">
            <a:noFill/>
            <a:miter lim="400000"/>
          </a:ln>
          <a:effectLst/>
        </p:spPr>
        <p:txBody>
          <a:bodyPr wrap="square" lIns="91439" tIns="91439" rIns="91439" bIns="91439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7FC733E-4E96-45E0-B9E5-24BD4CBE51BD}"/>
              </a:ext>
            </a:extLst>
          </p:cNvPr>
          <p:cNvCxnSpPr>
            <a:cxnSpLocks/>
          </p:cNvCxnSpPr>
          <p:nvPr/>
        </p:nvCxnSpPr>
        <p:spPr>
          <a:xfrm>
            <a:off x="1024175" y="4221088"/>
            <a:ext cx="7056784" cy="0"/>
          </a:xfrm>
          <a:prstGeom prst="line">
            <a:avLst/>
          </a:prstGeom>
          <a:ln w="15875">
            <a:solidFill>
              <a:srgbClr val="3F3B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7FC733E-4E96-45E0-B9E5-24BD4CBE51BD}"/>
              </a:ext>
            </a:extLst>
          </p:cNvPr>
          <p:cNvCxnSpPr>
            <a:cxnSpLocks/>
          </p:cNvCxnSpPr>
          <p:nvPr/>
        </p:nvCxnSpPr>
        <p:spPr>
          <a:xfrm>
            <a:off x="978293" y="2625728"/>
            <a:ext cx="7056784" cy="0"/>
          </a:xfrm>
          <a:prstGeom prst="line">
            <a:avLst/>
          </a:prstGeom>
          <a:ln w="15875">
            <a:solidFill>
              <a:srgbClr val="3F3B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8966441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样例</a:t>
            </a:r>
            <a:r>
              <a:rPr lang="en-US" altLang="zh-CN" dirty="0" smtClean="0"/>
              <a:t>1</a:t>
            </a:r>
            <a:r>
              <a:rPr lang="zh-CN" altLang="en-US" dirty="0" smtClean="0"/>
              <a:t>：研究设计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/>
          <a:srcRect l="4797" r="4073" b="28306"/>
          <a:stretch/>
        </p:blipFill>
        <p:spPr>
          <a:xfrm>
            <a:off x="216757" y="1296470"/>
            <a:ext cx="8710485" cy="531798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3995936" y="2290727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altLang="zh-CN" b="0" dirty="0">
                <a:solidFill>
                  <a:srgbClr val="FF0000"/>
                </a:solidFill>
                <a:cs typeface="Arial" panose="020B0604020202020204" pitchFamily="34" charset="0"/>
              </a:rPr>
              <a:t>ACM Trans. Knowledge Discover Data (2022)</a:t>
            </a:r>
            <a:endParaRPr lang="zh-CN" altLang="en-US" b="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084119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277646" y="1040585"/>
            <a:ext cx="7102665" cy="5403216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zh-CN" altLang="en-US" sz="2400" dirty="0">
                <a:solidFill>
                  <a:srgbClr val="0000FF"/>
                </a:solidFill>
                <a:sym typeface="微软雅黑" panose="020B0503020204020204" pitchFamily="34" charset="-122"/>
              </a:rPr>
              <a:t>研究背景</a:t>
            </a:r>
            <a:endParaRPr lang="en-US" altLang="zh-CN" sz="2400" dirty="0">
              <a:solidFill>
                <a:srgbClr val="0000FF"/>
              </a:solidFill>
              <a:sym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  <a:spcBef>
                <a:spcPct val="0"/>
              </a:spcBef>
            </a:pPr>
            <a:r>
              <a:rPr lang="zh-CN" altLang="en-US" dirty="0">
                <a:sym typeface="微软雅黑" panose="020B0503020204020204" pitchFamily="34" charset="-122"/>
              </a:rPr>
              <a:t>旅游平台有非常</a:t>
            </a:r>
            <a:r>
              <a:rPr lang="zh-CN" altLang="en-US" dirty="0">
                <a:solidFill>
                  <a:srgbClr val="FF0000"/>
                </a:solidFill>
                <a:sym typeface="微软雅黑" panose="020B0503020204020204" pitchFamily="34" charset="-122"/>
              </a:rPr>
              <a:t>丰富的旅游</a:t>
            </a:r>
            <a:r>
              <a:rPr lang="zh-CN" altLang="en-US" dirty="0" smtClean="0">
                <a:solidFill>
                  <a:srgbClr val="FF0000"/>
                </a:solidFill>
                <a:sym typeface="微软雅黑" panose="020B0503020204020204" pitchFamily="34" charset="-122"/>
              </a:rPr>
              <a:t>游记</a:t>
            </a:r>
            <a:r>
              <a:rPr lang="zh-CN" altLang="en-US" dirty="0" smtClean="0">
                <a:sym typeface="微软雅黑" panose="020B0503020204020204" pitchFamily="34" charset="-122"/>
              </a:rPr>
              <a:t>，如马蜂窝、</a:t>
            </a:r>
            <a:r>
              <a:rPr lang="zh-CN" altLang="en-US" dirty="0">
                <a:cs typeface="Times New Roman" panose="02020603050405020304" pitchFamily="18" charset="0"/>
                <a:sym typeface="微软雅黑" panose="020B0503020204020204" pitchFamily="34" charset="-122"/>
              </a:rPr>
              <a:t>猫途鹰</a:t>
            </a:r>
            <a:endParaRPr lang="zh-CN" altLang="en-US" dirty="0"/>
          </a:p>
          <a:p>
            <a:pPr lvl="1">
              <a:lnSpc>
                <a:spcPct val="200000"/>
              </a:lnSpc>
              <a:spcBef>
                <a:spcPct val="0"/>
              </a:spcBef>
            </a:pPr>
            <a:r>
              <a:rPr lang="zh-CN" altLang="en-US" dirty="0" smtClean="0">
                <a:solidFill>
                  <a:srgbClr val="FF0000"/>
                </a:solidFill>
                <a:sym typeface="微软雅黑" panose="020B0503020204020204" pitchFamily="34" charset="-122"/>
              </a:rPr>
              <a:t>难以</a:t>
            </a:r>
            <a:r>
              <a:rPr lang="zh-CN" altLang="en-US" dirty="0" smtClean="0">
                <a:sym typeface="微软雅黑" panose="020B0503020204020204" pitchFamily="34" charset="-122"/>
              </a:rPr>
              <a:t>进行</a:t>
            </a:r>
            <a:r>
              <a:rPr lang="zh-CN" altLang="en-US" dirty="0">
                <a:sym typeface="微软雅黑" panose="020B0503020204020204" pitchFamily="34" charset="-122"/>
              </a:rPr>
              <a:t>详尽细致的景点</a:t>
            </a:r>
            <a:r>
              <a:rPr lang="zh-CN" altLang="en-US" dirty="0">
                <a:solidFill>
                  <a:srgbClr val="FF0000"/>
                </a:solidFill>
                <a:sym typeface="微软雅黑" panose="020B0503020204020204" pitchFamily="34" charset="-122"/>
              </a:rPr>
              <a:t>信息收集</a:t>
            </a:r>
            <a:r>
              <a:rPr lang="zh-CN" altLang="en-US" dirty="0">
                <a:sym typeface="微软雅黑" panose="020B0503020204020204" pitchFamily="34" charset="-122"/>
              </a:rPr>
              <a:t>和旅游</a:t>
            </a:r>
            <a:r>
              <a:rPr lang="zh-CN" altLang="en-US" dirty="0">
                <a:solidFill>
                  <a:srgbClr val="FF0000"/>
                </a:solidFill>
                <a:sym typeface="微软雅黑" panose="020B0503020204020204" pitchFamily="34" charset="-122"/>
              </a:rPr>
              <a:t>路径规划</a:t>
            </a:r>
          </a:p>
          <a:p>
            <a:pPr lvl="1">
              <a:lnSpc>
                <a:spcPct val="200000"/>
              </a:lnSpc>
              <a:spcBef>
                <a:spcPct val="0"/>
              </a:spcBef>
            </a:pPr>
            <a:r>
              <a:rPr lang="zh-CN" altLang="en-US" dirty="0">
                <a:sym typeface="微软雅黑" panose="020B0503020204020204" pitchFamily="34" charset="-122"/>
              </a:rPr>
              <a:t>在</a:t>
            </a:r>
            <a:r>
              <a:rPr lang="zh-CN" altLang="en-US" dirty="0" smtClean="0">
                <a:sym typeface="微软雅黑" panose="020B0503020204020204" pitchFamily="34" charset="-122"/>
              </a:rPr>
              <a:t>旅游中</a:t>
            </a:r>
            <a:r>
              <a:rPr lang="zh-CN" altLang="en-US" dirty="0">
                <a:solidFill>
                  <a:srgbClr val="FF0000"/>
                </a:solidFill>
                <a:sym typeface="微软雅黑" panose="020B0503020204020204" pitchFamily="34" charset="-122"/>
              </a:rPr>
              <a:t>实时寻找下一个游览的景点</a:t>
            </a:r>
          </a:p>
          <a:p>
            <a:pPr lvl="1">
              <a:lnSpc>
                <a:spcPct val="200000"/>
              </a:lnSpc>
              <a:spcBef>
                <a:spcPct val="0"/>
              </a:spcBef>
            </a:pPr>
            <a:r>
              <a:rPr lang="zh-CN" altLang="en-US" dirty="0">
                <a:sym typeface="微软雅黑" panose="020B0503020204020204" pitchFamily="34" charset="-122"/>
              </a:rPr>
              <a:t>用户在游览过程中发生偏好转移</a:t>
            </a:r>
          </a:p>
          <a:p>
            <a:pPr lvl="1">
              <a:lnSpc>
                <a:spcPct val="200000"/>
              </a:lnSpc>
              <a:spcBef>
                <a:spcPct val="0"/>
              </a:spcBef>
            </a:pPr>
            <a:r>
              <a:rPr lang="zh-CN" altLang="en-US" dirty="0" smtClean="0">
                <a:sym typeface="微软雅黑" panose="020B0503020204020204" pitchFamily="34" charset="-122"/>
              </a:rPr>
              <a:t>用户</a:t>
            </a:r>
            <a:r>
              <a:rPr lang="zh-CN" altLang="en-US" dirty="0">
                <a:sym typeface="微软雅黑" panose="020B0503020204020204" pitchFamily="34" charset="-122"/>
              </a:rPr>
              <a:t>的</a:t>
            </a:r>
            <a:r>
              <a:rPr lang="zh-CN" altLang="en-US" dirty="0" smtClean="0">
                <a:sym typeface="微软雅黑" panose="020B0503020204020204" pitchFamily="34" charset="-122"/>
              </a:rPr>
              <a:t>偏好呈现</a:t>
            </a:r>
            <a:r>
              <a:rPr lang="zh-CN" altLang="en-US" dirty="0">
                <a:sym typeface="微软雅黑" panose="020B0503020204020204" pitchFamily="34" charset="-122"/>
              </a:rPr>
              <a:t>出</a:t>
            </a:r>
            <a:r>
              <a:rPr lang="zh-CN" altLang="en-US" dirty="0">
                <a:solidFill>
                  <a:srgbClr val="FF0000"/>
                </a:solidFill>
                <a:sym typeface="微软雅黑" panose="020B0503020204020204" pitchFamily="34" charset="-122"/>
              </a:rPr>
              <a:t>临时性</a:t>
            </a:r>
            <a:r>
              <a:rPr lang="zh-CN" altLang="en-US" dirty="0">
                <a:sym typeface="微软雅黑" panose="020B0503020204020204" pitchFamily="34" charset="-122"/>
              </a:rPr>
              <a:t>和</a:t>
            </a:r>
            <a:r>
              <a:rPr lang="zh-CN" altLang="en-US" dirty="0" smtClean="0">
                <a:solidFill>
                  <a:srgbClr val="FF0000"/>
                </a:solidFill>
                <a:sym typeface="微软雅黑" panose="020B0503020204020204" pitchFamily="34" charset="-122"/>
              </a:rPr>
              <a:t>不确定性</a:t>
            </a:r>
            <a:endParaRPr lang="en-US" altLang="zh-CN" dirty="0" smtClean="0">
              <a:solidFill>
                <a:srgbClr val="FF0000"/>
              </a:solidFill>
              <a:sym typeface="微软雅黑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zh-CN" altLang="en-US" sz="2400" dirty="0" smtClean="0">
                <a:solidFill>
                  <a:srgbClr val="0000FF"/>
                </a:solidFill>
                <a:sym typeface="微软雅黑" panose="020B0503020204020204" pitchFamily="34" charset="-122"/>
              </a:rPr>
              <a:t>研究</a:t>
            </a:r>
            <a:r>
              <a:rPr lang="zh-CN" altLang="en-US" sz="2400" dirty="0">
                <a:solidFill>
                  <a:srgbClr val="0000FF"/>
                </a:solidFill>
                <a:sym typeface="微软雅黑" panose="020B0503020204020204" pitchFamily="34" charset="-122"/>
              </a:rPr>
              <a:t>问题</a:t>
            </a:r>
            <a:endParaRPr lang="en-US" altLang="zh-CN" sz="2400" dirty="0">
              <a:solidFill>
                <a:srgbClr val="0000FF"/>
              </a:solidFill>
              <a:sym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  <a:spcBef>
                <a:spcPct val="0"/>
              </a:spcBef>
            </a:pPr>
            <a:r>
              <a:rPr lang="zh-CN" altLang="en-US" dirty="0" smtClean="0">
                <a:sym typeface="微软雅黑" panose="020B0503020204020204" pitchFamily="34" charset="-122"/>
              </a:rPr>
              <a:t>如何学习旅游平台中用户</a:t>
            </a:r>
            <a:r>
              <a:rPr lang="zh-CN" altLang="en-US" dirty="0">
                <a:sym typeface="微软雅黑" panose="020B0503020204020204" pitchFamily="34" charset="-122"/>
              </a:rPr>
              <a:t>的</a:t>
            </a:r>
            <a:r>
              <a:rPr lang="zh-CN" altLang="en-US" dirty="0">
                <a:solidFill>
                  <a:srgbClr val="FF0000"/>
                </a:solidFill>
                <a:sym typeface="微软雅黑" panose="020B0503020204020204" pitchFamily="34" charset="-122"/>
              </a:rPr>
              <a:t>实时</a:t>
            </a:r>
            <a:r>
              <a:rPr lang="zh-CN" altLang="en-US" dirty="0" smtClean="0">
                <a:solidFill>
                  <a:srgbClr val="FF0000"/>
                </a:solidFill>
                <a:sym typeface="微软雅黑" panose="020B0503020204020204" pitchFamily="34" charset="-122"/>
              </a:rPr>
              <a:t>状态</a:t>
            </a:r>
            <a:endParaRPr lang="en-US" altLang="zh-CN" dirty="0" smtClean="0">
              <a:solidFill>
                <a:srgbClr val="FF0000"/>
              </a:solidFill>
              <a:sym typeface="微软雅黑" panose="020B0503020204020204" pitchFamily="34" charset="-122"/>
            </a:endParaRPr>
          </a:p>
          <a:p>
            <a:pPr marL="457200" lvl="1" indent="0">
              <a:lnSpc>
                <a:spcPct val="20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rgbClr val="FF0000"/>
                </a:solidFill>
                <a:sym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  <a:sym typeface="微软雅黑" panose="020B0503020204020204" pitchFamily="34" charset="-122"/>
              </a:rPr>
              <a:t>   </a:t>
            </a:r>
            <a:r>
              <a:rPr lang="zh-CN" altLang="en-US" dirty="0" smtClean="0">
                <a:solidFill>
                  <a:srgbClr val="FF0000"/>
                </a:solidFill>
                <a:sym typeface="微软雅黑" panose="020B0503020204020204" pitchFamily="34" charset="-122"/>
              </a:rPr>
              <a:t>并</a:t>
            </a:r>
            <a:r>
              <a:rPr lang="zh-CN" altLang="en-US" dirty="0" smtClean="0">
                <a:sym typeface="微软雅黑" panose="020B0503020204020204" pitchFamily="34" charset="-122"/>
              </a:rPr>
              <a:t>实现个性化</a:t>
            </a:r>
            <a:r>
              <a:rPr lang="zh-CN" altLang="en-US" dirty="0">
                <a:sym typeface="微软雅黑" panose="020B0503020204020204" pitchFamily="34" charset="-122"/>
              </a:rPr>
              <a:t>和顺序优化的景点推荐</a:t>
            </a:r>
            <a:endParaRPr lang="en-US" altLang="zh-CN" dirty="0">
              <a:sym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研究背景与意义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08FA581-B5DC-475A-8135-88512BB7C0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27" y="3140968"/>
            <a:ext cx="3312368" cy="355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008455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052736"/>
            <a:ext cx="8654023" cy="5616624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>
                <a:solidFill>
                  <a:srgbClr val="0000FF"/>
                </a:solidFill>
                <a:sym typeface="微软雅黑" panose="020B0503020204020204" pitchFamily="34" charset="-122"/>
              </a:rPr>
              <a:t>1</a:t>
            </a:r>
            <a:r>
              <a:rPr lang="zh-CN" altLang="en-US" dirty="0" smtClean="0">
                <a:solidFill>
                  <a:srgbClr val="0000FF"/>
                </a:solidFill>
                <a:sym typeface="微软雅黑" panose="020B0503020204020204" pitchFamily="34" charset="-122"/>
              </a:rPr>
              <a:t>、基于</a:t>
            </a:r>
            <a:r>
              <a:rPr lang="zh-CN" altLang="en-US" dirty="0">
                <a:solidFill>
                  <a:srgbClr val="0000FF"/>
                </a:solidFill>
                <a:sym typeface="微软雅黑" panose="020B0503020204020204" pitchFamily="34" charset="-122"/>
              </a:rPr>
              <a:t>深度学习的</a:t>
            </a:r>
            <a:r>
              <a:rPr lang="zh-CN" altLang="en-US" dirty="0" smtClean="0">
                <a:solidFill>
                  <a:srgbClr val="0000FF"/>
                </a:solidFill>
                <a:sym typeface="微软雅黑" panose="020B0503020204020204" pitchFamily="34" charset="-122"/>
              </a:rPr>
              <a:t>用户偏好画像研究</a:t>
            </a:r>
            <a:endParaRPr lang="en-US" altLang="zh-CN" dirty="0" smtClean="0">
              <a:solidFill>
                <a:srgbClr val="0000FF"/>
              </a:solidFill>
              <a:sym typeface="微软雅黑" panose="020B0503020204020204" pitchFamily="34" charset="-122"/>
            </a:endParaRPr>
          </a:p>
          <a:p>
            <a:pPr lvl="1"/>
            <a:r>
              <a:rPr lang="zh-CN" altLang="en-US" u="sng" dirty="0">
                <a:cs typeface="Times New Roman" panose="02020603050405020304" pitchFamily="18" charset="0"/>
                <a:sym typeface="微软雅黑" panose="020B0503020204020204" pitchFamily="34" charset="-122"/>
              </a:rPr>
              <a:t>利用深度学习技术从用户历史记录中提取特征</a:t>
            </a:r>
            <a:r>
              <a:rPr lang="zh-CN" altLang="en-US" u="sng" dirty="0" smtClean="0">
                <a:cs typeface="Times New Roman" panose="02020603050405020304" pitchFamily="18" charset="0"/>
                <a:sym typeface="微软雅黑" panose="020B0503020204020204" pitchFamily="34" charset="-122"/>
              </a:rPr>
              <a:t>表达</a:t>
            </a:r>
            <a:endParaRPr lang="en-US" altLang="zh-CN" u="sng" dirty="0" smtClean="0">
              <a:cs typeface="Times New Roman" panose="02020603050405020304" pitchFamily="18" charset="0"/>
              <a:sym typeface="微软雅黑" panose="020B0503020204020204" pitchFamily="34" charset="-122"/>
            </a:endParaRPr>
          </a:p>
          <a:p>
            <a:pPr lvl="2"/>
            <a:r>
              <a:rPr lang="en-US" altLang="zh-CN" dirty="0">
                <a:cs typeface="Times New Roman" panose="02020603050405020304" pitchFamily="18" charset="0"/>
                <a:sym typeface="微软雅黑" panose="020B0503020204020204" pitchFamily="34" charset="-122"/>
              </a:rPr>
              <a:t>Tran T et al.	</a:t>
            </a:r>
            <a:r>
              <a:rPr lang="zh-CN" altLang="en-US" dirty="0">
                <a:cs typeface="Times New Roman" panose="02020603050405020304" pitchFamily="18" charset="0"/>
                <a:sym typeface="微软雅黑" panose="020B0503020204020204" pitchFamily="34" charset="-122"/>
              </a:rPr>
              <a:t>用户与商品之间的</a:t>
            </a:r>
            <a:r>
              <a:rPr lang="zh-CN" altLang="en-US" dirty="0">
                <a:solidFill>
                  <a:srgbClr val="FF0000"/>
                </a:solidFill>
                <a:cs typeface="Times New Roman" panose="02020603050405020304" pitchFamily="18" charset="0"/>
                <a:sym typeface="微软雅黑" panose="020B0503020204020204" pitchFamily="34" charset="-122"/>
              </a:rPr>
              <a:t>交互</a:t>
            </a:r>
            <a:r>
              <a:rPr lang="zh-CN" altLang="en-US" dirty="0" smtClean="0">
                <a:solidFill>
                  <a:srgbClr val="FF0000"/>
                </a:solidFill>
                <a:cs typeface="Times New Roman" panose="02020603050405020304" pitchFamily="18" charset="0"/>
                <a:sym typeface="微软雅黑" panose="020B0503020204020204" pitchFamily="34" charset="-122"/>
              </a:rPr>
              <a:t>信息</a:t>
            </a:r>
            <a:endParaRPr lang="en-US" altLang="zh-CN" dirty="0" smtClean="0">
              <a:solidFill>
                <a:srgbClr val="FF0000"/>
              </a:solidFill>
              <a:cs typeface="Times New Roman" panose="02020603050405020304" pitchFamily="18" charset="0"/>
              <a:sym typeface="微软雅黑" panose="020B0503020204020204" pitchFamily="34" charset="-122"/>
            </a:endParaRPr>
          </a:p>
          <a:p>
            <a:pPr lvl="2"/>
            <a:r>
              <a:rPr lang="en-US" altLang="zh-CN" dirty="0">
                <a:cs typeface="Times New Roman" panose="02020603050405020304" pitchFamily="18" charset="0"/>
                <a:sym typeface="微软雅黑" panose="020B0503020204020204" pitchFamily="34" charset="-122"/>
              </a:rPr>
              <a:t>Li C et al.	</a:t>
            </a:r>
            <a:r>
              <a:rPr lang="zh-CN" altLang="en-US" dirty="0">
                <a:cs typeface="Times New Roman" panose="02020603050405020304" pitchFamily="18" charset="0"/>
                <a:sym typeface="微软雅黑" panose="020B0503020204020204" pitchFamily="34" charset="-122"/>
              </a:rPr>
              <a:t>评论文本中用户</a:t>
            </a:r>
            <a:r>
              <a:rPr lang="zh-CN" altLang="en-US" dirty="0">
                <a:solidFill>
                  <a:srgbClr val="FF0000"/>
                </a:solidFill>
                <a:cs typeface="Times New Roman" panose="02020603050405020304" pitchFamily="18" charset="0"/>
                <a:sym typeface="微软雅黑" panose="020B0503020204020204" pitchFamily="34" charset="-122"/>
              </a:rPr>
              <a:t>情感</a:t>
            </a:r>
            <a:r>
              <a:rPr lang="zh-CN" altLang="en-US" dirty="0" smtClean="0">
                <a:solidFill>
                  <a:srgbClr val="FF0000"/>
                </a:solidFill>
                <a:cs typeface="Times New Roman" panose="02020603050405020304" pitchFamily="18" charset="0"/>
                <a:sym typeface="微软雅黑" panose="020B0503020204020204" pitchFamily="34" charset="-122"/>
              </a:rPr>
              <a:t>极性</a:t>
            </a:r>
            <a:endParaRPr lang="en-US" altLang="zh-CN" dirty="0" smtClean="0">
              <a:solidFill>
                <a:srgbClr val="FF0000"/>
              </a:solidFill>
              <a:cs typeface="Times New Roman" panose="02020603050405020304" pitchFamily="18" charset="0"/>
              <a:sym typeface="微软雅黑" panose="020B0503020204020204" pitchFamily="34" charset="-122"/>
            </a:endParaRPr>
          </a:p>
          <a:p>
            <a:pPr lvl="2"/>
            <a:r>
              <a:rPr lang="en-US" altLang="zh-CN" dirty="0">
                <a:cs typeface="Times New Roman" panose="02020603050405020304" pitchFamily="18" charset="0"/>
                <a:sym typeface="微软雅黑" panose="020B0503020204020204" pitchFamily="34" charset="-122"/>
              </a:rPr>
              <a:t>Liu Q et al.	</a:t>
            </a:r>
            <a:r>
              <a:rPr lang="zh-CN" altLang="en-US" dirty="0">
                <a:cs typeface="Times New Roman" panose="02020603050405020304" pitchFamily="18" charset="0"/>
                <a:sym typeface="微软雅黑" panose="020B0503020204020204" pitchFamily="34" charset="-122"/>
              </a:rPr>
              <a:t>用户</a:t>
            </a:r>
            <a:r>
              <a:rPr lang="zh-CN" altLang="en-US" dirty="0">
                <a:solidFill>
                  <a:srgbClr val="FF0000"/>
                </a:solidFill>
                <a:cs typeface="Times New Roman" panose="02020603050405020304" pitchFamily="18" charset="0"/>
                <a:sym typeface="微软雅黑" panose="020B0503020204020204" pitchFamily="34" charset="-122"/>
              </a:rPr>
              <a:t>短期偏好</a:t>
            </a:r>
            <a:r>
              <a:rPr lang="zh-CN" altLang="en-US" dirty="0" smtClean="0">
                <a:solidFill>
                  <a:srgbClr val="FF0000"/>
                </a:solidFill>
                <a:cs typeface="Times New Roman" panose="02020603050405020304" pitchFamily="18" charset="0"/>
                <a:sym typeface="微软雅黑" panose="020B0503020204020204" pitchFamily="34" charset="-122"/>
              </a:rPr>
              <a:t>优先</a:t>
            </a:r>
            <a:endParaRPr lang="en-US" altLang="zh-CN" dirty="0" smtClean="0">
              <a:solidFill>
                <a:srgbClr val="FF0000"/>
              </a:solidFill>
              <a:cs typeface="Times New Roman" panose="02020603050405020304" pitchFamily="18" charset="0"/>
              <a:sym typeface="微软雅黑" panose="020B0503020204020204" pitchFamily="34" charset="-122"/>
            </a:endParaRPr>
          </a:p>
          <a:p>
            <a:pPr lvl="1"/>
            <a:r>
              <a:rPr lang="zh-CN" altLang="en-US" b="1" dirty="0" smtClean="0">
                <a:cs typeface="Times New Roman" panose="02020603050405020304" pitchFamily="18" charset="0"/>
                <a:sym typeface="微软雅黑" panose="020B0503020204020204" pitchFamily="34" charset="-122"/>
              </a:rPr>
              <a:t>研究</a:t>
            </a:r>
            <a:r>
              <a:rPr lang="en-US" altLang="zh-CN" b="1" dirty="0" smtClean="0">
                <a:cs typeface="Times New Roman" panose="02020603050405020304" pitchFamily="18" charset="0"/>
                <a:sym typeface="微软雅黑" panose="020B0503020204020204" pitchFamily="34" charset="-122"/>
              </a:rPr>
              <a:t>GAP</a:t>
            </a:r>
            <a:r>
              <a:rPr lang="zh-CN" altLang="en-US" b="1" dirty="0" smtClean="0">
                <a:cs typeface="Times New Roman" panose="02020603050405020304" pitchFamily="18" charset="0"/>
                <a:sym typeface="微软雅黑" panose="020B0503020204020204" pitchFamily="34" charset="-122"/>
              </a:rPr>
              <a:t>：</a:t>
            </a:r>
            <a:r>
              <a:rPr lang="zh-CN" altLang="en-US" u="sng" dirty="0">
                <a:cs typeface="Times New Roman" panose="02020603050405020304" pitchFamily="18" charset="0"/>
                <a:sym typeface="微软雅黑" panose="020B0503020204020204" pitchFamily="34" charset="-122"/>
              </a:rPr>
              <a:t>未考虑用户的</a:t>
            </a:r>
            <a:r>
              <a:rPr lang="zh-CN" altLang="en-US" b="1" u="sng" dirty="0">
                <a:solidFill>
                  <a:srgbClr val="FF0000"/>
                </a:solidFill>
                <a:cs typeface="Times New Roman" panose="02020603050405020304" pitchFamily="18" charset="0"/>
                <a:sym typeface="微软雅黑" panose="020B0503020204020204" pitchFamily="34" charset="-122"/>
              </a:rPr>
              <a:t>实时</a:t>
            </a:r>
            <a:r>
              <a:rPr lang="zh-CN" altLang="en-US" u="sng" dirty="0">
                <a:solidFill>
                  <a:srgbClr val="FF0000"/>
                </a:solidFill>
                <a:cs typeface="Times New Roman" panose="02020603050405020304" pitchFamily="18" charset="0"/>
                <a:sym typeface="微软雅黑" panose="020B0503020204020204" pitchFamily="34" charset="-122"/>
              </a:rPr>
              <a:t>状态和偏好变化</a:t>
            </a:r>
          </a:p>
          <a:p>
            <a:pPr marL="0" indent="0">
              <a:buNone/>
            </a:pPr>
            <a:r>
              <a:rPr lang="en-US" altLang="zh-CN" dirty="0" smtClean="0">
                <a:solidFill>
                  <a:srgbClr val="0000FF"/>
                </a:solidFill>
                <a:sym typeface="微软雅黑" panose="020B0503020204020204" pitchFamily="34" charset="-122"/>
              </a:rPr>
              <a:t>2</a:t>
            </a:r>
            <a:r>
              <a:rPr lang="zh-CN" altLang="en-US" dirty="0" smtClean="0">
                <a:solidFill>
                  <a:srgbClr val="0000FF"/>
                </a:solidFill>
                <a:sym typeface="微软雅黑" panose="020B0503020204020204" pitchFamily="34" charset="-122"/>
              </a:rPr>
              <a:t>、基于强化学习的人机交互研究</a:t>
            </a:r>
            <a:endParaRPr lang="zh-CN" altLang="en-US" dirty="0">
              <a:solidFill>
                <a:srgbClr val="0000FF"/>
              </a:solidFill>
              <a:sym typeface="微软雅黑" panose="020B0503020204020204" pitchFamily="34" charset="-122"/>
            </a:endParaRPr>
          </a:p>
          <a:p>
            <a:pPr lvl="1"/>
            <a:r>
              <a:rPr lang="zh-CN" altLang="en-US" u="sng" dirty="0">
                <a:cs typeface="Times New Roman" panose="02020603050405020304" pitchFamily="18" charset="0"/>
                <a:sym typeface="微软雅黑" panose="020B0503020204020204" pitchFamily="34" charset="-122"/>
              </a:rPr>
              <a:t>利用强化学习模型在人机交互中评估推荐长期收益</a:t>
            </a:r>
            <a:r>
              <a:rPr lang="zh-CN" altLang="en-US" u="sng" dirty="0" smtClean="0">
                <a:cs typeface="Times New Roman" panose="02020603050405020304" pitchFamily="18" charset="0"/>
                <a:sym typeface="微软雅黑" panose="020B0503020204020204" pitchFamily="34" charset="-122"/>
              </a:rPr>
              <a:t>值</a:t>
            </a:r>
            <a:endParaRPr lang="en-US" altLang="zh-CN" u="sng" dirty="0" smtClean="0">
              <a:cs typeface="Times New Roman" panose="02020603050405020304" pitchFamily="18" charset="0"/>
              <a:sym typeface="微软雅黑" panose="020B0503020204020204" pitchFamily="34" charset="-122"/>
            </a:endParaRPr>
          </a:p>
          <a:p>
            <a:pPr lvl="2"/>
            <a:r>
              <a:rPr lang="en-US" altLang="zh-CN" dirty="0">
                <a:cs typeface="Times New Roman" panose="02020603050405020304" pitchFamily="18" charset="0"/>
                <a:sym typeface="微软雅黑" panose="020B0503020204020204" pitchFamily="34" charset="-122"/>
              </a:rPr>
              <a:t>Zheng G et al.	</a:t>
            </a:r>
            <a:r>
              <a:rPr lang="zh-CN" altLang="en-US" dirty="0">
                <a:cs typeface="Times New Roman" panose="02020603050405020304" pitchFamily="18" charset="0"/>
                <a:sym typeface="微软雅黑" panose="020B0503020204020204" pitchFamily="34" charset="-122"/>
              </a:rPr>
              <a:t>利用</a:t>
            </a:r>
            <a:r>
              <a:rPr lang="en-US" altLang="zh-CN" dirty="0">
                <a:cs typeface="Times New Roman" panose="02020603050405020304" pitchFamily="18" charset="0"/>
                <a:sym typeface="微软雅黑" panose="020B0503020204020204" pitchFamily="34" charset="-122"/>
              </a:rPr>
              <a:t>DQN</a:t>
            </a:r>
            <a:r>
              <a:rPr lang="zh-CN" altLang="en-US" dirty="0">
                <a:cs typeface="Times New Roman" panose="02020603050405020304" pitchFamily="18" charset="0"/>
                <a:sym typeface="微软雅黑" panose="020B0503020204020204" pitchFamily="34" charset="-122"/>
              </a:rPr>
              <a:t>追踪用户</a:t>
            </a:r>
            <a:r>
              <a:rPr lang="zh-CN" altLang="en-US" dirty="0">
                <a:solidFill>
                  <a:srgbClr val="FF0000"/>
                </a:solidFill>
                <a:cs typeface="Times New Roman" panose="02020603050405020304" pitchFamily="18" charset="0"/>
                <a:sym typeface="微软雅黑" panose="020B0503020204020204" pitchFamily="34" charset="-122"/>
              </a:rPr>
              <a:t>新闻偏好</a:t>
            </a:r>
            <a:r>
              <a:rPr lang="zh-CN" altLang="en-US" dirty="0" smtClean="0">
                <a:solidFill>
                  <a:srgbClr val="FF0000"/>
                </a:solidFill>
                <a:cs typeface="Times New Roman" panose="02020603050405020304" pitchFamily="18" charset="0"/>
                <a:sym typeface="微软雅黑" panose="020B0503020204020204" pitchFamily="34" charset="-122"/>
              </a:rPr>
              <a:t>变化</a:t>
            </a:r>
            <a:endParaRPr lang="en-US" altLang="zh-CN" dirty="0" smtClean="0">
              <a:solidFill>
                <a:srgbClr val="FF0000"/>
              </a:solidFill>
              <a:cs typeface="Times New Roman" panose="02020603050405020304" pitchFamily="18" charset="0"/>
              <a:sym typeface="微软雅黑" panose="020B0503020204020204" pitchFamily="34" charset="-122"/>
            </a:endParaRPr>
          </a:p>
          <a:p>
            <a:pPr lvl="2"/>
            <a:r>
              <a:rPr lang="en-US" altLang="zh-CN" dirty="0">
                <a:cs typeface="Times New Roman" panose="02020603050405020304" pitchFamily="18" charset="0"/>
                <a:sym typeface="微软雅黑" panose="020B0503020204020204" pitchFamily="34" charset="-122"/>
              </a:rPr>
              <a:t>Zhao X et al.	</a:t>
            </a:r>
            <a:r>
              <a:rPr lang="zh-CN" altLang="en-US" dirty="0">
                <a:cs typeface="Times New Roman" panose="02020603050405020304" pitchFamily="18" charset="0"/>
                <a:sym typeface="微软雅黑" panose="020B0503020204020204" pitchFamily="34" charset="-122"/>
              </a:rPr>
              <a:t>将商品推荐过程建模成</a:t>
            </a:r>
            <a:r>
              <a:rPr lang="zh-CN" altLang="en-US" dirty="0" smtClean="0">
                <a:solidFill>
                  <a:srgbClr val="FF0000"/>
                </a:solidFill>
                <a:cs typeface="Times New Roman" panose="02020603050405020304" pitchFamily="18" charset="0"/>
                <a:sym typeface="微软雅黑" panose="020B0503020204020204" pitchFamily="34" charset="-122"/>
              </a:rPr>
              <a:t>马尔可夫决策过程</a:t>
            </a:r>
            <a:endParaRPr lang="en-US" altLang="zh-CN" dirty="0" smtClean="0">
              <a:solidFill>
                <a:srgbClr val="FF0000"/>
              </a:solidFill>
              <a:cs typeface="Times New Roman" panose="02020603050405020304" pitchFamily="18" charset="0"/>
              <a:sym typeface="微软雅黑" panose="020B0503020204020204" pitchFamily="34" charset="-122"/>
            </a:endParaRPr>
          </a:p>
          <a:p>
            <a:pPr lvl="2"/>
            <a:r>
              <a:rPr lang="en-US" altLang="zh-CN" dirty="0" smtClean="0">
                <a:cs typeface="Times New Roman" panose="02020603050405020304" pitchFamily="18" charset="0"/>
                <a:sym typeface="微软雅黑" panose="020B0503020204020204" pitchFamily="34" charset="-122"/>
              </a:rPr>
              <a:t>Wang</a:t>
            </a:r>
            <a:r>
              <a:rPr lang="zh-CN" altLang="en-US" dirty="0" smtClean="0">
                <a:cs typeface="Times New Roman" panose="02020603050405020304" pitchFamily="18" charset="0"/>
                <a:sym typeface="微软雅黑" panose="020B0503020204020204" pitchFamily="34" charset="-122"/>
              </a:rPr>
              <a:t>利用</a:t>
            </a:r>
            <a:r>
              <a:rPr lang="en-US" altLang="zh-CN" dirty="0" smtClean="0">
                <a:solidFill>
                  <a:srgbClr val="FF0000"/>
                </a:solidFill>
                <a:cs typeface="Times New Roman" panose="02020603050405020304" pitchFamily="18" charset="0"/>
                <a:sym typeface="微软雅黑" panose="020B0503020204020204" pitchFamily="34" charset="-122"/>
              </a:rPr>
              <a:t>Actor-Critic</a:t>
            </a:r>
            <a:r>
              <a:rPr lang="zh-CN" altLang="en-US" dirty="0" smtClean="0">
                <a:cs typeface="Times New Roman" panose="02020603050405020304" pitchFamily="18" charset="0"/>
                <a:sym typeface="微软雅黑" panose="020B0503020204020204" pitchFamily="34" charset="-122"/>
              </a:rPr>
              <a:t>构建融合深度学习模型进行</a:t>
            </a:r>
            <a:r>
              <a:rPr lang="zh-CN" altLang="en-US" dirty="0">
                <a:cs typeface="Times New Roman" panose="02020603050405020304" pitchFamily="18" charset="0"/>
                <a:sym typeface="微软雅黑" panose="020B0503020204020204" pitchFamily="34" charset="-122"/>
              </a:rPr>
              <a:t>处方推荐</a:t>
            </a:r>
            <a:r>
              <a:rPr lang="zh-CN" altLang="en-US" dirty="0" smtClean="0">
                <a:cs typeface="Times New Roman" panose="02020603050405020304" pitchFamily="18" charset="0"/>
                <a:sym typeface="微软雅黑" panose="020B0503020204020204" pitchFamily="34" charset="-122"/>
              </a:rPr>
              <a:t>研究</a:t>
            </a:r>
            <a:endParaRPr lang="en-US" altLang="zh-CN" dirty="0" smtClean="0">
              <a:cs typeface="Times New Roman" panose="02020603050405020304" pitchFamily="18" charset="0"/>
              <a:sym typeface="微软雅黑" panose="020B0503020204020204" pitchFamily="34" charset="-122"/>
            </a:endParaRPr>
          </a:p>
          <a:p>
            <a:pPr lvl="1"/>
            <a:r>
              <a:rPr lang="zh-CN" altLang="en-US" b="1" dirty="0">
                <a:cs typeface="Times New Roman" panose="02020603050405020304" pitchFamily="18" charset="0"/>
                <a:sym typeface="微软雅黑" panose="020B0503020204020204" pitchFamily="34" charset="-122"/>
              </a:rPr>
              <a:t>研究</a:t>
            </a:r>
            <a:r>
              <a:rPr lang="en-US" altLang="zh-CN" b="1" dirty="0">
                <a:cs typeface="Times New Roman" panose="02020603050405020304" pitchFamily="18" charset="0"/>
                <a:sym typeface="微软雅黑" panose="020B0503020204020204" pitchFamily="34" charset="-122"/>
              </a:rPr>
              <a:t>GAP</a:t>
            </a:r>
            <a:r>
              <a:rPr lang="zh-CN" altLang="en-US" b="1" dirty="0" smtClean="0">
                <a:cs typeface="Times New Roman" panose="02020603050405020304" pitchFamily="18" charset="0"/>
                <a:sym typeface="微软雅黑" panose="020B0503020204020204" pitchFamily="34" charset="-122"/>
              </a:rPr>
              <a:t>：</a:t>
            </a:r>
            <a:r>
              <a:rPr lang="zh-CN" altLang="en-US" u="sng" dirty="0" smtClean="0">
                <a:cs typeface="Times New Roman" panose="02020603050405020304" pitchFamily="18" charset="0"/>
                <a:sym typeface="微软雅黑" panose="020B0503020204020204" pitchFamily="34" charset="-122"/>
              </a:rPr>
              <a:t>未</a:t>
            </a:r>
            <a:r>
              <a:rPr lang="zh-CN" altLang="en-US" u="sng" dirty="0">
                <a:cs typeface="Times New Roman" panose="02020603050405020304" pitchFamily="18" charset="0"/>
                <a:sym typeface="微软雅黑" panose="020B0503020204020204" pitchFamily="34" charset="-122"/>
              </a:rPr>
              <a:t>考虑</a:t>
            </a:r>
            <a:r>
              <a:rPr lang="zh-CN" altLang="en-US" u="sng" dirty="0">
                <a:solidFill>
                  <a:srgbClr val="FF0000"/>
                </a:solidFill>
                <a:cs typeface="Times New Roman" panose="02020603050405020304" pitchFamily="18" charset="0"/>
                <a:sym typeface="微软雅黑" panose="020B0503020204020204" pitchFamily="34" charset="-122"/>
              </a:rPr>
              <a:t>对</a:t>
            </a:r>
            <a:r>
              <a:rPr lang="zh-CN" altLang="en-US" u="sng" dirty="0" smtClean="0">
                <a:solidFill>
                  <a:srgbClr val="FF0000"/>
                </a:solidFill>
                <a:cs typeface="Times New Roman" panose="02020603050405020304" pitchFamily="18" charset="0"/>
                <a:sym typeface="微软雅黑" panose="020B0503020204020204" pitchFamily="34" charset="-122"/>
              </a:rPr>
              <a:t>推荐对象</a:t>
            </a:r>
            <a:r>
              <a:rPr lang="zh-CN" altLang="en-US" b="1" u="sng" dirty="0" smtClean="0">
                <a:solidFill>
                  <a:srgbClr val="FF0000"/>
                </a:solidFill>
                <a:cs typeface="Times New Roman" panose="02020603050405020304" pitchFamily="18" charset="0"/>
                <a:sym typeface="微软雅黑" panose="020B0503020204020204" pitchFamily="34" charset="-122"/>
              </a:rPr>
              <a:t>顺序</a:t>
            </a:r>
            <a:r>
              <a:rPr lang="zh-CN" altLang="en-US" u="sng" dirty="0">
                <a:cs typeface="Times New Roman" panose="02020603050405020304" pitchFamily="18" charset="0"/>
                <a:sym typeface="微软雅黑" panose="020B0503020204020204" pitchFamily="34" charset="-122"/>
              </a:rPr>
              <a:t>的优化</a:t>
            </a:r>
          </a:p>
          <a:p>
            <a:pPr lvl="1"/>
            <a:endParaRPr lang="zh-CN" altLang="en-US" sz="900" dirty="0">
              <a:solidFill>
                <a:srgbClr val="FF0000"/>
              </a:solidFill>
              <a:cs typeface="Times New Roman" panose="02020603050405020304" pitchFamily="18" charset="0"/>
              <a:sym typeface="微软雅黑" panose="020B0503020204020204" pitchFamily="34" charset="-122"/>
            </a:endParaRPr>
          </a:p>
          <a:p>
            <a:pPr lvl="1"/>
            <a:endParaRPr lang="zh-CN" altLang="en-US" sz="900" dirty="0">
              <a:solidFill>
                <a:srgbClr val="FF0000"/>
              </a:solidFill>
              <a:cs typeface="Times New Roman" panose="02020603050405020304" pitchFamily="18" charset="0"/>
              <a:sym typeface="微软雅黑" panose="020B0503020204020204" pitchFamily="34" charset="-122"/>
            </a:endParaRPr>
          </a:p>
          <a:p>
            <a:pPr lvl="1"/>
            <a:endParaRPr lang="zh-CN" altLang="en-US" sz="1000" dirty="0">
              <a:solidFill>
                <a:srgbClr val="FF0000"/>
              </a:solidFill>
              <a:cs typeface="Times New Roman" panose="02020603050405020304" pitchFamily="18" charset="0"/>
              <a:sym typeface="微软雅黑" panose="020B0503020204020204" pitchFamily="34" charset="-122"/>
            </a:endParaRPr>
          </a:p>
          <a:p>
            <a:pPr lvl="1"/>
            <a:endParaRPr lang="zh-CN" altLang="en-US" sz="1050" dirty="0">
              <a:cs typeface="Times New Roman" panose="02020603050405020304" pitchFamily="18" charset="0"/>
              <a:sym typeface="微软雅黑" panose="020B0503020204020204" pitchFamily="34" charset="-122"/>
            </a:endParaRPr>
          </a:p>
          <a:p>
            <a:endParaRPr lang="zh-CN" altLang="en-US" sz="1400" dirty="0">
              <a:solidFill>
                <a:srgbClr val="FF0000"/>
              </a:solidFill>
              <a:cs typeface="Times New Roman" panose="02020603050405020304" pitchFamily="18" charset="0"/>
              <a:sym typeface="微软雅黑" panose="020B0503020204020204" pitchFamily="34" charset="-122"/>
            </a:endParaRPr>
          </a:p>
          <a:p>
            <a:pPr lvl="1"/>
            <a:endParaRPr lang="zh-CN" altLang="en-US" sz="1200" dirty="0">
              <a:solidFill>
                <a:srgbClr val="FF0000"/>
              </a:solidFill>
              <a:cs typeface="Times New Roman" panose="02020603050405020304" pitchFamily="18" charset="0"/>
              <a:sym typeface="微软雅黑" panose="020B0503020204020204" pitchFamily="34" charset="-122"/>
            </a:endParaRPr>
          </a:p>
          <a:p>
            <a:pPr lvl="1"/>
            <a:endParaRPr lang="zh-CN" altLang="en-US" sz="1400" dirty="0">
              <a:solidFill>
                <a:srgbClr val="FF0000"/>
              </a:solidFill>
              <a:cs typeface="Times New Roman" panose="02020603050405020304" pitchFamily="18" charset="0"/>
              <a:sym typeface="微软雅黑" panose="020B0503020204020204" pitchFamily="34" charset="-122"/>
            </a:endParaRPr>
          </a:p>
          <a:p>
            <a:pPr lvl="1"/>
            <a:endParaRPr lang="zh-CN" altLang="en-US" sz="1600" dirty="0">
              <a:cs typeface="Times New Roman" panose="02020603050405020304" pitchFamily="18" charset="0"/>
              <a:sym typeface="微软雅黑" panose="020B0503020204020204" pitchFamily="34" charset="-122"/>
            </a:endParaRPr>
          </a:p>
          <a:p>
            <a:pPr lvl="1"/>
            <a:endParaRPr lang="zh-CN" altLang="en-US" sz="1800" dirty="0">
              <a:sym typeface="微软雅黑" panose="020B0503020204020204" pitchFamily="34" charset="-122"/>
            </a:endParaRPr>
          </a:p>
          <a:p>
            <a:endParaRPr lang="zh-CN" altLang="en-US" sz="24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研究现状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9479146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研究现状</a:t>
            </a:r>
            <a:endParaRPr lang="zh-CN" altLang="en-US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0312317-E89A-49CA-98EC-5FBF4C917AD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10792" y="1620775"/>
          <a:ext cx="8569513" cy="4182994"/>
        </p:xfrm>
        <a:graphic>
          <a:graphicData uri="http://schemas.openxmlformats.org/drawingml/2006/table">
            <a:tbl>
              <a:tblPr firstRow="1" firstCol="1" bandRow="1">
                <a:tableStyleId>{1E171933-4619-4E11-9A3F-F7608DF75F80}</a:tableStyleId>
              </a:tblPr>
              <a:tblGrid>
                <a:gridCol w="1584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94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593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49109" marR="49109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数据类型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49109" marR="4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模型方法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49109" marR="4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主要优点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49109" marR="4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93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Shi et al. </a:t>
                      </a:r>
                      <a:endParaRPr lang="zh-CN" sz="2000" b="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49109" marR="49109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评论文本</a:t>
                      </a:r>
                      <a:endParaRPr lang="zh-CN" sz="1800" b="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49109" marR="4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协同过滤</a:t>
                      </a:r>
                      <a:endParaRPr lang="zh-CN" sz="1800" b="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49109" marR="4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学习用户的潜在偏好</a:t>
                      </a:r>
                      <a:endParaRPr lang="zh-CN" sz="1800" b="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49109" marR="4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46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Guo et al. </a:t>
                      </a:r>
                      <a:endParaRPr lang="zh-CN" sz="2000" b="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49109" marR="49109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评论文本</a:t>
                      </a:r>
                      <a:endParaRPr lang="zh-CN" sz="1800" b="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49109" marR="4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支持向量机、隐含狄利克雷</a:t>
                      </a:r>
                      <a:endParaRPr lang="zh-CN" sz="1800" b="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49109" marR="4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抽取用户的主题和情感</a:t>
                      </a:r>
                      <a:endParaRPr lang="zh-CN" sz="1800" b="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49109" marR="4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93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Jiang et al. </a:t>
                      </a:r>
                      <a:endParaRPr lang="zh-CN" sz="2000" b="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49109" marR="49109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评论文本、图片</a:t>
                      </a:r>
                      <a:endParaRPr lang="zh-CN" sz="1800" b="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49109" marR="4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主题模型</a:t>
                      </a:r>
                      <a:endParaRPr lang="zh-CN" sz="1800" b="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49109" marR="4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获取用户</a:t>
                      </a:r>
                      <a:r>
                        <a:rPr lang="zh-CN" sz="1800" b="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历史路径信息</a:t>
                      </a:r>
                      <a:endParaRPr lang="zh-CN" sz="1800" b="0" kern="1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49109" marR="4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593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Xu et al. </a:t>
                      </a:r>
                      <a:endParaRPr lang="zh-CN" sz="2000" b="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49109" marR="49109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评论文本</a:t>
                      </a:r>
                      <a:endParaRPr lang="zh-CN" sz="1800" b="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49109" marR="4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单调比率调度算法</a:t>
                      </a:r>
                      <a:endParaRPr lang="zh-CN" sz="1800" b="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49109" marR="4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计算距离最短的游览路线</a:t>
                      </a:r>
                      <a:endParaRPr lang="zh-CN" sz="1800" b="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49109" marR="4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593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00" dirty="0" err="1" smtClean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Yamsaki</a:t>
                      </a:r>
                      <a:r>
                        <a:rPr lang="en-US" sz="2000" b="0" kern="100" dirty="0" smtClean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et al. </a:t>
                      </a:r>
                      <a:endParaRPr lang="zh-CN" sz="2000" b="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49109" marR="49109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历史游览信息</a:t>
                      </a:r>
                      <a:endParaRPr lang="zh-CN" sz="1800" b="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49109" marR="4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马尔可夫模型</a:t>
                      </a:r>
                      <a:endParaRPr lang="zh-CN" sz="1800" b="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49109" marR="4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匹配季节性</a:t>
                      </a:r>
                      <a:r>
                        <a:rPr lang="zh-CN" sz="1800" b="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热门景点</a:t>
                      </a:r>
                      <a:endParaRPr lang="zh-CN" sz="1800" b="0" kern="1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49109" marR="4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593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Sun et al. </a:t>
                      </a:r>
                      <a:endParaRPr lang="zh-CN" sz="2000" b="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49109" marR="49109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历史游览信息</a:t>
                      </a:r>
                      <a:endParaRPr lang="zh-CN" sz="1800" b="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49109" marR="4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超链诱导主题搜索模型</a:t>
                      </a:r>
                      <a:endParaRPr lang="zh-CN" sz="1800" b="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49109" marR="4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推荐</a:t>
                      </a:r>
                      <a:r>
                        <a:rPr lang="zh-CN" sz="1800" b="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流行度</a:t>
                      </a:r>
                      <a:r>
                        <a:rPr lang="zh-CN" sz="1800" b="0" kern="100" dirty="0" smtClean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高景点</a:t>
                      </a:r>
                      <a:r>
                        <a:rPr lang="zh-CN" sz="1800" b="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和</a:t>
                      </a:r>
                      <a:r>
                        <a:rPr lang="zh-CN" sz="1800" b="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路线</a:t>
                      </a:r>
                      <a:endParaRPr lang="zh-CN" sz="1800" b="0" kern="1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49109" marR="4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593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00" dirty="0" err="1" smtClean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Kurshim</a:t>
                      </a:r>
                      <a:r>
                        <a:rPr lang="en-US" sz="2000" b="0" kern="100" dirty="0" smtClean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et al. </a:t>
                      </a:r>
                      <a:endParaRPr lang="zh-CN" sz="2000" b="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49109" marR="49109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历史游览信息</a:t>
                      </a:r>
                      <a:endParaRPr lang="zh-CN" sz="1800" b="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49109" marR="4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隐含狄利克雷、</a:t>
                      </a:r>
                      <a:r>
                        <a:rPr lang="zh-CN" sz="1800" b="0" kern="100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马尔可夫</a:t>
                      </a:r>
                      <a:endParaRPr lang="zh-CN" sz="1800" b="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49109" marR="4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00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预测概率</a:t>
                      </a:r>
                      <a:r>
                        <a:rPr lang="zh-CN" sz="1800" b="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最大的旅游路线</a:t>
                      </a:r>
                      <a:endParaRPr lang="zh-CN" sz="1800" b="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49109" marR="4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402139" y="5726225"/>
            <a:ext cx="8712967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研究</a:t>
            </a:r>
            <a:r>
              <a:rPr lang="en-US" altLang="zh-CN" sz="22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GAP</a:t>
            </a:r>
            <a:r>
              <a:rPr lang="zh-CN" altLang="en-US" sz="22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：</a:t>
            </a:r>
            <a:r>
              <a:rPr lang="en-US" altLang="zh-CN" b="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zh-CN" altLang="en-US" b="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r>
              <a:rPr lang="zh-CN" altLang="en-US" b="0" u="sng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少有研究考虑</a:t>
            </a:r>
            <a:r>
              <a:rPr lang="zh-CN" altLang="en-US" b="0" u="sng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用户的</a:t>
            </a:r>
            <a:r>
              <a:rPr lang="zh-CN" altLang="en-US" b="0" u="sng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实时位置状态</a:t>
            </a:r>
            <a:r>
              <a:rPr lang="zh-CN" altLang="en-US" b="0" u="sng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对景点推荐的影响</a:t>
            </a:r>
            <a:endParaRPr lang="en-US" altLang="zh-CN" b="0" u="sng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	 </a:t>
            </a:r>
            <a:r>
              <a:rPr lang="en-US" altLang="zh-CN" b="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    2</a:t>
            </a:r>
            <a:r>
              <a:rPr lang="zh-CN" altLang="en-US" b="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r>
              <a:rPr lang="zh-CN" altLang="en-US" b="0" u="sng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没有充分考虑用户对</a:t>
            </a:r>
            <a:r>
              <a:rPr lang="zh-CN" altLang="en-US" b="0" u="sng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旅游景点顺序</a:t>
            </a:r>
            <a:r>
              <a:rPr lang="zh-CN" altLang="en-US" b="0" u="sng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的选择</a:t>
            </a:r>
            <a:endParaRPr lang="en-US" altLang="zh-CN" b="0" u="sng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10792" y="1026060"/>
            <a:ext cx="8712967" cy="5403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200" b="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altLang="en-US" sz="2200" b="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、智能旅游推荐</a:t>
            </a:r>
            <a:endParaRPr lang="en-US" altLang="zh-CN" sz="2200" b="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12652979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75000"/>
              </a:lnSpc>
            </a:pPr>
            <a:r>
              <a:rPr lang="zh-CN" altLang="en-US" sz="2400" dirty="0" smtClean="0">
                <a:solidFill>
                  <a:srgbClr val="0000FF"/>
                </a:solidFill>
              </a:rPr>
              <a:t>研究视角：</a:t>
            </a:r>
            <a:endParaRPr lang="en-US" altLang="zh-CN" sz="2400" dirty="0" smtClean="0">
              <a:solidFill>
                <a:srgbClr val="0000FF"/>
              </a:solidFill>
            </a:endParaRPr>
          </a:p>
          <a:p>
            <a:pPr lvl="1">
              <a:lnSpc>
                <a:spcPct val="175000"/>
              </a:lnSpc>
            </a:pPr>
            <a:r>
              <a:rPr lang="zh-CN" altLang="en-US" sz="2200" dirty="0" smtClean="0"/>
              <a:t>从大数据分析角度，从多维度对用户偏好进行分析与建模，</a:t>
            </a:r>
            <a:endParaRPr lang="en-US" altLang="zh-CN" sz="2200" dirty="0" smtClean="0"/>
          </a:p>
          <a:p>
            <a:pPr marL="457200" lvl="1" indent="0">
              <a:lnSpc>
                <a:spcPct val="175000"/>
              </a:lnSpc>
              <a:buNone/>
            </a:pPr>
            <a:r>
              <a:rPr lang="zh-CN" altLang="en-US" sz="2200" dirty="0" smtClean="0"/>
              <a:t>    采用强化学习的方法进行实时情境下的推荐</a:t>
            </a:r>
            <a:endParaRPr lang="en-US" altLang="zh-CN" sz="2200" dirty="0" smtClean="0"/>
          </a:p>
          <a:p>
            <a:pPr>
              <a:lnSpc>
                <a:spcPct val="175000"/>
              </a:lnSpc>
            </a:pPr>
            <a:r>
              <a:rPr lang="zh-CN" altLang="en-US" sz="2400" dirty="0" smtClean="0">
                <a:solidFill>
                  <a:srgbClr val="0000FF"/>
                </a:solidFill>
              </a:rPr>
              <a:t>研究思路</a:t>
            </a:r>
            <a:r>
              <a:rPr lang="en-US" altLang="zh-CN" sz="2400" dirty="0" smtClean="0">
                <a:solidFill>
                  <a:srgbClr val="0000FF"/>
                </a:solidFill>
              </a:rPr>
              <a:t>:</a:t>
            </a:r>
          </a:p>
          <a:p>
            <a:pPr lvl="1">
              <a:lnSpc>
                <a:spcPct val="175000"/>
              </a:lnSpc>
            </a:pPr>
            <a:r>
              <a:rPr lang="zh-CN" altLang="en-US" sz="2200" dirty="0" smtClean="0">
                <a:solidFill>
                  <a:srgbClr val="FF0000"/>
                </a:solidFill>
              </a:rPr>
              <a:t>思路</a:t>
            </a:r>
            <a:r>
              <a:rPr lang="en-US" altLang="zh-CN" sz="2200" dirty="0" smtClean="0">
                <a:solidFill>
                  <a:srgbClr val="FF0000"/>
                </a:solidFill>
              </a:rPr>
              <a:t>1</a:t>
            </a:r>
            <a:r>
              <a:rPr lang="zh-CN" altLang="en-US" sz="2200" dirty="0" smtClean="0">
                <a:solidFill>
                  <a:srgbClr val="FF0000"/>
                </a:solidFill>
              </a:rPr>
              <a:t>：偏好建模 </a:t>
            </a:r>
            <a:r>
              <a:rPr lang="en-US" altLang="zh-CN" sz="2200" dirty="0" smtClean="0">
                <a:solidFill>
                  <a:srgbClr val="FF0000"/>
                </a:solidFill>
              </a:rPr>
              <a:t>- </a:t>
            </a:r>
            <a:r>
              <a:rPr lang="zh-CN" altLang="en-US" sz="2200" dirty="0" smtClean="0"/>
              <a:t>长期</a:t>
            </a:r>
            <a:r>
              <a:rPr lang="en-US" altLang="zh-CN" sz="2200" dirty="0" smtClean="0"/>
              <a:t>+</a:t>
            </a:r>
            <a:r>
              <a:rPr lang="zh-CN" altLang="en-US" sz="2200" dirty="0" smtClean="0"/>
              <a:t>短期；偏好</a:t>
            </a:r>
            <a:r>
              <a:rPr lang="en-US" altLang="zh-CN" sz="2200" dirty="0" smtClean="0"/>
              <a:t>+</a:t>
            </a:r>
            <a:r>
              <a:rPr lang="zh-CN" altLang="en-US" sz="2200" dirty="0" smtClean="0"/>
              <a:t>情景；</a:t>
            </a:r>
            <a:endParaRPr lang="en-US" altLang="zh-CN" sz="2200" dirty="0" smtClean="0"/>
          </a:p>
          <a:p>
            <a:pPr lvl="2">
              <a:lnSpc>
                <a:spcPct val="175000"/>
              </a:lnSpc>
            </a:pPr>
            <a:r>
              <a:rPr lang="zh-CN" altLang="en-US" sz="2200" dirty="0" smtClean="0"/>
              <a:t>用户的历史数据（文本</a:t>
            </a:r>
            <a:r>
              <a:rPr lang="en-US" altLang="zh-CN" sz="2200" dirty="0" smtClean="0"/>
              <a:t>+</a:t>
            </a:r>
            <a:r>
              <a:rPr lang="zh-CN" altLang="en-US" sz="2200" dirty="0" smtClean="0"/>
              <a:t>评分），提炼出用户景点的偏好</a:t>
            </a:r>
            <a:endParaRPr lang="en-US" altLang="zh-CN" sz="2200" dirty="0" smtClean="0"/>
          </a:p>
          <a:p>
            <a:pPr lvl="2">
              <a:lnSpc>
                <a:spcPct val="175000"/>
              </a:lnSpc>
            </a:pPr>
            <a:r>
              <a:rPr lang="zh-CN" altLang="en-US" sz="2200" dirty="0" smtClean="0"/>
              <a:t>用户旅游历史，提炼出旅游景点参观习惯</a:t>
            </a:r>
            <a:endParaRPr lang="en-US" altLang="zh-CN" sz="2200" dirty="0" smtClean="0"/>
          </a:p>
          <a:p>
            <a:pPr lvl="1">
              <a:lnSpc>
                <a:spcPct val="175000"/>
              </a:lnSpc>
            </a:pPr>
            <a:r>
              <a:rPr lang="zh-CN" altLang="en-US" sz="2200" dirty="0" smtClean="0">
                <a:solidFill>
                  <a:srgbClr val="FF0000"/>
                </a:solidFill>
              </a:rPr>
              <a:t>思路</a:t>
            </a:r>
            <a:r>
              <a:rPr lang="en-US" altLang="zh-CN" sz="2200" dirty="0" smtClean="0">
                <a:solidFill>
                  <a:srgbClr val="FF0000"/>
                </a:solidFill>
              </a:rPr>
              <a:t>2</a:t>
            </a:r>
            <a:r>
              <a:rPr lang="zh-CN" altLang="en-US" sz="2200" dirty="0" smtClean="0">
                <a:solidFill>
                  <a:srgbClr val="FF0000"/>
                </a:solidFill>
              </a:rPr>
              <a:t>：推荐建模 </a:t>
            </a:r>
            <a:r>
              <a:rPr lang="en-US" altLang="zh-CN" sz="2200" dirty="0" smtClean="0">
                <a:solidFill>
                  <a:srgbClr val="FF0000"/>
                </a:solidFill>
              </a:rPr>
              <a:t>- </a:t>
            </a:r>
            <a:r>
              <a:rPr lang="zh-CN" altLang="en-US" sz="2200" dirty="0" smtClean="0"/>
              <a:t>把推荐过程建模为一个马尔可夫决策过程，通过强化学习来体现长期短期、实时动态的推荐</a:t>
            </a:r>
            <a:endParaRPr lang="en-US" altLang="zh-CN" sz="2200" dirty="0" smtClean="0"/>
          </a:p>
          <a:p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研究视角与思路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0389400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6591" y="1028537"/>
            <a:ext cx="8470818" cy="5403216"/>
          </a:xfrm>
        </p:spPr>
        <p:txBody>
          <a:bodyPr/>
          <a:lstStyle/>
          <a:p>
            <a:pPr marL="0" indent="0">
              <a:lnSpc>
                <a:spcPct val="175000"/>
              </a:lnSpc>
              <a:buNone/>
            </a:pPr>
            <a:r>
              <a:rPr lang="zh-CN" altLang="en-US" sz="2400" dirty="0" smtClean="0">
                <a:solidFill>
                  <a:srgbClr val="0000FF"/>
                </a:solidFill>
              </a:rPr>
              <a:t>（一）用户行为分析与偏好建模</a:t>
            </a:r>
            <a:endParaRPr lang="en-US" altLang="zh-CN" sz="2400" dirty="0" smtClean="0">
              <a:solidFill>
                <a:srgbClr val="0000FF"/>
              </a:solidFill>
            </a:endParaRPr>
          </a:p>
          <a:p>
            <a:pPr lvl="1">
              <a:lnSpc>
                <a:spcPct val="175000"/>
              </a:lnSpc>
            </a:pPr>
            <a:r>
              <a:rPr lang="zh-CN" altLang="en-US" sz="2200" dirty="0">
                <a:sym typeface="微软雅黑" panose="020B0503020204020204" pitchFamily="34" charset="-122"/>
              </a:rPr>
              <a:t>基于</a:t>
            </a:r>
            <a:r>
              <a:rPr lang="zh-CN" altLang="en-US" sz="2200" dirty="0">
                <a:solidFill>
                  <a:srgbClr val="FF0000"/>
                </a:solidFill>
                <a:sym typeface="微软雅黑" panose="020B0503020204020204" pitchFamily="34" charset="-122"/>
              </a:rPr>
              <a:t>注意力机制</a:t>
            </a:r>
            <a:r>
              <a:rPr lang="zh-CN" altLang="en-US" sz="2200" dirty="0">
                <a:sym typeface="微软雅黑" panose="020B0503020204020204" pitchFamily="34" charset="-122"/>
              </a:rPr>
              <a:t>的长短期偏好建模</a:t>
            </a:r>
            <a:endParaRPr lang="en-US" altLang="zh-CN" sz="2200" dirty="0">
              <a:sym typeface="微软雅黑" panose="020B0503020204020204" pitchFamily="34" charset="-122"/>
            </a:endParaRPr>
          </a:p>
          <a:p>
            <a:pPr lvl="1">
              <a:lnSpc>
                <a:spcPct val="175000"/>
              </a:lnSpc>
            </a:pPr>
            <a:r>
              <a:rPr lang="zh-CN" altLang="en-US" sz="2200" dirty="0">
                <a:sym typeface="微软雅黑" panose="020B0503020204020204" pitchFamily="34" charset="-122"/>
              </a:rPr>
              <a:t>基于</a:t>
            </a:r>
            <a:r>
              <a:rPr lang="zh-CN" altLang="en-US" sz="2200" dirty="0">
                <a:solidFill>
                  <a:srgbClr val="FF0000"/>
                </a:solidFill>
                <a:sym typeface="微软雅黑" panose="020B0503020204020204" pitchFamily="34" charset="-122"/>
              </a:rPr>
              <a:t>位置信息</a:t>
            </a:r>
            <a:r>
              <a:rPr lang="zh-CN" altLang="en-US" sz="2200" dirty="0">
                <a:sym typeface="微软雅黑" panose="020B0503020204020204" pitchFamily="34" charset="-122"/>
              </a:rPr>
              <a:t>的实时状态学习机制</a:t>
            </a:r>
            <a:endParaRPr lang="zh-CN" altLang="en-US" sz="2200" dirty="0"/>
          </a:p>
          <a:p>
            <a:pPr marL="0" indent="0">
              <a:lnSpc>
                <a:spcPct val="200000"/>
              </a:lnSpc>
              <a:buNone/>
            </a:pPr>
            <a:r>
              <a:rPr lang="zh-CN" altLang="en-US" sz="2400" dirty="0" smtClean="0">
                <a:solidFill>
                  <a:srgbClr val="0000FF"/>
                </a:solidFill>
              </a:rPr>
              <a:t>（二）基于强化学习的旅游推荐模型</a:t>
            </a:r>
            <a:endParaRPr lang="en-US" altLang="zh-CN" sz="2400" dirty="0" smtClean="0">
              <a:solidFill>
                <a:srgbClr val="0000FF"/>
              </a:solidFill>
            </a:endParaRPr>
          </a:p>
          <a:p>
            <a:pPr lvl="1">
              <a:lnSpc>
                <a:spcPct val="175000"/>
              </a:lnSpc>
            </a:pPr>
            <a:r>
              <a:rPr lang="zh-CN" altLang="en-US" sz="2200" dirty="0">
                <a:sym typeface="微软雅黑" panose="020B0503020204020204" pitchFamily="34" charset="-122"/>
              </a:rPr>
              <a:t>基于</a:t>
            </a:r>
            <a:r>
              <a:rPr lang="en-US" altLang="zh-CN" sz="2200" dirty="0">
                <a:sym typeface="微软雅黑" panose="020B0503020204020204" pitchFamily="34" charset="-122"/>
              </a:rPr>
              <a:t>Actor-Critic</a:t>
            </a:r>
            <a:r>
              <a:rPr lang="zh-CN" altLang="en-US" sz="2200" dirty="0">
                <a:sym typeface="微软雅黑" panose="020B0503020204020204" pitchFamily="34" charset="-122"/>
              </a:rPr>
              <a:t>框架</a:t>
            </a:r>
            <a:r>
              <a:rPr lang="zh-CN" altLang="en-US" sz="2200" dirty="0" smtClean="0">
                <a:sym typeface="微软雅黑" panose="020B0503020204020204" pitchFamily="34" charset="-122"/>
              </a:rPr>
              <a:t>的强化学习推荐</a:t>
            </a:r>
            <a:endParaRPr lang="zh-CN" altLang="en-US" sz="2200" dirty="0"/>
          </a:p>
          <a:p>
            <a:pPr marL="0" indent="0">
              <a:lnSpc>
                <a:spcPct val="200000"/>
              </a:lnSpc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（三）实验设计评估</a:t>
            </a:r>
            <a:endParaRPr lang="en-US" altLang="zh-CN" sz="2400" dirty="0">
              <a:solidFill>
                <a:srgbClr val="0000FF"/>
              </a:solidFill>
            </a:endParaRPr>
          </a:p>
          <a:p>
            <a:pPr lvl="1">
              <a:lnSpc>
                <a:spcPct val="175000"/>
              </a:lnSpc>
            </a:pPr>
            <a:r>
              <a:rPr lang="zh-CN" altLang="en-US" sz="2200" dirty="0">
                <a:sym typeface="微软雅黑" panose="020B0503020204020204" pitchFamily="34" charset="-122"/>
              </a:rPr>
              <a:t>离线模拟实验研究</a:t>
            </a:r>
            <a:endParaRPr lang="en-US" altLang="zh-CN" sz="2200" dirty="0">
              <a:sym typeface="微软雅黑" panose="020B0503020204020204" pitchFamily="34" charset="-122"/>
            </a:endParaRPr>
          </a:p>
          <a:p>
            <a:pPr lvl="1">
              <a:lnSpc>
                <a:spcPct val="175000"/>
              </a:lnSpc>
            </a:pPr>
            <a:r>
              <a:rPr lang="zh-CN" altLang="en-US" sz="2200" dirty="0">
                <a:sym typeface="微软雅黑" panose="020B0503020204020204" pitchFamily="34" charset="-122"/>
              </a:rPr>
              <a:t>在线实时实验研究</a:t>
            </a:r>
            <a:endParaRPr lang="zh-CN" altLang="en-US" sz="2200" dirty="0"/>
          </a:p>
          <a:p>
            <a:pPr>
              <a:lnSpc>
                <a:spcPct val="175000"/>
              </a:lnSpc>
            </a:pP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研究内容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1935545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（一）用户行为分析与偏好建模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D7E1791-B25F-412F-AEBD-3002A8E4D9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3426"/>
          <a:stretch/>
        </p:blipFill>
        <p:spPr>
          <a:xfrm>
            <a:off x="391554" y="2728771"/>
            <a:ext cx="3212022" cy="3934147"/>
          </a:xfrm>
          <a:prstGeom prst="rect">
            <a:avLst/>
          </a:prstGeom>
        </p:spPr>
      </p:pic>
      <p:sp>
        <p:nvSpPr>
          <p:cNvPr id="4" name="TextBox 19">
            <a:extLst>
              <a:ext uri="{FF2B5EF4-FFF2-40B4-BE49-F238E27FC236}">
                <a16:creationId xmlns:a16="http://schemas.microsoft.com/office/drawing/2014/main" id="{83B40A94-5480-4AB8-9141-30E9BE73B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623" y="1086329"/>
            <a:ext cx="4048961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16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4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2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9pPr>
          </a:lstStyle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b="0" dirty="0" smtClean="0">
                <a:solidFill>
                  <a:srgbClr val="0000FF"/>
                </a:solidFill>
                <a:latin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研究数据简介：</a:t>
            </a:r>
            <a:endParaRPr lang="en-US" altLang="zh-CN" sz="2400" b="0" dirty="0" smtClean="0">
              <a:solidFill>
                <a:srgbClr val="0000FF"/>
              </a:solidFill>
              <a:latin typeface="微软雅黑" panose="020B0503020204020204" pitchFamily="34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000" b="0" dirty="0" smtClean="0">
                <a:solidFill>
                  <a:schemeClr val="tx1"/>
                </a:solidFill>
                <a:latin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猫</a:t>
            </a:r>
            <a:r>
              <a: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途鹰 （</a:t>
            </a:r>
            <a:r>
              <a:rPr lang="en-US" altLang="zh-CN" sz="2000" b="0" dirty="0">
                <a:solidFill>
                  <a:schemeClr val="tx1"/>
                </a:solidFill>
                <a:latin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TripAdvisor</a:t>
            </a:r>
            <a:r>
              <a: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）</a:t>
            </a:r>
            <a:endParaRPr lang="en-US" altLang="zh-CN" sz="2000" b="0" dirty="0">
              <a:solidFill>
                <a:schemeClr val="tx1"/>
              </a:solidFill>
              <a:latin typeface="微软雅黑" panose="020B0503020204020204" pitchFamily="34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全球最大的互联网旅游平台之一</a:t>
            </a:r>
            <a:endParaRPr lang="en-US" altLang="zh-CN" sz="2000" b="0" dirty="0">
              <a:solidFill>
                <a:schemeClr val="tx1"/>
              </a:solidFill>
              <a:latin typeface="微软雅黑" panose="020B0503020204020204" pitchFamily="34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063B522-D567-4D7F-8B85-FA39A3DAA1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29" r="8542"/>
          <a:stretch/>
        </p:blipFill>
        <p:spPr bwMode="auto">
          <a:xfrm>
            <a:off x="4293017" y="1484784"/>
            <a:ext cx="4724354" cy="30662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6715CCF-41FF-40DF-873B-F45B48CDA4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7332" y="4686304"/>
            <a:ext cx="3944454" cy="1944793"/>
          </a:xfrm>
          <a:prstGeom prst="rect">
            <a:avLst/>
          </a:prstGeom>
          <a:ln>
            <a:noFill/>
          </a:ln>
        </p:spPr>
      </p:pic>
      <p:sp>
        <p:nvSpPr>
          <p:cNvPr id="8" name="箭头: 左弧形 584">
            <a:extLst>
              <a:ext uri="{FF2B5EF4-FFF2-40B4-BE49-F238E27FC236}">
                <a16:creationId xmlns:a16="http://schemas.microsoft.com/office/drawing/2014/main" id="{09B16259-D167-4F42-A362-ED3BC8B6F2B4}"/>
              </a:ext>
            </a:extLst>
          </p:cNvPr>
          <p:cNvSpPr/>
          <p:nvPr/>
        </p:nvSpPr>
        <p:spPr bwMode="auto">
          <a:xfrm>
            <a:off x="3654009" y="1995595"/>
            <a:ext cx="961485" cy="4214363"/>
          </a:xfrm>
          <a:prstGeom prst="curvedRightArrow">
            <a:avLst/>
          </a:prstGeom>
          <a:solidFill>
            <a:schemeClr val="accent1"/>
          </a:solidFill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2779141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用户行为分析 </a:t>
            </a:r>
            <a:r>
              <a:rPr lang="en-US" altLang="zh-CN" dirty="0" smtClean="0"/>
              <a:t>– </a:t>
            </a:r>
            <a:r>
              <a:rPr lang="zh-CN" altLang="en-US" dirty="0" smtClean="0"/>
              <a:t>评论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1E72EF1-F04E-4006-991A-409EDBBC25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095"/>
          <a:stretch/>
        </p:blipFill>
        <p:spPr>
          <a:xfrm>
            <a:off x="76045" y="3451627"/>
            <a:ext cx="4351939" cy="2137613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2F9B31E-8292-4A06-ABEC-3F3893B7F98D}"/>
              </a:ext>
            </a:extLst>
          </p:cNvPr>
          <p:cNvSpPr/>
          <p:nvPr/>
        </p:nvSpPr>
        <p:spPr>
          <a:xfrm>
            <a:off x="229335" y="3546506"/>
            <a:ext cx="2326441" cy="1921331"/>
          </a:xfrm>
          <a:prstGeom prst="rect">
            <a:avLst/>
          </a:pr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3E835CAB-34D4-4826-B16E-865B12229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981" y="1996266"/>
            <a:ext cx="460061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16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4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2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评论数据：评分 </a:t>
            </a:r>
            <a:r>
              <a:rPr lang="en-US" altLang="zh-CN" sz="2000" b="0" dirty="0">
                <a:solidFill>
                  <a:schemeClr val="tx1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(1-5</a:t>
            </a:r>
            <a:r>
              <a: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分</a:t>
            </a:r>
            <a:r>
              <a:rPr lang="en-US" altLang="zh-CN" sz="2000" b="0" dirty="0">
                <a:solidFill>
                  <a:schemeClr val="tx1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) + </a:t>
            </a:r>
            <a:r>
              <a: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评论文本</a:t>
            </a:r>
            <a:endParaRPr lang="zh-CN" altLang="en-US" sz="2000" b="0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47E644B-9599-4DED-9B95-1755F7BB8C74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573" b="4733"/>
          <a:stretch/>
        </p:blipFill>
        <p:spPr bwMode="auto">
          <a:xfrm>
            <a:off x="4572000" y="3311867"/>
            <a:ext cx="4183652" cy="2229067"/>
          </a:xfrm>
          <a:prstGeom prst="rect">
            <a:avLst/>
          </a:prstGeom>
          <a:noFill/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7F1BBD87-C4E9-4BEF-8707-4DC77EAC11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5232" y="5366861"/>
            <a:ext cx="1432556" cy="195869"/>
          </a:xfrm>
          <a:prstGeom prst="rect">
            <a:avLst/>
          </a:prstGeom>
          <a:noFill/>
          <a:ln w="28575" algn="ctr">
            <a:solidFill>
              <a:srgbClr val="00206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16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4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2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63FB1FD-7838-4B94-BA3F-0FD547B4E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6808" y="3847416"/>
            <a:ext cx="1707355" cy="203916"/>
          </a:xfrm>
          <a:prstGeom prst="rect">
            <a:avLst/>
          </a:prstGeom>
          <a:noFill/>
          <a:ln w="28575" algn="ctr">
            <a:solidFill>
              <a:srgbClr val="00206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16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4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2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B829382-79D1-4903-9EA5-97C84D6A6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4853" y="4567977"/>
            <a:ext cx="2092592" cy="210303"/>
          </a:xfrm>
          <a:prstGeom prst="rect">
            <a:avLst/>
          </a:prstGeom>
          <a:noFill/>
          <a:ln w="28575" algn="ctr">
            <a:solidFill>
              <a:srgbClr val="00206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16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4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2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TextBox 19">
            <a:extLst>
              <a:ext uri="{FF2B5EF4-FFF2-40B4-BE49-F238E27FC236}">
                <a16:creationId xmlns:a16="http://schemas.microsoft.com/office/drawing/2014/main" id="{EA3D28EC-E43E-4748-BA55-7D0D53C36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373" y="5509681"/>
            <a:ext cx="2250776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16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4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2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负面情感：</a:t>
            </a:r>
            <a:r>
              <a:rPr lang="en-US" altLang="zh-CN" sz="2000" b="0" dirty="0">
                <a:solidFill>
                  <a:schemeClr val="tx1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0-3</a:t>
            </a:r>
            <a:r>
              <a: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分</a:t>
            </a:r>
            <a:endParaRPr lang="en-US" altLang="zh-CN" sz="2000" b="0" dirty="0">
              <a:solidFill>
                <a:schemeClr val="tx1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正面情感：</a:t>
            </a:r>
            <a:r>
              <a:rPr lang="en-US" altLang="zh-CN" sz="2000" b="0" dirty="0">
                <a:solidFill>
                  <a:schemeClr val="tx1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3-5</a:t>
            </a:r>
            <a:r>
              <a: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分</a:t>
            </a:r>
            <a:endParaRPr lang="zh-CN" altLang="en-US" sz="2000" b="0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9">
            <a:extLst>
              <a:ext uri="{FF2B5EF4-FFF2-40B4-BE49-F238E27FC236}">
                <a16:creationId xmlns:a16="http://schemas.microsoft.com/office/drawing/2014/main" id="{E5F54C76-8EE8-4D99-973A-123CC54531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981" y="2681913"/>
            <a:ext cx="283389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16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4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2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评论的</a:t>
            </a:r>
            <a:r>
              <a:rPr lang="zh-CN" altLang="en-US" sz="2000" b="0" dirty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情感极性</a:t>
            </a:r>
            <a:r>
              <a: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特点</a:t>
            </a:r>
            <a:endParaRPr lang="zh-CN" altLang="en-US" sz="2000" b="0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TextBox 19">
            <a:extLst>
              <a:ext uri="{FF2B5EF4-FFF2-40B4-BE49-F238E27FC236}">
                <a16:creationId xmlns:a16="http://schemas.microsoft.com/office/drawing/2014/main" id="{72DCEE22-A056-4F02-8A3D-A6AAF3DC6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4008" y="5643479"/>
            <a:ext cx="3583954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16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4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2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ct val="0"/>
              </a:spcBef>
            </a:pPr>
            <a:r>
              <a:rPr lang="zh-CN" altLang="en-US" sz="2000" b="0" dirty="0">
                <a:solidFill>
                  <a:srgbClr val="0000FF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忽略自身偏好</a:t>
            </a:r>
            <a:endParaRPr lang="en-US" altLang="zh-CN" sz="2000" b="0" dirty="0">
              <a:solidFill>
                <a:srgbClr val="0000FF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</a:pPr>
            <a:r>
              <a:rPr lang="zh-CN" altLang="en-US" sz="2000" b="0" dirty="0">
                <a:solidFill>
                  <a:srgbClr val="0000FF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选择就近或者顺路的景点</a:t>
            </a:r>
            <a:endParaRPr lang="en-US" altLang="zh-CN" sz="2000" b="0" dirty="0">
              <a:solidFill>
                <a:srgbClr val="0000FF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矩形 15">
            <a:extLst>
              <a:ext uri="{FF2B5EF4-FFF2-40B4-BE49-F238E27FC236}">
                <a16:creationId xmlns:a16="http://schemas.microsoft.com/office/drawing/2014/main" id="{BADC049C-A41A-46CC-BE31-1BD297CD1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064" y="2636912"/>
            <a:ext cx="121690" cy="468268"/>
          </a:xfrm>
          <a:prstGeom prst="rect">
            <a:avLst/>
          </a:prstGeom>
          <a:solidFill>
            <a:srgbClr val="314865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6" name="TextBox 19">
            <a:extLst>
              <a:ext uri="{FF2B5EF4-FFF2-40B4-BE49-F238E27FC236}">
                <a16:creationId xmlns:a16="http://schemas.microsoft.com/office/drawing/2014/main" id="{8863B03B-78D8-4E1D-B918-EEC58DE2CF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6925" y="2717701"/>
            <a:ext cx="283389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16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4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2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评论中</a:t>
            </a:r>
            <a:r>
              <a:rPr lang="zh-CN" altLang="en-US" sz="2000" b="0" dirty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位置状态</a:t>
            </a:r>
            <a:r>
              <a: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的影响</a:t>
            </a:r>
            <a:endParaRPr lang="zh-CN" altLang="en-US" sz="2000" b="0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矩形 15">
            <a:extLst>
              <a:ext uri="{FF2B5EF4-FFF2-40B4-BE49-F238E27FC236}">
                <a16:creationId xmlns:a16="http://schemas.microsoft.com/office/drawing/2014/main" id="{502309B5-1B90-464D-9A43-D5982EBDB9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4008" y="2672700"/>
            <a:ext cx="121690" cy="468268"/>
          </a:xfrm>
          <a:prstGeom prst="rect">
            <a:avLst/>
          </a:prstGeom>
          <a:solidFill>
            <a:srgbClr val="314865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98924" y="1136938"/>
            <a:ext cx="859355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本文从包含 </a:t>
            </a:r>
            <a:r>
              <a:rPr lang="en-US" altLang="zh-CN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5396 </a:t>
            </a:r>
            <a:r>
              <a:rPr lang="zh-CN" altLang="en-US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个东京景点的数据中，选取了</a:t>
            </a:r>
            <a:r>
              <a:rPr lang="zh-CN" altLang="en-US" b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“明治神宫”（</a:t>
            </a:r>
            <a:r>
              <a:rPr lang="en-US" altLang="zh-CN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Meiji </a:t>
            </a:r>
            <a:r>
              <a:rPr lang="en-US" altLang="zh-CN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Jingu</a:t>
            </a:r>
            <a:r>
              <a:rPr lang="en-US" altLang="zh-CN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Shrine</a:t>
            </a:r>
            <a:r>
              <a:rPr lang="zh-CN" altLang="en-US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）页面下的用户评论进行分析。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8454024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微软雅黑" panose="020B0503020204020204" pitchFamily="34" charset="-122"/>
              </a:rPr>
              <a:t>用户行为分析 </a:t>
            </a:r>
            <a:r>
              <a:rPr lang="en-US" altLang="zh-CN" dirty="0">
                <a:sym typeface="微软雅黑" panose="020B0503020204020204" pitchFamily="34" charset="-122"/>
              </a:rPr>
              <a:t>– </a:t>
            </a:r>
            <a:r>
              <a:rPr lang="zh-CN" altLang="en-US" dirty="0">
                <a:sym typeface="微软雅黑" panose="020B0503020204020204" pitchFamily="34" charset="-122"/>
              </a:rPr>
              <a:t>偏好</a:t>
            </a:r>
            <a:r>
              <a:rPr lang="zh-CN" altLang="en-US" sz="1600" dirty="0"/>
              <a:t/>
            </a:r>
            <a:br>
              <a:rPr lang="zh-CN" altLang="en-US" sz="1600" dirty="0"/>
            </a:b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3574736"/>
            <a:ext cx="3528392" cy="313351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6241" y="3937692"/>
            <a:ext cx="4904696" cy="2736304"/>
          </a:xfrm>
          <a:prstGeom prst="rect">
            <a:avLst/>
          </a:prstGeom>
        </p:spPr>
      </p:pic>
      <p:sp>
        <p:nvSpPr>
          <p:cNvPr id="5" name="TextBox 19">
            <a:extLst>
              <a:ext uri="{FF2B5EF4-FFF2-40B4-BE49-F238E27FC236}">
                <a16:creationId xmlns:a16="http://schemas.microsoft.com/office/drawing/2014/main" id="{6A6063D4-46BF-44A6-89B6-096A5909A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13900"/>
            <a:ext cx="3744415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16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4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2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几次游览记录之间存在着比较大的时间间隔</a:t>
            </a:r>
            <a:endParaRPr lang="en-US" altLang="zh-CN" sz="2000" b="0" dirty="0">
              <a:solidFill>
                <a:schemeClr val="tx1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spcBef>
                <a:spcPct val="0"/>
              </a:spcBef>
            </a:pPr>
            <a:endParaRPr lang="en-US" altLang="zh-CN" sz="2000" b="0" dirty="0">
              <a:solidFill>
                <a:schemeClr val="tx1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</a:rPr>
              <a:t>用户偏好是否会在</a:t>
            </a:r>
            <a:r>
              <a:rPr lang="zh-CN" altLang="en-US" sz="2000" b="0" dirty="0">
                <a:solidFill>
                  <a:srgbClr val="FF0000"/>
                </a:solidFill>
                <a:latin typeface="微软雅黑" panose="020B0503020204020204" pitchFamily="34" charset="-122"/>
              </a:rPr>
              <a:t>长时间的跨度</a:t>
            </a:r>
            <a:r>
              <a: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</a:rPr>
              <a:t>中发生变化？</a:t>
            </a:r>
          </a:p>
        </p:txBody>
      </p:sp>
      <p:sp>
        <p:nvSpPr>
          <p:cNvPr id="6" name="TextBox 19">
            <a:extLst>
              <a:ext uri="{FF2B5EF4-FFF2-40B4-BE49-F238E27FC236}">
                <a16:creationId xmlns:a16="http://schemas.microsoft.com/office/drawing/2014/main" id="{871C78EB-C380-4DFC-BBC2-74C1E54785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3968" y="1813900"/>
            <a:ext cx="4338855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16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1pPr>
            <a:lvl2pPr marL="1085850" indent="-342900">
              <a:spcBef>
                <a:spcPct val="20000"/>
              </a:spcBef>
              <a:buChar char="–"/>
              <a:defRPr sz="14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2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</a:rPr>
              <a:t>一次旅游过程中，用户产生新的偏好</a:t>
            </a:r>
            <a:endParaRPr lang="en-US" altLang="zh-CN" sz="2000" b="0" dirty="0">
              <a:solidFill>
                <a:schemeClr val="tx1"/>
              </a:solidFill>
              <a:latin typeface="微软雅黑" panose="020B0503020204020204" pitchFamily="34" charset="-122"/>
            </a:endParaRPr>
          </a:p>
          <a:p>
            <a:pPr>
              <a:spcBef>
                <a:spcPct val="0"/>
              </a:spcBef>
            </a:pPr>
            <a:endParaRPr lang="en-US" altLang="zh-CN" sz="2000" b="0" dirty="0">
              <a:solidFill>
                <a:schemeClr val="tx1"/>
              </a:solidFill>
              <a:latin typeface="微软雅黑" panose="020B0503020204020204" pitchFamily="34" charset="-122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</a:rPr>
              <a:t>用户偏好是否会在</a:t>
            </a:r>
            <a:r>
              <a:rPr lang="zh-CN" altLang="en-US" sz="2000" b="0" dirty="0">
                <a:solidFill>
                  <a:srgbClr val="FF0000"/>
                </a:solidFill>
                <a:latin typeface="微软雅黑" panose="020B0503020204020204" pitchFamily="34" charset="-122"/>
              </a:rPr>
              <a:t>较短的时间间隔内</a:t>
            </a:r>
            <a:r>
              <a: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</a:rPr>
              <a:t>也发生变化？</a:t>
            </a:r>
          </a:p>
        </p:txBody>
      </p:sp>
      <p:sp>
        <p:nvSpPr>
          <p:cNvPr id="7" name="矩形 15">
            <a:extLst>
              <a:ext uri="{FF2B5EF4-FFF2-40B4-BE49-F238E27FC236}">
                <a16:creationId xmlns:a16="http://schemas.microsoft.com/office/drawing/2014/main" id="{EDD6744C-09F7-4600-9673-B9D171B769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450" y="1273638"/>
            <a:ext cx="121690" cy="468268"/>
          </a:xfrm>
          <a:prstGeom prst="rect">
            <a:avLst/>
          </a:prstGeom>
          <a:solidFill>
            <a:srgbClr val="314865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8" name="TextBox 19">
            <a:extLst>
              <a:ext uri="{FF2B5EF4-FFF2-40B4-BE49-F238E27FC236}">
                <a16:creationId xmlns:a16="http://schemas.microsoft.com/office/drawing/2014/main" id="{29C593BE-C1CE-4574-875F-C75AC348F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960" y="1282284"/>
            <a:ext cx="21258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16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4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2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zh-CN" altLang="en-US" sz="2400" b="0" dirty="0">
                <a:solidFill>
                  <a:srgbClr val="0000FF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长时偏好转移</a:t>
            </a:r>
            <a:endParaRPr lang="zh-CN" altLang="en-US" sz="2400" b="0" dirty="0">
              <a:solidFill>
                <a:srgbClr val="0000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矩形 15">
            <a:extLst>
              <a:ext uri="{FF2B5EF4-FFF2-40B4-BE49-F238E27FC236}">
                <a16:creationId xmlns:a16="http://schemas.microsoft.com/office/drawing/2014/main" id="{03E5A552-5E93-4A5E-AE41-92F5200930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446" y="1302505"/>
            <a:ext cx="121690" cy="468268"/>
          </a:xfrm>
          <a:prstGeom prst="rect">
            <a:avLst/>
          </a:prstGeom>
          <a:solidFill>
            <a:srgbClr val="314865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0" name="TextBox 19">
            <a:extLst>
              <a:ext uri="{FF2B5EF4-FFF2-40B4-BE49-F238E27FC236}">
                <a16:creationId xmlns:a16="http://schemas.microsoft.com/office/drawing/2014/main" id="{0AFA8A81-F20D-4F13-AA7E-65802DDB9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9956" y="1311151"/>
            <a:ext cx="21963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16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4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2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zh-CN" altLang="en-US" sz="2400" b="0" dirty="0">
                <a:solidFill>
                  <a:srgbClr val="0000FF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短时偏好转移</a:t>
            </a:r>
            <a:endParaRPr lang="zh-CN" altLang="en-US" sz="2400" b="0" dirty="0">
              <a:solidFill>
                <a:srgbClr val="0000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331640" y="4245469"/>
            <a:ext cx="197371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Gardenerrich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759385" y="3388879"/>
            <a:ext cx="187220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SteveS1970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7056" y="3045066"/>
            <a:ext cx="790575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37007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用户多维度偏好建模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2C52067-4F84-4EF8-8647-3DC6F877F9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96752"/>
            <a:ext cx="8928992" cy="5184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0555396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FF"/>
                </a:solidFill>
                <a:sym typeface="微软雅黑" panose="020B0503020204020204" pitchFamily="34" charset="-122"/>
              </a:rPr>
              <a:t>景点距离敏感</a:t>
            </a:r>
            <a:r>
              <a:rPr lang="zh-CN" altLang="en-US" dirty="0">
                <a:sym typeface="微软雅黑" panose="020B0503020204020204" pitchFamily="34" charset="-122"/>
              </a:rPr>
              <a:t>的用户位置状态学习</a:t>
            </a:r>
            <a:r>
              <a:rPr lang="zh-CN" altLang="en-US" dirty="0"/>
              <a:t/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755576" y="1101937"/>
            <a:ext cx="7848873" cy="5403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用户会考虑优先选择</a:t>
            </a:r>
            <a:r>
              <a:rPr lang="zh-CN" altLang="en-US" sz="22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距离较近</a:t>
            </a: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的</a:t>
            </a:r>
            <a:r>
              <a:rPr lang="zh-CN" altLang="en-US" sz="2200" b="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景点时间</a:t>
            </a: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限制、顺路参观</a:t>
            </a:r>
            <a:endParaRPr lang="en-US" altLang="zh-CN" sz="2200" b="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113107" y="1643900"/>
            <a:ext cx="2917786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  <a:sym typeface="微软雅黑" panose="020B0503020204020204" pitchFamily="34" charset="-122"/>
              </a:rPr>
              <a:t>优先推荐：皇居 → 银座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A61388C-1911-4362-AE3D-9C35DE607B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544"/>
          <a:stretch/>
        </p:blipFill>
        <p:spPr>
          <a:xfrm>
            <a:off x="287524" y="2392267"/>
            <a:ext cx="4392488" cy="39604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32" y="2896323"/>
            <a:ext cx="4160617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494633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FF"/>
                </a:solidFill>
                <a:sym typeface="微软雅黑" panose="020B0503020204020204" pitchFamily="34" charset="-122"/>
              </a:rPr>
              <a:t>游览顺序敏感</a:t>
            </a:r>
            <a:r>
              <a:rPr lang="zh-CN" altLang="en-US" dirty="0">
                <a:sym typeface="微软雅黑" panose="020B0503020204020204" pitchFamily="34" charset="-122"/>
              </a:rPr>
              <a:t>的用户路线状态学习</a:t>
            </a:r>
            <a:r>
              <a:rPr lang="zh-CN" altLang="en-US" dirty="0"/>
              <a:t/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TextBox 19">
            <a:extLst>
              <a:ext uri="{FF2B5EF4-FFF2-40B4-BE49-F238E27FC236}">
                <a16:creationId xmlns:a16="http://schemas.microsoft.com/office/drawing/2014/main" id="{D388E9BB-8C74-4804-B3CF-88498E17DD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1111134"/>
            <a:ext cx="6443469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16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4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2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9pPr>
          </a:lstStyle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用户会关注游览</a:t>
            </a:r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的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路线顺序</a:t>
            </a:r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安排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参考其他游客的选择经验（从众心理）</a:t>
            </a: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时间、交通等限制</a:t>
            </a:r>
          </a:p>
        </p:txBody>
      </p:sp>
      <p:pic>
        <p:nvPicPr>
          <p:cNvPr id="4" name="Picture 2" descr="E:\Travel\graph\map-seq.png">
            <a:extLst>
              <a:ext uri="{FF2B5EF4-FFF2-40B4-BE49-F238E27FC236}">
                <a16:creationId xmlns:a16="http://schemas.microsoft.com/office/drawing/2014/main" id="{B4C104ED-B3D3-44C2-A478-C59287FCB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42" t="27805" r="15866" b="31960"/>
          <a:stretch>
            <a:fillRect/>
          </a:stretch>
        </p:blipFill>
        <p:spPr bwMode="auto">
          <a:xfrm>
            <a:off x="5148064" y="1556792"/>
            <a:ext cx="3773527" cy="2617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991453EB-7771-4B37-A09E-9D3F7C3CA44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328902" y="2882088"/>
            <a:ext cx="337100" cy="74802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EA609D0-3A46-44B1-B8D3-ECFC3704FF35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292047" y="2407502"/>
            <a:ext cx="2" cy="340071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" name="笑脸 6">
            <a:extLst>
              <a:ext uri="{FF2B5EF4-FFF2-40B4-BE49-F238E27FC236}">
                <a16:creationId xmlns:a16="http://schemas.microsoft.com/office/drawing/2014/main" id="{F11C6830-58A2-4D18-B140-89601DA0A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288" y="2151979"/>
            <a:ext cx="255523" cy="255523"/>
          </a:xfrm>
          <a:prstGeom prst="smileyFace">
            <a:avLst>
              <a:gd name="adj" fmla="val 4653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>
            <a:lvl1pPr>
              <a:spcBef>
                <a:spcPct val="20000"/>
              </a:spcBef>
              <a:buChar char="•"/>
              <a:defRPr sz="16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4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2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9A3CF0F-D04B-423D-90F4-B1ADF4B399F3}"/>
              </a:ext>
            </a:extLst>
          </p:cNvPr>
          <p:cNvGrpSpPr>
            <a:grpSpLocks/>
          </p:cNvGrpSpPr>
          <p:nvPr/>
        </p:nvGrpSpPr>
        <p:grpSpPr bwMode="auto">
          <a:xfrm rot="3437264">
            <a:off x="7397873" y="2804643"/>
            <a:ext cx="199158" cy="199158"/>
            <a:chOff x="5724080" y="3347757"/>
            <a:chExt cx="144010" cy="144010"/>
          </a:xfrm>
        </p:grpSpPr>
        <p:cxnSp>
          <p:nvCxnSpPr>
            <p:cNvPr id="9" name="直接连接符 7171">
              <a:extLst>
                <a:ext uri="{FF2B5EF4-FFF2-40B4-BE49-F238E27FC236}">
                  <a16:creationId xmlns:a16="http://schemas.microsoft.com/office/drawing/2014/main" id="{4432DC8B-4C36-490E-98E1-0B2D94EC1F8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724080" y="3419762"/>
              <a:ext cx="144010" cy="0"/>
            </a:xfrm>
            <a:prstGeom prst="line">
              <a:avLst/>
            </a:prstGeom>
            <a:noFill/>
            <a:ln w="28575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" name="直接连接符 7173">
              <a:extLst>
                <a:ext uri="{FF2B5EF4-FFF2-40B4-BE49-F238E27FC236}">
                  <a16:creationId xmlns:a16="http://schemas.microsoft.com/office/drawing/2014/main" id="{D4BE1387-F617-47A5-9B9B-3F3C3FA7BCC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796085" y="3347757"/>
              <a:ext cx="0" cy="144010"/>
            </a:xfrm>
            <a:prstGeom prst="line">
              <a:avLst/>
            </a:prstGeom>
            <a:noFill/>
            <a:ln w="28575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7B78563D-69AA-4BE2-AB56-BDEFC975D2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1184" y="5243102"/>
            <a:ext cx="26384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4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2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</a:rPr>
              <a:t>银座 →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</a:rPr>
              <a:t>筑地市场 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</a:rPr>
              <a:t>×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5B55C3F-A852-464A-8BAB-3CA004D07D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1184" y="5757126"/>
            <a:ext cx="356219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16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4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2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</a:rPr>
              <a:t>银座 →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</a:rPr>
              <a:t>东京塔 →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</a:rPr>
              <a:t>筑地市场 √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5DAADB4-EE66-4060-88CA-23BA37A04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0072" y="4725144"/>
            <a:ext cx="364715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16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4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2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</a:rPr>
              <a:t>银座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</a:rPr>
              <a:t>-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</a:rPr>
              <a:t>筑地市场 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</a:rPr>
              <a:t>&lt; 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</a:rPr>
              <a:t>银座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</a:rPr>
              <a:t>-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</a:rPr>
              <a:t>东京塔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1A2B78BD-288A-4BB0-B2B9-FB5797D1716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623"/>
          <a:stretch/>
        </p:blipFill>
        <p:spPr>
          <a:xfrm>
            <a:off x="140433" y="2747573"/>
            <a:ext cx="4996909" cy="3691871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93A4E082-FDF4-4B56-A7B2-9C15AFC2D3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855" y="3210429"/>
            <a:ext cx="323745" cy="336712"/>
          </a:xfrm>
          <a:prstGeom prst="rect">
            <a:avLst/>
          </a:prstGeom>
          <a:noFill/>
          <a:ln w="38100" algn="ctr">
            <a:solidFill>
              <a:srgbClr val="007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16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4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2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37C70063-9FEF-4921-B68B-5CA0AE931BB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56114" y="3541965"/>
            <a:ext cx="1002041" cy="66956"/>
          </a:xfrm>
          <a:prstGeom prst="straightConnector1">
            <a:avLst/>
          </a:prstGeom>
          <a:noFill/>
          <a:ln w="28575" algn="ctr">
            <a:solidFill>
              <a:srgbClr val="0070C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29D537B9-24D4-46A3-952B-3780C425F8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1381" y="3424892"/>
            <a:ext cx="25466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16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4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2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800" b="1" dirty="0" smtClean="0">
                <a:solidFill>
                  <a:srgbClr val="0070C0"/>
                </a:solidFill>
                <a:latin typeface="微软雅黑" panose="020B0503020204020204" pitchFamily="34" charset="-122"/>
              </a:rPr>
              <a:t>所有用户</a:t>
            </a: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</a:rPr>
              <a:t>历史浏览路径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316251F-161D-4CA4-92FE-A365AF22701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717393" y="3832244"/>
            <a:ext cx="0" cy="997787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B0E4D907-A2B6-43C2-BB89-9DA30EE99EF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900815" y="5278083"/>
            <a:ext cx="2650110" cy="0"/>
          </a:xfrm>
          <a:prstGeom prst="line">
            <a:avLst/>
          </a:prstGeom>
          <a:noFill/>
          <a:ln w="38100" algn="ctr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8AD15F56-20A6-4D21-8620-387C4DEBF8D3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826577" y="5378679"/>
            <a:ext cx="342214" cy="30669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3CC9401A-447B-4BD1-9E3D-A55A92FEB17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875737" y="5785965"/>
            <a:ext cx="1815379" cy="0"/>
          </a:xfrm>
          <a:prstGeom prst="line">
            <a:avLst/>
          </a:prstGeom>
          <a:noFill/>
          <a:ln w="38100" algn="ctr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4251581864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13EC186-D9F7-4449-9AA5-785E33E13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4496" y="1556792"/>
            <a:ext cx="5649504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ym typeface="微软雅黑" panose="020B0503020204020204" pitchFamily="34" charset="-122"/>
              </a:rPr>
              <a:t>（二）基于</a:t>
            </a:r>
            <a:r>
              <a:rPr lang="en-US" altLang="zh-CN" dirty="0" smtClean="0">
                <a:sym typeface="微软雅黑" panose="020B0503020204020204" pitchFamily="34" charset="-122"/>
              </a:rPr>
              <a:t>Actor-Critic</a:t>
            </a:r>
            <a:r>
              <a:rPr lang="zh-CN" altLang="en-US" dirty="0" smtClean="0">
                <a:sym typeface="微软雅黑" panose="020B0503020204020204" pitchFamily="34" charset="-122"/>
              </a:rPr>
              <a:t>景点推荐模型</a:t>
            </a:r>
            <a:endParaRPr lang="zh-CN" altLang="en-US" dirty="0"/>
          </a:p>
        </p:txBody>
      </p:sp>
      <p:sp>
        <p:nvSpPr>
          <p:cNvPr id="3" name="TextBox 19">
            <a:extLst>
              <a:ext uri="{FF2B5EF4-FFF2-40B4-BE49-F238E27FC236}">
                <a16:creationId xmlns:a16="http://schemas.microsoft.com/office/drawing/2014/main" id="{6FC7B5A0-081E-4688-A134-90EC40BE6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618" y="1104749"/>
            <a:ext cx="4527249" cy="1892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16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4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2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9pPr>
          </a:lstStyle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b="0" dirty="0" smtClean="0">
                <a:solidFill>
                  <a:srgbClr val="0000FF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模型设计理念</a:t>
            </a: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zh-CN" altLang="en-US" sz="1800" b="0" dirty="0" smtClean="0">
                <a:solidFill>
                  <a:schemeClr val="tx1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用户偏好信息：短期、长期</a:t>
            </a: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zh-CN" altLang="en-US" sz="1800" b="0" dirty="0" smtClean="0">
                <a:solidFill>
                  <a:schemeClr val="tx1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用户情境信息：实时位置</a:t>
            </a:r>
            <a:endParaRPr lang="zh-CN" altLang="en-US" sz="1800" b="0" dirty="0">
              <a:solidFill>
                <a:schemeClr val="tx1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zh-CN" altLang="en-US" sz="1800" b="0" dirty="0" smtClean="0">
                <a:solidFill>
                  <a:schemeClr val="tx1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强化学习机制更新</a:t>
            </a:r>
            <a:endParaRPr lang="zh-CN" altLang="en-US" sz="1800" b="0" dirty="0">
              <a:solidFill>
                <a:schemeClr val="tx1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TextBox 19">
            <a:extLst>
              <a:ext uri="{FF2B5EF4-FFF2-40B4-BE49-F238E27FC236}">
                <a16:creationId xmlns:a16="http://schemas.microsoft.com/office/drawing/2014/main" id="{ECD52CFC-74DC-461F-BCC9-EDA7926CC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618" y="3069923"/>
            <a:ext cx="4963361" cy="2259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16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4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2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9pPr>
          </a:lstStyle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b="0" dirty="0">
                <a:solidFill>
                  <a:srgbClr val="0000FF"/>
                </a:solidFill>
                <a:latin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TRACE</a:t>
            </a:r>
            <a:r>
              <a:rPr lang="zh-CN" altLang="en-US" sz="2400" b="0" dirty="0">
                <a:solidFill>
                  <a:srgbClr val="0000FF"/>
                </a:solidFill>
                <a:latin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模型定义</a:t>
            </a: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景点推荐过程 → 马尔可夫决策过程</a:t>
            </a:r>
            <a:endParaRPr lang="en-US" altLang="zh-CN" sz="1800" b="0" dirty="0">
              <a:solidFill>
                <a:schemeClr val="tx1"/>
              </a:solidFill>
              <a:latin typeface="微软雅黑" panose="020B0503020204020204" pitchFamily="34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状态：用户综合状态表达</a:t>
            </a:r>
            <a:endParaRPr lang="en-US" altLang="zh-CN" sz="1800" b="0" dirty="0">
              <a:solidFill>
                <a:schemeClr val="tx1"/>
              </a:solidFill>
              <a:latin typeface="微软雅黑" panose="020B0503020204020204" pitchFamily="34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动作：景点特征表达</a:t>
            </a:r>
            <a:r>
              <a:rPr lang="en-US" altLang="zh-CN" sz="1800" b="0" i="1" dirty="0">
                <a:solidFill>
                  <a:schemeClr val="tx1"/>
                </a:solidFill>
                <a:latin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p</a:t>
            </a: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反馈：用户点击 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+ 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用户评分</a:t>
            </a:r>
            <a:endParaRPr lang="en-US" altLang="zh-CN" sz="1800" b="0" dirty="0">
              <a:solidFill>
                <a:schemeClr val="tx1"/>
              </a:solidFill>
              <a:latin typeface="微软雅黑" panose="020B0503020204020204" pitchFamily="34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sp>
        <p:nvSpPr>
          <p:cNvPr id="5" name="TextBox 19">
            <a:extLst>
              <a:ext uri="{FF2B5EF4-FFF2-40B4-BE49-F238E27FC236}">
                <a16:creationId xmlns:a16="http://schemas.microsoft.com/office/drawing/2014/main" id="{A90E2E51-9309-4830-9961-99F16FC66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464" y="5495689"/>
            <a:ext cx="642367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16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4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2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9pPr>
          </a:lstStyle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Actor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框架：</a:t>
            </a:r>
            <a:r>
              <a: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景点的推荐和筛选	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→</a:t>
            </a:r>
            <a:r>
              <a: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 </a:t>
            </a:r>
            <a:r>
              <a:rPr lang="en-US" altLang="zh-CN" sz="2000" b="0" dirty="0">
                <a:solidFill>
                  <a:schemeClr val="tx1"/>
                </a:solidFill>
                <a:latin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   </a:t>
            </a:r>
            <a:r>
              <a: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缩小候选景点集</a:t>
            </a:r>
            <a:endParaRPr lang="en-US" altLang="zh-CN" sz="2000" b="0" dirty="0">
              <a:solidFill>
                <a:schemeClr val="tx1"/>
              </a:solidFill>
              <a:latin typeface="微软雅黑" panose="020B0503020204020204" pitchFamily="34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Critic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框架：</a:t>
            </a:r>
            <a:r>
              <a: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推荐结果收益评价	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→</a:t>
            </a:r>
            <a:r>
              <a: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    计算长期收益</a:t>
            </a:r>
            <a:endParaRPr lang="en-US" altLang="zh-CN" sz="1800" b="0" dirty="0">
              <a:solidFill>
                <a:schemeClr val="tx1"/>
              </a:solidFill>
              <a:latin typeface="微软雅黑" panose="020B0503020204020204" pitchFamily="34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90723442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微软雅黑" panose="020B0503020204020204" pitchFamily="34" charset="-122"/>
              </a:rPr>
              <a:t>基于</a:t>
            </a:r>
            <a:r>
              <a:rPr lang="en-US" altLang="zh-CN" dirty="0">
                <a:sym typeface="微软雅黑" panose="020B0503020204020204" pitchFamily="34" charset="-122"/>
              </a:rPr>
              <a:t>Actor-Critic</a:t>
            </a:r>
            <a:r>
              <a:rPr lang="zh-CN" altLang="en-US" dirty="0">
                <a:sym typeface="微软雅黑" panose="020B0503020204020204" pitchFamily="34" charset="-122"/>
              </a:rPr>
              <a:t>框架的景点推荐系统</a:t>
            </a:r>
            <a:r>
              <a:rPr lang="zh-CN" altLang="en-US" dirty="0"/>
              <a:t/>
            </a:r>
            <a:br>
              <a:rPr lang="zh-CN" altLang="en-US" dirty="0"/>
            </a:b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282" y="1106196"/>
            <a:ext cx="6984776" cy="5635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862255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微软雅黑" panose="020B0503020204020204" pitchFamily="34" charset="-122"/>
              </a:rPr>
              <a:t>TRACE</a:t>
            </a:r>
            <a:r>
              <a:rPr lang="zh-CN" altLang="en-US" dirty="0">
                <a:sym typeface="微软雅黑" panose="020B0503020204020204" pitchFamily="34" charset="-122"/>
              </a:rPr>
              <a:t>模型 </a:t>
            </a:r>
            <a:r>
              <a:rPr lang="en-US" altLang="zh-CN" dirty="0">
                <a:sym typeface="微软雅黑" panose="020B0503020204020204" pitchFamily="34" charset="-122"/>
              </a:rPr>
              <a:t>- Actor</a:t>
            </a:r>
            <a:r>
              <a:rPr lang="zh-CN" altLang="en-US" dirty="0">
                <a:sym typeface="微软雅黑" panose="020B0503020204020204" pitchFamily="34" charset="-122"/>
              </a:rPr>
              <a:t>结构</a:t>
            </a:r>
            <a:r>
              <a:rPr lang="zh-CN" altLang="en-US" dirty="0"/>
              <a:t/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TextBox 19">
            <a:extLst>
              <a:ext uri="{FF2B5EF4-FFF2-40B4-BE49-F238E27FC236}">
                <a16:creationId xmlns:a16="http://schemas.microsoft.com/office/drawing/2014/main" id="{2C3D2599-A805-4463-8558-31B34B4659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14574" y="1120598"/>
            <a:ext cx="4392488" cy="216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16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4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2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9pPr>
          </a:lstStyle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 smtClean="0">
                <a:solidFill>
                  <a:srgbClr val="0000FF"/>
                </a:solidFill>
                <a:latin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    Actor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框架</a:t>
            </a:r>
            <a:endParaRPr lang="en-US" altLang="zh-CN" sz="2400" dirty="0">
              <a:solidFill>
                <a:srgbClr val="0000FF"/>
              </a:solidFill>
              <a:latin typeface="微软雅黑" panose="020B0503020204020204" pitchFamily="34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zh-CN" altLang="en-US" sz="2200" b="0" dirty="0">
                <a:solidFill>
                  <a:schemeClr val="tx1"/>
                </a:solidFill>
                <a:latin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景点推荐</a:t>
            </a:r>
            <a:endParaRPr lang="en-US" altLang="zh-CN" sz="2200" b="0" dirty="0">
              <a:solidFill>
                <a:schemeClr val="tx1"/>
              </a:solidFill>
              <a:latin typeface="微软雅黑" panose="020B0503020204020204" pitchFamily="34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zh-CN" altLang="en-US" sz="2200" b="0" dirty="0">
                <a:solidFill>
                  <a:schemeClr val="tx1"/>
                </a:solidFill>
                <a:latin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筛选候选景点集合，选取收益可能最大的候选景点</a:t>
            </a:r>
            <a:r>
              <a:rPr lang="zh-CN" altLang="en-US" sz="2200" b="0" dirty="0" smtClean="0">
                <a:solidFill>
                  <a:schemeClr val="tx1"/>
                </a:solidFill>
                <a:latin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集合</a:t>
            </a:r>
            <a:endParaRPr lang="zh-CN" altLang="en-US" sz="2200" b="0" dirty="0">
              <a:solidFill>
                <a:schemeClr val="tx1"/>
              </a:solidFill>
              <a:latin typeface="微软雅黑" panose="020B0503020204020204" pitchFamily="34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7FA0E74C-616E-45D8-A0AA-3751CF1032EC}"/>
                  </a:ext>
                </a:extLst>
              </p:cNvPr>
              <p:cNvSpPr/>
              <p:nvPr/>
            </p:nvSpPr>
            <p:spPr>
              <a:xfrm>
                <a:off x="539168" y="6150346"/>
                <a:ext cx="7416824" cy="5166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𝒔𝒄𝒐𝒓𝒆</m:t>
                              </m:r>
                            </m:e>
                            <m:sub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  <m:r>
                            <a:rPr lang="zh-CN" altLang="en-US" sz="2400" b="1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𝝈</m:t>
                          </m:r>
                          <m:r>
                            <a:rPr lang="zh-CN" altLang="en-US" sz="2400" b="1" i="0">
                              <a:latin typeface="Cambria Math" panose="02040503050406030204" pitchFamily="18" charset="0"/>
                            </a:rPr>
                            <m:t>((</m:t>
                          </m:r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  <m:r>
                                <m:rPr>
                                  <m:lit/>
                                </m:rPr>
                                <a:rPr lang="zh-CN" altLang="en-US" sz="2400" b="1" i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𝒍𝒐𝒄</m:t>
                              </m:r>
                            </m:e>
                            <m:sub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  <m:r>
                            <a:rPr lang="zh-CN" altLang="en-US" sz="2400" b="1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  <m:r>
                                <m:rPr>
                                  <m:lit/>
                                </m:rPr>
                                <a:rPr lang="zh-CN" altLang="en-US" sz="2400" b="1" i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𝒘𝒂𝒚</m:t>
                              </m:r>
                            </m:e>
                            <m:sub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  <m:r>
                            <a:rPr lang="zh-CN" altLang="en-US" sz="2400" b="1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  <m:r>
                            <a:rPr lang="zh-CN" altLang="en-US" sz="2400" b="1" i="0">
                              <a:latin typeface="Cambria Math" panose="02040503050406030204" pitchFamily="18" charset="0"/>
                            </a:rPr>
                            <m:t>)∙</m:t>
                          </m:r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  <m:r>
                            <a:rPr lang="zh-CN" altLang="en-US" sz="2400" b="1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sub>
                          </m:sSub>
                          <m:r>
                            <a:rPr lang="zh-CN" altLang="en-US" sz="2400" b="1" i="0">
                              <a:latin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7FA0E74C-616E-45D8-A0AA-3751CF1032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168" y="6150346"/>
                <a:ext cx="7416824" cy="5166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>
            <a:extLst>
              <a:ext uri="{FF2B5EF4-FFF2-40B4-BE49-F238E27FC236}">
                <a16:creationId xmlns:a16="http://schemas.microsoft.com/office/drawing/2014/main" id="{245D6B6C-A7DB-47F5-A530-BE2BCF0365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992" y="1315583"/>
            <a:ext cx="4520160" cy="416696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6314367" y="5738121"/>
            <a:ext cx="178602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0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长期特征</a:t>
            </a:r>
            <a:endParaRPr lang="zh-CN" altLang="en-US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638312" y="5732535"/>
            <a:ext cx="189879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路线</a:t>
            </a:r>
            <a:r>
              <a:rPr lang="zh-CN" altLang="en-US" b="0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状态</a:t>
            </a:r>
            <a:endParaRPr lang="zh-CN" altLang="en-US" b="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411760" y="5686889"/>
            <a:ext cx="127423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0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位置状态</a:t>
            </a:r>
            <a:endParaRPr lang="zh-CN" altLang="en-US" b="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CF432DC9-8479-429F-9DB7-63A7BCE29B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5413" y="6102121"/>
            <a:ext cx="1103214" cy="613065"/>
          </a:xfrm>
          <a:prstGeom prst="ellipse">
            <a:avLst/>
          </a:prstGeom>
          <a:noFill/>
          <a:ln w="1587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16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4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2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F432DC9-8479-429F-9DB7-63A7BCE29B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821" y="6143553"/>
            <a:ext cx="1103214" cy="613065"/>
          </a:xfrm>
          <a:prstGeom prst="ellipse">
            <a:avLst/>
          </a:prstGeom>
          <a:noFill/>
          <a:ln w="1587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16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4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2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CF432DC9-8479-429F-9DB7-63A7BCE29B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4208" y="6132645"/>
            <a:ext cx="656810" cy="613065"/>
          </a:xfrm>
          <a:prstGeom prst="ellipse">
            <a:avLst/>
          </a:prstGeom>
          <a:noFill/>
          <a:ln w="1587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16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4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2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875705" y="5736107"/>
            <a:ext cx="178602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0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短期特征</a:t>
            </a:r>
            <a:endParaRPr lang="zh-CN" altLang="en-US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480814" y="6077542"/>
            <a:ext cx="3171306" cy="679076"/>
          </a:xfrm>
          <a:prstGeom prst="rect">
            <a:avLst/>
          </a:prstGeom>
          <a:noFill/>
          <a:ln>
            <a:solidFill>
              <a:srgbClr val="000000"/>
            </a:solidFill>
            <a:prstDash val="dashDot"/>
          </a:ln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601" y="3278260"/>
            <a:ext cx="2489461" cy="421712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975" y="3642497"/>
            <a:ext cx="2614711" cy="45671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7624" y="4215468"/>
            <a:ext cx="1458564" cy="420487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125760" y="4602739"/>
            <a:ext cx="4572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景点基于游览顺序信息的向量表达</a:t>
            </a:r>
            <a:r>
              <a:rPr lang="zh-CN" altLang="en-US" b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𝑝</a:t>
            </a:r>
            <a:r>
              <a:rPr lang="zh-CN" altLang="en-US" sz="1200" b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𝑠</a:t>
            </a:r>
            <a:endParaRPr lang="en-US" altLang="zh-CN" b="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景点</a:t>
            </a:r>
            <a:r>
              <a:rPr lang="zh-CN" altLang="en-US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基于评论文本的</a:t>
            </a:r>
            <a:r>
              <a:rPr lang="zh-CN" altLang="en-US" b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特征向量</a:t>
            </a:r>
            <a:r>
              <a:rPr lang="zh-CN" altLang="en-US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en-US" altLang="zh-CN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ℎ</a:t>
            </a:r>
            <a:r>
              <a:rPr lang="zh-CN" altLang="en-US" sz="1200" b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𝑝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07331995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微软雅黑" panose="020B0503020204020204" pitchFamily="34" charset="-122"/>
              </a:rPr>
              <a:t>TRACE</a:t>
            </a:r>
            <a:r>
              <a:rPr lang="zh-CN" altLang="en-US" dirty="0">
                <a:sym typeface="微软雅黑" panose="020B0503020204020204" pitchFamily="34" charset="-122"/>
              </a:rPr>
              <a:t>模型 </a:t>
            </a:r>
            <a:r>
              <a:rPr lang="en-US" altLang="zh-CN" dirty="0">
                <a:sym typeface="微软雅黑" panose="020B0503020204020204" pitchFamily="34" charset="-122"/>
              </a:rPr>
              <a:t>- Critic</a:t>
            </a:r>
            <a:r>
              <a:rPr lang="zh-CN" altLang="en-US" dirty="0">
                <a:sym typeface="微软雅黑" panose="020B0503020204020204" pitchFamily="34" charset="-122"/>
              </a:rPr>
              <a:t>结构</a:t>
            </a:r>
            <a:r>
              <a:rPr lang="zh-CN" altLang="en-US" dirty="0"/>
              <a:t/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TextBox 19">
            <a:extLst>
              <a:ext uri="{FF2B5EF4-FFF2-40B4-BE49-F238E27FC236}">
                <a16:creationId xmlns:a16="http://schemas.microsoft.com/office/drawing/2014/main" id="{175CC936-0278-4B31-8DCC-B1A809FEDB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2803" y="5240016"/>
            <a:ext cx="114458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16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4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2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损失函数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3FB7EFA9-1DFA-4469-943E-B594239A554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847846" y="4797152"/>
            <a:ext cx="1395" cy="576064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prstDash val="sys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直接箭头连接符 5">
            <a:extLst>
              <a:ext uri="{FF2B5EF4-FFF2-40B4-BE49-F238E27FC236}">
                <a16:creationId xmlns:a16="http://schemas.microsoft.com/office/drawing/2014/main" id="{99E041E3-BA1C-43AE-BEDF-6338D802B1E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847846" y="5732245"/>
            <a:ext cx="1395" cy="450385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prstDash val="sys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5" name="图片 14">
            <a:extLst>
              <a:ext uri="{FF2B5EF4-FFF2-40B4-BE49-F238E27FC236}">
                <a16:creationId xmlns:a16="http://schemas.microsoft.com/office/drawing/2014/main" id="{C1202A00-089E-4F60-BDC1-54674C370C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189" y="1184284"/>
            <a:ext cx="7162171" cy="17406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E64E3FED-1187-40E4-A8AF-C92A8B2E4AFB}"/>
                  </a:ext>
                </a:extLst>
              </p:cNvPr>
              <p:cNvSpPr/>
              <p:nvPr/>
            </p:nvSpPr>
            <p:spPr>
              <a:xfrm>
                <a:off x="1691212" y="4394451"/>
                <a:ext cx="5433219" cy="53431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000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zh-CN" altLang="en-US" sz="200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zh-CN" altLang="en-US" sz="20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zh-CN" altLang="en-US" sz="200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sub>
                    </m:sSub>
                    <m:r>
                      <a:rPr lang="zh-CN" altLang="en-US" sz="200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zh-CN" altLang="en-US" sz="200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000" i="1">
                        <a:latin typeface="Cambria Math" panose="02040503050406030204" pitchFamily="18" charset="0"/>
                      </a:rPr>
                      <m:t>𝛾</m:t>
                    </m:r>
                    <m:func>
                      <m:func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zh-CN" altLang="en-US" sz="200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b>
                              <m:sSubPr>
                                <m:ctrlP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zh-CN" altLang="en-US" sz="200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zh-CN" altLang="en-US" sz="200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zh-CN" altLang="en-US" sz="20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E64E3FED-1187-40E4-A8AF-C92A8B2E4A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212" y="4394451"/>
                <a:ext cx="5433219" cy="534313"/>
              </a:xfrm>
              <a:prstGeom prst="rect">
                <a:avLst/>
              </a:prstGeom>
              <a:blipFill>
                <a:blip r:embed="rId3"/>
                <a:stretch>
                  <a:fillRect l="-336" t="-6818" r="-6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917CF360-AA18-4D20-B392-E85B125F6580}"/>
                  </a:ext>
                </a:extLst>
              </p:cNvPr>
              <p:cNvSpPr/>
              <p:nvPr/>
            </p:nvSpPr>
            <p:spPr>
              <a:xfrm>
                <a:off x="1177688" y="5222219"/>
                <a:ext cx="4330481" cy="511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𝑐𝑟𝑖𝑡𝑖𝑐</m:t>
                        </m:r>
                      </m:sub>
                    </m:sSub>
                    <m:r>
                      <a:rPr lang="zh-CN" altLang="en-US" sz="20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zh-CN" altLang="en-US" sz="200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zh-CN" altLang="en-US" sz="200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zh-CN" altLang="en-US" sz="20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zh-CN" altLang="en-US" sz="2000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sSub>
                                  <m:sSubPr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p>
                        <m:r>
                          <a:rPr lang="zh-CN" altLang="en-US" sz="20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917CF360-AA18-4D20-B392-E85B125F65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7688" y="5222219"/>
                <a:ext cx="4330481" cy="511037"/>
              </a:xfrm>
              <a:prstGeom prst="rect">
                <a:avLst/>
              </a:prstGeom>
              <a:blipFill>
                <a:blip r:embed="rId4"/>
                <a:stretch>
                  <a:fillRect r="-1125" b="-156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FD576E83-1778-4E5F-9C9E-B0D89779206F}"/>
                  </a:ext>
                </a:extLst>
              </p:cNvPr>
              <p:cNvSpPr/>
              <p:nvPr/>
            </p:nvSpPr>
            <p:spPr>
              <a:xfrm>
                <a:off x="1026015" y="6041302"/>
                <a:ext cx="6786345" cy="5560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𝑐𝑟𝑖𝑡𝑖𝑐</m:t>
                          </m:r>
                        </m:sub>
                      </m:sSub>
                      <m:r>
                        <a:rPr lang="zh-CN" altLang="en-US" sz="20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sSub>
                            <m:sSub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  <m:d>
                                    <m:dPr>
                                      <m:ctrlP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zh-CN" altLang="en-US" sz="2000" i="0"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</m:sSub>
                                      <m:r>
                                        <a:rPr lang="zh-CN" altLang="en-US" sz="2000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zh-CN" altLang="en-US" sz="2000" i="0"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</m:sSub>
                                      <m:r>
                                        <a:rPr lang="zh-CN" altLang="en-US" sz="2000" i="0">
                                          <a:latin typeface="Cambria Math" panose="02040503050406030204" pitchFamily="18" charset="0"/>
                                        </a:rPr>
                                        <m:t>;</m:t>
                                      </m:r>
                                      <m:sSup>
                                        <m:sSupPr>
                                          <m:ctrlP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𝑊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zh-CN" altLang="en-US" sz="2000" i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zh-CN" altLang="en-US" sz="20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  <m:d>
                                    <m:dPr>
                                      <m:ctrlP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zh-CN" altLang="en-US" sz="2000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zh-CN" altLang="en-US" sz="2000" i="0">
                                          <a:latin typeface="Cambria Math" panose="02040503050406030204" pitchFamily="18" charset="0"/>
                                        </a:rPr>
                                        <m:t>;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  <m:t>𝑊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FD576E83-1778-4E5F-9C9E-B0D8977920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015" y="6041302"/>
                <a:ext cx="6786345" cy="5560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19">
            <a:extLst>
              <a:ext uri="{FF2B5EF4-FFF2-40B4-BE49-F238E27FC236}">
                <a16:creationId xmlns:a16="http://schemas.microsoft.com/office/drawing/2014/main" id="{9E4A060D-F6C9-4962-98A0-819E7CC2A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9856" y="2719597"/>
            <a:ext cx="518457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16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4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2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9pPr>
          </a:lstStyle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Critic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框架</a:t>
            </a:r>
            <a:endParaRPr lang="en-US" altLang="zh-CN" sz="2400" dirty="0">
              <a:solidFill>
                <a:srgbClr val="0000FF"/>
              </a:solidFill>
              <a:latin typeface="微软雅黑" panose="020B0503020204020204" pitchFamily="34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评估</a:t>
            </a:r>
            <a:r>
              <a:rPr lang="en-US" altLang="zh-CN" sz="2000" b="0" dirty="0">
                <a:solidFill>
                  <a:schemeClr val="tx1"/>
                </a:solidFill>
                <a:latin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Actor</a:t>
            </a:r>
            <a:r>
              <a: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框架推荐景点的效果</a:t>
            </a:r>
            <a:endParaRPr lang="en-US" altLang="zh-CN" sz="2000" b="0" dirty="0">
              <a:solidFill>
                <a:schemeClr val="tx1"/>
              </a:solidFill>
              <a:latin typeface="微软雅黑" panose="020B0503020204020204" pitchFamily="34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利用贝尔曼方程学习计算收益值</a:t>
            </a:r>
            <a:r>
              <a:rPr lang="en-US" altLang="zh-CN" sz="2000" b="0" dirty="0">
                <a:solidFill>
                  <a:schemeClr val="tx1"/>
                </a:solidFill>
                <a:latin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Q(</a:t>
            </a:r>
            <a:r>
              <a:rPr lang="en-US" altLang="zh-CN" sz="2000" b="0" dirty="0" err="1">
                <a:solidFill>
                  <a:schemeClr val="tx1"/>
                </a:solidFill>
                <a:latin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s,a</a:t>
            </a:r>
            <a:r>
              <a:rPr lang="en-US" altLang="zh-CN" sz="2000" b="0" dirty="0">
                <a:solidFill>
                  <a:schemeClr val="tx1"/>
                </a:solidFill>
                <a:latin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)</a:t>
            </a:r>
            <a:endParaRPr lang="en-US" altLang="zh-CN" sz="1800" b="0" dirty="0">
              <a:solidFill>
                <a:schemeClr val="tx1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16876022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（三）实验</a:t>
            </a:r>
            <a:r>
              <a:rPr lang="zh-CN" altLang="en-US" dirty="0"/>
              <a:t>设计</a:t>
            </a:r>
            <a:r>
              <a:rPr lang="zh-CN" altLang="en-US" dirty="0" smtClean="0"/>
              <a:t>评估</a:t>
            </a:r>
            <a:endParaRPr lang="zh-CN" altLang="en-US" dirty="0"/>
          </a:p>
        </p:txBody>
      </p:sp>
      <p:sp>
        <p:nvSpPr>
          <p:cNvPr id="3" name="矩形 7">
            <a:extLst>
              <a:ext uri="{FF2B5EF4-FFF2-40B4-BE49-F238E27FC236}">
                <a16:creationId xmlns:a16="http://schemas.microsoft.com/office/drawing/2014/main" id="{4A60B057-4BD1-471A-AD02-CC7D41EDD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158" y="1685669"/>
            <a:ext cx="3870027" cy="163512"/>
          </a:xfrm>
          <a:prstGeom prst="rect">
            <a:avLst/>
          </a:prstGeom>
          <a:solidFill>
            <a:srgbClr val="314865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4" name="矩形 8">
            <a:extLst>
              <a:ext uri="{FF2B5EF4-FFF2-40B4-BE49-F238E27FC236}">
                <a16:creationId xmlns:a16="http://schemas.microsoft.com/office/drawing/2014/main" id="{32BAB8CB-9CA3-4EAF-B776-71B937434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159" y="1124744"/>
            <a:ext cx="250616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离线模拟实验</a:t>
            </a:r>
            <a:endParaRPr lang="en-US" altLang="zh-CN" sz="2400" b="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矩形 6">
            <a:extLst>
              <a:ext uri="{FF2B5EF4-FFF2-40B4-BE49-F238E27FC236}">
                <a16:creationId xmlns:a16="http://schemas.microsoft.com/office/drawing/2014/main" id="{6E34473C-FD96-43E9-9472-7F533DCC9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158" y="1950930"/>
            <a:ext cx="4908172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离线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数据集对模型进行实验验证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4:1</a:t>
            </a:r>
            <a:r>
              <a:rPr lang="zh-CN" altLang="en-US" b="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的训练集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和测试集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评估指标：</a:t>
            </a:r>
            <a:r>
              <a:rPr lang="en-US" altLang="zh-CN" b="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Accuracy@K</a:t>
            </a: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, </a:t>
            </a:r>
            <a:endParaRPr lang="en-US" altLang="zh-CN" b="0" dirty="0" smtClean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 </a:t>
            </a:r>
            <a:r>
              <a:rPr lang="en-US" altLang="zh-CN" b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                    MRR@K</a:t>
            </a:r>
            <a:endParaRPr lang="en-US" altLang="zh-CN" b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sp>
        <p:nvSpPr>
          <p:cNvPr id="6" name="矩形 7">
            <a:extLst>
              <a:ext uri="{FF2B5EF4-FFF2-40B4-BE49-F238E27FC236}">
                <a16:creationId xmlns:a16="http://schemas.microsoft.com/office/drawing/2014/main" id="{E6AACE98-7DB3-41D0-A25F-703469EED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158" y="4493981"/>
            <a:ext cx="3870027" cy="163512"/>
          </a:xfrm>
          <a:prstGeom prst="rect">
            <a:avLst/>
          </a:prstGeom>
          <a:solidFill>
            <a:srgbClr val="314865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7" name="矩形 8">
            <a:extLst>
              <a:ext uri="{FF2B5EF4-FFF2-40B4-BE49-F238E27FC236}">
                <a16:creationId xmlns:a16="http://schemas.microsoft.com/office/drawing/2014/main" id="{D5A7C438-C4F2-4633-A3C4-588D26C0D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159" y="3933056"/>
            <a:ext cx="250616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在线实时实验</a:t>
            </a:r>
            <a:endParaRPr lang="en-US" altLang="zh-CN" sz="2400" b="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矩形 6">
            <a:extLst>
              <a:ext uri="{FF2B5EF4-FFF2-40B4-BE49-F238E27FC236}">
                <a16:creationId xmlns:a16="http://schemas.microsoft.com/office/drawing/2014/main" id="{00998893-2EC3-495C-9069-A7EB51CE45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4802376"/>
            <a:ext cx="5300129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搭建推荐系统线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上试验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邀请在校师生进行实验</a:t>
            </a:r>
            <a:endParaRPr lang="en-US" altLang="zh-CN" b="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评估指标：</a:t>
            </a:r>
            <a:r>
              <a:rPr lang="en-US" altLang="zh-CN" b="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Ave-Rating@K</a:t>
            </a: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, </a:t>
            </a:r>
            <a:endParaRPr lang="en-US" altLang="zh-CN" b="0" dirty="0" smtClean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 </a:t>
            </a:r>
            <a:r>
              <a:rPr lang="en-US" altLang="zh-CN" b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                    MRR@K</a:t>
            </a:r>
            <a:endParaRPr lang="en-US" altLang="zh-CN" b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C885A4A-2EEE-4437-97F9-3220ADCA0BD0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4203725"/>
            <a:ext cx="4733742" cy="2465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41B583E-035B-47F8-A4AF-FA99C15F62C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027" y="1549680"/>
            <a:ext cx="4733742" cy="220967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82199287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基准模型</a:t>
            </a:r>
            <a:endParaRPr lang="zh-CN" altLang="en-US" dirty="0"/>
          </a:p>
        </p:txBody>
      </p:sp>
      <p:sp>
        <p:nvSpPr>
          <p:cNvPr id="3" name="矩形 6">
            <a:extLst>
              <a:ext uri="{FF2B5EF4-FFF2-40B4-BE49-F238E27FC236}">
                <a16:creationId xmlns:a16="http://schemas.microsoft.com/office/drawing/2014/main" id="{2619CD24-A94F-4FDB-B27C-3E00ECCC8F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8" y="1236573"/>
            <a:ext cx="673100" cy="671513"/>
          </a:xfrm>
          <a:prstGeom prst="rect">
            <a:avLst/>
          </a:prstGeom>
          <a:solidFill>
            <a:srgbClr val="314865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altLang="zh-CN" sz="32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1</a:t>
            </a:r>
            <a:endParaRPr lang="zh-CN" altLang="en-US" sz="32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4" name="矩形 7">
            <a:extLst>
              <a:ext uri="{FF2B5EF4-FFF2-40B4-BE49-F238E27FC236}">
                <a16:creationId xmlns:a16="http://schemas.microsoft.com/office/drawing/2014/main" id="{BFA04FE7-0056-4906-AC34-9F80837F7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8" y="2151646"/>
            <a:ext cx="673100" cy="671512"/>
          </a:xfrm>
          <a:prstGeom prst="rect">
            <a:avLst/>
          </a:prstGeom>
          <a:solidFill>
            <a:srgbClr val="314865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altLang="zh-CN" sz="32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2</a:t>
            </a:r>
            <a:endParaRPr lang="zh-CN" altLang="en-US" sz="32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5" name="矩形 8">
            <a:extLst>
              <a:ext uri="{FF2B5EF4-FFF2-40B4-BE49-F238E27FC236}">
                <a16:creationId xmlns:a16="http://schemas.microsoft.com/office/drawing/2014/main" id="{23923374-6A8E-4AF9-BCD4-AF9B3131D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3100403"/>
            <a:ext cx="673100" cy="671513"/>
          </a:xfrm>
          <a:prstGeom prst="rect">
            <a:avLst/>
          </a:prstGeom>
          <a:solidFill>
            <a:srgbClr val="314865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altLang="zh-CN" sz="32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3</a:t>
            </a:r>
            <a:endParaRPr lang="zh-CN" altLang="en-US" sz="32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6" name="矩形 9">
            <a:extLst>
              <a:ext uri="{FF2B5EF4-FFF2-40B4-BE49-F238E27FC236}">
                <a16:creationId xmlns:a16="http://schemas.microsoft.com/office/drawing/2014/main" id="{297AC599-ABF9-424F-A534-064850CE5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8" y="4038099"/>
            <a:ext cx="673100" cy="671512"/>
          </a:xfrm>
          <a:prstGeom prst="rect">
            <a:avLst/>
          </a:prstGeom>
          <a:solidFill>
            <a:srgbClr val="314865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altLang="zh-CN" sz="32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4</a:t>
            </a:r>
            <a:endParaRPr lang="zh-CN" altLang="en-US" sz="32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7" name="文本框 10">
            <a:extLst>
              <a:ext uri="{FF2B5EF4-FFF2-40B4-BE49-F238E27FC236}">
                <a16:creationId xmlns:a16="http://schemas.microsoft.com/office/drawing/2014/main" id="{E49AE758-2D67-4379-9642-3EA213B7CB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649" y="1213670"/>
            <a:ext cx="5046969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FM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（</a:t>
            </a:r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Factorization Machines)</a:t>
            </a:r>
          </a:p>
          <a:p>
            <a:pPr>
              <a:lnSpc>
                <a:spcPct val="150000"/>
              </a:lnSpc>
            </a:pP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因子分解机，广泛应用于商品评分预测</a:t>
            </a:r>
          </a:p>
        </p:txBody>
      </p:sp>
      <p:sp>
        <p:nvSpPr>
          <p:cNvPr id="8" name="文本框 11">
            <a:extLst>
              <a:ext uri="{FF2B5EF4-FFF2-40B4-BE49-F238E27FC236}">
                <a16:creationId xmlns:a16="http://schemas.microsoft.com/office/drawing/2014/main" id="{DB75D3CB-FBF0-46A1-B000-7BB907E5F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649" y="2119448"/>
            <a:ext cx="7043761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LR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（</a:t>
            </a:r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Logistic Regression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）</a:t>
            </a:r>
          </a:p>
          <a:p>
            <a:pPr>
              <a:lnSpc>
                <a:spcPct val="150000"/>
              </a:lnSpc>
            </a:pP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逻辑回归，一种常用的线性回归模型，常用于处理分类任务</a:t>
            </a:r>
            <a:endParaRPr lang="zh-CN" altLang="en-US" sz="2000" b="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文本框 12">
            <a:extLst>
              <a:ext uri="{FF2B5EF4-FFF2-40B4-BE49-F238E27FC236}">
                <a16:creationId xmlns:a16="http://schemas.microsoft.com/office/drawing/2014/main" id="{A50AF376-D34A-4796-9080-D6DDF52BF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648" y="3072414"/>
            <a:ext cx="5165778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RNN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（</a:t>
            </a:r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Recurrent Neural Network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）</a:t>
            </a:r>
            <a:endParaRPr lang="en-US" altLang="zh-CN" sz="2000" b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循环神经网络，常用于处理时序预测问题</a:t>
            </a:r>
          </a:p>
        </p:txBody>
      </p:sp>
      <p:sp>
        <p:nvSpPr>
          <p:cNvPr id="10" name="文本框 13">
            <a:extLst>
              <a:ext uri="{FF2B5EF4-FFF2-40B4-BE49-F238E27FC236}">
                <a16:creationId xmlns:a16="http://schemas.microsoft.com/office/drawing/2014/main" id="{77F03541-0405-4815-BB97-740439803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648" y="4007729"/>
            <a:ext cx="7524824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DQN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（</a:t>
            </a:r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Deep Q Network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）</a:t>
            </a:r>
            <a:endParaRPr lang="en-US" altLang="zh-CN" sz="2000" b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深度</a:t>
            </a:r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Q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网络，是一种融合了深度学习和</a:t>
            </a:r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Q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学习的强化学习方法</a:t>
            </a:r>
          </a:p>
        </p:txBody>
      </p:sp>
      <p:sp>
        <p:nvSpPr>
          <p:cNvPr id="11" name="矩形 9">
            <a:extLst>
              <a:ext uri="{FF2B5EF4-FFF2-40B4-BE49-F238E27FC236}">
                <a16:creationId xmlns:a16="http://schemas.microsoft.com/office/drawing/2014/main" id="{E0207A8C-BFD2-4A02-BD2C-1DE5CC7F75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8" y="4952049"/>
            <a:ext cx="673100" cy="671512"/>
          </a:xfrm>
          <a:prstGeom prst="rect">
            <a:avLst/>
          </a:prstGeom>
          <a:solidFill>
            <a:srgbClr val="314865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altLang="zh-CN" sz="3200" b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5</a:t>
            </a:r>
            <a:endParaRPr lang="zh-CN" altLang="en-US" sz="3200" b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2" name="文本框 13">
            <a:extLst>
              <a:ext uri="{FF2B5EF4-FFF2-40B4-BE49-F238E27FC236}">
                <a16:creationId xmlns:a16="http://schemas.microsoft.com/office/drawing/2014/main" id="{AF782F34-217D-4168-8820-06E6EE927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649" y="4921679"/>
            <a:ext cx="7758084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w/o Attention</a:t>
            </a:r>
          </a:p>
          <a:p>
            <a:pPr>
              <a:lnSpc>
                <a:spcPct val="150000"/>
              </a:lnSpc>
            </a:pP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去除了</a:t>
            </a:r>
            <a:r>
              <a:rPr lang="zh-CN" altLang="en-US" sz="2000" b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基于注意力机制的用户短期偏好特征学习模块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的</a:t>
            </a:r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TRACE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模型</a:t>
            </a:r>
          </a:p>
        </p:txBody>
      </p:sp>
      <p:sp>
        <p:nvSpPr>
          <p:cNvPr id="13" name="矩形 9">
            <a:extLst>
              <a:ext uri="{FF2B5EF4-FFF2-40B4-BE49-F238E27FC236}">
                <a16:creationId xmlns:a16="http://schemas.microsoft.com/office/drawing/2014/main" id="{FFF8C316-5F9F-4D38-B18E-DF04029EE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8" y="5894210"/>
            <a:ext cx="673100" cy="671512"/>
          </a:xfrm>
          <a:prstGeom prst="rect">
            <a:avLst/>
          </a:prstGeom>
          <a:solidFill>
            <a:srgbClr val="314865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altLang="zh-CN" sz="3200" b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6</a:t>
            </a:r>
            <a:endParaRPr lang="zh-CN" altLang="en-US" sz="3200" b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6AFBD73-1A92-464B-8927-82B6DF0D7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648" y="5865999"/>
            <a:ext cx="7260779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w/o Location</a:t>
            </a:r>
          </a:p>
          <a:p>
            <a:pPr>
              <a:lnSpc>
                <a:spcPct val="150000"/>
              </a:lnSpc>
            </a:pP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去除了</a:t>
            </a:r>
            <a:r>
              <a:rPr lang="zh-CN" altLang="en-US" sz="2000" b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基于实时位置信息的用户状态学习机制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的</a:t>
            </a:r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TRACE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模型</a:t>
            </a:r>
          </a:p>
        </p:txBody>
      </p:sp>
    </p:spTree>
    <p:extLst>
      <p:ext uri="{BB962C8B-B14F-4D97-AF65-F5344CB8AC3E}">
        <p14:creationId xmlns:p14="http://schemas.microsoft.com/office/powerpoint/2010/main" val="2886687835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离线实验结果</a:t>
            </a:r>
            <a:endParaRPr lang="zh-CN" altLang="en-US" dirty="0"/>
          </a:p>
        </p:txBody>
      </p:sp>
      <p:pic>
        <p:nvPicPr>
          <p:cNvPr id="3" name="图片 4">
            <a:extLst>
              <a:ext uri="{FF2B5EF4-FFF2-40B4-BE49-F238E27FC236}">
                <a16:creationId xmlns:a16="http://schemas.microsoft.com/office/drawing/2014/main" id="{40EC9FF3-259E-47B5-B338-6C135521AA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73"/>
          <a:stretch/>
        </p:blipFill>
        <p:spPr bwMode="auto">
          <a:xfrm>
            <a:off x="611559" y="1128511"/>
            <a:ext cx="7848873" cy="4102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7">
            <a:extLst>
              <a:ext uri="{FF2B5EF4-FFF2-40B4-BE49-F238E27FC236}">
                <a16:creationId xmlns:a16="http://schemas.microsoft.com/office/drawing/2014/main" id="{061A1AF9-3B62-46BF-8E2C-9AAFC75173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616" y="5230870"/>
            <a:ext cx="6912768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ct val="20000"/>
              </a:spcBef>
              <a:buChar char="•"/>
              <a:defRPr sz="16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4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2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CC66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9pPr>
          </a:lstStyle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TRACE</a:t>
            </a:r>
            <a:r>
              <a: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模型：</a:t>
            </a:r>
            <a:r>
              <a:rPr lang="zh-CN" altLang="en-US" sz="2000" b="0" dirty="0">
                <a:solidFill>
                  <a:srgbClr val="FF0000"/>
                </a:solidFill>
                <a:latin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最优</a:t>
            </a:r>
            <a:r>
              <a: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的实验结果</a:t>
            </a:r>
            <a:endParaRPr lang="en-US" altLang="zh-CN" sz="2000" b="0" dirty="0">
              <a:solidFill>
                <a:schemeClr val="tx1"/>
              </a:solidFill>
              <a:latin typeface="微软雅黑" panose="020B0503020204020204" pitchFamily="34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w/o Attention </a:t>
            </a:r>
            <a:r>
              <a: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→ 聚焦短期偏好可以大大提高推荐</a:t>
            </a:r>
            <a:r>
              <a:rPr lang="zh-CN" altLang="en-US" sz="2000" b="0" dirty="0">
                <a:solidFill>
                  <a:srgbClr val="FF0000"/>
                </a:solidFill>
                <a:latin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准确率</a:t>
            </a:r>
            <a:endParaRPr lang="en-US" altLang="zh-CN" sz="2000" b="0" dirty="0">
              <a:solidFill>
                <a:srgbClr val="FF0000"/>
              </a:solidFill>
              <a:latin typeface="微软雅黑" panose="020B0503020204020204" pitchFamily="34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w/o Location </a:t>
            </a:r>
            <a:r>
              <a: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→ 实时位置信息可以优化景点推荐的</a:t>
            </a:r>
            <a:r>
              <a:rPr lang="zh-CN" altLang="en-US" sz="2000" b="0" dirty="0">
                <a:solidFill>
                  <a:srgbClr val="FF0000"/>
                </a:solidFill>
                <a:latin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顺序</a:t>
            </a:r>
          </a:p>
        </p:txBody>
      </p:sp>
    </p:spTree>
    <p:extLst>
      <p:ext uri="{BB962C8B-B14F-4D97-AF65-F5344CB8AC3E}">
        <p14:creationId xmlns:p14="http://schemas.microsoft.com/office/powerpoint/2010/main" val="2351877634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样例</a:t>
            </a:r>
            <a:r>
              <a:rPr lang="en-US" altLang="zh-CN" dirty="0" smtClean="0"/>
              <a:t>2</a:t>
            </a:r>
            <a:r>
              <a:rPr lang="zh-CN" altLang="en-US" dirty="0" smtClean="0"/>
              <a:t>：写作规范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/>
          <a:srcRect l="1557" r="1939"/>
          <a:stretch/>
        </p:blipFill>
        <p:spPr>
          <a:xfrm>
            <a:off x="408236" y="1126901"/>
            <a:ext cx="8176964" cy="5598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204978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摘要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055469"/>
            <a:ext cx="8352928" cy="5782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757421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(1) </a:t>
            </a:r>
            <a:r>
              <a:rPr lang="zh-CN" altLang="en-US" dirty="0" smtClean="0"/>
              <a:t>问题背景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31" y="1196752"/>
            <a:ext cx="8951337" cy="5007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182509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(2) </a:t>
            </a:r>
            <a:r>
              <a:rPr lang="zh-CN" altLang="en-US" dirty="0" smtClean="0"/>
              <a:t>传统</a:t>
            </a:r>
            <a:r>
              <a:rPr lang="en-US" altLang="zh-CN" dirty="0" smtClean="0"/>
              <a:t>GAP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57" y="1124744"/>
            <a:ext cx="8745290" cy="54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989164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(2) </a:t>
            </a:r>
            <a:r>
              <a:rPr lang="zh-CN" altLang="en-US" dirty="0" smtClean="0"/>
              <a:t>传统</a:t>
            </a:r>
            <a:r>
              <a:rPr lang="en-US" altLang="zh-CN" dirty="0"/>
              <a:t>GAP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70" y="1254905"/>
            <a:ext cx="8777350" cy="504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322177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(3) </a:t>
            </a:r>
            <a:r>
              <a:rPr lang="zh-CN" altLang="en-US" dirty="0" smtClean="0"/>
              <a:t>前沿</a:t>
            </a:r>
            <a:r>
              <a:rPr lang="en-US" altLang="zh-CN" dirty="0" smtClean="0"/>
              <a:t>GAP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3" y="1124744"/>
            <a:ext cx="8927917" cy="5616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621890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(4) </a:t>
            </a:r>
            <a:r>
              <a:rPr lang="zh-CN" altLang="en-US" dirty="0" smtClean="0"/>
              <a:t>研究思路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497" y="1110889"/>
            <a:ext cx="8568952" cy="5709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330492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(5) </a:t>
            </a:r>
            <a:r>
              <a:rPr lang="zh-CN" altLang="en-US" dirty="0" smtClean="0"/>
              <a:t>研究内容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374" y="1058202"/>
            <a:ext cx="8673510" cy="577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008059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(6) </a:t>
            </a:r>
            <a:r>
              <a:rPr lang="zh-CN" altLang="en-US" dirty="0" smtClean="0"/>
              <a:t>研究贡献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843" y="1196752"/>
            <a:ext cx="8646314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069916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设计理念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72" y="1196752"/>
            <a:ext cx="8723255" cy="475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889880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理念落实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90" y="1124744"/>
            <a:ext cx="8673620" cy="475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394064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模型提出</a:t>
            </a:r>
            <a:endParaRPr lang="zh-CN" altLang="en-US" dirty="0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467544" y="1124744"/>
            <a:ext cx="7776864" cy="532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272710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模型评估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056390"/>
            <a:ext cx="8609817" cy="287666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824" y="3671143"/>
            <a:ext cx="4614743" cy="309634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7664" y="5043103"/>
            <a:ext cx="1219200" cy="35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315675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251520" y="1013547"/>
            <a:ext cx="8511591" cy="5403216"/>
          </a:xfrm>
        </p:spPr>
        <p:txBody>
          <a:bodyPr/>
          <a:lstStyle/>
          <a:p>
            <a:r>
              <a:rPr lang="zh-CN" altLang="en-US" sz="2400" b="1" dirty="0" smtClean="0"/>
              <a:t>大数据驱动的管理决策</a:t>
            </a:r>
            <a:endParaRPr lang="en-US" altLang="zh-CN" sz="2400" b="1" dirty="0" smtClean="0"/>
          </a:p>
          <a:p>
            <a:pPr lvl="1"/>
            <a:r>
              <a:rPr lang="zh-CN" altLang="en-US" dirty="0" smtClean="0"/>
              <a:t>大数据：拥抱大数据时代（技术、方法、思维）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机器学习：从数据挖掘</a:t>
            </a:r>
            <a:r>
              <a:rPr lang="en-US" altLang="zh-CN" dirty="0" smtClean="0"/>
              <a:t>-</a:t>
            </a:r>
            <a:r>
              <a:rPr lang="zh-CN" altLang="en-US" dirty="0" smtClean="0"/>
              <a:t>机器学习</a:t>
            </a:r>
            <a:r>
              <a:rPr lang="en-US" altLang="zh-CN" dirty="0" smtClean="0"/>
              <a:t>-</a:t>
            </a:r>
            <a:r>
              <a:rPr lang="zh-CN" altLang="en-US" dirty="0" smtClean="0"/>
              <a:t>深度学习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管理应用：预测与推荐</a:t>
            </a:r>
            <a:endParaRPr lang="en-US" altLang="zh-CN" dirty="0" smtClean="0"/>
          </a:p>
          <a:p>
            <a:r>
              <a:rPr lang="zh-CN" altLang="en-US" sz="2400" b="1" dirty="0" smtClean="0"/>
              <a:t>研究方法论</a:t>
            </a:r>
            <a:endParaRPr lang="en-US" altLang="zh-CN" sz="2400" b="1" dirty="0"/>
          </a:p>
          <a:p>
            <a:pPr lvl="1"/>
            <a:r>
              <a:rPr lang="zh-CN" altLang="en-US" dirty="0" smtClean="0"/>
              <a:t>逻辑层面：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思维能力，吹牛水平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核心</a:t>
            </a:r>
            <a:r>
              <a:rPr lang="zh-CN" altLang="en-US" dirty="0"/>
              <a:t>与关键是严密的思维逻辑， 不能</a:t>
            </a:r>
            <a:r>
              <a:rPr lang="zh-CN" altLang="en-US" dirty="0" smtClean="0"/>
              <a:t>突兀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写作层面：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展示态度：结构安排（节、段落、句子）</a:t>
            </a:r>
            <a:r>
              <a:rPr lang="en-US" altLang="zh-CN" dirty="0" smtClean="0"/>
              <a:t>+</a:t>
            </a:r>
            <a:r>
              <a:rPr lang="zh-CN" altLang="en-US" dirty="0" smtClean="0"/>
              <a:t>字体字号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水平不能，态度一定要到位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</a:p>
        </p:txBody>
      </p:sp>
    </p:spTree>
    <p:extLst>
      <p:ext uri="{BB962C8B-B14F-4D97-AF65-F5344CB8AC3E}">
        <p14:creationId xmlns:p14="http://schemas.microsoft.com/office/powerpoint/2010/main" val="3743547390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1D1A8D4-A673-4A3B-8AB4-E1C064BCB58F}"/>
              </a:ext>
            </a:extLst>
          </p:cNvPr>
          <p:cNvSpPr txBox="1"/>
          <p:nvPr/>
        </p:nvSpPr>
        <p:spPr>
          <a:xfrm>
            <a:off x="2843808" y="2916713"/>
            <a:ext cx="41976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0" dirty="0" smtClean="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谢谢大家！</a:t>
            </a:r>
            <a:endParaRPr lang="zh-CN" altLang="en-US" sz="6000" b="0" dirty="0">
              <a:solidFill>
                <a:srgbClr val="FF0000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7FC733E-4E96-45E0-B9E5-24BD4CBE51BD}"/>
              </a:ext>
            </a:extLst>
          </p:cNvPr>
          <p:cNvCxnSpPr>
            <a:cxnSpLocks/>
          </p:cNvCxnSpPr>
          <p:nvPr/>
        </p:nvCxnSpPr>
        <p:spPr>
          <a:xfrm>
            <a:off x="1024175" y="4221088"/>
            <a:ext cx="7056784" cy="0"/>
          </a:xfrm>
          <a:prstGeom prst="line">
            <a:avLst/>
          </a:prstGeom>
          <a:ln w="15875">
            <a:solidFill>
              <a:srgbClr val="3F3B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7FC733E-4E96-45E0-B9E5-24BD4CBE51BD}"/>
              </a:ext>
            </a:extLst>
          </p:cNvPr>
          <p:cNvCxnSpPr>
            <a:cxnSpLocks/>
          </p:cNvCxnSpPr>
          <p:nvPr/>
        </p:nvCxnSpPr>
        <p:spPr>
          <a:xfrm>
            <a:off x="978293" y="2625728"/>
            <a:ext cx="7056784" cy="0"/>
          </a:xfrm>
          <a:prstGeom prst="line">
            <a:avLst/>
          </a:prstGeom>
          <a:ln w="15875">
            <a:solidFill>
              <a:srgbClr val="3F3B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cience-conference_68080">
            <a:extLst>
              <a:ext uri="{FF2B5EF4-FFF2-40B4-BE49-F238E27FC236}">
                <a16:creationId xmlns:a16="http://schemas.microsoft.com/office/drawing/2014/main" id="{F5F06994-9830-4FAD-AC75-CC45B977F649}"/>
              </a:ext>
            </a:extLst>
          </p:cNvPr>
          <p:cNvSpPr>
            <a:spLocks noChangeAspect="1"/>
          </p:cNvSpPr>
          <p:nvPr/>
        </p:nvSpPr>
        <p:spPr bwMode="auto">
          <a:xfrm>
            <a:off x="4140777" y="1030369"/>
            <a:ext cx="823580" cy="1300741"/>
          </a:xfrm>
          <a:custGeom>
            <a:avLst/>
            <a:gdLst>
              <a:gd name="connsiteX0" fmla="*/ 190764 w 385450"/>
              <a:gd name="connsiteY0" fmla="*/ 514563 h 608768"/>
              <a:gd name="connsiteX1" fmla="*/ 211847 w 385450"/>
              <a:gd name="connsiteY1" fmla="*/ 526418 h 608768"/>
              <a:gd name="connsiteX2" fmla="*/ 210607 w 385450"/>
              <a:gd name="connsiteY2" fmla="*/ 529304 h 608768"/>
              <a:gd name="connsiteX3" fmla="*/ 190764 w 385450"/>
              <a:gd name="connsiteY3" fmla="*/ 548787 h 608768"/>
              <a:gd name="connsiteX4" fmla="*/ 170818 w 385450"/>
              <a:gd name="connsiteY4" fmla="*/ 529304 h 608768"/>
              <a:gd name="connsiteX5" fmla="*/ 169578 w 385450"/>
              <a:gd name="connsiteY5" fmla="*/ 526418 h 608768"/>
              <a:gd name="connsiteX6" fmla="*/ 190764 w 385450"/>
              <a:gd name="connsiteY6" fmla="*/ 514563 h 608768"/>
              <a:gd name="connsiteX7" fmla="*/ 219467 w 385450"/>
              <a:gd name="connsiteY7" fmla="*/ 493887 h 608768"/>
              <a:gd name="connsiteX8" fmla="*/ 215033 w 385450"/>
              <a:gd name="connsiteY8" fmla="*/ 517315 h 608768"/>
              <a:gd name="connsiteX9" fmla="*/ 199568 w 385450"/>
              <a:gd name="connsiteY9" fmla="*/ 508749 h 608768"/>
              <a:gd name="connsiteX10" fmla="*/ 208950 w 385450"/>
              <a:gd name="connsiteY10" fmla="*/ 502041 h 608768"/>
              <a:gd name="connsiteX11" fmla="*/ 219467 w 385450"/>
              <a:gd name="connsiteY11" fmla="*/ 493887 h 608768"/>
              <a:gd name="connsiteX12" fmla="*/ 162098 w 385450"/>
              <a:gd name="connsiteY12" fmla="*/ 493887 h 608768"/>
              <a:gd name="connsiteX13" fmla="*/ 172491 w 385450"/>
              <a:gd name="connsiteY13" fmla="*/ 502041 h 608768"/>
              <a:gd name="connsiteX14" fmla="*/ 181856 w 385450"/>
              <a:gd name="connsiteY14" fmla="*/ 508749 h 608768"/>
              <a:gd name="connsiteX15" fmla="*/ 166523 w 385450"/>
              <a:gd name="connsiteY15" fmla="*/ 517315 h 608768"/>
              <a:gd name="connsiteX16" fmla="*/ 162098 w 385450"/>
              <a:gd name="connsiteY16" fmla="*/ 493887 h 608768"/>
              <a:gd name="connsiteX17" fmla="*/ 230644 w 385450"/>
              <a:gd name="connsiteY17" fmla="*/ 484220 h 608768"/>
              <a:gd name="connsiteX18" fmla="*/ 246720 w 385450"/>
              <a:gd name="connsiteY18" fmla="*/ 502370 h 608768"/>
              <a:gd name="connsiteX19" fmla="*/ 256097 w 385450"/>
              <a:gd name="connsiteY19" fmla="*/ 526294 h 608768"/>
              <a:gd name="connsiteX20" fmla="*/ 249296 w 385450"/>
              <a:gd name="connsiteY20" fmla="*/ 528253 h 608768"/>
              <a:gd name="connsiteX21" fmla="*/ 223842 w 385450"/>
              <a:gd name="connsiteY21" fmla="*/ 521447 h 608768"/>
              <a:gd name="connsiteX22" fmla="*/ 229716 w 385450"/>
              <a:gd name="connsiteY22" fmla="*/ 485045 h 608768"/>
              <a:gd name="connsiteX23" fmla="*/ 230644 w 385450"/>
              <a:gd name="connsiteY23" fmla="*/ 484220 h 608768"/>
              <a:gd name="connsiteX24" fmla="*/ 150811 w 385450"/>
              <a:gd name="connsiteY24" fmla="*/ 484220 h 608768"/>
              <a:gd name="connsiteX25" fmla="*/ 151842 w 385450"/>
              <a:gd name="connsiteY25" fmla="*/ 485045 h 608768"/>
              <a:gd name="connsiteX26" fmla="*/ 157723 w 385450"/>
              <a:gd name="connsiteY26" fmla="*/ 521447 h 608768"/>
              <a:gd name="connsiteX27" fmla="*/ 132137 w 385450"/>
              <a:gd name="connsiteY27" fmla="*/ 528253 h 608768"/>
              <a:gd name="connsiteX28" fmla="*/ 125431 w 385450"/>
              <a:gd name="connsiteY28" fmla="*/ 526294 h 608768"/>
              <a:gd name="connsiteX29" fmla="*/ 134820 w 385450"/>
              <a:gd name="connsiteY29" fmla="*/ 502370 h 608768"/>
              <a:gd name="connsiteX30" fmla="*/ 150811 w 385450"/>
              <a:gd name="connsiteY30" fmla="*/ 484220 h 608768"/>
              <a:gd name="connsiteX31" fmla="*/ 190782 w 385450"/>
              <a:gd name="connsiteY31" fmla="*/ 463115 h 608768"/>
              <a:gd name="connsiteX32" fmla="*/ 176120 w 385450"/>
              <a:gd name="connsiteY32" fmla="*/ 477657 h 608768"/>
              <a:gd name="connsiteX33" fmla="*/ 190782 w 385450"/>
              <a:gd name="connsiteY33" fmla="*/ 492199 h 608768"/>
              <a:gd name="connsiteX34" fmla="*/ 205341 w 385450"/>
              <a:gd name="connsiteY34" fmla="*/ 477657 h 608768"/>
              <a:gd name="connsiteX35" fmla="*/ 190782 w 385450"/>
              <a:gd name="connsiteY35" fmla="*/ 463115 h 608768"/>
              <a:gd name="connsiteX36" fmla="*/ 190782 w 385450"/>
              <a:gd name="connsiteY36" fmla="*/ 452183 h 608768"/>
              <a:gd name="connsiteX37" fmla="*/ 203276 w 385450"/>
              <a:gd name="connsiteY37" fmla="*/ 460949 h 608768"/>
              <a:gd name="connsiteX38" fmla="*/ 220210 w 385450"/>
              <a:gd name="connsiteY38" fmla="*/ 474666 h 608768"/>
              <a:gd name="connsiteX39" fmla="*/ 220314 w 385450"/>
              <a:gd name="connsiteY39" fmla="*/ 477657 h 608768"/>
              <a:gd name="connsiteX40" fmla="*/ 220210 w 385450"/>
              <a:gd name="connsiteY40" fmla="*/ 480751 h 608768"/>
              <a:gd name="connsiteX41" fmla="*/ 203276 w 385450"/>
              <a:gd name="connsiteY41" fmla="*/ 494365 h 608768"/>
              <a:gd name="connsiteX42" fmla="*/ 190782 w 385450"/>
              <a:gd name="connsiteY42" fmla="*/ 503131 h 608768"/>
              <a:gd name="connsiteX43" fmla="*/ 178288 w 385450"/>
              <a:gd name="connsiteY43" fmla="*/ 494365 h 608768"/>
              <a:gd name="connsiteX44" fmla="*/ 161251 w 385450"/>
              <a:gd name="connsiteY44" fmla="*/ 480751 h 608768"/>
              <a:gd name="connsiteX45" fmla="*/ 161251 w 385450"/>
              <a:gd name="connsiteY45" fmla="*/ 477657 h 608768"/>
              <a:gd name="connsiteX46" fmla="*/ 161251 w 385450"/>
              <a:gd name="connsiteY46" fmla="*/ 474666 h 608768"/>
              <a:gd name="connsiteX47" fmla="*/ 178288 w 385450"/>
              <a:gd name="connsiteY47" fmla="*/ 460949 h 608768"/>
              <a:gd name="connsiteX48" fmla="*/ 190782 w 385450"/>
              <a:gd name="connsiteY48" fmla="*/ 452183 h 608768"/>
              <a:gd name="connsiteX49" fmla="*/ 215033 w 385450"/>
              <a:gd name="connsiteY49" fmla="*/ 437929 h 608768"/>
              <a:gd name="connsiteX50" fmla="*/ 219467 w 385450"/>
              <a:gd name="connsiteY50" fmla="*/ 461427 h 608768"/>
              <a:gd name="connsiteX51" fmla="*/ 208950 w 385450"/>
              <a:gd name="connsiteY51" fmla="*/ 453182 h 608768"/>
              <a:gd name="connsiteX52" fmla="*/ 199568 w 385450"/>
              <a:gd name="connsiteY52" fmla="*/ 446483 h 608768"/>
              <a:gd name="connsiteX53" fmla="*/ 215033 w 385450"/>
              <a:gd name="connsiteY53" fmla="*/ 437929 h 608768"/>
              <a:gd name="connsiteX54" fmla="*/ 166523 w 385450"/>
              <a:gd name="connsiteY54" fmla="*/ 437929 h 608768"/>
              <a:gd name="connsiteX55" fmla="*/ 181856 w 385450"/>
              <a:gd name="connsiteY55" fmla="*/ 446483 h 608768"/>
              <a:gd name="connsiteX56" fmla="*/ 172491 w 385450"/>
              <a:gd name="connsiteY56" fmla="*/ 453182 h 608768"/>
              <a:gd name="connsiteX57" fmla="*/ 162098 w 385450"/>
              <a:gd name="connsiteY57" fmla="*/ 461427 h 608768"/>
              <a:gd name="connsiteX58" fmla="*/ 166523 w 385450"/>
              <a:gd name="connsiteY58" fmla="*/ 437929 h 608768"/>
              <a:gd name="connsiteX59" fmla="*/ 249292 w 385450"/>
              <a:gd name="connsiteY59" fmla="*/ 426991 h 608768"/>
              <a:gd name="connsiteX60" fmla="*/ 256092 w 385450"/>
              <a:gd name="connsiteY60" fmla="*/ 429053 h 608768"/>
              <a:gd name="connsiteX61" fmla="*/ 252280 w 385450"/>
              <a:gd name="connsiteY61" fmla="*/ 444418 h 608768"/>
              <a:gd name="connsiteX62" fmla="*/ 252177 w 385450"/>
              <a:gd name="connsiteY62" fmla="*/ 444418 h 608768"/>
              <a:gd name="connsiteX63" fmla="*/ 243110 w 385450"/>
              <a:gd name="connsiteY63" fmla="*/ 453596 h 608768"/>
              <a:gd name="connsiteX64" fmla="*/ 243625 w 385450"/>
              <a:gd name="connsiteY64" fmla="*/ 456793 h 608768"/>
              <a:gd name="connsiteX65" fmla="*/ 230642 w 385450"/>
              <a:gd name="connsiteY65" fmla="*/ 471024 h 608768"/>
              <a:gd name="connsiteX66" fmla="*/ 229715 w 385450"/>
              <a:gd name="connsiteY66" fmla="*/ 470199 h 608768"/>
              <a:gd name="connsiteX67" fmla="*/ 223842 w 385450"/>
              <a:gd name="connsiteY67" fmla="*/ 433797 h 608768"/>
              <a:gd name="connsiteX68" fmla="*/ 249292 w 385450"/>
              <a:gd name="connsiteY68" fmla="*/ 426991 h 608768"/>
              <a:gd name="connsiteX69" fmla="*/ 132137 w 385450"/>
              <a:gd name="connsiteY69" fmla="*/ 426991 h 608768"/>
              <a:gd name="connsiteX70" fmla="*/ 136677 w 385450"/>
              <a:gd name="connsiteY70" fmla="*/ 427300 h 608768"/>
              <a:gd name="connsiteX71" fmla="*/ 145240 w 385450"/>
              <a:gd name="connsiteY71" fmla="*/ 433384 h 608768"/>
              <a:gd name="connsiteX72" fmla="*/ 151120 w 385450"/>
              <a:gd name="connsiteY72" fmla="*/ 431219 h 608768"/>
              <a:gd name="connsiteX73" fmla="*/ 157723 w 385450"/>
              <a:gd name="connsiteY73" fmla="*/ 433797 h 608768"/>
              <a:gd name="connsiteX74" fmla="*/ 151739 w 385450"/>
              <a:gd name="connsiteY74" fmla="*/ 470199 h 608768"/>
              <a:gd name="connsiteX75" fmla="*/ 150811 w 385450"/>
              <a:gd name="connsiteY75" fmla="*/ 471024 h 608768"/>
              <a:gd name="connsiteX76" fmla="*/ 134820 w 385450"/>
              <a:gd name="connsiteY76" fmla="*/ 452874 h 608768"/>
              <a:gd name="connsiteX77" fmla="*/ 125431 w 385450"/>
              <a:gd name="connsiteY77" fmla="*/ 429053 h 608768"/>
              <a:gd name="connsiteX78" fmla="*/ 132137 w 385450"/>
              <a:gd name="connsiteY78" fmla="*/ 426991 h 608768"/>
              <a:gd name="connsiteX79" fmla="*/ 190764 w 385450"/>
              <a:gd name="connsiteY79" fmla="*/ 406527 h 608768"/>
              <a:gd name="connsiteX80" fmla="*/ 210607 w 385450"/>
              <a:gd name="connsiteY80" fmla="*/ 426010 h 608768"/>
              <a:gd name="connsiteX81" fmla="*/ 211847 w 385450"/>
              <a:gd name="connsiteY81" fmla="*/ 428896 h 608768"/>
              <a:gd name="connsiteX82" fmla="*/ 190764 w 385450"/>
              <a:gd name="connsiteY82" fmla="*/ 440751 h 608768"/>
              <a:gd name="connsiteX83" fmla="*/ 169578 w 385450"/>
              <a:gd name="connsiteY83" fmla="*/ 428896 h 608768"/>
              <a:gd name="connsiteX84" fmla="*/ 170818 w 385450"/>
              <a:gd name="connsiteY84" fmla="*/ 426010 h 608768"/>
              <a:gd name="connsiteX85" fmla="*/ 190764 w 385450"/>
              <a:gd name="connsiteY85" fmla="*/ 406527 h 608768"/>
              <a:gd name="connsiteX86" fmla="*/ 190761 w 385450"/>
              <a:gd name="connsiteY86" fmla="*/ 397011 h 608768"/>
              <a:gd name="connsiteX87" fmla="*/ 162059 w 385450"/>
              <a:gd name="connsiteY87" fmla="*/ 421960 h 608768"/>
              <a:gd name="connsiteX88" fmla="*/ 160923 w 385450"/>
              <a:gd name="connsiteY88" fmla="*/ 424846 h 608768"/>
              <a:gd name="connsiteX89" fmla="*/ 154213 w 385450"/>
              <a:gd name="connsiteY89" fmla="*/ 422166 h 608768"/>
              <a:gd name="connsiteX90" fmla="*/ 145230 w 385450"/>
              <a:gd name="connsiteY90" fmla="*/ 415052 h 608768"/>
              <a:gd name="connsiteX91" fmla="*/ 138519 w 385450"/>
              <a:gd name="connsiteY91" fmla="*/ 417939 h 608768"/>
              <a:gd name="connsiteX92" fmla="*/ 132118 w 385450"/>
              <a:gd name="connsiteY92" fmla="*/ 417424 h 608768"/>
              <a:gd name="connsiteX93" fmla="*/ 117664 w 385450"/>
              <a:gd name="connsiteY93" fmla="*/ 423300 h 608768"/>
              <a:gd name="connsiteX94" fmla="*/ 127059 w 385450"/>
              <a:gd name="connsiteY94" fmla="*/ 458662 h 608768"/>
              <a:gd name="connsiteX95" fmla="*/ 143888 w 385450"/>
              <a:gd name="connsiteY95" fmla="*/ 477631 h 608768"/>
              <a:gd name="connsiteX96" fmla="*/ 127059 w 385450"/>
              <a:gd name="connsiteY96" fmla="*/ 496601 h 608768"/>
              <a:gd name="connsiteX97" fmla="*/ 117664 w 385450"/>
              <a:gd name="connsiteY97" fmla="*/ 531963 h 608768"/>
              <a:gd name="connsiteX98" fmla="*/ 132118 w 385450"/>
              <a:gd name="connsiteY98" fmla="*/ 537839 h 608768"/>
              <a:gd name="connsiteX99" fmla="*/ 160923 w 385450"/>
              <a:gd name="connsiteY99" fmla="*/ 530416 h 608768"/>
              <a:gd name="connsiteX100" fmla="*/ 162059 w 385450"/>
              <a:gd name="connsiteY100" fmla="*/ 533303 h 608768"/>
              <a:gd name="connsiteX101" fmla="*/ 190761 w 385450"/>
              <a:gd name="connsiteY101" fmla="*/ 558355 h 608768"/>
              <a:gd name="connsiteX102" fmla="*/ 219360 w 385450"/>
              <a:gd name="connsiteY102" fmla="*/ 533303 h 608768"/>
              <a:gd name="connsiteX103" fmla="*/ 220599 w 385450"/>
              <a:gd name="connsiteY103" fmla="*/ 530416 h 608768"/>
              <a:gd name="connsiteX104" fmla="*/ 249301 w 385450"/>
              <a:gd name="connsiteY104" fmla="*/ 537839 h 608768"/>
              <a:gd name="connsiteX105" fmla="*/ 263755 w 385450"/>
              <a:gd name="connsiteY105" fmla="*/ 531963 h 608768"/>
              <a:gd name="connsiteX106" fmla="*/ 254360 w 385450"/>
              <a:gd name="connsiteY106" fmla="*/ 496601 h 608768"/>
              <a:gd name="connsiteX107" fmla="*/ 237531 w 385450"/>
              <a:gd name="connsiteY107" fmla="*/ 477631 h 608768"/>
              <a:gd name="connsiteX108" fmla="*/ 251160 w 385450"/>
              <a:gd name="connsiteY108" fmla="*/ 462682 h 608768"/>
              <a:gd name="connsiteX109" fmla="*/ 252192 w 385450"/>
              <a:gd name="connsiteY109" fmla="*/ 462785 h 608768"/>
              <a:gd name="connsiteX110" fmla="*/ 261381 w 385450"/>
              <a:gd name="connsiteY110" fmla="*/ 453610 h 608768"/>
              <a:gd name="connsiteX111" fmla="*/ 260452 w 385450"/>
              <a:gd name="connsiteY111" fmla="*/ 449589 h 608768"/>
              <a:gd name="connsiteX112" fmla="*/ 263755 w 385450"/>
              <a:gd name="connsiteY112" fmla="*/ 423300 h 608768"/>
              <a:gd name="connsiteX113" fmla="*/ 249301 w 385450"/>
              <a:gd name="connsiteY113" fmla="*/ 417424 h 608768"/>
              <a:gd name="connsiteX114" fmla="*/ 220599 w 385450"/>
              <a:gd name="connsiteY114" fmla="*/ 424846 h 608768"/>
              <a:gd name="connsiteX115" fmla="*/ 219360 w 385450"/>
              <a:gd name="connsiteY115" fmla="*/ 421960 h 608768"/>
              <a:gd name="connsiteX116" fmla="*/ 190761 w 385450"/>
              <a:gd name="connsiteY116" fmla="*/ 397011 h 608768"/>
              <a:gd name="connsiteX117" fmla="*/ 15246 w 385450"/>
              <a:gd name="connsiteY117" fmla="*/ 352474 h 608768"/>
              <a:gd name="connsiteX118" fmla="*/ 370304 w 385450"/>
              <a:gd name="connsiteY118" fmla="*/ 352474 h 608768"/>
              <a:gd name="connsiteX119" fmla="*/ 381557 w 385450"/>
              <a:gd name="connsiteY119" fmla="*/ 357422 h 608768"/>
              <a:gd name="connsiteX120" fmla="*/ 385377 w 385450"/>
              <a:gd name="connsiteY120" fmla="*/ 369072 h 608768"/>
              <a:gd name="connsiteX121" fmla="*/ 355023 w 385450"/>
              <a:gd name="connsiteY121" fmla="*/ 595057 h 608768"/>
              <a:gd name="connsiteX122" fmla="*/ 339950 w 385450"/>
              <a:gd name="connsiteY122" fmla="*/ 608768 h 608768"/>
              <a:gd name="connsiteX123" fmla="*/ 45600 w 385450"/>
              <a:gd name="connsiteY123" fmla="*/ 608768 h 608768"/>
              <a:gd name="connsiteX124" fmla="*/ 30423 w 385450"/>
              <a:gd name="connsiteY124" fmla="*/ 595057 h 608768"/>
              <a:gd name="connsiteX125" fmla="*/ 69 w 385450"/>
              <a:gd name="connsiteY125" fmla="*/ 369072 h 608768"/>
              <a:gd name="connsiteX126" fmla="*/ 3992 w 385450"/>
              <a:gd name="connsiteY126" fmla="*/ 357422 h 608768"/>
              <a:gd name="connsiteX127" fmla="*/ 15246 w 385450"/>
              <a:gd name="connsiteY127" fmla="*/ 352474 h 608768"/>
              <a:gd name="connsiteX128" fmla="*/ 229886 w 385450"/>
              <a:gd name="connsiteY128" fmla="*/ 196878 h 608768"/>
              <a:gd name="connsiteX129" fmla="*/ 251679 w 385450"/>
              <a:gd name="connsiteY129" fmla="*/ 215230 h 608768"/>
              <a:gd name="connsiteX130" fmla="*/ 297227 w 385450"/>
              <a:gd name="connsiteY130" fmla="*/ 236159 h 608768"/>
              <a:gd name="connsiteX131" fmla="*/ 313855 w 385450"/>
              <a:gd name="connsiteY131" fmla="*/ 250387 h 608768"/>
              <a:gd name="connsiteX132" fmla="*/ 341122 w 385450"/>
              <a:gd name="connsiteY132" fmla="*/ 330599 h 608768"/>
              <a:gd name="connsiteX133" fmla="*/ 209538 w 385450"/>
              <a:gd name="connsiteY133" fmla="*/ 330599 h 608768"/>
              <a:gd name="connsiteX134" fmla="*/ 194769 w 385450"/>
              <a:gd name="connsiteY134" fmla="*/ 231726 h 608768"/>
              <a:gd name="connsiteX135" fmla="*/ 155647 w 385450"/>
              <a:gd name="connsiteY135" fmla="*/ 196878 h 608768"/>
              <a:gd name="connsiteX136" fmla="*/ 190747 w 385450"/>
              <a:gd name="connsiteY136" fmla="*/ 231726 h 608768"/>
              <a:gd name="connsiteX137" fmla="*/ 175881 w 385450"/>
              <a:gd name="connsiteY137" fmla="*/ 330599 h 608768"/>
              <a:gd name="connsiteX138" fmla="*/ 44465 w 385450"/>
              <a:gd name="connsiteY138" fmla="*/ 330599 h 608768"/>
              <a:gd name="connsiteX139" fmla="*/ 71615 w 385450"/>
              <a:gd name="connsiteY139" fmla="*/ 250387 h 608768"/>
              <a:gd name="connsiteX140" fmla="*/ 88339 w 385450"/>
              <a:gd name="connsiteY140" fmla="*/ 236159 h 608768"/>
              <a:gd name="connsiteX141" fmla="*/ 133762 w 385450"/>
              <a:gd name="connsiteY141" fmla="*/ 215230 h 608768"/>
              <a:gd name="connsiteX142" fmla="*/ 160716 w 385450"/>
              <a:gd name="connsiteY142" fmla="*/ 70485 h 608768"/>
              <a:gd name="connsiteX143" fmla="*/ 129130 w 385450"/>
              <a:gd name="connsiteY143" fmla="*/ 98962 h 608768"/>
              <a:gd name="connsiteX144" fmla="*/ 191398 w 385450"/>
              <a:gd name="connsiteY144" fmla="*/ 178647 h 608768"/>
              <a:gd name="connsiteX145" fmla="*/ 253666 w 385450"/>
              <a:gd name="connsiteY145" fmla="*/ 98962 h 608768"/>
              <a:gd name="connsiteX146" fmla="*/ 174876 w 385450"/>
              <a:gd name="connsiteY146" fmla="*/ 100611 h 608768"/>
              <a:gd name="connsiteX147" fmla="*/ 160716 w 385450"/>
              <a:gd name="connsiteY147" fmla="*/ 70485 h 608768"/>
              <a:gd name="connsiteX148" fmla="*/ 191398 w 385450"/>
              <a:gd name="connsiteY148" fmla="*/ 0 h 608768"/>
              <a:gd name="connsiteX149" fmla="*/ 273286 w 385450"/>
              <a:gd name="connsiteY149" fmla="*/ 80407 h 608768"/>
              <a:gd name="connsiteX150" fmla="*/ 191398 w 385450"/>
              <a:gd name="connsiteY150" fmla="*/ 196172 h 608768"/>
              <a:gd name="connsiteX151" fmla="*/ 109407 w 385450"/>
              <a:gd name="connsiteY151" fmla="*/ 80407 h 608768"/>
              <a:gd name="connsiteX152" fmla="*/ 191398 w 385450"/>
              <a:gd name="connsiteY152" fmla="*/ 0 h 608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</a:cxnLst>
            <a:rect l="l" t="t" r="r" b="b"/>
            <a:pathLst>
              <a:path w="385450" h="608768">
                <a:moveTo>
                  <a:pt x="190764" y="514563"/>
                </a:moveTo>
                <a:cubicBezTo>
                  <a:pt x="197998" y="519099"/>
                  <a:pt x="205026" y="523119"/>
                  <a:pt x="211847" y="526418"/>
                </a:cubicBezTo>
                <a:cubicBezTo>
                  <a:pt x="211433" y="527449"/>
                  <a:pt x="211020" y="528480"/>
                  <a:pt x="210607" y="529304"/>
                </a:cubicBezTo>
                <a:cubicBezTo>
                  <a:pt x="205026" y="541674"/>
                  <a:pt x="197792" y="548787"/>
                  <a:pt x="190764" y="548787"/>
                </a:cubicBezTo>
                <a:cubicBezTo>
                  <a:pt x="183633" y="548787"/>
                  <a:pt x="176399" y="541674"/>
                  <a:pt x="170818" y="529304"/>
                </a:cubicBezTo>
                <a:cubicBezTo>
                  <a:pt x="170405" y="528480"/>
                  <a:pt x="169991" y="527449"/>
                  <a:pt x="169578" y="526418"/>
                </a:cubicBezTo>
                <a:cubicBezTo>
                  <a:pt x="176399" y="523119"/>
                  <a:pt x="183530" y="519099"/>
                  <a:pt x="190764" y="514563"/>
                </a:cubicBezTo>
                <a:close/>
                <a:moveTo>
                  <a:pt x="219467" y="493887"/>
                </a:moveTo>
                <a:cubicBezTo>
                  <a:pt x="218642" y="502247"/>
                  <a:pt x="217095" y="510091"/>
                  <a:pt x="215033" y="517315"/>
                </a:cubicBezTo>
                <a:cubicBezTo>
                  <a:pt x="209981" y="514735"/>
                  <a:pt x="204826" y="511948"/>
                  <a:pt x="199568" y="508749"/>
                </a:cubicBezTo>
                <a:cubicBezTo>
                  <a:pt x="202764" y="506582"/>
                  <a:pt x="205857" y="504311"/>
                  <a:pt x="208950" y="502041"/>
                </a:cubicBezTo>
                <a:cubicBezTo>
                  <a:pt x="212559" y="499357"/>
                  <a:pt x="216064" y="496571"/>
                  <a:pt x="219467" y="493887"/>
                </a:cubicBezTo>
                <a:close/>
                <a:moveTo>
                  <a:pt x="162098" y="493887"/>
                </a:moveTo>
                <a:cubicBezTo>
                  <a:pt x="165494" y="496571"/>
                  <a:pt x="168992" y="499357"/>
                  <a:pt x="172491" y="502041"/>
                </a:cubicBezTo>
                <a:cubicBezTo>
                  <a:pt x="175578" y="504311"/>
                  <a:pt x="178666" y="506582"/>
                  <a:pt x="181856" y="508749"/>
                </a:cubicBezTo>
                <a:cubicBezTo>
                  <a:pt x="176608" y="511948"/>
                  <a:pt x="171462" y="514838"/>
                  <a:pt x="166523" y="517315"/>
                </a:cubicBezTo>
                <a:cubicBezTo>
                  <a:pt x="164362" y="510091"/>
                  <a:pt x="162921" y="502247"/>
                  <a:pt x="162098" y="493887"/>
                </a:cubicBezTo>
                <a:close/>
                <a:moveTo>
                  <a:pt x="230644" y="484220"/>
                </a:moveTo>
                <a:cubicBezTo>
                  <a:pt x="236930" y="490511"/>
                  <a:pt x="242392" y="496595"/>
                  <a:pt x="246720" y="502370"/>
                </a:cubicBezTo>
                <a:cubicBezTo>
                  <a:pt x="257437" y="516704"/>
                  <a:pt x="257643" y="524128"/>
                  <a:pt x="256097" y="526294"/>
                </a:cubicBezTo>
                <a:cubicBezTo>
                  <a:pt x="255067" y="527531"/>
                  <a:pt x="252697" y="528253"/>
                  <a:pt x="249296" y="528253"/>
                </a:cubicBezTo>
                <a:cubicBezTo>
                  <a:pt x="243010" y="528253"/>
                  <a:pt x="234250" y="525881"/>
                  <a:pt x="223842" y="521447"/>
                </a:cubicBezTo>
                <a:cubicBezTo>
                  <a:pt x="227140" y="510619"/>
                  <a:pt x="229201" y="498039"/>
                  <a:pt x="229716" y="485045"/>
                </a:cubicBezTo>
                <a:cubicBezTo>
                  <a:pt x="230025" y="484839"/>
                  <a:pt x="230335" y="484530"/>
                  <a:pt x="230644" y="484220"/>
                </a:cubicBezTo>
                <a:close/>
                <a:moveTo>
                  <a:pt x="150811" y="484220"/>
                </a:moveTo>
                <a:cubicBezTo>
                  <a:pt x="151120" y="484530"/>
                  <a:pt x="151430" y="484839"/>
                  <a:pt x="151842" y="485045"/>
                </a:cubicBezTo>
                <a:cubicBezTo>
                  <a:pt x="152358" y="498039"/>
                  <a:pt x="154421" y="510619"/>
                  <a:pt x="157723" y="521447"/>
                </a:cubicBezTo>
                <a:cubicBezTo>
                  <a:pt x="147303" y="525881"/>
                  <a:pt x="138430" y="528253"/>
                  <a:pt x="132137" y="528253"/>
                </a:cubicBezTo>
                <a:cubicBezTo>
                  <a:pt x="128733" y="528253"/>
                  <a:pt x="126360" y="527531"/>
                  <a:pt x="125431" y="526294"/>
                </a:cubicBezTo>
                <a:cubicBezTo>
                  <a:pt x="123781" y="524128"/>
                  <a:pt x="124090" y="516704"/>
                  <a:pt x="134820" y="502370"/>
                </a:cubicBezTo>
                <a:cubicBezTo>
                  <a:pt x="139153" y="496595"/>
                  <a:pt x="144517" y="490511"/>
                  <a:pt x="150811" y="484220"/>
                </a:cubicBezTo>
                <a:close/>
                <a:moveTo>
                  <a:pt x="190782" y="463115"/>
                </a:moveTo>
                <a:cubicBezTo>
                  <a:pt x="182728" y="463115"/>
                  <a:pt x="176120" y="469612"/>
                  <a:pt x="176120" y="477657"/>
                </a:cubicBezTo>
                <a:cubicBezTo>
                  <a:pt x="176120" y="485702"/>
                  <a:pt x="182728" y="492199"/>
                  <a:pt x="190782" y="492199"/>
                </a:cubicBezTo>
                <a:cubicBezTo>
                  <a:pt x="198836" y="492199"/>
                  <a:pt x="205341" y="485702"/>
                  <a:pt x="205341" y="477657"/>
                </a:cubicBezTo>
                <a:cubicBezTo>
                  <a:pt x="205341" y="469612"/>
                  <a:pt x="198836" y="463115"/>
                  <a:pt x="190782" y="463115"/>
                </a:cubicBezTo>
                <a:close/>
                <a:moveTo>
                  <a:pt x="190782" y="452183"/>
                </a:moveTo>
                <a:cubicBezTo>
                  <a:pt x="194913" y="454967"/>
                  <a:pt x="199146" y="457855"/>
                  <a:pt x="203276" y="460949"/>
                </a:cubicBezTo>
                <a:cubicBezTo>
                  <a:pt x="209162" y="465384"/>
                  <a:pt x="214944" y="469922"/>
                  <a:pt x="220210" y="474666"/>
                </a:cubicBezTo>
                <a:cubicBezTo>
                  <a:pt x="220210" y="475697"/>
                  <a:pt x="220314" y="476729"/>
                  <a:pt x="220314" y="477657"/>
                </a:cubicBezTo>
                <a:cubicBezTo>
                  <a:pt x="220314" y="478688"/>
                  <a:pt x="220210" y="479719"/>
                  <a:pt x="220210" y="480751"/>
                </a:cubicBezTo>
                <a:cubicBezTo>
                  <a:pt x="214944" y="485392"/>
                  <a:pt x="209162" y="490033"/>
                  <a:pt x="203276" y="494365"/>
                </a:cubicBezTo>
                <a:cubicBezTo>
                  <a:pt x="199146" y="497459"/>
                  <a:pt x="194913" y="500347"/>
                  <a:pt x="190782" y="503131"/>
                </a:cubicBezTo>
                <a:cubicBezTo>
                  <a:pt x="186549" y="500347"/>
                  <a:pt x="182315" y="497459"/>
                  <a:pt x="178288" y="494365"/>
                </a:cubicBezTo>
                <a:cubicBezTo>
                  <a:pt x="172299" y="490033"/>
                  <a:pt x="166620" y="485392"/>
                  <a:pt x="161251" y="480751"/>
                </a:cubicBezTo>
                <a:cubicBezTo>
                  <a:pt x="161251" y="479719"/>
                  <a:pt x="161251" y="478688"/>
                  <a:pt x="161251" y="477657"/>
                </a:cubicBezTo>
                <a:cubicBezTo>
                  <a:pt x="161251" y="476729"/>
                  <a:pt x="161251" y="475697"/>
                  <a:pt x="161251" y="474666"/>
                </a:cubicBezTo>
                <a:cubicBezTo>
                  <a:pt x="166620" y="469922"/>
                  <a:pt x="172299" y="465384"/>
                  <a:pt x="178288" y="460949"/>
                </a:cubicBezTo>
                <a:cubicBezTo>
                  <a:pt x="182315" y="457855"/>
                  <a:pt x="186549" y="454967"/>
                  <a:pt x="190782" y="452183"/>
                </a:cubicBezTo>
                <a:close/>
                <a:moveTo>
                  <a:pt x="215033" y="437929"/>
                </a:moveTo>
                <a:cubicBezTo>
                  <a:pt x="217095" y="445143"/>
                  <a:pt x="218642" y="452976"/>
                  <a:pt x="219467" y="461427"/>
                </a:cubicBezTo>
                <a:cubicBezTo>
                  <a:pt x="216064" y="458644"/>
                  <a:pt x="212559" y="455861"/>
                  <a:pt x="208950" y="453182"/>
                </a:cubicBezTo>
                <a:cubicBezTo>
                  <a:pt x="205960" y="450914"/>
                  <a:pt x="202764" y="448647"/>
                  <a:pt x="199568" y="446483"/>
                </a:cubicBezTo>
                <a:cubicBezTo>
                  <a:pt x="204826" y="443288"/>
                  <a:pt x="209981" y="440505"/>
                  <a:pt x="215033" y="437929"/>
                </a:cubicBezTo>
                <a:close/>
                <a:moveTo>
                  <a:pt x="166523" y="437929"/>
                </a:moveTo>
                <a:cubicBezTo>
                  <a:pt x="171462" y="440505"/>
                  <a:pt x="176608" y="443391"/>
                  <a:pt x="181856" y="446483"/>
                </a:cubicBezTo>
                <a:cubicBezTo>
                  <a:pt x="178666" y="448647"/>
                  <a:pt x="175578" y="450914"/>
                  <a:pt x="172491" y="453182"/>
                </a:cubicBezTo>
                <a:cubicBezTo>
                  <a:pt x="168992" y="455861"/>
                  <a:pt x="165494" y="458644"/>
                  <a:pt x="162098" y="461427"/>
                </a:cubicBezTo>
                <a:cubicBezTo>
                  <a:pt x="162921" y="452976"/>
                  <a:pt x="164362" y="445143"/>
                  <a:pt x="166523" y="437929"/>
                </a:cubicBezTo>
                <a:close/>
                <a:moveTo>
                  <a:pt x="249292" y="426991"/>
                </a:moveTo>
                <a:cubicBezTo>
                  <a:pt x="252692" y="426991"/>
                  <a:pt x="255061" y="427713"/>
                  <a:pt x="256092" y="429053"/>
                </a:cubicBezTo>
                <a:cubicBezTo>
                  <a:pt x="257431" y="430806"/>
                  <a:pt x="257225" y="435859"/>
                  <a:pt x="252280" y="444418"/>
                </a:cubicBezTo>
                <a:lnTo>
                  <a:pt x="252177" y="444418"/>
                </a:lnTo>
                <a:cubicBezTo>
                  <a:pt x="247128" y="444418"/>
                  <a:pt x="243110" y="448543"/>
                  <a:pt x="243110" y="453596"/>
                </a:cubicBezTo>
                <a:cubicBezTo>
                  <a:pt x="243110" y="454731"/>
                  <a:pt x="243213" y="455762"/>
                  <a:pt x="243625" y="456793"/>
                </a:cubicBezTo>
                <a:cubicBezTo>
                  <a:pt x="239916" y="461433"/>
                  <a:pt x="235588" y="466177"/>
                  <a:pt x="230642" y="471024"/>
                </a:cubicBezTo>
                <a:cubicBezTo>
                  <a:pt x="230333" y="470714"/>
                  <a:pt x="230024" y="470405"/>
                  <a:pt x="229715" y="470199"/>
                </a:cubicBezTo>
                <a:cubicBezTo>
                  <a:pt x="229200" y="457205"/>
                  <a:pt x="227139" y="444625"/>
                  <a:pt x="223842" y="433797"/>
                </a:cubicBezTo>
                <a:cubicBezTo>
                  <a:pt x="234249" y="429363"/>
                  <a:pt x="243007" y="426991"/>
                  <a:pt x="249292" y="426991"/>
                </a:cubicBezTo>
                <a:close/>
                <a:moveTo>
                  <a:pt x="132137" y="426991"/>
                </a:moveTo>
                <a:cubicBezTo>
                  <a:pt x="133478" y="426991"/>
                  <a:pt x="135026" y="427094"/>
                  <a:pt x="136677" y="427300"/>
                </a:cubicBezTo>
                <a:cubicBezTo>
                  <a:pt x="137915" y="430909"/>
                  <a:pt x="141422" y="433384"/>
                  <a:pt x="145240" y="433384"/>
                </a:cubicBezTo>
                <a:cubicBezTo>
                  <a:pt x="147406" y="433384"/>
                  <a:pt x="149469" y="432559"/>
                  <a:pt x="151120" y="431219"/>
                </a:cubicBezTo>
                <a:cubicBezTo>
                  <a:pt x="153287" y="432044"/>
                  <a:pt x="155453" y="432869"/>
                  <a:pt x="157723" y="433797"/>
                </a:cubicBezTo>
                <a:cubicBezTo>
                  <a:pt x="154421" y="444625"/>
                  <a:pt x="152358" y="457205"/>
                  <a:pt x="151739" y="470199"/>
                </a:cubicBezTo>
                <a:cubicBezTo>
                  <a:pt x="151430" y="470405"/>
                  <a:pt x="151120" y="470714"/>
                  <a:pt x="150811" y="471024"/>
                </a:cubicBezTo>
                <a:cubicBezTo>
                  <a:pt x="144517" y="464836"/>
                  <a:pt x="139153" y="458752"/>
                  <a:pt x="134820" y="452874"/>
                </a:cubicBezTo>
                <a:cubicBezTo>
                  <a:pt x="123987" y="438540"/>
                  <a:pt x="123781" y="431116"/>
                  <a:pt x="125431" y="429053"/>
                </a:cubicBezTo>
                <a:cubicBezTo>
                  <a:pt x="126360" y="427713"/>
                  <a:pt x="128733" y="426991"/>
                  <a:pt x="132137" y="426991"/>
                </a:cubicBezTo>
                <a:close/>
                <a:moveTo>
                  <a:pt x="190764" y="406527"/>
                </a:moveTo>
                <a:cubicBezTo>
                  <a:pt x="197792" y="406527"/>
                  <a:pt x="205026" y="413640"/>
                  <a:pt x="210607" y="426010"/>
                </a:cubicBezTo>
                <a:cubicBezTo>
                  <a:pt x="211020" y="426937"/>
                  <a:pt x="211433" y="427865"/>
                  <a:pt x="211847" y="428896"/>
                </a:cubicBezTo>
                <a:cubicBezTo>
                  <a:pt x="205026" y="432195"/>
                  <a:pt x="197998" y="436215"/>
                  <a:pt x="190764" y="440751"/>
                </a:cubicBezTo>
                <a:cubicBezTo>
                  <a:pt x="183530" y="436215"/>
                  <a:pt x="176399" y="432195"/>
                  <a:pt x="169578" y="428896"/>
                </a:cubicBezTo>
                <a:cubicBezTo>
                  <a:pt x="169991" y="427865"/>
                  <a:pt x="170405" y="426937"/>
                  <a:pt x="170818" y="426010"/>
                </a:cubicBezTo>
                <a:cubicBezTo>
                  <a:pt x="176399" y="413640"/>
                  <a:pt x="183633" y="406527"/>
                  <a:pt x="190764" y="406527"/>
                </a:cubicBezTo>
                <a:close/>
                <a:moveTo>
                  <a:pt x="190761" y="397011"/>
                </a:moveTo>
                <a:cubicBezTo>
                  <a:pt x="179611" y="397011"/>
                  <a:pt x="169390" y="405877"/>
                  <a:pt x="162059" y="421960"/>
                </a:cubicBezTo>
                <a:cubicBezTo>
                  <a:pt x="161646" y="422888"/>
                  <a:pt x="161336" y="423815"/>
                  <a:pt x="160923" y="424846"/>
                </a:cubicBezTo>
                <a:cubicBezTo>
                  <a:pt x="158549" y="423815"/>
                  <a:pt x="156381" y="422991"/>
                  <a:pt x="154213" y="422166"/>
                </a:cubicBezTo>
                <a:cubicBezTo>
                  <a:pt x="153283" y="418042"/>
                  <a:pt x="149567" y="415052"/>
                  <a:pt x="145230" y="415052"/>
                </a:cubicBezTo>
                <a:cubicBezTo>
                  <a:pt x="142752" y="415052"/>
                  <a:pt x="140275" y="416083"/>
                  <a:pt x="138519" y="417939"/>
                </a:cubicBezTo>
                <a:cubicBezTo>
                  <a:pt x="136248" y="417630"/>
                  <a:pt x="134080" y="417424"/>
                  <a:pt x="132118" y="417424"/>
                </a:cubicBezTo>
                <a:cubicBezTo>
                  <a:pt x="125407" y="417424"/>
                  <a:pt x="120555" y="419382"/>
                  <a:pt x="117664" y="423300"/>
                </a:cubicBezTo>
                <a:cubicBezTo>
                  <a:pt x="112089" y="430723"/>
                  <a:pt x="115393" y="442991"/>
                  <a:pt x="127059" y="458662"/>
                </a:cubicBezTo>
                <a:cubicBezTo>
                  <a:pt x="131602" y="464744"/>
                  <a:pt x="137281" y="471136"/>
                  <a:pt x="143888" y="477631"/>
                </a:cubicBezTo>
                <a:cubicBezTo>
                  <a:pt x="137281" y="484126"/>
                  <a:pt x="131602" y="490518"/>
                  <a:pt x="127059" y="496601"/>
                </a:cubicBezTo>
                <a:cubicBezTo>
                  <a:pt x="115393" y="512271"/>
                  <a:pt x="112089" y="524540"/>
                  <a:pt x="117664" y="531963"/>
                </a:cubicBezTo>
                <a:cubicBezTo>
                  <a:pt x="120555" y="535880"/>
                  <a:pt x="125407" y="537839"/>
                  <a:pt x="132118" y="537839"/>
                </a:cubicBezTo>
                <a:cubicBezTo>
                  <a:pt x="139552" y="537839"/>
                  <a:pt x="149463" y="535365"/>
                  <a:pt x="160923" y="530416"/>
                </a:cubicBezTo>
                <a:cubicBezTo>
                  <a:pt x="161336" y="531447"/>
                  <a:pt x="161646" y="532375"/>
                  <a:pt x="162059" y="533303"/>
                </a:cubicBezTo>
                <a:cubicBezTo>
                  <a:pt x="169390" y="549386"/>
                  <a:pt x="179611" y="558355"/>
                  <a:pt x="190761" y="558355"/>
                </a:cubicBezTo>
                <a:cubicBezTo>
                  <a:pt x="201912" y="558355"/>
                  <a:pt x="212029" y="549386"/>
                  <a:pt x="219360" y="533303"/>
                </a:cubicBezTo>
                <a:cubicBezTo>
                  <a:pt x="219773" y="532375"/>
                  <a:pt x="220186" y="531447"/>
                  <a:pt x="220599" y="530416"/>
                </a:cubicBezTo>
                <a:cubicBezTo>
                  <a:pt x="231956" y="535365"/>
                  <a:pt x="241971" y="537839"/>
                  <a:pt x="249301" y="537839"/>
                </a:cubicBezTo>
                <a:cubicBezTo>
                  <a:pt x="256012" y="537839"/>
                  <a:pt x="260865" y="535880"/>
                  <a:pt x="263755" y="531963"/>
                </a:cubicBezTo>
                <a:cubicBezTo>
                  <a:pt x="269331" y="524540"/>
                  <a:pt x="266130" y="512271"/>
                  <a:pt x="254360" y="496601"/>
                </a:cubicBezTo>
                <a:cubicBezTo>
                  <a:pt x="249817" y="490518"/>
                  <a:pt x="244139" y="484126"/>
                  <a:pt x="237531" y="477631"/>
                </a:cubicBezTo>
                <a:cubicBezTo>
                  <a:pt x="242694" y="472579"/>
                  <a:pt x="247236" y="467528"/>
                  <a:pt x="251160" y="462682"/>
                </a:cubicBezTo>
                <a:cubicBezTo>
                  <a:pt x="251573" y="462785"/>
                  <a:pt x="251882" y="462785"/>
                  <a:pt x="252192" y="462785"/>
                </a:cubicBezTo>
                <a:cubicBezTo>
                  <a:pt x="257251" y="462785"/>
                  <a:pt x="261381" y="458662"/>
                  <a:pt x="261381" y="453610"/>
                </a:cubicBezTo>
                <a:cubicBezTo>
                  <a:pt x="261381" y="452270"/>
                  <a:pt x="261071" y="450826"/>
                  <a:pt x="260452" y="449589"/>
                </a:cubicBezTo>
                <a:cubicBezTo>
                  <a:pt x="267162" y="438146"/>
                  <a:pt x="268298" y="429279"/>
                  <a:pt x="263755" y="423300"/>
                </a:cubicBezTo>
                <a:cubicBezTo>
                  <a:pt x="260865" y="419382"/>
                  <a:pt x="256012" y="417424"/>
                  <a:pt x="249301" y="417424"/>
                </a:cubicBezTo>
                <a:cubicBezTo>
                  <a:pt x="241971" y="417424"/>
                  <a:pt x="231956" y="420001"/>
                  <a:pt x="220599" y="424846"/>
                </a:cubicBezTo>
                <a:cubicBezTo>
                  <a:pt x="220186" y="423815"/>
                  <a:pt x="219773" y="422888"/>
                  <a:pt x="219360" y="421960"/>
                </a:cubicBezTo>
                <a:cubicBezTo>
                  <a:pt x="212029" y="405877"/>
                  <a:pt x="201912" y="397011"/>
                  <a:pt x="190761" y="397011"/>
                </a:cubicBezTo>
                <a:close/>
                <a:moveTo>
                  <a:pt x="15246" y="352474"/>
                </a:moveTo>
                <a:lnTo>
                  <a:pt x="370304" y="352474"/>
                </a:lnTo>
                <a:cubicBezTo>
                  <a:pt x="374537" y="352474"/>
                  <a:pt x="378666" y="354329"/>
                  <a:pt x="381557" y="357422"/>
                </a:cubicBezTo>
                <a:cubicBezTo>
                  <a:pt x="384448" y="360618"/>
                  <a:pt x="385790" y="364845"/>
                  <a:pt x="385377" y="369072"/>
                </a:cubicBezTo>
                <a:lnTo>
                  <a:pt x="355023" y="595057"/>
                </a:lnTo>
                <a:cubicBezTo>
                  <a:pt x="354301" y="602789"/>
                  <a:pt x="347796" y="608768"/>
                  <a:pt x="339950" y="608768"/>
                </a:cubicBezTo>
                <a:lnTo>
                  <a:pt x="45600" y="608768"/>
                </a:lnTo>
                <a:cubicBezTo>
                  <a:pt x="37753" y="608768"/>
                  <a:pt x="31249" y="602789"/>
                  <a:pt x="30423" y="595057"/>
                </a:cubicBezTo>
                <a:lnTo>
                  <a:pt x="69" y="369072"/>
                </a:lnTo>
                <a:cubicBezTo>
                  <a:pt x="-344" y="364845"/>
                  <a:pt x="1101" y="360618"/>
                  <a:pt x="3992" y="357422"/>
                </a:cubicBezTo>
                <a:cubicBezTo>
                  <a:pt x="6883" y="354329"/>
                  <a:pt x="10909" y="352474"/>
                  <a:pt x="15246" y="352474"/>
                </a:cubicBezTo>
                <a:close/>
                <a:moveTo>
                  <a:pt x="229886" y="196878"/>
                </a:moveTo>
                <a:lnTo>
                  <a:pt x="251679" y="215230"/>
                </a:lnTo>
                <a:lnTo>
                  <a:pt x="297227" y="236159"/>
                </a:lnTo>
                <a:cubicBezTo>
                  <a:pt x="303940" y="238943"/>
                  <a:pt x="310963" y="243376"/>
                  <a:pt x="313855" y="250387"/>
                </a:cubicBezTo>
                <a:cubicBezTo>
                  <a:pt x="313855" y="250387"/>
                  <a:pt x="333169" y="296163"/>
                  <a:pt x="341122" y="330599"/>
                </a:cubicBezTo>
                <a:lnTo>
                  <a:pt x="209538" y="330599"/>
                </a:lnTo>
                <a:lnTo>
                  <a:pt x="194769" y="231726"/>
                </a:lnTo>
                <a:close/>
                <a:moveTo>
                  <a:pt x="155647" y="196878"/>
                </a:moveTo>
                <a:lnTo>
                  <a:pt x="190747" y="231726"/>
                </a:lnTo>
                <a:lnTo>
                  <a:pt x="175881" y="330599"/>
                </a:lnTo>
                <a:lnTo>
                  <a:pt x="44465" y="330599"/>
                </a:lnTo>
                <a:cubicBezTo>
                  <a:pt x="52414" y="296163"/>
                  <a:pt x="71615" y="250387"/>
                  <a:pt x="71615" y="250387"/>
                </a:cubicBezTo>
                <a:cubicBezTo>
                  <a:pt x="75022" y="243067"/>
                  <a:pt x="81629" y="238943"/>
                  <a:pt x="88339" y="236159"/>
                </a:cubicBezTo>
                <a:lnTo>
                  <a:pt x="133762" y="215230"/>
                </a:lnTo>
                <a:close/>
                <a:moveTo>
                  <a:pt x="160716" y="70485"/>
                </a:moveTo>
                <a:cubicBezTo>
                  <a:pt x="145085" y="69041"/>
                  <a:pt x="126549" y="77366"/>
                  <a:pt x="129130" y="98962"/>
                </a:cubicBezTo>
                <a:cubicBezTo>
                  <a:pt x="133777" y="138753"/>
                  <a:pt x="157321" y="178647"/>
                  <a:pt x="191398" y="178647"/>
                </a:cubicBezTo>
                <a:cubicBezTo>
                  <a:pt x="223822" y="178647"/>
                  <a:pt x="253253" y="130712"/>
                  <a:pt x="253666" y="98962"/>
                </a:cubicBezTo>
                <a:cubicBezTo>
                  <a:pt x="254182" y="45976"/>
                  <a:pt x="217317" y="105147"/>
                  <a:pt x="174876" y="100611"/>
                </a:cubicBezTo>
                <a:cubicBezTo>
                  <a:pt x="189075" y="83138"/>
                  <a:pt x="176347" y="71928"/>
                  <a:pt x="160716" y="70485"/>
                </a:cubicBezTo>
                <a:close/>
                <a:moveTo>
                  <a:pt x="191398" y="0"/>
                </a:moveTo>
                <a:cubicBezTo>
                  <a:pt x="249845" y="0"/>
                  <a:pt x="273802" y="30101"/>
                  <a:pt x="273286" y="80407"/>
                </a:cubicBezTo>
                <a:cubicBezTo>
                  <a:pt x="272563" y="152979"/>
                  <a:pt x="225991" y="196172"/>
                  <a:pt x="191398" y="196172"/>
                </a:cubicBezTo>
                <a:cubicBezTo>
                  <a:pt x="150816" y="196172"/>
                  <a:pt x="110130" y="152979"/>
                  <a:pt x="109407" y="80407"/>
                </a:cubicBezTo>
                <a:cubicBezTo>
                  <a:pt x="108891" y="30101"/>
                  <a:pt x="132848" y="0"/>
                  <a:pt x="191398" y="0"/>
                </a:cubicBezTo>
                <a:close/>
              </a:path>
            </a:pathLst>
          </a:custGeom>
          <a:solidFill>
            <a:srgbClr val="C10000"/>
          </a:solidFill>
          <a:ln>
            <a:noFill/>
          </a:ln>
        </p:spPr>
      </p:sp>
      <p:sp>
        <p:nvSpPr>
          <p:cNvPr id="14" name="female-instructor-giving-a-lecture-standing-at-the-side-of-a-screen_43195">
            <a:extLst>
              <a:ext uri="{FF2B5EF4-FFF2-40B4-BE49-F238E27FC236}">
                <a16:creationId xmlns:a16="http://schemas.microsoft.com/office/drawing/2014/main" id="{A3CC8630-8483-4AC1-83CF-8E9426A7DDC8}"/>
              </a:ext>
            </a:extLst>
          </p:cNvPr>
          <p:cNvSpPr>
            <a:spLocks noChangeAspect="1"/>
          </p:cNvSpPr>
          <p:nvPr/>
        </p:nvSpPr>
        <p:spPr bwMode="auto">
          <a:xfrm>
            <a:off x="107504" y="6525344"/>
            <a:ext cx="294652" cy="253054"/>
          </a:xfrm>
          <a:custGeom>
            <a:avLst/>
            <a:gdLst>
              <a:gd name="connsiteX0" fmla="*/ 45866 w 605777"/>
              <a:gd name="connsiteY0" fmla="*/ 339787 h 520255"/>
              <a:gd name="connsiteX1" fmla="*/ 147937 w 605777"/>
              <a:gd name="connsiteY1" fmla="*/ 341219 h 520255"/>
              <a:gd name="connsiteX2" fmla="*/ 150812 w 605777"/>
              <a:gd name="connsiteY2" fmla="*/ 408537 h 520255"/>
              <a:gd name="connsiteX3" fmla="*/ 130685 w 605777"/>
              <a:gd name="connsiteY3" fmla="*/ 408537 h 520255"/>
              <a:gd name="connsiteX4" fmla="*/ 133561 w 605777"/>
              <a:gd name="connsiteY4" fmla="*/ 447208 h 520255"/>
              <a:gd name="connsiteX5" fmla="*/ 129248 w 605777"/>
              <a:gd name="connsiteY5" fmla="*/ 501635 h 520255"/>
              <a:gd name="connsiteX6" fmla="*/ 150812 w 605777"/>
              <a:gd name="connsiteY6" fmla="*/ 510229 h 520255"/>
              <a:gd name="connsiteX7" fmla="*/ 136436 w 605777"/>
              <a:gd name="connsiteY7" fmla="*/ 520255 h 520255"/>
              <a:gd name="connsiteX8" fmla="*/ 127810 w 605777"/>
              <a:gd name="connsiteY8" fmla="*/ 520255 h 520255"/>
              <a:gd name="connsiteX9" fmla="*/ 104808 w 605777"/>
              <a:gd name="connsiteY9" fmla="*/ 520255 h 520255"/>
              <a:gd name="connsiteX10" fmla="*/ 103371 w 605777"/>
              <a:gd name="connsiteY10" fmla="*/ 520255 h 520255"/>
              <a:gd name="connsiteX11" fmla="*/ 103371 w 605777"/>
              <a:gd name="connsiteY11" fmla="*/ 511661 h 520255"/>
              <a:gd name="connsiteX12" fmla="*/ 106246 w 605777"/>
              <a:gd name="connsiteY12" fmla="*/ 505932 h 520255"/>
              <a:gd name="connsiteX13" fmla="*/ 111996 w 605777"/>
              <a:gd name="connsiteY13" fmla="*/ 447208 h 520255"/>
              <a:gd name="connsiteX14" fmla="*/ 109121 w 605777"/>
              <a:gd name="connsiteY14" fmla="*/ 408537 h 520255"/>
              <a:gd name="connsiteX15" fmla="*/ 96183 w 605777"/>
              <a:gd name="connsiteY15" fmla="*/ 408537 h 520255"/>
              <a:gd name="connsiteX16" fmla="*/ 96183 w 605777"/>
              <a:gd name="connsiteY16" fmla="*/ 507364 h 520255"/>
              <a:gd name="connsiteX17" fmla="*/ 97620 w 605777"/>
              <a:gd name="connsiteY17" fmla="*/ 511661 h 520255"/>
              <a:gd name="connsiteX18" fmla="*/ 97620 w 605777"/>
              <a:gd name="connsiteY18" fmla="*/ 520255 h 520255"/>
              <a:gd name="connsiteX19" fmla="*/ 96183 w 605777"/>
              <a:gd name="connsiteY19" fmla="*/ 520255 h 520255"/>
              <a:gd name="connsiteX20" fmla="*/ 74618 w 605777"/>
              <a:gd name="connsiteY20" fmla="*/ 520255 h 520255"/>
              <a:gd name="connsiteX21" fmla="*/ 65993 w 605777"/>
              <a:gd name="connsiteY21" fmla="*/ 520255 h 520255"/>
              <a:gd name="connsiteX22" fmla="*/ 51617 w 605777"/>
              <a:gd name="connsiteY22" fmla="*/ 510229 h 520255"/>
              <a:gd name="connsiteX23" fmla="*/ 74618 w 605777"/>
              <a:gd name="connsiteY23" fmla="*/ 501635 h 520255"/>
              <a:gd name="connsiteX24" fmla="*/ 74618 w 605777"/>
              <a:gd name="connsiteY24" fmla="*/ 408537 h 520255"/>
              <a:gd name="connsiteX25" fmla="*/ 42991 w 605777"/>
              <a:gd name="connsiteY25" fmla="*/ 408537 h 520255"/>
              <a:gd name="connsiteX26" fmla="*/ 219630 w 605777"/>
              <a:gd name="connsiteY26" fmla="*/ 117545 h 520255"/>
              <a:gd name="connsiteX27" fmla="*/ 219630 w 605777"/>
              <a:gd name="connsiteY27" fmla="*/ 182051 h 520255"/>
              <a:gd name="connsiteX28" fmla="*/ 285663 w 605777"/>
              <a:gd name="connsiteY28" fmla="*/ 197819 h 520255"/>
              <a:gd name="connsiteX29" fmla="*/ 285663 w 605777"/>
              <a:gd name="connsiteY29" fmla="*/ 240823 h 520255"/>
              <a:gd name="connsiteX30" fmla="*/ 219630 w 605777"/>
              <a:gd name="connsiteY30" fmla="*/ 233656 h 520255"/>
              <a:gd name="connsiteX31" fmla="*/ 219630 w 605777"/>
              <a:gd name="connsiteY31" fmla="*/ 341166 h 520255"/>
              <a:gd name="connsiteX32" fmla="*/ 377534 w 605777"/>
              <a:gd name="connsiteY32" fmla="*/ 341166 h 520255"/>
              <a:gd name="connsiteX33" fmla="*/ 403373 w 605777"/>
              <a:gd name="connsiteY33" fmla="*/ 341166 h 520255"/>
              <a:gd name="connsiteX34" fmla="*/ 581374 w 605777"/>
              <a:gd name="connsiteY34" fmla="*/ 341166 h 520255"/>
              <a:gd name="connsiteX35" fmla="*/ 581374 w 605777"/>
              <a:gd name="connsiteY35" fmla="*/ 117545 h 520255"/>
              <a:gd name="connsiteX36" fmla="*/ 107662 w 605777"/>
              <a:gd name="connsiteY36" fmla="*/ 78841 h 520255"/>
              <a:gd name="connsiteX37" fmla="*/ 107662 w 605777"/>
              <a:gd name="connsiteY37" fmla="*/ 98909 h 520255"/>
              <a:gd name="connsiteX38" fmla="*/ 144985 w 605777"/>
              <a:gd name="connsiteY38" fmla="*/ 98909 h 520255"/>
              <a:gd name="connsiteX39" fmla="*/ 144985 w 605777"/>
              <a:gd name="connsiteY39" fmla="*/ 78841 h 520255"/>
              <a:gd name="connsiteX40" fmla="*/ 48807 w 605777"/>
              <a:gd name="connsiteY40" fmla="*/ 78841 h 520255"/>
              <a:gd name="connsiteX41" fmla="*/ 48807 w 605777"/>
              <a:gd name="connsiteY41" fmla="*/ 98909 h 520255"/>
              <a:gd name="connsiteX42" fmla="*/ 87565 w 605777"/>
              <a:gd name="connsiteY42" fmla="*/ 98909 h 520255"/>
              <a:gd name="connsiteX43" fmla="*/ 87565 w 605777"/>
              <a:gd name="connsiteY43" fmla="*/ 78841 h 520255"/>
              <a:gd name="connsiteX44" fmla="*/ 68904 w 605777"/>
              <a:gd name="connsiteY44" fmla="*/ 38704 h 520255"/>
              <a:gd name="connsiteX45" fmla="*/ 24403 w 605777"/>
              <a:gd name="connsiteY45" fmla="*/ 77407 h 520255"/>
              <a:gd name="connsiteX46" fmla="*/ 24403 w 605777"/>
              <a:gd name="connsiteY46" fmla="*/ 81708 h 520255"/>
              <a:gd name="connsiteX47" fmla="*/ 43065 w 605777"/>
              <a:gd name="connsiteY47" fmla="*/ 84575 h 520255"/>
              <a:gd name="connsiteX48" fmla="*/ 43065 w 605777"/>
              <a:gd name="connsiteY48" fmla="*/ 73107 h 520255"/>
              <a:gd name="connsiteX49" fmla="*/ 93307 w 605777"/>
              <a:gd name="connsiteY49" fmla="*/ 73107 h 520255"/>
              <a:gd name="connsiteX50" fmla="*/ 93307 w 605777"/>
              <a:gd name="connsiteY50" fmla="*/ 84575 h 520255"/>
              <a:gd name="connsiteX51" fmla="*/ 101920 w 605777"/>
              <a:gd name="connsiteY51" fmla="*/ 84575 h 520255"/>
              <a:gd name="connsiteX52" fmla="*/ 101920 w 605777"/>
              <a:gd name="connsiteY52" fmla="*/ 73107 h 520255"/>
              <a:gd name="connsiteX53" fmla="*/ 150726 w 605777"/>
              <a:gd name="connsiteY53" fmla="*/ 73107 h 520255"/>
              <a:gd name="connsiteX54" fmla="*/ 150726 w 605777"/>
              <a:gd name="connsiteY54" fmla="*/ 84575 h 520255"/>
              <a:gd name="connsiteX55" fmla="*/ 166517 w 605777"/>
              <a:gd name="connsiteY55" fmla="*/ 81708 h 520255"/>
              <a:gd name="connsiteX56" fmla="*/ 159339 w 605777"/>
              <a:gd name="connsiteY56" fmla="*/ 63073 h 520255"/>
              <a:gd name="connsiteX57" fmla="*/ 68904 w 605777"/>
              <a:gd name="connsiteY57" fmla="*/ 38704 h 520255"/>
              <a:gd name="connsiteX58" fmla="*/ 94742 w 605777"/>
              <a:gd name="connsiteY58" fmla="*/ 0 h 520255"/>
              <a:gd name="connsiteX59" fmla="*/ 180872 w 605777"/>
              <a:gd name="connsiteY59" fmla="*/ 134746 h 520255"/>
              <a:gd name="connsiteX60" fmla="*/ 175130 w 605777"/>
              <a:gd name="connsiteY60" fmla="*/ 172016 h 520255"/>
              <a:gd name="connsiteX61" fmla="*/ 202404 w 605777"/>
              <a:gd name="connsiteY61" fmla="*/ 177750 h 520255"/>
              <a:gd name="connsiteX62" fmla="*/ 202404 w 605777"/>
              <a:gd name="connsiteY62" fmla="*/ 117545 h 520255"/>
              <a:gd name="connsiteX63" fmla="*/ 190920 w 605777"/>
              <a:gd name="connsiteY63" fmla="*/ 117545 h 520255"/>
              <a:gd name="connsiteX64" fmla="*/ 190920 w 605777"/>
              <a:gd name="connsiteY64" fmla="*/ 93176 h 520255"/>
              <a:gd name="connsiteX65" fmla="*/ 202404 w 605777"/>
              <a:gd name="connsiteY65" fmla="*/ 93176 h 520255"/>
              <a:gd name="connsiteX66" fmla="*/ 371792 w 605777"/>
              <a:gd name="connsiteY66" fmla="*/ 93176 h 520255"/>
              <a:gd name="connsiteX67" fmla="*/ 371792 w 605777"/>
              <a:gd name="connsiteY67" fmla="*/ 73107 h 520255"/>
              <a:gd name="connsiteX68" fmla="*/ 420599 w 605777"/>
              <a:gd name="connsiteY68" fmla="*/ 73107 h 520255"/>
              <a:gd name="connsiteX69" fmla="*/ 420599 w 605777"/>
              <a:gd name="connsiteY69" fmla="*/ 93176 h 520255"/>
              <a:gd name="connsiteX70" fmla="*/ 598600 w 605777"/>
              <a:gd name="connsiteY70" fmla="*/ 93176 h 520255"/>
              <a:gd name="connsiteX71" fmla="*/ 605777 w 605777"/>
              <a:gd name="connsiteY71" fmla="*/ 93176 h 520255"/>
              <a:gd name="connsiteX72" fmla="*/ 605777 w 605777"/>
              <a:gd name="connsiteY72" fmla="*/ 117545 h 520255"/>
              <a:gd name="connsiteX73" fmla="*/ 598600 w 605777"/>
              <a:gd name="connsiteY73" fmla="*/ 117545 h 520255"/>
              <a:gd name="connsiteX74" fmla="*/ 598600 w 605777"/>
              <a:gd name="connsiteY74" fmla="*/ 358368 h 520255"/>
              <a:gd name="connsiteX75" fmla="*/ 403373 w 605777"/>
              <a:gd name="connsiteY75" fmla="*/ 358368 h 520255"/>
              <a:gd name="connsiteX76" fmla="*/ 403373 w 605777"/>
              <a:gd name="connsiteY76" fmla="*/ 402805 h 520255"/>
              <a:gd name="connsiteX77" fmla="*/ 500986 w 605777"/>
              <a:gd name="connsiteY77" fmla="*/ 511749 h 520255"/>
              <a:gd name="connsiteX78" fmla="*/ 465099 w 605777"/>
              <a:gd name="connsiteY78" fmla="*/ 511749 h 520255"/>
              <a:gd name="connsiteX79" fmla="*/ 400502 w 605777"/>
              <a:gd name="connsiteY79" fmla="*/ 438642 h 520255"/>
              <a:gd name="connsiteX80" fmla="*/ 400502 w 605777"/>
              <a:gd name="connsiteY80" fmla="*/ 511749 h 520255"/>
              <a:gd name="connsiteX81" fmla="*/ 380405 w 605777"/>
              <a:gd name="connsiteY81" fmla="*/ 511749 h 520255"/>
              <a:gd name="connsiteX82" fmla="*/ 380405 w 605777"/>
              <a:gd name="connsiteY82" fmla="*/ 438642 h 520255"/>
              <a:gd name="connsiteX83" fmla="*/ 315808 w 605777"/>
              <a:gd name="connsiteY83" fmla="*/ 511749 h 520255"/>
              <a:gd name="connsiteX84" fmla="*/ 281356 w 605777"/>
              <a:gd name="connsiteY84" fmla="*/ 511749 h 520255"/>
              <a:gd name="connsiteX85" fmla="*/ 377534 w 605777"/>
              <a:gd name="connsiteY85" fmla="*/ 402805 h 520255"/>
              <a:gd name="connsiteX86" fmla="*/ 377534 w 605777"/>
              <a:gd name="connsiteY86" fmla="*/ 358368 h 520255"/>
              <a:gd name="connsiteX87" fmla="*/ 202404 w 605777"/>
              <a:gd name="connsiteY87" fmla="*/ 358368 h 520255"/>
              <a:gd name="connsiteX88" fmla="*/ 202404 w 605777"/>
              <a:gd name="connsiteY88" fmla="*/ 230789 h 520255"/>
              <a:gd name="connsiteX89" fmla="*/ 147856 w 605777"/>
              <a:gd name="connsiteY89" fmla="*/ 223621 h 520255"/>
              <a:gd name="connsiteX90" fmla="*/ 139243 w 605777"/>
              <a:gd name="connsiteY90" fmla="*/ 273793 h 520255"/>
              <a:gd name="connsiteX91" fmla="*/ 147856 w 605777"/>
              <a:gd name="connsiteY91" fmla="*/ 333999 h 520255"/>
              <a:gd name="connsiteX92" fmla="*/ 123452 w 605777"/>
              <a:gd name="connsiteY92" fmla="*/ 333999 h 520255"/>
              <a:gd name="connsiteX93" fmla="*/ 99049 w 605777"/>
              <a:gd name="connsiteY93" fmla="*/ 333999 h 520255"/>
              <a:gd name="connsiteX94" fmla="*/ 99049 w 605777"/>
              <a:gd name="connsiteY94" fmla="*/ 227922 h 520255"/>
              <a:gd name="connsiteX95" fmla="*/ 123452 w 605777"/>
              <a:gd name="connsiteY95" fmla="*/ 183484 h 520255"/>
              <a:gd name="connsiteX96" fmla="*/ 114839 w 605777"/>
              <a:gd name="connsiteY96" fmla="*/ 179184 h 520255"/>
              <a:gd name="connsiteX97" fmla="*/ 114839 w 605777"/>
              <a:gd name="connsiteY97" fmla="*/ 153381 h 520255"/>
              <a:gd name="connsiteX98" fmla="*/ 166517 w 605777"/>
              <a:gd name="connsiteY98" fmla="*/ 90309 h 520255"/>
              <a:gd name="connsiteX99" fmla="*/ 150726 w 605777"/>
              <a:gd name="connsiteY99" fmla="*/ 93176 h 520255"/>
              <a:gd name="connsiteX100" fmla="*/ 150726 w 605777"/>
              <a:gd name="connsiteY100" fmla="*/ 103210 h 520255"/>
              <a:gd name="connsiteX101" fmla="*/ 101920 w 605777"/>
              <a:gd name="connsiteY101" fmla="*/ 103210 h 520255"/>
              <a:gd name="connsiteX102" fmla="*/ 101920 w 605777"/>
              <a:gd name="connsiteY102" fmla="*/ 96043 h 520255"/>
              <a:gd name="connsiteX103" fmla="*/ 93307 w 605777"/>
              <a:gd name="connsiteY103" fmla="*/ 96043 h 520255"/>
              <a:gd name="connsiteX104" fmla="*/ 93307 w 605777"/>
              <a:gd name="connsiteY104" fmla="*/ 103210 h 520255"/>
              <a:gd name="connsiteX105" fmla="*/ 43065 w 605777"/>
              <a:gd name="connsiteY105" fmla="*/ 103210 h 520255"/>
              <a:gd name="connsiteX106" fmla="*/ 43065 w 605777"/>
              <a:gd name="connsiteY106" fmla="*/ 91742 h 520255"/>
              <a:gd name="connsiteX107" fmla="*/ 24403 w 605777"/>
              <a:gd name="connsiteY107" fmla="*/ 88875 h 520255"/>
              <a:gd name="connsiteX108" fmla="*/ 74646 w 605777"/>
              <a:gd name="connsiteY108" fmla="*/ 151948 h 520255"/>
              <a:gd name="connsiteX109" fmla="*/ 74646 w 605777"/>
              <a:gd name="connsiteY109" fmla="*/ 179184 h 520255"/>
              <a:gd name="connsiteX110" fmla="*/ 67468 w 605777"/>
              <a:gd name="connsiteY110" fmla="*/ 182051 h 520255"/>
              <a:gd name="connsiteX111" fmla="*/ 93307 w 605777"/>
              <a:gd name="connsiteY111" fmla="*/ 229355 h 520255"/>
              <a:gd name="connsiteX112" fmla="*/ 93307 w 605777"/>
              <a:gd name="connsiteY112" fmla="*/ 333999 h 520255"/>
              <a:gd name="connsiteX113" fmla="*/ 45936 w 605777"/>
              <a:gd name="connsiteY113" fmla="*/ 333999 h 520255"/>
              <a:gd name="connsiteX114" fmla="*/ 53113 w 605777"/>
              <a:gd name="connsiteY114" fmla="*/ 276660 h 520255"/>
              <a:gd name="connsiteX115" fmla="*/ 40194 w 605777"/>
              <a:gd name="connsiteY115" fmla="*/ 232222 h 520255"/>
              <a:gd name="connsiteX116" fmla="*/ 28710 w 605777"/>
              <a:gd name="connsiteY116" fmla="*/ 318230 h 520255"/>
              <a:gd name="connsiteX117" fmla="*/ 0 w 605777"/>
              <a:gd name="connsiteY117" fmla="*/ 316797 h 520255"/>
              <a:gd name="connsiteX118" fmla="*/ 12919 w 605777"/>
              <a:gd name="connsiteY118" fmla="*/ 194952 h 520255"/>
              <a:gd name="connsiteX119" fmla="*/ 5742 w 605777"/>
              <a:gd name="connsiteY119" fmla="*/ 87442 h 520255"/>
              <a:gd name="connsiteX120" fmla="*/ 48807 w 605777"/>
              <a:gd name="connsiteY120" fmla="*/ 12901 h 520255"/>
              <a:gd name="connsiteX121" fmla="*/ 60291 w 605777"/>
              <a:gd name="connsiteY121" fmla="*/ 11468 h 520255"/>
              <a:gd name="connsiteX122" fmla="*/ 68904 w 605777"/>
              <a:gd name="connsiteY122" fmla="*/ 2867 h 520255"/>
              <a:gd name="connsiteX123" fmla="*/ 94742 w 605777"/>
              <a:gd name="connsiteY123" fmla="*/ 0 h 520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605777" h="520255">
                <a:moveTo>
                  <a:pt x="45866" y="339787"/>
                </a:moveTo>
                <a:lnTo>
                  <a:pt x="147937" y="341219"/>
                </a:lnTo>
                <a:lnTo>
                  <a:pt x="150812" y="408537"/>
                </a:lnTo>
                <a:lnTo>
                  <a:pt x="130685" y="408537"/>
                </a:lnTo>
                <a:lnTo>
                  <a:pt x="133561" y="447208"/>
                </a:lnTo>
                <a:lnTo>
                  <a:pt x="129248" y="501635"/>
                </a:lnTo>
                <a:cubicBezTo>
                  <a:pt x="142186" y="501635"/>
                  <a:pt x="150812" y="504500"/>
                  <a:pt x="150812" y="510229"/>
                </a:cubicBezTo>
                <a:cubicBezTo>
                  <a:pt x="150812" y="517390"/>
                  <a:pt x="136436" y="520255"/>
                  <a:pt x="136436" y="520255"/>
                </a:cubicBezTo>
                <a:lnTo>
                  <a:pt x="127810" y="520255"/>
                </a:lnTo>
                <a:lnTo>
                  <a:pt x="104808" y="520255"/>
                </a:lnTo>
                <a:lnTo>
                  <a:pt x="103371" y="520255"/>
                </a:lnTo>
                <a:lnTo>
                  <a:pt x="103371" y="511661"/>
                </a:lnTo>
                <a:cubicBezTo>
                  <a:pt x="103371" y="508797"/>
                  <a:pt x="104808" y="507364"/>
                  <a:pt x="106246" y="505932"/>
                </a:cubicBezTo>
                <a:lnTo>
                  <a:pt x="111996" y="447208"/>
                </a:lnTo>
                <a:lnTo>
                  <a:pt x="109121" y="408537"/>
                </a:lnTo>
                <a:lnTo>
                  <a:pt x="96183" y="408537"/>
                </a:lnTo>
                <a:lnTo>
                  <a:pt x="96183" y="507364"/>
                </a:lnTo>
                <a:cubicBezTo>
                  <a:pt x="97620" y="508797"/>
                  <a:pt x="97620" y="510229"/>
                  <a:pt x="97620" y="511661"/>
                </a:cubicBezTo>
                <a:lnTo>
                  <a:pt x="97620" y="520255"/>
                </a:lnTo>
                <a:lnTo>
                  <a:pt x="96183" y="520255"/>
                </a:lnTo>
                <a:lnTo>
                  <a:pt x="74618" y="520255"/>
                </a:lnTo>
                <a:lnTo>
                  <a:pt x="65993" y="520255"/>
                </a:lnTo>
                <a:cubicBezTo>
                  <a:pt x="65993" y="520255"/>
                  <a:pt x="51617" y="517390"/>
                  <a:pt x="51617" y="510229"/>
                </a:cubicBezTo>
                <a:cubicBezTo>
                  <a:pt x="51617" y="504500"/>
                  <a:pt x="60242" y="501635"/>
                  <a:pt x="74618" y="501635"/>
                </a:cubicBezTo>
                <a:lnTo>
                  <a:pt x="74618" y="408537"/>
                </a:lnTo>
                <a:lnTo>
                  <a:pt x="42991" y="408537"/>
                </a:lnTo>
                <a:close/>
                <a:moveTo>
                  <a:pt x="219630" y="117545"/>
                </a:moveTo>
                <a:lnTo>
                  <a:pt x="219630" y="182051"/>
                </a:lnTo>
                <a:lnTo>
                  <a:pt x="285663" y="197819"/>
                </a:lnTo>
                <a:lnTo>
                  <a:pt x="285663" y="240823"/>
                </a:lnTo>
                <a:lnTo>
                  <a:pt x="219630" y="233656"/>
                </a:lnTo>
                <a:lnTo>
                  <a:pt x="219630" y="341166"/>
                </a:lnTo>
                <a:lnTo>
                  <a:pt x="377534" y="341166"/>
                </a:lnTo>
                <a:lnTo>
                  <a:pt x="403373" y="341166"/>
                </a:lnTo>
                <a:lnTo>
                  <a:pt x="581374" y="341166"/>
                </a:lnTo>
                <a:lnTo>
                  <a:pt x="581374" y="117545"/>
                </a:lnTo>
                <a:close/>
                <a:moveTo>
                  <a:pt x="107662" y="78841"/>
                </a:moveTo>
                <a:lnTo>
                  <a:pt x="107662" y="98909"/>
                </a:lnTo>
                <a:lnTo>
                  <a:pt x="144985" y="98909"/>
                </a:lnTo>
                <a:lnTo>
                  <a:pt x="144985" y="78841"/>
                </a:lnTo>
                <a:close/>
                <a:moveTo>
                  <a:pt x="48807" y="78841"/>
                </a:moveTo>
                <a:lnTo>
                  <a:pt x="48807" y="98909"/>
                </a:lnTo>
                <a:lnTo>
                  <a:pt x="87565" y="98909"/>
                </a:lnTo>
                <a:lnTo>
                  <a:pt x="87565" y="78841"/>
                </a:lnTo>
                <a:close/>
                <a:moveTo>
                  <a:pt x="68904" y="38704"/>
                </a:moveTo>
                <a:cubicBezTo>
                  <a:pt x="67468" y="60206"/>
                  <a:pt x="44500" y="75974"/>
                  <a:pt x="24403" y="77407"/>
                </a:cubicBezTo>
                <a:cubicBezTo>
                  <a:pt x="24403" y="78841"/>
                  <a:pt x="24403" y="80274"/>
                  <a:pt x="24403" y="81708"/>
                </a:cubicBezTo>
                <a:lnTo>
                  <a:pt x="43065" y="84575"/>
                </a:lnTo>
                <a:lnTo>
                  <a:pt x="43065" y="73107"/>
                </a:lnTo>
                <a:lnTo>
                  <a:pt x="93307" y="73107"/>
                </a:lnTo>
                <a:lnTo>
                  <a:pt x="93307" y="84575"/>
                </a:lnTo>
                <a:lnTo>
                  <a:pt x="101920" y="84575"/>
                </a:lnTo>
                <a:lnTo>
                  <a:pt x="101920" y="73107"/>
                </a:lnTo>
                <a:lnTo>
                  <a:pt x="150726" y="73107"/>
                </a:lnTo>
                <a:lnTo>
                  <a:pt x="150726" y="84575"/>
                </a:lnTo>
                <a:lnTo>
                  <a:pt x="166517" y="81708"/>
                </a:lnTo>
                <a:cubicBezTo>
                  <a:pt x="166517" y="71674"/>
                  <a:pt x="163646" y="64506"/>
                  <a:pt x="159339" y="63073"/>
                </a:cubicBezTo>
                <a:cubicBezTo>
                  <a:pt x="129194" y="60206"/>
                  <a:pt x="93307" y="58772"/>
                  <a:pt x="68904" y="38704"/>
                </a:cubicBezTo>
                <a:close/>
                <a:moveTo>
                  <a:pt x="94742" y="0"/>
                </a:moveTo>
                <a:cubicBezTo>
                  <a:pt x="185178" y="0"/>
                  <a:pt x="182307" y="103210"/>
                  <a:pt x="180872" y="134746"/>
                </a:cubicBezTo>
                <a:cubicBezTo>
                  <a:pt x="180872" y="153381"/>
                  <a:pt x="176565" y="159115"/>
                  <a:pt x="175130" y="172016"/>
                </a:cubicBezTo>
                <a:lnTo>
                  <a:pt x="202404" y="177750"/>
                </a:lnTo>
                <a:lnTo>
                  <a:pt x="202404" y="117545"/>
                </a:lnTo>
                <a:lnTo>
                  <a:pt x="190920" y="117545"/>
                </a:lnTo>
                <a:lnTo>
                  <a:pt x="190920" y="93176"/>
                </a:lnTo>
                <a:lnTo>
                  <a:pt x="202404" y="93176"/>
                </a:lnTo>
                <a:lnTo>
                  <a:pt x="371792" y="93176"/>
                </a:lnTo>
                <a:lnTo>
                  <a:pt x="371792" y="73107"/>
                </a:lnTo>
                <a:lnTo>
                  <a:pt x="420599" y="73107"/>
                </a:lnTo>
                <a:lnTo>
                  <a:pt x="420599" y="93176"/>
                </a:lnTo>
                <a:lnTo>
                  <a:pt x="598600" y="93176"/>
                </a:lnTo>
                <a:lnTo>
                  <a:pt x="605777" y="93176"/>
                </a:lnTo>
                <a:lnTo>
                  <a:pt x="605777" y="117545"/>
                </a:lnTo>
                <a:lnTo>
                  <a:pt x="598600" y="117545"/>
                </a:lnTo>
                <a:lnTo>
                  <a:pt x="598600" y="358368"/>
                </a:lnTo>
                <a:lnTo>
                  <a:pt x="403373" y="358368"/>
                </a:lnTo>
                <a:lnTo>
                  <a:pt x="403373" y="402805"/>
                </a:lnTo>
                <a:lnTo>
                  <a:pt x="500986" y="511749"/>
                </a:lnTo>
                <a:lnTo>
                  <a:pt x="465099" y="511749"/>
                </a:lnTo>
                <a:lnTo>
                  <a:pt x="400502" y="438642"/>
                </a:lnTo>
                <a:lnTo>
                  <a:pt x="400502" y="511749"/>
                </a:lnTo>
                <a:lnTo>
                  <a:pt x="380405" y="511749"/>
                </a:lnTo>
                <a:lnTo>
                  <a:pt x="380405" y="438642"/>
                </a:lnTo>
                <a:lnTo>
                  <a:pt x="315808" y="511749"/>
                </a:lnTo>
                <a:lnTo>
                  <a:pt x="281356" y="511749"/>
                </a:lnTo>
                <a:lnTo>
                  <a:pt x="377534" y="402805"/>
                </a:lnTo>
                <a:lnTo>
                  <a:pt x="377534" y="358368"/>
                </a:lnTo>
                <a:lnTo>
                  <a:pt x="202404" y="358368"/>
                </a:lnTo>
                <a:lnTo>
                  <a:pt x="202404" y="230789"/>
                </a:lnTo>
                <a:lnTo>
                  <a:pt x="147856" y="223621"/>
                </a:lnTo>
                <a:cubicBezTo>
                  <a:pt x="142114" y="249424"/>
                  <a:pt x="139243" y="273793"/>
                  <a:pt x="139243" y="273793"/>
                </a:cubicBezTo>
                <a:lnTo>
                  <a:pt x="147856" y="333999"/>
                </a:lnTo>
                <a:lnTo>
                  <a:pt x="123452" y="333999"/>
                </a:lnTo>
                <a:lnTo>
                  <a:pt x="99049" y="333999"/>
                </a:lnTo>
                <a:lnTo>
                  <a:pt x="99049" y="227922"/>
                </a:lnTo>
                <a:lnTo>
                  <a:pt x="123452" y="183484"/>
                </a:lnTo>
                <a:lnTo>
                  <a:pt x="114839" y="179184"/>
                </a:lnTo>
                <a:lnTo>
                  <a:pt x="114839" y="153381"/>
                </a:lnTo>
                <a:cubicBezTo>
                  <a:pt x="153597" y="149081"/>
                  <a:pt x="166517" y="114678"/>
                  <a:pt x="166517" y="90309"/>
                </a:cubicBezTo>
                <a:lnTo>
                  <a:pt x="150726" y="93176"/>
                </a:lnTo>
                <a:lnTo>
                  <a:pt x="150726" y="103210"/>
                </a:lnTo>
                <a:lnTo>
                  <a:pt x="101920" y="103210"/>
                </a:lnTo>
                <a:lnTo>
                  <a:pt x="101920" y="96043"/>
                </a:lnTo>
                <a:lnTo>
                  <a:pt x="93307" y="96043"/>
                </a:lnTo>
                <a:lnTo>
                  <a:pt x="93307" y="103210"/>
                </a:lnTo>
                <a:lnTo>
                  <a:pt x="43065" y="103210"/>
                </a:lnTo>
                <a:lnTo>
                  <a:pt x="43065" y="91742"/>
                </a:lnTo>
                <a:lnTo>
                  <a:pt x="24403" y="88875"/>
                </a:lnTo>
                <a:cubicBezTo>
                  <a:pt x="25839" y="118978"/>
                  <a:pt x="47371" y="143347"/>
                  <a:pt x="74646" y="151948"/>
                </a:cubicBezTo>
                <a:lnTo>
                  <a:pt x="74646" y="179184"/>
                </a:lnTo>
                <a:lnTo>
                  <a:pt x="67468" y="182051"/>
                </a:lnTo>
                <a:lnTo>
                  <a:pt x="93307" y="229355"/>
                </a:lnTo>
                <a:lnTo>
                  <a:pt x="93307" y="333999"/>
                </a:lnTo>
                <a:lnTo>
                  <a:pt x="45936" y="333999"/>
                </a:lnTo>
                <a:lnTo>
                  <a:pt x="53113" y="276660"/>
                </a:lnTo>
                <a:cubicBezTo>
                  <a:pt x="53113" y="276660"/>
                  <a:pt x="45936" y="255158"/>
                  <a:pt x="40194" y="232222"/>
                </a:cubicBezTo>
                <a:lnTo>
                  <a:pt x="28710" y="318230"/>
                </a:lnTo>
                <a:lnTo>
                  <a:pt x="0" y="316797"/>
                </a:lnTo>
                <a:lnTo>
                  <a:pt x="12919" y="194952"/>
                </a:lnTo>
                <a:lnTo>
                  <a:pt x="5742" y="87442"/>
                </a:lnTo>
                <a:cubicBezTo>
                  <a:pt x="5742" y="87442"/>
                  <a:pt x="4306" y="34403"/>
                  <a:pt x="48807" y="12901"/>
                </a:cubicBezTo>
                <a:cubicBezTo>
                  <a:pt x="51678" y="11468"/>
                  <a:pt x="57420" y="12901"/>
                  <a:pt x="60291" y="11468"/>
                </a:cubicBezTo>
                <a:cubicBezTo>
                  <a:pt x="63162" y="10034"/>
                  <a:pt x="64597" y="5734"/>
                  <a:pt x="68904" y="2867"/>
                </a:cubicBezTo>
                <a:cubicBezTo>
                  <a:pt x="73210" y="1433"/>
                  <a:pt x="84694" y="0"/>
                  <a:pt x="94742" y="0"/>
                </a:cubicBezTo>
                <a:close/>
              </a:path>
            </a:pathLst>
          </a:custGeom>
          <a:solidFill>
            <a:srgbClr val="C10000"/>
          </a:solidFill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176" y="260648"/>
            <a:ext cx="2660986" cy="61098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7713" y="4631201"/>
            <a:ext cx="1809708" cy="1793067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753993536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yu_讲义模板">
  <a:themeElements>
    <a:clrScheme name="1_讲义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讲义模板">
      <a:majorFont>
        <a:latin typeface="Book Antiqua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1_讲义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讲义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讲义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讲义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讲义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讲义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讲义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讲义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讲义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讲义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讲义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讲义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[2021]_报告PPT模版_V2" id="{8EC8653A-606D-47E4-A478-266612CD6098}" vid="{7E307012-7BE2-4DF2-B728-4130463293FE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[2021]_报告PPT模版_V2</Template>
  <TotalTime>750</TotalTime>
  <Words>2763</Words>
  <Application>Microsoft Office PowerPoint</Application>
  <PresentationFormat>全屏显示(4:3)</PresentationFormat>
  <Paragraphs>648</Paragraphs>
  <Slides>62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62</vt:i4>
      </vt:variant>
    </vt:vector>
  </HeadingPairs>
  <TitlesOfParts>
    <vt:vector size="83" baseType="lpstr">
      <vt:lpstr>Yu Gothic UI Semilight</vt:lpstr>
      <vt:lpstr>等线</vt:lpstr>
      <vt:lpstr>仿宋</vt:lpstr>
      <vt:lpstr>华文仿宋</vt:lpstr>
      <vt:lpstr>华文楷体</vt:lpstr>
      <vt:lpstr>华文中宋</vt:lpstr>
      <vt:lpstr>楷体</vt:lpstr>
      <vt:lpstr>楷体_GB2312</vt:lpstr>
      <vt:lpstr>思源黑体 CN Medium</vt:lpstr>
      <vt:lpstr>宋体</vt:lpstr>
      <vt:lpstr>微软雅黑</vt:lpstr>
      <vt:lpstr>幼圆</vt:lpstr>
      <vt:lpstr>Arial</vt:lpstr>
      <vt:lpstr>Book Antiqua</vt:lpstr>
      <vt:lpstr>Calibri</vt:lpstr>
      <vt:lpstr>Cambria Math</vt:lpstr>
      <vt:lpstr>Times New Roman</vt:lpstr>
      <vt:lpstr>Verdana</vt:lpstr>
      <vt:lpstr>Wingdings</vt:lpstr>
      <vt:lpstr>Wingdings 2</vt:lpstr>
      <vt:lpstr>yu_讲义模板</vt:lpstr>
      <vt:lpstr>PowerPoint 演示文稿</vt:lpstr>
      <vt:lpstr>内容</vt:lpstr>
      <vt:lpstr>1. 大数据驱动的管理决策 </vt:lpstr>
      <vt:lpstr>大数据驱动的管理决策-科学问题范式</vt:lpstr>
      <vt:lpstr>大数据赋能管理</vt:lpstr>
      <vt:lpstr>大数据时代的双子星</vt:lpstr>
      <vt:lpstr>数据智能（大数据分析）</vt:lpstr>
      <vt:lpstr>机器学习（预测）问题范式</vt:lpstr>
      <vt:lpstr>机器学习</vt:lpstr>
      <vt:lpstr>大数据应用：个性化推荐</vt:lpstr>
      <vt:lpstr>2. 研究写作方法论 </vt:lpstr>
      <vt:lpstr>研究范式</vt:lpstr>
      <vt:lpstr>研究基本框架</vt:lpstr>
      <vt:lpstr>两种故事</vt:lpstr>
      <vt:lpstr>如何设计展示你的研究</vt:lpstr>
      <vt:lpstr>研究设计（研究套路）</vt:lpstr>
      <vt:lpstr>研究套路 之一：研究动机</vt:lpstr>
      <vt:lpstr>研究套路 之二：研究方案</vt:lpstr>
      <vt:lpstr>研究套路 之三：实验论证</vt:lpstr>
      <vt:lpstr>套路总结</vt:lpstr>
      <vt:lpstr>PowerPoint 演示文稿</vt:lpstr>
      <vt:lpstr>关键：论文研究逻辑链</vt:lpstr>
      <vt:lpstr>写作逻辑规范</vt:lpstr>
      <vt:lpstr>论文排版规范</vt:lpstr>
      <vt:lpstr>PowerPoint 演示文稿</vt:lpstr>
      <vt:lpstr>PowerPoint 演示文稿</vt:lpstr>
      <vt:lpstr>PowerPoint 演示文稿</vt:lpstr>
      <vt:lpstr>PowerPoint 演示文稿</vt:lpstr>
      <vt:lpstr>样例1：研究设计</vt:lpstr>
      <vt:lpstr>研究背景与意义</vt:lpstr>
      <vt:lpstr>研究现状</vt:lpstr>
      <vt:lpstr>研究现状</vt:lpstr>
      <vt:lpstr>研究视角与思路</vt:lpstr>
      <vt:lpstr>研究内容</vt:lpstr>
      <vt:lpstr>（一）用户行为分析与偏好建模</vt:lpstr>
      <vt:lpstr>用户行为分析 – 评论</vt:lpstr>
      <vt:lpstr>用户行为分析 – 偏好 </vt:lpstr>
      <vt:lpstr>用户多维度偏好建模</vt:lpstr>
      <vt:lpstr>景点距离敏感的用户位置状态学习 </vt:lpstr>
      <vt:lpstr>游览顺序敏感的用户路线状态学习 </vt:lpstr>
      <vt:lpstr>（二）基于Actor-Critic景点推荐模型</vt:lpstr>
      <vt:lpstr>基于Actor-Critic框架的景点推荐系统 </vt:lpstr>
      <vt:lpstr>TRACE模型 - Actor结构 </vt:lpstr>
      <vt:lpstr>TRACE模型 - Critic结构 </vt:lpstr>
      <vt:lpstr>（三）实验设计评估</vt:lpstr>
      <vt:lpstr>基准模型</vt:lpstr>
      <vt:lpstr>离线实验结果</vt:lpstr>
      <vt:lpstr>样例2：写作规范</vt:lpstr>
      <vt:lpstr>摘要</vt:lpstr>
      <vt:lpstr>(1) 问题背景</vt:lpstr>
      <vt:lpstr>(2) 传统GAP</vt:lpstr>
      <vt:lpstr>(2) 传统GAP</vt:lpstr>
      <vt:lpstr>(3) 前沿GAP</vt:lpstr>
      <vt:lpstr>(4) 研究思路</vt:lpstr>
      <vt:lpstr>(5) 研究内容</vt:lpstr>
      <vt:lpstr>(6) 研究贡献</vt:lpstr>
      <vt:lpstr>设计理念</vt:lpstr>
      <vt:lpstr>理念落实</vt:lpstr>
      <vt:lpstr>模型提出</vt:lpstr>
      <vt:lpstr>模型评估</vt:lpstr>
      <vt:lpstr>总结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yuli</dc:creator>
  <cp:lastModifiedBy>yuli</cp:lastModifiedBy>
  <cp:revision>102</cp:revision>
  <dcterms:created xsi:type="dcterms:W3CDTF">2021-09-11T11:16:46Z</dcterms:created>
  <dcterms:modified xsi:type="dcterms:W3CDTF">2024-06-16T11:08:28Z</dcterms:modified>
</cp:coreProperties>
</file>