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tags/tag1.xml" ContentType="application/vnd.openxmlformats-officedocument.presentationml.tags+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6" r:id="rId1"/>
  </p:sldMasterIdLst>
  <p:notesMasterIdLst>
    <p:notesMasterId r:id="rId36"/>
  </p:notesMasterIdLst>
  <p:handoutMasterIdLst>
    <p:handoutMasterId r:id="rId37"/>
  </p:handoutMasterIdLst>
  <p:sldIdLst>
    <p:sldId id="1012" r:id="rId2"/>
    <p:sldId id="1014" r:id="rId3"/>
    <p:sldId id="1015" r:id="rId4"/>
    <p:sldId id="1016" r:id="rId5"/>
    <p:sldId id="1017" r:id="rId6"/>
    <p:sldId id="1018" r:id="rId7"/>
    <p:sldId id="1019" r:id="rId8"/>
    <p:sldId id="1020" r:id="rId9"/>
    <p:sldId id="1021" r:id="rId10"/>
    <p:sldId id="1022" r:id="rId11"/>
    <p:sldId id="1023" r:id="rId12"/>
    <p:sldId id="1024" r:id="rId13"/>
    <p:sldId id="1025" r:id="rId14"/>
    <p:sldId id="1026" r:id="rId15"/>
    <p:sldId id="1028" r:id="rId16"/>
    <p:sldId id="1029" r:id="rId17"/>
    <p:sldId id="1030" r:id="rId18"/>
    <p:sldId id="1031" r:id="rId19"/>
    <p:sldId id="1047" r:id="rId20"/>
    <p:sldId id="1033" r:id="rId21"/>
    <p:sldId id="1034" r:id="rId22"/>
    <p:sldId id="1035" r:id="rId23"/>
    <p:sldId id="1036" r:id="rId24"/>
    <p:sldId id="1037" r:id="rId25"/>
    <p:sldId id="1038" r:id="rId26"/>
    <p:sldId id="1039" r:id="rId27"/>
    <p:sldId id="1040" r:id="rId28"/>
    <p:sldId id="1041" r:id="rId29"/>
    <p:sldId id="1042" r:id="rId30"/>
    <p:sldId id="1043" r:id="rId31"/>
    <p:sldId id="1046" r:id="rId32"/>
    <p:sldId id="1045" r:id="rId33"/>
    <p:sldId id="1005" r:id="rId34"/>
    <p:sldId id="815" r:id="rId35"/>
  </p:sldIdLst>
  <p:sldSz cx="9144000" cy="6858000" type="screen4x3"/>
  <p:notesSz cx="6858000" cy="9144000"/>
  <p:defaultTextStyle>
    <a:defPPr>
      <a:defRPr lang="zh-CN"/>
    </a:defPPr>
    <a:lvl1pPr algn="l" rtl="0" eaLnBrk="0" fontAlgn="base" hangingPunct="0">
      <a:spcBef>
        <a:spcPct val="0"/>
      </a:spcBef>
      <a:spcAft>
        <a:spcPct val="0"/>
      </a:spcAft>
      <a:defRPr sz="2000" b="1" kern="1200">
        <a:solidFill>
          <a:schemeClr val="tx1"/>
        </a:solidFill>
        <a:latin typeface="Arial" panose="020B0604020202020204" pitchFamily="34" charset="0"/>
        <a:ea typeface="楷体_GB2312" pitchFamily="49" charset="-122"/>
        <a:cs typeface="+mn-cs"/>
      </a:defRPr>
    </a:lvl1pPr>
    <a:lvl2pPr marL="457200" algn="l" rtl="0" eaLnBrk="0" fontAlgn="base" hangingPunct="0">
      <a:spcBef>
        <a:spcPct val="0"/>
      </a:spcBef>
      <a:spcAft>
        <a:spcPct val="0"/>
      </a:spcAft>
      <a:defRPr sz="2000" b="1" kern="1200">
        <a:solidFill>
          <a:schemeClr val="tx1"/>
        </a:solidFill>
        <a:latin typeface="Arial" panose="020B0604020202020204" pitchFamily="34" charset="0"/>
        <a:ea typeface="楷体_GB2312" pitchFamily="49" charset="-122"/>
        <a:cs typeface="+mn-cs"/>
      </a:defRPr>
    </a:lvl2pPr>
    <a:lvl3pPr marL="914400" algn="l" rtl="0" eaLnBrk="0" fontAlgn="base" hangingPunct="0">
      <a:spcBef>
        <a:spcPct val="0"/>
      </a:spcBef>
      <a:spcAft>
        <a:spcPct val="0"/>
      </a:spcAft>
      <a:defRPr sz="2000" b="1" kern="1200">
        <a:solidFill>
          <a:schemeClr val="tx1"/>
        </a:solidFill>
        <a:latin typeface="Arial" panose="020B0604020202020204" pitchFamily="34" charset="0"/>
        <a:ea typeface="楷体_GB2312" pitchFamily="49" charset="-122"/>
        <a:cs typeface="+mn-cs"/>
      </a:defRPr>
    </a:lvl3pPr>
    <a:lvl4pPr marL="1371600" algn="l" rtl="0" eaLnBrk="0" fontAlgn="base" hangingPunct="0">
      <a:spcBef>
        <a:spcPct val="0"/>
      </a:spcBef>
      <a:spcAft>
        <a:spcPct val="0"/>
      </a:spcAft>
      <a:defRPr sz="2000" b="1" kern="1200">
        <a:solidFill>
          <a:schemeClr val="tx1"/>
        </a:solidFill>
        <a:latin typeface="Arial" panose="020B0604020202020204" pitchFamily="34" charset="0"/>
        <a:ea typeface="楷体_GB2312" pitchFamily="49" charset="-122"/>
        <a:cs typeface="+mn-cs"/>
      </a:defRPr>
    </a:lvl4pPr>
    <a:lvl5pPr marL="1828800" algn="l" rtl="0" eaLnBrk="0" fontAlgn="base" hangingPunct="0">
      <a:spcBef>
        <a:spcPct val="0"/>
      </a:spcBef>
      <a:spcAft>
        <a:spcPct val="0"/>
      </a:spcAft>
      <a:defRPr sz="2000" b="1" kern="1200">
        <a:solidFill>
          <a:schemeClr val="tx1"/>
        </a:solidFill>
        <a:latin typeface="Arial" panose="020B0604020202020204" pitchFamily="34" charset="0"/>
        <a:ea typeface="楷体_GB2312" pitchFamily="49" charset="-122"/>
        <a:cs typeface="+mn-cs"/>
      </a:defRPr>
    </a:lvl5pPr>
    <a:lvl6pPr marL="2286000" algn="l" defTabSz="914400" rtl="0" eaLnBrk="1" latinLnBrk="0" hangingPunct="1">
      <a:defRPr sz="2000" b="1" kern="1200">
        <a:solidFill>
          <a:schemeClr val="tx1"/>
        </a:solidFill>
        <a:latin typeface="Arial" panose="020B0604020202020204" pitchFamily="34" charset="0"/>
        <a:ea typeface="楷体_GB2312" pitchFamily="49" charset="-122"/>
        <a:cs typeface="+mn-cs"/>
      </a:defRPr>
    </a:lvl6pPr>
    <a:lvl7pPr marL="2743200" algn="l" defTabSz="914400" rtl="0" eaLnBrk="1" latinLnBrk="0" hangingPunct="1">
      <a:defRPr sz="2000" b="1" kern="1200">
        <a:solidFill>
          <a:schemeClr val="tx1"/>
        </a:solidFill>
        <a:latin typeface="Arial" panose="020B0604020202020204" pitchFamily="34" charset="0"/>
        <a:ea typeface="楷体_GB2312" pitchFamily="49" charset="-122"/>
        <a:cs typeface="+mn-cs"/>
      </a:defRPr>
    </a:lvl7pPr>
    <a:lvl8pPr marL="3200400" algn="l" defTabSz="914400" rtl="0" eaLnBrk="1" latinLnBrk="0" hangingPunct="1">
      <a:defRPr sz="2000" b="1" kern="1200">
        <a:solidFill>
          <a:schemeClr val="tx1"/>
        </a:solidFill>
        <a:latin typeface="Arial" panose="020B0604020202020204" pitchFamily="34" charset="0"/>
        <a:ea typeface="楷体_GB2312" pitchFamily="49" charset="-122"/>
        <a:cs typeface="+mn-cs"/>
      </a:defRPr>
    </a:lvl8pPr>
    <a:lvl9pPr marL="3657600" algn="l" defTabSz="914400" rtl="0" eaLnBrk="1" latinLnBrk="0" hangingPunct="1">
      <a:defRPr sz="2000" b="1" kern="1200">
        <a:solidFill>
          <a:schemeClr val="tx1"/>
        </a:solidFill>
        <a:latin typeface="Arial" panose="020B0604020202020204" pitchFamily="34" charset="0"/>
        <a:ea typeface="楷体_GB2312" pitchFamily="49" charset="-122"/>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srgbClr val="FF0000"/>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0"/>
      </p:ext>
    </p:extLst>
  </p:showPr>
  <p:clrMru>
    <a:srgbClr val="0000FF"/>
    <a:srgbClr val="CCFFCC"/>
    <a:srgbClr val="2DE3B8"/>
    <a:srgbClr val="56E8C5"/>
    <a:srgbClr val="3BE5BD"/>
    <a:srgbClr val="35E2EB"/>
    <a:srgbClr val="00CC00"/>
    <a:srgbClr val="CC0099"/>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无样式，网格型">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62" autoAdjust="0"/>
    <p:restoredTop sz="94322" autoAdjust="0"/>
  </p:normalViewPr>
  <p:slideViewPr>
    <p:cSldViewPr>
      <p:cViewPr varScale="1">
        <p:scale>
          <a:sx n="69" d="100"/>
          <a:sy n="69" d="100"/>
        </p:scale>
        <p:origin x="1332" y="72"/>
      </p:cViewPr>
      <p:guideLst>
        <p:guide orient="horz" pos="2160"/>
        <p:guide pos="2880"/>
      </p:guideLst>
    </p:cSldViewPr>
  </p:slideViewPr>
  <p:notesTextViewPr>
    <p:cViewPr>
      <p:scale>
        <a:sx n="100" d="100"/>
        <a:sy n="100" d="100"/>
      </p:scale>
      <p:origin x="0" y="0"/>
    </p:cViewPr>
  </p:notesTextViewPr>
  <p:sorterViewPr>
    <p:cViewPr>
      <p:scale>
        <a:sx n="66" d="100"/>
        <a:sy n="66" d="100"/>
      </p:scale>
      <p:origin x="0" y="0"/>
    </p:cViewPr>
  </p:sorterViewPr>
  <p:notesViewPr>
    <p:cSldViewPr>
      <p:cViewPr varScale="1">
        <p:scale>
          <a:sx n="53" d="100"/>
          <a:sy n="53" d="100"/>
        </p:scale>
        <p:origin x="-1842" y="-96"/>
      </p:cViewPr>
      <p:guideLst>
        <p:guide orient="horz" pos="2880"/>
        <p:guide pos="2160"/>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viewProps" Target="viewProps.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handoutMaster" Target="handoutMasters/handoutMaster1.xml"/><Relationship Id="rId40"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presProps" Target="pres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23234" name="矩形 2"/>
          <p:cNvSpPr>
            <a:spLocks noGrp="1" noChangeArrowheads="1"/>
          </p:cNvSpPr>
          <p:nvPr>
            <p:ph type="hdr" sz="quarter"/>
          </p:nvPr>
        </p:nvSpPr>
        <p:spPr bwMode="auto">
          <a:xfrm>
            <a:off x="0" y="0"/>
            <a:ext cx="2971800" cy="457200"/>
          </a:xfrm>
          <a:prstGeom prst="rect">
            <a:avLst/>
          </a:prstGeom>
          <a:noFill/>
          <a:ln>
            <a:noFill/>
          </a:ln>
          <a:effectLst/>
          <a:extLst/>
        </p:spPr>
        <p:txBody>
          <a:bodyPr vert="horz" wrap="square" lIns="91440" tIns="45720" rIns="91440" bIns="45720" numCol="1" anchor="t" anchorCtr="0" compatLnSpc="1">
            <a:prstTxWarp prst="textNoShape">
              <a:avLst/>
            </a:prstTxWarp>
          </a:bodyPr>
          <a:lstStyle>
            <a:lvl1pPr algn="l" eaLnBrk="1" hangingPunct="1">
              <a:defRPr kumimoji="1" sz="1200" b="0">
                <a:latin typeface="Times New Roman" pitchFamily="18" charset="0"/>
                <a:ea typeface="宋体" pitchFamily="2" charset="-122"/>
              </a:defRPr>
            </a:lvl1pPr>
          </a:lstStyle>
          <a:p>
            <a:pPr>
              <a:defRPr/>
            </a:pPr>
            <a:endParaRPr lang="en-US" altLang="zh-CN"/>
          </a:p>
        </p:txBody>
      </p:sp>
      <p:sp>
        <p:nvSpPr>
          <p:cNvPr id="223235" name="矩形 3"/>
          <p:cNvSpPr>
            <a:spLocks noGrp="1" noChangeArrowheads="1"/>
          </p:cNvSpPr>
          <p:nvPr>
            <p:ph type="dt" sz="quarter" idx="1"/>
          </p:nvPr>
        </p:nvSpPr>
        <p:spPr bwMode="auto">
          <a:xfrm>
            <a:off x="3884613" y="0"/>
            <a:ext cx="2971800" cy="457200"/>
          </a:xfrm>
          <a:prstGeom prst="rect">
            <a:avLst/>
          </a:prstGeom>
          <a:noFill/>
          <a:ln>
            <a:noFill/>
          </a:ln>
          <a:effectLst/>
          <a:extLst/>
        </p:spPr>
        <p:txBody>
          <a:bodyPr vert="horz" wrap="square" lIns="91440" tIns="45720" rIns="91440" bIns="45720" numCol="1" anchor="t" anchorCtr="0" compatLnSpc="1">
            <a:prstTxWarp prst="textNoShape">
              <a:avLst/>
            </a:prstTxWarp>
          </a:bodyPr>
          <a:lstStyle>
            <a:lvl1pPr algn="r" eaLnBrk="1" hangingPunct="1">
              <a:defRPr kumimoji="1" sz="1200" b="0">
                <a:latin typeface="Times New Roman" pitchFamily="18" charset="0"/>
                <a:ea typeface="宋体" pitchFamily="2" charset="-122"/>
              </a:defRPr>
            </a:lvl1pPr>
          </a:lstStyle>
          <a:p>
            <a:pPr>
              <a:defRPr/>
            </a:pPr>
            <a:endParaRPr lang="en-US" altLang="zh-CN"/>
          </a:p>
        </p:txBody>
      </p:sp>
      <p:sp>
        <p:nvSpPr>
          <p:cNvPr id="223236" name="矩形 4"/>
          <p:cNvSpPr>
            <a:spLocks noGrp="1" noChangeArrowheads="1"/>
          </p:cNvSpPr>
          <p:nvPr>
            <p:ph type="ftr" sz="quarter" idx="2"/>
          </p:nvPr>
        </p:nvSpPr>
        <p:spPr bwMode="auto">
          <a:xfrm>
            <a:off x="0" y="8685213"/>
            <a:ext cx="2971800" cy="457200"/>
          </a:xfrm>
          <a:prstGeom prst="rect">
            <a:avLst/>
          </a:prstGeom>
          <a:noFill/>
          <a:ln>
            <a:noFill/>
          </a:ln>
          <a:effectLst/>
          <a:extLst/>
        </p:spPr>
        <p:txBody>
          <a:bodyPr vert="horz" wrap="square" lIns="91440" tIns="45720" rIns="91440" bIns="45720" numCol="1" anchor="b" anchorCtr="0" compatLnSpc="1">
            <a:prstTxWarp prst="textNoShape">
              <a:avLst/>
            </a:prstTxWarp>
          </a:bodyPr>
          <a:lstStyle>
            <a:lvl1pPr algn="l" eaLnBrk="1" hangingPunct="1">
              <a:defRPr kumimoji="1" sz="1200" b="0">
                <a:latin typeface="Times New Roman" pitchFamily="18" charset="0"/>
                <a:ea typeface="宋体" pitchFamily="2" charset="-122"/>
              </a:defRPr>
            </a:lvl1pPr>
          </a:lstStyle>
          <a:p>
            <a:pPr>
              <a:defRPr/>
            </a:pPr>
            <a:endParaRPr lang="en-US" altLang="zh-CN"/>
          </a:p>
        </p:txBody>
      </p:sp>
      <p:sp>
        <p:nvSpPr>
          <p:cNvPr id="223237" name="矩形 5"/>
          <p:cNvSpPr>
            <a:spLocks noGrp="1" noChangeArrowheads="1"/>
          </p:cNvSpPr>
          <p:nvPr>
            <p:ph type="sldNum" sz="quarter" idx="3"/>
          </p:nvPr>
        </p:nvSpPr>
        <p:spPr bwMode="auto">
          <a:xfrm>
            <a:off x="3884613" y="8685213"/>
            <a:ext cx="2971800" cy="457200"/>
          </a:xfrm>
          <a:prstGeom prst="rect">
            <a:avLst/>
          </a:prstGeom>
          <a:noFill/>
          <a:ln>
            <a:noFill/>
          </a:ln>
          <a:effectLst/>
          <a:extLst/>
        </p:spPr>
        <p:txBody>
          <a:bodyPr vert="horz" wrap="square" lIns="91440" tIns="45720" rIns="91440" bIns="45720" numCol="1" anchor="b" anchorCtr="0" compatLnSpc="1">
            <a:prstTxWarp prst="textNoShape">
              <a:avLst/>
            </a:prstTxWarp>
          </a:bodyPr>
          <a:lstStyle>
            <a:lvl1pPr algn="r" eaLnBrk="1" hangingPunct="1">
              <a:defRPr kumimoji="1" sz="1200" b="0">
                <a:latin typeface="Times New Roman" panose="02020603050405020304" pitchFamily="18" charset="0"/>
                <a:ea typeface="宋体" panose="02010600030101010101" pitchFamily="2" charset="-122"/>
              </a:defRPr>
            </a:lvl1pPr>
          </a:lstStyle>
          <a:p>
            <a:pPr>
              <a:defRPr/>
            </a:pPr>
            <a:fld id="{1EF99D79-75DE-49ED-8806-60820F95F58B}" type="slidenum">
              <a:rPr lang="en-US" altLang="zh-CN"/>
              <a:pPr>
                <a:defRPr/>
              </a:pPr>
              <a:t>‹#›</a:t>
            </a:fld>
            <a:endParaRPr lang="en-US" altLang="zh-CN"/>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8674" name="矩形 2"/>
          <p:cNvSpPr>
            <a:spLocks noGrp="1" noChangeArrowheads="1"/>
          </p:cNvSpPr>
          <p:nvPr>
            <p:ph type="hdr" sz="quarter"/>
          </p:nvPr>
        </p:nvSpPr>
        <p:spPr bwMode="auto">
          <a:xfrm>
            <a:off x="0" y="0"/>
            <a:ext cx="2971800" cy="457200"/>
          </a:xfrm>
          <a:prstGeom prst="rect">
            <a:avLst/>
          </a:prstGeom>
          <a:noFill/>
          <a:ln>
            <a:noFill/>
          </a:ln>
          <a:effectLst/>
          <a:extLst/>
        </p:spPr>
        <p:txBody>
          <a:bodyPr vert="horz" wrap="square" lIns="91440" tIns="45720" rIns="91440" bIns="45720" numCol="1" anchor="t" anchorCtr="0" compatLnSpc="1">
            <a:prstTxWarp prst="textNoShape">
              <a:avLst/>
            </a:prstTxWarp>
          </a:bodyPr>
          <a:lstStyle>
            <a:lvl1pPr algn="l" eaLnBrk="1" hangingPunct="1">
              <a:defRPr kumimoji="1" sz="1200" b="0">
                <a:latin typeface="Verdana" pitchFamily="34" charset="0"/>
                <a:ea typeface="宋体" pitchFamily="2" charset="-122"/>
              </a:defRPr>
            </a:lvl1pPr>
          </a:lstStyle>
          <a:p>
            <a:pPr>
              <a:defRPr/>
            </a:pPr>
            <a:endParaRPr lang="en-US" altLang="zh-CN"/>
          </a:p>
        </p:txBody>
      </p:sp>
      <p:sp>
        <p:nvSpPr>
          <p:cNvPr id="28675" name="矩形 3"/>
          <p:cNvSpPr>
            <a:spLocks noGrp="1" noChangeArrowheads="1"/>
          </p:cNvSpPr>
          <p:nvPr>
            <p:ph type="dt" idx="1"/>
          </p:nvPr>
        </p:nvSpPr>
        <p:spPr bwMode="auto">
          <a:xfrm>
            <a:off x="3886200" y="0"/>
            <a:ext cx="2971800" cy="457200"/>
          </a:xfrm>
          <a:prstGeom prst="rect">
            <a:avLst/>
          </a:prstGeom>
          <a:noFill/>
          <a:ln>
            <a:noFill/>
          </a:ln>
          <a:effectLst/>
          <a:extLst/>
        </p:spPr>
        <p:txBody>
          <a:bodyPr vert="horz" wrap="square" lIns="91440" tIns="45720" rIns="91440" bIns="45720" numCol="1" anchor="t" anchorCtr="0" compatLnSpc="1">
            <a:prstTxWarp prst="textNoShape">
              <a:avLst/>
            </a:prstTxWarp>
          </a:bodyPr>
          <a:lstStyle>
            <a:lvl1pPr algn="r" eaLnBrk="1" hangingPunct="1">
              <a:defRPr kumimoji="1" sz="1200" b="0">
                <a:latin typeface="Verdana" pitchFamily="34" charset="0"/>
                <a:ea typeface="宋体" pitchFamily="2" charset="-122"/>
              </a:defRPr>
            </a:lvl1pPr>
          </a:lstStyle>
          <a:p>
            <a:pPr>
              <a:defRPr/>
            </a:pPr>
            <a:endParaRPr lang="en-US" altLang="zh-CN"/>
          </a:p>
        </p:txBody>
      </p:sp>
      <p:sp>
        <p:nvSpPr>
          <p:cNvPr id="4100" name="矩形 4"/>
          <p:cNvSpPr>
            <a:spLocks noGrp="1" noRot="1" noChangeAspect="1" noChangeArrowheads="1" noTextEdit="1"/>
          </p:cNvSpPr>
          <p:nvPr>
            <p:ph type="sldImg" idx="2"/>
          </p:nvPr>
        </p:nvSpPr>
        <p:spPr bwMode="auto">
          <a:xfrm>
            <a:off x="1143000" y="685800"/>
            <a:ext cx="4572000" cy="3429000"/>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8677" name="矩形 5"/>
          <p:cNvSpPr>
            <a:spLocks noGrp="1" noChangeArrowheads="1"/>
          </p:cNvSpPr>
          <p:nvPr>
            <p:ph type="body" sz="quarter" idx="3"/>
          </p:nvPr>
        </p:nvSpPr>
        <p:spPr bwMode="auto">
          <a:xfrm>
            <a:off x="914400" y="4343400"/>
            <a:ext cx="5029200" cy="4114800"/>
          </a:xfrm>
          <a:prstGeom prst="rect">
            <a:avLst/>
          </a:prstGeom>
          <a:noFill/>
          <a:ln>
            <a:noFill/>
          </a:ln>
          <a:effectLst/>
          <a:extLst/>
        </p:spPr>
        <p:txBody>
          <a:bodyPr vert="horz" wrap="square" lIns="91440" tIns="45720" rIns="91440" bIns="45720" numCol="1" anchor="t" anchorCtr="0" compatLnSpc="1">
            <a:prstTxWarp prst="textNoShape">
              <a:avLst/>
            </a:prstTxWarp>
          </a:bodyPr>
          <a:lstStyle/>
          <a:p>
            <a:pPr lvl="0"/>
            <a:r>
              <a:rPr lang="zh-CN" altLang="en-US" noProof="0" smtClean="0"/>
              <a:t>单击此处编辑母版文本样式</a:t>
            </a:r>
          </a:p>
          <a:p>
            <a:pPr lvl="1"/>
            <a:r>
              <a:rPr lang="zh-CN" altLang="en-US" noProof="0" smtClean="0"/>
              <a:t>第二级</a:t>
            </a:r>
          </a:p>
          <a:p>
            <a:pPr lvl="2"/>
            <a:r>
              <a:rPr lang="zh-CN" altLang="en-US" noProof="0" smtClean="0"/>
              <a:t>第三级</a:t>
            </a:r>
          </a:p>
          <a:p>
            <a:pPr lvl="3"/>
            <a:r>
              <a:rPr lang="zh-CN" altLang="en-US" noProof="0" smtClean="0"/>
              <a:t>第四级</a:t>
            </a:r>
          </a:p>
          <a:p>
            <a:pPr lvl="4"/>
            <a:r>
              <a:rPr lang="zh-CN" altLang="en-US" noProof="0" smtClean="0"/>
              <a:t>第五级</a:t>
            </a:r>
          </a:p>
        </p:txBody>
      </p:sp>
      <p:sp>
        <p:nvSpPr>
          <p:cNvPr id="28678" name="矩形 6"/>
          <p:cNvSpPr>
            <a:spLocks noGrp="1" noChangeArrowheads="1"/>
          </p:cNvSpPr>
          <p:nvPr>
            <p:ph type="ftr" sz="quarter" idx="4"/>
          </p:nvPr>
        </p:nvSpPr>
        <p:spPr bwMode="auto">
          <a:xfrm>
            <a:off x="0" y="8686800"/>
            <a:ext cx="2971800" cy="457200"/>
          </a:xfrm>
          <a:prstGeom prst="rect">
            <a:avLst/>
          </a:prstGeom>
          <a:noFill/>
          <a:ln>
            <a:noFill/>
          </a:ln>
          <a:effectLst/>
          <a:extLst/>
        </p:spPr>
        <p:txBody>
          <a:bodyPr vert="horz" wrap="square" lIns="91440" tIns="45720" rIns="91440" bIns="45720" numCol="1" anchor="b" anchorCtr="0" compatLnSpc="1">
            <a:prstTxWarp prst="textNoShape">
              <a:avLst/>
            </a:prstTxWarp>
          </a:bodyPr>
          <a:lstStyle>
            <a:lvl1pPr algn="l" eaLnBrk="1" hangingPunct="1">
              <a:defRPr kumimoji="1" sz="1200" b="0">
                <a:latin typeface="Verdana" pitchFamily="34" charset="0"/>
                <a:ea typeface="宋体" pitchFamily="2" charset="-122"/>
              </a:defRPr>
            </a:lvl1pPr>
          </a:lstStyle>
          <a:p>
            <a:pPr>
              <a:defRPr/>
            </a:pPr>
            <a:endParaRPr lang="en-US" altLang="zh-CN"/>
          </a:p>
        </p:txBody>
      </p:sp>
      <p:sp>
        <p:nvSpPr>
          <p:cNvPr id="28679" name="矩形 7"/>
          <p:cNvSpPr>
            <a:spLocks noGrp="1" noChangeArrowheads="1"/>
          </p:cNvSpPr>
          <p:nvPr>
            <p:ph type="sldNum" sz="quarter" idx="5"/>
          </p:nvPr>
        </p:nvSpPr>
        <p:spPr bwMode="auto">
          <a:xfrm>
            <a:off x="3886200" y="8686800"/>
            <a:ext cx="2971800" cy="457200"/>
          </a:xfrm>
          <a:prstGeom prst="rect">
            <a:avLst/>
          </a:prstGeom>
          <a:noFill/>
          <a:ln>
            <a:noFill/>
          </a:ln>
          <a:effectLst/>
          <a:extLst/>
        </p:spPr>
        <p:txBody>
          <a:bodyPr vert="horz" wrap="square" lIns="91440" tIns="45720" rIns="91440" bIns="45720" numCol="1" anchor="b" anchorCtr="0" compatLnSpc="1">
            <a:prstTxWarp prst="textNoShape">
              <a:avLst/>
            </a:prstTxWarp>
          </a:bodyPr>
          <a:lstStyle>
            <a:lvl1pPr algn="r" eaLnBrk="1" hangingPunct="1">
              <a:defRPr kumimoji="1" sz="1200" b="0">
                <a:latin typeface="Verdana" panose="020B0604030504040204" pitchFamily="34" charset="0"/>
                <a:ea typeface="宋体" panose="02010600030101010101" pitchFamily="2" charset="-122"/>
              </a:defRPr>
            </a:lvl1pPr>
          </a:lstStyle>
          <a:p>
            <a:pPr>
              <a:defRPr/>
            </a:pPr>
            <a:fld id="{5ED3B4BA-DCD8-4F6D-A0E0-FDE7D729BE48}" type="slidenum">
              <a:rPr lang="en-US" altLang="zh-CN"/>
              <a:pPr>
                <a:defRPr/>
              </a:pPr>
              <a:t>‹#›</a:t>
            </a:fld>
            <a:endParaRPr lang="en-US" altLang="zh-CN"/>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kumimoji="1" sz="1200" kern="1200">
        <a:solidFill>
          <a:schemeClr val="tx1"/>
        </a:solidFill>
        <a:latin typeface="Times New Roman" pitchFamily="18" charset="0"/>
        <a:ea typeface="宋体" pitchFamily="2" charset="-122"/>
        <a:cs typeface="+mn-cs"/>
      </a:defRPr>
    </a:lvl1pPr>
    <a:lvl2pPr marL="457200" algn="l" rtl="0" eaLnBrk="0" fontAlgn="base" hangingPunct="0">
      <a:spcBef>
        <a:spcPct val="30000"/>
      </a:spcBef>
      <a:spcAft>
        <a:spcPct val="0"/>
      </a:spcAft>
      <a:defRPr kumimoji="1" sz="1200" kern="1200">
        <a:solidFill>
          <a:schemeClr val="tx1"/>
        </a:solidFill>
        <a:latin typeface="Times New Roman" pitchFamily="18" charset="0"/>
        <a:ea typeface="宋体" pitchFamily="2" charset="-122"/>
        <a:cs typeface="+mn-cs"/>
      </a:defRPr>
    </a:lvl2pPr>
    <a:lvl3pPr marL="914400" algn="l" rtl="0" eaLnBrk="0" fontAlgn="base" hangingPunct="0">
      <a:spcBef>
        <a:spcPct val="30000"/>
      </a:spcBef>
      <a:spcAft>
        <a:spcPct val="0"/>
      </a:spcAft>
      <a:defRPr kumimoji="1" sz="1200" kern="1200">
        <a:solidFill>
          <a:schemeClr val="tx1"/>
        </a:solidFill>
        <a:latin typeface="Times New Roman" pitchFamily="18" charset="0"/>
        <a:ea typeface="宋体" pitchFamily="2" charset="-122"/>
        <a:cs typeface="+mn-cs"/>
      </a:defRPr>
    </a:lvl3pPr>
    <a:lvl4pPr marL="1371600" algn="l" rtl="0" eaLnBrk="0" fontAlgn="base" hangingPunct="0">
      <a:spcBef>
        <a:spcPct val="30000"/>
      </a:spcBef>
      <a:spcAft>
        <a:spcPct val="0"/>
      </a:spcAft>
      <a:defRPr kumimoji="1" sz="1200" kern="1200">
        <a:solidFill>
          <a:schemeClr val="tx1"/>
        </a:solidFill>
        <a:latin typeface="Times New Roman" pitchFamily="18" charset="0"/>
        <a:ea typeface="宋体" pitchFamily="2" charset="-122"/>
        <a:cs typeface="+mn-cs"/>
      </a:defRPr>
    </a:lvl4pPr>
    <a:lvl5pPr marL="1828800" algn="l" rtl="0" eaLnBrk="0" fontAlgn="base" hangingPunct="0">
      <a:spcBef>
        <a:spcPct val="30000"/>
      </a:spcBef>
      <a:spcAft>
        <a:spcPct val="0"/>
      </a:spcAft>
      <a:defRPr kumimoji="1" sz="1200" kern="1200">
        <a:solidFill>
          <a:schemeClr val="tx1"/>
        </a:solidFill>
        <a:latin typeface="Times New Roman" pitchFamily="18" charset="0"/>
        <a:ea typeface="宋体" pitchFamily="2"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3" Type="http://schemas.openxmlformats.org/officeDocument/2006/relationships/hyperlink" Target="http://en.akinator.com/personnages/jeu" TargetMode="External"/><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3" Type="http://schemas.openxmlformats.org/officeDocument/2006/relationships/hyperlink" Target="http://www.mahaixiang.cn/sjfx/490.html" TargetMode="External"/><Relationship Id="rId2" Type="http://schemas.openxmlformats.org/officeDocument/2006/relationships/slide" Target="../slides/slide19.xml"/><Relationship Id="rId1" Type="http://schemas.openxmlformats.org/officeDocument/2006/relationships/notesMaster" Target="../notesMasters/notesMaster1.xml"/><Relationship Id="rId6" Type="http://schemas.openxmlformats.org/officeDocument/2006/relationships/hyperlink" Target="http://www.mahaixiang.cn/sjfx/590.html" TargetMode="External"/><Relationship Id="rId5" Type="http://schemas.openxmlformats.org/officeDocument/2006/relationships/hyperlink" Target="http://www.mahaixiang.cn/sjfx/408.html" TargetMode="External"/><Relationship Id="rId4" Type="http://schemas.openxmlformats.org/officeDocument/2006/relationships/hyperlink" Target="http://www.mahaixiang.cn/dzsw/" TargetMode="External"/></Relationships>
</file>

<file path=ppt/notesSlides/_rels/notesSlide7.xml.rels><?xml version="1.0" encoding="UTF-8" standalone="yes"?>
<Relationships xmlns="http://schemas.openxmlformats.org/package/2006/relationships"><Relationship Id="rId3" Type="http://schemas.openxmlformats.org/officeDocument/2006/relationships/hyperlink" Target="http://www.36dsj.com/archives/40413" TargetMode="External"/><Relationship Id="rId2" Type="http://schemas.openxmlformats.org/officeDocument/2006/relationships/slide" Target="../slides/slide20.xml"/><Relationship Id="rId1" Type="http://schemas.openxmlformats.org/officeDocument/2006/relationships/notesMaster" Target="../notesMasters/notesMaster1.xml"/><Relationship Id="rId4" Type="http://schemas.openxmlformats.org/officeDocument/2006/relationships/hyperlink" Target="http://www.36dsj.com/archives/category/bigdata/%e4%ba%ba%e5%b7%a5%e6%99%ba%e8%83%bd" TargetMode="Externa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5"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1266"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zh-CN" altLang="en-US" smtClean="0"/>
          </a:p>
        </p:txBody>
      </p:sp>
      <p:sp>
        <p:nvSpPr>
          <p:cNvPr id="11267"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ea typeface="宋体" panose="02010600030101010101" pitchFamily="2" charset="-122"/>
              </a:defRPr>
            </a:lvl1pPr>
            <a:lvl2pPr marL="742950" indent="-285750">
              <a:spcBef>
                <a:spcPct val="30000"/>
              </a:spcBef>
              <a:defRPr sz="1200">
                <a:solidFill>
                  <a:schemeClr val="tx1"/>
                </a:solidFill>
                <a:latin typeface="Calibri" panose="020F0502020204030204" pitchFamily="34" charset="0"/>
                <a:ea typeface="宋体" panose="02010600030101010101" pitchFamily="2" charset="-122"/>
              </a:defRPr>
            </a:lvl2pPr>
            <a:lvl3pPr marL="1143000" indent="-228600">
              <a:spcBef>
                <a:spcPct val="30000"/>
              </a:spcBef>
              <a:defRPr sz="1200">
                <a:solidFill>
                  <a:schemeClr val="tx1"/>
                </a:solidFill>
                <a:latin typeface="Calibri" panose="020F0502020204030204" pitchFamily="34" charset="0"/>
                <a:ea typeface="宋体" panose="02010600030101010101" pitchFamily="2" charset="-122"/>
              </a:defRPr>
            </a:lvl3pPr>
            <a:lvl4pPr marL="1600200" indent="-228600">
              <a:spcBef>
                <a:spcPct val="30000"/>
              </a:spcBef>
              <a:defRPr sz="1200">
                <a:solidFill>
                  <a:schemeClr val="tx1"/>
                </a:solidFill>
                <a:latin typeface="Calibri" panose="020F0502020204030204" pitchFamily="34" charset="0"/>
                <a:ea typeface="宋体" panose="02010600030101010101" pitchFamily="2" charset="-122"/>
              </a:defRPr>
            </a:lvl4pPr>
            <a:lvl5pPr marL="2057400" indent="-228600">
              <a:spcBef>
                <a:spcPct val="30000"/>
              </a:spcBef>
              <a:defRPr sz="12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9pPr>
          </a:lstStyle>
          <a:p>
            <a:pPr>
              <a:spcBef>
                <a:spcPct val="0"/>
              </a:spcBef>
            </a:pPr>
            <a:fld id="{CB88314F-8330-4E4D-8D15-53C958A252E6}" type="slidenum">
              <a:rPr lang="zh-CN" altLang="en-US" smtClean="0"/>
              <a:pPr>
                <a:spcBef>
                  <a:spcPct val="0"/>
                </a:spcBef>
              </a:pPr>
              <a:t>1</a:t>
            </a:fld>
            <a:endParaRPr lang="en-US" altLang="zh-CN" smtClean="0"/>
          </a:p>
        </p:txBody>
      </p:sp>
    </p:spTree>
    <p:extLst>
      <p:ext uri="{BB962C8B-B14F-4D97-AF65-F5344CB8AC3E}">
        <p14:creationId xmlns:p14="http://schemas.microsoft.com/office/powerpoint/2010/main" val="272588121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indent="0" algn="l" defTabSz="914400" rtl="0" eaLnBrk="0" fontAlgn="base" latinLnBrk="0" hangingPunct="0">
              <a:lnSpc>
                <a:spcPct val="100000"/>
              </a:lnSpc>
              <a:spcBef>
                <a:spcPct val="30000"/>
              </a:spcBef>
              <a:spcAft>
                <a:spcPct val="0"/>
              </a:spcAft>
              <a:buClrTx/>
              <a:buSzTx/>
              <a:buFontTx/>
              <a:buNone/>
              <a:tabLst/>
              <a:defRPr/>
            </a:pPr>
            <a:r>
              <a:rPr lang="en-US" altLang="zh-CN" dirty="0" smtClean="0">
                <a:effectLst/>
              </a:rPr>
              <a:t>2009</a:t>
            </a:r>
            <a:r>
              <a:rPr kumimoji="1" lang="zh-CN" altLang="en-US" sz="1200" kern="1200" dirty="0" smtClean="0">
                <a:solidFill>
                  <a:schemeClr val="tx1"/>
                </a:solidFill>
                <a:effectLst/>
                <a:latin typeface="Times New Roman" pitchFamily="18" charset="0"/>
                <a:ea typeface="宋体" pitchFamily="2" charset="-122"/>
                <a:cs typeface="+mn-cs"/>
              </a:rPr>
              <a:t>年</a:t>
            </a:r>
            <a:r>
              <a:rPr lang="en-US" altLang="zh-CN" dirty="0" smtClean="0">
                <a:effectLst/>
              </a:rPr>
              <a:t>2</a:t>
            </a:r>
            <a:r>
              <a:rPr kumimoji="1" lang="zh-CN" altLang="en-US" sz="1200" kern="1200" dirty="0" smtClean="0">
                <a:solidFill>
                  <a:schemeClr val="tx1"/>
                </a:solidFill>
                <a:effectLst/>
                <a:latin typeface="Times New Roman" pitchFamily="18" charset="0"/>
                <a:ea typeface="宋体" pitchFamily="2" charset="-122"/>
                <a:cs typeface="+mn-cs"/>
              </a:rPr>
              <a:t>月</a:t>
            </a:r>
            <a:r>
              <a:rPr lang="en-US" altLang="zh-CN" dirty="0" smtClean="0">
                <a:effectLst/>
              </a:rPr>
              <a:t>19</a:t>
            </a:r>
            <a:r>
              <a:rPr kumimoji="1" lang="zh-CN" altLang="en-US" sz="1200" kern="1200" dirty="0" smtClean="0">
                <a:solidFill>
                  <a:schemeClr val="tx1"/>
                </a:solidFill>
                <a:effectLst/>
                <a:latin typeface="Times New Roman" pitchFamily="18" charset="0"/>
                <a:ea typeface="宋体" pitchFamily="2" charset="-122"/>
                <a:cs typeface="+mn-cs"/>
              </a:rPr>
              <a:t>日，</a:t>
            </a:r>
            <a:r>
              <a:rPr lang="en-US" altLang="zh-CN" dirty="0" smtClean="0">
                <a:effectLst/>
              </a:rPr>
              <a:t>Nature</a:t>
            </a:r>
            <a:r>
              <a:rPr kumimoji="1" lang="zh-CN" altLang="en-US" sz="1200" kern="1200" dirty="0" smtClean="0">
                <a:solidFill>
                  <a:schemeClr val="tx1"/>
                </a:solidFill>
                <a:effectLst/>
                <a:latin typeface="Times New Roman" pitchFamily="18" charset="0"/>
                <a:ea typeface="宋体" pitchFamily="2" charset="-122"/>
                <a:cs typeface="+mn-cs"/>
              </a:rPr>
              <a:t>上面有一篇文章，“</a:t>
            </a:r>
            <a:r>
              <a:rPr lang="en-US" altLang="zh-CN" dirty="0" smtClean="0">
                <a:effectLst/>
              </a:rPr>
              <a:t>Detecting influenza epidemics using search engine query data</a:t>
            </a:r>
            <a:r>
              <a:rPr kumimoji="1" lang="en-US" altLang="zh-CN" sz="1200" kern="1200" dirty="0" smtClean="0">
                <a:solidFill>
                  <a:schemeClr val="tx1"/>
                </a:solidFill>
                <a:effectLst/>
                <a:latin typeface="Times New Roman" pitchFamily="18" charset="0"/>
                <a:ea typeface="宋体" pitchFamily="2" charset="-122"/>
                <a:cs typeface="+mn-cs"/>
              </a:rPr>
              <a:t>”</a:t>
            </a:r>
            <a:r>
              <a:rPr kumimoji="1" lang="zh-CN" altLang="en-US" sz="1200" kern="1200" dirty="0" smtClean="0">
                <a:solidFill>
                  <a:schemeClr val="tx1"/>
                </a:solidFill>
                <a:effectLst/>
                <a:latin typeface="Times New Roman" pitchFamily="18" charset="0"/>
                <a:ea typeface="宋体" pitchFamily="2" charset="-122"/>
                <a:cs typeface="+mn-cs"/>
              </a:rPr>
              <a:t>（感兴趣的朋友可以关注以下），论述了</a:t>
            </a:r>
            <a:r>
              <a:rPr lang="en-US" altLang="zh-CN" dirty="0" smtClean="0">
                <a:effectLst/>
              </a:rPr>
              <a:t>Google</a:t>
            </a:r>
            <a:r>
              <a:rPr kumimoji="1" lang="zh-CN" altLang="en-US" sz="1200" kern="1200" dirty="0" smtClean="0">
                <a:solidFill>
                  <a:schemeClr val="tx1"/>
                </a:solidFill>
                <a:effectLst/>
                <a:latin typeface="Times New Roman" pitchFamily="18" charset="0"/>
                <a:ea typeface="宋体" pitchFamily="2" charset="-122"/>
                <a:cs typeface="+mn-cs"/>
              </a:rPr>
              <a:t>基于用户的搜索日志（其中包括，搜索关键词、用户搜索频率以及用户</a:t>
            </a:r>
            <a:r>
              <a:rPr lang="en-US" altLang="zh-CN" dirty="0" smtClean="0">
                <a:effectLst/>
              </a:rPr>
              <a:t>IP</a:t>
            </a:r>
            <a:r>
              <a:rPr kumimoji="1" lang="zh-CN" altLang="en-US" sz="1200" kern="1200" dirty="0" smtClean="0">
                <a:solidFill>
                  <a:schemeClr val="tx1"/>
                </a:solidFill>
                <a:effectLst/>
                <a:latin typeface="Times New Roman" pitchFamily="18" charset="0"/>
                <a:ea typeface="宋体" pitchFamily="2" charset="-122"/>
                <a:cs typeface="+mn-cs"/>
              </a:rPr>
              <a:t>地址等信息）的汇总信息，成功“预测”了流感病人的就诊人数。</a:t>
            </a:r>
            <a:r>
              <a:rPr kumimoji="1" lang="zh-CN" altLang="zh-CN" sz="1200" kern="1200" dirty="0" smtClean="0">
                <a:solidFill>
                  <a:schemeClr val="tx1"/>
                </a:solidFill>
                <a:effectLst/>
                <a:latin typeface="Times New Roman" pitchFamily="18" charset="0"/>
                <a:ea typeface="宋体" pitchFamily="2" charset="-122"/>
                <a:cs typeface="+mn-cs"/>
              </a:rPr>
              <a:t>　　</a:t>
            </a:r>
            <a:endParaRPr kumimoji="1" lang="en-US" altLang="zh-CN" sz="1200" kern="1200" dirty="0" smtClean="0">
              <a:solidFill>
                <a:schemeClr val="tx1"/>
              </a:solidFill>
              <a:effectLst/>
              <a:latin typeface="Times New Roman" pitchFamily="18" charset="0"/>
              <a:ea typeface="宋体" pitchFamily="2" charset="-122"/>
              <a:cs typeface="+mn-cs"/>
            </a:endParaRPr>
          </a:p>
          <a:p>
            <a:pPr marL="0" marR="0" indent="0" algn="l" defTabSz="914400" rtl="0" eaLnBrk="0" fontAlgn="base" latinLnBrk="0" hangingPunct="0">
              <a:lnSpc>
                <a:spcPct val="100000"/>
              </a:lnSpc>
              <a:spcBef>
                <a:spcPct val="30000"/>
              </a:spcBef>
              <a:spcAft>
                <a:spcPct val="0"/>
              </a:spcAft>
              <a:buClrTx/>
              <a:buSzTx/>
              <a:buFontTx/>
              <a:buNone/>
              <a:tabLst/>
              <a:defRPr/>
            </a:pPr>
            <a:endParaRPr kumimoji="1" lang="en-US" altLang="zh-CN" sz="1200" kern="1200" dirty="0" smtClean="0">
              <a:solidFill>
                <a:schemeClr val="tx1"/>
              </a:solidFill>
              <a:effectLst/>
              <a:latin typeface="Times New Roman" pitchFamily="18" charset="0"/>
              <a:ea typeface="宋体" pitchFamily="2" charset="-122"/>
              <a:cs typeface="+mn-cs"/>
            </a:endParaRPr>
          </a:p>
          <a:p>
            <a:pPr marL="0" marR="0" indent="0" algn="l" defTabSz="914400" rtl="0" eaLnBrk="0" fontAlgn="base" latinLnBrk="0" hangingPunct="0">
              <a:lnSpc>
                <a:spcPct val="100000"/>
              </a:lnSpc>
              <a:spcBef>
                <a:spcPct val="30000"/>
              </a:spcBef>
              <a:spcAft>
                <a:spcPct val="0"/>
              </a:spcAft>
              <a:buClrTx/>
              <a:buSzTx/>
              <a:buFontTx/>
              <a:buNone/>
              <a:tabLst/>
              <a:defRPr/>
            </a:pPr>
            <a:r>
              <a:rPr kumimoji="1" lang="en-US" altLang="zh-CN" sz="1200" kern="1200" dirty="0" smtClean="0">
                <a:solidFill>
                  <a:schemeClr val="tx1"/>
                </a:solidFill>
                <a:effectLst/>
                <a:latin typeface="Times New Roman" pitchFamily="18" charset="0"/>
                <a:ea typeface="宋体" pitchFamily="2" charset="-122"/>
                <a:cs typeface="+mn-cs"/>
              </a:rPr>
              <a:t>2009</a:t>
            </a:r>
            <a:r>
              <a:rPr kumimoji="1" lang="zh-CN" altLang="zh-CN" sz="1200" kern="1200" dirty="0" smtClean="0">
                <a:solidFill>
                  <a:schemeClr val="tx1"/>
                </a:solidFill>
                <a:effectLst/>
                <a:latin typeface="Times New Roman" pitchFamily="18" charset="0"/>
                <a:ea typeface="宋体" pitchFamily="2" charset="-122"/>
                <a:cs typeface="+mn-cs"/>
              </a:rPr>
              <a:t>年，</a:t>
            </a:r>
            <a:r>
              <a:rPr kumimoji="1" lang="en-US" altLang="zh-CN" sz="1200" kern="1200" dirty="0" smtClean="0">
                <a:solidFill>
                  <a:schemeClr val="tx1"/>
                </a:solidFill>
                <a:effectLst/>
                <a:latin typeface="Times New Roman" pitchFamily="18" charset="0"/>
                <a:ea typeface="宋体" pitchFamily="2" charset="-122"/>
                <a:cs typeface="+mn-cs"/>
              </a:rPr>
              <a:t>Google</a:t>
            </a:r>
            <a:r>
              <a:rPr kumimoji="1" lang="zh-CN" altLang="zh-CN" sz="1200" kern="1200" dirty="0" smtClean="0">
                <a:solidFill>
                  <a:schemeClr val="tx1"/>
                </a:solidFill>
                <a:effectLst/>
                <a:latin typeface="Times New Roman" pitchFamily="18" charset="0"/>
                <a:ea typeface="宋体" pitchFamily="2" charset="-122"/>
                <a:cs typeface="+mn-cs"/>
              </a:rPr>
              <a:t>通过分析</a:t>
            </a:r>
            <a:r>
              <a:rPr kumimoji="1" lang="en-US" altLang="zh-CN" sz="1200" kern="1200" dirty="0" smtClean="0">
                <a:solidFill>
                  <a:schemeClr val="tx1"/>
                </a:solidFill>
                <a:effectLst/>
                <a:latin typeface="Times New Roman" pitchFamily="18" charset="0"/>
                <a:ea typeface="宋体" pitchFamily="2" charset="-122"/>
                <a:cs typeface="+mn-cs"/>
              </a:rPr>
              <a:t>5000</a:t>
            </a:r>
            <a:r>
              <a:rPr kumimoji="1" lang="zh-CN" altLang="zh-CN" sz="1200" kern="1200" dirty="0" smtClean="0">
                <a:solidFill>
                  <a:schemeClr val="tx1"/>
                </a:solidFill>
                <a:effectLst/>
                <a:latin typeface="Times New Roman" pitchFamily="18" charset="0"/>
                <a:ea typeface="宋体" pitchFamily="2" charset="-122"/>
                <a:cs typeface="+mn-cs"/>
              </a:rPr>
              <a:t>万条美国人最频繁检索的词汇，将之和美国疾病中心在</a:t>
            </a:r>
            <a:r>
              <a:rPr kumimoji="1" lang="en-US" altLang="zh-CN" sz="1200" kern="1200" dirty="0" smtClean="0">
                <a:solidFill>
                  <a:schemeClr val="tx1"/>
                </a:solidFill>
                <a:effectLst/>
                <a:latin typeface="Times New Roman" pitchFamily="18" charset="0"/>
                <a:ea typeface="宋体" pitchFamily="2" charset="-122"/>
                <a:cs typeface="+mn-cs"/>
              </a:rPr>
              <a:t>2003</a:t>
            </a:r>
            <a:r>
              <a:rPr kumimoji="1" lang="zh-CN" altLang="zh-CN" sz="1200" kern="1200" dirty="0" smtClean="0">
                <a:solidFill>
                  <a:schemeClr val="tx1"/>
                </a:solidFill>
                <a:effectLst/>
                <a:latin typeface="Times New Roman" pitchFamily="18" charset="0"/>
                <a:ea typeface="宋体" pitchFamily="2" charset="-122"/>
                <a:cs typeface="+mn-cs"/>
              </a:rPr>
              <a:t>年到</a:t>
            </a:r>
            <a:r>
              <a:rPr kumimoji="1" lang="en-US" altLang="zh-CN" sz="1200" kern="1200" dirty="0" smtClean="0">
                <a:solidFill>
                  <a:schemeClr val="tx1"/>
                </a:solidFill>
                <a:effectLst/>
                <a:latin typeface="Times New Roman" pitchFamily="18" charset="0"/>
                <a:ea typeface="宋体" pitchFamily="2" charset="-122"/>
                <a:cs typeface="+mn-cs"/>
              </a:rPr>
              <a:t>2008</a:t>
            </a:r>
            <a:r>
              <a:rPr kumimoji="1" lang="zh-CN" altLang="zh-CN" sz="1200" kern="1200" dirty="0" smtClean="0">
                <a:solidFill>
                  <a:schemeClr val="tx1"/>
                </a:solidFill>
                <a:effectLst/>
                <a:latin typeface="Times New Roman" pitchFamily="18" charset="0"/>
                <a:ea typeface="宋体" pitchFamily="2" charset="-122"/>
                <a:cs typeface="+mn-cs"/>
              </a:rPr>
              <a:t>年间季节性流感传播时期的数据进行比较，并建立一个特定的数学模型。最终</a:t>
            </a:r>
            <a:r>
              <a:rPr kumimoji="1" lang="en-US" altLang="zh-CN" sz="1200" kern="1200" dirty="0" err="1" smtClean="0">
                <a:solidFill>
                  <a:schemeClr val="tx1"/>
                </a:solidFill>
                <a:effectLst/>
                <a:latin typeface="Times New Roman" pitchFamily="18" charset="0"/>
                <a:ea typeface="宋体" pitchFamily="2" charset="-122"/>
                <a:cs typeface="+mn-cs"/>
              </a:rPr>
              <a:t>google</a:t>
            </a:r>
            <a:r>
              <a:rPr kumimoji="1" lang="zh-CN" altLang="zh-CN" sz="1200" kern="1200" dirty="0" smtClean="0">
                <a:solidFill>
                  <a:schemeClr val="tx1"/>
                </a:solidFill>
                <a:effectLst/>
                <a:latin typeface="Times New Roman" pitchFamily="18" charset="0"/>
                <a:ea typeface="宋体" pitchFamily="2" charset="-122"/>
                <a:cs typeface="+mn-cs"/>
              </a:rPr>
              <a:t>成功预测了</a:t>
            </a:r>
            <a:r>
              <a:rPr kumimoji="1" lang="en-US" altLang="zh-CN" sz="1200" kern="1200" dirty="0" smtClean="0">
                <a:solidFill>
                  <a:schemeClr val="tx1"/>
                </a:solidFill>
                <a:effectLst/>
                <a:latin typeface="Times New Roman" pitchFamily="18" charset="0"/>
                <a:ea typeface="宋体" pitchFamily="2" charset="-122"/>
                <a:cs typeface="+mn-cs"/>
              </a:rPr>
              <a:t>2009</a:t>
            </a:r>
            <a:r>
              <a:rPr kumimoji="1" lang="zh-CN" altLang="zh-CN" sz="1200" kern="1200" dirty="0" smtClean="0">
                <a:solidFill>
                  <a:schemeClr val="tx1"/>
                </a:solidFill>
                <a:effectLst/>
                <a:latin typeface="Times New Roman" pitchFamily="18" charset="0"/>
                <a:ea typeface="宋体" pitchFamily="2" charset="-122"/>
                <a:cs typeface="+mn-cs"/>
              </a:rPr>
              <a:t>冬季流感的传播甚至可以具体到特定的地区和州。</a:t>
            </a:r>
            <a:endParaRPr kumimoji="1" lang="en-US" altLang="zh-CN" sz="1200" kern="1200" dirty="0" smtClean="0">
              <a:solidFill>
                <a:schemeClr val="tx1"/>
              </a:solidFill>
              <a:effectLst/>
              <a:latin typeface="Times New Roman" pitchFamily="18" charset="0"/>
              <a:ea typeface="宋体" pitchFamily="2" charset="-122"/>
              <a:cs typeface="+mn-cs"/>
            </a:endParaRPr>
          </a:p>
          <a:p>
            <a:pPr marL="0" marR="0" indent="0" algn="l" defTabSz="914400" rtl="0" eaLnBrk="0" fontAlgn="base" latinLnBrk="0" hangingPunct="0">
              <a:lnSpc>
                <a:spcPct val="100000"/>
              </a:lnSpc>
              <a:spcBef>
                <a:spcPct val="30000"/>
              </a:spcBef>
              <a:spcAft>
                <a:spcPct val="0"/>
              </a:spcAft>
              <a:buClrTx/>
              <a:buSzTx/>
              <a:buFontTx/>
              <a:buNone/>
              <a:tabLst/>
              <a:defRPr/>
            </a:pPr>
            <a:endParaRPr kumimoji="1" lang="en-US" altLang="zh-CN" sz="1200" kern="1200" dirty="0" smtClean="0">
              <a:solidFill>
                <a:schemeClr val="tx1"/>
              </a:solidFill>
              <a:effectLst/>
              <a:latin typeface="Times New Roman" pitchFamily="18" charset="0"/>
              <a:ea typeface="宋体" pitchFamily="2" charset="-122"/>
              <a:cs typeface="+mn-cs"/>
            </a:endParaRPr>
          </a:p>
          <a:p>
            <a:pPr marL="0" marR="0" indent="0" algn="l" defTabSz="914400" rtl="0" eaLnBrk="0" fontAlgn="base" latinLnBrk="0" hangingPunct="0">
              <a:lnSpc>
                <a:spcPct val="100000"/>
              </a:lnSpc>
              <a:spcBef>
                <a:spcPct val="30000"/>
              </a:spcBef>
              <a:spcAft>
                <a:spcPct val="0"/>
              </a:spcAft>
              <a:buClrTx/>
              <a:buSzTx/>
              <a:buFontTx/>
              <a:buNone/>
              <a:tabLst/>
              <a:defRPr/>
            </a:pPr>
            <a:r>
              <a:rPr kumimoji="1" lang="zh-CN" altLang="en-US" sz="1200" kern="1200" dirty="0" smtClean="0">
                <a:solidFill>
                  <a:schemeClr val="tx1"/>
                </a:solidFill>
                <a:effectLst/>
                <a:latin typeface="Times New Roman" pitchFamily="18" charset="0"/>
                <a:ea typeface="宋体" pitchFamily="2" charset="-122"/>
                <a:cs typeface="+mn-cs"/>
              </a:rPr>
              <a:t>那么，</a:t>
            </a:r>
            <a:r>
              <a:rPr lang="en-US" altLang="zh-CN" dirty="0" smtClean="0">
                <a:effectLst/>
              </a:rPr>
              <a:t>Google</a:t>
            </a:r>
            <a:r>
              <a:rPr kumimoji="1" lang="zh-CN" altLang="en-US" sz="1200" kern="1200" dirty="0" smtClean="0">
                <a:solidFill>
                  <a:schemeClr val="tx1"/>
                </a:solidFill>
                <a:effectLst/>
                <a:latin typeface="Times New Roman" pitchFamily="18" charset="0"/>
                <a:ea typeface="宋体" pitchFamily="2" charset="-122"/>
                <a:cs typeface="+mn-cs"/>
              </a:rPr>
              <a:t>为什么要干这件事儿呢？美国有个很牛的部门叫</a:t>
            </a:r>
            <a:r>
              <a:rPr lang="en-US" altLang="zh-CN" dirty="0" smtClean="0">
                <a:effectLst/>
              </a:rPr>
              <a:t>CDC</a:t>
            </a:r>
            <a:r>
              <a:rPr kumimoji="1" lang="zh-CN" altLang="en-US" sz="1200" kern="1200" dirty="0" smtClean="0">
                <a:solidFill>
                  <a:schemeClr val="tx1"/>
                </a:solidFill>
                <a:effectLst/>
                <a:latin typeface="Times New Roman" pitchFamily="18" charset="0"/>
                <a:ea typeface="宋体" pitchFamily="2" charset="-122"/>
                <a:cs typeface="+mn-cs"/>
              </a:rPr>
              <a:t>，也就是疾控中心，这个部门统计美国本土各个地区的疾病就诊人数然后汇总，最后公布出来。但是呢，这个公布的数据的结果一般要延迟两周左右，也就是说当天的流感的全国就诊人数，要在两周之后才知道，</a:t>
            </a:r>
            <a:r>
              <a:rPr lang="en-US" altLang="zh-CN" dirty="0" smtClean="0">
                <a:effectLst/>
              </a:rPr>
              <a:t>Google</a:t>
            </a:r>
            <a:r>
              <a:rPr kumimoji="1" lang="zh-CN" altLang="en-US" sz="1200" kern="1200" dirty="0" smtClean="0">
                <a:solidFill>
                  <a:schemeClr val="tx1"/>
                </a:solidFill>
                <a:effectLst/>
                <a:latin typeface="Times New Roman" pitchFamily="18" charset="0"/>
                <a:ea typeface="宋体" pitchFamily="2" charset="-122"/>
                <a:cs typeface="+mn-cs"/>
              </a:rPr>
              <a:t>呢就利用他的搜索引擎搭建了一个预测平台，把这个数据提前公布出来。所以说，</a:t>
            </a:r>
            <a:r>
              <a:rPr lang="en-US" altLang="zh-CN" dirty="0" smtClean="0">
                <a:effectLst/>
              </a:rPr>
              <a:t>Google</a:t>
            </a:r>
            <a:r>
              <a:rPr kumimoji="1" lang="zh-CN" altLang="en-US" sz="1200" kern="1200" dirty="0" smtClean="0">
                <a:solidFill>
                  <a:schemeClr val="tx1"/>
                </a:solidFill>
                <a:effectLst/>
                <a:latin typeface="Times New Roman" pitchFamily="18" charset="0"/>
                <a:ea typeface="宋体" pitchFamily="2" charset="-122"/>
                <a:cs typeface="+mn-cs"/>
              </a:rPr>
              <a:t>做的工作并不是实际意义上的预测什么时候流感来，而是将</a:t>
            </a:r>
            <a:r>
              <a:rPr lang="en-US" altLang="zh-CN" dirty="0" smtClean="0">
                <a:effectLst/>
              </a:rPr>
              <a:t>CDC</a:t>
            </a:r>
            <a:r>
              <a:rPr kumimoji="1" lang="zh-CN" altLang="en-US" sz="1200" kern="1200" dirty="0" smtClean="0">
                <a:solidFill>
                  <a:schemeClr val="tx1"/>
                </a:solidFill>
                <a:effectLst/>
                <a:latin typeface="Times New Roman" pitchFamily="18" charset="0"/>
                <a:ea typeface="宋体" pitchFamily="2" charset="-122"/>
                <a:cs typeface="+mn-cs"/>
              </a:rPr>
              <a:t>已经获得但是没及时公布的数据提前给猜出来，然后公布出来。当然，</a:t>
            </a:r>
            <a:r>
              <a:rPr lang="en-US" altLang="zh-CN" dirty="0" smtClean="0">
                <a:effectLst/>
              </a:rPr>
              <a:t>CDC</a:t>
            </a:r>
            <a:r>
              <a:rPr kumimoji="1" lang="zh-CN" altLang="en-US" sz="1200" kern="1200" dirty="0" smtClean="0">
                <a:solidFill>
                  <a:schemeClr val="tx1"/>
                </a:solidFill>
                <a:effectLst/>
                <a:latin typeface="Times New Roman" pitchFamily="18" charset="0"/>
                <a:ea typeface="宋体" pitchFamily="2" charset="-122"/>
                <a:cs typeface="+mn-cs"/>
              </a:rPr>
              <a:t>为什么不及时公布数据，人家官方总是有自己的一堆理由的，我等草民不得而知，但是有一点是重要的，就是“越及时的数据，价值越高”，数据是有价值属性的。所以，</a:t>
            </a:r>
            <a:r>
              <a:rPr lang="en-US" altLang="zh-CN" dirty="0" smtClean="0">
                <a:effectLst/>
              </a:rPr>
              <a:t>Google</a:t>
            </a:r>
            <a:r>
              <a:rPr kumimoji="1" lang="zh-CN" altLang="en-US" sz="1200" kern="1200" dirty="0" smtClean="0">
                <a:solidFill>
                  <a:schemeClr val="tx1"/>
                </a:solidFill>
                <a:effectLst/>
                <a:latin typeface="Times New Roman" pitchFamily="18" charset="0"/>
                <a:ea typeface="宋体" pitchFamily="2" charset="-122"/>
                <a:cs typeface="+mn-cs"/>
              </a:rPr>
              <a:t>的工作无论在公共管理领域还是商业领域都具有重大的意义。</a:t>
            </a:r>
            <a:endParaRPr kumimoji="1" lang="en-US" altLang="zh-CN" sz="1200" kern="1200" dirty="0" smtClean="0">
              <a:solidFill>
                <a:schemeClr val="tx1"/>
              </a:solidFill>
              <a:effectLst/>
              <a:latin typeface="Times New Roman" pitchFamily="18" charset="0"/>
              <a:ea typeface="宋体" pitchFamily="2" charset="-122"/>
              <a:cs typeface="+mn-cs"/>
            </a:endParaRPr>
          </a:p>
          <a:p>
            <a:pPr marL="0" marR="0" indent="0" algn="l" defTabSz="914400" rtl="0" eaLnBrk="0" fontAlgn="base" latinLnBrk="0" hangingPunct="0">
              <a:lnSpc>
                <a:spcPct val="100000"/>
              </a:lnSpc>
              <a:spcBef>
                <a:spcPct val="30000"/>
              </a:spcBef>
              <a:spcAft>
                <a:spcPct val="0"/>
              </a:spcAft>
              <a:buClrTx/>
              <a:buSzTx/>
              <a:buFontTx/>
              <a:buNone/>
              <a:tabLst/>
              <a:defRPr/>
            </a:pPr>
            <a:endParaRPr kumimoji="1" lang="en-US" altLang="zh-CN" sz="1200" kern="1200" dirty="0" smtClean="0">
              <a:solidFill>
                <a:schemeClr val="tx1"/>
              </a:solidFill>
              <a:effectLst/>
              <a:latin typeface="Times New Roman" pitchFamily="18" charset="0"/>
              <a:ea typeface="宋体" pitchFamily="2" charset="-122"/>
              <a:cs typeface="+mn-cs"/>
            </a:endParaRPr>
          </a:p>
          <a:p>
            <a:pPr marL="0" marR="0" indent="0" algn="l" defTabSz="914400" rtl="0" eaLnBrk="0" fontAlgn="base" latinLnBrk="0" hangingPunct="0">
              <a:lnSpc>
                <a:spcPct val="100000"/>
              </a:lnSpc>
              <a:spcBef>
                <a:spcPct val="30000"/>
              </a:spcBef>
              <a:spcAft>
                <a:spcPct val="0"/>
              </a:spcAft>
              <a:buClrTx/>
              <a:buSzTx/>
              <a:buFontTx/>
              <a:buNone/>
              <a:tabLst/>
              <a:defRPr/>
            </a:pPr>
            <a:r>
              <a:rPr kumimoji="1" lang="zh-CN" altLang="en-US" sz="1200" kern="1200" dirty="0" smtClean="0">
                <a:solidFill>
                  <a:schemeClr val="tx1"/>
                </a:solidFill>
                <a:effectLst/>
                <a:latin typeface="Times New Roman" pitchFamily="18" charset="0"/>
                <a:ea typeface="宋体" pitchFamily="2" charset="-122"/>
                <a:cs typeface="+mn-cs"/>
              </a:rPr>
              <a:t>首先，</a:t>
            </a:r>
            <a:r>
              <a:rPr lang="en-US" altLang="zh-CN" dirty="0" smtClean="0">
                <a:effectLst/>
              </a:rPr>
              <a:t>Google</a:t>
            </a:r>
            <a:r>
              <a:rPr kumimoji="1" lang="zh-CN" altLang="en-US" sz="1200" kern="1200" dirty="0" smtClean="0">
                <a:solidFill>
                  <a:schemeClr val="tx1"/>
                </a:solidFill>
                <a:effectLst/>
                <a:latin typeface="Times New Roman" pitchFamily="18" charset="0"/>
                <a:ea typeface="宋体" pitchFamily="2" charset="-122"/>
                <a:cs typeface="+mn-cs"/>
              </a:rPr>
              <a:t>在这个研究中对于数据的处理只用了很简单的</a:t>
            </a:r>
            <a:r>
              <a:rPr lang="en-US" altLang="zh-CN" dirty="0" smtClean="0">
                <a:effectLst/>
              </a:rPr>
              <a:t>Logistic</a:t>
            </a:r>
            <a:r>
              <a:rPr kumimoji="1" lang="zh-CN" altLang="en-US" sz="1200" kern="1200" dirty="0" smtClean="0">
                <a:solidFill>
                  <a:schemeClr val="tx1"/>
                </a:solidFill>
                <a:effectLst/>
                <a:latin typeface="Times New Roman" pitchFamily="18" charset="0"/>
                <a:ea typeface="宋体" pitchFamily="2" charset="-122"/>
                <a:cs typeface="+mn-cs"/>
              </a:rPr>
              <a:t>回归关系，稍微有点儿高中数学基础的朋友很快就可以理解应用，但是却成功地预测了复杂的流感规模的问题。</a:t>
            </a:r>
            <a:r>
              <a:rPr lang="en-US" altLang="zh-CN" dirty="0" smtClean="0">
                <a:effectLst/>
              </a:rPr>
              <a:t>Google</a:t>
            </a:r>
            <a:r>
              <a:rPr kumimoji="1" lang="zh-CN" altLang="en-US" sz="1200" kern="1200" dirty="0" smtClean="0">
                <a:solidFill>
                  <a:schemeClr val="tx1"/>
                </a:solidFill>
                <a:effectLst/>
                <a:latin typeface="Times New Roman" pitchFamily="18" charset="0"/>
                <a:ea typeface="宋体" pitchFamily="2" charset="-122"/>
                <a:cs typeface="+mn-cs"/>
              </a:rPr>
              <a:t>用了简单的方法，预测复杂的问题。这件事为什么能成？根本就在于，</a:t>
            </a:r>
            <a:r>
              <a:rPr lang="en-US" altLang="zh-CN" dirty="0" smtClean="0">
                <a:effectLst/>
              </a:rPr>
              <a:t>Google</a:t>
            </a:r>
            <a:r>
              <a:rPr kumimoji="1" lang="zh-CN" altLang="en-US" sz="1200" kern="1200" dirty="0" smtClean="0">
                <a:solidFill>
                  <a:schemeClr val="tx1"/>
                </a:solidFill>
                <a:effectLst/>
                <a:latin typeface="Times New Roman" pitchFamily="18" charset="0"/>
                <a:ea typeface="宋体" pitchFamily="2" charset="-122"/>
                <a:cs typeface="+mn-cs"/>
              </a:rPr>
              <a:t>的数据量大。这就是</a:t>
            </a:r>
            <a:r>
              <a:rPr lang="en-US" altLang="zh-CN" dirty="0" smtClean="0">
                <a:effectLst/>
              </a:rPr>
              <a:t>Google</a:t>
            </a:r>
            <a:r>
              <a:rPr kumimoji="1" lang="zh-CN" altLang="en-US" sz="1200" kern="1200" dirty="0" smtClean="0">
                <a:solidFill>
                  <a:schemeClr val="tx1"/>
                </a:solidFill>
                <a:effectLst/>
                <a:latin typeface="Times New Roman" pitchFamily="18" charset="0"/>
                <a:ea typeface="宋体" pitchFamily="2" charset="-122"/>
                <a:cs typeface="+mn-cs"/>
              </a:rPr>
              <a:t>对于大数据的价值观。</a:t>
            </a:r>
            <a:r>
              <a:rPr kumimoji="1" lang="zh-CN" altLang="en-US" sz="1200" b="1" kern="1200" dirty="0" smtClean="0">
                <a:solidFill>
                  <a:schemeClr val="tx1"/>
                </a:solidFill>
                <a:effectLst/>
                <a:latin typeface="Times New Roman" pitchFamily="18" charset="0"/>
                <a:ea typeface="宋体" pitchFamily="2" charset="-122"/>
                <a:cs typeface="+mn-cs"/>
              </a:rPr>
              <a:t>大就是一切！</a:t>
            </a:r>
            <a:r>
              <a:rPr lang="en-US" altLang="zh-CN" dirty="0" smtClean="0">
                <a:effectLst/>
              </a:rPr>
              <a:t>Google</a:t>
            </a:r>
            <a:r>
              <a:rPr kumimoji="1" lang="zh-CN" altLang="en-US" sz="1200" kern="1200" dirty="0" smtClean="0">
                <a:solidFill>
                  <a:schemeClr val="tx1"/>
                </a:solidFill>
                <a:effectLst/>
                <a:latin typeface="Times New Roman" pitchFamily="18" charset="0"/>
                <a:ea typeface="宋体" pitchFamily="2" charset="-122"/>
                <a:cs typeface="+mn-cs"/>
              </a:rPr>
              <a:t>有着世界上最大的搜索引擎，全世界每个用户的搜索行为都给存在</a:t>
            </a:r>
            <a:r>
              <a:rPr lang="en-US" altLang="zh-CN" dirty="0" smtClean="0">
                <a:effectLst/>
              </a:rPr>
              <a:t>Google</a:t>
            </a:r>
            <a:r>
              <a:rPr kumimoji="1" lang="zh-CN" altLang="en-US" sz="1200" kern="1200" dirty="0" smtClean="0">
                <a:solidFill>
                  <a:schemeClr val="tx1"/>
                </a:solidFill>
                <a:effectLst/>
                <a:latin typeface="Times New Roman" pitchFamily="18" charset="0"/>
                <a:ea typeface="宋体" pitchFamily="2" charset="-122"/>
                <a:cs typeface="+mn-cs"/>
              </a:rPr>
              <a:t>的数据库里，</a:t>
            </a:r>
            <a:r>
              <a:rPr lang="en-US" altLang="zh-CN" dirty="0" smtClean="0">
                <a:effectLst/>
              </a:rPr>
              <a:t>Google</a:t>
            </a:r>
            <a:r>
              <a:rPr kumimoji="1" lang="zh-CN" altLang="en-US" sz="1200" kern="1200" dirty="0" smtClean="0">
                <a:solidFill>
                  <a:schemeClr val="tx1"/>
                </a:solidFill>
                <a:effectLst/>
                <a:latin typeface="Times New Roman" pitchFamily="18" charset="0"/>
                <a:ea typeface="宋体" pitchFamily="2" charset="-122"/>
                <a:cs typeface="+mn-cs"/>
              </a:rPr>
              <a:t>想，我有这么多数据，不是想知道啥就知道啥。于是</a:t>
            </a:r>
            <a:r>
              <a:rPr lang="en-US" altLang="zh-CN" dirty="0" smtClean="0">
                <a:effectLst/>
              </a:rPr>
              <a:t>Google</a:t>
            </a:r>
            <a:r>
              <a:rPr kumimoji="1" lang="zh-CN" altLang="en-US" sz="1200" kern="1200" dirty="0" smtClean="0">
                <a:solidFill>
                  <a:schemeClr val="tx1"/>
                </a:solidFill>
                <a:effectLst/>
                <a:latin typeface="Times New Roman" pitchFamily="18" charset="0"/>
                <a:ea typeface="宋体" pitchFamily="2" charset="-122"/>
                <a:cs typeface="+mn-cs"/>
              </a:rPr>
              <a:t>就做了这个伟大的事儿！</a:t>
            </a:r>
            <a:endParaRPr kumimoji="1" lang="zh-CN" altLang="zh-CN" sz="1200" kern="1200" dirty="0" smtClean="0">
              <a:solidFill>
                <a:schemeClr val="tx1"/>
              </a:solidFill>
              <a:effectLst/>
              <a:latin typeface="Times New Roman" pitchFamily="18" charset="0"/>
              <a:ea typeface="宋体" pitchFamily="2" charset="-122"/>
              <a:cs typeface="+mn-cs"/>
            </a:endParaRPr>
          </a:p>
          <a:p>
            <a:endParaRPr lang="zh-CN" altLang="en-US" dirty="0"/>
          </a:p>
        </p:txBody>
      </p:sp>
      <p:sp>
        <p:nvSpPr>
          <p:cNvPr id="4" name="灯片编号占位符 3"/>
          <p:cNvSpPr>
            <a:spLocks noGrp="1"/>
          </p:cNvSpPr>
          <p:nvPr>
            <p:ph type="sldNum" sz="quarter" idx="10"/>
          </p:nvPr>
        </p:nvSpPr>
        <p:spPr/>
        <p:txBody>
          <a:bodyPr/>
          <a:lstStyle/>
          <a:p>
            <a:pPr>
              <a:defRPr/>
            </a:pPr>
            <a:fld id="{1DBA2871-DC6D-443A-B4CC-1F73A629D13C}" type="slidenum">
              <a:rPr lang="en-US" altLang="zh-CN" smtClean="0"/>
              <a:pPr>
                <a:defRPr/>
              </a:pPr>
              <a:t>4</a:t>
            </a:fld>
            <a:endParaRPr lang="en-US" altLang="zh-CN"/>
          </a:p>
        </p:txBody>
      </p:sp>
    </p:spTree>
    <p:extLst>
      <p:ext uri="{BB962C8B-B14F-4D97-AF65-F5344CB8AC3E}">
        <p14:creationId xmlns:p14="http://schemas.microsoft.com/office/powerpoint/2010/main" val="5686228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indent="0" algn="l" defTabSz="914400" rtl="0" eaLnBrk="0" fontAlgn="base" latinLnBrk="0" hangingPunct="0">
              <a:lnSpc>
                <a:spcPct val="100000"/>
              </a:lnSpc>
              <a:spcBef>
                <a:spcPct val="30000"/>
              </a:spcBef>
              <a:spcAft>
                <a:spcPct val="0"/>
              </a:spcAft>
              <a:buClrTx/>
              <a:buSzTx/>
              <a:buFontTx/>
              <a:buNone/>
              <a:tabLst/>
              <a:defRPr/>
            </a:pPr>
            <a:r>
              <a:rPr lang="zh-CN" altLang="zh-CN" sz="1200" b="1" dirty="0" smtClean="0"/>
              <a:t>人立方关系搜索是微软亚洲研究院开发设计的一款新型社会化搜索引擎，它能从超过十亿的中文网页中自动的抽取出人名、地名、机构名以及中文短语，并通过算法自动的计算出它们之间存在关系的可能性。人立方搜索的创建理念来自于“六度空间”。</a:t>
            </a:r>
          </a:p>
          <a:p>
            <a:endParaRPr lang="zh-CN" altLang="en-US" dirty="0"/>
          </a:p>
        </p:txBody>
      </p:sp>
      <p:sp>
        <p:nvSpPr>
          <p:cNvPr id="4" name="灯片编号占位符 3"/>
          <p:cNvSpPr>
            <a:spLocks noGrp="1"/>
          </p:cNvSpPr>
          <p:nvPr>
            <p:ph type="sldNum" sz="quarter" idx="10"/>
          </p:nvPr>
        </p:nvSpPr>
        <p:spPr/>
        <p:txBody>
          <a:bodyPr/>
          <a:lstStyle/>
          <a:p>
            <a:pPr>
              <a:defRPr/>
            </a:pPr>
            <a:fld id="{1DBA2871-DC6D-443A-B4CC-1F73A629D13C}" type="slidenum">
              <a:rPr lang="en-US" altLang="zh-CN" smtClean="0"/>
              <a:pPr>
                <a:defRPr/>
              </a:pPr>
              <a:t>5</a:t>
            </a:fld>
            <a:endParaRPr lang="en-US" altLang="zh-CN"/>
          </a:p>
        </p:txBody>
      </p:sp>
    </p:spTree>
    <p:extLst>
      <p:ext uri="{BB962C8B-B14F-4D97-AF65-F5344CB8AC3E}">
        <p14:creationId xmlns:p14="http://schemas.microsoft.com/office/powerpoint/2010/main" val="87294781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kumimoji="1" lang="en-US" altLang="zh-CN" sz="1200" kern="1200" dirty="0" smtClean="0">
                <a:solidFill>
                  <a:schemeClr val="tx1"/>
                </a:solidFill>
                <a:effectLst/>
                <a:latin typeface="Times New Roman" pitchFamily="18" charset="0"/>
                <a:ea typeface="宋体" pitchFamily="2" charset="-122"/>
                <a:cs typeface="+mn-cs"/>
              </a:rPr>
              <a:t>http://cn.akinator.com</a:t>
            </a:r>
          </a:p>
          <a:p>
            <a:endParaRPr kumimoji="1" lang="en-US" altLang="zh-CN" sz="1200" kern="1200" dirty="0" smtClean="0">
              <a:solidFill>
                <a:schemeClr val="tx1"/>
              </a:solidFill>
              <a:effectLst/>
              <a:latin typeface="Times New Roman" pitchFamily="18" charset="0"/>
              <a:ea typeface="宋体" pitchFamily="2" charset="-122"/>
              <a:cs typeface="+mn-cs"/>
            </a:endParaRPr>
          </a:p>
          <a:p>
            <a:r>
              <a:rPr kumimoji="1" lang="en-US" altLang="zh-CN" sz="1200" kern="1200" dirty="0" smtClean="0">
                <a:solidFill>
                  <a:schemeClr val="tx1"/>
                </a:solidFill>
                <a:effectLst/>
                <a:latin typeface="Times New Roman" pitchFamily="18" charset="0"/>
                <a:ea typeface="宋体" pitchFamily="2" charset="-122"/>
                <a:cs typeface="+mn-cs"/>
              </a:rPr>
              <a:t>APP</a:t>
            </a:r>
            <a:r>
              <a:rPr kumimoji="1" lang="zh-CN" altLang="zh-CN" sz="1200" kern="1200" dirty="0" smtClean="0">
                <a:solidFill>
                  <a:schemeClr val="tx1"/>
                </a:solidFill>
                <a:effectLst/>
                <a:latin typeface="Times New Roman" pitchFamily="18" charset="0"/>
                <a:ea typeface="宋体" pitchFamily="2" charset="-122"/>
                <a:cs typeface="+mn-cs"/>
              </a:rPr>
              <a:t>应用，问</a:t>
            </a:r>
            <a:r>
              <a:rPr kumimoji="1" lang="en-US" altLang="zh-CN" sz="1200" kern="1200" dirty="0" smtClean="0">
                <a:solidFill>
                  <a:schemeClr val="tx1"/>
                </a:solidFill>
                <a:effectLst/>
                <a:latin typeface="Times New Roman" pitchFamily="18" charset="0"/>
                <a:ea typeface="宋体" pitchFamily="2" charset="-122"/>
                <a:cs typeface="+mn-cs"/>
              </a:rPr>
              <a:t>20</a:t>
            </a:r>
            <a:r>
              <a:rPr kumimoji="1" lang="zh-CN" altLang="zh-CN" sz="1200" kern="1200" dirty="0" smtClean="0">
                <a:solidFill>
                  <a:schemeClr val="tx1"/>
                </a:solidFill>
                <a:effectLst/>
                <a:latin typeface="Times New Roman" pitchFamily="18" charset="0"/>
                <a:ea typeface="宋体" pitchFamily="2" charset="-122"/>
                <a:cs typeface="+mn-cs"/>
              </a:rPr>
              <a:t>个问题，猜出人是谁</a:t>
            </a:r>
          </a:p>
          <a:p>
            <a:r>
              <a:rPr kumimoji="1" lang="en-US" altLang="zh-CN" sz="1200" u="sng" kern="1200" dirty="0" smtClean="0">
                <a:solidFill>
                  <a:schemeClr val="tx1"/>
                </a:solidFill>
                <a:effectLst/>
                <a:latin typeface="Times New Roman" pitchFamily="18" charset="0"/>
                <a:ea typeface="宋体" pitchFamily="2" charset="-122"/>
                <a:cs typeface="+mn-cs"/>
                <a:hlinkClick r:id="rId3"/>
              </a:rPr>
              <a:t>http://en.akinator.com/personnages/jeu</a:t>
            </a:r>
            <a:endParaRPr kumimoji="1" lang="zh-CN" altLang="zh-CN" sz="1200" kern="1200" dirty="0" smtClean="0">
              <a:solidFill>
                <a:schemeClr val="tx1"/>
              </a:solidFill>
              <a:effectLst/>
              <a:latin typeface="Times New Roman" pitchFamily="18" charset="0"/>
              <a:ea typeface="宋体" pitchFamily="2" charset="-122"/>
              <a:cs typeface="+mn-cs"/>
            </a:endParaRPr>
          </a:p>
          <a:p>
            <a:r>
              <a:rPr kumimoji="1" lang="en-US" altLang="zh-CN" sz="1200" kern="1200" dirty="0" smtClean="0">
                <a:solidFill>
                  <a:schemeClr val="tx1"/>
                </a:solidFill>
                <a:effectLst/>
                <a:latin typeface="Times New Roman" pitchFamily="18" charset="0"/>
                <a:ea typeface="宋体" pitchFamily="2" charset="-122"/>
                <a:cs typeface="+mn-cs"/>
              </a:rPr>
              <a:t>http://cn.akinator.com</a:t>
            </a:r>
            <a:endParaRPr kumimoji="1" lang="zh-CN" altLang="zh-CN" sz="1200" kern="1200" dirty="0" smtClean="0">
              <a:solidFill>
                <a:schemeClr val="tx1"/>
              </a:solidFill>
              <a:effectLst/>
              <a:latin typeface="Times New Roman" pitchFamily="18" charset="0"/>
              <a:ea typeface="宋体" pitchFamily="2" charset="-122"/>
              <a:cs typeface="+mn-cs"/>
            </a:endParaRPr>
          </a:p>
          <a:p>
            <a:endParaRPr lang="en-US" altLang="zh-CN" dirty="0" smtClean="0"/>
          </a:p>
          <a:p>
            <a:r>
              <a:rPr lang="en-US" altLang="zh-CN" dirty="0" smtClean="0"/>
              <a:t>https://www.silvergames.com/en/akinator</a:t>
            </a:r>
            <a:endParaRPr lang="zh-CN" altLang="en-US" dirty="0"/>
          </a:p>
        </p:txBody>
      </p:sp>
      <p:sp>
        <p:nvSpPr>
          <p:cNvPr id="4" name="灯片编号占位符 3"/>
          <p:cNvSpPr>
            <a:spLocks noGrp="1"/>
          </p:cNvSpPr>
          <p:nvPr>
            <p:ph type="sldNum" sz="quarter" idx="10"/>
          </p:nvPr>
        </p:nvSpPr>
        <p:spPr/>
        <p:txBody>
          <a:bodyPr/>
          <a:lstStyle/>
          <a:p>
            <a:pPr>
              <a:defRPr/>
            </a:pPr>
            <a:fld id="{1DBA2871-DC6D-443A-B4CC-1F73A629D13C}" type="slidenum">
              <a:rPr lang="en-US" altLang="zh-CN" smtClean="0"/>
              <a:pPr>
                <a:defRPr/>
              </a:pPr>
              <a:t>6</a:t>
            </a:fld>
            <a:endParaRPr lang="en-US" altLang="zh-CN"/>
          </a:p>
        </p:txBody>
      </p:sp>
    </p:spTree>
    <p:extLst>
      <p:ext uri="{BB962C8B-B14F-4D97-AF65-F5344CB8AC3E}">
        <p14:creationId xmlns:p14="http://schemas.microsoft.com/office/powerpoint/2010/main" val="19783814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kumimoji="1" lang="zh-CN" altLang="zh-CN" sz="1200" kern="1200" dirty="0" smtClean="0">
                <a:solidFill>
                  <a:schemeClr val="tx1"/>
                </a:solidFill>
                <a:effectLst/>
                <a:latin typeface="Times New Roman" pitchFamily="18" charset="0"/>
                <a:ea typeface="宋体" pitchFamily="2" charset="-122"/>
                <a:cs typeface="+mn-cs"/>
              </a:rPr>
              <a:t> 语言让人认识世界，建立相互关系；但其限制和缺点是无法突破个体的时空界限。文字的出现实现了人类思想的远距离和世代相袭传递，人类联合因此扩大；它虽然突破了空间上的限制，但需要耗费太长的时间。电信通讯的创造突破了空间的限制，为电子计算机与互联网创造奠定了基础。 </a:t>
            </a:r>
          </a:p>
          <a:p>
            <a:r>
              <a:rPr kumimoji="1" lang="en-US" altLang="zh-CN" sz="1200" kern="1200" dirty="0" smtClean="0">
                <a:solidFill>
                  <a:schemeClr val="tx1"/>
                </a:solidFill>
                <a:effectLst/>
                <a:latin typeface="Times New Roman" pitchFamily="18" charset="0"/>
                <a:ea typeface="宋体" pitchFamily="2" charset="-122"/>
                <a:cs typeface="+mn-cs"/>
              </a:rPr>
              <a:t>    </a:t>
            </a:r>
            <a:r>
              <a:rPr kumimoji="1" lang="zh-CN" altLang="zh-CN" sz="1200" kern="1200" dirty="0" smtClean="0">
                <a:solidFill>
                  <a:schemeClr val="tx1"/>
                </a:solidFill>
                <a:effectLst/>
                <a:latin typeface="Times New Roman" pitchFamily="18" charset="0"/>
                <a:ea typeface="宋体" pitchFamily="2" charset="-122"/>
                <a:cs typeface="+mn-cs"/>
              </a:rPr>
              <a:t>电子计算机与互联网的创造，是一次伟大而空前的大综合，其特点是：所有信息全部归结为数据表达形式</a:t>
            </a:r>
            <a:r>
              <a:rPr kumimoji="1" lang="en-US" altLang="zh-CN" sz="1200" kern="1200" dirty="0" smtClean="0">
                <a:solidFill>
                  <a:schemeClr val="tx1"/>
                </a:solidFill>
                <a:effectLst/>
                <a:latin typeface="Times New Roman" pitchFamily="18" charset="0"/>
                <a:ea typeface="宋体" pitchFamily="2" charset="-122"/>
                <a:cs typeface="+mn-cs"/>
              </a:rPr>
              <a:t>——0</a:t>
            </a:r>
            <a:r>
              <a:rPr kumimoji="1" lang="zh-CN" altLang="zh-CN" sz="1200" kern="1200" dirty="0" smtClean="0">
                <a:solidFill>
                  <a:schemeClr val="tx1"/>
                </a:solidFill>
                <a:effectLst/>
                <a:latin typeface="Times New Roman" pitchFamily="18" charset="0"/>
                <a:ea typeface="宋体" pitchFamily="2" charset="-122"/>
                <a:cs typeface="+mn-cs"/>
              </a:rPr>
              <a:t>和</a:t>
            </a:r>
            <a:r>
              <a:rPr kumimoji="1" lang="en-US" altLang="zh-CN" sz="1200" kern="1200" dirty="0" smtClean="0">
                <a:solidFill>
                  <a:schemeClr val="tx1"/>
                </a:solidFill>
                <a:effectLst/>
                <a:latin typeface="Times New Roman" pitchFamily="18" charset="0"/>
                <a:ea typeface="宋体" pitchFamily="2" charset="-122"/>
                <a:cs typeface="+mn-cs"/>
              </a:rPr>
              <a:t>1</a:t>
            </a:r>
            <a:r>
              <a:rPr kumimoji="1" lang="zh-CN" altLang="zh-CN" sz="1200" kern="1200" dirty="0" smtClean="0">
                <a:solidFill>
                  <a:schemeClr val="tx1"/>
                </a:solidFill>
                <a:effectLst/>
                <a:latin typeface="Times New Roman" pitchFamily="18" charset="0"/>
                <a:ea typeface="宋体" pitchFamily="2" charset="-122"/>
                <a:cs typeface="+mn-cs"/>
              </a:rPr>
              <a:t>。只要有了</a:t>
            </a:r>
            <a:r>
              <a:rPr kumimoji="1" lang="en-US" altLang="zh-CN" sz="1200" kern="1200" dirty="0" smtClean="0">
                <a:solidFill>
                  <a:schemeClr val="tx1"/>
                </a:solidFill>
                <a:effectLst/>
                <a:latin typeface="Times New Roman" pitchFamily="18" charset="0"/>
                <a:ea typeface="宋体" pitchFamily="2" charset="-122"/>
                <a:cs typeface="+mn-cs"/>
              </a:rPr>
              <a:t>0</a:t>
            </a:r>
            <a:r>
              <a:rPr kumimoji="1" lang="zh-CN" altLang="zh-CN" sz="1200" kern="1200" dirty="0" smtClean="0">
                <a:solidFill>
                  <a:schemeClr val="tx1"/>
                </a:solidFill>
                <a:effectLst/>
                <a:latin typeface="Times New Roman" pitchFamily="18" charset="0"/>
                <a:ea typeface="宋体" pitchFamily="2" charset="-122"/>
                <a:cs typeface="+mn-cs"/>
              </a:rPr>
              <a:t>和</a:t>
            </a:r>
            <a:r>
              <a:rPr kumimoji="1" lang="en-US" altLang="zh-CN" sz="1200" kern="1200" dirty="0" smtClean="0">
                <a:solidFill>
                  <a:schemeClr val="tx1"/>
                </a:solidFill>
                <a:effectLst/>
                <a:latin typeface="Times New Roman" pitchFamily="18" charset="0"/>
                <a:ea typeface="宋体" pitchFamily="2" charset="-122"/>
                <a:cs typeface="+mn-cs"/>
              </a:rPr>
              <a:t>1</a:t>
            </a:r>
            <a:r>
              <a:rPr kumimoji="1" lang="zh-CN" altLang="zh-CN" sz="1200" kern="1200" dirty="0" smtClean="0">
                <a:solidFill>
                  <a:schemeClr val="tx1"/>
                </a:solidFill>
                <a:effectLst/>
                <a:latin typeface="Times New Roman" pitchFamily="18" charset="0"/>
                <a:ea typeface="宋体" pitchFamily="2" charset="-122"/>
                <a:cs typeface="+mn-cs"/>
              </a:rPr>
              <a:t>，加上逻辑关系，就可以构成全部世界。而世界本来就是这样构成的，已经出现的读脑机、脑电波指挥的电脑、智能机器人和人脑插入的芯片等等，都说明大脑的认知方式与世界事物同构。</a:t>
            </a:r>
            <a:endParaRPr kumimoji="1" lang="en-US" altLang="zh-CN" sz="1200" kern="1200" dirty="0" smtClean="0">
              <a:solidFill>
                <a:schemeClr val="tx1"/>
              </a:solidFill>
              <a:effectLst/>
              <a:latin typeface="Times New Roman" pitchFamily="18" charset="0"/>
              <a:ea typeface="宋体" pitchFamily="2" charset="-122"/>
              <a:cs typeface="+mn-cs"/>
            </a:endParaRPr>
          </a:p>
          <a:p>
            <a:endParaRPr kumimoji="1" lang="en-US" altLang="zh-CN" sz="1200" kern="1200" dirty="0" smtClean="0">
              <a:solidFill>
                <a:schemeClr val="tx1"/>
              </a:solidFill>
              <a:effectLst/>
              <a:latin typeface="Times New Roman" pitchFamily="18" charset="0"/>
              <a:ea typeface="宋体" pitchFamily="2" charset="-122"/>
              <a:cs typeface="+mn-cs"/>
            </a:endParaRPr>
          </a:p>
          <a:p>
            <a:endParaRPr kumimoji="1" lang="en-US" altLang="zh-CN" sz="1200" kern="1200" dirty="0" smtClean="0">
              <a:solidFill>
                <a:schemeClr val="tx1"/>
              </a:solidFill>
              <a:effectLst/>
              <a:latin typeface="Times New Roman" pitchFamily="18" charset="0"/>
              <a:ea typeface="宋体" pitchFamily="2" charset="-122"/>
              <a:cs typeface="+mn-cs"/>
            </a:endParaRPr>
          </a:p>
          <a:p>
            <a:r>
              <a:rPr kumimoji="1" lang="zh-CN" altLang="zh-CN" sz="1200" kern="1200" dirty="0" smtClean="0">
                <a:solidFill>
                  <a:schemeClr val="tx1"/>
                </a:solidFill>
                <a:effectLst/>
                <a:latin typeface="Times New Roman" pitchFamily="18" charset="0"/>
                <a:ea typeface="宋体" pitchFamily="2" charset="-122"/>
                <a:cs typeface="+mn-cs"/>
              </a:rPr>
              <a:t>大数据方法揭示了因果关系是常规性的，终极的关系应从事物之间的相关性、同构性中寻找。数据反映的是具有同构关系的两个序列的关系信息，一个对象的运动轨迹，通过另一个序列的载体编码来表达。认识者获得的不是对象本身的绝对映像，而是离开了对象，从对象中抽象出来的、关于对象运动轨迹的数据。从这一角度看，同构关系是大数据的数理哲学基础。  </a:t>
            </a:r>
          </a:p>
          <a:p>
            <a:endParaRPr lang="zh-CN" altLang="en-US" dirty="0"/>
          </a:p>
        </p:txBody>
      </p:sp>
      <p:sp>
        <p:nvSpPr>
          <p:cNvPr id="4" name="灯片编号占位符 3"/>
          <p:cNvSpPr>
            <a:spLocks noGrp="1"/>
          </p:cNvSpPr>
          <p:nvPr>
            <p:ph type="sldNum" sz="quarter" idx="10"/>
          </p:nvPr>
        </p:nvSpPr>
        <p:spPr/>
        <p:txBody>
          <a:bodyPr/>
          <a:lstStyle/>
          <a:p>
            <a:pPr>
              <a:defRPr/>
            </a:pPr>
            <a:fld id="{1DBA2871-DC6D-443A-B4CC-1F73A629D13C}" type="slidenum">
              <a:rPr lang="en-US" altLang="zh-CN" smtClean="0"/>
              <a:pPr>
                <a:defRPr/>
              </a:pPr>
              <a:t>16</a:t>
            </a:fld>
            <a:endParaRPr lang="en-US" altLang="zh-CN"/>
          </a:p>
        </p:txBody>
      </p:sp>
    </p:spTree>
    <p:extLst>
      <p:ext uri="{BB962C8B-B14F-4D97-AF65-F5344CB8AC3E}">
        <p14:creationId xmlns:p14="http://schemas.microsoft.com/office/powerpoint/2010/main" val="89513278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9330" name="幻灯片图像占位符 1"/>
          <p:cNvSpPr>
            <a:spLocks noGrp="1" noRot="1" noChangeAspect="1" noTextEdit="1"/>
          </p:cNvSpPr>
          <p:nvPr>
            <p:ph type="sldImg"/>
          </p:nvPr>
        </p:nvSpPr>
        <p:spPr>
          <a:ln/>
        </p:spPr>
      </p:sp>
      <p:sp>
        <p:nvSpPr>
          <p:cNvPr id="3" name="备注占位符 2"/>
          <p:cNvSpPr>
            <a:spLocks noGrp="1"/>
          </p:cNvSpPr>
          <p:nvPr>
            <p:ph type="body" idx="1"/>
          </p:nvPr>
        </p:nvSpPr>
        <p:spPr/>
        <p:txBody>
          <a:bodyPr>
            <a:normAutofit fontScale="25000" lnSpcReduction="20000"/>
          </a:bodyPr>
          <a:lstStyle/>
          <a:p>
            <a:r>
              <a:rPr lang="en-US" altLang="zh-CN" dirty="0" smtClean="0"/>
              <a:t>2001</a:t>
            </a:r>
            <a:r>
              <a:rPr lang="zh-CN" altLang="en-US" dirty="0" smtClean="0"/>
              <a:t>年，高德纳分析员道格</a:t>
            </a:r>
            <a:r>
              <a:rPr lang="en-US" altLang="zh-CN" dirty="0" smtClean="0"/>
              <a:t>·</a:t>
            </a:r>
            <a:r>
              <a:rPr lang="zh-CN" altLang="en-US" dirty="0" smtClean="0"/>
              <a:t>莱尼在一份与其</a:t>
            </a:r>
            <a:r>
              <a:rPr lang="en-US" altLang="zh-CN" dirty="0" smtClean="0"/>
              <a:t>2001</a:t>
            </a:r>
            <a:r>
              <a:rPr lang="zh-CN" altLang="en-US" dirty="0" smtClean="0"/>
              <a:t>年的研究相关的演讲中指出，数据增长有三个方向的挑战和机遇：量（</a:t>
            </a:r>
            <a:r>
              <a:rPr lang="en-US" altLang="zh-CN" dirty="0" smtClean="0"/>
              <a:t>Volume</a:t>
            </a:r>
            <a:r>
              <a:rPr lang="zh-CN" altLang="en-US" dirty="0" smtClean="0"/>
              <a:t>），即数据多少；速（</a:t>
            </a:r>
            <a:r>
              <a:rPr lang="en-US" altLang="zh-CN" dirty="0" smtClean="0"/>
              <a:t>Velocity</a:t>
            </a:r>
            <a:r>
              <a:rPr lang="zh-CN" altLang="en-US" dirty="0" smtClean="0"/>
              <a:t>），即资料输入、输出的速度；类（</a:t>
            </a:r>
            <a:r>
              <a:rPr lang="en-US" altLang="zh-CN" dirty="0" smtClean="0"/>
              <a:t>Variety</a:t>
            </a:r>
            <a:r>
              <a:rPr lang="zh-CN" altLang="en-US" dirty="0" smtClean="0"/>
              <a:t>），即多样性。</a:t>
            </a:r>
          </a:p>
          <a:p>
            <a:r>
              <a:rPr lang="zh-CN" altLang="en-US" dirty="0" smtClean="0"/>
              <a:t>在莱尼的理论基础上，</a:t>
            </a:r>
            <a:r>
              <a:rPr lang="en-US" altLang="zh-CN" dirty="0" smtClean="0"/>
              <a:t>IBM</a:t>
            </a:r>
            <a:r>
              <a:rPr lang="zh-CN" altLang="en-US" dirty="0" smtClean="0"/>
              <a:t>提出大数据的</a:t>
            </a:r>
            <a:r>
              <a:rPr lang="en-US" altLang="zh-CN" dirty="0" smtClean="0"/>
              <a:t>4V</a:t>
            </a:r>
            <a:r>
              <a:rPr lang="zh-CN" altLang="en-US" dirty="0" smtClean="0"/>
              <a:t>特征？得到了业界的广泛认可。第一，数量（</a:t>
            </a:r>
            <a:r>
              <a:rPr lang="en-US" altLang="zh-CN" dirty="0" smtClean="0"/>
              <a:t>Volume</a:t>
            </a:r>
            <a:r>
              <a:rPr lang="zh-CN" altLang="en-US" dirty="0" smtClean="0"/>
              <a:t>），即数据巨大，从</a:t>
            </a:r>
            <a:r>
              <a:rPr lang="en-US" altLang="zh-CN" dirty="0" smtClean="0"/>
              <a:t>TB</a:t>
            </a:r>
            <a:r>
              <a:rPr lang="zh-CN" altLang="en-US" dirty="0" smtClean="0"/>
              <a:t>级别跃升到</a:t>
            </a:r>
            <a:r>
              <a:rPr lang="en-US" altLang="zh-CN" dirty="0" smtClean="0"/>
              <a:t>PB</a:t>
            </a:r>
            <a:r>
              <a:rPr lang="zh-CN" altLang="en-US" dirty="0" smtClean="0"/>
              <a:t>级别；第二，多样性（</a:t>
            </a:r>
            <a:r>
              <a:rPr lang="en-US" altLang="zh-CN" dirty="0" smtClean="0"/>
              <a:t>Variety</a:t>
            </a:r>
            <a:r>
              <a:rPr lang="zh-CN" altLang="en-US" dirty="0" smtClean="0"/>
              <a:t>），即数据类型繁多，不仅包括传统的格式化数据，还包括来自互联网的网络日志、视频、图片、地理位置信息等；第三，速度（</a:t>
            </a:r>
            <a:r>
              <a:rPr lang="en-US" altLang="zh-CN" dirty="0" smtClean="0"/>
              <a:t>Velocity</a:t>
            </a:r>
            <a:r>
              <a:rPr lang="zh-CN" altLang="en-US" dirty="0" smtClean="0"/>
              <a:t>），即处理速度快；第四，真实性（</a:t>
            </a:r>
            <a:r>
              <a:rPr lang="en-US" altLang="zh-CN" dirty="0" smtClean="0"/>
              <a:t>Veracity</a:t>
            </a:r>
            <a:r>
              <a:rPr lang="zh-CN" altLang="en-US" dirty="0" smtClean="0"/>
              <a:t>），即追求高质量的数据。</a:t>
            </a:r>
          </a:p>
          <a:p>
            <a:pPr>
              <a:defRPr/>
            </a:pPr>
            <a:endParaRPr lang="en-US" altLang="zh-CN" dirty="0" smtClean="0">
              <a:latin typeface="+mn-lt"/>
              <a:ea typeface="+mn-ea"/>
            </a:endParaRPr>
          </a:p>
          <a:p>
            <a:r>
              <a:rPr lang="en-US" altLang="zh-CN" dirty="0" smtClean="0"/>
              <a:t>2001</a:t>
            </a:r>
            <a:r>
              <a:rPr lang="zh-CN" altLang="en-US" dirty="0" smtClean="0"/>
              <a:t>年，高德纳分析员道格</a:t>
            </a:r>
            <a:r>
              <a:rPr lang="en-US" altLang="zh-CN" dirty="0" smtClean="0"/>
              <a:t>·</a:t>
            </a:r>
            <a:r>
              <a:rPr lang="zh-CN" altLang="en-US" dirty="0" smtClean="0"/>
              <a:t>莱尼在一份与其</a:t>
            </a:r>
            <a:r>
              <a:rPr lang="en-US" altLang="zh-CN" dirty="0" smtClean="0"/>
              <a:t>2001</a:t>
            </a:r>
            <a:r>
              <a:rPr lang="zh-CN" altLang="en-US" dirty="0" smtClean="0"/>
              <a:t>年的研究相关的演讲中指出，数据增长有三个方向的挑战和机遇：量（</a:t>
            </a:r>
            <a:r>
              <a:rPr lang="en-US" altLang="zh-CN" dirty="0" smtClean="0"/>
              <a:t>Volume</a:t>
            </a:r>
            <a:r>
              <a:rPr lang="zh-CN" altLang="en-US" dirty="0" smtClean="0"/>
              <a:t>），即数据多少；速（</a:t>
            </a:r>
            <a:r>
              <a:rPr lang="en-US" altLang="zh-CN" dirty="0" smtClean="0"/>
              <a:t>Velocity</a:t>
            </a:r>
            <a:r>
              <a:rPr lang="zh-CN" altLang="en-US" dirty="0" smtClean="0"/>
              <a:t>），即资料输入、输出的速度；类（</a:t>
            </a:r>
            <a:r>
              <a:rPr lang="en-US" altLang="zh-CN" dirty="0" smtClean="0"/>
              <a:t>Variety</a:t>
            </a:r>
            <a:r>
              <a:rPr lang="zh-CN" altLang="en-US" dirty="0" smtClean="0"/>
              <a:t>），即多样性。</a:t>
            </a:r>
          </a:p>
          <a:p>
            <a:r>
              <a:rPr lang="zh-CN" altLang="en-US" dirty="0" smtClean="0"/>
              <a:t>在莱尼的理论基础上，</a:t>
            </a:r>
            <a:r>
              <a:rPr lang="en-US" altLang="zh-CN" dirty="0" smtClean="0"/>
              <a:t>IBM</a:t>
            </a:r>
            <a:r>
              <a:rPr lang="zh-CN" altLang="en-US" dirty="0" smtClean="0"/>
              <a:t>提出大数据的</a:t>
            </a:r>
            <a:r>
              <a:rPr lang="en-US" altLang="zh-CN" dirty="0" smtClean="0"/>
              <a:t>4V</a:t>
            </a:r>
            <a:r>
              <a:rPr lang="zh-CN" altLang="en-US" dirty="0" smtClean="0"/>
              <a:t>特征？得到了业界的广泛认可。第一，数量（</a:t>
            </a:r>
            <a:r>
              <a:rPr lang="en-US" altLang="zh-CN" dirty="0" smtClean="0"/>
              <a:t>Volume</a:t>
            </a:r>
            <a:r>
              <a:rPr lang="zh-CN" altLang="en-US" dirty="0" smtClean="0"/>
              <a:t>），即数据巨大，从</a:t>
            </a:r>
            <a:r>
              <a:rPr lang="en-US" altLang="zh-CN" dirty="0" smtClean="0"/>
              <a:t>TB</a:t>
            </a:r>
            <a:r>
              <a:rPr lang="zh-CN" altLang="en-US" dirty="0" smtClean="0"/>
              <a:t>级别跃升到</a:t>
            </a:r>
            <a:r>
              <a:rPr lang="en-US" altLang="zh-CN" dirty="0" smtClean="0"/>
              <a:t>PB</a:t>
            </a:r>
            <a:r>
              <a:rPr lang="zh-CN" altLang="en-US" dirty="0" smtClean="0"/>
              <a:t>级别；第二，多样性（</a:t>
            </a:r>
            <a:r>
              <a:rPr lang="en-US" altLang="zh-CN" dirty="0" smtClean="0"/>
              <a:t>Variety</a:t>
            </a:r>
            <a:r>
              <a:rPr lang="zh-CN" altLang="en-US" dirty="0" smtClean="0"/>
              <a:t>），即数据类型繁多，不仅包括传统的格式化数据，还包括来自互联网的网络日志、视频、图片、地理位置信息等；第三，速度（</a:t>
            </a:r>
            <a:r>
              <a:rPr lang="en-US" altLang="zh-CN" dirty="0" smtClean="0"/>
              <a:t>Velocity</a:t>
            </a:r>
            <a:r>
              <a:rPr lang="zh-CN" altLang="en-US" dirty="0" smtClean="0"/>
              <a:t>），即处理速度快；第四，真实性（</a:t>
            </a:r>
            <a:r>
              <a:rPr lang="en-US" altLang="zh-CN" dirty="0" smtClean="0"/>
              <a:t>Veracity</a:t>
            </a:r>
            <a:r>
              <a:rPr lang="zh-CN" altLang="en-US" dirty="0" smtClean="0"/>
              <a:t>），即追求高质量的数据。</a:t>
            </a:r>
          </a:p>
          <a:p>
            <a:r>
              <a:rPr lang="zh-CN" altLang="en-US" dirty="0" smtClean="0"/>
              <a:t>虽然不同学者、不同研究机构对大数据的定义不尽相同，但都广泛提及了这</a:t>
            </a:r>
            <a:r>
              <a:rPr lang="en-US" altLang="zh-CN" dirty="0" smtClean="0"/>
              <a:t>4</a:t>
            </a:r>
            <a:r>
              <a:rPr lang="zh-CN" altLang="en-US" dirty="0" smtClean="0"/>
              <a:t>个基本特征。</a:t>
            </a:r>
          </a:p>
          <a:p>
            <a:r>
              <a:rPr lang="en-US" altLang="zh-CN" b="1" dirty="0" smtClean="0">
                <a:effectLst/>
              </a:rPr>
              <a:t>1</a:t>
            </a:r>
            <a:r>
              <a:rPr lang="zh-CN" altLang="en-US" b="1" dirty="0" smtClean="0">
                <a:effectLst/>
              </a:rPr>
              <a:t>、大容量</a:t>
            </a:r>
            <a:endParaRPr lang="zh-CN" altLang="en-US" dirty="0" smtClean="0"/>
          </a:p>
          <a:p>
            <a:r>
              <a:rPr lang="zh-CN" altLang="en-US" dirty="0" smtClean="0"/>
              <a:t>据马海祥了解，天文学和基因学是最早产生大数据变革的领域，</a:t>
            </a:r>
            <a:r>
              <a:rPr lang="en-US" altLang="zh-CN" dirty="0" smtClean="0"/>
              <a:t>2000</a:t>
            </a:r>
            <a:r>
              <a:rPr lang="zh-CN" altLang="en-US" dirty="0" smtClean="0"/>
              <a:t>年，斯隆数字巡天项目启动时，位于新墨西哥州的望远镜，在短短几周内搜集到的数据已经比天文学历史上总共搜集的数据还要多；在智利的大型视场全景巡天望远镜一旦于</a:t>
            </a:r>
            <a:r>
              <a:rPr lang="en-US" altLang="zh-CN" dirty="0" smtClean="0"/>
              <a:t>2016</a:t>
            </a:r>
            <a:r>
              <a:rPr lang="zh-CN" altLang="en-US" dirty="0" smtClean="0"/>
              <a:t>年投入使用，其在</a:t>
            </a:r>
            <a:r>
              <a:rPr lang="en-US" altLang="zh-CN" dirty="0" smtClean="0"/>
              <a:t>5</a:t>
            </a:r>
            <a:r>
              <a:rPr lang="zh-CN" altLang="en-US" dirty="0" smtClean="0"/>
              <a:t>天之内搜集到的信息量将相当于前者</a:t>
            </a:r>
            <a:r>
              <a:rPr lang="en-US" altLang="zh-CN" dirty="0" smtClean="0"/>
              <a:t>10</a:t>
            </a:r>
            <a:r>
              <a:rPr lang="zh-CN" altLang="en-US" dirty="0" smtClean="0"/>
              <a:t>年的信息档案。</a:t>
            </a:r>
          </a:p>
          <a:p>
            <a:r>
              <a:rPr lang="en-US" altLang="zh-CN" dirty="0" smtClean="0"/>
              <a:t>2003</a:t>
            </a:r>
            <a:r>
              <a:rPr lang="zh-CN" altLang="en-US" dirty="0" smtClean="0"/>
              <a:t>年，人类第一次破译人体基因密码时，用了</a:t>
            </a:r>
            <a:r>
              <a:rPr lang="en-US" altLang="zh-CN" dirty="0" smtClean="0"/>
              <a:t>10</a:t>
            </a:r>
            <a:r>
              <a:rPr lang="zh-CN" altLang="en-US" dirty="0" smtClean="0"/>
              <a:t>年才完成了</a:t>
            </a:r>
            <a:r>
              <a:rPr lang="en-US" altLang="zh-CN" dirty="0" smtClean="0"/>
              <a:t>30</a:t>
            </a:r>
            <a:r>
              <a:rPr lang="zh-CN" altLang="en-US" dirty="0" smtClean="0"/>
              <a:t>亿对碱基对的排序；而在</a:t>
            </a:r>
            <a:r>
              <a:rPr lang="en-US" altLang="zh-CN" dirty="0" smtClean="0"/>
              <a:t>10</a:t>
            </a:r>
            <a:r>
              <a:rPr lang="zh-CN" altLang="en-US" dirty="0" smtClean="0"/>
              <a:t>年之后，世界范围内的基因仪</a:t>
            </a:r>
            <a:r>
              <a:rPr lang="en-US" altLang="zh-CN" dirty="0" smtClean="0"/>
              <a:t>15</a:t>
            </a:r>
            <a:r>
              <a:rPr lang="zh-CN" altLang="en-US" dirty="0" smtClean="0"/>
              <a:t>分钟就可以完成同样的工作量。</a:t>
            </a:r>
          </a:p>
          <a:p>
            <a:r>
              <a:rPr lang="zh-CN" altLang="en-US" dirty="0" smtClean="0"/>
              <a:t>伴随着各种随身设备、物联网和云计算、云存储等技术的发展，人和物的所有轨迹都可以被记录，数据因此被大量生产出来。</a:t>
            </a:r>
          </a:p>
          <a:p>
            <a:r>
              <a:rPr lang="zh-CN" altLang="en-US" dirty="0" smtClean="0"/>
              <a:t>移动互联网的核心网络节点是人，不再是网页，人人都成为数据制造者，短信、微博、照片、录像都是其数据产品；数据来自无数自动化传感器、自动记录设施、生产监测、环境监测、交通监测、安防监测等；来自自动流程记录，刷卡机、收款机、电子不停车收费系统，互联网点击、电话拨号等设施以及各种办事流程登记等。</a:t>
            </a:r>
          </a:p>
          <a:p>
            <a:r>
              <a:rPr lang="zh-CN" altLang="en-US" dirty="0" smtClean="0"/>
              <a:t>大量自动或人工产生的数据通过互联网聚集到特定地点，包括电信运营商、互联网运营商、政府、银行、商场、企业、交通枢纽等机构，形成了大数据之海（具体可查看马海祥博客</a:t>
            </a:r>
            <a:r>
              <a:rPr lang="en-US" altLang="zh-CN" dirty="0" smtClean="0"/>
              <a:t>《</a:t>
            </a:r>
            <a:r>
              <a:rPr lang="zh-CN" altLang="en-US" dirty="0" smtClean="0">
                <a:hlinkClick r:id="rId3"/>
              </a:rPr>
              <a:t>大数据技术到底能帮企业做些什么</a:t>
            </a:r>
            <a:r>
              <a:rPr lang="en-US" altLang="zh-CN" dirty="0" smtClean="0"/>
              <a:t>》</a:t>
            </a:r>
            <a:r>
              <a:rPr lang="zh-CN" altLang="en-US" dirty="0" smtClean="0"/>
              <a:t>的相关介绍）。</a:t>
            </a:r>
          </a:p>
          <a:p>
            <a:r>
              <a:rPr lang="zh-CN" altLang="en-US" dirty="0" smtClean="0"/>
              <a:t>我们周围到底有多少数据？数据量的增长速度有多快？许多人试图测量出一个确切的数字。</a:t>
            </a:r>
          </a:p>
          <a:p>
            <a:r>
              <a:rPr lang="en-US" altLang="zh-CN" dirty="0" smtClean="0"/>
              <a:t>2011</a:t>
            </a:r>
            <a:r>
              <a:rPr lang="zh-CN" altLang="en-US" dirty="0" smtClean="0"/>
              <a:t>年，马丁</a:t>
            </a:r>
            <a:r>
              <a:rPr lang="en-US" altLang="zh-CN" dirty="0" smtClean="0"/>
              <a:t>·</a:t>
            </a:r>
            <a:r>
              <a:rPr lang="zh-CN" altLang="en-US" dirty="0" smtClean="0"/>
              <a:t>希尔伯特和普里西利亚</a:t>
            </a:r>
            <a:r>
              <a:rPr lang="en-US" altLang="zh-CN" dirty="0" smtClean="0"/>
              <a:t>·</a:t>
            </a:r>
            <a:r>
              <a:rPr lang="zh-CN" altLang="en-US" dirty="0" smtClean="0"/>
              <a:t>洛佩兹在</a:t>
            </a:r>
            <a:r>
              <a:rPr lang="en-US" altLang="zh-CN" dirty="0" smtClean="0"/>
              <a:t>《</a:t>
            </a:r>
            <a:r>
              <a:rPr lang="zh-CN" altLang="en-US" dirty="0" smtClean="0"/>
              <a:t>科学</a:t>
            </a:r>
            <a:r>
              <a:rPr lang="en-US" altLang="zh-CN" dirty="0" smtClean="0"/>
              <a:t>》</a:t>
            </a:r>
            <a:r>
              <a:rPr lang="zh-CN" altLang="en-US" dirty="0" smtClean="0"/>
              <a:t>上发表了一篇文章，对</a:t>
            </a:r>
            <a:r>
              <a:rPr lang="en-US" altLang="zh-CN" dirty="0" smtClean="0"/>
              <a:t>1986——2007</a:t>
            </a:r>
            <a:r>
              <a:rPr lang="zh-CN" altLang="en-US" dirty="0" smtClean="0"/>
              <a:t>年人类所创造、存储和传播的一切信息数量进行了追踪计算。其研究范围大约涵盖了</a:t>
            </a:r>
            <a:r>
              <a:rPr lang="en-US" altLang="zh-CN" dirty="0" smtClean="0"/>
              <a:t>60</a:t>
            </a:r>
            <a:r>
              <a:rPr lang="zh-CN" altLang="en-US" dirty="0" smtClean="0"/>
              <a:t>种模拟和数字技术：书籍、图画、信件、电子邮件、照片、音乐、视频（模拟和数字）、电子游戏、电话、汽车导航等。</a:t>
            </a:r>
          </a:p>
          <a:p>
            <a:r>
              <a:rPr lang="zh-CN" altLang="en-US" dirty="0" smtClean="0"/>
              <a:t>据他们估算：</a:t>
            </a:r>
            <a:r>
              <a:rPr lang="en-US" altLang="zh-CN" dirty="0" smtClean="0"/>
              <a:t>2007</a:t>
            </a:r>
            <a:r>
              <a:rPr lang="zh-CN" altLang="en-US" dirty="0" smtClean="0"/>
              <a:t>年，人类大约存储了超过</a:t>
            </a:r>
            <a:r>
              <a:rPr lang="en-US" altLang="zh-CN" dirty="0" smtClean="0"/>
              <a:t>300EB</a:t>
            </a:r>
            <a:r>
              <a:rPr lang="zh-CN" altLang="en-US" dirty="0" smtClean="0"/>
              <a:t>的数据；</a:t>
            </a:r>
            <a:r>
              <a:rPr lang="en-US" altLang="zh-CN" dirty="0" smtClean="0"/>
              <a:t>1986——2007</a:t>
            </a:r>
            <a:r>
              <a:rPr lang="zh-CN" altLang="en-US" dirty="0" smtClean="0"/>
              <a:t>年，全球数据存储能力每年提高</a:t>
            </a:r>
            <a:r>
              <a:rPr lang="en-US" altLang="zh-CN" dirty="0" smtClean="0"/>
              <a:t>23%</a:t>
            </a:r>
            <a:r>
              <a:rPr lang="zh-CN" altLang="en-US" dirty="0" smtClean="0"/>
              <a:t>，双向通信能力每年提高</a:t>
            </a:r>
            <a:r>
              <a:rPr lang="en-US" altLang="zh-CN" dirty="0" smtClean="0"/>
              <a:t>28%</a:t>
            </a:r>
            <a:r>
              <a:rPr lang="zh-CN" altLang="en-US" dirty="0" smtClean="0"/>
              <a:t>，通用计算能力每年提高</a:t>
            </a:r>
            <a:r>
              <a:rPr lang="en-US" altLang="zh-CN" dirty="0" smtClean="0"/>
              <a:t>58%</a:t>
            </a:r>
            <a:r>
              <a:rPr lang="zh-CN" altLang="en-US" dirty="0" smtClean="0"/>
              <a:t>；预计到</a:t>
            </a:r>
            <a:r>
              <a:rPr lang="en-US" altLang="zh-CN" dirty="0" smtClean="0"/>
              <a:t>2013</a:t>
            </a:r>
            <a:r>
              <a:rPr lang="zh-CN" altLang="en-US" dirty="0" smtClean="0"/>
              <a:t>年，世界上存储的数据能达到约</a:t>
            </a:r>
            <a:r>
              <a:rPr lang="en-US" altLang="zh-CN" dirty="0" smtClean="0"/>
              <a:t>1.2ZB</a:t>
            </a:r>
            <a:r>
              <a:rPr lang="zh-CN" altLang="en-US" dirty="0" smtClean="0"/>
              <a:t>。</a:t>
            </a:r>
          </a:p>
          <a:p>
            <a:r>
              <a:rPr lang="zh-CN" altLang="en-US" b="1" dirty="0" smtClean="0"/>
              <a:t>这样大的数据量意味着什么？</a:t>
            </a:r>
            <a:endParaRPr lang="zh-CN" altLang="en-US" dirty="0" smtClean="0"/>
          </a:p>
          <a:p>
            <a:r>
              <a:rPr lang="zh-CN" altLang="en-US" dirty="0" smtClean="0"/>
              <a:t>据估算，如果把这些数据全部记在书中，这些书可以覆盖整个美国</a:t>
            </a:r>
            <a:r>
              <a:rPr lang="en-US" altLang="zh-CN" dirty="0" smtClean="0"/>
              <a:t>52</a:t>
            </a:r>
            <a:r>
              <a:rPr lang="zh-CN" altLang="en-US" dirty="0" smtClean="0"/>
              <a:t>次。如果存储在只读光盘上，这些光盘可以堆成</a:t>
            </a:r>
            <a:r>
              <a:rPr lang="en-US" altLang="zh-CN" dirty="0" smtClean="0"/>
              <a:t>5</a:t>
            </a:r>
            <a:r>
              <a:rPr lang="zh-CN" altLang="en-US" dirty="0" smtClean="0"/>
              <a:t>堆，每堆都可以伸到月球。</a:t>
            </a:r>
          </a:p>
          <a:p>
            <a:r>
              <a:rPr lang="zh-CN" altLang="en-US" dirty="0" smtClean="0"/>
              <a:t>在公元前</a:t>
            </a:r>
            <a:r>
              <a:rPr lang="en-US" altLang="zh-CN" dirty="0" smtClean="0"/>
              <a:t>3</a:t>
            </a:r>
            <a:r>
              <a:rPr lang="zh-CN" altLang="en-US" dirty="0" smtClean="0"/>
              <a:t>世纪，希腊时代最著名的图书馆亚历山大图书馆竭力搜集了当时其所能搜集到的书写作品，可以代表当时世界上其所能搜集到的知识量。但当数字数据洪流席卷世界之后，每个人都可以获得大量数据信息，相当于当时亚历山大图书馆存储的数据总量的</a:t>
            </a:r>
            <a:r>
              <a:rPr lang="en-US" altLang="zh-CN" dirty="0" smtClean="0"/>
              <a:t>320</a:t>
            </a:r>
            <a:r>
              <a:rPr lang="zh-CN" altLang="en-US" dirty="0" smtClean="0"/>
              <a:t>倍之多。</a:t>
            </a:r>
          </a:p>
          <a:p>
            <a:r>
              <a:rPr lang="en-US" altLang="zh-CN" b="1" dirty="0" smtClean="0">
                <a:effectLst/>
              </a:rPr>
              <a:t>2</a:t>
            </a:r>
            <a:r>
              <a:rPr lang="zh-CN" altLang="en-US" b="1" dirty="0" smtClean="0">
                <a:effectLst/>
              </a:rPr>
              <a:t>、多样性</a:t>
            </a:r>
            <a:endParaRPr lang="zh-CN" altLang="en-US" dirty="0" smtClean="0"/>
          </a:p>
          <a:p>
            <a:r>
              <a:rPr lang="zh-CN" altLang="en-US" dirty="0" smtClean="0"/>
              <a:t>随着传感器、智能设备以及社交协作技术的飞速发展，组织中的数据也变得更加复杂，因为它不仅包含传统的关系型数据，还包含来自网页、互联网日志文件（包括点击流数据）、搜索索引、社交媒体论坛、电子邮件、文档、主动和被动系统的传感器数据等原始、半结构化和非结构化数据。</a:t>
            </a:r>
          </a:p>
          <a:p>
            <a:r>
              <a:rPr lang="zh-CN" altLang="en-US" dirty="0" smtClean="0"/>
              <a:t>在大数据时代，数据格式变得越来越多样，涵盖了文本、音频、图片、视频、模拟信号等不同的类型；数据来源也越来越多样，不仅产生于组织内部运作的各个环节，也来自于组织外部。</a:t>
            </a:r>
          </a:p>
          <a:p>
            <a:r>
              <a:rPr lang="zh-CN" altLang="en-US" dirty="0" smtClean="0"/>
              <a:t>例如，在交通领域，北京市交通智能化分析平台数据来自路网摄像头</a:t>
            </a:r>
            <a:r>
              <a:rPr lang="en-US" altLang="zh-CN" dirty="0" smtClean="0"/>
              <a:t>/</a:t>
            </a:r>
            <a:r>
              <a:rPr lang="zh-CN" altLang="en-US" dirty="0" smtClean="0"/>
              <a:t>传感器、公交、轨道交通、出租车以及省际客运、旅游、化危运输、停车、租车等运输行业，还有问卷调查和地理信息系统数据。</a:t>
            </a:r>
            <a:r>
              <a:rPr lang="en-US" altLang="zh-CN" dirty="0" smtClean="0"/>
              <a:t>4</a:t>
            </a:r>
            <a:r>
              <a:rPr lang="zh-CN" altLang="en-US" dirty="0" smtClean="0"/>
              <a:t>万辆浮动车每天产生</a:t>
            </a:r>
            <a:r>
              <a:rPr lang="en-US" altLang="zh-CN" dirty="0" smtClean="0"/>
              <a:t>2000</a:t>
            </a:r>
            <a:r>
              <a:rPr lang="zh-CN" altLang="en-US" dirty="0" smtClean="0"/>
              <a:t>万条记录，交通卡刷卡记录每天</a:t>
            </a:r>
            <a:r>
              <a:rPr lang="en-US" altLang="zh-CN" dirty="0" smtClean="0"/>
              <a:t>1900</a:t>
            </a:r>
            <a:r>
              <a:rPr lang="zh-CN" altLang="en-US" dirty="0" smtClean="0"/>
              <a:t>万条，手机定位数据每天</a:t>
            </a:r>
            <a:r>
              <a:rPr lang="en-US" altLang="zh-CN" dirty="0" smtClean="0"/>
              <a:t>1800</a:t>
            </a:r>
            <a:r>
              <a:rPr lang="zh-CN" altLang="en-US" dirty="0" smtClean="0"/>
              <a:t>万条，出租车运营数据每天</a:t>
            </a:r>
            <a:r>
              <a:rPr lang="en-US" altLang="zh-CN" dirty="0" smtClean="0"/>
              <a:t>100</a:t>
            </a:r>
            <a:r>
              <a:rPr lang="zh-CN" altLang="en-US" dirty="0" smtClean="0"/>
              <a:t>万条，电子停车收费系统数据每天</a:t>
            </a:r>
            <a:r>
              <a:rPr lang="en-US" altLang="zh-CN" dirty="0" smtClean="0"/>
              <a:t>50</a:t>
            </a:r>
            <a:r>
              <a:rPr lang="zh-CN" altLang="en-US" dirty="0" smtClean="0"/>
              <a:t>万条，定期调查覆盖</a:t>
            </a:r>
            <a:r>
              <a:rPr lang="en-US" altLang="zh-CN" dirty="0" smtClean="0"/>
              <a:t>8</a:t>
            </a:r>
            <a:r>
              <a:rPr lang="zh-CN" altLang="en-US" dirty="0" smtClean="0"/>
              <a:t>万户家庭等等，这些数据在体量和速度上都达到了大数据的规模。</a:t>
            </a:r>
          </a:p>
          <a:p>
            <a:r>
              <a:rPr lang="zh-CN" altLang="en-US" dirty="0" smtClean="0"/>
              <a:t>发掘这些形态各异、快慢不一的数据流之间的相关性，是大数据做前人之未做、能前人所不能的机会。</a:t>
            </a:r>
          </a:p>
          <a:p>
            <a:r>
              <a:rPr lang="zh-CN" altLang="en-US" dirty="0" smtClean="0"/>
              <a:t>大数据不仅是处理巨量数据的利器，更为处理不同来源、不同格式的多元化数据提供了可能。</a:t>
            </a:r>
          </a:p>
          <a:p>
            <a:r>
              <a:rPr lang="zh-CN" altLang="en-US" dirty="0" smtClean="0"/>
              <a:t>例如，为了使计算机能够理解人的意图，人类就必须要将需解决的问题的思路、方法和手段通过计算机能够理解的形式告诉计算机，使得计算机能够根据人的指令一步一步工作，完成某种特定的任务。</a:t>
            </a:r>
          </a:p>
          <a:p>
            <a:r>
              <a:rPr lang="zh-CN" altLang="en-US" dirty="0" smtClean="0"/>
              <a:t>在以往，人们只能通过编程这种规范化计算机语言发出指令，随着自然语言处理技术的发展，人们可以用计算机处理自然语言，实现人与计算机之间基于文本和语音的有效通信，为此，还出现了专门提供结构化语言解决方案的组织</a:t>
            </a:r>
            <a:r>
              <a:rPr lang="en-US" altLang="zh-CN" dirty="0" smtClean="0"/>
              <a:t>—</a:t>
            </a:r>
            <a:r>
              <a:rPr lang="zh-CN" altLang="en-US" dirty="0" smtClean="0"/>
              <a:t>语言数据公司。</a:t>
            </a:r>
          </a:p>
          <a:p>
            <a:r>
              <a:rPr lang="zh-CN" altLang="en-US" dirty="0" smtClean="0"/>
              <a:t>自然语言无疑是一个新的数据来源，而且也是一种更复杂、更多样的数据，它包含诸如省略、指代、更正、重复、强调、倒序等大量的语言现象，还包括噪声、含混不清、口头语和音变等语音现象。</a:t>
            </a:r>
          </a:p>
          <a:p>
            <a:r>
              <a:rPr lang="zh-CN" altLang="en-US" dirty="0" smtClean="0"/>
              <a:t>苹果公司在</a:t>
            </a:r>
            <a:r>
              <a:rPr lang="en-US" altLang="zh-CN" dirty="0" smtClean="0"/>
              <a:t>iPhone</a:t>
            </a:r>
            <a:r>
              <a:rPr lang="zh-CN" altLang="en-US" dirty="0" smtClean="0"/>
              <a:t>手机上应用的一项语音控制功能</a:t>
            </a:r>
            <a:r>
              <a:rPr lang="en-US" altLang="zh-CN" dirty="0" err="1" smtClean="0"/>
              <a:t>Siri</a:t>
            </a:r>
            <a:r>
              <a:rPr lang="zh-CN" altLang="en-US" dirty="0" smtClean="0"/>
              <a:t>就是多样化数据处理的代表。用户可以通过语音、文字输入等方式与</a:t>
            </a:r>
            <a:r>
              <a:rPr lang="en-US" altLang="zh-CN" dirty="0" err="1" smtClean="0"/>
              <a:t>Siri</a:t>
            </a:r>
            <a:r>
              <a:rPr lang="zh-CN" altLang="en-US" dirty="0" smtClean="0"/>
              <a:t>对话交流，并调用手机自带的各项应用，读短信、询问天气、设置闹钟、安排日程，乃至搜寻餐厅、电影院等生活信息，收看相关评论，甚至直接订位、订票，</a:t>
            </a:r>
            <a:r>
              <a:rPr lang="en-US" altLang="zh-CN" dirty="0" err="1" smtClean="0"/>
              <a:t>Siri</a:t>
            </a:r>
            <a:r>
              <a:rPr lang="zh-CN" altLang="en-US" dirty="0" smtClean="0"/>
              <a:t>则会依据用户默认的家庭地址或是所在位置判断、过滤搜寻的结果。</a:t>
            </a:r>
          </a:p>
          <a:p>
            <a:r>
              <a:rPr lang="zh-CN" altLang="en-US" dirty="0" smtClean="0"/>
              <a:t>为了让</a:t>
            </a:r>
            <a:r>
              <a:rPr lang="en-US" altLang="zh-CN" dirty="0" err="1" smtClean="0"/>
              <a:t>Siri</a:t>
            </a:r>
            <a:r>
              <a:rPr lang="zh-CN" altLang="en-US" dirty="0" smtClean="0"/>
              <a:t>足够聪明，苹果公司引入了谷歌、维基百科等外部数据源，在语音识别和语音合成方面，未来版本的</a:t>
            </a:r>
            <a:r>
              <a:rPr lang="en-US" altLang="zh-CN" dirty="0" err="1" smtClean="0"/>
              <a:t>Siri</a:t>
            </a:r>
            <a:r>
              <a:rPr lang="zh-CN" altLang="en-US" dirty="0" smtClean="0"/>
              <a:t>或许可以让我们听到中国各地的方言，比如四川话、湖南话和河南话。</a:t>
            </a:r>
          </a:p>
          <a:p>
            <a:r>
              <a:rPr lang="zh-CN" altLang="en-US" dirty="0" smtClean="0"/>
              <a:t>多样化的数据来源正是大数据的威力所在，例如交通状况与其他领域的数据都存在较强的关联性。据马海祥博客收集的数据研究发现，可以从供水系统数据中发现早晨洗澡的高峰时段，加上一个偏移量（通常是</a:t>
            </a:r>
            <a:r>
              <a:rPr lang="en-US" altLang="zh-CN" dirty="0" smtClean="0"/>
              <a:t>40-45</a:t>
            </a:r>
            <a:r>
              <a:rPr lang="zh-CN" altLang="en-US" dirty="0" smtClean="0"/>
              <a:t>分钟）就能估算出交通早高峰时段；同样可以从电网数据中统计出傍晚办公楼集中关灯的时间，加上偏移量估算出晚上的堵车时段。</a:t>
            </a:r>
          </a:p>
          <a:p>
            <a:r>
              <a:rPr lang="en-US" altLang="zh-CN" b="1" dirty="0" smtClean="0">
                <a:effectLst/>
              </a:rPr>
              <a:t>3</a:t>
            </a:r>
            <a:r>
              <a:rPr lang="zh-CN" altLang="en-US" b="1" dirty="0" smtClean="0">
                <a:effectLst/>
              </a:rPr>
              <a:t>、快速度</a:t>
            </a:r>
            <a:endParaRPr lang="zh-CN" altLang="en-US" dirty="0" smtClean="0"/>
          </a:p>
          <a:p>
            <a:r>
              <a:rPr lang="zh-CN" altLang="en-US" dirty="0" smtClean="0"/>
              <a:t>在数据处理速度方面，有一个著名的“</a:t>
            </a:r>
            <a:r>
              <a:rPr lang="en-US" altLang="zh-CN" dirty="0" smtClean="0"/>
              <a:t>1</a:t>
            </a:r>
            <a:r>
              <a:rPr lang="zh-CN" altLang="en-US" dirty="0" smtClean="0"/>
              <a:t>秒定律”，即要在秒级时间范围内给出分析结果，超出这个时间，数据就失去价值了。</a:t>
            </a:r>
          </a:p>
          <a:p>
            <a:r>
              <a:rPr lang="zh-CN" altLang="en-US" dirty="0" smtClean="0"/>
              <a:t>例如，</a:t>
            </a:r>
            <a:r>
              <a:rPr lang="en-US" altLang="zh-CN" dirty="0" smtClean="0"/>
              <a:t>IBM</a:t>
            </a:r>
            <a:r>
              <a:rPr lang="zh-CN" altLang="en-US" dirty="0" smtClean="0"/>
              <a:t>有一则广告，讲的是“</a:t>
            </a:r>
            <a:r>
              <a:rPr lang="en-US" altLang="zh-CN" dirty="0" smtClean="0"/>
              <a:t>1</a:t>
            </a:r>
            <a:r>
              <a:rPr lang="zh-CN" altLang="en-US" dirty="0" smtClean="0"/>
              <a:t>秒，能做什么”？</a:t>
            </a:r>
            <a:r>
              <a:rPr lang="en-US" altLang="zh-CN" dirty="0" smtClean="0"/>
              <a:t>1</a:t>
            </a:r>
            <a:r>
              <a:rPr lang="zh-CN" altLang="en-US" dirty="0" smtClean="0"/>
              <a:t>秒，能检测出台湾的铁道故障并发布预警；也能发现得克萨斯州的电力中断，避免电网瘫痪；还能帮助一家全球性金融公司锁定行业欺诈，保障客户利益。</a:t>
            </a:r>
          </a:p>
          <a:p>
            <a:r>
              <a:rPr lang="zh-CN" altLang="en-US" dirty="0" smtClean="0"/>
              <a:t>在商业领域，“快”也早已贯穿企业运营、管理和决策智能化的每一个环节，形形色色描述“快”的新兴词汇出现在商业数据语境里，例如实时、快如闪电、光速、念动的瞬间、价值送达时间。</a:t>
            </a:r>
          </a:p>
          <a:p>
            <a:r>
              <a:rPr lang="zh-CN" altLang="en-US" dirty="0" smtClean="0"/>
              <a:t>英特尔中国研究院首席工程师吴甘沙认为，快速度是大数据处理技术和传统的数据挖掘技术最大的区别。大数据是一种以实时数据处理、实时结果导向为特征的解决方案，它的“快”有两个层面。</a:t>
            </a:r>
          </a:p>
          <a:p>
            <a:r>
              <a:rPr lang="zh-CN" altLang="en-US" dirty="0" smtClean="0"/>
              <a:t>一是数据产生得快。有的数据是爆发式产生，例如，欧洲核子研究中心的大型强子对撞机在工作状态下每秒产生</a:t>
            </a:r>
            <a:r>
              <a:rPr lang="en-US" altLang="zh-CN" dirty="0" smtClean="0"/>
              <a:t>PB</a:t>
            </a:r>
            <a:r>
              <a:rPr lang="zh-CN" altLang="en-US" dirty="0" smtClean="0"/>
              <a:t>级的数据；有的数据是涓涓细流式产生，但是由于用户众多，短时间内产生的数据量依然非常庞大，例如，点击流、日志、射频识别数据、</a:t>
            </a:r>
            <a:r>
              <a:rPr lang="en-US" altLang="zh-CN" dirty="0" smtClean="0"/>
              <a:t>GPS</a:t>
            </a:r>
            <a:r>
              <a:rPr lang="zh-CN" altLang="en-US" dirty="0" smtClean="0"/>
              <a:t>（全球定位系统）位置信息。</a:t>
            </a:r>
          </a:p>
          <a:p>
            <a:r>
              <a:rPr lang="zh-CN" altLang="en-US" dirty="0" smtClean="0"/>
              <a:t>二是数据处理得快。正如水处理系统可以从水库调出水进行处理，也可以处理直接对涌进来的新水流。大数据也有批处理（“静止数据”转变为“正使用数据”）和流处理（“动态数据”转变为“正使用数据”）两种范式，以实现快速的数据处理。</a:t>
            </a:r>
          </a:p>
          <a:p>
            <a:r>
              <a:rPr lang="zh-CN" altLang="en-US" b="1" dirty="0" smtClean="0"/>
              <a:t>为什么要“快”？</a:t>
            </a:r>
            <a:endParaRPr lang="zh-CN" altLang="en-US" dirty="0" smtClean="0"/>
          </a:p>
          <a:p>
            <a:r>
              <a:rPr lang="zh-CN" altLang="en-US" dirty="0" smtClean="0"/>
              <a:t>第一，时间就是金钱。如果说价值是分子，那么时间就是分母，分母越小，单位价值就越大。面临同样大的数据“矿山”，“挖矿”效率是竞争优势。</a:t>
            </a:r>
          </a:p>
          <a:p>
            <a:r>
              <a:rPr lang="zh-CN" altLang="en-US" dirty="0" smtClean="0"/>
              <a:t>第二，像其他商品一样，数据的价值会折旧，等量数据在不同时间点？价值不等。</a:t>
            </a:r>
            <a:r>
              <a:rPr lang="en-US" altLang="zh-CN" dirty="0" err="1" smtClean="0"/>
              <a:t>NewSQL</a:t>
            </a:r>
            <a:r>
              <a:rPr lang="zh-CN" altLang="en-US" dirty="0" smtClean="0"/>
              <a:t>（新的可扩展性</a:t>
            </a:r>
            <a:r>
              <a:rPr lang="en-US" altLang="zh-CN" dirty="0" smtClean="0"/>
              <a:t>/</a:t>
            </a:r>
            <a:r>
              <a:rPr lang="zh-CN" altLang="en-US" dirty="0" smtClean="0"/>
              <a:t>高性能数据库）的先行者</a:t>
            </a:r>
            <a:r>
              <a:rPr lang="en-US" altLang="zh-CN" dirty="0" err="1" smtClean="0"/>
              <a:t>VoltDB</a:t>
            </a:r>
            <a:r>
              <a:rPr lang="zh-CN" altLang="en-US" dirty="0" smtClean="0"/>
              <a:t>（内存数据库）发明了一个概念叫作“数据连续统一体”：数据存在于一个连续的时间轴上，每个数据项都有它的年龄，不同年龄的数据有不同的价值取向，新产生的数据更具有个体价值，产生时间较为久远的数据集合起来更能发挥价值。</a:t>
            </a:r>
          </a:p>
          <a:p>
            <a:r>
              <a:rPr lang="zh-CN" altLang="en-US" dirty="0" smtClean="0"/>
              <a:t>第三，数据跟新闻一样具有时效性。很多传感器的数据产生几秒之后就失去意义了。美国国家海洋和大气管理局的超级计算机能够在日本地震后</a:t>
            </a:r>
            <a:r>
              <a:rPr lang="en-US" altLang="zh-CN" dirty="0" smtClean="0"/>
              <a:t>9</a:t>
            </a:r>
            <a:r>
              <a:rPr lang="zh-CN" altLang="en-US" dirty="0" smtClean="0"/>
              <a:t>分钟计算出海啸的可能性，但</a:t>
            </a:r>
            <a:r>
              <a:rPr lang="en-US" altLang="zh-CN" dirty="0" smtClean="0"/>
              <a:t>9</a:t>
            </a:r>
            <a:r>
              <a:rPr lang="zh-CN" altLang="en-US" dirty="0" smtClean="0"/>
              <a:t>分钟的延迟对于瞬间被海浪吞噬的生命来说还是太长了。</a:t>
            </a:r>
          </a:p>
          <a:p>
            <a:r>
              <a:rPr lang="zh-CN" altLang="en-US" dirty="0" smtClean="0"/>
              <a:t>越来越多的数据挖掘趋于前端化，即提前感知预测并直接提供服务对象所需要的个性化服务，例如，对绝大多数商品来说，找到顾客“触点”的最佳时机并非在结账以后，而是在顾客还提着篮子逛街时。</a:t>
            </a:r>
          </a:p>
          <a:p>
            <a:r>
              <a:rPr lang="zh-CN" altLang="en-US" u="sng" dirty="0" smtClean="0">
                <a:hlinkClick r:id="rId4"/>
              </a:rPr>
              <a:t>电子商务</a:t>
            </a:r>
            <a:r>
              <a:rPr lang="zh-CN" altLang="en-US" dirty="0" smtClean="0"/>
              <a:t>网站从点击流、浏览历史和行为（如放入购物车）中实时发现顾客的即时购买意图和兴趣，并据此推送商品，这就是“快”的价值（具体可查看马海祥博客</a:t>
            </a:r>
            <a:r>
              <a:rPr lang="en-US" altLang="zh-CN" dirty="0" smtClean="0"/>
              <a:t>《</a:t>
            </a:r>
            <a:r>
              <a:rPr lang="zh-CN" altLang="en-US" dirty="0" smtClean="0">
                <a:hlinkClick r:id="rId5"/>
              </a:rPr>
              <a:t>浅谈大数据时代的大数据技术与应用</a:t>
            </a:r>
            <a:r>
              <a:rPr lang="en-US" altLang="zh-CN" dirty="0" smtClean="0"/>
              <a:t>》</a:t>
            </a:r>
            <a:r>
              <a:rPr lang="zh-CN" altLang="en-US" dirty="0" smtClean="0"/>
              <a:t>的相关介绍）。</a:t>
            </a:r>
          </a:p>
          <a:p>
            <a:r>
              <a:rPr lang="en-US" altLang="zh-CN" b="1" dirty="0" smtClean="0">
                <a:effectLst/>
              </a:rPr>
              <a:t>4</a:t>
            </a:r>
            <a:r>
              <a:rPr lang="zh-CN" altLang="en-US" b="1" dirty="0" smtClean="0">
                <a:effectLst/>
              </a:rPr>
              <a:t>、真实性</a:t>
            </a:r>
            <a:endParaRPr lang="zh-CN" altLang="en-US" dirty="0" smtClean="0"/>
          </a:p>
          <a:p>
            <a:r>
              <a:rPr lang="zh-CN" altLang="en-US" dirty="0" smtClean="0"/>
              <a:t>在以上</a:t>
            </a:r>
            <a:r>
              <a:rPr lang="en-US" altLang="zh-CN" dirty="0" smtClean="0"/>
              <a:t>3</a:t>
            </a:r>
            <a:r>
              <a:rPr lang="zh-CN" altLang="en-US" dirty="0" smtClean="0"/>
              <a:t>项特征的基础上，我归纳总结了大数据的第四个特征</a:t>
            </a:r>
            <a:r>
              <a:rPr lang="en-US" altLang="zh-CN" dirty="0" smtClean="0"/>
              <a:t>——</a:t>
            </a:r>
            <a:r>
              <a:rPr lang="zh-CN" altLang="en-US" dirty="0" smtClean="0"/>
              <a:t>真实性。</a:t>
            </a:r>
          </a:p>
          <a:p>
            <a:r>
              <a:rPr lang="zh-CN" altLang="en-US" dirty="0" smtClean="0"/>
              <a:t>数据的重要性就在于对决策的支持，数据的规模并不能决定其能否为决策提供帮助，数据的真实性和质量才是获得真知和思路最重要的因素，是制定成功决策最坚实的基础。</a:t>
            </a:r>
          </a:p>
          <a:p>
            <a:r>
              <a:rPr lang="zh-CN" altLang="en-US" dirty="0" smtClean="0"/>
              <a:t>追求高数据质量是一项重要的大数据要求和挑战，即使最优秀的数据清理方法也无法消除某些数据固有的不可预测性，例如，人的感情和诚实性、天气形势、经济因素以及未来。</a:t>
            </a:r>
          </a:p>
          <a:p>
            <a:r>
              <a:rPr lang="zh-CN" altLang="en-US" dirty="0" smtClean="0"/>
              <a:t>在处理这些类型的数据时，数据清理无法修正这种不确定性，然而，尽管存在不确定性，数据仍然包含宝贵的信息。我们必须承认、接受大数据的不确定性，并确定如何充分利用这一点，例如，采取数据融合，即通过结合多个可靠性较低的来源创建更准确、更有用的数据点，或者通过鲁棒优化技术和模糊逻辑方法等先进的数学方法。</a:t>
            </a:r>
          </a:p>
          <a:p>
            <a:r>
              <a:rPr lang="zh-CN" altLang="en-US" dirty="0" smtClean="0"/>
              <a:t>业界还有人把大数据的基本特征从</a:t>
            </a:r>
            <a:r>
              <a:rPr lang="en-US" altLang="zh-CN" dirty="0" smtClean="0"/>
              <a:t>4V</a:t>
            </a:r>
            <a:r>
              <a:rPr lang="zh-CN" altLang="en-US" dirty="0" smtClean="0"/>
              <a:t>扩展到了</a:t>
            </a:r>
            <a:r>
              <a:rPr lang="en-US" altLang="zh-CN" dirty="0" smtClean="0"/>
              <a:t>11V</a:t>
            </a:r>
            <a:r>
              <a:rPr lang="zh-CN" altLang="en-US" dirty="0" smtClean="0"/>
              <a:t>，包括价值密度低（</a:t>
            </a:r>
            <a:r>
              <a:rPr lang="en-US" altLang="zh-CN" dirty="0" smtClean="0"/>
              <a:t>Value</a:t>
            </a:r>
            <a:r>
              <a:rPr lang="zh-CN" altLang="en-US" dirty="0" smtClean="0"/>
              <a:t>）、可视化（</a:t>
            </a:r>
            <a:r>
              <a:rPr lang="en-US" altLang="zh-CN" dirty="0" smtClean="0"/>
              <a:t>Visualization</a:t>
            </a:r>
            <a:r>
              <a:rPr lang="zh-CN" altLang="en-US" dirty="0" smtClean="0"/>
              <a:t>）、有效性（</a:t>
            </a:r>
            <a:r>
              <a:rPr lang="en-US" altLang="zh-CN" dirty="0" smtClean="0"/>
              <a:t>Validity</a:t>
            </a:r>
            <a:r>
              <a:rPr lang="zh-CN" altLang="en-US" dirty="0" smtClean="0"/>
              <a:t>）等。例如，价值密度低是指随着物联网的广泛应用，信息感知无处不在，信息海量，但在连续不间断的视频监控过程中，可能有用的数据仅一两秒。如何通过强大的机器算法更迅速地完成数据的价值“提纯”，是大数据时代亟待解决的难题。</a:t>
            </a:r>
          </a:p>
          <a:p>
            <a:r>
              <a:rPr lang="zh-CN" altLang="en-US" dirty="0" smtClean="0"/>
              <a:t>国际数据公司报告里有一句话，概括出了大数据基本特征之间的关系：大数据技术通过使用高速的采集、发现或分析，从超大容量的多样数据中经济地提取价值（具体可查看马海祥博客</a:t>
            </a:r>
            <a:r>
              <a:rPr lang="en-US" altLang="zh-CN" dirty="0" smtClean="0"/>
              <a:t>《</a:t>
            </a:r>
            <a:r>
              <a:rPr lang="zh-CN" altLang="en-US" dirty="0" smtClean="0">
                <a:hlinkClick r:id="rId6"/>
              </a:rPr>
              <a:t>如何通过大数据来获取商业价值</a:t>
            </a:r>
            <a:r>
              <a:rPr lang="en-US" altLang="zh-CN" dirty="0" smtClean="0"/>
              <a:t>》</a:t>
            </a:r>
            <a:r>
              <a:rPr lang="zh-CN" altLang="en-US" dirty="0" smtClean="0"/>
              <a:t>的相关介绍）。</a:t>
            </a:r>
          </a:p>
          <a:p>
            <a:r>
              <a:rPr lang="zh-CN" altLang="en-US" dirty="0" smtClean="0"/>
              <a:t>除了上述主流的定义，还有人使用</a:t>
            </a:r>
            <a:r>
              <a:rPr lang="en-US" altLang="zh-CN" dirty="0" smtClean="0"/>
              <a:t>3S</a:t>
            </a:r>
            <a:r>
              <a:rPr lang="zh-CN" altLang="en-US" dirty="0" smtClean="0"/>
              <a:t>或者</a:t>
            </a:r>
            <a:r>
              <a:rPr lang="en-US" altLang="zh-CN" dirty="0" smtClean="0"/>
              <a:t>3I</a:t>
            </a:r>
            <a:r>
              <a:rPr lang="zh-CN" altLang="en-US" dirty="0" smtClean="0"/>
              <a:t>描述大数据的特征。</a:t>
            </a:r>
          </a:p>
          <a:p>
            <a:r>
              <a:rPr lang="en-US" altLang="zh-CN" dirty="0" smtClean="0"/>
              <a:t>3S</a:t>
            </a:r>
            <a:r>
              <a:rPr lang="zh-CN" altLang="en-US" dirty="0" smtClean="0"/>
              <a:t>指的是：大小（</a:t>
            </a:r>
            <a:r>
              <a:rPr lang="en-US" altLang="zh-CN" dirty="0" smtClean="0"/>
              <a:t>Size</a:t>
            </a:r>
            <a:r>
              <a:rPr lang="zh-CN" altLang="en-US" dirty="0" smtClean="0"/>
              <a:t>）、速度（</a:t>
            </a:r>
            <a:r>
              <a:rPr lang="en-US" altLang="zh-CN" dirty="0" smtClean="0"/>
              <a:t>Speed</a:t>
            </a:r>
            <a:r>
              <a:rPr lang="zh-CN" altLang="en-US" dirty="0" smtClean="0"/>
              <a:t>）和结构（</a:t>
            </a:r>
            <a:r>
              <a:rPr lang="en-US" altLang="zh-CN" dirty="0" smtClean="0"/>
              <a:t>Structure</a:t>
            </a:r>
            <a:r>
              <a:rPr lang="zh-CN" altLang="en-US" dirty="0" smtClean="0"/>
              <a:t>）。</a:t>
            </a:r>
          </a:p>
          <a:p>
            <a:r>
              <a:rPr lang="en-US" altLang="zh-CN" dirty="0" smtClean="0"/>
              <a:t>3I</a:t>
            </a:r>
            <a:r>
              <a:rPr lang="zh-CN" altLang="en-US" dirty="0" smtClean="0"/>
              <a:t>指的是：</a:t>
            </a:r>
          </a:p>
          <a:p>
            <a:r>
              <a:rPr lang="zh-CN" altLang="en-US" dirty="0" smtClean="0"/>
              <a:t>（</a:t>
            </a:r>
            <a:r>
              <a:rPr lang="en-US" altLang="zh-CN" dirty="0" smtClean="0"/>
              <a:t>1</a:t>
            </a:r>
            <a:r>
              <a:rPr lang="zh-CN" altLang="en-US" dirty="0" smtClean="0"/>
              <a:t>）、定义不明确的（</a:t>
            </a:r>
            <a:r>
              <a:rPr lang="en-US" altLang="zh-CN" dirty="0" smtClean="0"/>
              <a:t>Ill-</a:t>
            </a:r>
            <a:r>
              <a:rPr lang="en-US" altLang="zh-CN" dirty="0" err="1" smtClean="0"/>
              <a:t>de.ned</a:t>
            </a:r>
            <a:r>
              <a:rPr lang="zh-CN" altLang="en-US" dirty="0" smtClean="0"/>
              <a:t>）：多个主流的大数据定义都强调了数据规模需要超过传统方法处理数据的规模，而随着技术的进步，数据分析的效率不断提高，符合大数据定义的数据规模也会相应不断变大，因而并没有一个明确的标准。</a:t>
            </a:r>
          </a:p>
          <a:p>
            <a:r>
              <a:rPr lang="zh-CN" altLang="en-US" dirty="0" smtClean="0"/>
              <a:t>（</a:t>
            </a:r>
            <a:r>
              <a:rPr lang="en-US" altLang="zh-CN" dirty="0" smtClean="0"/>
              <a:t>2</a:t>
            </a:r>
            <a:r>
              <a:rPr lang="zh-CN" altLang="en-US" dirty="0" smtClean="0"/>
              <a:t>）、令人生畏的（</a:t>
            </a:r>
            <a:r>
              <a:rPr lang="en-US" altLang="zh-CN" dirty="0" smtClean="0"/>
              <a:t>Intimidating</a:t>
            </a:r>
            <a:r>
              <a:rPr lang="zh-CN" altLang="en-US" dirty="0" smtClean="0"/>
              <a:t>）：从管理大数据到使用正确的工具获取它的价值，利用大数据的过程中充满了各种挑战。</a:t>
            </a:r>
          </a:p>
          <a:p>
            <a:r>
              <a:rPr lang="zh-CN" altLang="en-US" dirty="0" smtClean="0"/>
              <a:t>（</a:t>
            </a:r>
            <a:r>
              <a:rPr lang="en-US" altLang="zh-CN" dirty="0" smtClean="0"/>
              <a:t>3</a:t>
            </a:r>
            <a:r>
              <a:rPr lang="zh-CN" altLang="en-US" dirty="0" smtClean="0"/>
              <a:t>）、即时的（</a:t>
            </a:r>
            <a:r>
              <a:rPr lang="en-US" altLang="zh-CN" dirty="0" smtClean="0"/>
              <a:t>Immediate</a:t>
            </a:r>
            <a:r>
              <a:rPr lang="zh-CN" altLang="en-US" dirty="0" smtClean="0"/>
              <a:t>）：数据的价值会随着时间快速衰减，因此为了保证大数据的可控性，需要缩短数据搜集到获得数据洞察之间的时间，使得大数据成为真正的即时大数据，这意味着能尽快地分析数据对获得竞争优势至关重要。</a:t>
            </a:r>
          </a:p>
          <a:p>
            <a:pPr>
              <a:defRPr/>
            </a:pPr>
            <a:endParaRPr lang="en-US" altLang="zh-CN" dirty="0" smtClean="0">
              <a:latin typeface="+mn-lt"/>
              <a:ea typeface="+mn-ea"/>
            </a:endParaRPr>
          </a:p>
          <a:p>
            <a:pPr>
              <a:defRPr/>
            </a:pPr>
            <a:endParaRPr lang="en-US" altLang="zh-CN" dirty="0" smtClean="0">
              <a:latin typeface="+mn-lt"/>
              <a:ea typeface="+mn-ea"/>
            </a:endParaRPr>
          </a:p>
          <a:p>
            <a:pPr>
              <a:defRPr/>
            </a:pPr>
            <a:r>
              <a:rPr lang="zh-CN" altLang="zh-CN" dirty="0" smtClean="0">
                <a:latin typeface="+mn-lt"/>
                <a:ea typeface="+mn-ea"/>
              </a:rPr>
              <a:t>第一</a:t>
            </a:r>
            <a:r>
              <a:rPr lang="en-US" altLang="zh-CN" dirty="0" smtClean="0">
                <a:latin typeface="+mn-lt"/>
                <a:ea typeface="+mn-ea"/>
              </a:rPr>
              <a:t>V</a:t>
            </a:r>
            <a:r>
              <a:rPr lang="zh-CN" altLang="zh-CN" dirty="0" smtClean="0">
                <a:latin typeface="+mn-lt"/>
                <a:ea typeface="+mn-ea"/>
              </a:rPr>
              <a:t>是</a:t>
            </a:r>
            <a:r>
              <a:rPr lang="en-US" altLang="zh-CN" dirty="0" smtClean="0">
                <a:latin typeface="+mn-lt"/>
                <a:ea typeface="+mn-ea"/>
              </a:rPr>
              <a:t>Variety</a:t>
            </a:r>
            <a:r>
              <a:rPr lang="zh-CN" altLang="zh-CN" dirty="0" smtClean="0">
                <a:latin typeface="+mn-lt"/>
                <a:ea typeface="+mn-ea"/>
              </a:rPr>
              <a:t>，海量数据有不同格式，第一种是结构化，我们常见的数据，还有半结据化网页数据，还有非结构化视频音频数据。而且这些数据化他们处理方式是比较大的。</a:t>
            </a:r>
            <a:endParaRPr lang="en-US" altLang="zh-CN" dirty="0" smtClean="0">
              <a:latin typeface="+mn-lt"/>
              <a:ea typeface="+mn-ea"/>
            </a:endParaRPr>
          </a:p>
          <a:p>
            <a:pPr>
              <a:defRPr/>
            </a:pPr>
            <a:r>
              <a:rPr lang="zh-CN" altLang="en-US" dirty="0" smtClean="0">
                <a:ea typeface="黑体" pitchFamily="49" charset="-122"/>
              </a:rPr>
              <a:t>很多不同形式（文本、图像、视频、机器数据），无模式或者模式不明显，不连贯的语法或句义</a:t>
            </a:r>
            <a:endParaRPr lang="en-US" altLang="zh-CN" dirty="0" smtClean="0">
              <a:latin typeface="+mn-lt"/>
              <a:ea typeface="+mn-ea"/>
            </a:endParaRPr>
          </a:p>
          <a:p>
            <a:pPr>
              <a:defRPr/>
            </a:pPr>
            <a:r>
              <a:rPr lang="zh-CN" altLang="zh-CN" dirty="0" smtClean="0">
                <a:latin typeface="+mn-lt"/>
                <a:ea typeface="+mn-ea"/>
              </a:rPr>
              <a:t>第二点就是</a:t>
            </a:r>
            <a:r>
              <a:rPr lang="en-US" altLang="zh-CN" dirty="0" smtClean="0">
                <a:latin typeface="+mn-lt"/>
                <a:ea typeface="+mn-ea"/>
              </a:rPr>
              <a:t>Volume</a:t>
            </a:r>
            <a:r>
              <a:rPr lang="zh-CN" altLang="zh-CN" dirty="0" smtClean="0">
                <a:latin typeface="+mn-lt"/>
                <a:ea typeface="+mn-ea"/>
              </a:rPr>
              <a:t>，量比较大，我们有一些用户化每秒就要进入很多数据，很多客户内部都有几批数据，还有下面淘宝都是几</a:t>
            </a:r>
            <a:r>
              <a:rPr lang="en-US" altLang="zh-CN" dirty="0" smtClean="0">
                <a:latin typeface="+mn-lt"/>
                <a:ea typeface="+mn-ea"/>
              </a:rPr>
              <a:t>PB</a:t>
            </a:r>
            <a:r>
              <a:rPr lang="zh-CN" altLang="zh-CN" dirty="0" smtClean="0">
                <a:latin typeface="+mn-lt"/>
                <a:ea typeface="+mn-ea"/>
              </a:rPr>
              <a:t>数据，所以</a:t>
            </a:r>
            <a:r>
              <a:rPr lang="en-US" altLang="zh-CN" dirty="0" smtClean="0">
                <a:latin typeface="+mn-lt"/>
                <a:ea typeface="+mn-ea"/>
              </a:rPr>
              <a:t>PB</a:t>
            </a:r>
            <a:r>
              <a:rPr lang="zh-CN" altLang="zh-CN" dirty="0" smtClean="0">
                <a:latin typeface="+mn-lt"/>
                <a:ea typeface="+mn-ea"/>
              </a:rPr>
              <a:t>化将是比较常态的情况。</a:t>
            </a:r>
            <a:endParaRPr lang="en-US" altLang="zh-CN" dirty="0" smtClean="0">
              <a:latin typeface="+mn-lt"/>
              <a:ea typeface="+mn-ea"/>
            </a:endParaRPr>
          </a:p>
          <a:p>
            <a:pPr>
              <a:defRPr/>
            </a:pPr>
            <a:r>
              <a:rPr lang="zh-CN" altLang="en-US" i="1" dirty="0" smtClean="0">
                <a:solidFill>
                  <a:srgbClr val="FF0000"/>
                </a:solidFill>
                <a:ea typeface="黑体" pitchFamily="49" charset="-122"/>
              </a:rPr>
              <a:t>非结构化数据</a:t>
            </a:r>
            <a:r>
              <a:rPr lang="zh-CN" altLang="en-US" dirty="0" smtClean="0">
                <a:ea typeface="黑体" pitchFamily="49" charset="-122"/>
              </a:rPr>
              <a:t>的超大规模和增长，占总数据量的</a:t>
            </a:r>
            <a:r>
              <a:rPr lang="en-US" altLang="zh-CN" dirty="0" smtClean="0">
                <a:ea typeface="黑体" pitchFamily="49" charset="-122"/>
              </a:rPr>
              <a:t>80~90%</a:t>
            </a:r>
            <a:r>
              <a:rPr lang="zh-CN" altLang="en-US" dirty="0" smtClean="0">
                <a:ea typeface="黑体" pitchFamily="49" charset="-122"/>
              </a:rPr>
              <a:t>，比结构化数据增长快</a:t>
            </a:r>
            <a:r>
              <a:rPr lang="en-US" altLang="zh-CN" dirty="0" smtClean="0">
                <a:ea typeface="黑体" pitchFamily="49" charset="-122"/>
              </a:rPr>
              <a:t>10</a:t>
            </a:r>
            <a:r>
              <a:rPr lang="zh-CN" altLang="en-US" dirty="0" smtClean="0">
                <a:ea typeface="黑体" pitchFamily="49" charset="-122"/>
              </a:rPr>
              <a:t>倍到</a:t>
            </a:r>
            <a:r>
              <a:rPr lang="en-US" altLang="zh-CN" dirty="0" smtClean="0">
                <a:ea typeface="黑体" pitchFamily="49" charset="-122"/>
              </a:rPr>
              <a:t>50</a:t>
            </a:r>
            <a:r>
              <a:rPr lang="zh-CN" altLang="en-US" dirty="0" smtClean="0">
                <a:ea typeface="黑体" pitchFamily="49" charset="-122"/>
              </a:rPr>
              <a:t>倍，是传统数据仓库的</a:t>
            </a:r>
            <a:r>
              <a:rPr lang="en-US" altLang="zh-CN" dirty="0" smtClean="0">
                <a:ea typeface="黑体" pitchFamily="49" charset="-122"/>
              </a:rPr>
              <a:t>10</a:t>
            </a:r>
            <a:r>
              <a:rPr lang="zh-CN" altLang="en-US" dirty="0" smtClean="0">
                <a:ea typeface="黑体" pitchFamily="49" charset="-122"/>
              </a:rPr>
              <a:t>倍到</a:t>
            </a:r>
            <a:r>
              <a:rPr lang="en-US" altLang="zh-CN" dirty="0" smtClean="0">
                <a:ea typeface="黑体" pitchFamily="49" charset="-122"/>
              </a:rPr>
              <a:t>50</a:t>
            </a:r>
            <a:r>
              <a:rPr lang="zh-CN" altLang="en-US" dirty="0" smtClean="0">
                <a:ea typeface="黑体" pitchFamily="49" charset="-122"/>
              </a:rPr>
              <a:t>倍</a:t>
            </a:r>
            <a:endParaRPr lang="zh-CN" altLang="zh-CN" dirty="0" smtClean="0">
              <a:latin typeface="+mn-lt"/>
              <a:ea typeface="+mn-ea"/>
            </a:endParaRPr>
          </a:p>
          <a:p>
            <a:pPr>
              <a:defRPr/>
            </a:pPr>
            <a:r>
              <a:rPr lang="zh-CN" altLang="zh-CN" dirty="0" smtClean="0">
                <a:latin typeface="+mn-lt"/>
                <a:ea typeface="+mn-ea"/>
              </a:rPr>
              <a:t>第三个是</a:t>
            </a:r>
            <a:r>
              <a:rPr lang="en-US" altLang="zh-CN" dirty="0" smtClean="0">
                <a:latin typeface="+mn-lt"/>
                <a:ea typeface="+mn-ea"/>
              </a:rPr>
              <a:t>Velocity</a:t>
            </a:r>
            <a:r>
              <a:rPr lang="zh-CN" altLang="zh-CN" dirty="0" smtClean="0">
                <a:latin typeface="+mn-lt"/>
                <a:ea typeface="+mn-ea"/>
              </a:rPr>
              <a:t>，因为数据化会存在时效性，需要快速处理，并得到结果出来。比如说，一些电商数据，今天的信息不处理没有结果化，将会影响到今天捕获很多商业决策。</a:t>
            </a:r>
            <a:endParaRPr lang="en-US" altLang="zh-CN" dirty="0" smtClean="0">
              <a:latin typeface="+mn-lt"/>
              <a:ea typeface="+mn-ea"/>
            </a:endParaRPr>
          </a:p>
          <a:p>
            <a:pPr>
              <a:defRPr/>
            </a:pPr>
            <a:r>
              <a:rPr lang="zh-CN" altLang="en-US" dirty="0" smtClean="0">
                <a:ea typeface="黑体" pitchFamily="49" charset="-122"/>
              </a:rPr>
              <a:t>  立竿见影而非事后见效</a:t>
            </a:r>
            <a:endParaRPr lang="en-US" altLang="zh-CN" dirty="0" smtClean="0">
              <a:ea typeface="黑体" pitchFamily="49" charset="-122"/>
            </a:endParaRPr>
          </a:p>
          <a:p>
            <a:pPr>
              <a:defRPr/>
            </a:pPr>
            <a:r>
              <a:rPr lang="zh-CN" altLang="en-US" dirty="0" smtClean="0">
                <a:ea typeface="黑体" pitchFamily="49" charset="-122"/>
              </a:rPr>
              <a:t>第四个是</a:t>
            </a:r>
            <a:r>
              <a:rPr lang="en-US" altLang="zh-CN" dirty="0" smtClean="0">
                <a:ea typeface="黑体" pitchFamily="49" charset="-122"/>
              </a:rPr>
              <a:t>Value</a:t>
            </a:r>
            <a:r>
              <a:rPr lang="zh-CN" altLang="en-US" dirty="0" smtClean="0">
                <a:ea typeface="黑体" pitchFamily="49" charset="-122"/>
              </a:rPr>
              <a:t>：大量的不相关信息，不经过处理则价值较低，属于价值密度底的数据</a:t>
            </a:r>
            <a:endParaRPr lang="en-US" altLang="zh-CN" dirty="0" smtClean="0">
              <a:ea typeface="黑体" pitchFamily="49" charset="-122"/>
            </a:endParaRPr>
          </a:p>
          <a:p>
            <a:pPr>
              <a:defRPr/>
            </a:pPr>
            <a:endParaRPr lang="en-US" altLang="zh-CN" dirty="0" smtClean="0">
              <a:ea typeface="黑体" pitchFamily="49" charset="-122"/>
            </a:endParaRPr>
          </a:p>
          <a:p>
            <a:pPr>
              <a:defRPr/>
            </a:pPr>
            <a:r>
              <a:rPr lang="zh-CN" altLang="zh-CN" dirty="0" smtClean="0">
                <a:latin typeface="+mn-lt"/>
                <a:ea typeface="+mn-ea"/>
              </a:rPr>
              <a:t>海量数据分析非常复杂，使得过去靠单纯易于关于数据库</a:t>
            </a:r>
            <a:r>
              <a:rPr lang="en-US" altLang="zh-CN" dirty="0" smtClean="0">
                <a:latin typeface="+mn-lt"/>
                <a:ea typeface="+mn-ea"/>
              </a:rPr>
              <a:t>BI</a:t>
            </a:r>
            <a:r>
              <a:rPr lang="zh-CN" altLang="zh-CN" dirty="0" smtClean="0">
                <a:latin typeface="+mn-lt"/>
                <a:ea typeface="+mn-ea"/>
              </a:rPr>
              <a:t>已经不是太适合了。所以，可能需要新的创新。</a:t>
            </a:r>
            <a:endParaRPr lang="en-US" altLang="zh-CN" dirty="0" smtClean="0">
              <a:latin typeface="+mn-lt"/>
              <a:ea typeface="+mn-ea"/>
            </a:endParaRPr>
          </a:p>
          <a:p>
            <a:pPr>
              <a:defRPr/>
            </a:pPr>
            <a:endParaRPr lang="en-US" altLang="zh-CN" dirty="0" smtClean="0">
              <a:latin typeface="+mn-lt"/>
              <a:ea typeface="+mn-ea"/>
            </a:endParaRPr>
          </a:p>
          <a:p>
            <a:pPr>
              <a:defRPr/>
            </a:pPr>
            <a:endParaRPr lang="en-US" altLang="zh-CN" dirty="0" smtClean="0">
              <a:ea typeface="黑体" pitchFamily="49" charset="-122"/>
            </a:endParaRPr>
          </a:p>
          <a:p>
            <a:pPr>
              <a:defRPr/>
            </a:pPr>
            <a:endParaRPr lang="en-US" altLang="zh-CN" dirty="0" smtClean="0">
              <a:ea typeface="黑体" pitchFamily="49" charset="-122"/>
            </a:endParaRPr>
          </a:p>
          <a:p>
            <a:pPr>
              <a:defRPr/>
            </a:pPr>
            <a:endParaRPr lang="zh-CN" altLang="en-US" dirty="0"/>
          </a:p>
        </p:txBody>
      </p:sp>
      <p:sp>
        <p:nvSpPr>
          <p:cNvPr id="99332" name="灯片编号占位符 3"/>
          <p:cNvSpPr>
            <a:spLocks noGrp="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200" b="1">
                <a:solidFill>
                  <a:schemeClr val="tx1"/>
                </a:solidFill>
                <a:latin typeface="Arial" pitchFamily="34" charset="0"/>
                <a:ea typeface="楷体_GB2312" pitchFamily="49" charset="-122"/>
              </a:defRPr>
            </a:lvl1pPr>
            <a:lvl2pPr marL="804838" indent="-309553" eaLnBrk="0" hangingPunct="0">
              <a:defRPr sz="2200" b="1">
                <a:solidFill>
                  <a:schemeClr val="tx1"/>
                </a:solidFill>
                <a:latin typeface="Arial" pitchFamily="34" charset="0"/>
                <a:ea typeface="楷体_GB2312" pitchFamily="49" charset="-122"/>
              </a:defRPr>
            </a:lvl2pPr>
            <a:lvl3pPr marL="1238212" indent="-247642" eaLnBrk="0" hangingPunct="0">
              <a:defRPr sz="2200" b="1">
                <a:solidFill>
                  <a:schemeClr val="tx1"/>
                </a:solidFill>
                <a:latin typeface="Arial" pitchFamily="34" charset="0"/>
                <a:ea typeface="楷体_GB2312" pitchFamily="49" charset="-122"/>
              </a:defRPr>
            </a:lvl3pPr>
            <a:lvl4pPr marL="1733497" indent="-247642" eaLnBrk="0" hangingPunct="0">
              <a:defRPr sz="2200" b="1">
                <a:solidFill>
                  <a:schemeClr val="tx1"/>
                </a:solidFill>
                <a:latin typeface="Arial" pitchFamily="34" charset="0"/>
                <a:ea typeface="楷体_GB2312" pitchFamily="49" charset="-122"/>
              </a:defRPr>
            </a:lvl4pPr>
            <a:lvl5pPr marL="2228781" indent="-247642" eaLnBrk="0" hangingPunct="0">
              <a:defRPr sz="2200" b="1">
                <a:solidFill>
                  <a:schemeClr val="tx1"/>
                </a:solidFill>
                <a:latin typeface="Arial" pitchFamily="34" charset="0"/>
                <a:ea typeface="楷体_GB2312" pitchFamily="49" charset="-122"/>
              </a:defRPr>
            </a:lvl5pPr>
            <a:lvl6pPr marL="2724066" indent="-247642" eaLnBrk="0" fontAlgn="base" hangingPunct="0">
              <a:spcBef>
                <a:spcPct val="0"/>
              </a:spcBef>
              <a:spcAft>
                <a:spcPct val="0"/>
              </a:spcAft>
              <a:defRPr sz="2200" b="1">
                <a:solidFill>
                  <a:schemeClr val="tx1"/>
                </a:solidFill>
                <a:latin typeface="Arial" pitchFamily="34" charset="0"/>
                <a:ea typeface="楷体_GB2312" pitchFamily="49" charset="-122"/>
              </a:defRPr>
            </a:lvl6pPr>
            <a:lvl7pPr marL="3219351" indent="-247642" eaLnBrk="0" fontAlgn="base" hangingPunct="0">
              <a:spcBef>
                <a:spcPct val="0"/>
              </a:spcBef>
              <a:spcAft>
                <a:spcPct val="0"/>
              </a:spcAft>
              <a:defRPr sz="2200" b="1">
                <a:solidFill>
                  <a:schemeClr val="tx1"/>
                </a:solidFill>
                <a:latin typeface="Arial" pitchFamily="34" charset="0"/>
                <a:ea typeface="楷体_GB2312" pitchFamily="49" charset="-122"/>
              </a:defRPr>
            </a:lvl7pPr>
            <a:lvl8pPr marL="3714636" indent="-247642" eaLnBrk="0" fontAlgn="base" hangingPunct="0">
              <a:spcBef>
                <a:spcPct val="0"/>
              </a:spcBef>
              <a:spcAft>
                <a:spcPct val="0"/>
              </a:spcAft>
              <a:defRPr sz="2200" b="1">
                <a:solidFill>
                  <a:schemeClr val="tx1"/>
                </a:solidFill>
                <a:latin typeface="Arial" pitchFamily="34" charset="0"/>
                <a:ea typeface="楷体_GB2312" pitchFamily="49" charset="-122"/>
              </a:defRPr>
            </a:lvl8pPr>
            <a:lvl9pPr marL="4209920" indent="-247642" eaLnBrk="0" fontAlgn="base" hangingPunct="0">
              <a:spcBef>
                <a:spcPct val="0"/>
              </a:spcBef>
              <a:spcAft>
                <a:spcPct val="0"/>
              </a:spcAft>
              <a:defRPr sz="2200" b="1">
                <a:solidFill>
                  <a:schemeClr val="tx1"/>
                </a:solidFill>
                <a:latin typeface="Arial" pitchFamily="34" charset="0"/>
                <a:ea typeface="楷体_GB2312" pitchFamily="49" charset="-122"/>
              </a:defRPr>
            </a:lvl9pPr>
          </a:lstStyle>
          <a:p>
            <a:pPr eaLnBrk="1" hangingPunct="1"/>
            <a:fld id="{51CB2C5F-7A6C-4CEF-A54D-887A83C0DF7A}" type="slidenum">
              <a:rPr lang="zh-CN" altLang="en-US" sz="1300" b="0">
                <a:latin typeface="Verdana" pitchFamily="34" charset="0"/>
                <a:ea typeface="宋体" pitchFamily="2" charset="-122"/>
              </a:rPr>
              <a:pPr eaLnBrk="1" hangingPunct="1"/>
              <a:t>19</a:t>
            </a:fld>
            <a:endParaRPr lang="zh-CN" altLang="en-US" sz="1300" b="0">
              <a:latin typeface="Verdana" pitchFamily="34" charset="0"/>
              <a:ea typeface="宋体" pitchFamily="2" charset="-122"/>
            </a:endParaRPr>
          </a:p>
        </p:txBody>
      </p:sp>
    </p:spTree>
    <p:extLst>
      <p:ext uri="{BB962C8B-B14F-4D97-AF65-F5344CB8AC3E}">
        <p14:creationId xmlns:p14="http://schemas.microsoft.com/office/powerpoint/2010/main" val="329442776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b="1" dirty="0" smtClean="0">
                <a:hlinkClick r:id="rId3"/>
              </a:rPr>
              <a:t>吴甘沙：大数据的六大人工智能变现方式</a:t>
            </a:r>
            <a:endParaRPr lang="en-US" altLang="zh-CN" b="1" dirty="0" smtClean="0"/>
          </a:p>
          <a:p>
            <a:r>
              <a:rPr lang="en-US" altLang="zh-CN" b="1" dirty="0" smtClean="0"/>
              <a:t>http://www.36dsj.com/archives/40413</a:t>
            </a:r>
            <a:endParaRPr lang="zh-CN" altLang="en-US" b="1" dirty="0" smtClean="0"/>
          </a:p>
          <a:p>
            <a:r>
              <a:rPr lang="zh-CN" altLang="en-US" dirty="0" smtClean="0"/>
              <a:t>莫扎特</a:t>
            </a:r>
          </a:p>
          <a:p>
            <a:r>
              <a:rPr lang="en-US" altLang="zh-CN" dirty="0" smtClean="0"/>
              <a:t>2016-01-27 10:25:15</a:t>
            </a:r>
          </a:p>
          <a:p>
            <a:r>
              <a:rPr lang="zh-CN" altLang="en-US" dirty="0" smtClean="0">
                <a:hlinkClick r:id="rId4"/>
              </a:rPr>
              <a:t>人工智能</a:t>
            </a:r>
            <a:endParaRPr lang="zh-CN" altLang="en-US" dirty="0" smtClean="0"/>
          </a:p>
          <a:p>
            <a:r>
              <a:rPr lang="zh-CN" altLang="en-US" dirty="0" smtClean="0"/>
              <a:t>评论</a:t>
            </a:r>
            <a:r>
              <a:rPr lang="en-US" altLang="zh-CN" dirty="0" smtClean="0"/>
              <a:t>(0)</a:t>
            </a:r>
          </a:p>
          <a:p>
            <a:r>
              <a:rPr lang="zh-CN" altLang="en-US" dirty="0" smtClean="0"/>
              <a:t>作者</a:t>
            </a:r>
            <a:r>
              <a:rPr lang="en-US" altLang="zh-CN" dirty="0" smtClean="0"/>
              <a:t>|</a:t>
            </a:r>
            <a:r>
              <a:rPr lang="zh-CN" altLang="en-US" dirty="0" smtClean="0"/>
              <a:t>吴甘沙 英特尔中国研究院院长兼首席工程师摘自</a:t>
            </a:r>
            <a:r>
              <a:rPr lang="en-US" altLang="zh-CN" dirty="0" smtClean="0"/>
              <a:t>《</a:t>
            </a:r>
            <a:r>
              <a:rPr lang="zh-CN" altLang="en-US" dirty="0" smtClean="0"/>
              <a:t>中国传媒科技</a:t>
            </a:r>
            <a:r>
              <a:rPr lang="en-US" altLang="zh-CN" dirty="0" smtClean="0"/>
              <a:t>》</a:t>
            </a:r>
            <a:r>
              <a:rPr lang="zh-CN" altLang="en-US" dirty="0" smtClean="0"/>
              <a:t>杂志</a:t>
            </a:r>
          </a:p>
          <a:p>
            <a:r>
              <a:rPr lang="zh-CN" altLang="en-US" dirty="0" smtClean="0"/>
              <a:t>导读：</a:t>
            </a:r>
          </a:p>
          <a:p>
            <a:r>
              <a:rPr lang="zh-CN" altLang="en-US" dirty="0" smtClean="0"/>
              <a:t>大数据技术与移动互联技术和云计算技术一样，都属于颠覆性的信息技术。但是，大数据并非是高纯度的石油而是含金量非常低的矿石，数据量大、种类繁杂、价值密度低、以及时时刻刻都在瞬息万变的特点，使得存储、统计、分类以及调用都困难异常，而其中隐藏的发展规律和社会经验则价值巨大。</a:t>
            </a:r>
          </a:p>
          <a:p>
            <a:r>
              <a:rPr lang="zh-CN" altLang="en-US" dirty="0" smtClean="0"/>
              <a:t>幸运的是，人工智能领域的一些理论和比较实用的方法，已经开始用于大数据分析方面，并显现出初步令人振奋的结果。至此大数据的价值变现潜能开始逐步被人工智能释放。同时，大数据技术的发展也将在为人工智能提供用武之地的同时，唤醒人工智能巨大的潜力，从而使这两个领域的技术和应用出现加速发展的趋势。</a:t>
            </a:r>
          </a:p>
          <a:p>
            <a:r>
              <a:rPr lang="zh-CN" altLang="en-US" dirty="0" smtClean="0"/>
              <a:t>在</a:t>
            </a:r>
            <a:r>
              <a:rPr lang="en-US" altLang="zh-CN" dirty="0" smtClean="0"/>
              <a:t>2015</a:t>
            </a:r>
            <a:r>
              <a:rPr lang="zh-CN" altLang="en-US" dirty="0" smtClean="0"/>
              <a:t>年新华社新闻学术年会新华网“信息技术与媒体生态”分论坛上，英特尔中国研究院院长、首席工程师吴甘沙将大数据的可能价值变现方式划分为六种：</a:t>
            </a:r>
          </a:p>
          <a:p>
            <a:r>
              <a:rPr lang="zh-CN" altLang="en-US" dirty="0" smtClean="0"/>
              <a:t>一是见微，从小处看到细微的洞察</a:t>
            </a:r>
            <a:r>
              <a:rPr lang="en-US" altLang="zh-CN" dirty="0" smtClean="0"/>
              <a:t>;</a:t>
            </a:r>
          </a:p>
          <a:p>
            <a:r>
              <a:rPr lang="zh-CN" altLang="en-US" dirty="0" smtClean="0"/>
              <a:t>二是知著，能看到宏观的变化规律。正如</a:t>
            </a:r>
            <a:r>
              <a:rPr lang="en-US" altLang="zh-CN" dirty="0" smtClean="0"/>
              <a:t>《</a:t>
            </a:r>
            <a:r>
              <a:rPr lang="zh-CN" altLang="en-US" dirty="0" smtClean="0"/>
              <a:t>一代宗师</a:t>
            </a:r>
            <a:r>
              <a:rPr lang="en-US" altLang="zh-CN" dirty="0" smtClean="0"/>
              <a:t>》</a:t>
            </a:r>
            <a:r>
              <a:rPr lang="zh-CN" altLang="en-US" dirty="0" smtClean="0"/>
              <a:t>里的台词“见自己、见众生、见天地”，吴甘沙把</a:t>
            </a:r>
            <a:r>
              <a:rPr lang="zh-CN" altLang="en-US" b="1" dirty="0" smtClean="0"/>
              <a:t>见微是叫做见自己，知著称为见众生、见天地</a:t>
            </a:r>
            <a:r>
              <a:rPr lang="zh-CN" altLang="en-US" dirty="0" smtClean="0"/>
              <a:t>。</a:t>
            </a:r>
          </a:p>
          <a:p>
            <a:r>
              <a:rPr lang="zh-CN" altLang="en-US" dirty="0" smtClean="0"/>
              <a:t>第三第四种是当下和皆明，</a:t>
            </a:r>
            <a:r>
              <a:rPr lang="zh-CN" altLang="en-US" b="1" dirty="0" smtClean="0"/>
              <a:t>当下是此时此刻的感受，皆明是知前后做到万物皆明</a:t>
            </a:r>
            <a:r>
              <a:rPr lang="zh-CN" altLang="en-US" dirty="0" smtClean="0"/>
              <a:t>，是在时间点上在不同的万物上获得洞察。</a:t>
            </a:r>
          </a:p>
          <a:p>
            <a:r>
              <a:rPr lang="zh-CN" altLang="en-US" dirty="0" smtClean="0"/>
              <a:t>五六是辨讹和晓意，</a:t>
            </a:r>
            <a:r>
              <a:rPr lang="zh-CN" altLang="en-US" b="1" dirty="0" smtClean="0"/>
              <a:t>辨讹是去伪存真、查漏补缺，晓意则由于传统上机器只能处理数据</a:t>
            </a:r>
            <a:r>
              <a:rPr lang="zh-CN" altLang="en-US" dirty="0" smtClean="0"/>
              <a:t>，对于有深刻内涵的内容无法真正理解显得异常重要。</a:t>
            </a:r>
          </a:p>
          <a:p>
            <a:r>
              <a:rPr lang="zh-CN" altLang="en-US" b="1" dirty="0" smtClean="0"/>
              <a:t>知著见微：大数据的“大弹性”</a:t>
            </a:r>
          </a:p>
          <a:p>
            <a:r>
              <a:rPr lang="en-US" altLang="zh-CN" b="1" dirty="0" smtClean="0"/>
              <a:t>1</a:t>
            </a:r>
            <a:r>
              <a:rPr lang="zh-CN" altLang="en-US" b="1" dirty="0" smtClean="0"/>
              <a:t>、知著</a:t>
            </a:r>
            <a:endParaRPr lang="zh-CN" altLang="en-US" dirty="0" smtClean="0"/>
          </a:p>
          <a:p>
            <a:r>
              <a:rPr lang="zh-CN" altLang="en-US" dirty="0" smtClean="0"/>
              <a:t>随着大数据、人工智能的发展，机器能进一步窥探到人类的思想境界。知著就是“见天地、见众生”，正如天文望远镜。那么，大数据如何帮助人们知著呢</a:t>
            </a:r>
            <a:r>
              <a:rPr lang="en-US" altLang="zh-CN" dirty="0" smtClean="0"/>
              <a:t>?</a:t>
            </a:r>
            <a:r>
              <a:rPr lang="zh-CN" altLang="en-US" dirty="0" smtClean="0"/>
              <a:t>具体可以分为两方面：</a:t>
            </a:r>
          </a:p>
          <a:p>
            <a:r>
              <a:rPr lang="zh-CN" altLang="en-US" dirty="0" smtClean="0"/>
              <a:t>一是传统采样和定性，采样更多的是了解平均，作为牺牲，采样会把黑天鹅的信号当做噪声过滤掉</a:t>
            </a:r>
            <a:r>
              <a:rPr lang="en-US" altLang="zh-CN" dirty="0" smtClean="0"/>
              <a:t>;</a:t>
            </a:r>
          </a:p>
          <a:p>
            <a:r>
              <a:rPr lang="zh-CN" altLang="en-US" dirty="0" smtClean="0"/>
              <a:t>二是传统定量的研究，尤其是在社会科学领域，大数据为之后的进一步定量研究做了好铺垫。社会学里面有一个社会计算学分支，广告中也有计算广告学分支，所有这些都是通过定量的方法更好地了解这个社会、了解个体。无论是群体的理性还是个体的非理性，都可以通过定量的分析获得洞察。</a:t>
            </a:r>
          </a:p>
          <a:p>
            <a:r>
              <a:rPr lang="zh-CN" altLang="en-US" dirty="0" smtClean="0"/>
              <a:t>国外专家曾在</a:t>
            </a:r>
            <a:r>
              <a:rPr lang="en-US" altLang="zh-CN" dirty="0" smtClean="0"/>
              <a:t>Twitter</a:t>
            </a:r>
            <a:r>
              <a:rPr lang="zh-CN" altLang="en-US" dirty="0" smtClean="0"/>
              <a:t>上面进行过情感分析试验，他们发现</a:t>
            </a:r>
            <a:r>
              <a:rPr lang="en-US" altLang="zh-CN" dirty="0" smtClean="0"/>
              <a:t>Twitter</a:t>
            </a:r>
            <a:r>
              <a:rPr lang="zh-CN" altLang="en-US" dirty="0" smtClean="0"/>
              <a:t>上面的情感变化和</a:t>
            </a:r>
            <a:r>
              <a:rPr lang="en-US" altLang="zh-CN" dirty="0" err="1" smtClean="0"/>
              <a:t>FacebookIPO</a:t>
            </a:r>
            <a:r>
              <a:rPr lang="zh-CN" altLang="en-US" dirty="0" smtClean="0"/>
              <a:t>当天股价的变化有高度相关性，而情感变化是股价变化的先行因素，这是一个很有趣的研究。这种研究使得人们能够更好地看到社会上的一些行为、媒体内容中的一些变化和经济行为变化的关系。</a:t>
            </a:r>
          </a:p>
          <a:p>
            <a:r>
              <a:rPr lang="en-US" altLang="zh-CN" b="1" dirty="0" smtClean="0"/>
              <a:t>2</a:t>
            </a:r>
            <a:r>
              <a:rPr lang="zh-CN" altLang="en-US" b="1" dirty="0" smtClean="0"/>
              <a:t>、见微</a:t>
            </a:r>
          </a:p>
          <a:p>
            <a:r>
              <a:rPr lang="zh-CN" altLang="en-US" dirty="0" smtClean="0"/>
              <a:t>如果说知著是天文望远镜，那么见微就是显微镜。传统观点认为，市场经济的“市场”是所有人行为的总合，由于对数据和行为理解的局限，人们看到的市场亦是打马赛克的块状分布。而随着掌握的数据的增加，这个市场逐渐变成一个高清的纵深的图。</a:t>
            </a:r>
          </a:p>
          <a:p>
            <a:r>
              <a:rPr lang="zh-CN" altLang="en-US" dirty="0" smtClean="0"/>
              <a:t>传统上的营销行为讲究的是对客户群体进行细分，随着大数据发展的深入，客户群体从细分到微分、微分到个人，实现从个性化到个体化的转变。</a:t>
            </a:r>
          </a:p>
          <a:p>
            <a:r>
              <a:rPr lang="zh-CN" altLang="en-US" dirty="0" smtClean="0"/>
              <a:t>从前，商家只能关注花钱买单的客户，大数据则可以实现用户的体验反馈，并且从点到面逐渐覆盖。仅仅覆盖到线上的面却是不够的，随着移动互联网以及位置信息的丰富，线下位置信息可以揭露更多的洞察</a:t>
            </a:r>
            <a:r>
              <a:rPr lang="en-US" altLang="zh-CN" dirty="0" smtClean="0"/>
              <a:t>——</a:t>
            </a:r>
            <a:r>
              <a:rPr lang="zh-CN" altLang="en-US" dirty="0" smtClean="0"/>
              <a:t>原来他到了一个线下的商场做了一次体验。</a:t>
            </a:r>
          </a:p>
          <a:p>
            <a:r>
              <a:rPr lang="zh-CN" altLang="en-US" dirty="0" smtClean="0"/>
              <a:t>网络信息透露该用户在体验之前是获得了基于位置信息的推荐，或者是因为社交网络上朋友的一次推荐。体验结束不仅仅有交易，也会到网上吐槽，而吐槽会进一步形成病毒式的传播，他的朋友可能是点赞或者进一步转发。所有这些就形成了网状或者是图状的数据，这个数据使得我们对这个行为有了更好的洞察。</a:t>
            </a:r>
          </a:p>
        </p:txBody>
      </p:sp>
      <p:sp>
        <p:nvSpPr>
          <p:cNvPr id="4" name="灯片编号占位符 3"/>
          <p:cNvSpPr>
            <a:spLocks noGrp="1"/>
          </p:cNvSpPr>
          <p:nvPr>
            <p:ph type="sldNum" sz="quarter" idx="10"/>
          </p:nvPr>
        </p:nvSpPr>
        <p:spPr/>
        <p:txBody>
          <a:bodyPr/>
          <a:lstStyle/>
          <a:p>
            <a:pPr>
              <a:defRPr/>
            </a:pPr>
            <a:fld id="{1DBA2871-DC6D-443A-B4CC-1F73A629D13C}" type="slidenum">
              <a:rPr lang="en-US" altLang="zh-CN" smtClean="0"/>
              <a:pPr>
                <a:defRPr/>
              </a:pPr>
              <a:t>20</a:t>
            </a:fld>
            <a:endParaRPr lang="en-US" altLang="zh-CN"/>
          </a:p>
        </p:txBody>
      </p:sp>
    </p:spTree>
    <p:extLst>
      <p:ext uri="{BB962C8B-B14F-4D97-AF65-F5344CB8AC3E}">
        <p14:creationId xmlns:p14="http://schemas.microsoft.com/office/powerpoint/2010/main" val="88316736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b="1" dirty="0" smtClean="0"/>
              <a:t>当下皆明：快思考也要深分析</a:t>
            </a:r>
          </a:p>
          <a:p>
            <a:r>
              <a:rPr lang="en-US" altLang="zh-CN" b="1" dirty="0" smtClean="0"/>
              <a:t>1</a:t>
            </a:r>
            <a:r>
              <a:rPr lang="zh-CN" altLang="en-US" b="1" dirty="0" smtClean="0"/>
              <a:t>、当下</a:t>
            </a:r>
            <a:endParaRPr lang="zh-CN" altLang="en-US" dirty="0" smtClean="0"/>
          </a:p>
          <a:p>
            <a:r>
              <a:rPr lang="zh-CN" altLang="en-US" dirty="0" smtClean="0"/>
              <a:t>对于普通用户来说，从浏览一个网页或者看一部电影开始，一旦发起了浏览的动作，作为发行商或者是爱奇艺这样的电影的流媒体网站就会到供应方平台发起请求，发起的请求会将这个广告商的画像描绘出来。</a:t>
            </a:r>
          </a:p>
          <a:p>
            <a:r>
              <a:rPr lang="zh-CN" altLang="en-US" dirty="0" smtClean="0"/>
              <a:t>接下来，供应方平台会到广告交易平台进一步获取广告，而交易平台又会将需求传输到代表广告主的需求方平台，需求方平台下面有一个数据管理平台，详细分析了每个个体的偏好，根据传送的个体偏好的分析返回，推荐合适的广告。</a:t>
            </a:r>
            <a:endParaRPr lang="en-US" altLang="zh-CN" dirty="0" smtClean="0"/>
          </a:p>
          <a:p>
            <a:endParaRPr lang="zh-CN" altLang="en-US" dirty="0" smtClean="0"/>
          </a:p>
          <a:p>
            <a:r>
              <a:rPr lang="zh-CN" altLang="en-US" dirty="0" smtClean="0"/>
              <a:t>通过实竞价，获得竞价的一方就会把需求发到程序化的创意平台，该平台再根据广告主以及个体画像产生一次实时的创意，把真正的广告给推到个体那边。</a:t>
            </a:r>
          </a:p>
          <a:p>
            <a:r>
              <a:rPr lang="zh-CN" altLang="en-US" dirty="0" smtClean="0"/>
              <a:t>而所有这些的发生可能在</a:t>
            </a:r>
            <a:r>
              <a:rPr lang="en-US" altLang="zh-CN" dirty="0" smtClean="0"/>
              <a:t>100</a:t>
            </a:r>
            <a:r>
              <a:rPr lang="zh-CN" altLang="en-US" dirty="0" smtClean="0"/>
              <a:t>毫秒发生，发生了从数据的采集到广告主获取广告的候选进行实时竞价和程序化的创意，最后形成这个广告。在整个过程中，大数据起到了无可比拟的作用，这就是见微，而呈现到每一个个体前面的都是非常精准的广告营销。</a:t>
            </a:r>
          </a:p>
          <a:p>
            <a:r>
              <a:rPr lang="zh-CN" altLang="en-US" dirty="0" smtClean="0"/>
              <a:t>同时，在</a:t>
            </a:r>
            <a:r>
              <a:rPr lang="en-US" altLang="zh-CN" dirty="0" smtClean="0"/>
              <a:t>100</a:t>
            </a:r>
            <a:r>
              <a:rPr lang="zh-CN" altLang="en-US" dirty="0" smtClean="0"/>
              <a:t>毫秒里面完成的一次精准广告推荐涉及到当下。在传统意义上，人们对于知识的理解，对于整个社会的理解基本上都有一个滞后期，吴甘沙把它称为刻舟求剑，在人们真正获得洞察的时候，整个这个世界已经变化了。正如建国以来已经进行过的</a:t>
            </a:r>
            <a:r>
              <a:rPr lang="en-US" altLang="zh-CN" dirty="0" smtClean="0"/>
              <a:t>6</a:t>
            </a:r>
            <a:r>
              <a:rPr lang="zh-CN" altLang="en-US" dirty="0" smtClean="0"/>
              <a:t>次人口普查，无论如何精准都是滞后的。而现在随着大数据的普及，我们现在有可能更实时地理解我们这个社会。</a:t>
            </a:r>
          </a:p>
          <a:p>
            <a:r>
              <a:rPr lang="zh-CN" altLang="en-US" dirty="0" smtClean="0"/>
              <a:t>当然，当下快思考风行，几秒钟得到的洞察可能一下子传播到世界各地，犯的错误却是覆水难收。</a:t>
            </a:r>
          </a:p>
          <a:p>
            <a:r>
              <a:rPr lang="en-US" altLang="zh-CN" b="1" dirty="0" smtClean="0"/>
              <a:t>2</a:t>
            </a:r>
            <a:r>
              <a:rPr lang="zh-CN" altLang="en-US" b="1" dirty="0" smtClean="0"/>
              <a:t>、皆明</a:t>
            </a:r>
          </a:p>
          <a:p>
            <a:r>
              <a:rPr lang="zh-CN" altLang="en-US" dirty="0" smtClean="0"/>
              <a:t>对应于当下的叫做皆明，皆明是深度报告，涉及三种分析。</a:t>
            </a:r>
          </a:p>
          <a:p>
            <a:r>
              <a:rPr lang="zh-CN" altLang="en-US" dirty="0" smtClean="0"/>
              <a:t>第一，描述性分析，即过去发生了什么，为什么会发生，而现在又在发生什么，简言之就是通晓古今。</a:t>
            </a:r>
            <a:r>
              <a:rPr lang="en-US" altLang="zh-CN" dirty="0" smtClean="0"/>
              <a:t>2005</a:t>
            </a:r>
            <a:r>
              <a:rPr lang="zh-CN" altLang="en-US" dirty="0" smtClean="0"/>
              <a:t>年伦敦发生暴乱后，</a:t>
            </a:r>
            <a:r>
              <a:rPr lang="en-US" altLang="zh-CN" dirty="0" smtClean="0"/>
              <a:t>《</a:t>
            </a:r>
            <a:r>
              <a:rPr lang="zh-CN" altLang="en-US" dirty="0" smtClean="0"/>
              <a:t>卫报</a:t>
            </a:r>
            <a:r>
              <a:rPr lang="en-US" altLang="zh-CN" dirty="0" smtClean="0"/>
              <a:t>》</a:t>
            </a:r>
            <a:r>
              <a:rPr lang="zh-CN" altLang="en-US" dirty="0" smtClean="0"/>
              <a:t>对几百万条</a:t>
            </a:r>
            <a:r>
              <a:rPr lang="en-US" altLang="zh-CN" dirty="0" smtClean="0"/>
              <a:t>Twitter</a:t>
            </a:r>
            <a:r>
              <a:rPr lang="zh-CN" altLang="en-US" dirty="0" smtClean="0"/>
              <a:t>进行了分析。分析的过程中发现，暴乱和贫穷确有很大的相关性，政府应该解决贫穷的问题</a:t>
            </a:r>
            <a:r>
              <a:rPr lang="en-US" altLang="zh-CN" dirty="0" smtClean="0"/>
              <a:t>;</a:t>
            </a:r>
            <a:r>
              <a:rPr lang="zh-CN" altLang="en-US" dirty="0" smtClean="0"/>
              <a:t>而</a:t>
            </a:r>
            <a:r>
              <a:rPr lang="en-US" altLang="zh-CN" dirty="0" smtClean="0"/>
              <a:t>Twitter</a:t>
            </a:r>
            <a:r>
              <a:rPr lang="zh-CN" altLang="en-US" dirty="0" smtClean="0"/>
              <a:t>虽然在早期传播了谣言，但后期</a:t>
            </a:r>
            <a:r>
              <a:rPr lang="en-US" altLang="zh-CN" dirty="0" smtClean="0"/>
              <a:t>Twitter</a:t>
            </a:r>
            <a:r>
              <a:rPr lang="zh-CN" altLang="en-US" dirty="0" smtClean="0"/>
              <a:t>可以把更多的信息聚拢过来，让人们看到真正的真相，这与政府当初的快思考，对贫穷的忽视和对</a:t>
            </a:r>
            <a:r>
              <a:rPr lang="en-US" altLang="zh-CN" dirty="0" smtClean="0"/>
              <a:t>Twitter</a:t>
            </a:r>
            <a:r>
              <a:rPr lang="zh-CN" altLang="en-US" dirty="0" smtClean="0"/>
              <a:t>的偏见大相径庭。这是描述性分析的一个非常典型的案例。</a:t>
            </a:r>
          </a:p>
          <a:p>
            <a:r>
              <a:rPr lang="zh-CN" altLang="en-US" dirty="0" smtClean="0"/>
              <a:t>第二，预测性分析。大数据的核心价值是对于未来的可见性，预测性分析就是能够预测未来发生什么，三国时期诸葛亮的巧借东风属于预测性分析。</a:t>
            </a:r>
          </a:p>
          <a:p>
            <a:r>
              <a:rPr lang="zh-CN" altLang="en-US" dirty="0" smtClean="0"/>
              <a:t>预测性分析在当下最常见的应用是谷歌预测票房的分析。</a:t>
            </a:r>
            <a:r>
              <a:rPr lang="en-US" altLang="zh-CN" dirty="0" smtClean="0"/>
              <a:t>《</a:t>
            </a:r>
            <a:r>
              <a:rPr lang="zh-CN" altLang="en-US" dirty="0" smtClean="0"/>
              <a:t>蜘蛛侠</a:t>
            </a:r>
            <a:r>
              <a:rPr lang="en-US" altLang="zh-CN" dirty="0" smtClean="0"/>
              <a:t>3》</a:t>
            </a:r>
            <a:r>
              <a:rPr lang="zh-CN" altLang="en-US" dirty="0" smtClean="0"/>
              <a:t>引发了对同系列的两部电影的票房分析，也带出了季节性的因素分析。透过预测，制片方和影院可以提前一个月对电影的票房做出高准确度的预测，这一个月的价值则可以直接与票房收益挂钩。</a:t>
            </a:r>
          </a:p>
          <a:p>
            <a:r>
              <a:rPr lang="zh-CN" altLang="en-US" dirty="0" smtClean="0"/>
              <a:t>第三，处方性分析。分析方能够利用大数据运筹帷幄，希望未来发生什么，明白为了要让目标实现现在要做一些什么。同样是诸葛孔明的计谋，草船借箭就是处方性分析，纸牌屋也是在处方性数据分析中诞生的。通过受众分析，制作方发现美国受众都喜欢政治性电影，再经过进一步的研究，确定每个人物的角色定位和性格特点，包括国内的互联网综艺节目</a:t>
            </a:r>
            <a:r>
              <a:rPr lang="en-US" altLang="zh-CN" dirty="0" smtClean="0"/>
              <a:t>《</a:t>
            </a:r>
            <a:r>
              <a:rPr lang="zh-CN" altLang="en-US" dirty="0" smtClean="0"/>
              <a:t>美食美课</a:t>
            </a:r>
            <a:r>
              <a:rPr lang="en-US" altLang="zh-CN" dirty="0" smtClean="0"/>
              <a:t>》</a:t>
            </a:r>
            <a:r>
              <a:rPr lang="zh-CN" altLang="en-US" dirty="0" smtClean="0"/>
              <a:t>都是根据网上搜索的结果设计的一个节目。</a:t>
            </a:r>
          </a:p>
          <a:p>
            <a:r>
              <a:rPr lang="zh-CN" altLang="en-US" dirty="0" smtClean="0"/>
              <a:t>在人工智能领域，经过长期的研究，已经积累了很多研究方法和应用技术。例如，自然语言语义分析、信息提取、知识表现、自动化推理、机器学习等。这些技术目前正在逐步地应用于大数据技术的前沿领域，结合预测性分析和处方性分析，挖掘大数据蕴含的规律和价值，从而为人类决策提供支撑。</a:t>
            </a:r>
          </a:p>
          <a:p>
            <a:r>
              <a:rPr lang="zh-CN" altLang="en-US" dirty="0" smtClean="0"/>
              <a:t>例如，</a:t>
            </a:r>
            <a:r>
              <a:rPr lang="en-US" altLang="zh-CN" dirty="0" smtClean="0"/>
              <a:t>Netflix</a:t>
            </a:r>
            <a:r>
              <a:rPr lang="zh-CN" altLang="en-US" dirty="0" smtClean="0"/>
              <a:t>的影片推荐系统、</a:t>
            </a:r>
            <a:r>
              <a:rPr lang="en-US" altLang="zh-CN" dirty="0" smtClean="0"/>
              <a:t>Facebook</a:t>
            </a:r>
            <a:r>
              <a:rPr lang="zh-CN" altLang="en-US" dirty="0" smtClean="0"/>
              <a:t>的社交图谱、</a:t>
            </a:r>
            <a:r>
              <a:rPr lang="en-US" altLang="zh-CN" dirty="0" smtClean="0"/>
              <a:t>Amazon</a:t>
            </a:r>
            <a:r>
              <a:rPr lang="zh-CN" altLang="en-US" dirty="0" smtClean="0"/>
              <a:t>的购物推荐系统等，已经依靠深度学习和其它人工智能方法，实现了大数据之上的巨大商业价值。</a:t>
            </a:r>
          </a:p>
          <a:p>
            <a:r>
              <a:rPr lang="en-US" altLang="zh-CN" dirty="0" smtClean="0"/>
              <a:t>Google</a:t>
            </a:r>
            <a:r>
              <a:rPr lang="zh-CN" altLang="en-US" dirty="0" smtClean="0"/>
              <a:t>还对大数据的机器深度学习和建立知识树</a:t>
            </a:r>
            <a:r>
              <a:rPr lang="en-US" altLang="zh-CN" dirty="0" err="1" smtClean="0"/>
              <a:t>KnowledgeGraph</a:t>
            </a:r>
            <a:r>
              <a:rPr lang="zh-CN" altLang="en-US" dirty="0" smtClean="0"/>
              <a:t>投入巨大的研究资源，期望能够回答并帮助解决人类日常生活中普遍关心的问题。</a:t>
            </a:r>
          </a:p>
        </p:txBody>
      </p:sp>
      <p:sp>
        <p:nvSpPr>
          <p:cNvPr id="4" name="灯片编号占位符 3"/>
          <p:cNvSpPr>
            <a:spLocks noGrp="1"/>
          </p:cNvSpPr>
          <p:nvPr>
            <p:ph type="sldNum" sz="quarter" idx="10"/>
          </p:nvPr>
        </p:nvSpPr>
        <p:spPr/>
        <p:txBody>
          <a:bodyPr/>
          <a:lstStyle/>
          <a:p>
            <a:pPr>
              <a:defRPr/>
            </a:pPr>
            <a:fld id="{1DBA2871-DC6D-443A-B4CC-1F73A629D13C}" type="slidenum">
              <a:rPr lang="en-US" altLang="zh-CN" smtClean="0"/>
              <a:pPr>
                <a:defRPr/>
              </a:pPr>
              <a:t>21</a:t>
            </a:fld>
            <a:endParaRPr lang="en-US" altLang="zh-CN"/>
          </a:p>
        </p:txBody>
      </p:sp>
    </p:spTree>
    <p:extLst>
      <p:ext uri="{BB962C8B-B14F-4D97-AF65-F5344CB8AC3E}">
        <p14:creationId xmlns:p14="http://schemas.microsoft.com/office/powerpoint/2010/main" val="15310069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b="1" dirty="0" smtClean="0"/>
              <a:t>辨讹晓意：从真相窥探思想</a:t>
            </a:r>
          </a:p>
          <a:p>
            <a:r>
              <a:rPr lang="zh-CN" altLang="en-US" dirty="0" smtClean="0"/>
              <a:t>纵观全局，虽然随着整个</a:t>
            </a:r>
            <a:r>
              <a:rPr lang="en-US" altLang="zh-CN" dirty="0" smtClean="0"/>
              <a:t>IT</a:t>
            </a:r>
            <a:r>
              <a:rPr lang="zh-CN" altLang="en-US" dirty="0" smtClean="0"/>
              <a:t>行业</a:t>
            </a:r>
            <a:r>
              <a:rPr lang="zh-CN" altLang="en-US" b="1" dirty="0" smtClean="0"/>
              <a:t>计算能力、存储能力、通讯能力</a:t>
            </a:r>
            <a:r>
              <a:rPr lang="zh-CN" altLang="en-US" dirty="0" smtClean="0"/>
              <a:t>的发展，以及人工智能研究的长期积累，人工智能在一些领域里获得了一定的突破，其研究成果也已经在数据挖掘、工业机器人、物流、语音识别、银行业软件、医疗软件等方面被广泛的应用。</a:t>
            </a:r>
          </a:p>
          <a:p>
            <a:r>
              <a:rPr lang="zh-CN" altLang="en-US" dirty="0" smtClean="0"/>
              <a:t>但是，目前的人工智能方法都</a:t>
            </a:r>
            <a:r>
              <a:rPr lang="zh-CN" altLang="en-US" b="1" dirty="0" smtClean="0"/>
              <a:t>只能处理已预先定义好的问题，实现既定的目标</a:t>
            </a:r>
            <a:r>
              <a:rPr lang="zh-CN" altLang="en-US" dirty="0" smtClean="0"/>
              <a:t>。一旦遇到未定义的情况，人工智能便束手无策。因此，现阶段的人工智能技术并不能使机器具有真正的自主学习和研究的能力，更无法奢谈拥有创造能力。而使机器获得学习能力、研究能力和创造能力，恰恰是人工智能技术发展的目标。</a:t>
            </a:r>
          </a:p>
          <a:p>
            <a:r>
              <a:rPr lang="en-US" altLang="zh-CN" b="1" dirty="0" smtClean="0"/>
              <a:t>1</a:t>
            </a:r>
            <a:r>
              <a:rPr lang="zh-CN" altLang="en-US" b="1" dirty="0" smtClean="0"/>
              <a:t>、辨讹</a:t>
            </a:r>
            <a:endParaRPr lang="zh-CN" altLang="en-US" dirty="0" smtClean="0"/>
          </a:p>
          <a:p>
            <a:r>
              <a:rPr lang="zh-CN" altLang="en-US" dirty="0" smtClean="0"/>
              <a:t>变讹是大数据价值变现的第五种方式，也就是看到真相。比如新华网上发的</a:t>
            </a:r>
            <a:r>
              <a:rPr lang="en-US" altLang="zh-CN" b="1" dirty="0" smtClean="0"/>
              <a:t>31</a:t>
            </a:r>
            <a:r>
              <a:rPr lang="zh-CN" altLang="en-US" b="1" dirty="0" smtClean="0"/>
              <a:t>省前三季度</a:t>
            </a:r>
            <a:r>
              <a:rPr lang="en-US" altLang="zh-CN" b="1" dirty="0" smtClean="0"/>
              <a:t>GDP</a:t>
            </a:r>
            <a:r>
              <a:rPr lang="zh-CN" altLang="en-US" b="1" dirty="0" smtClean="0"/>
              <a:t>之和超过全国约</a:t>
            </a:r>
            <a:r>
              <a:rPr lang="en-US" altLang="zh-CN" b="1" dirty="0" smtClean="0"/>
              <a:t>1.9</a:t>
            </a:r>
            <a:r>
              <a:rPr lang="zh-CN" altLang="en-US" b="1" dirty="0" smtClean="0"/>
              <a:t>万亿</a:t>
            </a:r>
            <a:r>
              <a:rPr lang="zh-CN" altLang="en-US" dirty="0" smtClean="0"/>
              <a:t>，从不同的数据来源可以发现这个数据是对不上的。</a:t>
            </a:r>
          </a:p>
          <a:p>
            <a:r>
              <a:rPr lang="zh-CN" altLang="en-US" dirty="0" smtClean="0"/>
              <a:t>美国德克萨斯州的数据新闻报道说，能够把这个州的很多政府雇员的工资都做到数据库里面供人们查询。对于普通人来说任何感兴趣的人名都可以输进去，看他的工资和其他行为，看到他们想要了解的真相。</a:t>
            </a:r>
          </a:p>
          <a:p>
            <a:r>
              <a:rPr lang="en-US" altLang="zh-CN" b="1" dirty="0" smtClean="0"/>
              <a:t>2</a:t>
            </a:r>
            <a:r>
              <a:rPr lang="zh-CN" altLang="en-US" b="1" dirty="0" smtClean="0"/>
              <a:t>、晓意</a:t>
            </a:r>
            <a:endParaRPr lang="zh-CN" altLang="en-US" dirty="0" smtClean="0"/>
          </a:p>
          <a:p>
            <a:r>
              <a:rPr lang="zh-CN" altLang="en-US" dirty="0" smtClean="0"/>
              <a:t>第六是晓意，机器是不能晓意的，只有人能晓意，但是随着人工智能的发展，机器能够逐步窥探到人的思想境界。</a:t>
            </a:r>
            <a:r>
              <a:rPr lang="en-US" altLang="zh-CN" dirty="0" smtClean="0"/>
              <a:t>《</a:t>
            </a:r>
            <a:r>
              <a:rPr lang="zh-CN" altLang="en-US" dirty="0" smtClean="0"/>
              <a:t>魔球</a:t>
            </a:r>
            <a:r>
              <a:rPr lang="en-US" altLang="zh-CN" dirty="0" smtClean="0"/>
              <a:t>》</a:t>
            </a:r>
            <a:r>
              <a:rPr lang="zh-CN" altLang="en-US" dirty="0" smtClean="0"/>
              <a:t>电影讲述美国</a:t>
            </a:r>
            <a:r>
              <a:rPr lang="zh-CN" altLang="en-US" b="1" dirty="0" smtClean="0"/>
              <a:t>奥克兰运动家棒球队</a:t>
            </a:r>
            <a:r>
              <a:rPr lang="zh-CN" altLang="en-US" dirty="0" smtClean="0"/>
              <a:t>总经理比利</a:t>
            </a:r>
            <a:r>
              <a:rPr lang="en-US" altLang="zh-CN" dirty="0" smtClean="0"/>
              <a:t>·</a:t>
            </a:r>
            <a:r>
              <a:rPr lang="zh-CN" altLang="en-US" dirty="0" smtClean="0"/>
              <a:t>比恩</a:t>
            </a:r>
            <a:r>
              <a:rPr lang="en-US" altLang="zh-CN" dirty="0" smtClean="0"/>
              <a:t>(Billy </a:t>
            </a:r>
            <a:r>
              <a:rPr lang="en-US" altLang="zh-CN" dirty="0" err="1" smtClean="0"/>
              <a:t>Beane</a:t>
            </a:r>
            <a:r>
              <a:rPr lang="en-US" altLang="zh-CN" dirty="0" smtClean="0"/>
              <a:t>)</a:t>
            </a:r>
            <a:r>
              <a:rPr lang="zh-CN" altLang="en-US" dirty="0" smtClean="0"/>
              <a:t>的经营哲学，描写了他</a:t>
            </a:r>
            <a:r>
              <a:rPr lang="zh-CN" altLang="en-US" b="1" dirty="0" smtClean="0"/>
              <a:t>如何以小搏大、力抗其它薪资总额比他们多上数倍的大球队的方法</a:t>
            </a:r>
            <a:r>
              <a:rPr lang="zh-CN" altLang="en-US" dirty="0" smtClean="0"/>
              <a:t>。</a:t>
            </a:r>
            <a:r>
              <a:rPr lang="en-US" altLang="zh-CN" dirty="0" smtClean="0"/>
              <a:t>《</a:t>
            </a:r>
            <a:r>
              <a:rPr lang="zh-CN" altLang="en-US" dirty="0" smtClean="0"/>
              <a:t>魔球</a:t>
            </a:r>
            <a:r>
              <a:rPr lang="en-US" altLang="zh-CN" dirty="0" smtClean="0"/>
              <a:t>》</a:t>
            </a:r>
            <a:r>
              <a:rPr lang="zh-CN" altLang="en-US" dirty="0" smtClean="0"/>
              <a:t>背后不为人知的一面是，比利花了更多的钱去请球探分析球员，因为球员的心理抗压能力、意志力等等是无法用数据衡量的，所以要花更多的钱。</a:t>
            </a:r>
          </a:p>
          <a:p>
            <a:r>
              <a:rPr lang="zh-CN" altLang="en-US" dirty="0" smtClean="0"/>
              <a:t>随着大数据的发展，</a:t>
            </a:r>
            <a:r>
              <a:rPr lang="zh-CN" altLang="en-US" b="1" dirty="0" smtClean="0"/>
              <a:t>通过技术可以对人进行情感分析、价值观分析</a:t>
            </a:r>
            <a:r>
              <a:rPr lang="zh-CN" altLang="en-US" dirty="0" smtClean="0"/>
              <a:t>，甚至在一个题材还没有开始传播的时候，可以对它进行“病毒传播性”的分析，这些应用都使得大数据达到了晓意的能力。</a:t>
            </a:r>
          </a:p>
          <a:p>
            <a:r>
              <a:rPr lang="zh-CN" altLang="en-US" dirty="0" smtClean="0"/>
              <a:t>晓意一方面是文本的晓意，另一方面是通过视听觉获得的晓意，机器可以具有情商，亦可以根据短视频判断对象处于何种情绪当中。</a:t>
            </a:r>
            <a:endParaRPr lang="en-US" altLang="zh-CN" dirty="0" smtClean="0"/>
          </a:p>
          <a:p>
            <a:endParaRPr lang="zh-CN" altLang="en-US" dirty="0" smtClean="0"/>
          </a:p>
          <a:p>
            <a:r>
              <a:rPr lang="zh-CN" altLang="en-US" b="1" dirty="0" smtClean="0"/>
              <a:t>寒武纪大爆发的钙</a:t>
            </a:r>
          </a:p>
          <a:p>
            <a:r>
              <a:rPr lang="zh-CN" altLang="en-US" dirty="0" smtClean="0"/>
              <a:t>寒武纪为什么生命形态会大爆发呢</a:t>
            </a:r>
            <a:r>
              <a:rPr lang="en-US" altLang="zh-CN" dirty="0" smtClean="0"/>
              <a:t>?</a:t>
            </a:r>
            <a:r>
              <a:rPr lang="zh-CN" altLang="en-US" dirty="0" smtClean="0"/>
              <a:t>经过研究发现是海里面地壳运动更多的钙元素进入到生命里面，不能适应钙元素的就被毒死了，更能适应钙元素的生物慢慢长出了脊椎，慢慢变成了脊椎动物，而脊椎动物促进了更多的生命的爆发。现如今，大数据就承担了这样的作用。</a:t>
            </a:r>
          </a:p>
          <a:p>
            <a:r>
              <a:rPr lang="en-US" altLang="zh-CN" b="1" dirty="0" smtClean="0"/>
              <a:t>1</a:t>
            </a:r>
            <a:r>
              <a:rPr lang="zh-CN" altLang="en-US" b="1" dirty="0" smtClean="0"/>
              <a:t>、数据新闻</a:t>
            </a:r>
            <a:endParaRPr lang="zh-CN" altLang="en-US" dirty="0" smtClean="0"/>
          </a:p>
          <a:p>
            <a:r>
              <a:rPr lang="zh-CN" altLang="en-US" dirty="0" smtClean="0"/>
              <a:t>建立一个什么样的数据的技术站才能使得数据新闻更好地服务受众呢</a:t>
            </a:r>
            <a:r>
              <a:rPr lang="en-US" altLang="zh-CN" dirty="0" smtClean="0"/>
              <a:t>?</a:t>
            </a:r>
          </a:p>
          <a:p>
            <a:r>
              <a:rPr lang="zh-CN" altLang="en-US" dirty="0" smtClean="0"/>
              <a:t>数据新闻分类两类，一类是需要实时处理的，另外一类是需要批量处理。实时处理能够更好地处理突发新闻和当下，而批量分析可以更好地融合更系统的数据做到前后皆明。</a:t>
            </a:r>
          </a:p>
          <a:p>
            <a:r>
              <a:rPr lang="zh-CN" altLang="en-US" dirty="0" smtClean="0"/>
              <a:t>在数据分析和机器学习方面，以下三种技术在吴甘沙看来对于数据新闻非常重要。一个是</a:t>
            </a:r>
            <a:r>
              <a:rPr lang="en-US" altLang="zh-CN" dirty="0" smtClean="0"/>
              <a:t>Sentiment</a:t>
            </a:r>
            <a:r>
              <a:rPr lang="zh-CN" altLang="en-US" dirty="0" smtClean="0"/>
              <a:t>或者是情感分析，二是</a:t>
            </a:r>
            <a:r>
              <a:rPr lang="en-US" altLang="zh-CN" dirty="0" smtClean="0"/>
              <a:t>Literacy</a:t>
            </a:r>
            <a:r>
              <a:rPr lang="zh-CN" altLang="en-US" dirty="0" smtClean="0"/>
              <a:t>就是数据分析如何更好地理解内容，三是视听觉的理解，四是对</a:t>
            </a:r>
            <a:r>
              <a:rPr lang="en-US" altLang="zh-CN" dirty="0" smtClean="0"/>
              <a:t>Audience</a:t>
            </a:r>
            <a:r>
              <a:rPr lang="zh-CN" altLang="en-US" dirty="0" smtClean="0"/>
              <a:t>的洞察。结合具体的应用，比如</a:t>
            </a:r>
            <a:r>
              <a:rPr lang="en-US" altLang="zh-CN" dirty="0" err="1" smtClean="0"/>
              <a:t>Trendspotting</a:t>
            </a:r>
            <a:r>
              <a:rPr lang="zh-CN" altLang="en-US" dirty="0" smtClean="0"/>
              <a:t>可以找到更多的趋势，</a:t>
            </a:r>
            <a:r>
              <a:rPr lang="en-US" altLang="zh-CN" dirty="0" smtClean="0"/>
              <a:t>Content Creation</a:t>
            </a:r>
            <a:r>
              <a:rPr lang="zh-CN" altLang="en-US" dirty="0" smtClean="0"/>
              <a:t>可以创造更多的内容，</a:t>
            </a:r>
            <a:r>
              <a:rPr lang="en-US" altLang="zh-CN" dirty="0" smtClean="0"/>
              <a:t>Acquisition Retention</a:t>
            </a:r>
            <a:r>
              <a:rPr lang="zh-CN" altLang="en-US" dirty="0" smtClean="0"/>
              <a:t>是维护用户的黏性，</a:t>
            </a:r>
            <a:r>
              <a:rPr lang="en-US" altLang="zh-CN" dirty="0" smtClean="0"/>
              <a:t>Offer/Ad targeting</a:t>
            </a:r>
            <a:r>
              <a:rPr lang="zh-CN" altLang="en-US" dirty="0" smtClean="0"/>
              <a:t>是如何给用户</a:t>
            </a:r>
            <a:r>
              <a:rPr lang="en-US" altLang="zh-CN" dirty="0" smtClean="0"/>
              <a:t>Offer</a:t>
            </a:r>
            <a:r>
              <a:rPr lang="zh-CN" altLang="en-US" dirty="0" smtClean="0"/>
              <a:t>更多的广告和推送。</a:t>
            </a:r>
          </a:p>
          <a:p>
            <a:r>
              <a:rPr lang="en-US" altLang="zh-CN" b="1" dirty="0" smtClean="0"/>
              <a:t>2</a:t>
            </a:r>
            <a:r>
              <a:rPr lang="zh-CN" altLang="en-US" b="1" dirty="0" smtClean="0"/>
              <a:t>、大数据打通六大产业</a:t>
            </a:r>
            <a:endParaRPr lang="zh-CN" altLang="en-US" dirty="0" smtClean="0"/>
          </a:p>
          <a:p>
            <a:r>
              <a:rPr lang="zh-CN" altLang="en-US" dirty="0" smtClean="0"/>
              <a:t>在</a:t>
            </a:r>
            <a:r>
              <a:rPr lang="en-US" altLang="zh-CN" dirty="0" smtClean="0"/>
              <a:t>2013</a:t>
            </a:r>
            <a:r>
              <a:rPr lang="zh-CN" altLang="en-US" dirty="0" smtClean="0"/>
              <a:t>年吴甘沙的演讲中，他认为</a:t>
            </a:r>
            <a:r>
              <a:rPr lang="en-US" altLang="zh-CN" dirty="0" smtClean="0"/>
              <a:t>6</a:t>
            </a:r>
            <a:r>
              <a:rPr lang="zh-CN" altLang="en-US" dirty="0" smtClean="0"/>
              <a:t>大产业是通过大数据打通的，大数据为体，西学为用。</a:t>
            </a:r>
            <a:r>
              <a:rPr lang="zh-CN" altLang="en-US" b="1" dirty="0" smtClean="0"/>
              <a:t>大数据是根本，云计算是工具，智慧城市是纲，同时深度融合个性化制造、第三次工业革命、移动互联网以及物联网，综合在一起就形成“移大三、智云物”</a:t>
            </a:r>
            <a:r>
              <a:rPr lang="zh-CN" altLang="en-US" dirty="0" smtClean="0"/>
              <a:t>。</a:t>
            </a:r>
          </a:p>
          <a:p>
            <a:r>
              <a:rPr lang="zh-CN" altLang="en-US" dirty="0" smtClean="0"/>
              <a:t>建立具有真正意义的人工智能系统，是人类一直以来的梦想。面向大数据和人工智能的研究近来呈现出螺旋上升式发展态势，但是大数据的潜能仍然未被全部激发。例如在智慧城市建设方面，目前建立在以由传感器及电子摄像头等设备收集数据基础上的第一代智慧城市，其实处于神经系统发达而智慧能力不足的尴尬境地。随着各类传感器数据的不断增加，传统方法不能很好地处理这些海量数据，使得许多花大价钱购置的硬件设备成为摆设。面对拥堵的城市、雾霾的天气、已有的海量数据，城市“智商”的建立迫切需要借助于人工智能技术的发展成果。</a:t>
            </a:r>
          </a:p>
          <a:p>
            <a:r>
              <a:rPr lang="en-US" altLang="zh-CN" b="1" dirty="0" smtClean="0"/>
              <a:t>3</a:t>
            </a:r>
            <a:r>
              <a:rPr lang="zh-CN" altLang="en-US" b="1" dirty="0" smtClean="0"/>
              <a:t>、未来电影与未来市场</a:t>
            </a:r>
            <a:endParaRPr lang="zh-CN" altLang="en-US" dirty="0" smtClean="0"/>
          </a:p>
          <a:p>
            <a:r>
              <a:rPr lang="zh-CN" altLang="en-US" dirty="0" smtClean="0"/>
              <a:t>未来如果通过</a:t>
            </a:r>
            <a:r>
              <a:rPr lang="zh-CN" altLang="en-US" b="1" dirty="0" smtClean="0"/>
              <a:t>虚拟眼镜</a:t>
            </a:r>
            <a:r>
              <a:rPr lang="zh-CN" altLang="en-US" dirty="0" smtClean="0"/>
              <a:t>来观看电影，电影的发行体系会被极大地变革，门票都不再重要，广告变成主要的赢利模式。</a:t>
            </a:r>
            <a:r>
              <a:rPr lang="zh-CN" altLang="en-US" b="1" dirty="0" smtClean="0"/>
              <a:t>广告可以完全无缝地嵌入在电影情节当中</a:t>
            </a:r>
            <a:r>
              <a:rPr lang="zh-CN" altLang="en-US" dirty="0" smtClean="0"/>
              <a:t>，</a:t>
            </a:r>
            <a:r>
              <a:rPr lang="zh-CN" altLang="en-US" b="1" dirty="0" smtClean="0"/>
              <a:t>观众完全是沉浸式的体验。在这个过程中，观众可以和电影的人物和情节进行互动，就像穿行在情节当中一样</a:t>
            </a:r>
            <a:r>
              <a:rPr lang="zh-CN" altLang="en-US" dirty="0" smtClean="0"/>
              <a:t>。从另一个角度看，</a:t>
            </a:r>
            <a:r>
              <a:rPr lang="zh-CN" altLang="en-US" b="1" dirty="0" smtClean="0"/>
              <a:t>观众会改变情节的走向</a:t>
            </a:r>
            <a:r>
              <a:rPr lang="zh-CN" altLang="en-US" dirty="0" smtClean="0"/>
              <a:t>，</a:t>
            </a:r>
            <a:r>
              <a:rPr lang="zh-CN" altLang="en-US" b="1" dirty="0" smtClean="0"/>
              <a:t>其角色可能是一种偷窥者或者是带入者，甚至可以把自己变成故事的主人公。</a:t>
            </a:r>
          </a:p>
          <a:p>
            <a:r>
              <a:rPr lang="zh-CN" altLang="en-US" dirty="0" smtClean="0"/>
              <a:t>微软中国研究院正在做一项技术，通过</a:t>
            </a:r>
            <a:r>
              <a:rPr lang="en-US" altLang="zh-CN" dirty="0" smtClean="0"/>
              <a:t>3D</a:t>
            </a:r>
            <a:r>
              <a:rPr lang="zh-CN" altLang="en-US" dirty="0" smtClean="0"/>
              <a:t>摄像头把人脸的模型建立后可以实时渲染出另外一张脸，电影里面的某个人物可以完全是观众自己的脸，在电影中把任何一个观看者的</a:t>
            </a:r>
            <a:r>
              <a:rPr lang="en-US" altLang="zh-CN" dirty="0" smtClean="0"/>
              <a:t>3D</a:t>
            </a:r>
            <a:r>
              <a:rPr lang="zh-CN" altLang="en-US" dirty="0" smtClean="0"/>
              <a:t>模型建立进去，就能把人物的长相变得和观众一模一样。</a:t>
            </a:r>
            <a:endParaRPr lang="en-US" altLang="zh-CN" dirty="0" smtClean="0"/>
          </a:p>
          <a:p>
            <a:endParaRPr lang="zh-CN" altLang="en-US" dirty="0" smtClean="0"/>
          </a:p>
          <a:p>
            <a:r>
              <a:rPr lang="zh-CN" altLang="en-US" dirty="0" smtClean="0"/>
              <a:t>未来的商场若也许存在以下现实和虚拟糅合在一起的技术增强：当消费者走在万达广场里面，突然发现眼睛里面出现了一些有趣的东西，它吸引消费者去打怪，指引路线，这个路线事实上是一个眼镜引导消费者对这个商场进行浏览的过程。在浏览的过程中，消费者不停地与实际商品产生交互和触点，这个虚拟空间和实体空间会随意进行组合。</a:t>
            </a:r>
          </a:p>
          <a:p>
            <a:r>
              <a:rPr lang="zh-CN" altLang="en-US" dirty="0" smtClean="0"/>
              <a:t>在未来，任何一个表面都可以是一个屏幕，用户戴的眼镜可以把内容投射在任何的表面，无论是弧形还是空气，都可以把新的信息呈现出来，在运动的过程中每一次相遇都是计算的结果。因为这个计算需要用户走到特定的位置，在这个位置用户和某一个商品或某一个人产生相遇，所有的这些会极大地改变我们现在商业的生态。</a:t>
            </a:r>
          </a:p>
          <a:p>
            <a:r>
              <a:rPr lang="zh-CN" altLang="en-US" dirty="0" smtClean="0"/>
              <a:t>区块链、虚拟现实、人工智能和机器人也融入口诀中就是“快蓄人气移大三智云物”，这些技术会给我们未来的社会带来无限创意与玩法。</a:t>
            </a:r>
          </a:p>
          <a:p>
            <a:r>
              <a:rPr lang="zh-CN" altLang="en-US" dirty="0" smtClean="0"/>
              <a:t>人工智能的发展，正如人本身一样，需要学习大量的知识和经验，这些知识和经验需要海量的数据作为支持。大数据技术的发展，为分析和储存海量的数据提供了技术支持，使得机器得到的数据量和机器拥有的数据处理能力，与形成人工智能所需要的数据量和数据处理能力相匹配的矛盾得到了缓解。在这种情况下，人工智能的理论、方法和技术的巨大潜力才有可能被真正的逐步释放出来，实现人工智能的发展目标，并反过来进一步推动大数据技术的发展，形成有效的相互推动。</a:t>
            </a:r>
          </a:p>
          <a:p>
            <a:endParaRPr lang="zh-CN" altLang="en-US" dirty="0"/>
          </a:p>
        </p:txBody>
      </p:sp>
      <p:sp>
        <p:nvSpPr>
          <p:cNvPr id="4" name="灯片编号占位符 3"/>
          <p:cNvSpPr>
            <a:spLocks noGrp="1"/>
          </p:cNvSpPr>
          <p:nvPr>
            <p:ph type="sldNum" sz="quarter" idx="10"/>
          </p:nvPr>
        </p:nvSpPr>
        <p:spPr/>
        <p:txBody>
          <a:bodyPr/>
          <a:lstStyle/>
          <a:p>
            <a:pPr>
              <a:defRPr/>
            </a:pPr>
            <a:fld id="{1DBA2871-DC6D-443A-B4CC-1F73A629D13C}" type="slidenum">
              <a:rPr lang="en-US" altLang="zh-CN" smtClean="0"/>
              <a:pPr>
                <a:defRPr/>
              </a:pPr>
              <a:t>22</a:t>
            </a:fld>
            <a:endParaRPr lang="en-US" altLang="zh-CN"/>
          </a:p>
        </p:txBody>
      </p:sp>
    </p:spTree>
    <p:extLst>
      <p:ext uri="{BB962C8B-B14F-4D97-AF65-F5344CB8AC3E}">
        <p14:creationId xmlns:p14="http://schemas.microsoft.com/office/powerpoint/2010/main" val="70838910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kumimoji="1" lang="en-US" altLang="zh-CN" sz="1200" b="1" kern="1200" dirty="0" smtClean="0">
                <a:solidFill>
                  <a:schemeClr val="tx1"/>
                </a:solidFill>
                <a:effectLst/>
                <a:latin typeface="Times New Roman" pitchFamily="18" charset="0"/>
                <a:ea typeface="宋体" pitchFamily="2" charset="-122"/>
                <a:cs typeface="+mn-cs"/>
              </a:rPr>
              <a:t>2</a:t>
            </a:r>
            <a:r>
              <a:rPr kumimoji="1" lang="zh-CN" altLang="en-US" sz="1200" b="1" kern="1200" dirty="0" smtClean="0">
                <a:solidFill>
                  <a:schemeClr val="tx1"/>
                </a:solidFill>
                <a:effectLst/>
                <a:latin typeface="Times New Roman" pitchFamily="18" charset="0"/>
                <a:ea typeface="宋体" pitchFamily="2" charset="-122"/>
                <a:cs typeface="+mn-cs"/>
              </a:rPr>
              <a:t>、大数据的精髓</a:t>
            </a:r>
            <a:endParaRPr lang="zh-CN" altLang="en-US" dirty="0" smtClean="0"/>
          </a:p>
          <a:p>
            <a:r>
              <a:rPr lang="zh-CN" altLang="en-US" dirty="0" smtClean="0"/>
              <a:t>大数据带给我们的三个颠覆性观念转变：是全部数据，而不是随机采样；是大体方向，而不是精确制导；是相关关系，而不是因果关系。</a:t>
            </a:r>
          </a:p>
          <a:p>
            <a:r>
              <a:rPr lang="en-US" altLang="zh-CN" b="1" dirty="0" smtClean="0"/>
              <a:t>A.</a:t>
            </a:r>
            <a:r>
              <a:rPr lang="zh-CN" altLang="en-US" b="1" dirty="0" smtClean="0"/>
              <a:t>不是随机样本，而是全体数据</a:t>
            </a:r>
            <a:r>
              <a:rPr lang="zh-CN" altLang="en-US" dirty="0" smtClean="0"/>
              <a:t>：在大数据时代，我们可以分析更多的数据，有时候甚至可以处理和某个特别现象相关的所有数据，而不再依赖于随机采样（随机采样，以前我们通常把这看成是理所应当的限制，但高性能的数字技术让我们意识到，这其实是一种人为限制）；</a:t>
            </a:r>
          </a:p>
          <a:p>
            <a:r>
              <a:rPr lang="en-US" altLang="zh-CN" b="1" dirty="0" smtClean="0"/>
              <a:t>B.</a:t>
            </a:r>
            <a:r>
              <a:rPr lang="zh-CN" altLang="en-US" b="1" dirty="0" smtClean="0"/>
              <a:t>不是精确性，而是混杂性：</a:t>
            </a:r>
            <a:r>
              <a:rPr lang="zh-CN" altLang="en-US" dirty="0" smtClean="0"/>
              <a:t>研究数据如此之多，以至于我们不再热衷于追求精确度；之前需要分析的数据很少，所以我们必须尽可能精确地量化我们的记录，随着规模的扩大，对精确度的痴迷将减弱；拥有了大数据，我们不再需要对一个现象刨根问底，只要掌握了大体的发展方向即可，适当忽略微观层面上的精确度，会让我们在宏观层面拥有更好的洞察力；</a:t>
            </a:r>
          </a:p>
          <a:p>
            <a:r>
              <a:rPr lang="en-US" altLang="zh-CN" b="1" dirty="0" smtClean="0"/>
              <a:t>C.</a:t>
            </a:r>
            <a:r>
              <a:rPr lang="zh-CN" altLang="en-US" b="1" dirty="0" smtClean="0"/>
              <a:t>不是因果关系，而是相关关系</a:t>
            </a:r>
            <a:r>
              <a:rPr lang="zh-CN" altLang="en-US" dirty="0" smtClean="0"/>
              <a:t>：我们不再热衷于找因果关系，寻找因果关系是人类长久以来的习惯，在大数据时代，我们无须再紧盯事物之间的因果关系，而应该寻找事物之间的相关关系；相关关系也许不能准确地告诉我们某件事情为何会发生，但是它会提醒我们这件事情正在发生。</a:t>
            </a:r>
          </a:p>
          <a:p>
            <a:r>
              <a:rPr kumimoji="1" lang="en-US" altLang="zh-CN" sz="1200" b="1" kern="1200" dirty="0" smtClean="0">
                <a:solidFill>
                  <a:schemeClr val="tx1"/>
                </a:solidFill>
                <a:effectLst/>
                <a:latin typeface="Times New Roman" pitchFamily="18" charset="0"/>
                <a:ea typeface="宋体" pitchFamily="2" charset="-122"/>
                <a:cs typeface="+mn-cs"/>
              </a:rPr>
              <a:t>3</a:t>
            </a:r>
            <a:r>
              <a:rPr kumimoji="1" lang="zh-CN" altLang="en-US" sz="1200" b="1" kern="1200" dirty="0" smtClean="0">
                <a:solidFill>
                  <a:schemeClr val="tx1"/>
                </a:solidFill>
                <a:effectLst/>
                <a:latin typeface="Times New Roman" pitchFamily="18" charset="0"/>
                <a:ea typeface="宋体" pitchFamily="2" charset="-122"/>
                <a:cs typeface="+mn-cs"/>
              </a:rPr>
              <a:t>、大数据的核心是预测</a:t>
            </a:r>
            <a:endParaRPr lang="zh-CN" altLang="en-US" dirty="0" smtClean="0"/>
          </a:p>
          <a:p>
            <a:r>
              <a:rPr lang="zh-CN" altLang="en-US" dirty="0" smtClean="0"/>
              <a:t>大数据的核心就是预测，它通常被视为人工智能的一部分，或者更确切地说，被视为一种机器学习。大数据不是要教机器人像人一样思考，而是把数学算法运用到海量的数据上来预测事情发生的可能性。</a:t>
            </a:r>
          </a:p>
          <a:p>
            <a:r>
              <a:rPr kumimoji="1" lang="zh-CN" altLang="en-US" sz="1200" b="1" kern="1200" dirty="0" smtClean="0">
                <a:solidFill>
                  <a:schemeClr val="tx1"/>
                </a:solidFill>
                <a:effectLst/>
                <a:latin typeface="Times New Roman" pitchFamily="18" charset="0"/>
                <a:ea typeface="宋体" pitchFamily="2" charset="-122"/>
                <a:cs typeface="+mn-cs"/>
              </a:rPr>
              <a:t>不是随机样本，而是全体数据</a:t>
            </a:r>
            <a:endParaRPr lang="zh-CN" altLang="en-US" b="1" dirty="0" smtClean="0"/>
          </a:p>
          <a:p>
            <a:r>
              <a:rPr lang="zh-CN" altLang="en-US" b="1" dirty="0" smtClean="0"/>
              <a:t>历史上，因为记录、储存、分析数据的工具都不够好，为了让分析变得简单，我们选择了把数据量减少，统计学的一个目的就是用尽可能少的数据来证实尽可能重大的发现。</a:t>
            </a:r>
            <a:endParaRPr lang="zh-CN" altLang="en-US" dirty="0" smtClean="0"/>
          </a:p>
          <a:p>
            <a:r>
              <a:rPr lang="en-US" altLang="zh-CN" b="1" dirty="0" smtClean="0"/>
              <a:t>1</a:t>
            </a:r>
            <a:r>
              <a:rPr lang="zh-CN" altLang="en-US" b="1" dirty="0" smtClean="0"/>
              <a:t>、传统抽样的精确性</a:t>
            </a:r>
            <a:endParaRPr lang="zh-CN" altLang="en-US" dirty="0" smtClean="0"/>
          </a:p>
          <a:p>
            <a:r>
              <a:rPr lang="zh-CN" altLang="en-US" dirty="0" smtClean="0"/>
              <a:t>采样分析的精确性随着采样随机性的增加而大幅提高，但与样本数量的增加关系不大，大致原因是当样本数量达到某个值后，我们从新个体身上得到的信息会越来越少，这与经济学中的边际效应类似。</a:t>
            </a:r>
          </a:p>
          <a:p>
            <a:r>
              <a:rPr lang="en-US" altLang="zh-CN" b="1" dirty="0" smtClean="0"/>
              <a:t>2</a:t>
            </a:r>
            <a:r>
              <a:rPr lang="zh-CN" altLang="en-US" b="1" dirty="0" smtClean="0"/>
              <a:t>、 随机采样的问题</a:t>
            </a:r>
            <a:endParaRPr lang="zh-CN" altLang="en-US" dirty="0" smtClean="0"/>
          </a:p>
          <a:p>
            <a:r>
              <a:rPr lang="zh-CN" altLang="en-US" dirty="0" smtClean="0"/>
              <a:t>随机采样有一个很大的问题：人们只能从随机采样中得出事先设计好的问题的结果，调查得出的数据不可以重新分析以实现计划之外的目的，而且一旦采样过程中存在任何偏见，分析结果就会相去甚远。</a:t>
            </a:r>
          </a:p>
          <a:p>
            <a:r>
              <a:rPr lang="en-US" altLang="zh-CN" b="1" dirty="0" smtClean="0"/>
              <a:t>3</a:t>
            </a:r>
            <a:r>
              <a:rPr lang="zh-CN" altLang="en-US" b="1" dirty="0" smtClean="0"/>
              <a:t>、样本</a:t>
            </a:r>
            <a:r>
              <a:rPr lang="en-US" altLang="zh-CN" b="1" dirty="0" smtClean="0"/>
              <a:t>=</a:t>
            </a:r>
            <a:r>
              <a:rPr lang="zh-CN" altLang="en-US" b="1" dirty="0" smtClean="0"/>
              <a:t>总体</a:t>
            </a:r>
            <a:endParaRPr lang="zh-CN" altLang="en-US" dirty="0" smtClean="0"/>
          </a:p>
          <a:p>
            <a:r>
              <a:rPr lang="zh-CN" altLang="en-US" dirty="0" smtClean="0"/>
              <a:t>采样的目的就是用最少的数据得到最多的信息，当我们可以获得海量数据的时候，它就没有什么意义了；生活中真正有趣的事情经常藏匿在细节之中，而采样分析却无法捕捉到这些细节（因为采样不能得到计划之外的东西）；大数据建立在掌握所有数据，至少是尽可能多的数据的基础上，所以我们就可以正确地考察细节并进行新的分析。</a:t>
            </a:r>
          </a:p>
          <a:p>
            <a:r>
              <a:rPr kumimoji="1" lang="zh-CN" altLang="en-US" sz="1200" b="1" kern="1200" dirty="0" smtClean="0">
                <a:solidFill>
                  <a:schemeClr val="tx1"/>
                </a:solidFill>
                <a:effectLst/>
                <a:latin typeface="Times New Roman" pitchFamily="18" charset="0"/>
                <a:ea typeface="宋体" pitchFamily="2" charset="-122"/>
                <a:cs typeface="+mn-cs"/>
              </a:rPr>
              <a:t>不是精确性，而是混杂性</a:t>
            </a:r>
            <a:endParaRPr lang="zh-CN" altLang="en-US" b="1" dirty="0" smtClean="0"/>
          </a:p>
          <a:p>
            <a:r>
              <a:rPr lang="zh-CN" altLang="en-US" b="1" dirty="0" smtClean="0"/>
              <a:t>执迷于精确性是信息缺乏时代和模拟时代的产物，只有</a:t>
            </a:r>
            <a:r>
              <a:rPr lang="en-US" altLang="zh-CN" b="1" dirty="0" smtClean="0"/>
              <a:t>5%</a:t>
            </a:r>
            <a:r>
              <a:rPr lang="zh-CN" altLang="en-US" b="1" dirty="0" smtClean="0"/>
              <a:t>的数据是结构化且能适用于传统数据库的，如果不能接受混乱，剩下的</a:t>
            </a:r>
            <a:r>
              <a:rPr lang="en-US" altLang="zh-CN" b="1" dirty="0" smtClean="0"/>
              <a:t>95%</a:t>
            </a:r>
            <a:r>
              <a:rPr lang="zh-CN" altLang="en-US" b="1" dirty="0" smtClean="0"/>
              <a:t>的非结构化数据都无法被利用。</a:t>
            </a:r>
            <a:endParaRPr lang="zh-CN" altLang="en-US" dirty="0" smtClean="0"/>
          </a:p>
          <a:p>
            <a:r>
              <a:rPr lang="en-US" altLang="zh-CN" b="1" dirty="0" smtClean="0"/>
              <a:t>1</a:t>
            </a:r>
            <a:r>
              <a:rPr lang="zh-CN" altLang="en-US" b="1" dirty="0" smtClean="0"/>
              <a:t>、小数据时代的精确性</a:t>
            </a:r>
            <a:endParaRPr lang="zh-CN" altLang="en-US" dirty="0" smtClean="0"/>
          </a:p>
          <a:p>
            <a:r>
              <a:rPr lang="zh-CN" altLang="en-US" dirty="0" smtClean="0"/>
              <a:t>在“小数据时代”，人们收集、处理数据的能力有限，对“小数据”而言，最基本、最重要的要求就是减少错误，保证质量（收集信息的有限意味着细微错误会被放大，甚至有可能影响整个结果的准确性）。人们创造了很多精确的系统，这些系统试图让我们接受一个世界困乏而规整的惨象</a:t>
            </a:r>
            <a:r>
              <a:rPr lang="en-US" altLang="zh-CN" dirty="0" smtClean="0"/>
              <a:t>——</a:t>
            </a:r>
            <a:r>
              <a:rPr lang="zh-CN" altLang="en-US" dirty="0" smtClean="0"/>
              <a:t>假装世间万物都是整齐地排列的；事实上现实是纷繁复杂的，天地间存在的事物也远远多于系统所设想的。</a:t>
            </a:r>
          </a:p>
          <a:p>
            <a:r>
              <a:rPr lang="en-US" altLang="zh-CN" b="1" dirty="0" smtClean="0"/>
              <a:t>2</a:t>
            </a:r>
            <a:r>
              <a:rPr lang="zh-CN" altLang="en-US" b="1" dirty="0" smtClean="0"/>
              <a:t>、 我们要的是概率</a:t>
            </a:r>
            <a:endParaRPr lang="zh-CN" altLang="en-US" dirty="0" smtClean="0"/>
          </a:p>
          <a:p>
            <a:r>
              <a:rPr lang="zh-CN" altLang="en-US" dirty="0" smtClean="0"/>
              <a:t>我们总是为了一个“答案”而活着，精确性似乎一直是我们生活的支撑，但认为每个问题只有一个答案的想法是站不住脚的。“一个唯一的真理“的存在是不可能的，而且追求这个唯一的真理是对注意力的分散。大数据也许是拯救我们的关键方法：大数据通常用概率说话，而不是板着“准确无疑”的面孔。</a:t>
            </a:r>
          </a:p>
          <a:p>
            <a:r>
              <a:rPr kumimoji="1" lang="zh-CN" altLang="en-US" sz="1200" b="1" kern="1200" dirty="0" smtClean="0">
                <a:solidFill>
                  <a:schemeClr val="tx1"/>
                </a:solidFill>
                <a:effectLst/>
                <a:latin typeface="Times New Roman" pitchFamily="18" charset="0"/>
                <a:ea typeface="宋体" pitchFamily="2" charset="-122"/>
                <a:cs typeface="+mn-cs"/>
              </a:rPr>
              <a:t>不是因果关系，而是相关关系</a:t>
            </a:r>
            <a:endParaRPr lang="zh-CN" altLang="en-US" b="1" dirty="0" smtClean="0"/>
          </a:p>
          <a:p>
            <a:r>
              <a:rPr lang="zh-CN" altLang="en-US" b="1" dirty="0" smtClean="0"/>
              <a:t>在大数据时代，我们不必知道现象背后的原因，而是要让数据自己“发声”。我们不再一味追求人们为什么这么做，知道人们为什么这么做可能是有用的，但这个问题目前并不是很重要，重要的是我们能通过大数据分析出人们的相关行为。</a:t>
            </a:r>
            <a:endParaRPr lang="zh-CN" altLang="en-US" dirty="0" smtClean="0"/>
          </a:p>
          <a:p>
            <a:r>
              <a:rPr lang="en-US" altLang="zh-CN" b="1" dirty="0" smtClean="0"/>
              <a:t>1</a:t>
            </a:r>
            <a:r>
              <a:rPr lang="zh-CN" altLang="en-US" b="1" dirty="0" smtClean="0"/>
              <a:t>、相关关系</a:t>
            </a:r>
            <a:endParaRPr lang="zh-CN" altLang="en-US" dirty="0" smtClean="0"/>
          </a:p>
          <a:p>
            <a:r>
              <a:rPr lang="zh-CN" altLang="en-US" dirty="0" smtClean="0"/>
              <a:t>相关关系的核心是量化两个数据值之间的数理关系：相关关系强是指当一个数据值增加时，另一个数据值很有可能也会随之增加；相关关系弱就意味着当一个数据值增加时，另一个数据值几乎不会发生变化。相关关系通过识别有用的关联物来帮助我们分析一个现象，而不是通过揭示其内部的运作机制。相关关系没有绝对，只有可能性。</a:t>
            </a:r>
          </a:p>
          <a:p>
            <a:r>
              <a:rPr lang="en-US" altLang="zh-CN" b="1" dirty="0" smtClean="0"/>
              <a:t>2</a:t>
            </a:r>
            <a:r>
              <a:rPr lang="zh-CN" altLang="en-US" b="1" dirty="0" smtClean="0"/>
              <a:t>、人们的直接目的就是寻找因果关系</a:t>
            </a:r>
            <a:endParaRPr lang="zh-CN" altLang="en-US" dirty="0" smtClean="0"/>
          </a:p>
          <a:p>
            <a:r>
              <a:rPr lang="zh-CN" altLang="en-US" dirty="0" smtClean="0"/>
              <a:t>人们的直接愿望就是了解因果关系，我们已经习惯了信息的匮乏，故此亦习惯了在少量数据的基础上进行推理思考。以前我们用实验来证明因果关系，它是通过是否有诱因来分别观察所产生的结果是不是和真实情况相符。但是，凡事皆有因果的话，那么我们就没有决定任何事的自由了。如果说我们做的每一个决定或者每一个想法都是其他事情的结果，而这个结果又是由其他原因导致的，以此循环往复，那么就不存在人的自由意志这一说了</a:t>
            </a:r>
            <a:r>
              <a:rPr lang="en-US" altLang="zh-CN" dirty="0" smtClean="0"/>
              <a:t>——</a:t>
            </a:r>
            <a:r>
              <a:rPr lang="zh-CN" altLang="en-US" dirty="0" smtClean="0"/>
              <a:t>所有的生命轨迹都只是受到因果关系的控制了</a:t>
            </a:r>
            <a:r>
              <a:rPr lang="en-US" altLang="zh-CN" dirty="0" smtClean="0"/>
              <a:t>——</a:t>
            </a:r>
            <a:r>
              <a:rPr lang="zh-CN" altLang="en-US" dirty="0" smtClean="0"/>
              <a:t>这显然是不正确的。</a:t>
            </a:r>
          </a:p>
          <a:p>
            <a:r>
              <a:rPr lang="en-US" altLang="zh-CN" b="1" dirty="0" smtClean="0"/>
              <a:t>3</a:t>
            </a:r>
            <a:r>
              <a:rPr lang="zh-CN" altLang="en-US" b="1" dirty="0" smtClean="0"/>
              <a:t>、 相关关系和因果关系并不矛盾</a:t>
            </a:r>
            <a:endParaRPr lang="zh-CN" altLang="en-US" dirty="0" smtClean="0"/>
          </a:p>
          <a:p>
            <a:r>
              <a:rPr lang="zh-CN" altLang="en-US" dirty="0" smtClean="0"/>
              <a:t>相关关系分析本身意义重大，同时它也为研究因果关系奠定了基础，通过找出可能相关的事物，我们可以在此基础上进行进一步的因果关系分析，如果存在因果关系的话，我们再进一步找出原因。在大多数情况下，一旦我们完成了对大数据的相关关系分析，而又不再满足于仅仅知道“是什么”时，我们就会继续向更深层次研究因果关系，找出背后的“为什么”。在小数据时代，我们会假象世界是怎么运作的，然后通过收集和分析数据来验证这种假象；在大数据时代，我们会在数据的指导下探索世界，不再受限于各种假想；我们的研究始于数据，也因为数据我们发现了以前不曾发现的联系。</a:t>
            </a:r>
          </a:p>
          <a:p>
            <a:r>
              <a:rPr lang="en-US" altLang="zh-CN" dirty="0" smtClean="0"/>
              <a:t>A.</a:t>
            </a:r>
            <a:r>
              <a:rPr lang="zh-CN" altLang="en-US" dirty="0" smtClean="0"/>
              <a:t>大量的数据意味着“理论的终结”：用一系列的因果关系来验证各种猜测的传统研究范式已经不实用了，如今它已经被无需理论指导的相关关系研究所取代；</a:t>
            </a:r>
          </a:p>
          <a:p>
            <a:r>
              <a:rPr lang="en-US" altLang="zh-CN" dirty="0" smtClean="0"/>
              <a:t>B.</a:t>
            </a:r>
            <a:r>
              <a:rPr lang="zh-CN" altLang="en-US" dirty="0" smtClean="0"/>
              <a:t>现在已经是一个有海量数据的时代，应用数学已经取代了其他的所有学科工具，而且只要数据足够，就能说明问题，如果你有一拍字节的数据，只要掌握了这些数据之间的相关关系，一切就迎刃而解了；</a:t>
            </a:r>
          </a:p>
          <a:p>
            <a:r>
              <a:rPr lang="en-US" altLang="zh-CN" dirty="0" smtClean="0"/>
              <a:t>C.“</a:t>
            </a:r>
            <a:r>
              <a:rPr lang="zh-CN" altLang="en-US" dirty="0" smtClean="0"/>
              <a:t>理论的终结”：所有的普遍规则都不重要了，重要的是数据分析，它可以揭示一切问题；但大数据并不意味着理论已死，因为大数据就是在理论的基础上形成的。</a:t>
            </a:r>
          </a:p>
          <a:p>
            <a:endParaRPr lang="zh-CN" altLang="en-US" dirty="0" smtClean="0"/>
          </a:p>
          <a:p>
            <a:endParaRPr lang="zh-CN" altLang="en-US" dirty="0"/>
          </a:p>
        </p:txBody>
      </p:sp>
      <p:sp>
        <p:nvSpPr>
          <p:cNvPr id="4" name="灯片编号占位符 3"/>
          <p:cNvSpPr>
            <a:spLocks noGrp="1"/>
          </p:cNvSpPr>
          <p:nvPr>
            <p:ph type="sldNum" sz="quarter" idx="10"/>
          </p:nvPr>
        </p:nvSpPr>
        <p:spPr/>
        <p:txBody>
          <a:bodyPr/>
          <a:lstStyle/>
          <a:p>
            <a:pPr>
              <a:defRPr/>
            </a:pPr>
            <a:fld id="{1DBA2871-DC6D-443A-B4CC-1F73A629D13C}" type="slidenum">
              <a:rPr lang="en-US" altLang="zh-CN" smtClean="0"/>
              <a:pPr>
                <a:defRPr/>
              </a:pPr>
              <a:t>24</a:t>
            </a:fld>
            <a:endParaRPr lang="en-US" altLang="zh-CN"/>
          </a:p>
        </p:txBody>
      </p:sp>
    </p:spTree>
    <p:extLst>
      <p:ext uri="{BB962C8B-B14F-4D97-AF65-F5344CB8AC3E}">
        <p14:creationId xmlns:p14="http://schemas.microsoft.com/office/powerpoint/2010/main" val="249667838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228600" indent="-228600">
              <a:lnSpc>
                <a:spcPct val="150000"/>
              </a:lnSpc>
              <a:buFont typeface="Arial" charset="0"/>
              <a:buChar char="•"/>
            </a:pPr>
            <a:r>
              <a:rPr lang="zh-CN" altLang="en-US" sz="1200" dirty="0" smtClean="0"/>
              <a:t>在澳大利亚被发现之前，生活在十七世纪欧洲的人们都相信一件事：所有的天鹅都是白色的。因为当时所能见到的天鹅的确都是白色的，所以根据经验，那简直就是一个真理，直到</a:t>
            </a:r>
            <a:r>
              <a:rPr lang="en-US" altLang="zh-CN" sz="1200" dirty="0" smtClean="0"/>
              <a:t>1697</a:t>
            </a:r>
            <a:r>
              <a:rPr lang="zh-CN" altLang="en-US" sz="1200" dirty="0" smtClean="0"/>
              <a:t>年，探险家在澳大利亚发现了黑天鹅，人们才知道以前的结论是片面的。</a:t>
            </a:r>
          </a:p>
          <a:p>
            <a:pPr marL="228600" indent="-228600">
              <a:lnSpc>
                <a:spcPct val="150000"/>
              </a:lnSpc>
              <a:buFont typeface="Arial" charset="0"/>
              <a:buChar char="•"/>
            </a:pPr>
            <a:r>
              <a:rPr lang="zh-CN" altLang="en-US" sz="1200" dirty="0" smtClean="0"/>
              <a:t> 这证明了我们的认知是多么局限：虽然你是在观察了几百万只天鹅之后才得出了“所有的天鹅都是白色的”结论，但只需要另一个发现就能将它彻底推翻</a:t>
            </a:r>
            <a:r>
              <a:rPr lang="en-US" altLang="zh-CN" sz="1200" dirty="0" smtClean="0"/>
              <a:t>——</a:t>
            </a:r>
          </a:p>
          <a:p>
            <a:pPr marL="228600" indent="-228600">
              <a:lnSpc>
                <a:spcPct val="150000"/>
              </a:lnSpc>
              <a:buFont typeface="Arial" charset="0"/>
              <a:buChar char="•"/>
            </a:pPr>
            <a:r>
              <a:rPr lang="en-US" altLang="zh-CN" sz="1200" dirty="0" smtClean="0"/>
              <a:t>2007</a:t>
            </a:r>
            <a:r>
              <a:rPr lang="zh-CN" altLang="en-US" sz="1200" dirty="0" smtClean="0"/>
              <a:t>年，全球最具影响力的商业思想家塔勒布用一本</a:t>
            </a:r>
            <a:r>
              <a:rPr lang="en-US" altLang="zh-CN" sz="1200" dirty="0" smtClean="0"/>
              <a:t>《</a:t>
            </a:r>
            <a:r>
              <a:rPr lang="zh-CN" altLang="en-US" sz="1200" dirty="0" smtClean="0"/>
              <a:t>黑天鹅</a:t>
            </a:r>
            <a:r>
              <a:rPr lang="en-US" altLang="zh-CN" sz="1200" dirty="0" smtClean="0"/>
              <a:t>》</a:t>
            </a:r>
            <a:r>
              <a:rPr lang="zh-CN" altLang="en-US" sz="1200" dirty="0" smtClean="0"/>
              <a:t>几乎让世人绝望：我们总是以为自己知道得很多，能够预测未来，但一次极端事件，就足以影响整个历史的走势。</a:t>
            </a:r>
          </a:p>
          <a:p>
            <a:endParaRPr lang="en-US" altLang="zh-CN" dirty="0" smtClean="0"/>
          </a:p>
          <a:p>
            <a:endParaRPr lang="en-US" altLang="zh-CN" dirty="0" smtClean="0"/>
          </a:p>
          <a:p>
            <a:pPr marL="228600" indent="-228600">
              <a:lnSpc>
                <a:spcPct val="150000"/>
              </a:lnSpc>
              <a:buFont typeface="Arial" charset="0"/>
              <a:buChar char="•"/>
            </a:pPr>
            <a:r>
              <a:rPr lang="zh-CN" altLang="en-US" sz="1200" dirty="0" smtClean="0"/>
              <a:t>每一天，我们的电子邮件都保存在电邮供应商的日志文件中；我们的通话记录都被加上时间标记备份在电话公司的大容量硬盘上；我们何时何地买了什么东西，我们的喜好、品味以及支付能力都被信用卡提供商编目归档；我们的所有个人网页、空间、微博、即时通讯文件，还有博客信息，都被保存在多个服务器上；我们的即时行踪完全被手机供应商掌握；我们的容貌和穿着打扮都被安装在各大商场和街角的摄像头捕捉并记录</a:t>
            </a:r>
            <a:r>
              <a:rPr lang="en-US" altLang="zh-CN" sz="1200" dirty="0" smtClean="0"/>
              <a:t>……</a:t>
            </a:r>
          </a:p>
          <a:p>
            <a:pPr marL="228600" indent="-228600">
              <a:lnSpc>
                <a:spcPct val="150000"/>
              </a:lnSpc>
              <a:buFont typeface="Arial" charset="0"/>
              <a:buChar char="•"/>
            </a:pPr>
            <a:r>
              <a:rPr lang="zh-CN" altLang="en-US" sz="1200" dirty="0" smtClean="0"/>
              <a:t>我们通常不太在意，但我们的生活完全能被这些如雨后春笋般出现的数据库所记录的信息串联起来。进而，全球复杂网络权威巴拉巴西通过研究大胆地认为，</a:t>
            </a:r>
            <a:r>
              <a:rPr lang="en-US" altLang="zh-CN" sz="1200" dirty="0" smtClean="0"/>
              <a:t>93%</a:t>
            </a:r>
            <a:r>
              <a:rPr lang="zh-CN" altLang="en-US" sz="1200" dirty="0" smtClean="0"/>
              <a:t>的人类行为是可以预测的。</a:t>
            </a:r>
          </a:p>
          <a:p>
            <a:endParaRPr kumimoji="1" lang="en-US" altLang="zh-CN" sz="1200" kern="1200" dirty="0" smtClean="0">
              <a:solidFill>
                <a:schemeClr val="tx1"/>
              </a:solidFill>
              <a:effectLst/>
              <a:latin typeface="Times New Roman" pitchFamily="18" charset="0"/>
              <a:ea typeface="宋体" pitchFamily="2" charset="-122"/>
              <a:cs typeface="+mn-cs"/>
            </a:endParaRPr>
          </a:p>
          <a:p>
            <a:endParaRPr kumimoji="1" lang="en-US" altLang="zh-CN" sz="1200" kern="1200" dirty="0" smtClean="0">
              <a:solidFill>
                <a:schemeClr val="tx1"/>
              </a:solidFill>
              <a:effectLst/>
              <a:latin typeface="Times New Roman" pitchFamily="18" charset="0"/>
              <a:ea typeface="宋体" pitchFamily="2" charset="-122"/>
              <a:cs typeface="+mn-cs"/>
            </a:endParaRPr>
          </a:p>
          <a:p>
            <a:endParaRPr kumimoji="1" lang="en-US" altLang="zh-CN" sz="1200" kern="1200" dirty="0" smtClean="0">
              <a:solidFill>
                <a:schemeClr val="tx1"/>
              </a:solidFill>
              <a:effectLst/>
              <a:latin typeface="Times New Roman" pitchFamily="18" charset="0"/>
              <a:ea typeface="宋体" pitchFamily="2" charset="-122"/>
              <a:cs typeface="+mn-cs"/>
            </a:endParaRPr>
          </a:p>
          <a:p>
            <a:r>
              <a:rPr kumimoji="1" lang="zh-CN" altLang="zh-CN" sz="1200" b="1" kern="1200" dirty="0" smtClean="0">
                <a:solidFill>
                  <a:schemeClr val="tx1"/>
                </a:solidFill>
                <a:effectLst/>
                <a:latin typeface="Times New Roman" pitchFamily="18" charset="0"/>
                <a:ea typeface="宋体" pitchFamily="2" charset="-122"/>
                <a:cs typeface="+mn-cs"/>
              </a:rPr>
              <a:t>科技大数据，哲学新思维</a:t>
            </a:r>
            <a:endParaRPr kumimoji="1" lang="zh-CN" altLang="zh-CN" sz="1200" kern="1200" dirty="0" smtClean="0">
              <a:solidFill>
                <a:schemeClr val="tx1"/>
              </a:solidFill>
              <a:effectLst/>
              <a:latin typeface="Times New Roman" pitchFamily="18" charset="0"/>
              <a:ea typeface="宋体" pitchFamily="2" charset="-122"/>
              <a:cs typeface="+mn-cs"/>
            </a:endParaRPr>
          </a:p>
          <a:p>
            <a:r>
              <a:rPr kumimoji="1" lang="zh-CN" altLang="zh-CN" sz="1200" kern="1200" dirty="0" smtClean="0">
                <a:solidFill>
                  <a:schemeClr val="tx1"/>
                </a:solidFill>
                <a:effectLst/>
                <a:latin typeface="Times New Roman" pitchFamily="18" charset="0"/>
                <a:ea typeface="宋体" pitchFamily="2" charset="-122"/>
                <a:cs typeface="+mn-cs"/>
              </a:rPr>
              <a:t>李德伟 《 光明日报 》（</a:t>
            </a:r>
            <a:r>
              <a:rPr kumimoji="1" lang="en-US" altLang="zh-CN" sz="1200" kern="1200" dirty="0" smtClean="0">
                <a:solidFill>
                  <a:schemeClr val="tx1"/>
                </a:solidFill>
                <a:effectLst/>
                <a:latin typeface="Times New Roman" pitchFamily="18" charset="0"/>
                <a:ea typeface="宋体" pitchFamily="2" charset="-122"/>
                <a:cs typeface="+mn-cs"/>
              </a:rPr>
              <a:t> 2012</a:t>
            </a:r>
            <a:r>
              <a:rPr kumimoji="1" lang="zh-CN" altLang="zh-CN" sz="1200" kern="1200" dirty="0" smtClean="0">
                <a:solidFill>
                  <a:schemeClr val="tx1"/>
                </a:solidFill>
                <a:effectLst/>
                <a:latin typeface="Times New Roman" pitchFamily="18" charset="0"/>
                <a:ea typeface="宋体" pitchFamily="2" charset="-122"/>
                <a:cs typeface="+mn-cs"/>
              </a:rPr>
              <a:t>年</a:t>
            </a:r>
            <a:r>
              <a:rPr kumimoji="1" lang="en-US" altLang="zh-CN" sz="1200" kern="1200" dirty="0" smtClean="0">
                <a:solidFill>
                  <a:schemeClr val="tx1"/>
                </a:solidFill>
                <a:effectLst/>
                <a:latin typeface="Times New Roman" pitchFamily="18" charset="0"/>
                <a:ea typeface="宋体" pitchFamily="2" charset="-122"/>
                <a:cs typeface="+mn-cs"/>
              </a:rPr>
              <a:t>12</a:t>
            </a:r>
            <a:r>
              <a:rPr kumimoji="1" lang="zh-CN" altLang="zh-CN" sz="1200" kern="1200" dirty="0" smtClean="0">
                <a:solidFill>
                  <a:schemeClr val="tx1"/>
                </a:solidFill>
                <a:effectLst/>
                <a:latin typeface="Times New Roman" pitchFamily="18" charset="0"/>
                <a:ea typeface="宋体" pitchFamily="2" charset="-122"/>
                <a:cs typeface="+mn-cs"/>
              </a:rPr>
              <a:t>月</a:t>
            </a:r>
            <a:r>
              <a:rPr kumimoji="1" lang="en-US" altLang="zh-CN" sz="1200" kern="1200" dirty="0" smtClean="0">
                <a:solidFill>
                  <a:schemeClr val="tx1"/>
                </a:solidFill>
                <a:effectLst/>
                <a:latin typeface="Times New Roman" pitchFamily="18" charset="0"/>
                <a:ea typeface="宋体" pitchFamily="2" charset="-122"/>
                <a:cs typeface="+mn-cs"/>
              </a:rPr>
              <a:t>25</a:t>
            </a:r>
            <a:r>
              <a:rPr kumimoji="1" lang="zh-CN" altLang="zh-CN" sz="1200" kern="1200" dirty="0" smtClean="0">
                <a:solidFill>
                  <a:schemeClr val="tx1"/>
                </a:solidFill>
                <a:effectLst/>
                <a:latin typeface="Times New Roman" pitchFamily="18" charset="0"/>
                <a:ea typeface="宋体" pitchFamily="2" charset="-122"/>
                <a:cs typeface="+mn-cs"/>
              </a:rPr>
              <a:t>日</a:t>
            </a:r>
            <a:r>
              <a:rPr kumimoji="1" lang="en-US" altLang="zh-CN" sz="1200" kern="1200" dirty="0" smtClean="0">
                <a:solidFill>
                  <a:schemeClr val="tx1"/>
                </a:solidFill>
                <a:effectLst/>
                <a:latin typeface="Times New Roman" pitchFamily="18" charset="0"/>
                <a:ea typeface="宋体" pitchFamily="2" charset="-122"/>
                <a:cs typeface="+mn-cs"/>
              </a:rPr>
              <a:t>   12 </a:t>
            </a:r>
            <a:r>
              <a:rPr kumimoji="1" lang="zh-CN" altLang="zh-CN" sz="1200" kern="1200" dirty="0" smtClean="0">
                <a:solidFill>
                  <a:schemeClr val="tx1"/>
                </a:solidFill>
                <a:effectLst/>
                <a:latin typeface="Times New Roman" pitchFamily="18" charset="0"/>
                <a:ea typeface="宋体" pitchFamily="2" charset="-122"/>
                <a:cs typeface="+mn-cs"/>
              </a:rPr>
              <a:t>版）</a:t>
            </a:r>
          </a:p>
          <a:p>
            <a:endParaRPr kumimoji="1" lang="en-US" altLang="zh-CN" sz="1200" kern="1200" dirty="0" smtClean="0">
              <a:solidFill>
                <a:schemeClr val="tx1"/>
              </a:solidFill>
              <a:effectLst/>
              <a:latin typeface="Times New Roman" pitchFamily="18" charset="0"/>
              <a:ea typeface="宋体" pitchFamily="2" charset="-122"/>
              <a:cs typeface="+mn-cs"/>
            </a:endParaRPr>
          </a:p>
          <a:p>
            <a:r>
              <a:rPr kumimoji="1" lang="zh-CN" altLang="zh-CN" sz="1200" kern="1200" dirty="0" smtClean="0">
                <a:solidFill>
                  <a:schemeClr val="tx1"/>
                </a:solidFill>
                <a:effectLst/>
                <a:latin typeface="Times New Roman" pitchFamily="18" charset="0"/>
                <a:ea typeface="宋体" pitchFamily="2" charset="-122"/>
                <a:cs typeface="+mn-cs"/>
              </a:rPr>
              <a:t>过去，人们认为人类与动物区别于劳动。但实际上，动物也有作用于物质世界的类似劳动的活动。因此，如何看待数据才是是否拥有智力的本质特征</a:t>
            </a:r>
            <a:r>
              <a:rPr kumimoji="1" lang="en-US" altLang="zh-CN" sz="1200" kern="1200" dirty="0" smtClean="0">
                <a:solidFill>
                  <a:schemeClr val="tx1"/>
                </a:solidFill>
                <a:effectLst/>
                <a:latin typeface="Times New Roman" pitchFamily="18" charset="0"/>
                <a:ea typeface="宋体" pitchFamily="2" charset="-122"/>
                <a:cs typeface="+mn-cs"/>
              </a:rPr>
              <a:t>——</a:t>
            </a:r>
            <a:r>
              <a:rPr kumimoji="1" lang="zh-CN" altLang="zh-CN" sz="1200" kern="1200" dirty="0" smtClean="0">
                <a:solidFill>
                  <a:schemeClr val="tx1"/>
                </a:solidFill>
                <a:effectLst/>
                <a:latin typeface="Times New Roman" pitchFamily="18" charset="0"/>
                <a:ea typeface="宋体" pitchFamily="2" charset="-122"/>
                <a:cs typeface="+mn-cs"/>
              </a:rPr>
              <a:t>只有人类才能认识事物的</a:t>
            </a:r>
            <a:r>
              <a:rPr kumimoji="1" lang="zh-CN" altLang="zh-CN" sz="1200" b="1" kern="1200" dirty="0" smtClean="0">
                <a:solidFill>
                  <a:schemeClr val="tx1"/>
                </a:solidFill>
                <a:effectLst/>
                <a:latin typeface="Times New Roman" pitchFamily="18" charset="0"/>
                <a:ea typeface="宋体" pitchFamily="2" charset="-122"/>
                <a:cs typeface="+mn-cs"/>
              </a:rPr>
              <a:t>数与结构关系</a:t>
            </a:r>
            <a:r>
              <a:rPr kumimoji="1" lang="zh-CN" altLang="zh-CN" sz="1200" kern="1200" dirty="0" smtClean="0">
                <a:solidFill>
                  <a:schemeClr val="tx1"/>
                </a:solidFill>
                <a:effectLst/>
                <a:latin typeface="Times New Roman" pitchFamily="18" charset="0"/>
                <a:ea typeface="宋体" pitchFamily="2" charset="-122"/>
                <a:cs typeface="+mn-cs"/>
              </a:rPr>
              <a:t>，并定量地、合目的地作用于对象。</a:t>
            </a:r>
          </a:p>
          <a:p>
            <a:r>
              <a:rPr kumimoji="1" lang="en-US" altLang="zh-CN" sz="1200" kern="1200" dirty="0" smtClean="0">
                <a:solidFill>
                  <a:schemeClr val="tx1"/>
                </a:solidFill>
                <a:effectLst/>
                <a:latin typeface="Times New Roman" pitchFamily="18" charset="0"/>
                <a:ea typeface="宋体" pitchFamily="2" charset="-122"/>
                <a:cs typeface="+mn-cs"/>
              </a:rPr>
              <a:t>    </a:t>
            </a:r>
            <a:r>
              <a:rPr kumimoji="1" lang="zh-CN" altLang="zh-CN" sz="1200" kern="1200" dirty="0" smtClean="0">
                <a:solidFill>
                  <a:schemeClr val="tx1"/>
                </a:solidFill>
                <a:effectLst/>
                <a:latin typeface="Times New Roman" pitchFamily="18" charset="0"/>
                <a:ea typeface="宋体" pitchFamily="2" charset="-122"/>
                <a:cs typeface="+mn-cs"/>
              </a:rPr>
              <a:t>在极其遥远的远古时候，占卜吉凶，预测未来，就是人类强烈的愿望，而实现的途径离不开数据。易经、八卦这一类占卜吉凶的工具，就是一种透露世界万事万物运行盛衰信息的载体，它本身既存在于现实中，也必然与世界其他所有事物遵循同一时空关系，与世界事物变化具有同构关系。例如相互依存、物极必反、量变质变、过犹不及、柔弱胜刚强等规律。</a:t>
            </a:r>
          </a:p>
          <a:p>
            <a:r>
              <a:rPr kumimoji="1" lang="en-US" altLang="zh-CN" sz="1200" kern="1200" dirty="0" smtClean="0">
                <a:solidFill>
                  <a:schemeClr val="tx1"/>
                </a:solidFill>
                <a:effectLst/>
                <a:latin typeface="Times New Roman" pitchFamily="18" charset="0"/>
                <a:ea typeface="宋体" pitchFamily="2" charset="-122"/>
                <a:cs typeface="+mn-cs"/>
              </a:rPr>
              <a:t>    </a:t>
            </a:r>
            <a:r>
              <a:rPr kumimoji="1" lang="zh-CN" altLang="zh-CN" sz="1200" b="1" kern="1200" dirty="0" smtClean="0">
                <a:solidFill>
                  <a:srgbClr val="FF0000"/>
                </a:solidFill>
                <a:effectLst/>
                <a:latin typeface="Times New Roman" pitchFamily="18" charset="0"/>
                <a:ea typeface="宋体" pitchFamily="2" charset="-122"/>
                <a:cs typeface="+mn-cs"/>
              </a:rPr>
              <a:t>大数据方法揭示：因果关系是常规性的，终极的关系应从事物之间的相关性、同构性中寻找。</a:t>
            </a:r>
            <a:r>
              <a:rPr kumimoji="1" lang="zh-CN" altLang="zh-CN" sz="1200" b="1" kern="1200" dirty="0" smtClean="0">
                <a:solidFill>
                  <a:schemeClr val="tx1"/>
                </a:solidFill>
                <a:effectLst/>
                <a:latin typeface="Times New Roman" pitchFamily="18" charset="0"/>
                <a:ea typeface="宋体" pitchFamily="2" charset="-122"/>
                <a:cs typeface="+mn-cs"/>
              </a:rPr>
              <a:t>数据反映的是具有同构关系的两个序列的关系信息，一个对象的运动轨迹，通过另一个序列的载体编码来表达。</a:t>
            </a:r>
            <a:r>
              <a:rPr kumimoji="1" lang="zh-CN" altLang="zh-CN" sz="1200" kern="1200" dirty="0" smtClean="0">
                <a:solidFill>
                  <a:schemeClr val="tx1"/>
                </a:solidFill>
                <a:effectLst/>
                <a:latin typeface="Times New Roman" pitchFamily="18" charset="0"/>
                <a:ea typeface="宋体" pitchFamily="2" charset="-122"/>
                <a:cs typeface="+mn-cs"/>
              </a:rPr>
              <a:t>认识者获得的不是对象本身绝对映像，而是离开了对象，从对象中抽象出来的、关于对象运动轨迹的数据。</a:t>
            </a:r>
          </a:p>
          <a:p>
            <a:r>
              <a:rPr kumimoji="1" lang="en-US" altLang="zh-CN" sz="1200" kern="1200" dirty="0" smtClean="0">
                <a:solidFill>
                  <a:schemeClr val="tx1"/>
                </a:solidFill>
                <a:effectLst/>
                <a:latin typeface="Times New Roman" pitchFamily="18" charset="0"/>
                <a:ea typeface="宋体" pitchFamily="2" charset="-122"/>
                <a:cs typeface="+mn-cs"/>
              </a:rPr>
              <a:t>    </a:t>
            </a:r>
            <a:r>
              <a:rPr kumimoji="1" lang="zh-CN" altLang="zh-CN" sz="1200" kern="1200" dirty="0" smtClean="0">
                <a:solidFill>
                  <a:schemeClr val="tx1"/>
                </a:solidFill>
                <a:effectLst/>
                <a:latin typeface="Times New Roman" pitchFamily="18" charset="0"/>
                <a:ea typeface="宋体" pitchFamily="2" charset="-122"/>
                <a:cs typeface="+mn-cs"/>
              </a:rPr>
              <a:t>从这一角度看，同构关系是大数据的数理哲学基础。</a:t>
            </a:r>
          </a:p>
          <a:p>
            <a:r>
              <a:rPr kumimoji="1" lang="en-US" altLang="zh-CN" sz="1200" kern="1200" dirty="0" smtClean="0">
                <a:solidFill>
                  <a:schemeClr val="tx1"/>
                </a:solidFill>
                <a:effectLst/>
                <a:latin typeface="Times New Roman" pitchFamily="18" charset="0"/>
                <a:ea typeface="宋体" pitchFamily="2" charset="-122"/>
                <a:cs typeface="+mn-cs"/>
              </a:rPr>
              <a:t>    </a:t>
            </a:r>
            <a:r>
              <a:rPr kumimoji="1" lang="zh-CN" altLang="zh-CN" sz="1200" kern="1200" dirty="0" smtClean="0">
                <a:solidFill>
                  <a:schemeClr val="tx1"/>
                </a:solidFill>
                <a:effectLst/>
                <a:latin typeface="Times New Roman" pitchFamily="18" charset="0"/>
                <a:ea typeface="宋体" pitchFamily="2" charset="-122"/>
                <a:cs typeface="+mn-cs"/>
              </a:rPr>
              <a:t>人类关于世界起源争论了几千年，究竟物质第一性还是精神第一性？唯物主义认为世界本源是物质，例如，原子、基本粒子、夸克；唯心主义认为世界本源是精神，如贝克莱的主观感觉、黑格尔的</a:t>
            </a:r>
            <a:r>
              <a:rPr kumimoji="1" lang="en-US" altLang="zh-CN" sz="1200" kern="1200" dirty="0" smtClean="0">
                <a:solidFill>
                  <a:schemeClr val="tx1"/>
                </a:solidFill>
                <a:effectLst/>
                <a:latin typeface="Times New Roman" pitchFamily="18" charset="0"/>
                <a:ea typeface="宋体" pitchFamily="2" charset="-122"/>
                <a:cs typeface="+mn-cs"/>
              </a:rPr>
              <a:t>“</a:t>
            </a:r>
            <a:r>
              <a:rPr kumimoji="1" lang="zh-CN" altLang="zh-CN" sz="1200" kern="1200" dirty="0" smtClean="0">
                <a:solidFill>
                  <a:schemeClr val="tx1"/>
                </a:solidFill>
                <a:effectLst/>
                <a:latin typeface="Times New Roman" pitchFamily="18" charset="0"/>
                <a:ea typeface="宋体" pitchFamily="2" charset="-122"/>
                <a:cs typeface="+mn-cs"/>
              </a:rPr>
              <a:t>绝对精神</a:t>
            </a:r>
            <a:r>
              <a:rPr kumimoji="1" lang="en-US" altLang="zh-CN" sz="1200" kern="1200" dirty="0" smtClean="0">
                <a:solidFill>
                  <a:schemeClr val="tx1"/>
                </a:solidFill>
                <a:effectLst/>
                <a:latin typeface="Times New Roman" pitchFamily="18" charset="0"/>
                <a:ea typeface="宋体" pitchFamily="2" charset="-122"/>
                <a:cs typeface="+mn-cs"/>
              </a:rPr>
              <a:t>”</a:t>
            </a:r>
            <a:r>
              <a:rPr kumimoji="1" lang="zh-CN" altLang="zh-CN" sz="1200" kern="1200" dirty="0" smtClean="0">
                <a:solidFill>
                  <a:schemeClr val="tx1"/>
                </a:solidFill>
                <a:effectLst/>
                <a:latin typeface="Times New Roman" pitchFamily="18" charset="0"/>
                <a:ea typeface="宋体" pitchFamily="2" charset="-122"/>
                <a:cs typeface="+mn-cs"/>
              </a:rPr>
              <a:t>。</a:t>
            </a:r>
          </a:p>
          <a:p>
            <a:r>
              <a:rPr kumimoji="1" lang="en-US" altLang="zh-CN" sz="1200" kern="1200" dirty="0" smtClean="0">
                <a:solidFill>
                  <a:schemeClr val="tx1"/>
                </a:solidFill>
                <a:effectLst/>
                <a:latin typeface="Times New Roman" pitchFamily="18" charset="0"/>
                <a:ea typeface="宋体" pitchFamily="2" charset="-122"/>
                <a:cs typeface="+mn-cs"/>
              </a:rPr>
              <a:t>    </a:t>
            </a:r>
            <a:r>
              <a:rPr kumimoji="1" lang="zh-CN" altLang="zh-CN" sz="1200" kern="1200" dirty="0" smtClean="0">
                <a:solidFill>
                  <a:schemeClr val="tx1"/>
                </a:solidFill>
                <a:effectLst/>
                <a:latin typeface="Times New Roman" pitchFamily="18" charset="0"/>
                <a:ea typeface="宋体" pitchFamily="2" charset="-122"/>
                <a:cs typeface="+mn-cs"/>
              </a:rPr>
              <a:t>如果忽略本源问题的争论，得出的是物心二元论，从亚里斯多德的</a:t>
            </a:r>
            <a:r>
              <a:rPr kumimoji="1" lang="zh-CN" altLang="zh-CN" sz="1200" b="1" kern="1200" dirty="0" smtClean="0">
                <a:solidFill>
                  <a:schemeClr val="tx1"/>
                </a:solidFill>
                <a:effectLst/>
                <a:latin typeface="Times New Roman" pitchFamily="18" charset="0"/>
                <a:ea typeface="宋体" pitchFamily="2" charset="-122"/>
                <a:cs typeface="+mn-cs"/>
              </a:rPr>
              <a:t>形式因</a:t>
            </a:r>
            <a:r>
              <a:rPr kumimoji="1" lang="zh-CN" altLang="zh-CN" sz="1200" kern="1200" dirty="0" smtClean="0">
                <a:solidFill>
                  <a:schemeClr val="tx1"/>
                </a:solidFill>
                <a:effectLst/>
                <a:latin typeface="Times New Roman" pitchFamily="18" charset="0"/>
                <a:ea typeface="宋体" pitchFamily="2" charset="-122"/>
                <a:cs typeface="+mn-cs"/>
              </a:rPr>
              <a:t>和</a:t>
            </a:r>
            <a:r>
              <a:rPr kumimoji="1" lang="zh-CN" altLang="zh-CN" sz="1200" b="1" kern="1200" dirty="0" smtClean="0">
                <a:solidFill>
                  <a:schemeClr val="tx1"/>
                </a:solidFill>
                <a:effectLst/>
                <a:latin typeface="Times New Roman" pitchFamily="18" charset="0"/>
                <a:ea typeface="宋体" pitchFamily="2" charset="-122"/>
                <a:cs typeface="+mn-cs"/>
              </a:rPr>
              <a:t>质料因</a:t>
            </a:r>
            <a:r>
              <a:rPr kumimoji="1" lang="zh-CN" altLang="zh-CN" sz="1200" kern="1200" dirty="0" smtClean="0">
                <a:solidFill>
                  <a:schemeClr val="tx1"/>
                </a:solidFill>
                <a:effectLst/>
                <a:latin typeface="Times New Roman" pitchFamily="18" charset="0"/>
                <a:ea typeface="宋体" pitchFamily="2" charset="-122"/>
                <a:cs typeface="+mn-cs"/>
              </a:rPr>
              <a:t>，到斯宾诺莎的</a:t>
            </a:r>
            <a:r>
              <a:rPr kumimoji="1" lang="zh-CN" altLang="zh-CN" sz="1200" b="1" kern="1200" dirty="0" smtClean="0">
                <a:solidFill>
                  <a:schemeClr val="tx1"/>
                </a:solidFill>
                <a:effectLst/>
                <a:latin typeface="Times New Roman" pitchFamily="18" charset="0"/>
                <a:ea typeface="宋体" pitchFamily="2" charset="-122"/>
                <a:cs typeface="+mn-cs"/>
              </a:rPr>
              <a:t>物心并行二元论</a:t>
            </a:r>
            <a:r>
              <a:rPr kumimoji="1" lang="zh-CN" altLang="zh-CN" sz="1200" kern="1200" dirty="0" smtClean="0">
                <a:solidFill>
                  <a:schemeClr val="tx1"/>
                </a:solidFill>
                <a:effectLst/>
                <a:latin typeface="Times New Roman" pitchFamily="18" charset="0"/>
                <a:ea typeface="宋体" pitchFamily="2" charset="-122"/>
                <a:cs typeface="+mn-cs"/>
              </a:rPr>
              <a:t>。也就是说：</a:t>
            </a:r>
            <a:r>
              <a:rPr kumimoji="1" lang="zh-CN" altLang="zh-CN" sz="1200" b="1" kern="1200" dirty="0" smtClean="0">
                <a:solidFill>
                  <a:schemeClr val="tx1"/>
                </a:solidFill>
                <a:effectLst/>
                <a:latin typeface="Times New Roman" pitchFamily="18" charset="0"/>
                <a:ea typeface="宋体" pitchFamily="2" charset="-122"/>
                <a:cs typeface="+mn-cs"/>
              </a:rPr>
              <a:t>物质系列与精神系列是二元并行的同构关系</a:t>
            </a:r>
            <a:r>
              <a:rPr kumimoji="1" lang="zh-CN" altLang="zh-CN" sz="1200" kern="1200" dirty="0" smtClean="0">
                <a:solidFill>
                  <a:schemeClr val="tx1"/>
                </a:solidFill>
                <a:effectLst/>
                <a:latin typeface="Times New Roman" pitchFamily="18" charset="0"/>
                <a:ea typeface="宋体" pitchFamily="2" charset="-122"/>
                <a:cs typeface="+mn-cs"/>
              </a:rPr>
              <a:t>（不重合的相似圆）。</a:t>
            </a:r>
          </a:p>
          <a:p>
            <a:r>
              <a:rPr kumimoji="1" lang="en-US" altLang="zh-CN" sz="1200" kern="1200" dirty="0" smtClean="0">
                <a:solidFill>
                  <a:schemeClr val="tx1"/>
                </a:solidFill>
                <a:effectLst/>
                <a:latin typeface="Times New Roman" pitchFamily="18" charset="0"/>
                <a:ea typeface="宋体" pitchFamily="2" charset="-122"/>
                <a:cs typeface="+mn-cs"/>
              </a:rPr>
              <a:t>    </a:t>
            </a:r>
            <a:r>
              <a:rPr kumimoji="1" lang="zh-CN" altLang="zh-CN" sz="1200" kern="1200" dirty="0" smtClean="0">
                <a:solidFill>
                  <a:schemeClr val="tx1"/>
                </a:solidFill>
                <a:effectLst/>
                <a:latin typeface="Times New Roman" pitchFamily="18" charset="0"/>
                <a:ea typeface="宋体" pitchFamily="2" charset="-122"/>
                <a:cs typeface="+mn-cs"/>
              </a:rPr>
              <a:t>从纵的方向看，物质序列和精神序列都遵循因果关系，但是沿着因果关系却趋于无限。因此，人类的认识遇到无法解决的悖论：</a:t>
            </a:r>
          </a:p>
          <a:p>
            <a:r>
              <a:rPr kumimoji="1" lang="en-US" altLang="zh-CN" sz="1200" kern="1200" dirty="0" smtClean="0">
                <a:solidFill>
                  <a:schemeClr val="tx1"/>
                </a:solidFill>
                <a:effectLst/>
                <a:latin typeface="Times New Roman" pitchFamily="18" charset="0"/>
                <a:ea typeface="宋体" pitchFamily="2" charset="-122"/>
                <a:cs typeface="+mn-cs"/>
              </a:rPr>
              <a:t>    1</a:t>
            </a:r>
            <a:r>
              <a:rPr kumimoji="1" lang="zh-CN" altLang="zh-CN" sz="1200" kern="1200" dirty="0" smtClean="0">
                <a:solidFill>
                  <a:schemeClr val="tx1"/>
                </a:solidFill>
                <a:effectLst/>
                <a:latin typeface="Times New Roman" pitchFamily="18" charset="0"/>
                <a:ea typeface="宋体" pitchFamily="2" charset="-122"/>
                <a:cs typeface="+mn-cs"/>
              </a:rPr>
              <a:t>、就并列的横向关系，精神无法突破自身的限制，达不到物质，无法证明自己的认识真伪。</a:t>
            </a:r>
          </a:p>
          <a:p>
            <a:r>
              <a:rPr kumimoji="1" lang="en-US" altLang="zh-CN" sz="1200" kern="1200" dirty="0" smtClean="0">
                <a:solidFill>
                  <a:schemeClr val="tx1"/>
                </a:solidFill>
                <a:effectLst/>
                <a:latin typeface="Times New Roman" pitchFamily="18" charset="0"/>
                <a:ea typeface="宋体" pitchFamily="2" charset="-122"/>
                <a:cs typeface="+mn-cs"/>
              </a:rPr>
              <a:t>    2</a:t>
            </a:r>
            <a:r>
              <a:rPr kumimoji="1" lang="zh-CN" altLang="zh-CN" sz="1200" kern="1200" dirty="0" smtClean="0">
                <a:solidFill>
                  <a:schemeClr val="tx1"/>
                </a:solidFill>
                <a:effectLst/>
                <a:latin typeface="Times New Roman" pitchFamily="18" charset="0"/>
                <a:ea typeface="宋体" pitchFamily="2" charset="-122"/>
                <a:cs typeface="+mn-cs"/>
              </a:rPr>
              <a:t>、从纵的方面，因果关系的推演将趋于无限，无法思考。</a:t>
            </a:r>
          </a:p>
          <a:p>
            <a:r>
              <a:rPr kumimoji="1" lang="en-US" altLang="zh-CN" sz="1200" kern="1200" dirty="0" smtClean="0">
                <a:solidFill>
                  <a:schemeClr val="tx1"/>
                </a:solidFill>
                <a:effectLst/>
                <a:latin typeface="Times New Roman" pitchFamily="18" charset="0"/>
                <a:ea typeface="宋体" pitchFamily="2" charset="-122"/>
                <a:cs typeface="+mn-cs"/>
              </a:rPr>
              <a:t>    </a:t>
            </a:r>
            <a:r>
              <a:rPr kumimoji="1" lang="zh-CN" altLang="zh-CN" sz="1200" kern="1200" dirty="0" smtClean="0">
                <a:solidFill>
                  <a:schemeClr val="tx1"/>
                </a:solidFill>
                <a:effectLst/>
                <a:latin typeface="Times New Roman" pitchFamily="18" charset="0"/>
                <a:ea typeface="宋体" pitchFamily="2" charset="-122"/>
                <a:cs typeface="+mn-cs"/>
              </a:rPr>
              <a:t>如果从序列中任一点开始，那么无论向前向后，对因果关系的最终追究将推到相互关系，而这就是</a:t>
            </a:r>
            <a:r>
              <a:rPr kumimoji="1" lang="zh-CN" altLang="zh-CN" sz="1200" b="1" kern="1200" dirty="0" smtClean="0">
                <a:solidFill>
                  <a:schemeClr val="tx1"/>
                </a:solidFill>
                <a:effectLst/>
                <a:latin typeface="Times New Roman" pitchFamily="18" charset="0"/>
                <a:ea typeface="宋体" pitchFamily="2" charset="-122"/>
                <a:cs typeface="+mn-cs"/>
              </a:rPr>
              <a:t>大数据分析的实质：从假定性的起点开始，是最基本的单位，是物质还是精神是个假定，其证明是无穷过程。</a:t>
            </a:r>
            <a:r>
              <a:rPr kumimoji="1" lang="zh-CN" altLang="zh-CN" sz="1200" kern="1200" dirty="0" smtClean="0">
                <a:solidFill>
                  <a:schemeClr val="tx1"/>
                </a:solidFill>
                <a:effectLst/>
                <a:latin typeface="Times New Roman" pitchFamily="18" charset="0"/>
                <a:ea typeface="宋体" pitchFamily="2" charset="-122"/>
                <a:cs typeface="+mn-cs"/>
              </a:rPr>
              <a:t>可以确认的是一系列物质与精神二元结构的同构关系，更准确地说，就是相互关系的数或结构，或现在说的数据关系。现代科学研究已经发现：宇宙结构法则类似人脑和互联网。</a:t>
            </a:r>
          </a:p>
          <a:p>
            <a:r>
              <a:rPr kumimoji="1" lang="en-US" altLang="zh-CN" sz="1200" kern="1200" dirty="0" smtClean="0">
                <a:solidFill>
                  <a:schemeClr val="tx1"/>
                </a:solidFill>
                <a:effectLst/>
                <a:latin typeface="Times New Roman" pitchFamily="18" charset="0"/>
                <a:ea typeface="宋体" pitchFamily="2" charset="-122"/>
                <a:cs typeface="+mn-cs"/>
              </a:rPr>
              <a:t>    </a:t>
            </a:r>
            <a:r>
              <a:rPr kumimoji="1" lang="zh-CN" altLang="zh-CN" sz="1200" kern="1200" dirty="0" smtClean="0">
                <a:solidFill>
                  <a:schemeClr val="tx1"/>
                </a:solidFill>
                <a:effectLst/>
                <a:latin typeface="Times New Roman" pitchFamily="18" charset="0"/>
                <a:ea typeface="宋体" pitchFamily="2" charset="-122"/>
                <a:cs typeface="+mn-cs"/>
              </a:rPr>
              <a:t>电子计算机与互联网的创造将所有信息全部归结为数据表达形式：统一的数字形式，</a:t>
            </a:r>
            <a:r>
              <a:rPr kumimoji="1" lang="en-US" altLang="zh-CN" sz="1200" kern="1200" dirty="0" smtClean="0">
                <a:solidFill>
                  <a:schemeClr val="tx1"/>
                </a:solidFill>
                <a:effectLst/>
                <a:latin typeface="Times New Roman" pitchFamily="18" charset="0"/>
                <a:ea typeface="宋体" pitchFamily="2" charset="-122"/>
                <a:cs typeface="+mn-cs"/>
              </a:rPr>
              <a:t>0</a:t>
            </a:r>
            <a:r>
              <a:rPr kumimoji="1" lang="zh-CN" altLang="zh-CN" sz="1200" kern="1200" dirty="0" smtClean="0">
                <a:solidFill>
                  <a:schemeClr val="tx1"/>
                </a:solidFill>
                <a:effectLst/>
                <a:latin typeface="Times New Roman" pitchFamily="18" charset="0"/>
                <a:ea typeface="宋体" pitchFamily="2" charset="-122"/>
                <a:cs typeface="+mn-cs"/>
              </a:rPr>
              <a:t>和</a:t>
            </a:r>
            <a:r>
              <a:rPr kumimoji="1" lang="en-US" altLang="zh-CN" sz="1200" kern="1200" dirty="0" smtClean="0">
                <a:solidFill>
                  <a:schemeClr val="tx1"/>
                </a:solidFill>
                <a:effectLst/>
                <a:latin typeface="Times New Roman" pitchFamily="18" charset="0"/>
                <a:ea typeface="宋体" pitchFamily="2" charset="-122"/>
                <a:cs typeface="+mn-cs"/>
              </a:rPr>
              <a:t>1</a:t>
            </a:r>
            <a:r>
              <a:rPr kumimoji="1" lang="zh-CN" altLang="zh-CN" sz="1200" kern="1200" dirty="0" smtClean="0">
                <a:solidFill>
                  <a:schemeClr val="tx1"/>
                </a:solidFill>
                <a:effectLst/>
                <a:latin typeface="Times New Roman" pitchFamily="18" charset="0"/>
                <a:ea typeface="宋体" pitchFamily="2" charset="-122"/>
                <a:cs typeface="+mn-cs"/>
              </a:rPr>
              <a:t>，</a:t>
            </a:r>
            <a:r>
              <a:rPr kumimoji="1" lang="zh-CN" altLang="zh-CN" sz="1200" b="1" kern="1200" dirty="0" smtClean="0">
                <a:solidFill>
                  <a:schemeClr val="tx1"/>
                </a:solidFill>
                <a:effectLst/>
                <a:latin typeface="Times New Roman" pitchFamily="18" charset="0"/>
                <a:ea typeface="宋体" pitchFamily="2" charset="-122"/>
                <a:cs typeface="+mn-cs"/>
              </a:rPr>
              <a:t>只要有了</a:t>
            </a:r>
            <a:r>
              <a:rPr kumimoji="1" lang="en-US" altLang="zh-CN" sz="1200" b="1" kern="1200" dirty="0" smtClean="0">
                <a:solidFill>
                  <a:schemeClr val="tx1"/>
                </a:solidFill>
                <a:effectLst/>
                <a:latin typeface="Times New Roman" pitchFamily="18" charset="0"/>
                <a:ea typeface="宋体" pitchFamily="2" charset="-122"/>
                <a:cs typeface="+mn-cs"/>
              </a:rPr>
              <a:t>0</a:t>
            </a:r>
            <a:r>
              <a:rPr kumimoji="1" lang="zh-CN" altLang="zh-CN" sz="1200" b="1" kern="1200" dirty="0" smtClean="0">
                <a:solidFill>
                  <a:schemeClr val="tx1"/>
                </a:solidFill>
                <a:effectLst/>
                <a:latin typeface="Times New Roman" pitchFamily="18" charset="0"/>
                <a:ea typeface="宋体" pitchFamily="2" charset="-122"/>
                <a:cs typeface="+mn-cs"/>
              </a:rPr>
              <a:t>和</a:t>
            </a:r>
            <a:r>
              <a:rPr kumimoji="1" lang="en-US" altLang="zh-CN" sz="1200" b="1" kern="1200" dirty="0" smtClean="0">
                <a:solidFill>
                  <a:schemeClr val="tx1"/>
                </a:solidFill>
                <a:effectLst/>
                <a:latin typeface="Times New Roman" pitchFamily="18" charset="0"/>
                <a:ea typeface="宋体" pitchFamily="2" charset="-122"/>
                <a:cs typeface="+mn-cs"/>
              </a:rPr>
              <a:t>1</a:t>
            </a:r>
            <a:r>
              <a:rPr kumimoji="1" lang="zh-CN" altLang="zh-CN" sz="1200" b="1" kern="1200" dirty="0" smtClean="0">
                <a:solidFill>
                  <a:schemeClr val="tx1"/>
                </a:solidFill>
                <a:effectLst/>
                <a:latin typeface="Times New Roman" pitchFamily="18" charset="0"/>
                <a:ea typeface="宋体" pitchFamily="2" charset="-122"/>
                <a:cs typeface="+mn-cs"/>
              </a:rPr>
              <a:t>，加上逻辑关系，就可以构成全部世界。</a:t>
            </a:r>
            <a:r>
              <a:rPr kumimoji="1" lang="zh-CN" altLang="zh-CN" sz="1200" kern="1200" dirty="0" smtClean="0">
                <a:solidFill>
                  <a:schemeClr val="tx1"/>
                </a:solidFill>
                <a:effectLst/>
                <a:latin typeface="Times New Roman" pitchFamily="18" charset="0"/>
                <a:ea typeface="宋体" pitchFamily="2" charset="-122"/>
                <a:cs typeface="+mn-cs"/>
              </a:rPr>
              <a:t>而世界本来就是这样构成的，读脑机、脑电波指挥的电脑和智能机器人等发明，已经证明大脑的认知方式与世界事物同构。也就是说，信息载体不同质，但运动轨迹信息是一致的、同步的。</a:t>
            </a:r>
          </a:p>
          <a:p>
            <a:r>
              <a:rPr kumimoji="1" lang="en-US" altLang="zh-CN" sz="1200" kern="1200" dirty="0" smtClean="0">
                <a:solidFill>
                  <a:schemeClr val="tx1"/>
                </a:solidFill>
                <a:effectLst/>
                <a:latin typeface="Times New Roman" pitchFamily="18" charset="0"/>
                <a:ea typeface="宋体" pitchFamily="2" charset="-122"/>
                <a:cs typeface="+mn-cs"/>
              </a:rPr>
              <a:t>    </a:t>
            </a:r>
            <a:r>
              <a:rPr kumimoji="1" lang="zh-CN" altLang="zh-CN" sz="1200" kern="1200" dirty="0" smtClean="0">
                <a:solidFill>
                  <a:schemeClr val="tx1"/>
                </a:solidFill>
                <a:effectLst/>
                <a:latin typeface="Times New Roman" pitchFamily="18" charset="0"/>
                <a:ea typeface="宋体" pitchFamily="2" charset="-122"/>
                <a:cs typeface="+mn-cs"/>
              </a:rPr>
              <a:t>可见，</a:t>
            </a:r>
            <a:r>
              <a:rPr kumimoji="1" lang="zh-CN" altLang="zh-CN" sz="1200" b="1" kern="1200" dirty="0" smtClean="0">
                <a:solidFill>
                  <a:schemeClr val="tx1"/>
                </a:solidFill>
                <a:effectLst/>
                <a:latin typeface="Times New Roman" pitchFamily="18" charset="0"/>
                <a:ea typeface="宋体" pitchFamily="2" charset="-122"/>
                <a:cs typeface="+mn-cs"/>
              </a:rPr>
              <a:t>超越物质与精神的隔阂，数据、信息是可靠的。</a:t>
            </a:r>
            <a:r>
              <a:rPr kumimoji="1" lang="zh-CN" altLang="zh-CN" sz="1200" kern="1200" dirty="0" smtClean="0">
                <a:solidFill>
                  <a:schemeClr val="tx1"/>
                </a:solidFill>
                <a:effectLst/>
                <a:latin typeface="Times New Roman" pitchFamily="18" charset="0"/>
                <a:ea typeface="宋体" pitchFamily="2" charset="-122"/>
                <a:cs typeface="+mn-cs"/>
              </a:rPr>
              <a:t>如果我用我的思想序列运动，指挥物质序列运动，达到预期的目的，这就说明我正确地认识了物质序列的运动。</a:t>
            </a:r>
            <a:r>
              <a:rPr kumimoji="1" lang="en-US" altLang="zh-CN" sz="1200" kern="1200" dirty="0" smtClean="0">
                <a:solidFill>
                  <a:schemeClr val="tx1"/>
                </a:solidFill>
                <a:effectLst/>
                <a:latin typeface="Times New Roman" pitchFamily="18" charset="0"/>
                <a:ea typeface="宋体" pitchFamily="2" charset="-122"/>
                <a:cs typeface="+mn-cs"/>
              </a:rPr>
              <a:t>(</a:t>
            </a:r>
            <a:r>
              <a:rPr kumimoji="1" lang="zh-CN" altLang="zh-CN" sz="1200" kern="1200" dirty="0" smtClean="0">
                <a:solidFill>
                  <a:schemeClr val="tx1"/>
                </a:solidFill>
                <a:effectLst/>
                <a:latin typeface="Times New Roman" pitchFamily="18" charset="0"/>
                <a:ea typeface="宋体" pitchFamily="2" charset="-122"/>
                <a:cs typeface="+mn-cs"/>
              </a:rPr>
              <a:t>李德伟</a:t>
            </a:r>
            <a:r>
              <a:rPr kumimoji="1" lang="en-US" altLang="zh-CN" sz="1200" kern="1200" dirty="0" smtClean="0">
                <a:solidFill>
                  <a:schemeClr val="tx1"/>
                </a:solidFill>
                <a:effectLst/>
                <a:latin typeface="Times New Roman" pitchFamily="18" charset="0"/>
                <a:ea typeface="宋体" pitchFamily="2" charset="-122"/>
                <a:cs typeface="+mn-cs"/>
              </a:rPr>
              <a:t>)</a:t>
            </a:r>
            <a:endParaRPr kumimoji="1" lang="zh-CN" altLang="zh-CN" sz="1200" kern="1200" dirty="0" smtClean="0">
              <a:solidFill>
                <a:schemeClr val="tx1"/>
              </a:solidFill>
              <a:effectLst/>
              <a:latin typeface="Times New Roman" pitchFamily="18" charset="0"/>
              <a:ea typeface="宋体" pitchFamily="2" charset="-122"/>
              <a:cs typeface="+mn-cs"/>
            </a:endParaRPr>
          </a:p>
          <a:p>
            <a:endParaRPr lang="zh-CN" altLang="en-US" dirty="0"/>
          </a:p>
        </p:txBody>
      </p:sp>
      <p:sp>
        <p:nvSpPr>
          <p:cNvPr id="4" name="灯片编号占位符 3"/>
          <p:cNvSpPr>
            <a:spLocks noGrp="1"/>
          </p:cNvSpPr>
          <p:nvPr>
            <p:ph type="sldNum" sz="quarter" idx="10"/>
          </p:nvPr>
        </p:nvSpPr>
        <p:spPr/>
        <p:txBody>
          <a:bodyPr/>
          <a:lstStyle/>
          <a:p>
            <a:pPr>
              <a:defRPr/>
            </a:pPr>
            <a:fld id="{1DBA2871-DC6D-443A-B4CC-1F73A629D13C}" type="slidenum">
              <a:rPr lang="en-US" altLang="zh-CN" smtClean="0"/>
              <a:pPr>
                <a:defRPr/>
              </a:pPr>
              <a:t>27</a:t>
            </a:fld>
            <a:endParaRPr lang="en-US" altLang="zh-CN"/>
          </a:p>
        </p:txBody>
      </p:sp>
    </p:spTree>
    <p:extLst>
      <p:ext uri="{BB962C8B-B14F-4D97-AF65-F5344CB8AC3E}">
        <p14:creationId xmlns:p14="http://schemas.microsoft.com/office/powerpoint/2010/main" val="209754339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smtClean="0"/>
              <a:t>多模态</a:t>
            </a:r>
            <a:endParaRPr lang="en-US" altLang="zh-CN" dirty="0" smtClean="0"/>
          </a:p>
          <a:p>
            <a:r>
              <a:rPr lang="zh-CN" altLang="en-US" dirty="0" smtClean="0"/>
              <a:t>特征工程</a:t>
            </a:r>
            <a:endParaRPr lang="zh-CN" altLang="en-US" dirty="0"/>
          </a:p>
        </p:txBody>
      </p:sp>
      <p:sp>
        <p:nvSpPr>
          <p:cNvPr id="4" name="灯片编号占位符 3"/>
          <p:cNvSpPr>
            <a:spLocks noGrp="1"/>
          </p:cNvSpPr>
          <p:nvPr>
            <p:ph type="sldNum" sz="quarter" idx="10"/>
          </p:nvPr>
        </p:nvSpPr>
        <p:spPr/>
        <p:txBody>
          <a:bodyPr/>
          <a:lstStyle/>
          <a:p>
            <a:pPr>
              <a:defRPr/>
            </a:pPr>
            <a:fld id="{5ED3B4BA-DCD8-4F6D-A0E0-FDE7D729BE48}" type="slidenum">
              <a:rPr lang="en-US" altLang="zh-CN" smtClean="0"/>
              <a:pPr>
                <a:defRPr/>
              </a:pPr>
              <a:t>31</a:t>
            </a:fld>
            <a:endParaRPr lang="en-US" altLang="zh-CN"/>
          </a:p>
        </p:txBody>
      </p:sp>
    </p:spTree>
    <p:extLst>
      <p:ext uri="{BB962C8B-B14F-4D97-AF65-F5344CB8AC3E}">
        <p14:creationId xmlns:p14="http://schemas.microsoft.com/office/powerpoint/2010/main" val="167422505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smtClean="0"/>
              <a:t>智能商务管理：</a:t>
            </a:r>
            <a:r>
              <a:rPr lang="en-US" altLang="zh-CN" dirty="0" smtClean="0"/>
              <a:t>ICIS2012\PACIS\</a:t>
            </a:r>
            <a:r>
              <a:rPr lang="zh-CN" altLang="en-US" dirty="0" smtClean="0"/>
              <a:t>信息系统学报</a:t>
            </a:r>
            <a:endParaRPr lang="en-US" altLang="zh-CN" dirty="0" smtClean="0"/>
          </a:p>
          <a:p>
            <a:r>
              <a:rPr lang="zh-CN" altLang="en-US" dirty="0" smtClean="0"/>
              <a:t>智能信息推荐：</a:t>
            </a:r>
            <a:r>
              <a:rPr lang="en-US" altLang="zh-CN" dirty="0" smtClean="0"/>
              <a:t>TKDD2022\INS2022\</a:t>
            </a:r>
          </a:p>
          <a:p>
            <a:r>
              <a:rPr lang="zh-CN" altLang="en-US" dirty="0" smtClean="0"/>
              <a:t>群体行为决策：</a:t>
            </a:r>
            <a:r>
              <a:rPr lang="en-US" altLang="zh-CN" dirty="0" smtClean="0"/>
              <a:t>DS2020\DSS2023\PR2022\INS2022\</a:t>
            </a:r>
            <a:r>
              <a:rPr lang="zh-CN" altLang="en-US" dirty="0" smtClean="0"/>
              <a:t>系统工程</a:t>
            </a:r>
            <a:endParaRPr lang="en-US" altLang="zh-CN" dirty="0" smtClean="0"/>
          </a:p>
          <a:p>
            <a:r>
              <a:rPr lang="zh-CN" altLang="en-US" dirty="0" smtClean="0"/>
              <a:t>智慧社会治理：</a:t>
            </a:r>
            <a:r>
              <a:rPr lang="en-US" altLang="zh-CN" dirty="0" smtClean="0"/>
              <a:t>I&amp;M\</a:t>
            </a:r>
            <a:r>
              <a:rPr lang="zh-CN" altLang="en-US" dirty="0" smtClean="0"/>
              <a:t>计算机学报</a:t>
            </a:r>
            <a:endParaRPr lang="zh-CN" altLang="en-US" dirty="0"/>
          </a:p>
        </p:txBody>
      </p:sp>
      <p:sp>
        <p:nvSpPr>
          <p:cNvPr id="4" name="灯片编号占位符 3"/>
          <p:cNvSpPr>
            <a:spLocks noGrp="1"/>
          </p:cNvSpPr>
          <p:nvPr>
            <p:ph type="sldNum" sz="quarter" idx="10"/>
          </p:nvPr>
        </p:nvSpPr>
        <p:spPr/>
        <p:txBody>
          <a:bodyPr/>
          <a:lstStyle/>
          <a:p>
            <a:pPr>
              <a:defRPr/>
            </a:pPr>
            <a:fld id="{5ED3B4BA-DCD8-4F6D-A0E0-FDE7D729BE48}" type="slidenum">
              <a:rPr lang="en-US" altLang="zh-CN" smtClean="0"/>
              <a:pPr>
                <a:defRPr/>
              </a:pPr>
              <a:t>32</a:t>
            </a:fld>
            <a:endParaRPr lang="en-US" altLang="zh-CN"/>
          </a:p>
        </p:txBody>
      </p:sp>
    </p:spTree>
    <p:extLst>
      <p:ext uri="{BB962C8B-B14F-4D97-AF65-F5344CB8AC3E}">
        <p14:creationId xmlns:p14="http://schemas.microsoft.com/office/powerpoint/2010/main" val="405660475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yu标题和内容">
    <p:spTree>
      <p:nvGrpSpPr>
        <p:cNvPr id="1" name=""/>
        <p:cNvGrpSpPr/>
        <p:nvPr/>
      </p:nvGrpSpPr>
      <p:grpSpPr>
        <a:xfrm>
          <a:off x="0" y="0"/>
          <a:ext cx="0" cy="0"/>
          <a:chOff x="0" y="0"/>
          <a:chExt cx="0" cy="0"/>
        </a:xfrm>
      </p:grpSpPr>
      <p:sp>
        <p:nvSpPr>
          <p:cNvPr id="3" name="内容占位符 2"/>
          <p:cNvSpPr>
            <a:spLocks noGrp="1"/>
          </p:cNvSpPr>
          <p:nvPr>
            <p:ph idx="1"/>
          </p:nvPr>
        </p:nvSpPr>
        <p:spPr>
          <a:xfrm>
            <a:off x="277646" y="1085555"/>
            <a:ext cx="8627897" cy="5403216"/>
          </a:xfrm>
          <a:prstGeom prst="rect">
            <a:avLst/>
          </a:prstGeom>
        </p:spPr>
        <p:txBody>
          <a:bodyPr/>
          <a:lstStyle>
            <a:lvl1pPr>
              <a:lnSpc>
                <a:spcPct val="150000"/>
              </a:lnSpc>
              <a:spcBef>
                <a:spcPts val="0"/>
              </a:spcBef>
              <a:defRPr sz="2200" b="0">
                <a:latin typeface="微软雅黑" panose="020B0503020204020204" pitchFamily="34" charset="-122"/>
                <a:ea typeface="微软雅黑" panose="020B0503020204020204" pitchFamily="34" charset="-122"/>
              </a:defRPr>
            </a:lvl1pPr>
            <a:lvl2pPr>
              <a:lnSpc>
                <a:spcPct val="150000"/>
              </a:lnSpc>
              <a:spcBef>
                <a:spcPts val="0"/>
              </a:spcBef>
              <a:defRPr b="0">
                <a:latin typeface="微软雅黑" panose="020B0503020204020204" pitchFamily="34" charset="-122"/>
                <a:ea typeface="微软雅黑" panose="020B0503020204020204" pitchFamily="34" charset="-122"/>
              </a:defRPr>
            </a:lvl2pPr>
            <a:lvl3pPr>
              <a:lnSpc>
                <a:spcPct val="150000"/>
              </a:lnSpc>
              <a:spcBef>
                <a:spcPts val="0"/>
              </a:spcBef>
              <a:defRPr b="0">
                <a:latin typeface="微软雅黑" panose="020B0503020204020204" pitchFamily="34" charset="-122"/>
                <a:ea typeface="微软雅黑" panose="020B0503020204020204" pitchFamily="34" charset="-122"/>
              </a:defRPr>
            </a:lvl3pPr>
            <a:lvl4pPr>
              <a:lnSpc>
                <a:spcPct val="150000"/>
              </a:lnSpc>
              <a:spcBef>
                <a:spcPts val="0"/>
              </a:spcBef>
              <a:defRPr b="0">
                <a:latin typeface="微软雅黑" panose="020B0503020204020204" pitchFamily="34" charset="-122"/>
                <a:ea typeface="微软雅黑" panose="020B0503020204020204" pitchFamily="34" charset="-122"/>
              </a:defRPr>
            </a:lvl4pPr>
            <a:lvl5pPr>
              <a:lnSpc>
                <a:spcPct val="150000"/>
              </a:lnSpc>
              <a:spcBef>
                <a:spcPts val="0"/>
              </a:spcBef>
              <a:defRPr b="0">
                <a:latin typeface="微软雅黑" panose="020B0503020204020204" pitchFamily="34" charset="-122"/>
                <a:ea typeface="微软雅黑" panose="020B0503020204020204" pitchFamily="34" charset="-122"/>
              </a:defRPr>
            </a:lvl5pPr>
          </a:lstStyle>
          <a:p>
            <a:pPr lvl="0"/>
            <a:r>
              <a:rPr lang="zh-CN" altLang="en-US" smtClean="0"/>
              <a:t>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dirty="0"/>
          </a:p>
        </p:txBody>
      </p:sp>
      <p:sp>
        <p:nvSpPr>
          <p:cNvPr id="2" name="标题 1"/>
          <p:cNvSpPr>
            <a:spLocks noGrp="1"/>
          </p:cNvSpPr>
          <p:nvPr>
            <p:ph type="title"/>
          </p:nvPr>
        </p:nvSpPr>
        <p:spPr>
          <a:xfrm>
            <a:off x="0" y="77443"/>
            <a:ext cx="9144000" cy="936104"/>
          </a:xfrm>
          <a:prstGeom prst="rect">
            <a:avLst/>
          </a:prstGeom>
        </p:spPr>
        <p:txBody>
          <a:bodyPr/>
          <a:lstStyle>
            <a:lvl1pPr>
              <a:lnSpc>
                <a:spcPct val="150000"/>
              </a:lnSpc>
              <a:defRPr sz="3200" b="0">
                <a:effectLst/>
                <a:latin typeface="微软雅黑" panose="020B0503020204020204" pitchFamily="34" charset="-122"/>
                <a:ea typeface="微软雅黑" panose="020B0503020204020204" pitchFamily="34" charset="-122"/>
              </a:defRPr>
            </a:lvl1pPr>
          </a:lstStyle>
          <a:p>
            <a:r>
              <a:rPr lang="zh-CN" altLang="en-US" dirty="0" smtClean="0"/>
              <a:t>单击此处编辑母版标题样式</a:t>
            </a:r>
            <a:endParaRPr lang="zh-CN" altLang="en-US" dirty="0"/>
          </a:p>
        </p:txBody>
      </p:sp>
    </p:spTree>
    <p:extLst>
      <p:ext uri="{BB962C8B-B14F-4D97-AF65-F5344CB8AC3E}">
        <p14:creationId xmlns:p14="http://schemas.microsoft.com/office/powerpoint/2010/main" val="3576459721"/>
      </p:ext>
    </p:extLst>
  </p:cSld>
  <p:clrMapOvr>
    <a:masterClrMapping/>
  </p:clrMapOvr>
  <p:transition spd="slow">
    <p:circle/>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yu_仅标题">
    <p:spTree>
      <p:nvGrpSpPr>
        <p:cNvPr id="1" name=""/>
        <p:cNvGrpSpPr/>
        <p:nvPr/>
      </p:nvGrpSpPr>
      <p:grpSpPr>
        <a:xfrm>
          <a:off x="0" y="0"/>
          <a:ext cx="0" cy="0"/>
          <a:chOff x="0" y="0"/>
          <a:chExt cx="0" cy="0"/>
        </a:xfrm>
      </p:grpSpPr>
      <p:sp>
        <p:nvSpPr>
          <p:cNvPr id="3" name="标题 1"/>
          <p:cNvSpPr>
            <a:spLocks noGrp="1"/>
          </p:cNvSpPr>
          <p:nvPr>
            <p:ph type="title"/>
          </p:nvPr>
        </p:nvSpPr>
        <p:spPr>
          <a:xfrm>
            <a:off x="0" y="77443"/>
            <a:ext cx="9144000" cy="936104"/>
          </a:xfrm>
          <a:prstGeom prst="rect">
            <a:avLst/>
          </a:prstGeom>
        </p:spPr>
        <p:txBody>
          <a:bodyPr/>
          <a:lstStyle>
            <a:lvl1pPr>
              <a:lnSpc>
                <a:spcPct val="150000"/>
              </a:lnSpc>
              <a:defRPr sz="3200" b="0">
                <a:effectLst/>
                <a:latin typeface="微软雅黑" panose="020B0503020204020204" pitchFamily="34" charset="-122"/>
                <a:ea typeface="微软雅黑" panose="020B0503020204020204" pitchFamily="34" charset="-122"/>
              </a:defRPr>
            </a:lvl1pPr>
          </a:lstStyle>
          <a:p>
            <a:r>
              <a:rPr lang="zh-CN" altLang="en-US" smtClean="0"/>
              <a:t>单击此处编辑母版标题样式</a:t>
            </a:r>
            <a:endParaRPr lang="zh-CN" altLang="en-US" dirty="0"/>
          </a:p>
        </p:txBody>
      </p:sp>
    </p:spTree>
    <p:extLst>
      <p:ext uri="{BB962C8B-B14F-4D97-AF65-F5344CB8AC3E}">
        <p14:creationId xmlns:p14="http://schemas.microsoft.com/office/powerpoint/2010/main" val="3576911087"/>
      </p:ext>
    </p:extLst>
  </p:cSld>
  <p:clrMapOvr>
    <a:masterClrMapping/>
  </p:clrMapOvr>
  <p:transition spd="slow">
    <p:circle/>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yu_全无">
    <p:spTree>
      <p:nvGrpSpPr>
        <p:cNvPr id="1" name=""/>
        <p:cNvGrpSpPr/>
        <p:nvPr/>
      </p:nvGrpSpPr>
      <p:grpSpPr>
        <a:xfrm>
          <a:off x="0" y="0"/>
          <a:ext cx="0" cy="0"/>
          <a:chOff x="0" y="0"/>
          <a:chExt cx="0" cy="0"/>
        </a:xfrm>
      </p:grpSpPr>
      <p:sp>
        <p:nvSpPr>
          <p:cNvPr id="3" name="矩形 3"/>
          <p:cNvSpPr>
            <a:spLocks noChangeArrowheads="1"/>
          </p:cNvSpPr>
          <p:nvPr/>
        </p:nvSpPr>
        <p:spPr bwMode="auto">
          <a:xfrm>
            <a:off x="4010025" y="3252788"/>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000" b="1">
                <a:solidFill>
                  <a:schemeClr val="tx1"/>
                </a:solidFill>
                <a:latin typeface="Arial" panose="020B0604020202020204" pitchFamily="34" charset="0"/>
                <a:ea typeface="楷体_GB2312" pitchFamily="49" charset="-122"/>
              </a:defRPr>
            </a:lvl1pPr>
            <a:lvl2pPr marL="742950" indent="-285750" eaLnBrk="0" hangingPunct="0">
              <a:defRPr sz="2000" b="1">
                <a:solidFill>
                  <a:schemeClr val="tx1"/>
                </a:solidFill>
                <a:latin typeface="Arial" panose="020B0604020202020204" pitchFamily="34" charset="0"/>
                <a:ea typeface="楷体_GB2312" pitchFamily="49" charset="-122"/>
              </a:defRPr>
            </a:lvl2pPr>
            <a:lvl3pPr marL="1143000" indent="-228600" eaLnBrk="0" hangingPunct="0">
              <a:defRPr sz="2000" b="1">
                <a:solidFill>
                  <a:schemeClr val="tx1"/>
                </a:solidFill>
                <a:latin typeface="Arial" panose="020B0604020202020204" pitchFamily="34" charset="0"/>
                <a:ea typeface="楷体_GB2312" pitchFamily="49" charset="-122"/>
              </a:defRPr>
            </a:lvl3pPr>
            <a:lvl4pPr marL="1600200" indent="-228600" eaLnBrk="0" hangingPunct="0">
              <a:defRPr sz="2000" b="1">
                <a:solidFill>
                  <a:schemeClr val="tx1"/>
                </a:solidFill>
                <a:latin typeface="Arial" panose="020B0604020202020204" pitchFamily="34" charset="0"/>
                <a:ea typeface="楷体_GB2312" pitchFamily="49" charset="-122"/>
              </a:defRPr>
            </a:lvl4pPr>
            <a:lvl5pPr marL="2057400" indent="-228600" eaLnBrk="0" hangingPunct="0">
              <a:defRPr sz="2000" b="1">
                <a:solidFill>
                  <a:schemeClr val="tx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000" b="1">
                <a:solidFill>
                  <a:schemeClr val="tx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000" b="1">
                <a:solidFill>
                  <a:schemeClr val="tx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000" b="1">
                <a:solidFill>
                  <a:schemeClr val="tx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000" b="1">
                <a:solidFill>
                  <a:schemeClr val="tx1"/>
                </a:solidFill>
                <a:latin typeface="Arial" panose="020B0604020202020204" pitchFamily="34" charset="0"/>
                <a:ea typeface="楷体_GB2312" pitchFamily="49" charset="-122"/>
              </a:defRPr>
            </a:lvl9pPr>
          </a:lstStyle>
          <a:p>
            <a:pPr algn="r" eaLnBrk="1" hangingPunct="1">
              <a:defRPr/>
            </a:pPr>
            <a:endParaRPr lang="zh-CN" altLang="en-US" smtClean="0"/>
          </a:p>
        </p:txBody>
      </p:sp>
      <p:sp>
        <p:nvSpPr>
          <p:cNvPr id="4" name="矩形 4"/>
          <p:cNvSpPr>
            <a:spLocks noChangeArrowheads="1"/>
          </p:cNvSpPr>
          <p:nvPr/>
        </p:nvSpPr>
        <p:spPr bwMode="auto">
          <a:xfrm>
            <a:off x="4010025" y="3252788"/>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000" b="1">
                <a:solidFill>
                  <a:schemeClr val="tx1"/>
                </a:solidFill>
                <a:latin typeface="Arial" panose="020B0604020202020204" pitchFamily="34" charset="0"/>
                <a:ea typeface="楷体_GB2312" pitchFamily="49" charset="-122"/>
              </a:defRPr>
            </a:lvl1pPr>
            <a:lvl2pPr marL="742950" indent="-285750" eaLnBrk="0" hangingPunct="0">
              <a:defRPr sz="2000" b="1">
                <a:solidFill>
                  <a:schemeClr val="tx1"/>
                </a:solidFill>
                <a:latin typeface="Arial" panose="020B0604020202020204" pitchFamily="34" charset="0"/>
                <a:ea typeface="楷体_GB2312" pitchFamily="49" charset="-122"/>
              </a:defRPr>
            </a:lvl2pPr>
            <a:lvl3pPr marL="1143000" indent="-228600" eaLnBrk="0" hangingPunct="0">
              <a:defRPr sz="2000" b="1">
                <a:solidFill>
                  <a:schemeClr val="tx1"/>
                </a:solidFill>
                <a:latin typeface="Arial" panose="020B0604020202020204" pitchFamily="34" charset="0"/>
                <a:ea typeface="楷体_GB2312" pitchFamily="49" charset="-122"/>
              </a:defRPr>
            </a:lvl3pPr>
            <a:lvl4pPr marL="1600200" indent="-228600" eaLnBrk="0" hangingPunct="0">
              <a:defRPr sz="2000" b="1">
                <a:solidFill>
                  <a:schemeClr val="tx1"/>
                </a:solidFill>
                <a:latin typeface="Arial" panose="020B0604020202020204" pitchFamily="34" charset="0"/>
                <a:ea typeface="楷体_GB2312" pitchFamily="49" charset="-122"/>
              </a:defRPr>
            </a:lvl4pPr>
            <a:lvl5pPr marL="2057400" indent="-228600" eaLnBrk="0" hangingPunct="0">
              <a:defRPr sz="2000" b="1">
                <a:solidFill>
                  <a:schemeClr val="tx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000" b="1">
                <a:solidFill>
                  <a:schemeClr val="tx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000" b="1">
                <a:solidFill>
                  <a:schemeClr val="tx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000" b="1">
                <a:solidFill>
                  <a:schemeClr val="tx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000" b="1">
                <a:solidFill>
                  <a:schemeClr val="tx1"/>
                </a:solidFill>
                <a:latin typeface="Arial" panose="020B0604020202020204" pitchFamily="34" charset="0"/>
                <a:ea typeface="楷体_GB2312" pitchFamily="49" charset="-122"/>
              </a:defRPr>
            </a:lvl9pPr>
          </a:lstStyle>
          <a:p>
            <a:pPr algn="r" eaLnBrk="1" hangingPunct="1">
              <a:defRPr/>
            </a:pPr>
            <a:endParaRPr lang="zh-CN" altLang="en-US" smtClean="0"/>
          </a:p>
        </p:txBody>
      </p:sp>
      <p:sp>
        <p:nvSpPr>
          <p:cNvPr id="5" name="矩形 5"/>
          <p:cNvSpPr>
            <a:spLocks noChangeArrowheads="1"/>
          </p:cNvSpPr>
          <p:nvPr/>
        </p:nvSpPr>
        <p:spPr bwMode="auto">
          <a:xfrm>
            <a:off x="4010025" y="3252788"/>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000" b="1">
                <a:solidFill>
                  <a:schemeClr val="tx1"/>
                </a:solidFill>
                <a:latin typeface="Arial" panose="020B0604020202020204" pitchFamily="34" charset="0"/>
                <a:ea typeface="楷体_GB2312" pitchFamily="49" charset="-122"/>
              </a:defRPr>
            </a:lvl1pPr>
            <a:lvl2pPr marL="742950" indent="-285750" eaLnBrk="0" hangingPunct="0">
              <a:defRPr sz="2000" b="1">
                <a:solidFill>
                  <a:schemeClr val="tx1"/>
                </a:solidFill>
                <a:latin typeface="Arial" panose="020B0604020202020204" pitchFamily="34" charset="0"/>
                <a:ea typeface="楷体_GB2312" pitchFamily="49" charset="-122"/>
              </a:defRPr>
            </a:lvl2pPr>
            <a:lvl3pPr marL="1143000" indent="-228600" eaLnBrk="0" hangingPunct="0">
              <a:defRPr sz="2000" b="1">
                <a:solidFill>
                  <a:schemeClr val="tx1"/>
                </a:solidFill>
                <a:latin typeface="Arial" panose="020B0604020202020204" pitchFamily="34" charset="0"/>
                <a:ea typeface="楷体_GB2312" pitchFamily="49" charset="-122"/>
              </a:defRPr>
            </a:lvl3pPr>
            <a:lvl4pPr marL="1600200" indent="-228600" eaLnBrk="0" hangingPunct="0">
              <a:defRPr sz="2000" b="1">
                <a:solidFill>
                  <a:schemeClr val="tx1"/>
                </a:solidFill>
                <a:latin typeface="Arial" panose="020B0604020202020204" pitchFamily="34" charset="0"/>
                <a:ea typeface="楷体_GB2312" pitchFamily="49" charset="-122"/>
              </a:defRPr>
            </a:lvl4pPr>
            <a:lvl5pPr marL="2057400" indent="-228600" eaLnBrk="0" hangingPunct="0">
              <a:defRPr sz="2000" b="1">
                <a:solidFill>
                  <a:schemeClr val="tx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000" b="1">
                <a:solidFill>
                  <a:schemeClr val="tx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000" b="1">
                <a:solidFill>
                  <a:schemeClr val="tx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000" b="1">
                <a:solidFill>
                  <a:schemeClr val="tx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000" b="1">
                <a:solidFill>
                  <a:schemeClr val="tx1"/>
                </a:solidFill>
                <a:latin typeface="Arial" panose="020B0604020202020204" pitchFamily="34" charset="0"/>
                <a:ea typeface="楷体_GB2312" pitchFamily="49" charset="-122"/>
              </a:defRPr>
            </a:lvl9pPr>
          </a:lstStyle>
          <a:p>
            <a:pPr algn="r" eaLnBrk="1" hangingPunct="1">
              <a:defRPr/>
            </a:pPr>
            <a:endParaRPr lang="zh-CN" altLang="en-US" smtClean="0"/>
          </a:p>
        </p:txBody>
      </p:sp>
      <p:sp>
        <p:nvSpPr>
          <p:cNvPr id="6" name="矩形 6"/>
          <p:cNvSpPr>
            <a:spLocks noChangeArrowheads="1"/>
          </p:cNvSpPr>
          <p:nvPr userDrawn="1"/>
        </p:nvSpPr>
        <p:spPr bwMode="auto">
          <a:xfrm>
            <a:off x="4010025" y="3252788"/>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000" b="1">
                <a:solidFill>
                  <a:schemeClr val="tx1"/>
                </a:solidFill>
                <a:latin typeface="Arial" panose="020B0604020202020204" pitchFamily="34" charset="0"/>
                <a:ea typeface="楷体_GB2312" pitchFamily="49" charset="-122"/>
              </a:defRPr>
            </a:lvl1pPr>
            <a:lvl2pPr marL="742950" indent="-285750" eaLnBrk="0" hangingPunct="0">
              <a:defRPr sz="2000" b="1">
                <a:solidFill>
                  <a:schemeClr val="tx1"/>
                </a:solidFill>
                <a:latin typeface="Arial" panose="020B0604020202020204" pitchFamily="34" charset="0"/>
                <a:ea typeface="楷体_GB2312" pitchFamily="49" charset="-122"/>
              </a:defRPr>
            </a:lvl2pPr>
            <a:lvl3pPr marL="1143000" indent="-228600" eaLnBrk="0" hangingPunct="0">
              <a:defRPr sz="2000" b="1">
                <a:solidFill>
                  <a:schemeClr val="tx1"/>
                </a:solidFill>
                <a:latin typeface="Arial" panose="020B0604020202020204" pitchFamily="34" charset="0"/>
                <a:ea typeface="楷体_GB2312" pitchFamily="49" charset="-122"/>
              </a:defRPr>
            </a:lvl3pPr>
            <a:lvl4pPr marL="1600200" indent="-228600" eaLnBrk="0" hangingPunct="0">
              <a:defRPr sz="2000" b="1">
                <a:solidFill>
                  <a:schemeClr val="tx1"/>
                </a:solidFill>
                <a:latin typeface="Arial" panose="020B0604020202020204" pitchFamily="34" charset="0"/>
                <a:ea typeface="楷体_GB2312" pitchFamily="49" charset="-122"/>
              </a:defRPr>
            </a:lvl4pPr>
            <a:lvl5pPr marL="2057400" indent="-228600" eaLnBrk="0" hangingPunct="0">
              <a:defRPr sz="2000" b="1">
                <a:solidFill>
                  <a:schemeClr val="tx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000" b="1">
                <a:solidFill>
                  <a:schemeClr val="tx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000" b="1">
                <a:solidFill>
                  <a:schemeClr val="tx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000" b="1">
                <a:solidFill>
                  <a:schemeClr val="tx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000" b="1">
                <a:solidFill>
                  <a:schemeClr val="tx1"/>
                </a:solidFill>
                <a:latin typeface="Arial" panose="020B0604020202020204" pitchFamily="34" charset="0"/>
                <a:ea typeface="楷体_GB2312" pitchFamily="49" charset="-122"/>
              </a:defRPr>
            </a:lvl9pPr>
          </a:lstStyle>
          <a:p>
            <a:pPr algn="r" eaLnBrk="1" hangingPunct="1">
              <a:defRPr/>
            </a:pPr>
            <a:endParaRPr lang="zh-CN" altLang="en-US" smtClean="0"/>
          </a:p>
        </p:txBody>
      </p:sp>
      <p:sp>
        <p:nvSpPr>
          <p:cNvPr id="7" name="矩形 14"/>
          <p:cNvSpPr txBox="1">
            <a:spLocks noChangeArrowheads="1"/>
          </p:cNvSpPr>
          <p:nvPr userDrawn="1"/>
        </p:nvSpPr>
        <p:spPr bwMode="auto">
          <a:xfrm>
            <a:off x="7010400" y="6434062"/>
            <a:ext cx="2133600" cy="406400"/>
          </a:xfrm>
          <a:prstGeom prst="rect">
            <a:avLst/>
          </a:prstGeom>
          <a:noFill/>
          <a:ln>
            <a:noFill/>
          </a:ln>
          <a:effectLst/>
          <a:extLst/>
        </p:spPr>
        <p:txBody>
          <a:bodyPr vert="horz" wrap="square" lIns="91440" tIns="45720" rIns="91440" bIns="45720" numCol="1" anchor="t" anchorCtr="0" compatLnSpc="1">
            <a:prstTxWarp prst="textNoShape">
              <a:avLst/>
            </a:prstTxWarp>
          </a:bodyPr>
          <a:lstStyle>
            <a:defPPr>
              <a:defRPr lang="zh-CN"/>
            </a:defPPr>
            <a:lvl1pPr algn="r" rtl="0" eaLnBrk="1" fontAlgn="base" hangingPunct="1">
              <a:spcBef>
                <a:spcPct val="0"/>
              </a:spcBef>
              <a:spcAft>
                <a:spcPct val="0"/>
              </a:spcAft>
              <a:defRPr sz="2400" b="1" kern="1200">
                <a:solidFill>
                  <a:srgbClr val="FC3A4C"/>
                </a:solidFill>
                <a:latin typeface="Book Antiqua" panose="02040602050305030304" pitchFamily="18" charset="0"/>
                <a:ea typeface="宋体" panose="02010600030101010101" pitchFamily="2" charset="-122"/>
                <a:cs typeface="+mn-cs"/>
              </a:defRPr>
            </a:lvl1pPr>
            <a:lvl2pPr marL="457200" algn="l" rtl="0" eaLnBrk="0" fontAlgn="base" hangingPunct="0">
              <a:spcBef>
                <a:spcPct val="0"/>
              </a:spcBef>
              <a:spcAft>
                <a:spcPct val="0"/>
              </a:spcAft>
              <a:defRPr sz="2000" b="1" kern="1200">
                <a:solidFill>
                  <a:schemeClr val="tx1"/>
                </a:solidFill>
                <a:latin typeface="Arial" panose="020B0604020202020204" pitchFamily="34" charset="0"/>
                <a:ea typeface="楷体_GB2312" pitchFamily="49" charset="-122"/>
                <a:cs typeface="+mn-cs"/>
              </a:defRPr>
            </a:lvl2pPr>
            <a:lvl3pPr marL="914400" algn="l" rtl="0" eaLnBrk="0" fontAlgn="base" hangingPunct="0">
              <a:spcBef>
                <a:spcPct val="0"/>
              </a:spcBef>
              <a:spcAft>
                <a:spcPct val="0"/>
              </a:spcAft>
              <a:defRPr sz="2000" b="1" kern="1200">
                <a:solidFill>
                  <a:schemeClr val="tx1"/>
                </a:solidFill>
                <a:latin typeface="Arial" panose="020B0604020202020204" pitchFamily="34" charset="0"/>
                <a:ea typeface="楷体_GB2312" pitchFamily="49" charset="-122"/>
                <a:cs typeface="+mn-cs"/>
              </a:defRPr>
            </a:lvl3pPr>
            <a:lvl4pPr marL="1371600" algn="l" rtl="0" eaLnBrk="0" fontAlgn="base" hangingPunct="0">
              <a:spcBef>
                <a:spcPct val="0"/>
              </a:spcBef>
              <a:spcAft>
                <a:spcPct val="0"/>
              </a:spcAft>
              <a:defRPr sz="2000" b="1" kern="1200">
                <a:solidFill>
                  <a:schemeClr val="tx1"/>
                </a:solidFill>
                <a:latin typeface="Arial" panose="020B0604020202020204" pitchFamily="34" charset="0"/>
                <a:ea typeface="楷体_GB2312" pitchFamily="49" charset="-122"/>
                <a:cs typeface="+mn-cs"/>
              </a:defRPr>
            </a:lvl4pPr>
            <a:lvl5pPr marL="1828800" algn="l" rtl="0" eaLnBrk="0" fontAlgn="base" hangingPunct="0">
              <a:spcBef>
                <a:spcPct val="0"/>
              </a:spcBef>
              <a:spcAft>
                <a:spcPct val="0"/>
              </a:spcAft>
              <a:defRPr sz="2000" b="1" kern="1200">
                <a:solidFill>
                  <a:schemeClr val="tx1"/>
                </a:solidFill>
                <a:latin typeface="Arial" panose="020B0604020202020204" pitchFamily="34" charset="0"/>
                <a:ea typeface="楷体_GB2312" pitchFamily="49" charset="-122"/>
                <a:cs typeface="+mn-cs"/>
              </a:defRPr>
            </a:lvl5pPr>
            <a:lvl6pPr marL="2286000" algn="l" defTabSz="914400" rtl="0" eaLnBrk="1" latinLnBrk="0" hangingPunct="1">
              <a:defRPr sz="2000" b="1" kern="1200">
                <a:solidFill>
                  <a:schemeClr val="tx1"/>
                </a:solidFill>
                <a:latin typeface="Arial" panose="020B0604020202020204" pitchFamily="34" charset="0"/>
                <a:ea typeface="楷体_GB2312" pitchFamily="49" charset="-122"/>
                <a:cs typeface="+mn-cs"/>
              </a:defRPr>
            </a:lvl6pPr>
            <a:lvl7pPr marL="2743200" algn="l" defTabSz="914400" rtl="0" eaLnBrk="1" latinLnBrk="0" hangingPunct="1">
              <a:defRPr sz="2000" b="1" kern="1200">
                <a:solidFill>
                  <a:schemeClr val="tx1"/>
                </a:solidFill>
                <a:latin typeface="Arial" panose="020B0604020202020204" pitchFamily="34" charset="0"/>
                <a:ea typeface="楷体_GB2312" pitchFamily="49" charset="-122"/>
                <a:cs typeface="+mn-cs"/>
              </a:defRPr>
            </a:lvl7pPr>
            <a:lvl8pPr marL="3200400" algn="l" defTabSz="914400" rtl="0" eaLnBrk="1" latinLnBrk="0" hangingPunct="1">
              <a:defRPr sz="2000" b="1" kern="1200">
                <a:solidFill>
                  <a:schemeClr val="tx1"/>
                </a:solidFill>
                <a:latin typeface="Arial" panose="020B0604020202020204" pitchFamily="34" charset="0"/>
                <a:ea typeface="楷体_GB2312" pitchFamily="49" charset="-122"/>
                <a:cs typeface="+mn-cs"/>
              </a:defRPr>
            </a:lvl8pPr>
            <a:lvl9pPr marL="3657600" algn="l" defTabSz="914400" rtl="0" eaLnBrk="1" latinLnBrk="0" hangingPunct="1">
              <a:defRPr sz="2000" b="1" kern="1200">
                <a:solidFill>
                  <a:schemeClr val="tx1"/>
                </a:solidFill>
                <a:latin typeface="Arial" panose="020B0604020202020204" pitchFamily="34" charset="0"/>
                <a:ea typeface="楷体_GB2312" pitchFamily="49" charset="-122"/>
                <a:cs typeface="+mn-cs"/>
              </a:defRPr>
            </a:lvl9pPr>
          </a:lstStyle>
          <a:p>
            <a:pPr>
              <a:defRPr/>
            </a:pPr>
            <a:fld id="{AA8CF565-2697-4D8A-9440-517CC2056E4B}" type="slidenum">
              <a:rPr lang="en-US" altLang="zh-CN" smtClean="0"/>
              <a:pPr>
                <a:defRPr/>
              </a:pPr>
              <a:t>‹#›</a:t>
            </a:fld>
            <a:endParaRPr lang="en-US" altLang="zh-CN" dirty="0"/>
          </a:p>
        </p:txBody>
      </p:sp>
    </p:spTree>
    <p:extLst>
      <p:ext uri="{BB962C8B-B14F-4D97-AF65-F5344CB8AC3E}">
        <p14:creationId xmlns:p14="http://schemas.microsoft.com/office/powerpoint/2010/main" val="3724900786"/>
      </p:ext>
    </p:extLst>
  </p:cSld>
  <p:clrMapOvr>
    <a:masterClrMapping/>
  </p:clrMapOvr>
  <p:transition spd="slow">
    <p:circle/>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userDrawn="1">
  <p:cSld name="yu_封面">
    <p:spTree>
      <p:nvGrpSpPr>
        <p:cNvPr id="1" name=""/>
        <p:cNvGrpSpPr/>
        <p:nvPr/>
      </p:nvGrpSpPr>
      <p:grpSpPr>
        <a:xfrm>
          <a:off x="0" y="0"/>
          <a:ext cx="0" cy="0"/>
          <a:chOff x="0" y="0"/>
          <a:chExt cx="0" cy="0"/>
        </a:xfrm>
      </p:grpSpPr>
      <p:sp>
        <p:nvSpPr>
          <p:cNvPr id="3" name="矩形 3"/>
          <p:cNvSpPr>
            <a:spLocks noChangeArrowheads="1"/>
          </p:cNvSpPr>
          <p:nvPr/>
        </p:nvSpPr>
        <p:spPr bwMode="auto">
          <a:xfrm>
            <a:off x="4010025" y="3252788"/>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000" b="1">
                <a:solidFill>
                  <a:schemeClr val="tx1"/>
                </a:solidFill>
                <a:latin typeface="Arial" panose="020B0604020202020204" pitchFamily="34" charset="0"/>
                <a:ea typeface="楷体_GB2312" pitchFamily="49" charset="-122"/>
              </a:defRPr>
            </a:lvl1pPr>
            <a:lvl2pPr marL="742950" indent="-285750" eaLnBrk="0" hangingPunct="0">
              <a:defRPr sz="2000" b="1">
                <a:solidFill>
                  <a:schemeClr val="tx1"/>
                </a:solidFill>
                <a:latin typeface="Arial" panose="020B0604020202020204" pitchFamily="34" charset="0"/>
                <a:ea typeface="楷体_GB2312" pitchFamily="49" charset="-122"/>
              </a:defRPr>
            </a:lvl2pPr>
            <a:lvl3pPr marL="1143000" indent="-228600" eaLnBrk="0" hangingPunct="0">
              <a:defRPr sz="2000" b="1">
                <a:solidFill>
                  <a:schemeClr val="tx1"/>
                </a:solidFill>
                <a:latin typeface="Arial" panose="020B0604020202020204" pitchFamily="34" charset="0"/>
                <a:ea typeface="楷体_GB2312" pitchFamily="49" charset="-122"/>
              </a:defRPr>
            </a:lvl3pPr>
            <a:lvl4pPr marL="1600200" indent="-228600" eaLnBrk="0" hangingPunct="0">
              <a:defRPr sz="2000" b="1">
                <a:solidFill>
                  <a:schemeClr val="tx1"/>
                </a:solidFill>
                <a:latin typeface="Arial" panose="020B0604020202020204" pitchFamily="34" charset="0"/>
                <a:ea typeface="楷体_GB2312" pitchFamily="49" charset="-122"/>
              </a:defRPr>
            </a:lvl4pPr>
            <a:lvl5pPr marL="2057400" indent="-228600" eaLnBrk="0" hangingPunct="0">
              <a:defRPr sz="2000" b="1">
                <a:solidFill>
                  <a:schemeClr val="tx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000" b="1">
                <a:solidFill>
                  <a:schemeClr val="tx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000" b="1">
                <a:solidFill>
                  <a:schemeClr val="tx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000" b="1">
                <a:solidFill>
                  <a:schemeClr val="tx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000" b="1">
                <a:solidFill>
                  <a:schemeClr val="tx1"/>
                </a:solidFill>
                <a:latin typeface="Arial" panose="020B0604020202020204" pitchFamily="34" charset="0"/>
                <a:ea typeface="楷体_GB2312" pitchFamily="49" charset="-122"/>
              </a:defRPr>
            </a:lvl9pPr>
          </a:lstStyle>
          <a:p>
            <a:pPr algn="r" eaLnBrk="1" hangingPunct="1">
              <a:defRPr/>
            </a:pPr>
            <a:endParaRPr lang="zh-CN" altLang="en-US" smtClean="0"/>
          </a:p>
        </p:txBody>
      </p:sp>
      <p:sp>
        <p:nvSpPr>
          <p:cNvPr id="4" name="矩形 4"/>
          <p:cNvSpPr>
            <a:spLocks noChangeArrowheads="1"/>
          </p:cNvSpPr>
          <p:nvPr/>
        </p:nvSpPr>
        <p:spPr bwMode="auto">
          <a:xfrm>
            <a:off x="4010025" y="3252788"/>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000" b="1">
                <a:solidFill>
                  <a:schemeClr val="tx1"/>
                </a:solidFill>
                <a:latin typeface="Arial" panose="020B0604020202020204" pitchFamily="34" charset="0"/>
                <a:ea typeface="楷体_GB2312" pitchFamily="49" charset="-122"/>
              </a:defRPr>
            </a:lvl1pPr>
            <a:lvl2pPr marL="742950" indent="-285750" eaLnBrk="0" hangingPunct="0">
              <a:defRPr sz="2000" b="1">
                <a:solidFill>
                  <a:schemeClr val="tx1"/>
                </a:solidFill>
                <a:latin typeface="Arial" panose="020B0604020202020204" pitchFamily="34" charset="0"/>
                <a:ea typeface="楷体_GB2312" pitchFamily="49" charset="-122"/>
              </a:defRPr>
            </a:lvl2pPr>
            <a:lvl3pPr marL="1143000" indent="-228600" eaLnBrk="0" hangingPunct="0">
              <a:defRPr sz="2000" b="1">
                <a:solidFill>
                  <a:schemeClr val="tx1"/>
                </a:solidFill>
                <a:latin typeface="Arial" panose="020B0604020202020204" pitchFamily="34" charset="0"/>
                <a:ea typeface="楷体_GB2312" pitchFamily="49" charset="-122"/>
              </a:defRPr>
            </a:lvl3pPr>
            <a:lvl4pPr marL="1600200" indent="-228600" eaLnBrk="0" hangingPunct="0">
              <a:defRPr sz="2000" b="1">
                <a:solidFill>
                  <a:schemeClr val="tx1"/>
                </a:solidFill>
                <a:latin typeface="Arial" panose="020B0604020202020204" pitchFamily="34" charset="0"/>
                <a:ea typeface="楷体_GB2312" pitchFamily="49" charset="-122"/>
              </a:defRPr>
            </a:lvl4pPr>
            <a:lvl5pPr marL="2057400" indent="-228600" eaLnBrk="0" hangingPunct="0">
              <a:defRPr sz="2000" b="1">
                <a:solidFill>
                  <a:schemeClr val="tx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000" b="1">
                <a:solidFill>
                  <a:schemeClr val="tx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000" b="1">
                <a:solidFill>
                  <a:schemeClr val="tx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000" b="1">
                <a:solidFill>
                  <a:schemeClr val="tx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000" b="1">
                <a:solidFill>
                  <a:schemeClr val="tx1"/>
                </a:solidFill>
                <a:latin typeface="Arial" panose="020B0604020202020204" pitchFamily="34" charset="0"/>
                <a:ea typeface="楷体_GB2312" pitchFamily="49" charset="-122"/>
              </a:defRPr>
            </a:lvl9pPr>
          </a:lstStyle>
          <a:p>
            <a:pPr algn="r" eaLnBrk="1" hangingPunct="1">
              <a:defRPr/>
            </a:pPr>
            <a:endParaRPr lang="zh-CN" altLang="en-US" smtClean="0"/>
          </a:p>
        </p:txBody>
      </p:sp>
      <p:sp>
        <p:nvSpPr>
          <p:cNvPr id="5" name="矩形 5"/>
          <p:cNvSpPr>
            <a:spLocks noChangeArrowheads="1"/>
          </p:cNvSpPr>
          <p:nvPr/>
        </p:nvSpPr>
        <p:spPr bwMode="auto">
          <a:xfrm>
            <a:off x="4010025" y="3252788"/>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000" b="1">
                <a:solidFill>
                  <a:schemeClr val="tx1"/>
                </a:solidFill>
                <a:latin typeface="Arial" panose="020B0604020202020204" pitchFamily="34" charset="0"/>
                <a:ea typeface="楷体_GB2312" pitchFamily="49" charset="-122"/>
              </a:defRPr>
            </a:lvl1pPr>
            <a:lvl2pPr marL="742950" indent="-285750" eaLnBrk="0" hangingPunct="0">
              <a:defRPr sz="2000" b="1">
                <a:solidFill>
                  <a:schemeClr val="tx1"/>
                </a:solidFill>
                <a:latin typeface="Arial" panose="020B0604020202020204" pitchFamily="34" charset="0"/>
                <a:ea typeface="楷体_GB2312" pitchFamily="49" charset="-122"/>
              </a:defRPr>
            </a:lvl2pPr>
            <a:lvl3pPr marL="1143000" indent="-228600" eaLnBrk="0" hangingPunct="0">
              <a:defRPr sz="2000" b="1">
                <a:solidFill>
                  <a:schemeClr val="tx1"/>
                </a:solidFill>
                <a:latin typeface="Arial" panose="020B0604020202020204" pitchFamily="34" charset="0"/>
                <a:ea typeface="楷体_GB2312" pitchFamily="49" charset="-122"/>
              </a:defRPr>
            </a:lvl3pPr>
            <a:lvl4pPr marL="1600200" indent="-228600" eaLnBrk="0" hangingPunct="0">
              <a:defRPr sz="2000" b="1">
                <a:solidFill>
                  <a:schemeClr val="tx1"/>
                </a:solidFill>
                <a:latin typeface="Arial" panose="020B0604020202020204" pitchFamily="34" charset="0"/>
                <a:ea typeface="楷体_GB2312" pitchFamily="49" charset="-122"/>
              </a:defRPr>
            </a:lvl4pPr>
            <a:lvl5pPr marL="2057400" indent="-228600" eaLnBrk="0" hangingPunct="0">
              <a:defRPr sz="2000" b="1">
                <a:solidFill>
                  <a:schemeClr val="tx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000" b="1">
                <a:solidFill>
                  <a:schemeClr val="tx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000" b="1">
                <a:solidFill>
                  <a:schemeClr val="tx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000" b="1">
                <a:solidFill>
                  <a:schemeClr val="tx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000" b="1">
                <a:solidFill>
                  <a:schemeClr val="tx1"/>
                </a:solidFill>
                <a:latin typeface="Arial" panose="020B0604020202020204" pitchFamily="34" charset="0"/>
                <a:ea typeface="楷体_GB2312" pitchFamily="49" charset="-122"/>
              </a:defRPr>
            </a:lvl9pPr>
          </a:lstStyle>
          <a:p>
            <a:pPr algn="r" eaLnBrk="1" hangingPunct="1">
              <a:defRPr/>
            </a:pPr>
            <a:endParaRPr lang="zh-CN" altLang="en-US" smtClean="0"/>
          </a:p>
        </p:txBody>
      </p:sp>
      <p:sp>
        <p:nvSpPr>
          <p:cNvPr id="6" name="矩形 6"/>
          <p:cNvSpPr>
            <a:spLocks noChangeArrowheads="1"/>
          </p:cNvSpPr>
          <p:nvPr userDrawn="1"/>
        </p:nvSpPr>
        <p:spPr bwMode="auto">
          <a:xfrm>
            <a:off x="4010025" y="3252788"/>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000" b="1">
                <a:solidFill>
                  <a:schemeClr val="tx1"/>
                </a:solidFill>
                <a:latin typeface="Arial" panose="020B0604020202020204" pitchFamily="34" charset="0"/>
                <a:ea typeface="楷体_GB2312" pitchFamily="49" charset="-122"/>
              </a:defRPr>
            </a:lvl1pPr>
            <a:lvl2pPr marL="742950" indent="-285750" eaLnBrk="0" hangingPunct="0">
              <a:defRPr sz="2000" b="1">
                <a:solidFill>
                  <a:schemeClr val="tx1"/>
                </a:solidFill>
                <a:latin typeface="Arial" panose="020B0604020202020204" pitchFamily="34" charset="0"/>
                <a:ea typeface="楷体_GB2312" pitchFamily="49" charset="-122"/>
              </a:defRPr>
            </a:lvl2pPr>
            <a:lvl3pPr marL="1143000" indent="-228600" eaLnBrk="0" hangingPunct="0">
              <a:defRPr sz="2000" b="1">
                <a:solidFill>
                  <a:schemeClr val="tx1"/>
                </a:solidFill>
                <a:latin typeface="Arial" panose="020B0604020202020204" pitchFamily="34" charset="0"/>
                <a:ea typeface="楷体_GB2312" pitchFamily="49" charset="-122"/>
              </a:defRPr>
            </a:lvl3pPr>
            <a:lvl4pPr marL="1600200" indent="-228600" eaLnBrk="0" hangingPunct="0">
              <a:defRPr sz="2000" b="1">
                <a:solidFill>
                  <a:schemeClr val="tx1"/>
                </a:solidFill>
                <a:latin typeface="Arial" panose="020B0604020202020204" pitchFamily="34" charset="0"/>
                <a:ea typeface="楷体_GB2312" pitchFamily="49" charset="-122"/>
              </a:defRPr>
            </a:lvl4pPr>
            <a:lvl5pPr marL="2057400" indent="-228600" eaLnBrk="0" hangingPunct="0">
              <a:defRPr sz="2000" b="1">
                <a:solidFill>
                  <a:schemeClr val="tx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000" b="1">
                <a:solidFill>
                  <a:schemeClr val="tx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000" b="1">
                <a:solidFill>
                  <a:schemeClr val="tx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000" b="1">
                <a:solidFill>
                  <a:schemeClr val="tx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000" b="1">
                <a:solidFill>
                  <a:schemeClr val="tx1"/>
                </a:solidFill>
                <a:latin typeface="Arial" panose="020B0604020202020204" pitchFamily="34" charset="0"/>
                <a:ea typeface="楷体_GB2312" pitchFamily="49" charset="-122"/>
              </a:defRPr>
            </a:lvl9pPr>
          </a:lstStyle>
          <a:p>
            <a:pPr algn="r" eaLnBrk="1" hangingPunct="1">
              <a:defRPr/>
            </a:pPr>
            <a:endParaRPr lang="zh-CN" altLang="en-US" smtClean="0"/>
          </a:p>
        </p:txBody>
      </p:sp>
      <p:sp>
        <p:nvSpPr>
          <p:cNvPr id="8" name="标题 1"/>
          <p:cNvSpPr>
            <a:spLocks noGrp="1"/>
          </p:cNvSpPr>
          <p:nvPr>
            <p:ph type="title"/>
          </p:nvPr>
        </p:nvSpPr>
        <p:spPr>
          <a:xfrm>
            <a:off x="695325" y="1196752"/>
            <a:ext cx="7886700" cy="1325563"/>
          </a:xfrm>
          <a:prstGeom prst="rect">
            <a:avLst/>
          </a:prstGeom>
        </p:spPr>
        <p:txBody>
          <a:bodyPr/>
          <a:lstStyle/>
          <a:p>
            <a:r>
              <a:rPr lang="zh-CN" altLang="en-US" smtClean="0"/>
              <a:t>单击此处编辑母版标题样式</a:t>
            </a:r>
            <a:endParaRPr lang="zh-CN" altLang="en-US"/>
          </a:p>
        </p:txBody>
      </p:sp>
    </p:spTree>
    <p:extLst>
      <p:ext uri="{BB962C8B-B14F-4D97-AF65-F5344CB8AC3E}">
        <p14:creationId xmlns:p14="http://schemas.microsoft.com/office/powerpoint/2010/main" val="1266589061"/>
      </p:ext>
    </p:extLst>
  </p:cSld>
  <p:clrMapOvr>
    <a:masterClrMapping/>
  </p:clrMapOvr>
  <p:transition spd="slow">
    <p:circle/>
  </p:transition>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image" Target="../media/image1.png"/><Relationship Id="rId5" Type="http://schemas.openxmlformats.org/officeDocument/2006/relationships/theme" Target="../theme/theme1.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030" name="矩形 6"/>
          <p:cNvSpPr>
            <a:spLocks noChangeArrowheads="1"/>
          </p:cNvSpPr>
          <p:nvPr/>
        </p:nvSpPr>
        <p:spPr bwMode="auto">
          <a:xfrm>
            <a:off x="4010025" y="3252788"/>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000" b="1">
                <a:solidFill>
                  <a:schemeClr val="tx1"/>
                </a:solidFill>
                <a:latin typeface="Arial" panose="020B0604020202020204" pitchFamily="34" charset="0"/>
                <a:ea typeface="楷体_GB2312" pitchFamily="49" charset="-122"/>
              </a:defRPr>
            </a:lvl1pPr>
            <a:lvl2pPr marL="742950" indent="-285750" eaLnBrk="0" hangingPunct="0">
              <a:defRPr sz="2000" b="1">
                <a:solidFill>
                  <a:schemeClr val="tx1"/>
                </a:solidFill>
                <a:latin typeface="Arial" panose="020B0604020202020204" pitchFamily="34" charset="0"/>
                <a:ea typeface="楷体_GB2312" pitchFamily="49" charset="-122"/>
              </a:defRPr>
            </a:lvl2pPr>
            <a:lvl3pPr marL="1143000" indent="-228600" eaLnBrk="0" hangingPunct="0">
              <a:defRPr sz="2000" b="1">
                <a:solidFill>
                  <a:schemeClr val="tx1"/>
                </a:solidFill>
                <a:latin typeface="Arial" panose="020B0604020202020204" pitchFamily="34" charset="0"/>
                <a:ea typeface="楷体_GB2312" pitchFamily="49" charset="-122"/>
              </a:defRPr>
            </a:lvl3pPr>
            <a:lvl4pPr marL="1600200" indent="-228600" eaLnBrk="0" hangingPunct="0">
              <a:defRPr sz="2000" b="1">
                <a:solidFill>
                  <a:schemeClr val="tx1"/>
                </a:solidFill>
                <a:latin typeface="Arial" panose="020B0604020202020204" pitchFamily="34" charset="0"/>
                <a:ea typeface="楷体_GB2312" pitchFamily="49" charset="-122"/>
              </a:defRPr>
            </a:lvl4pPr>
            <a:lvl5pPr marL="2057400" indent="-228600" eaLnBrk="0" hangingPunct="0">
              <a:defRPr sz="2000" b="1">
                <a:solidFill>
                  <a:schemeClr val="tx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000" b="1">
                <a:solidFill>
                  <a:schemeClr val="tx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000" b="1">
                <a:solidFill>
                  <a:schemeClr val="tx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000" b="1">
                <a:solidFill>
                  <a:schemeClr val="tx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000" b="1">
                <a:solidFill>
                  <a:schemeClr val="tx1"/>
                </a:solidFill>
                <a:latin typeface="Arial" panose="020B0604020202020204" pitchFamily="34" charset="0"/>
                <a:ea typeface="楷体_GB2312" pitchFamily="49" charset="-122"/>
              </a:defRPr>
            </a:lvl9pPr>
          </a:lstStyle>
          <a:p>
            <a:pPr algn="r" eaLnBrk="1" hangingPunct="1">
              <a:defRPr/>
            </a:pPr>
            <a:endParaRPr lang="zh-CN" altLang="en-US" smtClean="0"/>
          </a:p>
        </p:txBody>
      </p:sp>
      <p:sp>
        <p:nvSpPr>
          <p:cNvPr id="1031" name="矩形 7"/>
          <p:cNvSpPr>
            <a:spLocks noChangeArrowheads="1"/>
          </p:cNvSpPr>
          <p:nvPr/>
        </p:nvSpPr>
        <p:spPr bwMode="auto">
          <a:xfrm>
            <a:off x="4010025" y="3252788"/>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000" b="1">
                <a:solidFill>
                  <a:schemeClr val="tx1"/>
                </a:solidFill>
                <a:latin typeface="Arial" panose="020B0604020202020204" pitchFamily="34" charset="0"/>
                <a:ea typeface="楷体_GB2312" pitchFamily="49" charset="-122"/>
              </a:defRPr>
            </a:lvl1pPr>
            <a:lvl2pPr marL="742950" indent="-285750" eaLnBrk="0" hangingPunct="0">
              <a:defRPr sz="2000" b="1">
                <a:solidFill>
                  <a:schemeClr val="tx1"/>
                </a:solidFill>
                <a:latin typeface="Arial" panose="020B0604020202020204" pitchFamily="34" charset="0"/>
                <a:ea typeface="楷体_GB2312" pitchFamily="49" charset="-122"/>
              </a:defRPr>
            </a:lvl2pPr>
            <a:lvl3pPr marL="1143000" indent="-228600" eaLnBrk="0" hangingPunct="0">
              <a:defRPr sz="2000" b="1">
                <a:solidFill>
                  <a:schemeClr val="tx1"/>
                </a:solidFill>
                <a:latin typeface="Arial" panose="020B0604020202020204" pitchFamily="34" charset="0"/>
                <a:ea typeface="楷体_GB2312" pitchFamily="49" charset="-122"/>
              </a:defRPr>
            </a:lvl3pPr>
            <a:lvl4pPr marL="1600200" indent="-228600" eaLnBrk="0" hangingPunct="0">
              <a:defRPr sz="2000" b="1">
                <a:solidFill>
                  <a:schemeClr val="tx1"/>
                </a:solidFill>
                <a:latin typeface="Arial" panose="020B0604020202020204" pitchFamily="34" charset="0"/>
                <a:ea typeface="楷体_GB2312" pitchFamily="49" charset="-122"/>
              </a:defRPr>
            </a:lvl4pPr>
            <a:lvl5pPr marL="2057400" indent="-228600" eaLnBrk="0" hangingPunct="0">
              <a:defRPr sz="2000" b="1">
                <a:solidFill>
                  <a:schemeClr val="tx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000" b="1">
                <a:solidFill>
                  <a:schemeClr val="tx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000" b="1">
                <a:solidFill>
                  <a:schemeClr val="tx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000" b="1">
                <a:solidFill>
                  <a:schemeClr val="tx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000" b="1">
                <a:solidFill>
                  <a:schemeClr val="tx1"/>
                </a:solidFill>
                <a:latin typeface="Arial" panose="020B0604020202020204" pitchFamily="34" charset="0"/>
                <a:ea typeface="楷体_GB2312" pitchFamily="49" charset="-122"/>
              </a:defRPr>
            </a:lvl9pPr>
          </a:lstStyle>
          <a:p>
            <a:pPr algn="r" eaLnBrk="1" hangingPunct="1">
              <a:defRPr/>
            </a:pPr>
            <a:endParaRPr lang="zh-CN" altLang="en-US" smtClean="0"/>
          </a:p>
        </p:txBody>
      </p:sp>
      <p:sp>
        <p:nvSpPr>
          <p:cNvPr id="1032" name="矩形 8"/>
          <p:cNvSpPr>
            <a:spLocks noChangeArrowheads="1"/>
          </p:cNvSpPr>
          <p:nvPr/>
        </p:nvSpPr>
        <p:spPr bwMode="auto">
          <a:xfrm>
            <a:off x="4010025" y="3252788"/>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000" b="1">
                <a:solidFill>
                  <a:schemeClr val="tx1"/>
                </a:solidFill>
                <a:latin typeface="Arial" panose="020B0604020202020204" pitchFamily="34" charset="0"/>
                <a:ea typeface="楷体_GB2312" pitchFamily="49" charset="-122"/>
              </a:defRPr>
            </a:lvl1pPr>
            <a:lvl2pPr marL="742950" indent="-285750" eaLnBrk="0" hangingPunct="0">
              <a:defRPr sz="2000" b="1">
                <a:solidFill>
                  <a:schemeClr val="tx1"/>
                </a:solidFill>
                <a:latin typeface="Arial" panose="020B0604020202020204" pitchFamily="34" charset="0"/>
                <a:ea typeface="楷体_GB2312" pitchFamily="49" charset="-122"/>
              </a:defRPr>
            </a:lvl2pPr>
            <a:lvl3pPr marL="1143000" indent="-228600" eaLnBrk="0" hangingPunct="0">
              <a:defRPr sz="2000" b="1">
                <a:solidFill>
                  <a:schemeClr val="tx1"/>
                </a:solidFill>
                <a:latin typeface="Arial" panose="020B0604020202020204" pitchFamily="34" charset="0"/>
                <a:ea typeface="楷体_GB2312" pitchFamily="49" charset="-122"/>
              </a:defRPr>
            </a:lvl3pPr>
            <a:lvl4pPr marL="1600200" indent="-228600" eaLnBrk="0" hangingPunct="0">
              <a:defRPr sz="2000" b="1">
                <a:solidFill>
                  <a:schemeClr val="tx1"/>
                </a:solidFill>
                <a:latin typeface="Arial" panose="020B0604020202020204" pitchFamily="34" charset="0"/>
                <a:ea typeface="楷体_GB2312" pitchFamily="49" charset="-122"/>
              </a:defRPr>
            </a:lvl4pPr>
            <a:lvl5pPr marL="2057400" indent="-228600" eaLnBrk="0" hangingPunct="0">
              <a:defRPr sz="2000" b="1">
                <a:solidFill>
                  <a:schemeClr val="tx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000" b="1">
                <a:solidFill>
                  <a:schemeClr val="tx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000" b="1">
                <a:solidFill>
                  <a:schemeClr val="tx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000" b="1">
                <a:solidFill>
                  <a:schemeClr val="tx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000" b="1">
                <a:solidFill>
                  <a:schemeClr val="tx1"/>
                </a:solidFill>
                <a:latin typeface="Arial" panose="020B0604020202020204" pitchFamily="34" charset="0"/>
                <a:ea typeface="楷体_GB2312" pitchFamily="49" charset="-122"/>
              </a:defRPr>
            </a:lvl9pPr>
          </a:lstStyle>
          <a:p>
            <a:pPr algn="r" eaLnBrk="1" hangingPunct="1">
              <a:defRPr/>
            </a:pPr>
            <a:endParaRPr lang="zh-CN" altLang="en-US" smtClean="0"/>
          </a:p>
        </p:txBody>
      </p:sp>
      <p:sp>
        <p:nvSpPr>
          <p:cNvPr id="1033" name="矩形 9"/>
          <p:cNvSpPr>
            <a:spLocks noChangeArrowheads="1"/>
          </p:cNvSpPr>
          <p:nvPr/>
        </p:nvSpPr>
        <p:spPr bwMode="auto">
          <a:xfrm>
            <a:off x="4010025" y="3252788"/>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000" b="1">
                <a:solidFill>
                  <a:schemeClr val="tx1"/>
                </a:solidFill>
                <a:latin typeface="Arial" panose="020B0604020202020204" pitchFamily="34" charset="0"/>
                <a:ea typeface="楷体_GB2312" pitchFamily="49" charset="-122"/>
              </a:defRPr>
            </a:lvl1pPr>
            <a:lvl2pPr marL="742950" indent="-285750" eaLnBrk="0" hangingPunct="0">
              <a:defRPr sz="2000" b="1">
                <a:solidFill>
                  <a:schemeClr val="tx1"/>
                </a:solidFill>
                <a:latin typeface="Arial" panose="020B0604020202020204" pitchFamily="34" charset="0"/>
                <a:ea typeface="楷体_GB2312" pitchFamily="49" charset="-122"/>
              </a:defRPr>
            </a:lvl2pPr>
            <a:lvl3pPr marL="1143000" indent="-228600" eaLnBrk="0" hangingPunct="0">
              <a:defRPr sz="2000" b="1">
                <a:solidFill>
                  <a:schemeClr val="tx1"/>
                </a:solidFill>
                <a:latin typeface="Arial" panose="020B0604020202020204" pitchFamily="34" charset="0"/>
                <a:ea typeface="楷体_GB2312" pitchFamily="49" charset="-122"/>
              </a:defRPr>
            </a:lvl3pPr>
            <a:lvl4pPr marL="1600200" indent="-228600" eaLnBrk="0" hangingPunct="0">
              <a:defRPr sz="2000" b="1">
                <a:solidFill>
                  <a:schemeClr val="tx1"/>
                </a:solidFill>
                <a:latin typeface="Arial" panose="020B0604020202020204" pitchFamily="34" charset="0"/>
                <a:ea typeface="楷体_GB2312" pitchFamily="49" charset="-122"/>
              </a:defRPr>
            </a:lvl4pPr>
            <a:lvl5pPr marL="2057400" indent="-228600" eaLnBrk="0" hangingPunct="0">
              <a:defRPr sz="2000" b="1">
                <a:solidFill>
                  <a:schemeClr val="tx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000" b="1">
                <a:solidFill>
                  <a:schemeClr val="tx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000" b="1">
                <a:solidFill>
                  <a:schemeClr val="tx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000" b="1">
                <a:solidFill>
                  <a:schemeClr val="tx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000" b="1">
                <a:solidFill>
                  <a:schemeClr val="tx1"/>
                </a:solidFill>
                <a:latin typeface="Arial" panose="020B0604020202020204" pitchFamily="34" charset="0"/>
                <a:ea typeface="楷体_GB2312" pitchFamily="49" charset="-122"/>
              </a:defRPr>
            </a:lvl9pPr>
          </a:lstStyle>
          <a:p>
            <a:pPr algn="r" eaLnBrk="1" hangingPunct="1">
              <a:defRPr/>
            </a:pPr>
            <a:endParaRPr lang="zh-CN" altLang="en-US" smtClean="0"/>
          </a:p>
        </p:txBody>
      </p:sp>
      <p:sp>
        <p:nvSpPr>
          <p:cNvPr id="1034" name="矩形 10"/>
          <p:cNvSpPr>
            <a:spLocks noChangeArrowheads="1"/>
          </p:cNvSpPr>
          <p:nvPr/>
        </p:nvSpPr>
        <p:spPr bwMode="gray">
          <a:xfrm>
            <a:off x="304800" y="980728"/>
            <a:ext cx="8410575" cy="46037"/>
          </a:xfrm>
          <a:prstGeom prst="rect">
            <a:avLst/>
          </a:prstGeom>
          <a:gradFill rotWithShape="1">
            <a:gsLst>
              <a:gs pos="0">
                <a:srgbClr val="800000">
                  <a:alpha val="50000"/>
                </a:srgbClr>
              </a:gs>
              <a:gs pos="100000">
                <a:srgbClr val="FAE2F6">
                  <a:alpha val="50000"/>
                </a:srgbClr>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sz="2000" b="1">
                <a:solidFill>
                  <a:schemeClr val="tx1"/>
                </a:solidFill>
                <a:latin typeface="Arial" panose="020B0604020202020204" pitchFamily="34" charset="0"/>
                <a:ea typeface="楷体_GB2312" pitchFamily="49" charset="-122"/>
              </a:defRPr>
            </a:lvl1pPr>
            <a:lvl2pPr marL="742950" indent="-285750" eaLnBrk="0" hangingPunct="0">
              <a:defRPr sz="2000" b="1">
                <a:solidFill>
                  <a:schemeClr val="tx1"/>
                </a:solidFill>
                <a:latin typeface="Arial" panose="020B0604020202020204" pitchFamily="34" charset="0"/>
                <a:ea typeface="楷体_GB2312" pitchFamily="49" charset="-122"/>
              </a:defRPr>
            </a:lvl2pPr>
            <a:lvl3pPr marL="1143000" indent="-228600" eaLnBrk="0" hangingPunct="0">
              <a:defRPr sz="2000" b="1">
                <a:solidFill>
                  <a:schemeClr val="tx1"/>
                </a:solidFill>
                <a:latin typeface="Arial" panose="020B0604020202020204" pitchFamily="34" charset="0"/>
                <a:ea typeface="楷体_GB2312" pitchFamily="49" charset="-122"/>
              </a:defRPr>
            </a:lvl3pPr>
            <a:lvl4pPr marL="1600200" indent="-228600" eaLnBrk="0" hangingPunct="0">
              <a:defRPr sz="2000" b="1">
                <a:solidFill>
                  <a:schemeClr val="tx1"/>
                </a:solidFill>
                <a:latin typeface="Arial" panose="020B0604020202020204" pitchFamily="34" charset="0"/>
                <a:ea typeface="楷体_GB2312" pitchFamily="49" charset="-122"/>
              </a:defRPr>
            </a:lvl4pPr>
            <a:lvl5pPr marL="2057400" indent="-228600" eaLnBrk="0" hangingPunct="0">
              <a:defRPr sz="2000" b="1">
                <a:solidFill>
                  <a:schemeClr val="tx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000" b="1">
                <a:solidFill>
                  <a:schemeClr val="tx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000" b="1">
                <a:solidFill>
                  <a:schemeClr val="tx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000" b="1">
                <a:solidFill>
                  <a:schemeClr val="tx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000" b="1">
                <a:solidFill>
                  <a:schemeClr val="tx1"/>
                </a:solidFill>
                <a:latin typeface="Arial" panose="020B0604020202020204" pitchFamily="34" charset="0"/>
                <a:ea typeface="楷体_GB2312" pitchFamily="49" charset="-122"/>
              </a:defRPr>
            </a:lvl9pPr>
          </a:lstStyle>
          <a:p>
            <a:pPr algn="ctr" eaLnBrk="1" hangingPunct="1">
              <a:defRPr/>
            </a:pPr>
            <a:endParaRPr kumimoji="1" lang="zh-CN" altLang="en-US" sz="2400" smtClean="0">
              <a:latin typeface="Book Antiqua" panose="02040602050305030304" pitchFamily="18" charset="0"/>
              <a:ea typeface="宋体" panose="02010600030101010101" pitchFamily="2" charset="-122"/>
            </a:endParaRPr>
          </a:p>
        </p:txBody>
      </p:sp>
      <p:pic>
        <p:nvPicPr>
          <p:cNvPr id="1035" name="图片 25"/>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552950" y="3414713"/>
            <a:ext cx="38100" cy="28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5" name="矩形 14"/>
          <p:cNvSpPr txBox="1">
            <a:spLocks noChangeArrowheads="1"/>
          </p:cNvSpPr>
          <p:nvPr userDrawn="1"/>
        </p:nvSpPr>
        <p:spPr bwMode="auto">
          <a:xfrm>
            <a:off x="7010400" y="6434062"/>
            <a:ext cx="2133600" cy="406400"/>
          </a:xfrm>
          <a:prstGeom prst="rect">
            <a:avLst/>
          </a:prstGeom>
          <a:noFill/>
          <a:ln>
            <a:noFill/>
          </a:ln>
          <a:effectLst/>
          <a:extLst/>
        </p:spPr>
        <p:txBody>
          <a:bodyPr vert="horz" wrap="square" lIns="91440" tIns="45720" rIns="91440" bIns="45720" numCol="1" anchor="t" anchorCtr="0" compatLnSpc="1">
            <a:prstTxWarp prst="textNoShape">
              <a:avLst/>
            </a:prstTxWarp>
          </a:bodyPr>
          <a:lstStyle>
            <a:defPPr>
              <a:defRPr lang="zh-CN"/>
            </a:defPPr>
            <a:lvl1pPr algn="r" rtl="0" eaLnBrk="1" fontAlgn="base" hangingPunct="1">
              <a:spcBef>
                <a:spcPct val="0"/>
              </a:spcBef>
              <a:spcAft>
                <a:spcPct val="0"/>
              </a:spcAft>
              <a:defRPr sz="2400" b="1" kern="1200">
                <a:solidFill>
                  <a:srgbClr val="FC3A4C"/>
                </a:solidFill>
                <a:latin typeface="Book Antiqua" panose="02040602050305030304" pitchFamily="18" charset="0"/>
                <a:ea typeface="宋体" panose="02010600030101010101" pitchFamily="2" charset="-122"/>
                <a:cs typeface="+mn-cs"/>
              </a:defRPr>
            </a:lvl1pPr>
            <a:lvl2pPr marL="457200" algn="l" rtl="0" eaLnBrk="0" fontAlgn="base" hangingPunct="0">
              <a:spcBef>
                <a:spcPct val="0"/>
              </a:spcBef>
              <a:spcAft>
                <a:spcPct val="0"/>
              </a:spcAft>
              <a:defRPr sz="2000" b="1" kern="1200">
                <a:solidFill>
                  <a:schemeClr val="tx1"/>
                </a:solidFill>
                <a:latin typeface="Arial" panose="020B0604020202020204" pitchFamily="34" charset="0"/>
                <a:ea typeface="楷体_GB2312" pitchFamily="49" charset="-122"/>
                <a:cs typeface="+mn-cs"/>
              </a:defRPr>
            </a:lvl2pPr>
            <a:lvl3pPr marL="914400" algn="l" rtl="0" eaLnBrk="0" fontAlgn="base" hangingPunct="0">
              <a:spcBef>
                <a:spcPct val="0"/>
              </a:spcBef>
              <a:spcAft>
                <a:spcPct val="0"/>
              </a:spcAft>
              <a:defRPr sz="2000" b="1" kern="1200">
                <a:solidFill>
                  <a:schemeClr val="tx1"/>
                </a:solidFill>
                <a:latin typeface="Arial" panose="020B0604020202020204" pitchFamily="34" charset="0"/>
                <a:ea typeface="楷体_GB2312" pitchFamily="49" charset="-122"/>
                <a:cs typeface="+mn-cs"/>
              </a:defRPr>
            </a:lvl3pPr>
            <a:lvl4pPr marL="1371600" algn="l" rtl="0" eaLnBrk="0" fontAlgn="base" hangingPunct="0">
              <a:spcBef>
                <a:spcPct val="0"/>
              </a:spcBef>
              <a:spcAft>
                <a:spcPct val="0"/>
              </a:spcAft>
              <a:defRPr sz="2000" b="1" kern="1200">
                <a:solidFill>
                  <a:schemeClr val="tx1"/>
                </a:solidFill>
                <a:latin typeface="Arial" panose="020B0604020202020204" pitchFamily="34" charset="0"/>
                <a:ea typeface="楷体_GB2312" pitchFamily="49" charset="-122"/>
                <a:cs typeface="+mn-cs"/>
              </a:defRPr>
            </a:lvl4pPr>
            <a:lvl5pPr marL="1828800" algn="l" rtl="0" eaLnBrk="0" fontAlgn="base" hangingPunct="0">
              <a:spcBef>
                <a:spcPct val="0"/>
              </a:spcBef>
              <a:spcAft>
                <a:spcPct val="0"/>
              </a:spcAft>
              <a:defRPr sz="2000" b="1" kern="1200">
                <a:solidFill>
                  <a:schemeClr val="tx1"/>
                </a:solidFill>
                <a:latin typeface="Arial" panose="020B0604020202020204" pitchFamily="34" charset="0"/>
                <a:ea typeface="楷体_GB2312" pitchFamily="49" charset="-122"/>
                <a:cs typeface="+mn-cs"/>
              </a:defRPr>
            </a:lvl5pPr>
            <a:lvl6pPr marL="2286000" algn="l" defTabSz="914400" rtl="0" eaLnBrk="1" latinLnBrk="0" hangingPunct="1">
              <a:defRPr sz="2000" b="1" kern="1200">
                <a:solidFill>
                  <a:schemeClr val="tx1"/>
                </a:solidFill>
                <a:latin typeface="Arial" panose="020B0604020202020204" pitchFamily="34" charset="0"/>
                <a:ea typeface="楷体_GB2312" pitchFamily="49" charset="-122"/>
                <a:cs typeface="+mn-cs"/>
              </a:defRPr>
            </a:lvl6pPr>
            <a:lvl7pPr marL="2743200" algn="l" defTabSz="914400" rtl="0" eaLnBrk="1" latinLnBrk="0" hangingPunct="1">
              <a:defRPr sz="2000" b="1" kern="1200">
                <a:solidFill>
                  <a:schemeClr val="tx1"/>
                </a:solidFill>
                <a:latin typeface="Arial" panose="020B0604020202020204" pitchFamily="34" charset="0"/>
                <a:ea typeface="楷体_GB2312" pitchFamily="49" charset="-122"/>
                <a:cs typeface="+mn-cs"/>
              </a:defRPr>
            </a:lvl7pPr>
            <a:lvl8pPr marL="3200400" algn="l" defTabSz="914400" rtl="0" eaLnBrk="1" latinLnBrk="0" hangingPunct="1">
              <a:defRPr sz="2000" b="1" kern="1200">
                <a:solidFill>
                  <a:schemeClr val="tx1"/>
                </a:solidFill>
                <a:latin typeface="Arial" panose="020B0604020202020204" pitchFamily="34" charset="0"/>
                <a:ea typeface="楷体_GB2312" pitchFamily="49" charset="-122"/>
                <a:cs typeface="+mn-cs"/>
              </a:defRPr>
            </a:lvl8pPr>
            <a:lvl9pPr marL="3657600" algn="l" defTabSz="914400" rtl="0" eaLnBrk="1" latinLnBrk="0" hangingPunct="1">
              <a:defRPr sz="2000" b="1" kern="1200">
                <a:solidFill>
                  <a:schemeClr val="tx1"/>
                </a:solidFill>
                <a:latin typeface="Arial" panose="020B0604020202020204" pitchFamily="34" charset="0"/>
                <a:ea typeface="楷体_GB2312" pitchFamily="49" charset="-122"/>
                <a:cs typeface="+mn-cs"/>
              </a:defRPr>
            </a:lvl9pPr>
          </a:lstStyle>
          <a:p>
            <a:pPr>
              <a:defRPr/>
            </a:pPr>
            <a:fld id="{AA8CF565-2697-4D8A-9440-517CC2056E4B}" type="slidenum">
              <a:rPr lang="en-US" altLang="zh-CN" smtClean="0"/>
              <a:pPr>
                <a:defRPr/>
              </a:pPr>
              <a:t>‹#›</a:t>
            </a:fld>
            <a:endParaRPr lang="en-US" altLang="zh-CN" dirty="0"/>
          </a:p>
        </p:txBody>
      </p:sp>
    </p:spTree>
  </p:cSld>
  <p:clrMap bg1="lt1" tx1="dk1" bg2="lt2" tx2="dk2" accent1="accent1" accent2="accent2" accent3="accent3" accent4="accent4" accent5="accent5" accent6="accent6" hlink="hlink" folHlink="folHlink"/>
  <p:sldLayoutIdLst>
    <p:sldLayoutId id="2147484563" r:id="rId1"/>
    <p:sldLayoutId id="2147484566" r:id="rId2"/>
    <p:sldLayoutId id="2147484567" r:id="rId3"/>
    <p:sldLayoutId id="2147484565" r:id="rId4"/>
  </p:sldLayoutIdLst>
  <p:transition spd="slow">
    <p:circle/>
  </p:transition>
  <p:timing>
    <p:tnLst>
      <p:par>
        <p:cTn id="1" dur="indefinite" restart="never" nodeType="tmRoot"/>
      </p:par>
    </p:tnLst>
  </p:timing>
  <p:hf hdr="0" ftr="0" dt="0"/>
  <p:txStyles>
    <p:titleStyle>
      <a:lvl1pPr algn="ctr" rtl="0" eaLnBrk="1" fontAlgn="base" hangingPunct="1">
        <a:spcBef>
          <a:spcPct val="0"/>
        </a:spcBef>
        <a:spcAft>
          <a:spcPct val="0"/>
        </a:spcAft>
        <a:defRPr sz="3200" b="0">
          <a:solidFill>
            <a:srgbClr val="FF0000"/>
          </a:solidFill>
          <a:effectLst/>
          <a:latin typeface="微软雅黑" panose="020B0503020204020204" pitchFamily="34" charset="-122"/>
          <a:ea typeface="微软雅黑" panose="020B0503020204020204" pitchFamily="34" charset="-122"/>
          <a:cs typeface="+mj-cs"/>
        </a:defRPr>
      </a:lvl1pPr>
      <a:lvl2pPr algn="ctr" rtl="0" eaLnBrk="1" fontAlgn="base" hangingPunct="1">
        <a:spcBef>
          <a:spcPct val="0"/>
        </a:spcBef>
        <a:spcAft>
          <a:spcPct val="0"/>
        </a:spcAft>
        <a:defRPr sz="3800" b="1">
          <a:solidFill>
            <a:srgbClr val="FF0000"/>
          </a:solidFill>
          <a:effectLst>
            <a:outerShdw blurRad="38100" dist="38100" dir="2700000" algn="tl">
              <a:srgbClr val="C0C0C0"/>
            </a:outerShdw>
          </a:effectLst>
          <a:latin typeface="Book Antiqua" pitchFamily="18" charset="0"/>
          <a:ea typeface="宋体" pitchFamily="2" charset="-122"/>
        </a:defRPr>
      </a:lvl2pPr>
      <a:lvl3pPr algn="ctr" rtl="0" eaLnBrk="1" fontAlgn="base" hangingPunct="1">
        <a:spcBef>
          <a:spcPct val="0"/>
        </a:spcBef>
        <a:spcAft>
          <a:spcPct val="0"/>
        </a:spcAft>
        <a:defRPr sz="3800" b="1">
          <a:solidFill>
            <a:srgbClr val="FF0000"/>
          </a:solidFill>
          <a:effectLst>
            <a:outerShdw blurRad="38100" dist="38100" dir="2700000" algn="tl">
              <a:srgbClr val="C0C0C0"/>
            </a:outerShdw>
          </a:effectLst>
          <a:latin typeface="Book Antiqua" pitchFamily="18" charset="0"/>
          <a:ea typeface="宋体" pitchFamily="2" charset="-122"/>
        </a:defRPr>
      </a:lvl3pPr>
      <a:lvl4pPr algn="ctr" rtl="0" eaLnBrk="1" fontAlgn="base" hangingPunct="1">
        <a:spcBef>
          <a:spcPct val="0"/>
        </a:spcBef>
        <a:spcAft>
          <a:spcPct val="0"/>
        </a:spcAft>
        <a:defRPr sz="3800" b="1">
          <a:solidFill>
            <a:srgbClr val="FF0000"/>
          </a:solidFill>
          <a:effectLst>
            <a:outerShdw blurRad="38100" dist="38100" dir="2700000" algn="tl">
              <a:srgbClr val="C0C0C0"/>
            </a:outerShdw>
          </a:effectLst>
          <a:latin typeface="Book Antiqua" pitchFamily="18" charset="0"/>
          <a:ea typeface="宋体" pitchFamily="2" charset="-122"/>
        </a:defRPr>
      </a:lvl4pPr>
      <a:lvl5pPr algn="ctr" rtl="0" eaLnBrk="1" fontAlgn="base" hangingPunct="1">
        <a:spcBef>
          <a:spcPct val="0"/>
        </a:spcBef>
        <a:spcAft>
          <a:spcPct val="0"/>
        </a:spcAft>
        <a:defRPr sz="3800" b="1">
          <a:solidFill>
            <a:srgbClr val="FF0000"/>
          </a:solidFill>
          <a:effectLst>
            <a:outerShdw blurRad="38100" dist="38100" dir="2700000" algn="tl">
              <a:srgbClr val="C0C0C0"/>
            </a:outerShdw>
          </a:effectLst>
          <a:latin typeface="Book Antiqua" pitchFamily="18" charset="0"/>
          <a:ea typeface="宋体" pitchFamily="2" charset="-122"/>
        </a:defRPr>
      </a:lvl5pPr>
      <a:lvl6pPr marL="457200" algn="ctr" rtl="0" eaLnBrk="1" fontAlgn="base" hangingPunct="1">
        <a:spcBef>
          <a:spcPct val="0"/>
        </a:spcBef>
        <a:spcAft>
          <a:spcPct val="0"/>
        </a:spcAft>
        <a:defRPr sz="3800" b="1">
          <a:solidFill>
            <a:srgbClr val="FF0000"/>
          </a:solidFill>
          <a:effectLst>
            <a:outerShdw blurRad="38100" dist="38100" dir="2700000" algn="tl">
              <a:srgbClr val="C0C0C0"/>
            </a:outerShdw>
          </a:effectLst>
          <a:latin typeface="Book Antiqua" pitchFamily="18" charset="0"/>
          <a:ea typeface="宋体" pitchFamily="2" charset="-122"/>
        </a:defRPr>
      </a:lvl6pPr>
      <a:lvl7pPr marL="914400" algn="ctr" rtl="0" eaLnBrk="1" fontAlgn="base" hangingPunct="1">
        <a:spcBef>
          <a:spcPct val="0"/>
        </a:spcBef>
        <a:spcAft>
          <a:spcPct val="0"/>
        </a:spcAft>
        <a:defRPr sz="3800" b="1">
          <a:solidFill>
            <a:srgbClr val="FF0000"/>
          </a:solidFill>
          <a:effectLst>
            <a:outerShdw blurRad="38100" dist="38100" dir="2700000" algn="tl">
              <a:srgbClr val="C0C0C0"/>
            </a:outerShdw>
          </a:effectLst>
          <a:latin typeface="Book Antiqua" pitchFamily="18" charset="0"/>
          <a:ea typeface="宋体" pitchFamily="2" charset="-122"/>
        </a:defRPr>
      </a:lvl7pPr>
      <a:lvl8pPr marL="1371600" algn="ctr" rtl="0" eaLnBrk="1" fontAlgn="base" hangingPunct="1">
        <a:spcBef>
          <a:spcPct val="0"/>
        </a:spcBef>
        <a:spcAft>
          <a:spcPct val="0"/>
        </a:spcAft>
        <a:defRPr sz="3800" b="1">
          <a:solidFill>
            <a:srgbClr val="FF0000"/>
          </a:solidFill>
          <a:effectLst>
            <a:outerShdw blurRad="38100" dist="38100" dir="2700000" algn="tl">
              <a:srgbClr val="C0C0C0"/>
            </a:outerShdw>
          </a:effectLst>
          <a:latin typeface="Book Antiqua" pitchFamily="18" charset="0"/>
          <a:ea typeface="宋体" pitchFamily="2" charset="-122"/>
        </a:defRPr>
      </a:lvl8pPr>
      <a:lvl9pPr marL="1828800" algn="ctr" rtl="0" eaLnBrk="1" fontAlgn="base" hangingPunct="1">
        <a:spcBef>
          <a:spcPct val="0"/>
        </a:spcBef>
        <a:spcAft>
          <a:spcPct val="0"/>
        </a:spcAft>
        <a:defRPr sz="3800" b="1">
          <a:solidFill>
            <a:srgbClr val="FF0000"/>
          </a:solidFill>
          <a:effectLst>
            <a:outerShdw blurRad="38100" dist="38100" dir="2700000" algn="tl">
              <a:srgbClr val="C0C0C0"/>
            </a:outerShdw>
          </a:effectLst>
          <a:latin typeface="Book Antiqua" pitchFamily="18" charset="0"/>
          <a:ea typeface="宋体" pitchFamily="2" charset="-122"/>
        </a:defRPr>
      </a:lvl9pPr>
    </p:titleStyle>
    <p:bodyStyle>
      <a:lvl1pPr marL="342900" indent="-342900" algn="l" rtl="0" eaLnBrk="1" fontAlgn="base" hangingPunct="1">
        <a:lnSpc>
          <a:spcPct val="150000"/>
        </a:lnSpc>
        <a:spcBef>
          <a:spcPct val="20000"/>
        </a:spcBef>
        <a:spcAft>
          <a:spcPct val="0"/>
        </a:spcAft>
        <a:buClr>
          <a:srgbClr val="2D7693"/>
        </a:buClr>
        <a:buSzPct val="70000"/>
        <a:buFont typeface="Wingdings" panose="05000000000000000000" pitchFamily="2" charset="2"/>
        <a:buChar char="n"/>
        <a:defRPr sz="2400" b="0">
          <a:solidFill>
            <a:schemeClr val="tx1"/>
          </a:solidFill>
          <a:latin typeface="微软雅黑" panose="020B0503020204020204" pitchFamily="34" charset="-122"/>
          <a:ea typeface="微软雅黑" panose="020B0503020204020204" pitchFamily="34" charset="-122"/>
          <a:cs typeface="+mn-cs"/>
        </a:defRPr>
      </a:lvl1pPr>
      <a:lvl2pPr marL="742950" indent="-285750" algn="l" rtl="0" eaLnBrk="1" fontAlgn="base" hangingPunct="1">
        <a:lnSpc>
          <a:spcPct val="150000"/>
        </a:lnSpc>
        <a:spcBef>
          <a:spcPct val="20000"/>
        </a:spcBef>
        <a:spcAft>
          <a:spcPct val="0"/>
        </a:spcAft>
        <a:buClr>
          <a:srgbClr val="FC3A4C"/>
        </a:buClr>
        <a:buSzPct val="70000"/>
        <a:buFont typeface="Wingdings" panose="05000000000000000000" pitchFamily="2" charset="2"/>
        <a:buChar char="Ø"/>
        <a:defRPr sz="2000" b="0">
          <a:solidFill>
            <a:schemeClr val="tx1"/>
          </a:solidFill>
          <a:latin typeface="微软雅黑" panose="020B0503020204020204" pitchFamily="34" charset="-122"/>
          <a:ea typeface="微软雅黑" panose="020B0503020204020204" pitchFamily="34" charset="-122"/>
        </a:defRPr>
      </a:lvl2pPr>
      <a:lvl3pPr marL="1143000" indent="-228600" algn="l" rtl="0" eaLnBrk="1" fontAlgn="base" hangingPunct="1">
        <a:lnSpc>
          <a:spcPct val="150000"/>
        </a:lnSpc>
        <a:spcBef>
          <a:spcPct val="20000"/>
        </a:spcBef>
        <a:spcAft>
          <a:spcPct val="0"/>
        </a:spcAft>
        <a:buClr>
          <a:srgbClr val="0000FF"/>
        </a:buClr>
        <a:buSzPct val="70000"/>
        <a:buFont typeface="Wingdings" panose="05000000000000000000" pitchFamily="2" charset="2"/>
        <a:buChar char="l"/>
        <a:defRPr sz="2000" b="0">
          <a:solidFill>
            <a:schemeClr val="tx1"/>
          </a:solidFill>
          <a:latin typeface="微软雅黑" panose="020B0503020204020204" pitchFamily="34" charset="-122"/>
          <a:ea typeface="微软雅黑" panose="020B0503020204020204" pitchFamily="34" charset="-122"/>
        </a:defRPr>
      </a:lvl3pPr>
      <a:lvl4pPr marL="1600200" indent="-228600" algn="l" rtl="0" eaLnBrk="1" fontAlgn="base" hangingPunct="1">
        <a:lnSpc>
          <a:spcPct val="150000"/>
        </a:lnSpc>
        <a:spcBef>
          <a:spcPct val="20000"/>
        </a:spcBef>
        <a:spcAft>
          <a:spcPct val="0"/>
        </a:spcAft>
        <a:buClr>
          <a:schemeClr val="accent1"/>
        </a:buClr>
        <a:buFont typeface="Wingdings" panose="05000000000000000000" pitchFamily="2" charset="2"/>
        <a:buChar char="p"/>
        <a:defRPr sz="2000" b="0">
          <a:solidFill>
            <a:schemeClr val="tx1"/>
          </a:solidFill>
          <a:latin typeface="微软雅黑" panose="020B0503020204020204" pitchFamily="34" charset="-122"/>
          <a:ea typeface="微软雅黑" panose="020B0503020204020204" pitchFamily="34" charset="-122"/>
        </a:defRPr>
      </a:lvl4pPr>
      <a:lvl5pPr marL="2057400" indent="-228600" algn="l" rtl="0" eaLnBrk="1" fontAlgn="base" hangingPunct="1">
        <a:lnSpc>
          <a:spcPct val="150000"/>
        </a:lnSpc>
        <a:spcBef>
          <a:spcPct val="20000"/>
        </a:spcBef>
        <a:spcAft>
          <a:spcPct val="0"/>
        </a:spcAft>
        <a:buClr>
          <a:schemeClr val="accent1"/>
        </a:buClr>
        <a:buFont typeface="Wingdings" panose="05000000000000000000" pitchFamily="2" charset="2"/>
        <a:buChar char="p"/>
        <a:defRPr sz="2000" b="0">
          <a:solidFill>
            <a:schemeClr val="tx1"/>
          </a:solidFill>
          <a:latin typeface="微软雅黑" panose="020B0503020204020204" pitchFamily="34" charset="-122"/>
          <a:ea typeface="微软雅黑" panose="020B0503020204020204" pitchFamily="34" charset="-122"/>
        </a:defRPr>
      </a:lvl5pPr>
      <a:lvl6pPr marL="2514600" indent="-228600" algn="l" rtl="0" eaLnBrk="1" fontAlgn="base" hangingPunct="1">
        <a:spcBef>
          <a:spcPct val="20000"/>
        </a:spcBef>
        <a:spcAft>
          <a:spcPct val="0"/>
        </a:spcAft>
        <a:buClr>
          <a:schemeClr val="accent1"/>
        </a:buClr>
        <a:buFont typeface="Wingdings" pitchFamily="2" charset="2"/>
        <a:buChar char="p"/>
        <a:defRPr b="1">
          <a:solidFill>
            <a:schemeClr val="tx1"/>
          </a:solidFill>
          <a:latin typeface="+mn-lt"/>
          <a:ea typeface="+mn-ea"/>
        </a:defRPr>
      </a:lvl6pPr>
      <a:lvl7pPr marL="2971800" indent="-228600" algn="l" rtl="0" eaLnBrk="1" fontAlgn="base" hangingPunct="1">
        <a:spcBef>
          <a:spcPct val="20000"/>
        </a:spcBef>
        <a:spcAft>
          <a:spcPct val="0"/>
        </a:spcAft>
        <a:buClr>
          <a:schemeClr val="accent1"/>
        </a:buClr>
        <a:buFont typeface="Wingdings" pitchFamily="2" charset="2"/>
        <a:buChar char="p"/>
        <a:defRPr b="1">
          <a:solidFill>
            <a:schemeClr val="tx1"/>
          </a:solidFill>
          <a:latin typeface="+mn-lt"/>
          <a:ea typeface="+mn-ea"/>
        </a:defRPr>
      </a:lvl7pPr>
      <a:lvl8pPr marL="3429000" indent="-228600" algn="l" rtl="0" eaLnBrk="1" fontAlgn="base" hangingPunct="1">
        <a:spcBef>
          <a:spcPct val="20000"/>
        </a:spcBef>
        <a:spcAft>
          <a:spcPct val="0"/>
        </a:spcAft>
        <a:buClr>
          <a:schemeClr val="accent1"/>
        </a:buClr>
        <a:buFont typeface="Wingdings" pitchFamily="2" charset="2"/>
        <a:buChar char="p"/>
        <a:defRPr b="1">
          <a:solidFill>
            <a:schemeClr val="tx1"/>
          </a:solidFill>
          <a:latin typeface="+mn-lt"/>
          <a:ea typeface="+mn-ea"/>
        </a:defRPr>
      </a:lvl8pPr>
      <a:lvl9pPr marL="3886200" indent="-228600" algn="l" rtl="0" eaLnBrk="1" fontAlgn="base" hangingPunct="1">
        <a:spcBef>
          <a:spcPct val="20000"/>
        </a:spcBef>
        <a:spcAft>
          <a:spcPct val="0"/>
        </a:spcAft>
        <a:buClr>
          <a:schemeClr val="accent1"/>
        </a:buClr>
        <a:buFont typeface="Wingdings" pitchFamily="2" charset="2"/>
        <a:buChar char="p"/>
        <a:defRPr b="1">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4.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1.xml"/><Relationship Id="rId4" Type="http://schemas.openxmlformats.org/officeDocument/2006/relationships/image" Target="../media/image4.png"/></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1.xml"/><Relationship Id="rId1" Type="http://schemas.openxmlformats.org/officeDocument/2006/relationships/tags" Target="../tags/tag1.xml"/><Relationship Id="rId5" Type="http://schemas.openxmlformats.org/officeDocument/2006/relationships/image" Target="../media/image6.jpeg"/><Relationship Id="rId4" Type="http://schemas.openxmlformats.org/officeDocument/2006/relationships/image" Target="../media/image5.jpeg"/></Relationships>
</file>

<file path=ppt/slides/_rels/slide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4.xml"/><Relationship Id="rId1" Type="http://schemas.openxmlformats.org/officeDocument/2006/relationships/slideLayout" Target="../slideLayouts/slideLayout1.xml"/><Relationship Id="rId4" Type="http://schemas.openxmlformats.org/officeDocument/2006/relationships/image" Target="../media/image8.png"/></Relationships>
</file>

<file path=ppt/slides/_rels/slide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1.xml"/><Relationship Id="rId4" Type="http://schemas.openxmlformats.org/officeDocument/2006/relationships/image" Target="../media/image13.png"/></Relationships>
</file>

<file path=ppt/slides/_rels/slide11.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2.xml"/><Relationship Id="rId5" Type="http://schemas.openxmlformats.org/officeDocument/2006/relationships/image" Target="../media/image18.png"/><Relationship Id="rId4" Type="http://schemas.openxmlformats.org/officeDocument/2006/relationships/image" Target="../media/image17.png"/></Relationships>
</file>

<file path=ppt/slides/_rels/slide13.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2" Type="http://schemas.openxmlformats.org/officeDocument/2006/relationships/image" Target="../media/image20.jpe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image" Target="../media/image23.jpeg"/><Relationship Id="rId2" Type="http://schemas.openxmlformats.org/officeDocument/2006/relationships/image" Target="../media/image22.jpeg"/><Relationship Id="rId1" Type="http://schemas.openxmlformats.org/officeDocument/2006/relationships/slideLayout" Target="../slideLayouts/slideLayout1.xml"/><Relationship Id="rId5" Type="http://schemas.openxmlformats.org/officeDocument/2006/relationships/image" Target="../media/image25.jpeg"/><Relationship Id="rId4" Type="http://schemas.openxmlformats.org/officeDocument/2006/relationships/image" Target="../media/image24.jpeg"/></Relationships>
</file>

<file path=ppt/slides/_rels/slide1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7.xml"/><Relationship Id="rId1" Type="http://schemas.openxmlformats.org/officeDocument/2006/relationships/slideLayout" Target="../slideLayouts/slideLayout1.xml"/><Relationship Id="rId5" Type="http://schemas.openxmlformats.org/officeDocument/2006/relationships/image" Target="../media/image29.png"/><Relationship Id="rId4" Type="http://schemas.openxmlformats.org/officeDocument/2006/relationships/image" Target="../media/image28.png"/></Relationships>
</file>

<file path=ppt/slides/_rels/slide21.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8.xml"/><Relationship Id="rId1" Type="http://schemas.openxmlformats.org/officeDocument/2006/relationships/slideLayout" Target="../slideLayouts/slideLayout1.xml"/><Relationship Id="rId4" Type="http://schemas.openxmlformats.org/officeDocument/2006/relationships/image" Target="../media/image31.png"/></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4.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4.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image" Target="../media/image33.png"/><Relationship Id="rId1" Type="http://schemas.openxmlformats.org/officeDocument/2006/relationships/slideLayout" Target="../slideLayouts/slideLayout1.xml"/><Relationship Id="rId4" Type="http://schemas.openxmlformats.org/officeDocument/2006/relationships/image" Target="../media/image35.png"/></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image" Target="../media/image2.png"/><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3" name="TextBox 3"/>
          <p:cNvSpPr txBox="1">
            <a:spLocks noChangeArrowheads="1"/>
          </p:cNvSpPr>
          <p:nvPr/>
        </p:nvSpPr>
        <p:spPr bwMode="auto">
          <a:xfrm>
            <a:off x="367867" y="1729092"/>
            <a:ext cx="8424936" cy="9233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ts val="600"/>
              </a:spcBef>
              <a:buClr>
                <a:schemeClr val="accent1"/>
              </a:buClr>
              <a:buSzPct val="80000"/>
              <a:buFont typeface="Wingdings 2" panose="05020102010507070707" pitchFamily="18" charset="2"/>
              <a:buChar char=""/>
              <a:defRPr sz="3200">
                <a:solidFill>
                  <a:schemeClr val="tx1"/>
                </a:solidFill>
                <a:latin typeface="Gill Sans MT"/>
                <a:ea typeface="华文中宋" panose="02010600040101010101" pitchFamily="2" charset="-122"/>
              </a:defRPr>
            </a:lvl1pPr>
            <a:lvl2pPr marL="742950" indent="-285750">
              <a:spcBef>
                <a:spcPts val="550"/>
              </a:spcBef>
              <a:buClr>
                <a:schemeClr val="accent1"/>
              </a:buClr>
              <a:buFont typeface="Verdana" panose="020B0604030504040204" pitchFamily="34" charset="0"/>
              <a:buChar char="◦"/>
              <a:defRPr sz="2800">
                <a:solidFill>
                  <a:srgbClr val="0000CC"/>
                </a:solidFill>
                <a:latin typeface="Gill Sans MT"/>
                <a:ea typeface="华文中宋" panose="02010600040101010101" pitchFamily="2" charset="-122"/>
              </a:defRPr>
            </a:lvl2pPr>
            <a:lvl3pPr marL="1143000" indent="-228600">
              <a:spcBef>
                <a:spcPct val="20000"/>
              </a:spcBef>
              <a:buClr>
                <a:schemeClr val="accent2"/>
              </a:buClr>
              <a:buFont typeface="Wingdings 2" panose="05020102010507070707" pitchFamily="18" charset="2"/>
              <a:buChar char=""/>
              <a:defRPr sz="2400">
                <a:solidFill>
                  <a:schemeClr val="tx1"/>
                </a:solidFill>
                <a:latin typeface="Gill Sans MT"/>
                <a:ea typeface="华文中宋" panose="02010600040101010101" pitchFamily="2" charset="-122"/>
              </a:defRPr>
            </a:lvl3pPr>
            <a:lvl4pPr marL="1600200" indent="-228600">
              <a:spcBef>
                <a:spcPct val="20000"/>
              </a:spcBef>
              <a:buClr>
                <a:srgbClr val="9BBB59"/>
              </a:buClr>
              <a:buFont typeface="Wingdings 2" panose="05020102010507070707" pitchFamily="18" charset="2"/>
              <a:buChar char=""/>
              <a:defRPr sz="2000">
                <a:solidFill>
                  <a:schemeClr val="tx1"/>
                </a:solidFill>
                <a:latin typeface="Gill Sans MT"/>
                <a:ea typeface="华文中宋" panose="02010600040101010101" pitchFamily="2" charset="-122"/>
              </a:defRPr>
            </a:lvl4pPr>
            <a:lvl5pPr marL="2057400" indent="-228600">
              <a:spcBef>
                <a:spcPct val="20000"/>
              </a:spcBef>
              <a:buClr>
                <a:srgbClr val="8064A2"/>
              </a:buClr>
              <a:buFont typeface="Wingdings 2" panose="05020102010507070707" pitchFamily="18" charset="2"/>
              <a:buChar char=""/>
              <a:defRPr sz="2000">
                <a:solidFill>
                  <a:schemeClr val="tx1"/>
                </a:solidFill>
                <a:latin typeface="Gill Sans MT"/>
                <a:ea typeface="华文中宋" panose="02010600040101010101" pitchFamily="2" charset="-122"/>
              </a:defRPr>
            </a:lvl5pPr>
            <a:lvl6pPr marL="2514600" indent="-228600" eaLnBrk="0" fontAlgn="base" hangingPunct="0">
              <a:spcBef>
                <a:spcPct val="20000"/>
              </a:spcBef>
              <a:spcAft>
                <a:spcPct val="0"/>
              </a:spcAft>
              <a:buClr>
                <a:srgbClr val="8064A2"/>
              </a:buClr>
              <a:buFont typeface="Wingdings 2" panose="05020102010507070707" pitchFamily="18" charset="2"/>
              <a:buChar char=""/>
              <a:defRPr sz="2000">
                <a:solidFill>
                  <a:schemeClr val="tx1"/>
                </a:solidFill>
                <a:latin typeface="Gill Sans MT"/>
                <a:ea typeface="华文中宋" panose="02010600040101010101" pitchFamily="2" charset="-122"/>
              </a:defRPr>
            </a:lvl6pPr>
            <a:lvl7pPr marL="2971800" indent="-228600" eaLnBrk="0" fontAlgn="base" hangingPunct="0">
              <a:spcBef>
                <a:spcPct val="20000"/>
              </a:spcBef>
              <a:spcAft>
                <a:spcPct val="0"/>
              </a:spcAft>
              <a:buClr>
                <a:srgbClr val="8064A2"/>
              </a:buClr>
              <a:buFont typeface="Wingdings 2" panose="05020102010507070707" pitchFamily="18" charset="2"/>
              <a:buChar char=""/>
              <a:defRPr sz="2000">
                <a:solidFill>
                  <a:schemeClr val="tx1"/>
                </a:solidFill>
                <a:latin typeface="Gill Sans MT"/>
                <a:ea typeface="华文中宋" panose="02010600040101010101" pitchFamily="2" charset="-122"/>
              </a:defRPr>
            </a:lvl7pPr>
            <a:lvl8pPr marL="3429000" indent="-228600" eaLnBrk="0" fontAlgn="base" hangingPunct="0">
              <a:spcBef>
                <a:spcPct val="20000"/>
              </a:spcBef>
              <a:spcAft>
                <a:spcPct val="0"/>
              </a:spcAft>
              <a:buClr>
                <a:srgbClr val="8064A2"/>
              </a:buClr>
              <a:buFont typeface="Wingdings 2" panose="05020102010507070707" pitchFamily="18" charset="2"/>
              <a:buChar char=""/>
              <a:defRPr sz="2000">
                <a:solidFill>
                  <a:schemeClr val="tx1"/>
                </a:solidFill>
                <a:latin typeface="Gill Sans MT"/>
                <a:ea typeface="华文中宋" panose="02010600040101010101" pitchFamily="2" charset="-122"/>
              </a:defRPr>
            </a:lvl8pPr>
            <a:lvl9pPr marL="3886200" indent="-228600" eaLnBrk="0" fontAlgn="base" hangingPunct="0">
              <a:spcBef>
                <a:spcPct val="20000"/>
              </a:spcBef>
              <a:spcAft>
                <a:spcPct val="0"/>
              </a:spcAft>
              <a:buClr>
                <a:srgbClr val="8064A2"/>
              </a:buClr>
              <a:buFont typeface="Wingdings 2" panose="05020102010507070707" pitchFamily="18" charset="2"/>
              <a:buChar char=""/>
              <a:defRPr sz="2000">
                <a:solidFill>
                  <a:schemeClr val="tx1"/>
                </a:solidFill>
                <a:latin typeface="Gill Sans MT"/>
                <a:ea typeface="华文中宋" panose="02010600040101010101" pitchFamily="2" charset="-122"/>
              </a:defRPr>
            </a:lvl9pPr>
          </a:lstStyle>
          <a:p>
            <a:pPr algn="ctr" eaLnBrk="1" hangingPunct="1">
              <a:spcBef>
                <a:spcPct val="0"/>
              </a:spcBef>
              <a:spcAft>
                <a:spcPts val="1800"/>
              </a:spcAft>
              <a:buClrTx/>
              <a:buSzTx/>
              <a:buNone/>
            </a:pPr>
            <a:r>
              <a:rPr lang="zh-CN" altLang="en-US" sz="5400" dirty="0" smtClean="0">
                <a:solidFill>
                  <a:srgbClr val="FF0000"/>
                </a:solidFill>
                <a:latin typeface="华文中宋" panose="02010600040101010101" pitchFamily="2" charset="-122"/>
              </a:rPr>
              <a:t>第</a:t>
            </a:r>
            <a:r>
              <a:rPr lang="en-US" altLang="zh-CN" sz="5400" dirty="0" smtClean="0">
                <a:solidFill>
                  <a:srgbClr val="FF0000"/>
                </a:solidFill>
                <a:latin typeface="华文中宋" panose="02010600040101010101" pitchFamily="2" charset="-122"/>
              </a:rPr>
              <a:t>2</a:t>
            </a:r>
            <a:r>
              <a:rPr lang="zh-CN" altLang="en-US" sz="5400" dirty="0" smtClean="0">
                <a:solidFill>
                  <a:srgbClr val="FF0000"/>
                </a:solidFill>
                <a:latin typeface="华文中宋" panose="02010600040101010101" pitchFamily="2" charset="-122"/>
              </a:rPr>
              <a:t>讲 大数据思维与分析</a:t>
            </a:r>
            <a:endParaRPr lang="zh-CN" altLang="en-US" sz="5400" dirty="0">
              <a:solidFill>
                <a:srgbClr val="FF0000"/>
              </a:solidFill>
              <a:latin typeface="华文中宋" panose="02010600040101010101" pitchFamily="2" charset="-122"/>
            </a:endParaRPr>
          </a:p>
        </p:txBody>
      </p:sp>
      <p:sp>
        <p:nvSpPr>
          <p:cNvPr id="6" name="矩形 5"/>
          <p:cNvSpPr/>
          <p:nvPr/>
        </p:nvSpPr>
        <p:spPr>
          <a:xfrm>
            <a:off x="179512" y="337201"/>
            <a:ext cx="4896544" cy="461665"/>
          </a:xfrm>
          <a:prstGeom prst="rect">
            <a:avLst/>
          </a:prstGeom>
        </p:spPr>
        <p:txBody>
          <a:bodyPr wrap="square">
            <a:spAutoFit/>
          </a:bodyPr>
          <a:lstStyle/>
          <a:p>
            <a:pPr eaLnBrk="1" hangingPunct="1">
              <a:spcAft>
                <a:spcPts val="1800"/>
              </a:spcAft>
            </a:pPr>
            <a:r>
              <a:rPr lang="zh-CN" altLang="en-US" sz="2400" dirty="0" smtClean="0">
                <a:solidFill>
                  <a:srgbClr val="FF0000"/>
                </a:solidFill>
                <a:latin typeface="幼圆" panose="02010509060101010101" pitchFamily="49" charset="-122"/>
                <a:ea typeface="幼圆" panose="02010509060101010101" pitchFamily="49" charset="-122"/>
              </a:rPr>
              <a:t>大数据推荐与决策 </a:t>
            </a:r>
            <a:r>
              <a:rPr lang="en-US" altLang="zh-CN" sz="2400" dirty="0" smtClean="0">
                <a:solidFill>
                  <a:srgbClr val="FF0000"/>
                </a:solidFill>
                <a:latin typeface="幼圆" panose="02010509060101010101" pitchFamily="49" charset="-122"/>
                <a:ea typeface="幼圆" panose="02010509060101010101" pitchFamily="49" charset="-122"/>
              </a:rPr>
              <a:t> (</a:t>
            </a:r>
            <a:r>
              <a:rPr lang="zh-CN" altLang="en-US" sz="2400" dirty="0" smtClean="0">
                <a:solidFill>
                  <a:srgbClr val="FF0000"/>
                </a:solidFill>
                <a:latin typeface="幼圆" panose="02010509060101010101" pitchFamily="49" charset="-122"/>
                <a:ea typeface="幼圆" panose="02010509060101010101" pitchFamily="49" charset="-122"/>
              </a:rPr>
              <a:t>一</a:t>
            </a:r>
            <a:r>
              <a:rPr lang="en-US" altLang="zh-CN" sz="2400" dirty="0" smtClean="0">
                <a:solidFill>
                  <a:srgbClr val="FF0000"/>
                </a:solidFill>
                <a:latin typeface="幼圆" panose="02010509060101010101" pitchFamily="49" charset="-122"/>
                <a:ea typeface="幼圆" panose="02010509060101010101" pitchFamily="49" charset="-122"/>
              </a:rPr>
              <a:t>) </a:t>
            </a:r>
            <a:r>
              <a:rPr lang="zh-CN" altLang="en-US" sz="2400" dirty="0" smtClean="0">
                <a:solidFill>
                  <a:srgbClr val="FF0000"/>
                </a:solidFill>
                <a:latin typeface="幼圆" panose="02010509060101010101" pitchFamily="49" charset="-122"/>
                <a:ea typeface="幼圆" panose="02010509060101010101" pitchFamily="49" charset="-122"/>
              </a:rPr>
              <a:t>理论</a:t>
            </a:r>
            <a:r>
              <a:rPr lang="zh-CN" altLang="en-US" sz="2400" dirty="0">
                <a:solidFill>
                  <a:srgbClr val="FF0000"/>
                </a:solidFill>
                <a:latin typeface="幼圆" panose="02010509060101010101" pitchFamily="49" charset="-122"/>
                <a:ea typeface="幼圆" panose="02010509060101010101" pitchFamily="49" charset="-122"/>
              </a:rPr>
              <a:t>篇</a:t>
            </a:r>
            <a:endParaRPr lang="en-US" altLang="zh-CN" sz="2400" dirty="0">
              <a:solidFill>
                <a:srgbClr val="FF0000"/>
              </a:solidFill>
              <a:latin typeface="幼圆" panose="02010509060101010101" pitchFamily="49" charset="-122"/>
              <a:ea typeface="幼圆" panose="02010509060101010101" pitchFamily="49" charset="-122"/>
            </a:endParaRPr>
          </a:p>
        </p:txBody>
      </p:sp>
      <p:pic>
        <p:nvPicPr>
          <p:cNvPr id="7" name="图片 6"/>
          <p:cNvPicPr>
            <a:picLocks noChangeAspect="1"/>
          </p:cNvPicPr>
          <p:nvPr/>
        </p:nvPicPr>
        <p:blipFill>
          <a:blip r:embed="rId3"/>
          <a:stretch>
            <a:fillRect/>
          </a:stretch>
        </p:blipFill>
        <p:spPr>
          <a:xfrm>
            <a:off x="6228184" y="260648"/>
            <a:ext cx="2660986" cy="610982"/>
          </a:xfrm>
          <a:prstGeom prst="rect">
            <a:avLst/>
          </a:prstGeom>
        </p:spPr>
      </p:pic>
      <p:sp>
        <p:nvSpPr>
          <p:cNvPr id="8" name="TextBox 3"/>
          <p:cNvSpPr txBox="1">
            <a:spLocks noChangeArrowheads="1"/>
          </p:cNvSpPr>
          <p:nvPr/>
        </p:nvSpPr>
        <p:spPr bwMode="auto">
          <a:xfrm>
            <a:off x="539552" y="3298626"/>
            <a:ext cx="8001223" cy="31547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ts val="600"/>
              </a:spcBef>
              <a:buClr>
                <a:schemeClr val="accent1"/>
              </a:buClr>
              <a:buSzPct val="80000"/>
              <a:buFont typeface="Wingdings 2" panose="05020102010507070707" pitchFamily="18" charset="2"/>
              <a:buChar char=""/>
              <a:defRPr sz="3200">
                <a:solidFill>
                  <a:schemeClr val="tx1"/>
                </a:solidFill>
                <a:latin typeface="Gill Sans MT"/>
                <a:ea typeface="华文中宋" panose="02010600040101010101" pitchFamily="2" charset="-122"/>
              </a:defRPr>
            </a:lvl1pPr>
            <a:lvl2pPr marL="742950" indent="-285750">
              <a:spcBef>
                <a:spcPts val="550"/>
              </a:spcBef>
              <a:buClr>
                <a:schemeClr val="accent1"/>
              </a:buClr>
              <a:buFont typeface="Verdana" panose="020B0604030504040204" pitchFamily="34" charset="0"/>
              <a:buChar char="◦"/>
              <a:defRPr sz="2800">
                <a:solidFill>
                  <a:srgbClr val="0000CC"/>
                </a:solidFill>
                <a:latin typeface="Gill Sans MT"/>
                <a:ea typeface="华文中宋" panose="02010600040101010101" pitchFamily="2" charset="-122"/>
              </a:defRPr>
            </a:lvl2pPr>
            <a:lvl3pPr marL="1143000" indent="-228600">
              <a:spcBef>
                <a:spcPct val="20000"/>
              </a:spcBef>
              <a:buClr>
                <a:schemeClr val="accent2"/>
              </a:buClr>
              <a:buFont typeface="Wingdings 2" panose="05020102010507070707" pitchFamily="18" charset="2"/>
              <a:buChar char=""/>
              <a:defRPr sz="2400">
                <a:solidFill>
                  <a:schemeClr val="tx1"/>
                </a:solidFill>
                <a:latin typeface="Gill Sans MT"/>
                <a:ea typeface="华文中宋" panose="02010600040101010101" pitchFamily="2" charset="-122"/>
              </a:defRPr>
            </a:lvl3pPr>
            <a:lvl4pPr marL="1600200" indent="-228600">
              <a:spcBef>
                <a:spcPct val="20000"/>
              </a:spcBef>
              <a:buClr>
                <a:srgbClr val="9BBB59"/>
              </a:buClr>
              <a:buFont typeface="Wingdings 2" panose="05020102010507070707" pitchFamily="18" charset="2"/>
              <a:buChar char=""/>
              <a:defRPr sz="2000">
                <a:solidFill>
                  <a:schemeClr val="tx1"/>
                </a:solidFill>
                <a:latin typeface="Gill Sans MT"/>
                <a:ea typeface="华文中宋" panose="02010600040101010101" pitchFamily="2" charset="-122"/>
              </a:defRPr>
            </a:lvl4pPr>
            <a:lvl5pPr marL="2057400" indent="-228600">
              <a:spcBef>
                <a:spcPct val="20000"/>
              </a:spcBef>
              <a:buClr>
                <a:srgbClr val="8064A2"/>
              </a:buClr>
              <a:buFont typeface="Wingdings 2" panose="05020102010507070707" pitchFamily="18" charset="2"/>
              <a:buChar char=""/>
              <a:defRPr sz="2000">
                <a:solidFill>
                  <a:schemeClr val="tx1"/>
                </a:solidFill>
                <a:latin typeface="Gill Sans MT"/>
                <a:ea typeface="华文中宋" panose="02010600040101010101" pitchFamily="2" charset="-122"/>
              </a:defRPr>
            </a:lvl5pPr>
            <a:lvl6pPr marL="2514600" indent="-228600" eaLnBrk="0" fontAlgn="base" hangingPunct="0">
              <a:spcBef>
                <a:spcPct val="20000"/>
              </a:spcBef>
              <a:spcAft>
                <a:spcPct val="0"/>
              </a:spcAft>
              <a:buClr>
                <a:srgbClr val="8064A2"/>
              </a:buClr>
              <a:buFont typeface="Wingdings 2" panose="05020102010507070707" pitchFamily="18" charset="2"/>
              <a:buChar char=""/>
              <a:defRPr sz="2000">
                <a:solidFill>
                  <a:schemeClr val="tx1"/>
                </a:solidFill>
                <a:latin typeface="Gill Sans MT"/>
                <a:ea typeface="华文中宋" panose="02010600040101010101" pitchFamily="2" charset="-122"/>
              </a:defRPr>
            </a:lvl6pPr>
            <a:lvl7pPr marL="2971800" indent="-228600" eaLnBrk="0" fontAlgn="base" hangingPunct="0">
              <a:spcBef>
                <a:spcPct val="20000"/>
              </a:spcBef>
              <a:spcAft>
                <a:spcPct val="0"/>
              </a:spcAft>
              <a:buClr>
                <a:srgbClr val="8064A2"/>
              </a:buClr>
              <a:buFont typeface="Wingdings 2" panose="05020102010507070707" pitchFamily="18" charset="2"/>
              <a:buChar char=""/>
              <a:defRPr sz="2000">
                <a:solidFill>
                  <a:schemeClr val="tx1"/>
                </a:solidFill>
                <a:latin typeface="Gill Sans MT"/>
                <a:ea typeface="华文中宋" panose="02010600040101010101" pitchFamily="2" charset="-122"/>
              </a:defRPr>
            </a:lvl7pPr>
            <a:lvl8pPr marL="3429000" indent="-228600" eaLnBrk="0" fontAlgn="base" hangingPunct="0">
              <a:spcBef>
                <a:spcPct val="20000"/>
              </a:spcBef>
              <a:spcAft>
                <a:spcPct val="0"/>
              </a:spcAft>
              <a:buClr>
                <a:srgbClr val="8064A2"/>
              </a:buClr>
              <a:buFont typeface="Wingdings 2" panose="05020102010507070707" pitchFamily="18" charset="2"/>
              <a:buChar char=""/>
              <a:defRPr sz="2000">
                <a:solidFill>
                  <a:schemeClr val="tx1"/>
                </a:solidFill>
                <a:latin typeface="Gill Sans MT"/>
                <a:ea typeface="华文中宋" panose="02010600040101010101" pitchFamily="2" charset="-122"/>
              </a:defRPr>
            </a:lvl8pPr>
            <a:lvl9pPr marL="3886200" indent="-228600" eaLnBrk="0" fontAlgn="base" hangingPunct="0">
              <a:spcBef>
                <a:spcPct val="20000"/>
              </a:spcBef>
              <a:spcAft>
                <a:spcPct val="0"/>
              </a:spcAft>
              <a:buClr>
                <a:srgbClr val="8064A2"/>
              </a:buClr>
              <a:buFont typeface="Wingdings 2" panose="05020102010507070707" pitchFamily="18" charset="2"/>
              <a:buChar char=""/>
              <a:defRPr sz="2000">
                <a:solidFill>
                  <a:schemeClr val="tx1"/>
                </a:solidFill>
                <a:latin typeface="Gill Sans MT"/>
                <a:ea typeface="华文中宋" panose="02010600040101010101" pitchFamily="2" charset="-122"/>
              </a:defRPr>
            </a:lvl9pPr>
          </a:lstStyle>
          <a:p>
            <a:pPr algn="ctr" eaLnBrk="1" hangingPunct="1">
              <a:spcBef>
                <a:spcPct val="0"/>
              </a:spcBef>
              <a:spcAft>
                <a:spcPts val="1800"/>
              </a:spcAft>
              <a:buClrTx/>
              <a:buSzTx/>
              <a:buFontTx/>
              <a:buNone/>
            </a:pPr>
            <a:r>
              <a:rPr lang="zh-CN" altLang="en-US" sz="5400" dirty="0" smtClean="0">
                <a:latin typeface="华文中宋" panose="02010600040101010101" pitchFamily="2" charset="-122"/>
              </a:rPr>
              <a:t>余力 </a:t>
            </a:r>
            <a:r>
              <a:rPr lang="zh-CN" altLang="en-US" sz="4000" dirty="0" smtClean="0">
                <a:latin typeface="华文中宋" panose="02010600040101010101" pitchFamily="2" charset="-122"/>
              </a:rPr>
              <a:t>博士</a:t>
            </a:r>
            <a:endParaRPr lang="en-US" altLang="zh-CN" sz="4000" dirty="0" smtClean="0">
              <a:latin typeface="华文中宋" panose="02010600040101010101" pitchFamily="2" charset="-122"/>
            </a:endParaRPr>
          </a:p>
          <a:p>
            <a:pPr algn="ctr" eaLnBrk="1" hangingPunct="1">
              <a:spcBef>
                <a:spcPct val="0"/>
              </a:spcBef>
              <a:spcAft>
                <a:spcPts val="1800"/>
              </a:spcAft>
              <a:buClrTx/>
              <a:buSzTx/>
              <a:buFontTx/>
              <a:buNone/>
            </a:pPr>
            <a:r>
              <a:rPr lang="zh-CN" altLang="en-US" dirty="0" smtClean="0">
                <a:latin typeface="仿宋" panose="02010609060101010101" pitchFamily="49" charset="-122"/>
                <a:ea typeface="仿宋" panose="02010609060101010101" pitchFamily="49" charset="-122"/>
              </a:rPr>
              <a:t>教授、博士生导师</a:t>
            </a:r>
            <a:endParaRPr lang="en-US" altLang="zh-CN" dirty="0" smtClean="0">
              <a:latin typeface="仿宋" panose="02010609060101010101" pitchFamily="49" charset="-122"/>
              <a:ea typeface="仿宋" panose="02010609060101010101" pitchFamily="49" charset="-122"/>
            </a:endParaRPr>
          </a:p>
          <a:p>
            <a:pPr algn="ctr" eaLnBrk="1" hangingPunct="1">
              <a:spcBef>
                <a:spcPct val="0"/>
              </a:spcBef>
              <a:spcAft>
                <a:spcPts val="1800"/>
              </a:spcAft>
              <a:buClrTx/>
              <a:buSzTx/>
              <a:buFontTx/>
              <a:buNone/>
            </a:pPr>
            <a:r>
              <a:rPr lang="zh-CN" altLang="en-US" dirty="0">
                <a:latin typeface="仿宋" panose="02010609060101010101" pitchFamily="49" charset="-122"/>
                <a:ea typeface="仿宋" panose="02010609060101010101" pitchFamily="49" charset="-122"/>
              </a:rPr>
              <a:t>大数据分析与智能决策实验室  </a:t>
            </a:r>
            <a:endParaRPr lang="en-US" altLang="zh-CN" dirty="0">
              <a:latin typeface="仿宋" panose="02010609060101010101" pitchFamily="49" charset="-122"/>
              <a:ea typeface="仿宋" panose="02010609060101010101" pitchFamily="49" charset="-122"/>
            </a:endParaRPr>
          </a:p>
          <a:p>
            <a:pPr algn="ctr" eaLnBrk="1" hangingPunct="1">
              <a:spcBef>
                <a:spcPct val="0"/>
              </a:spcBef>
              <a:spcAft>
                <a:spcPts val="1800"/>
              </a:spcAft>
              <a:buClrTx/>
              <a:buSzTx/>
              <a:buFontTx/>
              <a:buNone/>
            </a:pPr>
            <a:r>
              <a:rPr lang="en-US" altLang="zh-CN" sz="3600" b="0" dirty="0" smtClean="0">
                <a:latin typeface="+mn-lt"/>
              </a:rPr>
              <a:t>buaayuli@ruc.edu.cn</a:t>
            </a:r>
          </a:p>
        </p:txBody>
      </p:sp>
    </p:spTree>
    <p:extLst>
      <p:ext uri="{BB962C8B-B14F-4D97-AF65-F5344CB8AC3E}">
        <p14:creationId xmlns:p14="http://schemas.microsoft.com/office/powerpoint/2010/main" val="1550489039"/>
      </p:ext>
    </p:extLst>
  </p:cSld>
  <p:clrMapOvr>
    <a:masterClrMapping/>
  </p:clrMapOvr>
  <p:transition spd="slow">
    <p:circle/>
  </p:transition>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defRPr/>
            </a:pPr>
            <a:r>
              <a:rPr lang="zh-CN" altLang="en-US" b="0" dirty="0" smtClean="0">
                <a:latin typeface="微软雅黑" pitchFamily="34" charset="-122"/>
                <a:ea typeface="微软雅黑" pitchFamily="34" charset="-122"/>
              </a:rPr>
              <a:t>目录</a:t>
            </a:r>
            <a:endParaRPr lang="zh-CN" altLang="en-US" b="0" dirty="0">
              <a:latin typeface="微软雅黑" pitchFamily="34" charset="-122"/>
              <a:ea typeface="微软雅黑" pitchFamily="34" charset="-122"/>
            </a:endParaRPr>
          </a:p>
        </p:txBody>
      </p:sp>
      <p:sp>
        <p:nvSpPr>
          <p:cNvPr id="3" name="内容占位符 2"/>
          <p:cNvSpPr>
            <a:spLocks noGrp="1"/>
          </p:cNvSpPr>
          <p:nvPr>
            <p:ph idx="1"/>
          </p:nvPr>
        </p:nvSpPr>
        <p:spPr>
          <a:xfrm>
            <a:off x="2932498" y="1196752"/>
            <a:ext cx="4537075" cy="5184576"/>
          </a:xfrm>
        </p:spPr>
        <p:txBody>
          <a:bodyPr/>
          <a:lstStyle/>
          <a:p>
            <a:pPr marL="571500" indent="-571500" eaLnBrk="1" hangingPunct="1">
              <a:lnSpc>
                <a:spcPct val="200000"/>
              </a:lnSpc>
              <a:buClr>
                <a:schemeClr val="tx1"/>
              </a:buClr>
              <a:buSzPct val="100000"/>
              <a:buFont typeface="+mj-lt"/>
              <a:buAutoNum type="arabicPeriod"/>
              <a:defRPr/>
            </a:pPr>
            <a:r>
              <a:rPr lang="zh-CN" altLang="en-US" sz="3200" b="0" dirty="0" smtClean="0"/>
              <a:t>几个实例</a:t>
            </a:r>
            <a:endParaRPr lang="en-US" altLang="zh-CN" sz="3200" b="0" dirty="0" smtClean="0"/>
          </a:p>
          <a:p>
            <a:pPr marL="571500" indent="-571500" eaLnBrk="1" hangingPunct="1">
              <a:lnSpc>
                <a:spcPct val="200000"/>
              </a:lnSpc>
              <a:buClr>
                <a:schemeClr val="tx1"/>
              </a:buClr>
              <a:buSzPct val="100000"/>
              <a:buFont typeface="+mj-lt"/>
              <a:buAutoNum type="arabicPeriod"/>
              <a:defRPr/>
            </a:pPr>
            <a:r>
              <a:rPr lang="zh-CN" altLang="en-US" sz="3200" b="0" dirty="0" smtClean="0"/>
              <a:t>大数据时代背景</a:t>
            </a:r>
            <a:endParaRPr lang="en-US" altLang="zh-CN" sz="3200" b="0" dirty="0" smtClean="0"/>
          </a:p>
          <a:p>
            <a:pPr marL="571500" indent="-571500" eaLnBrk="1" hangingPunct="1">
              <a:lnSpc>
                <a:spcPct val="200000"/>
              </a:lnSpc>
              <a:buClr>
                <a:schemeClr val="tx1"/>
              </a:buClr>
              <a:buSzPct val="100000"/>
              <a:buFont typeface="+mj-lt"/>
              <a:buAutoNum type="arabicPeriod"/>
              <a:defRPr/>
            </a:pPr>
            <a:r>
              <a:rPr lang="zh-CN" altLang="en-US" sz="3200" b="0" dirty="0" smtClean="0"/>
              <a:t>什么是大数据</a:t>
            </a:r>
            <a:endParaRPr lang="en-US" altLang="zh-CN" sz="3200" b="0" dirty="0" smtClean="0"/>
          </a:p>
          <a:p>
            <a:pPr marL="571500" indent="-571500" eaLnBrk="1" hangingPunct="1">
              <a:lnSpc>
                <a:spcPct val="200000"/>
              </a:lnSpc>
              <a:buClr>
                <a:schemeClr val="tx1"/>
              </a:buClr>
              <a:buSzPct val="100000"/>
              <a:buFont typeface="+mj-lt"/>
              <a:buAutoNum type="arabicPeriod"/>
              <a:defRPr/>
            </a:pPr>
            <a:r>
              <a:rPr lang="zh-CN" altLang="en-US" sz="3200" b="0" dirty="0" smtClean="0"/>
              <a:t>大数据思维</a:t>
            </a:r>
            <a:endParaRPr lang="en-US" altLang="zh-CN" sz="3200" b="0" dirty="0" smtClean="0"/>
          </a:p>
          <a:p>
            <a:pPr marL="571500" indent="-571500" eaLnBrk="1" hangingPunct="1">
              <a:lnSpc>
                <a:spcPct val="200000"/>
              </a:lnSpc>
              <a:buClr>
                <a:schemeClr val="tx1"/>
              </a:buClr>
              <a:buSzPct val="100000"/>
              <a:buFont typeface="+mj-lt"/>
              <a:buAutoNum type="arabicPeriod"/>
              <a:defRPr/>
            </a:pPr>
            <a:r>
              <a:rPr lang="zh-CN" altLang="en-US" sz="3200" dirty="0" smtClean="0"/>
              <a:t>大数据分析</a:t>
            </a:r>
            <a:endParaRPr lang="en-US" altLang="zh-CN" sz="3200" b="0" dirty="0" smtClean="0"/>
          </a:p>
        </p:txBody>
      </p:sp>
    </p:spTree>
    <p:extLst>
      <p:ext uri="{BB962C8B-B14F-4D97-AF65-F5344CB8AC3E}">
        <p14:creationId xmlns:p14="http://schemas.microsoft.com/office/powerpoint/2010/main" val="451054996"/>
      </p:ext>
    </p:extLst>
  </p:cSld>
  <p:clrMapOvr>
    <a:masterClrMapping/>
  </p:clrMapOvr>
  <p:transition spd="slow">
    <p:circle/>
  </p:transition>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本框 4">
            <a:extLst>
              <a:ext uri="{FF2B5EF4-FFF2-40B4-BE49-F238E27FC236}">
                <a16:creationId xmlns:a16="http://schemas.microsoft.com/office/drawing/2014/main" id="{81D1A8D4-A673-4A3B-8AB4-E1C064BCB58F}"/>
              </a:ext>
            </a:extLst>
          </p:cNvPr>
          <p:cNvSpPr txBox="1"/>
          <p:nvPr/>
        </p:nvSpPr>
        <p:spPr>
          <a:xfrm>
            <a:off x="1331640" y="2961743"/>
            <a:ext cx="6264696" cy="923330"/>
          </a:xfrm>
          <a:prstGeom prst="rect">
            <a:avLst/>
          </a:prstGeom>
          <a:noFill/>
        </p:spPr>
        <p:txBody>
          <a:bodyPr wrap="square" rtlCol="0">
            <a:spAutoFit/>
          </a:bodyPr>
          <a:lstStyle/>
          <a:p>
            <a:pPr algn="ctr"/>
            <a:r>
              <a:rPr lang="en-US" altLang="zh-CN" sz="5400" b="0" dirty="0" smtClean="0">
                <a:solidFill>
                  <a:srgbClr val="FF0000"/>
                </a:solidFill>
                <a:latin typeface="微软雅黑" panose="020B0503020204020204" pitchFamily="34" charset="-122"/>
                <a:ea typeface="微软雅黑" panose="020B0503020204020204" pitchFamily="34" charset="-122"/>
              </a:rPr>
              <a:t>1. </a:t>
            </a:r>
            <a:r>
              <a:rPr lang="zh-CN" altLang="en-US" sz="5400" b="0" dirty="0" smtClean="0">
                <a:solidFill>
                  <a:srgbClr val="FF0000"/>
                </a:solidFill>
                <a:latin typeface="微软雅黑" panose="020B0503020204020204" pitchFamily="34" charset="-122"/>
                <a:ea typeface="微软雅黑" panose="020B0503020204020204" pitchFamily="34" charset="-122"/>
              </a:rPr>
              <a:t>几个例子</a:t>
            </a:r>
            <a:endParaRPr lang="zh-CN" altLang="en-US" sz="5400" b="0" dirty="0">
              <a:solidFill>
                <a:srgbClr val="FF0000"/>
              </a:solidFill>
              <a:latin typeface="微软雅黑" panose="020B0503020204020204" pitchFamily="34" charset="-122"/>
              <a:ea typeface="微软雅黑" panose="020B0503020204020204" pitchFamily="34" charset="-122"/>
            </a:endParaRPr>
          </a:p>
        </p:txBody>
      </p:sp>
      <p:sp>
        <p:nvSpPr>
          <p:cNvPr id="6" name="Freeform 14">
            <a:extLst>
              <a:ext uri="{FF2B5EF4-FFF2-40B4-BE49-F238E27FC236}">
                <a16:creationId xmlns:a16="http://schemas.microsoft.com/office/drawing/2014/main" id="{B602F2C2-90ED-4AB6-9B44-1F7F2F037278}"/>
              </a:ext>
            </a:extLst>
          </p:cNvPr>
          <p:cNvSpPr/>
          <p:nvPr/>
        </p:nvSpPr>
        <p:spPr>
          <a:xfrm>
            <a:off x="4053105" y="1407496"/>
            <a:ext cx="1108861" cy="1039289"/>
          </a:xfrm>
          <a:custGeom>
            <a:avLst/>
            <a:gdLst>
              <a:gd name="connsiteX0" fmla="*/ 388426 w 607282"/>
              <a:gd name="connsiteY0" fmla="*/ 385710 h 569180"/>
              <a:gd name="connsiteX1" fmla="*/ 431276 w 607282"/>
              <a:gd name="connsiteY1" fmla="*/ 385710 h 569180"/>
              <a:gd name="connsiteX2" fmla="*/ 431276 w 607282"/>
              <a:gd name="connsiteY2" fmla="*/ 438433 h 569180"/>
              <a:gd name="connsiteX3" fmla="*/ 522771 w 607282"/>
              <a:gd name="connsiteY3" fmla="*/ 529738 h 569180"/>
              <a:gd name="connsiteX4" fmla="*/ 522771 w 607282"/>
              <a:gd name="connsiteY4" fmla="*/ 559964 h 569180"/>
              <a:gd name="connsiteX5" fmla="*/ 492483 w 607282"/>
              <a:gd name="connsiteY5" fmla="*/ 559964 h 569180"/>
              <a:gd name="connsiteX6" fmla="*/ 431276 w 607282"/>
              <a:gd name="connsiteY6" fmla="*/ 498941 h 569180"/>
              <a:gd name="connsiteX7" fmla="*/ 431276 w 607282"/>
              <a:gd name="connsiteY7" fmla="*/ 547771 h 569180"/>
              <a:gd name="connsiteX8" fmla="*/ 409822 w 607282"/>
              <a:gd name="connsiteY8" fmla="*/ 569180 h 569180"/>
              <a:gd name="connsiteX9" fmla="*/ 388426 w 607282"/>
              <a:gd name="connsiteY9" fmla="*/ 547771 h 569180"/>
              <a:gd name="connsiteX10" fmla="*/ 388426 w 607282"/>
              <a:gd name="connsiteY10" fmla="*/ 498941 h 569180"/>
              <a:gd name="connsiteX11" fmla="*/ 327276 w 607282"/>
              <a:gd name="connsiteY11" fmla="*/ 559964 h 569180"/>
              <a:gd name="connsiteX12" fmla="*/ 296988 w 607282"/>
              <a:gd name="connsiteY12" fmla="*/ 559964 h 569180"/>
              <a:gd name="connsiteX13" fmla="*/ 296988 w 607282"/>
              <a:gd name="connsiteY13" fmla="*/ 529738 h 569180"/>
              <a:gd name="connsiteX14" fmla="*/ 296931 w 607282"/>
              <a:gd name="connsiteY14" fmla="*/ 529738 h 569180"/>
              <a:gd name="connsiteX15" fmla="*/ 388426 w 607282"/>
              <a:gd name="connsiteY15" fmla="*/ 438433 h 569180"/>
              <a:gd name="connsiteX16" fmla="*/ 388426 w 607282"/>
              <a:gd name="connsiteY16" fmla="*/ 434597 h 569180"/>
              <a:gd name="connsiteX17" fmla="*/ 38140 w 607282"/>
              <a:gd name="connsiteY17" fmla="*/ 145929 h 569180"/>
              <a:gd name="connsiteX18" fmla="*/ 38255 w 607282"/>
              <a:gd name="connsiteY18" fmla="*/ 145929 h 569180"/>
              <a:gd name="connsiteX19" fmla="*/ 66358 w 607282"/>
              <a:gd name="connsiteY19" fmla="*/ 145929 h 569180"/>
              <a:gd name="connsiteX20" fmla="*/ 68767 w 607282"/>
              <a:gd name="connsiteY20" fmla="*/ 161160 h 569180"/>
              <a:gd name="connsiteX21" fmla="*/ 76453 w 607282"/>
              <a:gd name="connsiteY21" fmla="*/ 208857 h 569180"/>
              <a:gd name="connsiteX22" fmla="*/ 82589 w 607282"/>
              <a:gd name="connsiteY22" fmla="*/ 246763 h 569180"/>
              <a:gd name="connsiteX23" fmla="*/ 92684 w 607282"/>
              <a:gd name="connsiteY23" fmla="*/ 246763 h 569180"/>
              <a:gd name="connsiteX24" fmla="*/ 99222 w 607282"/>
              <a:gd name="connsiteY24" fmla="*/ 172898 h 569180"/>
              <a:gd name="connsiteX25" fmla="*/ 91594 w 607282"/>
              <a:gd name="connsiteY25" fmla="*/ 145929 h 569180"/>
              <a:gd name="connsiteX26" fmla="*/ 136502 w 607282"/>
              <a:gd name="connsiteY26" fmla="*/ 145929 h 569180"/>
              <a:gd name="connsiteX27" fmla="*/ 128874 w 607282"/>
              <a:gd name="connsiteY27" fmla="*/ 172898 h 569180"/>
              <a:gd name="connsiteX28" fmla="*/ 135355 w 607282"/>
              <a:gd name="connsiteY28" fmla="*/ 246763 h 569180"/>
              <a:gd name="connsiteX29" fmla="*/ 145507 w 607282"/>
              <a:gd name="connsiteY29" fmla="*/ 246763 h 569180"/>
              <a:gd name="connsiteX30" fmla="*/ 153192 w 607282"/>
              <a:gd name="connsiteY30" fmla="*/ 198780 h 569180"/>
              <a:gd name="connsiteX31" fmla="*/ 161738 w 607282"/>
              <a:gd name="connsiteY31" fmla="*/ 145929 h 569180"/>
              <a:gd name="connsiteX32" fmla="*/ 336094 w 607282"/>
              <a:gd name="connsiteY32" fmla="*/ 145929 h 569180"/>
              <a:gd name="connsiteX33" fmla="*/ 374349 w 607282"/>
              <a:gd name="connsiteY33" fmla="*/ 184121 h 569180"/>
              <a:gd name="connsiteX34" fmla="*/ 336094 w 607282"/>
              <a:gd name="connsiteY34" fmla="*/ 222256 h 569180"/>
              <a:gd name="connsiteX35" fmla="*/ 189841 w 607282"/>
              <a:gd name="connsiteY35" fmla="*/ 222256 h 569180"/>
              <a:gd name="connsiteX36" fmla="*/ 189841 w 607282"/>
              <a:gd name="connsiteY36" fmla="*/ 298011 h 569180"/>
              <a:gd name="connsiteX37" fmla="*/ 189841 w 607282"/>
              <a:gd name="connsiteY37" fmla="*/ 365807 h 569180"/>
              <a:gd name="connsiteX38" fmla="*/ 189841 w 607282"/>
              <a:gd name="connsiteY38" fmla="*/ 528081 h 569180"/>
              <a:gd name="connsiteX39" fmla="*/ 151586 w 607282"/>
              <a:gd name="connsiteY39" fmla="*/ 566216 h 569180"/>
              <a:gd name="connsiteX40" fmla="*/ 114019 w 607282"/>
              <a:gd name="connsiteY40" fmla="*/ 535239 h 569180"/>
              <a:gd name="connsiteX41" fmla="*/ 76453 w 607282"/>
              <a:gd name="connsiteY41" fmla="*/ 566216 h 569180"/>
              <a:gd name="connsiteX42" fmla="*/ 38255 w 607282"/>
              <a:gd name="connsiteY42" fmla="*/ 528081 h 569180"/>
              <a:gd name="connsiteX43" fmla="*/ 38255 w 607282"/>
              <a:gd name="connsiteY43" fmla="*/ 384874 h 569180"/>
              <a:gd name="connsiteX44" fmla="*/ 0 w 607282"/>
              <a:gd name="connsiteY44" fmla="*/ 346739 h 569180"/>
              <a:gd name="connsiteX45" fmla="*/ 0 w 607282"/>
              <a:gd name="connsiteY45" fmla="*/ 184121 h 569180"/>
              <a:gd name="connsiteX46" fmla="*/ 38140 w 607282"/>
              <a:gd name="connsiteY46" fmla="*/ 145929 h 569180"/>
              <a:gd name="connsiteX47" fmla="*/ 545532 w 607282"/>
              <a:gd name="connsiteY47" fmla="*/ 89195 h 569180"/>
              <a:gd name="connsiteX48" fmla="*/ 587343 w 607282"/>
              <a:gd name="connsiteY48" fmla="*/ 89195 h 569180"/>
              <a:gd name="connsiteX49" fmla="*/ 587343 w 607282"/>
              <a:gd name="connsiteY49" fmla="*/ 124061 h 569180"/>
              <a:gd name="connsiteX50" fmla="*/ 587228 w 607282"/>
              <a:gd name="connsiteY50" fmla="*/ 124061 h 569180"/>
              <a:gd name="connsiteX51" fmla="*/ 587343 w 607282"/>
              <a:gd name="connsiteY51" fmla="*/ 324787 h 569180"/>
              <a:gd name="connsiteX52" fmla="*/ 541403 w 607282"/>
              <a:gd name="connsiteY52" fmla="*/ 370989 h 569180"/>
              <a:gd name="connsiteX53" fmla="*/ 278325 w 607282"/>
              <a:gd name="connsiteY53" fmla="*/ 370531 h 569180"/>
              <a:gd name="connsiteX54" fmla="*/ 233131 w 607282"/>
              <a:gd name="connsiteY54" fmla="*/ 331027 h 569180"/>
              <a:gd name="connsiteX55" fmla="*/ 232729 w 607282"/>
              <a:gd name="connsiteY55" fmla="*/ 233012 h 569180"/>
              <a:gd name="connsiteX56" fmla="*/ 272475 w 607282"/>
              <a:gd name="connsiteY56" fmla="*/ 233012 h 569180"/>
              <a:gd name="connsiteX57" fmla="*/ 272475 w 607282"/>
              <a:gd name="connsiteY57" fmla="*/ 330340 h 569180"/>
              <a:gd name="connsiteX58" fmla="*/ 545532 w 607282"/>
              <a:gd name="connsiteY58" fmla="*/ 329997 h 569180"/>
              <a:gd name="connsiteX59" fmla="*/ 545532 w 607282"/>
              <a:gd name="connsiteY59" fmla="*/ 124061 h 569180"/>
              <a:gd name="connsiteX60" fmla="*/ 231948 w 607282"/>
              <a:gd name="connsiteY60" fmla="*/ 89124 h 569180"/>
              <a:gd name="connsiteX61" fmla="*/ 273793 w 607282"/>
              <a:gd name="connsiteY61" fmla="*/ 89124 h 569180"/>
              <a:gd name="connsiteX62" fmla="*/ 273793 w 607282"/>
              <a:gd name="connsiteY62" fmla="*/ 135062 h 569180"/>
              <a:gd name="connsiteX63" fmla="*/ 272240 w 607282"/>
              <a:gd name="connsiteY63" fmla="*/ 135062 h 569180"/>
              <a:gd name="connsiteX64" fmla="*/ 233571 w 607282"/>
              <a:gd name="connsiteY64" fmla="*/ 135062 h 569180"/>
              <a:gd name="connsiteX65" fmla="*/ 231948 w 607282"/>
              <a:gd name="connsiteY65" fmla="*/ 135062 h 569180"/>
              <a:gd name="connsiteX66" fmla="*/ 409822 w 607282"/>
              <a:gd name="connsiteY66" fmla="*/ 10232 h 569180"/>
              <a:gd name="connsiteX67" fmla="*/ 437925 w 607282"/>
              <a:gd name="connsiteY67" fmla="*/ 35771 h 569180"/>
              <a:gd name="connsiteX68" fmla="*/ 447503 w 607282"/>
              <a:gd name="connsiteY68" fmla="*/ 35771 h 569180"/>
              <a:gd name="connsiteX69" fmla="*/ 578958 w 607282"/>
              <a:gd name="connsiteY69" fmla="*/ 35828 h 569180"/>
              <a:gd name="connsiteX70" fmla="*/ 593009 w 607282"/>
              <a:gd name="connsiteY70" fmla="*/ 37031 h 569180"/>
              <a:gd name="connsiteX71" fmla="*/ 607233 w 607282"/>
              <a:gd name="connsiteY71" fmla="*/ 57874 h 569180"/>
              <a:gd name="connsiteX72" fmla="*/ 587159 w 607282"/>
              <a:gd name="connsiteY72" fmla="*/ 76828 h 569180"/>
              <a:gd name="connsiteX73" fmla="*/ 579244 w 607282"/>
              <a:gd name="connsiteY73" fmla="*/ 76885 h 569180"/>
              <a:gd name="connsiteX74" fmla="*/ 241776 w 607282"/>
              <a:gd name="connsiteY74" fmla="*/ 76885 h 569180"/>
              <a:gd name="connsiteX75" fmla="*/ 233861 w 607282"/>
              <a:gd name="connsiteY75" fmla="*/ 76828 h 569180"/>
              <a:gd name="connsiteX76" fmla="*/ 212984 w 607282"/>
              <a:gd name="connsiteY76" fmla="*/ 56672 h 569180"/>
              <a:gd name="connsiteX77" fmla="*/ 233287 w 607282"/>
              <a:gd name="connsiteY77" fmla="*/ 35943 h 569180"/>
              <a:gd name="connsiteX78" fmla="*/ 244357 w 607282"/>
              <a:gd name="connsiteY78" fmla="*/ 35771 h 569180"/>
              <a:gd name="connsiteX79" fmla="*/ 371108 w 607282"/>
              <a:gd name="connsiteY79" fmla="*/ 35771 h 569180"/>
              <a:gd name="connsiteX80" fmla="*/ 381661 w 607282"/>
              <a:gd name="connsiteY80" fmla="*/ 35771 h 569180"/>
              <a:gd name="connsiteX81" fmla="*/ 409822 w 607282"/>
              <a:gd name="connsiteY81" fmla="*/ 10232 h 569180"/>
              <a:gd name="connsiteX82" fmla="*/ 114034 w 607282"/>
              <a:gd name="connsiteY82" fmla="*/ 0 h 569180"/>
              <a:gd name="connsiteX83" fmla="*/ 182130 w 607282"/>
              <a:gd name="connsiteY83" fmla="*/ 67990 h 569180"/>
              <a:gd name="connsiteX84" fmla="*/ 114034 w 607282"/>
              <a:gd name="connsiteY84" fmla="*/ 135980 h 569180"/>
              <a:gd name="connsiteX85" fmla="*/ 45938 w 607282"/>
              <a:gd name="connsiteY85" fmla="*/ 67990 h 569180"/>
              <a:gd name="connsiteX86" fmla="*/ 114034 w 607282"/>
              <a:gd name="connsiteY86" fmla="*/ 0 h 5691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Lst>
            <a:rect l="l" t="t" r="r" b="b"/>
            <a:pathLst>
              <a:path w="607282" h="569180">
                <a:moveTo>
                  <a:pt x="388426" y="385710"/>
                </a:moveTo>
                <a:lnTo>
                  <a:pt x="431276" y="385710"/>
                </a:lnTo>
                <a:lnTo>
                  <a:pt x="431276" y="438433"/>
                </a:lnTo>
                <a:lnTo>
                  <a:pt x="522771" y="529738"/>
                </a:lnTo>
                <a:cubicBezTo>
                  <a:pt x="531146" y="538096"/>
                  <a:pt x="531146" y="551606"/>
                  <a:pt x="522771" y="559964"/>
                </a:cubicBezTo>
                <a:cubicBezTo>
                  <a:pt x="514396" y="568321"/>
                  <a:pt x="500858" y="568321"/>
                  <a:pt x="492483" y="559964"/>
                </a:cubicBezTo>
                <a:lnTo>
                  <a:pt x="431276" y="498941"/>
                </a:lnTo>
                <a:lnTo>
                  <a:pt x="431276" y="547771"/>
                </a:lnTo>
                <a:cubicBezTo>
                  <a:pt x="431276" y="559563"/>
                  <a:pt x="421697" y="569180"/>
                  <a:pt x="409822" y="569180"/>
                </a:cubicBezTo>
                <a:cubicBezTo>
                  <a:pt x="398005" y="569180"/>
                  <a:pt x="388426" y="559563"/>
                  <a:pt x="388426" y="547771"/>
                </a:cubicBezTo>
                <a:lnTo>
                  <a:pt x="388426" y="498941"/>
                </a:lnTo>
                <a:lnTo>
                  <a:pt x="327276" y="559964"/>
                </a:lnTo>
                <a:cubicBezTo>
                  <a:pt x="318901" y="568321"/>
                  <a:pt x="305306" y="568321"/>
                  <a:pt x="296988" y="559964"/>
                </a:cubicBezTo>
                <a:cubicBezTo>
                  <a:pt x="288613" y="551606"/>
                  <a:pt x="288613" y="538096"/>
                  <a:pt x="296988" y="529738"/>
                </a:cubicBezTo>
                <a:lnTo>
                  <a:pt x="296931" y="529738"/>
                </a:lnTo>
                <a:lnTo>
                  <a:pt x="388426" y="438433"/>
                </a:lnTo>
                <a:lnTo>
                  <a:pt x="388426" y="434597"/>
                </a:lnTo>
                <a:close/>
                <a:moveTo>
                  <a:pt x="38140" y="145929"/>
                </a:moveTo>
                <a:lnTo>
                  <a:pt x="38255" y="145929"/>
                </a:lnTo>
                <a:lnTo>
                  <a:pt x="66358" y="145929"/>
                </a:lnTo>
                <a:lnTo>
                  <a:pt x="68767" y="161160"/>
                </a:lnTo>
                <a:lnTo>
                  <a:pt x="76453" y="208857"/>
                </a:lnTo>
                <a:lnTo>
                  <a:pt x="82589" y="246763"/>
                </a:lnTo>
                <a:lnTo>
                  <a:pt x="92684" y="246763"/>
                </a:lnTo>
                <a:lnTo>
                  <a:pt x="99222" y="172898"/>
                </a:lnTo>
                <a:lnTo>
                  <a:pt x="91594" y="145929"/>
                </a:lnTo>
                <a:lnTo>
                  <a:pt x="136502" y="145929"/>
                </a:lnTo>
                <a:lnTo>
                  <a:pt x="128874" y="172898"/>
                </a:lnTo>
                <a:lnTo>
                  <a:pt x="135355" y="246763"/>
                </a:lnTo>
                <a:lnTo>
                  <a:pt x="145507" y="246763"/>
                </a:lnTo>
                <a:lnTo>
                  <a:pt x="153192" y="198780"/>
                </a:lnTo>
                <a:lnTo>
                  <a:pt x="161738" y="145929"/>
                </a:lnTo>
                <a:lnTo>
                  <a:pt x="336094" y="145929"/>
                </a:lnTo>
                <a:cubicBezTo>
                  <a:pt x="357200" y="145929"/>
                  <a:pt x="374349" y="162992"/>
                  <a:pt x="374349" y="184121"/>
                </a:cubicBezTo>
                <a:cubicBezTo>
                  <a:pt x="374349" y="205193"/>
                  <a:pt x="357200" y="222256"/>
                  <a:pt x="336094" y="222256"/>
                </a:cubicBezTo>
                <a:lnTo>
                  <a:pt x="189841" y="222256"/>
                </a:lnTo>
                <a:lnTo>
                  <a:pt x="189841" y="298011"/>
                </a:lnTo>
                <a:lnTo>
                  <a:pt x="189841" y="365807"/>
                </a:lnTo>
                <a:lnTo>
                  <a:pt x="189841" y="528081"/>
                </a:lnTo>
                <a:cubicBezTo>
                  <a:pt x="189841" y="549153"/>
                  <a:pt x="172692" y="566216"/>
                  <a:pt x="151586" y="566216"/>
                </a:cubicBezTo>
                <a:cubicBezTo>
                  <a:pt x="132889" y="566216"/>
                  <a:pt x="117403" y="552875"/>
                  <a:pt x="114019" y="535239"/>
                </a:cubicBezTo>
                <a:cubicBezTo>
                  <a:pt x="110693" y="552875"/>
                  <a:pt x="95150" y="566216"/>
                  <a:pt x="76453" y="566216"/>
                </a:cubicBezTo>
                <a:cubicBezTo>
                  <a:pt x="55346" y="566216"/>
                  <a:pt x="38255" y="549153"/>
                  <a:pt x="38255" y="528081"/>
                </a:cubicBezTo>
                <a:lnTo>
                  <a:pt x="38255" y="384874"/>
                </a:lnTo>
                <a:cubicBezTo>
                  <a:pt x="17091" y="384874"/>
                  <a:pt x="0" y="367811"/>
                  <a:pt x="0" y="346739"/>
                </a:cubicBezTo>
                <a:lnTo>
                  <a:pt x="0" y="184121"/>
                </a:lnTo>
                <a:cubicBezTo>
                  <a:pt x="0" y="163050"/>
                  <a:pt x="17091" y="145986"/>
                  <a:pt x="38140" y="145929"/>
                </a:cubicBezTo>
                <a:close/>
                <a:moveTo>
                  <a:pt x="545532" y="89195"/>
                </a:moveTo>
                <a:lnTo>
                  <a:pt x="587343" y="89195"/>
                </a:lnTo>
                <a:lnTo>
                  <a:pt x="587343" y="124061"/>
                </a:lnTo>
                <a:lnTo>
                  <a:pt x="587228" y="124061"/>
                </a:lnTo>
                <a:cubicBezTo>
                  <a:pt x="587228" y="190989"/>
                  <a:pt x="587056" y="257859"/>
                  <a:pt x="587343" y="324787"/>
                </a:cubicBezTo>
                <a:cubicBezTo>
                  <a:pt x="587457" y="352669"/>
                  <a:pt x="567498" y="371104"/>
                  <a:pt x="541403" y="370989"/>
                </a:cubicBezTo>
                <a:cubicBezTo>
                  <a:pt x="453710" y="370646"/>
                  <a:pt x="366018" y="370703"/>
                  <a:pt x="278325" y="370531"/>
                </a:cubicBezTo>
                <a:cubicBezTo>
                  <a:pt x="255441" y="370474"/>
                  <a:pt x="234278" y="353527"/>
                  <a:pt x="233131" y="331027"/>
                </a:cubicBezTo>
                <a:cubicBezTo>
                  <a:pt x="231525" y="299024"/>
                  <a:pt x="232729" y="266905"/>
                  <a:pt x="232729" y="233012"/>
                </a:cubicBezTo>
                <a:lnTo>
                  <a:pt x="272475" y="233012"/>
                </a:lnTo>
                <a:lnTo>
                  <a:pt x="272475" y="330340"/>
                </a:lnTo>
                <a:cubicBezTo>
                  <a:pt x="364010" y="330512"/>
                  <a:pt x="453997" y="330398"/>
                  <a:pt x="545532" y="329997"/>
                </a:cubicBezTo>
                <a:lnTo>
                  <a:pt x="545532" y="124061"/>
                </a:lnTo>
                <a:close/>
                <a:moveTo>
                  <a:pt x="231948" y="89124"/>
                </a:moveTo>
                <a:lnTo>
                  <a:pt x="273793" y="89124"/>
                </a:lnTo>
                <a:lnTo>
                  <a:pt x="273793" y="135062"/>
                </a:lnTo>
                <a:lnTo>
                  <a:pt x="272240" y="135062"/>
                </a:lnTo>
                <a:lnTo>
                  <a:pt x="233571" y="135062"/>
                </a:lnTo>
                <a:lnTo>
                  <a:pt x="231948" y="135062"/>
                </a:lnTo>
                <a:close/>
                <a:moveTo>
                  <a:pt x="409822" y="10232"/>
                </a:moveTo>
                <a:cubicBezTo>
                  <a:pt x="424505" y="10232"/>
                  <a:pt x="436606" y="21455"/>
                  <a:pt x="437925" y="35771"/>
                </a:cubicBezTo>
                <a:lnTo>
                  <a:pt x="447503" y="35771"/>
                </a:lnTo>
                <a:cubicBezTo>
                  <a:pt x="491321" y="35771"/>
                  <a:pt x="535140" y="35771"/>
                  <a:pt x="578958" y="35828"/>
                </a:cubicBezTo>
                <a:cubicBezTo>
                  <a:pt x="583661" y="35828"/>
                  <a:pt x="588650" y="35599"/>
                  <a:pt x="593009" y="37031"/>
                </a:cubicBezTo>
                <a:cubicBezTo>
                  <a:pt x="601326" y="39665"/>
                  <a:pt x="607921" y="50144"/>
                  <a:pt x="607233" y="57874"/>
                </a:cubicBezTo>
                <a:cubicBezTo>
                  <a:pt x="606315" y="67380"/>
                  <a:pt x="597368" y="75912"/>
                  <a:pt x="587159" y="76828"/>
                </a:cubicBezTo>
                <a:cubicBezTo>
                  <a:pt x="584521" y="77057"/>
                  <a:pt x="581883" y="76885"/>
                  <a:pt x="579244" y="76885"/>
                </a:cubicBezTo>
                <a:cubicBezTo>
                  <a:pt x="466774" y="76885"/>
                  <a:pt x="354304" y="76885"/>
                  <a:pt x="241776" y="76885"/>
                </a:cubicBezTo>
                <a:cubicBezTo>
                  <a:pt x="239137" y="76885"/>
                  <a:pt x="236499" y="77057"/>
                  <a:pt x="233861" y="76828"/>
                </a:cubicBezTo>
                <a:cubicBezTo>
                  <a:pt x="223078" y="75740"/>
                  <a:pt x="213156" y="66120"/>
                  <a:pt x="212984" y="56672"/>
                </a:cubicBezTo>
                <a:cubicBezTo>
                  <a:pt x="212755" y="47166"/>
                  <a:pt x="222448" y="37088"/>
                  <a:pt x="233287" y="35943"/>
                </a:cubicBezTo>
                <a:cubicBezTo>
                  <a:pt x="236958" y="35542"/>
                  <a:pt x="240686" y="35771"/>
                  <a:pt x="244357" y="35771"/>
                </a:cubicBezTo>
                <a:cubicBezTo>
                  <a:pt x="286626" y="35771"/>
                  <a:pt x="328839" y="35771"/>
                  <a:pt x="371108" y="35771"/>
                </a:cubicBezTo>
                <a:lnTo>
                  <a:pt x="381661" y="35771"/>
                </a:lnTo>
                <a:cubicBezTo>
                  <a:pt x="382981" y="21455"/>
                  <a:pt x="395082" y="10232"/>
                  <a:pt x="409822" y="10232"/>
                </a:cubicBezTo>
                <a:close/>
                <a:moveTo>
                  <a:pt x="114034" y="0"/>
                </a:moveTo>
                <a:cubicBezTo>
                  <a:pt x="151642" y="0"/>
                  <a:pt x="182130" y="30440"/>
                  <a:pt x="182130" y="67990"/>
                </a:cubicBezTo>
                <a:cubicBezTo>
                  <a:pt x="182130" y="105540"/>
                  <a:pt x="151642" y="135980"/>
                  <a:pt x="114034" y="135980"/>
                </a:cubicBezTo>
                <a:cubicBezTo>
                  <a:pt x="76426" y="135980"/>
                  <a:pt x="45938" y="105540"/>
                  <a:pt x="45938" y="67990"/>
                </a:cubicBezTo>
                <a:cubicBezTo>
                  <a:pt x="45938" y="30440"/>
                  <a:pt x="76426" y="0"/>
                  <a:pt x="114034" y="0"/>
                </a:cubicBezTo>
                <a:close/>
              </a:path>
            </a:pathLst>
          </a:custGeom>
          <a:solidFill>
            <a:srgbClr val="3F3B3A"/>
          </a:solidFill>
          <a:ln w="12700" cap="flat">
            <a:noFill/>
            <a:miter lim="400000"/>
          </a:ln>
          <a:effectLst/>
        </p:spPr>
        <p:txBody>
          <a:bodyPr wrap="square" lIns="91439" tIns="91439" rIns="91439" bIns="91439" numCol="1" anchor="t">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a:latin typeface="思源黑体 CN Medium" panose="020B0600000000000000" pitchFamily="34" charset="-122"/>
              <a:ea typeface="思源黑体 CN Medium" panose="020B0600000000000000" pitchFamily="34" charset="-122"/>
            </a:endParaRPr>
          </a:p>
        </p:txBody>
      </p:sp>
      <p:cxnSp>
        <p:nvCxnSpPr>
          <p:cNvPr id="7" name="直接连接符 6">
            <a:extLst>
              <a:ext uri="{FF2B5EF4-FFF2-40B4-BE49-F238E27FC236}">
                <a16:creationId xmlns:a16="http://schemas.microsoft.com/office/drawing/2014/main" id="{D7FC733E-4E96-45E0-B9E5-24BD4CBE51BD}"/>
              </a:ext>
            </a:extLst>
          </p:cNvPr>
          <p:cNvCxnSpPr>
            <a:cxnSpLocks/>
          </p:cNvCxnSpPr>
          <p:nvPr/>
        </p:nvCxnSpPr>
        <p:spPr>
          <a:xfrm>
            <a:off x="1024175" y="4221088"/>
            <a:ext cx="7056784" cy="0"/>
          </a:xfrm>
          <a:prstGeom prst="line">
            <a:avLst/>
          </a:prstGeom>
          <a:ln w="15875">
            <a:solidFill>
              <a:srgbClr val="3F3B3A"/>
            </a:solidFill>
          </a:ln>
        </p:spPr>
        <p:style>
          <a:lnRef idx="1">
            <a:schemeClr val="accent1"/>
          </a:lnRef>
          <a:fillRef idx="0">
            <a:schemeClr val="accent1"/>
          </a:fillRef>
          <a:effectRef idx="0">
            <a:schemeClr val="accent1"/>
          </a:effectRef>
          <a:fontRef idx="minor">
            <a:schemeClr val="tx1"/>
          </a:fontRef>
        </p:style>
      </p:cxnSp>
      <p:cxnSp>
        <p:nvCxnSpPr>
          <p:cNvPr id="11" name="直接连接符 10">
            <a:extLst>
              <a:ext uri="{FF2B5EF4-FFF2-40B4-BE49-F238E27FC236}">
                <a16:creationId xmlns:a16="http://schemas.microsoft.com/office/drawing/2014/main" id="{D7FC733E-4E96-45E0-B9E5-24BD4CBE51BD}"/>
              </a:ext>
            </a:extLst>
          </p:cNvPr>
          <p:cNvCxnSpPr>
            <a:cxnSpLocks/>
          </p:cNvCxnSpPr>
          <p:nvPr/>
        </p:nvCxnSpPr>
        <p:spPr>
          <a:xfrm>
            <a:off x="978293" y="2625728"/>
            <a:ext cx="7056784" cy="0"/>
          </a:xfrm>
          <a:prstGeom prst="line">
            <a:avLst/>
          </a:prstGeom>
          <a:ln w="15875">
            <a:solidFill>
              <a:srgbClr val="3F3B3A"/>
            </a:solidFill>
          </a:ln>
        </p:spPr>
        <p:style>
          <a:lnRef idx="1">
            <a:schemeClr val="accent1"/>
          </a:lnRef>
          <a:fillRef idx="0">
            <a:schemeClr val="accent1"/>
          </a:fillRef>
          <a:effectRef idx="0">
            <a:schemeClr val="accent1"/>
          </a:effectRef>
          <a:fontRef idx="minor">
            <a:schemeClr val="tx1"/>
          </a:fontRef>
        </p:style>
      </p:cxnSp>
      <p:pic>
        <p:nvPicPr>
          <p:cNvPr id="9" name="图片 8"/>
          <p:cNvPicPr>
            <a:picLocks noChangeAspect="1"/>
          </p:cNvPicPr>
          <p:nvPr/>
        </p:nvPicPr>
        <p:blipFill>
          <a:blip r:embed="rId2"/>
          <a:stretch>
            <a:fillRect/>
          </a:stretch>
        </p:blipFill>
        <p:spPr>
          <a:xfrm>
            <a:off x="6156176" y="260648"/>
            <a:ext cx="2660986" cy="610982"/>
          </a:xfrm>
          <a:prstGeom prst="rect">
            <a:avLst/>
          </a:prstGeom>
        </p:spPr>
      </p:pic>
    </p:spTree>
    <p:extLst>
      <p:ext uri="{BB962C8B-B14F-4D97-AF65-F5344CB8AC3E}">
        <p14:creationId xmlns:p14="http://schemas.microsoft.com/office/powerpoint/2010/main" val="3829158845"/>
      </p:ext>
    </p:extLst>
  </p:cSld>
  <p:clrMapOvr>
    <a:masterClrMapping/>
  </p:clrMapOvr>
  <p:transition spd="slow">
    <p:circle/>
  </p:transition>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b="0" dirty="0" smtClean="0">
                <a:latin typeface="微软雅黑" pitchFamily="34" charset="-122"/>
                <a:ea typeface="微软雅黑" pitchFamily="34" charset="-122"/>
              </a:rPr>
              <a:t>例</a:t>
            </a:r>
            <a:r>
              <a:rPr lang="en-US" altLang="zh-CN" b="0" dirty="0" smtClean="0">
                <a:latin typeface="微软雅黑" pitchFamily="34" charset="-122"/>
                <a:ea typeface="微软雅黑" pitchFamily="34" charset="-122"/>
              </a:rPr>
              <a:t>1</a:t>
            </a:r>
            <a:r>
              <a:rPr lang="zh-CN" altLang="en-US" b="0" dirty="0" smtClean="0">
                <a:latin typeface="微软雅黑" pitchFamily="34" charset="-122"/>
                <a:ea typeface="微软雅黑" pitchFamily="34" charset="-122"/>
              </a:rPr>
              <a:t>：</a:t>
            </a:r>
            <a:r>
              <a:rPr lang="zh-CN" altLang="zh-CN" b="0" dirty="0">
                <a:latin typeface="微软雅黑" pitchFamily="34" charset="-122"/>
                <a:ea typeface="微软雅黑" pitchFamily="34" charset="-122"/>
              </a:rPr>
              <a:t>预测流感</a:t>
            </a:r>
            <a:endParaRPr lang="zh-CN" altLang="en-US" b="0" dirty="0">
              <a:latin typeface="微软雅黑" pitchFamily="34" charset="-122"/>
              <a:ea typeface="微软雅黑" pitchFamily="34" charset="-122"/>
            </a:endParaRPr>
          </a:p>
        </p:txBody>
      </p:sp>
      <p:pic>
        <p:nvPicPr>
          <p:cNvPr id="6" name="图片 5"/>
          <p:cNvPicPr>
            <a:picLocks noChangeAspect="1"/>
          </p:cNvPicPr>
          <p:nvPr/>
        </p:nvPicPr>
        <p:blipFill>
          <a:blip r:embed="rId3"/>
          <a:stretch>
            <a:fillRect/>
          </a:stretch>
        </p:blipFill>
        <p:spPr>
          <a:xfrm>
            <a:off x="2418159" y="1231341"/>
            <a:ext cx="4307681" cy="1256952"/>
          </a:xfrm>
          <a:prstGeom prst="rect">
            <a:avLst/>
          </a:prstGeom>
        </p:spPr>
      </p:pic>
      <p:pic>
        <p:nvPicPr>
          <p:cNvPr id="7" name="图片 6"/>
          <p:cNvPicPr>
            <a:picLocks noChangeAspect="1"/>
          </p:cNvPicPr>
          <p:nvPr/>
        </p:nvPicPr>
        <p:blipFill>
          <a:blip r:embed="rId4"/>
          <a:stretch>
            <a:fillRect/>
          </a:stretch>
        </p:blipFill>
        <p:spPr>
          <a:xfrm>
            <a:off x="119078" y="2681679"/>
            <a:ext cx="9014756" cy="2875210"/>
          </a:xfrm>
          <a:prstGeom prst="rect">
            <a:avLst/>
          </a:prstGeom>
        </p:spPr>
      </p:pic>
      <p:sp>
        <p:nvSpPr>
          <p:cNvPr id="8" name="矩形 7"/>
          <p:cNvSpPr/>
          <p:nvPr/>
        </p:nvSpPr>
        <p:spPr>
          <a:xfrm>
            <a:off x="297773" y="5847330"/>
            <a:ext cx="8424936" cy="830997"/>
          </a:xfrm>
          <a:prstGeom prst="rect">
            <a:avLst/>
          </a:prstGeom>
        </p:spPr>
        <p:txBody>
          <a:bodyPr wrap="square">
            <a:spAutoFit/>
          </a:bodyPr>
          <a:lstStyle/>
          <a:p>
            <a:r>
              <a:rPr lang="en-US" altLang="zh-CN" sz="2400" b="0" dirty="0" smtClean="0"/>
              <a:t>Detecting </a:t>
            </a:r>
            <a:r>
              <a:rPr lang="en-US" altLang="zh-CN" sz="2400" b="0" dirty="0"/>
              <a:t>influenza epidemics using search engine query </a:t>
            </a:r>
            <a:r>
              <a:rPr lang="en-US" altLang="zh-CN" sz="2400" b="0" dirty="0" smtClean="0"/>
              <a:t>data</a:t>
            </a:r>
            <a:r>
              <a:rPr kumimoji="1" lang="en-US" altLang="zh-CN" sz="2400" b="0" dirty="0" smtClean="0">
                <a:latin typeface="Times New Roman" pitchFamily="18" charset="0"/>
                <a:ea typeface="宋体" pitchFamily="2" charset="-122"/>
              </a:rPr>
              <a:t>, Nature 457, 1012-1014 (2009)</a:t>
            </a:r>
            <a:endParaRPr lang="zh-CN" altLang="en-US" sz="2400" b="0" dirty="0"/>
          </a:p>
        </p:txBody>
      </p:sp>
    </p:spTree>
    <p:extLst>
      <p:ext uri="{BB962C8B-B14F-4D97-AF65-F5344CB8AC3E}">
        <p14:creationId xmlns:p14="http://schemas.microsoft.com/office/powerpoint/2010/main" val="2686512196"/>
      </p:ext>
    </p:extLst>
  </p:cSld>
  <p:clrMapOvr>
    <a:masterClrMapping/>
  </p:clrMapOvr>
  <p:transition spd="slow">
    <p:circle/>
  </p:transition>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b="0" dirty="0" smtClean="0">
                <a:latin typeface="微软雅黑" pitchFamily="34" charset="-122"/>
                <a:ea typeface="微软雅黑" pitchFamily="34" charset="-122"/>
              </a:rPr>
              <a:t>例</a:t>
            </a:r>
            <a:r>
              <a:rPr lang="en-US" altLang="zh-CN" b="0" dirty="0" smtClean="0">
                <a:latin typeface="微软雅黑" pitchFamily="34" charset="-122"/>
                <a:ea typeface="微软雅黑" pitchFamily="34" charset="-122"/>
              </a:rPr>
              <a:t>2</a:t>
            </a:r>
            <a:r>
              <a:rPr lang="zh-CN" altLang="en-US" b="0" dirty="0" smtClean="0">
                <a:latin typeface="微软雅黑" pitchFamily="34" charset="-122"/>
                <a:ea typeface="微软雅黑" pitchFamily="34" charset="-122"/>
              </a:rPr>
              <a:t>：</a:t>
            </a:r>
            <a:r>
              <a:rPr lang="zh-CN" altLang="en-US" b="0" dirty="0">
                <a:latin typeface="微软雅黑" pitchFamily="34" charset="-122"/>
                <a:ea typeface="微软雅黑" pitchFamily="34" charset="-122"/>
              </a:rPr>
              <a:t>人立方</a:t>
            </a:r>
          </a:p>
        </p:txBody>
      </p:sp>
      <p:pic>
        <p:nvPicPr>
          <p:cNvPr id="10245" name="Picture 5" descr="未命名"/>
          <p:cNvPicPr>
            <a:picLocks noGrp="1" noChangeAspect="1" noChangeArrowheads="1"/>
          </p:cNvPicPr>
          <p:nvPr>
            <p:ph idx="1"/>
          </p:nvPr>
        </p:nvPicPr>
        <p:blipFill rotWithShape="1">
          <a:blip r:embed="rId4">
            <a:extLst>
              <a:ext uri="{28A0092B-C50C-407E-A947-70E740481C1C}">
                <a14:useLocalDpi xmlns:a14="http://schemas.microsoft.com/office/drawing/2010/main" val="0"/>
              </a:ext>
            </a:extLst>
          </a:blip>
          <a:srcRect l="19362" r="38034" b="67877"/>
          <a:stretch/>
        </p:blipFill>
        <p:spPr>
          <a:xfrm>
            <a:off x="2724236" y="1308982"/>
            <a:ext cx="3384377" cy="1642021"/>
          </a:xfrm>
          <a:noFill/>
          <a:ln>
            <a:solidFill>
              <a:srgbClr val="FF0000"/>
            </a:solidFill>
          </a:ln>
        </p:spPr>
      </p:pic>
      <p:sp>
        <p:nvSpPr>
          <p:cNvPr id="10243" name="Text Box 3"/>
          <p:cNvSpPr txBox="1">
            <a:spLocks noChangeArrowheads="1"/>
          </p:cNvSpPr>
          <p:nvPr/>
        </p:nvSpPr>
        <p:spPr bwMode="auto">
          <a:xfrm>
            <a:off x="4416425" y="3246438"/>
            <a:ext cx="311150"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endParaRPr lang="zh-CN" altLang="zh-CN"/>
          </a:p>
        </p:txBody>
      </p:sp>
      <p:sp>
        <p:nvSpPr>
          <p:cNvPr id="10244" name="Text Box 4"/>
          <p:cNvSpPr txBox="1">
            <a:spLocks noChangeArrowheads="1"/>
          </p:cNvSpPr>
          <p:nvPr/>
        </p:nvSpPr>
        <p:spPr bwMode="auto">
          <a:xfrm>
            <a:off x="4416425" y="3246438"/>
            <a:ext cx="311150"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endParaRPr lang="zh-CN" altLang="zh-CN"/>
          </a:p>
        </p:txBody>
      </p:sp>
      <p:pic>
        <p:nvPicPr>
          <p:cNvPr id="7" name="Picture 3" descr="kk"/>
          <p:cNvPicPr>
            <a:picLocks noChangeAspect="1" noChangeArrowheads="1"/>
          </p:cNvPicPr>
          <p:nvPr/>
        </p:nvPicPr>
        <p:blipFill rotWithShape="1">
          <a:blip r:embed="rId5">
            <a:extLst>
              <a:ext uri="{28A0092B-C50C-407E-A947-70E740481C1C}">
                <a14:useLocalDpi xmlns:a14="http://schemas.microsoft.com/office/drawing/2010/main" val="0"/>
              </a:ext>
            </a:extLst>
          </a:blip>
          <a:srcRect t="44307"/>
          <a:stretch/>
        </p:blipFill>
        <p:spPr>
          <a:xfrm>
            <a:off x="395536" y="3246438"/>
            <a:ext cx="8352928" cy="2896394"/>
          </a:xfrm>
          <a:prstGeom prst="rect">
            <a:avLst/>
          </a:prstGeom>
          <a:noFill/>
          <a:ln/>
        </p:spPr>
      </p:pic>
    </p:spTree>
    <p:custDataLst>
      <p:tags r:id="rId1"/>
    </p:custDataLst>
    <p:extLst>
      <p:ext uri="{BB962C8B-B14F-4D97-AF65-F5344CB8AC3E}">
        <p14:creationId xmlns:p14="http://schemas.microsoft.com/office/powerpoint/2010/main" val="2951218292"/>
      </p:ext>
    </p:extLst>
  </p:cSld>
  <p:clrMapOvr>
    <a:masterClrMapping/>
  </p:clrMapOvr>
  <p:transition/>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b="0" dirty="0" smtClean="0">
                <a:latin typeface="微软雅黑" pitchFamily="34" charset="-122"/>
                <a:ea typeface="微软雅黑" pitchFamily="34" charset="-122"/>
              </a:rPr>
              <a:t>例</a:t>
            </a:r>
            <a:r>
              <a:rPr lang="en-US" altLang="zh-CN" b="0" dirty="0" smtClean="0">
                <a:latin typeface="微软雅黑" pitchFamily="34" charset="-122"/>
                <a:ea typeface="微软雅黑" pitchFamily="34" charset="-122"/>
              </a:rPr>
              <a:t>3</a:t>
            </a:r>
            <a:r>
              <a:rPr lang="zh-CN" altLang="en-US" b="0" dirty="0" smtClean="0">
                <a:latin typeface="微软雅黑" pitchFamily="34" charset="-122"/>
                <a:ea typeface="微软雅黑" pitchFamily="34" charset="-122"/>
              </a:rPr>
              <a:t>：</a:t>
            </a:r>
            <a:r>
              <a:rPr lang="en-US" altLang="zh-CN" b="0" dirty="0" err="1">
                <a:latin typeface="微软雅黑" pitchFamily="34" charset="-122"/>
                <a:ea typeface="微软雅黑" pitchFamily="34" charset="-122"/>
              </a:rPr>
              <a:t>Akinator</a:t>
            </a:r>
            <a:endParaRPr lang="zh-CN" altLang="en-US" b="0" dirty="0">
              <a:latin typeface="微软雅黑" pitchFamily="34" charset="-122"/>
              <a:ea typeface="微软雅黑" pitchFamily="34" charset="-122"/>
            </a:endParaRPr>
          </a:p>
        </p:txBody>
      </p:sp>
      <p:pic>
        <p:nvPicPr>
          <p:cNvPr id="3" name="图片 2"/>
          <p:cNvPicPr>
            <a:picLocks noChangeAspect="1"/>
          </p:cNvPicPr>
          <p:nvPr/>
        </p:nvPicPr>
        <p:blipFill rotWithShape="1">
          <a:blip r:embed="rId3"/>
          <a:srcRect t="4686" b="3160"/>
          <a:stretch/>
        </p:blipFill>
        <p:spPr>
          <a:xfrm>
            <a:off x="249984" y="1539046"/>
            <a:ext cx="5667375" cy="4270752"/>
          </a:xfrm>
          <a:prstGeom prst="rect">
            <a:avLst/>
          </a:prstGeom>
        </p:spPr>
      </p:pic>
      <p:pic>
        <p:nvPicPr>
          <p:cNvPr id="4" name="图片 3"/>
          <p:cNvPicPr>
            <a:picLocks noChangeAspect="1"/>
          </p:cNvPicPr>
          <p:nvPr/>
        </p:nvPicPr>
        <p:blipFill>
          <a:blip r:embed="rId4"/>
          <a:stretch>
            <a:fillRect/>
          </a:stretch>
        </p:blipFill>
        <p:spPr>
          <a:xfrm>
            <a:off x="5652120" y="1540922"/>
            <a:ext cx="3305175" cy="4286250"/>
          </a:xfrm>
          <a:prstGeom prst="rect">
            <a:avLst/>
          </a:prstGeom>
        </p:spPr>
      </p:pic>
      <p:sp>
        <p:nvSpPr>
          <p:cNvPr id="5" name="矩形 4"/>
          <p:cNvSpPr/>
          <p:nvPr/>
        </p:nvSpPr>
        <p:spPr>
          <a:xfrm>
            <a:off x="3083671" y="5953814"/>
            <a:ext cx="2621743" cy="400110"/>
          </a:xfrm>
          <a:prstGeom prst="rect">
            <a:avLst/>
          </a:prstGeom>
        </p:spPr>
        <p:txBody>
          <a:bodyPr wrap="none">
            <a:spAutoFit/>
          </a:bodyPr>
          <a:lstStyle/>
          <a:p>
            <a:r>
              <a:rPr kumimoji="1" lang="en-US" altLang="zh-CN" dirty="0">
                <a:latin typeface="Times New Roman" pitchFamily="18" charset="0"/>
                <a:ea typeface="宋体" pitchFamily="2" charset="-122"/>
              </a:rPr>
              <a:t>http://cn.akinator.com</a:t>
            </a:r>
          </a:p>
        </p:txBody>
      </p:sp>
      <p:sp>
        <p:nvSpPr>
          <p:cNvPr id="6" name="矩形 5"/>
          <p:cNvSpPr/>
          <p:nvPr/>
        </p:nvSpPr>
        <p:spPr>
          <a:xfrm>
            <a:off x="2195736" y="6335297"/>
            <a:ext cx="5472608" cy="400110"/>
          </a:xfrm>
          <a:prstGeom prst="rect">
            <a:avLst/>
          </a:prstGeom>
        </p:spPr>
        <p:txBody>
          <a:bodyPr wrap="square">
            <a:spAutoFit/>
          </a:bodyPr>
          <a:lstStyle/>
          <a:p>
            <a:r>
              <a:rPr lang="en-US" altLang="zh-CN" dirty="0">
                <a:latin typeface="Times New Roman" panose="02020603050405020304" pitchFamily="18" charset="0"/>
                <a:cs typeface="Times New Roman" panose="02020603050405020304" pitchFamily="18" charset="0"/>
              </a:rPr>
              <a:t>https://www.silvergames.com/en/akinator</a:t>
            </a:r>
            <a:endParaRPr lang="zh-CN" alt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102480576"/>
      </p:ext>
    </p:extLst>
  </p:cSld>
  <p:clrMapOvr>
    <a:masterClrMapping/>
  </p:clrMapOvr>
  <p:transition spd="slow">
    <p:circle/>
  </p:transition>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b="0" dirty="0" smtClean="0">
                <a:latin typeface="微软雅黑" pitchFamily="34" charset="-122"/>
                <a:ea typeface="微软雅黑" pitchFamily="34" charset="-122"/>
              </a:rPr>
              <a:t>例</a:t>
            </a:r>
            <a:r>
              <a:rPr lang="en-US" altLang="zh-CN" b="0" dirty="0" smtClean="0">
                <a:latin typeface="微软雅黑" pitchFamily="34" charset="-122"/>
                <a:ea typeface="微软雅黑" pitchFamily="34" charset="-122"/>
              </a:rPr>
              <a:t>4</a:t>
            </a:r>
            <a:r>
              <a:rPr lang="zh-CN" altLang="en-US" b="0" dirty="0" smtClean="0">
                <a:latin typeface="微软雅黑" pitchFamily="34" charset="-122"/>
                <a:ea typeface="微软雅黑" pitchFamily="34" charset="-122"/>
              </a:rPr>
              <a:t>：</a:t>
            </a:r>
            <a:r>
              <a:rPr lang="zh-CN" altLang="zh-CN" b="0" dirty="0">
                <a:latin typeface="微软雅黑" pitchFamily="34" charset="-122"/>
                <a:ea typeface="微软雅黑" pitchFamily="34" charset="-122"/>
              </a:rPr>
              <a:t>机器翻译</a:t>
            </a:r>
            <a:endParaRPr lang="zh-CN" altLang="en-US" b="0" dirty="0">
              <a:latin typeface="微软雅黑" pitchFamily="34" charset="-122"/>
              <a:ea typeface="微软雅黑" pitchFamily="34" charset="-122"/>
            </a:endParaRPr>
          </a:p>
        </p:txBody>
      </p:sp>
      <p:pic>
        <p:nvPicPr>
          <p:cNvPr id="4" name="图片 3"/>
          <p:cNvPicPr>
            <a:picLocks noChangeAspect="1"/>
          </p:cNvPicPr>
          <p:nvPr/>
        </p:nvPicPr>
        <p:blipFill>
          <a:blip r:embed="rId2"/>
          <a:stretch>
            <a:fillRect/>
          </a:stretch>
        </p:blipFill>
        <p:spPr>
          <a:xfrm>
            <a:off x="971600" y="3517585"/>
            <a:ext cx="7200800" cy="3340415"/>
          </a:xfrm>
          <a:prstGeom prst="rect">
            <a:avLst/>
          </a:prstGeom>
        </p:spPr>
      </p:pic>
      <p:pic>
        <p:nvPicPr>
          <p:cNvPr id="5" name="图片 4"/>
          <p:cNvPicPr>
            <a:picLocks noChangeAspect="1"/>
          </p:cNvPicPr>
          <p:nvPr/>
        </p:nvPicPr>
        <p:blipFill>
          <a:blip r:embed="rId3"/>
          <a:stretch>
            <a:fillRect/>
          </a:stretch>
        </p:blipFill>
        <p:spPr>
          <a:xfrm>
            <a:off x="305780" y="1019187"/>
            <a:ext cx="8532440" cy="2770157"/>
          </a:xfrm>
          <a:prstGeom prst="rect">
            <a:avLst/>
          </a:prstGeom>
        </p:spPr>
      </p:pic>
    </p:spTree>
    <p:extLst>
      <p:ext uri="{BB962C8B-B14F-4D97-AF65-F5344CB8AC3E}">
        <p14:creationId xmlns:p14="http://schemas.microsoft.com/office/powerpoint/2010/main" val="3455842784"/>
      </p:ext>
    </p:extLst>
  </p:cSld>
  <p:clrMapOvr>
    <a:masterClrMapping/>
  </p:clrMapOvr>
  <p:transition spd="slow">
    <p:circle/>
  </p:transition>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Rectangle 2"/>
          <p:cNvSpPr>
            <a:spLocks noGrp="1" noChangeArrowheads="1"/>
          </p:cNvSpPr>
          <p:nvPr>
            <p:ph type="title"/>
          </p:nvPr>
        </p:nvSpPr>
        <p:spPr/>
        <p:txBody>
          <a:bodyPr/>
          <a:lstStyle/>
          <a:p>
            <a:pPr>
              <a:lnSpc>
                <a:spcPct val="150000"/>
              </a:lnSpc>
            </a:pPr>
            <a:r>
              <a:rPr lang="zh-CN" altLang="en-US" dirty="0"/>
              <a:t>机器翻译</a:t>
            </a:r>
            <a:r>
              <a:rPr lang="zh-CN" altLang="en-US" dirty="0" smtClean="0"/>
              <a:t>困难</a:t>
            </a:r>
            <a:endParaRPr lang="zh-CN" altLang="en-US" dirty="0"/>
          </a:p>
        </p:txBody>
      </p:sp>
      <p:sp>
        <p:nvSpPr>
          <p:cNvPr id="11267" name="Rectangle 3"/>
          <p:cNvSpPr>
            <a:spLocks noGrp="1" noChangeArrowheads="1"/>
          </p:cNvSpPr>
          <p:nvPr>
            <p:ph type="body" idx="4294967295"/>
          </p:nvPr>
        </p:nvSpPr>
        <p:spPr>
          <a:xfrm>
            <a:off x="323528" y="1196753"/>
            <a:ext cx="7993063" cy="2448272"/>
          </a:xfrm>
        </p:spPr>
        <p:txBody>
          <a:bodyPr/>
          <a:lstStyle/>
          <a:p>
            <a:pPr>
              <a:lnSpc>
                <a:spcPct val="150000"/>
              </a:lnSpc>
              <a:buFont typeface="Arial" pitchFamily="34" charset="0"/>
              <a:buNone/>
            </a:pPr>
            <a:r>
              <a:rPr lang="zh-CN" altLang="en-US" b="0" dirty="0" smtClean="0">
                <a:latin typeface="微软雅黑" panose="020B0503020204020204" pitchFamily="34" charset="-122"/>
                <a:ea typeface="微软雅黑" panose="020B0503020204020204" pitchFamily="34" charset="-122"/>
                <a:cs typeface="Times New Roman" panose="02020603050405020304" pitchFamily="18" charset="0"/>
              </a:rPr>
              <a:t>自动化</a:t>
            </a:r>
            <a:r>
              <a:rPr lang="zh-CN" altLang="en-US" b="0" dirty="0">
                <a:latin typeface="微软雅黑" panose="020B0503020204020204" pitchFamily="34" charset="-122"/>
                <a:ea typeface="微软雅黑" panose="020B0503020204020204" pitchFamily="34" charset="-122"/>
                <a:cs typeface="Times New Roman" panose="02020603050405020304" pitchFamily="18" charset="0"/>
              </a:rPr>
              <a:t>研究所取得的成就</a:t>
            </a:r>
          </a:p>
          <a:p>
            <a:r>
              <a:rPr lang="zh-CN" altLang="en-US" sz="2200" dirty="0" smtClean="0"/>
              <a:t>自动化</a:t>
            </a:r>
            <a:r>
              <a:rPr lang="en-US" sz="2200" dirty="0"/>
              <a:t>/</a:t>
            </a:r>
            <a:r>
              <a:rPr lang="zh-CN" altLang="en-US" sz="2200" dirty="0"/>
              <a:t>研究所</a:t>
            </a:r>
            <a:r>
              <a:rPr lang="en-US" sz="2200" dirty="0"/>
              <a:t>/</a:t>
            </a:r>
            <a:r>
              <a:rPr lang="zh-CN" altLang="en-US" sz="2200" dirty="0"/>
              <a:t>取得</a:t>
            </a:r>
            <a:r>
              <a:rPr lang="en-US" sz="2200" dirty="0"/>
              <a:t>/</a:t>
            </a:r>
            <a:r>
              <a:rPr lang="zh-CN" altLang="en-US" sz="2200" dirty="0"/>
              <a:t>的</a:t>
            </a:r>
            <a:r>
              <a:rPr lang="en-US" sz="2200" dirty="0"/>
              <a:t>/</a:t>
            </a:r>
            <a:r>
              <a:rPr lang="zh-CN" altLang="en-US" sz="2200" dirty="0"/>
              <a:t>成就</a:t>
            </a:r>
            <a:r>
              <a:rPr lang="en-US" sz="2200" dirty="0"/>
              <a:t>/</a:t>
            </a:r>
            <a:r>
              <a:rPr lang="zh-CN" altLang="en-US" sz="2200" dirty="0"/>
              <a:t>。</a:t>
            </a:r>
          </a:p>
          <a:p>
            <a:r>
              <a:rPr lang="zh-CN" altLang="en-US" sz="2200" dirty="0" smtClean="0"/>
              <a:t>自动化</a:t>
            </a:r>
            <a:r>
              <a:rPr lang="en-US" sz="2200" dirty="0"/>
              <a:t>/</a:t>
            </a:r>
            <a:r>
              <a:rPr lang="zh-CN" altLang="en-US" sz="2200" dirty="0"/>
              <a:t>研究</a:t>
            </a:r>
            <a:r>
              <a:rPr lang="en-US" sz="2200" dirty="0"/>
              <a:t>/</a:t>
            </a:r>
            <a:r>
              <a:rPr lang="zh-CN" altLang="en-US" sz="2200" dirty="0"/>
              <a:t>所</a:t>
            </a:r>
            <a:r>
              <a:rPr lang="en-US" sz="2200" dirty="0"/>
              <a:t>/</a:t>
            </a:r>
            <a:r>
              <a:rPr lang="zh-CN" altLang="en-US" sz="2200" dirty="0"/>
              <a:t>取得</a:t>
            </a:r>
            <a:r>
              <a:rPr lang="en-US" sz="2200" dirty="0"/>
              <a:t>/</a:t>
            </a:r>
            <a:r>
              <a:rPr lang="zh-CN" altLang="en-US" sz="2200" dirty="0"/>
              <a:t>的</a:t>
            </a:r>
            <a:r>
              <a:rPr lang="en-US" sz="2200" dirty="0"/>
              <a:t>/</a:t>
            </a:r>
            <a:r>
              <a:rPr lang="zh-CN" altLang="en-US" sz="2200" dirty="0"/>
              <a:t>成就</a:t>
            </a:r>
            <a:r>
              <a:rPr lang="en-US" sz="2200" dirty="0"/>
              <a:t>/</a:t>
            </a:r>
            <a:r>
              <a:rPr lang="zh-CN" altLang="en-US" sz="2200" dirty="0"/>
              <a:t>。</a:t>
            </a:r>
          </a:p>
          <a:p>
            <a:pPr>
              <a:lnSpc>
                <a:spcPct val="150000"/>
              </a:lnSpc>
              <a:buFont typeface="Arial" pitchFamily="34" charset="0"/>
              <a:buNone/>
            </a:pPr>
            <a:r>
              <a:rPr lang="zh-CN" altLang="en-US" sz="2200" b="0" dirty="0" smtClean="0">
                <a:latin typeface="微软雅黑" panose="020B0503020204020204" pitchFamily="34" charset="-122"/>
                <a:ea typeface="微软雅黑" panose="020B0503020204020204" pitchFamily="34" charset="-122"/>
                <a:cs typeface="Times New Roman" panose="02020603050405020304" pitchFamily="18" charset="0"/>
              </a:rPr>
              <a:t> </a:t>
            </a:r>
            <a:r>
              <a:rPr lang="zh-CN" altLang="en-US" sz="2200" b="0" dirty="0">
                <a:latin typeface="微软雅黑" panose="020B0503020204020204" pitchFamily="34" charset="-122"/>
                <a:ea typeface="微软雅黑" panose="020B0503020204020204" pitchFamily="34" charset="-122"/>
                <a:cs typeface="Times New Roman" panose="02020603050405020304" pitchFamily="18" charset="0"/>
              </a:rPr>
              <a:t>Achievements made by the Institute of Automation  </a:t>
            </a:r>
          </a:p>
        </p:txBody>
      </p:sp>
      <p:sp>
        <p:nvSpPr>
          <p:cNvPr id="4" name="Rectangle 3"/>
          <p:cNvSpPr txBox="1">
            <a:spLocks noChangeArrowheads="1"/>
          </p:cNvSpPr>
          <p:nvPr/>
        </p:nvSpPr>
        <p:spPr>
          <a:xfrm>
            <a:off x="332591" y="4005064"/>
            <a:ext cx="8373616" cy="2664296"/>
          </a:xfrm>
          <a:prstGeom prst="rect">
            <a:avLst/>
          </a:prstGeom>
        </p:spPr>
        <p:txBody>
          <a:bodyPr/>
          <a:lstStyle>
            <a:lvl1pPr marL="342900" indent="-342900" algn="l" rtl="0" eaLnBrk="1" fontAlgn="base" hangingPunct="1">
              <a:lnSpc>
                <a:spcPct val="150000"/>
              </a:lnSpc>
              <a:spcBef>
                <a:spcPct val="20000"/>
              </a:spcBef>
              <a:spcAft>
                <a:spcPct val="0"/>
              </a:spcAft>
              <a:buClr>
                <a:srgbClr val="2D7693"/>
              </a:buClr>
              <a:buSzPct val="70000"/>
              <a:buFont typeface="Wingdings" panose="05000000000000000000" pitchFamily="2" charset="2"/>
              <a:buChar char="n"/>
              <a:defRPr sz="2400" b="0">
                <a:solidFill>
                  <a:schemeClr val="tx1"/>
                </a:solidFill>
                <a:latin typeface="微软雅黑" panose="020B0503020204020204" pitchFamily="34" charset="-122"/>
                <a:ea typeface="微软雅黑" panose="020B0503020204020204" pitchFamily="34" charset="-122"/>
                <a:cs typeface="+mn-cs"/>
              </a:defRPr>
            </a:lvl1pPr>
            <a:lvl2pPr marL="742950" indent="-285750" algn="l" rtl="0" eaLnBrk="1" fontAlgn="base" hangingPunct="1">
              <a:lnSpc>
                <a:spcPct val="150000"/>
              </a:lnSpc>
              <a:spcBef>
                <a:spcPct val="20000"/>
              </a:spcBef>
              <a:spcAft>
                <a:spcPct val="0"/>
              </a:spcAft>
              <a:buClr>
                <a:srgbClr val="FC3A4C"/>
              </a:buClr>
              <a:buSzPct val="70000"/>
              <a:buFont typeface="Wingdings" panose="05000000000000000000" pitchFamily="2" charset="2"/>
              <a:buChar char="Ø"/>
              <a:defRPr sz="2000" b="0">
                <a:solidFill>
                  <a:schemeClr val="tx1"/>
                </a:solidFill>
                <a:latin typeface="微软雅黑" panose="020B0503020204020204" pitchFamily="34" charset="-122"/>
                <a:ea typeface="微软雅黑" panose="020B0503020204020204" pitchFamily="34" charset="-122"/>
              </a:defRPr>
            </a:lvl2pPr>
            <a:lvl3pPr marL="1143000" indent="-228600" algn="l" rtl="0" eaLnBrk="1" fontAlgn="base" hangingPunct="1">
              <a:lnSpc>
                <a:spcPct val="150000"/>
              </a:lnSpc>
              <a:spcBef>
                <a:spcPct val="20000"/>
              </a:spcBef>
              <a:spcAft>
                <a:spcPct val="0"/>
              </a:spcAft>
              <a:buClr>
                <a:srgbClr val="0000FF"/>
              </a:buClr>
              <a:buSzPct val="70000"/>
              <a:buFont typeface="Wingdings" panose="05000000000000000000" pitchFamily="2" charset="2"/>
              <a:buChar char="l"/>
              <a:defRPr sz="2000" b="0">
                <a:solidFill>
                  <a:schemeClr val="tx1"/>
                </a:solidFill>
                <a:latin typeface="微软雅黑" panose="020B0503020204020204" pitchFamily="34" charset="-122"/>
                <a:ea typeface="微软雅黑" panose="020B0503020204020204" pitchFamily="34" charset="-122"/>
              </a:defRPr>
            </a:lvl3pPr>
            <a:lvl4pPr marL="1600200" indent="-228600" algn="l" rtl="0" eaLnBrk="1" fontAlgn="base" hangingPunct="1">
              <a:lnSpc>
                <a:spcPct val="150000"/>
              </a:lnSpc>
              <a:spcBef>
                <a:spcPct val="20000"/>
              </a:spcBef>
              <a:spcAft>
                <a:spcPct val="0"/>
              </a:spcAft>
              <a:buClr>
                <a:schemeClr val="accent1"/>
              </a:buClr>
              <a:buFont typeface="Wingdings" panose="05000000000000000000" pitchFamily="2" charset="2"/>
              <a:buChar char="p"/>
              <a:defRPr sz="2000" b="0">
                <a:solidFill>
                  <a:schemeClr val="tx1"/>
                </a:solidFill>
                <a:latin typeface="微软雅黑" panose="020B0503020204020204" pitchFamily="34" charset="-122"/>
                <a:ea typeface="微软雅黑" panose="020B0503020204020204" pitchFamily="34" charset="-122"/>
              </a:defRPr>
            </a:lvl4pPr>
            <a:lvl5pPr marL="2057400" indent="-228600" algn="l" rtl="0" eaLnBrk="1" fontAlgn="base" hangingPunct="1">
              <a:lnSpc>
                <a:spcPct val="150000"/>
              </a:lnSpc>
              <a:spcBef>
                <a:spcPct val="20000"/>
              </a:spcBef>
              <a:spcAft>
                <a:spcPct val="0"/>
              </a:spcAft>
              <a:buClr>
                <a:schemeClr val="accent1"/>
              </a:buClr>
              <a:buFont typeface="Wingdings" panose="05000000000000000000" pitchFamily="2" charset="2"/>
              <a:buChar char="p"/>
              <a:defRPr sz="2000" b="0">
                <a:solidFill>
                  <a:schemeClr val="tx1"/>
                </a:solidFill>
                <a:latin typeface="微软雅黑" panose="020B0503020204020204" pitchFamily="34" charset="-122"/>
                <a:ea typeface="微软雅黑" panose="020B0503020204020204" pitchFamily="34" charset="-122"/>
              </a:defRPr>
            </a:lvl5pPr>
            <a:lvl6pPr marL="2514600" indent="-228600" algn="l" rtl="0" eaLnBrk="1" fontAlgn="base" hangingPunct="1">
              <a:spcBef>
                <a:spcPct val="20000"/>
              </a:spcBef>
              <a:spcAft>
                <a:spcPct val="0"/>
              </a:spcAft>
              <a:buClr>
                <a:schemeClr val="accent1"/>
              </a:buClr>
              <a:buFont typeface="Wingdings" pitchFamily="2" charset="2"/>
              <a:buChar char="p"/>
              <a:defRPr b="1">
                <a:solidFill>
                  <a:schemeClr val="tx1"/>
                </a:solidFill>
                <a:latin typeface="+mn-lt"/>
                <a:ea typeface="+mn-ea"/>
              </a:defRPr>
            </a:lvl6pPr>
            <a:lvl7pPr marL="2971800" indent="-228600" algn="l" rtl="0" eaLnBrk="1" fontAlgn="base" hangingPunct="1">
              <a:spcBef>
                <a:spcPct val="20000"/>
              </a:spcBef>
              <a:spcAft>
                <a:spcPct val="0"/>
              </a:spcAft>
              <a:buClr>
                <a:schemeClr val="accent1"/>
              </a:buClr>
              <a:buFont typeface="Wingdings" pitchFamily="2" charset="2"/>
              <a:buChar char="p"/>
              <a:defRPr b="1">
                <a:solidFill>
                  <a:schemeClr val="tx1"/>
                </a:solidFill>
                <a:latin typeface="+mn-lt"/>
                <a:ea typeface="+mn-ea"/>
              </a:defRPr>
            </a:lvl7pPr>
            <a:lvl8pPr marL="3429000" indent="-228600" algn="l" rtl="0" eaLnBrk="1" fontAlgn="base" hangingPunct="1">
              <a:spcBef>
                <a:spcPct val="20000"/>
              </a:spcBef>
              <a:spcAft>
                <a:spcPct val="0"/>
              </a:spcAft>
              <a:buClr>
                <a:schemeClr val="accent1"/>
              </a:buClr>
              <a:buFont typeface="Wingdings" pitchFamily="2" charset="2"/>
              <a:buChar char="p"/>
              <a:defRPr b="1">
                <a:solidFill>
                  <a:schemeClr val="tx1"/>
                </a:solidFill>
                <a:latin typeface="+mn-lt"/>
                <a:ea typeface="+mn-ea"/>
              </a:defRPr>
            </a:lvl8pPr>
            <a:lvl9pPr marL="3886200" indent="-228600" algn="l" rtl="0" eaLnBrk="1" fontAlgn="base" hangingPunct="1">
              <a:spcBef>
                <a:spcPct val="20000"/>
              </a:spcBef>
              <a:spcAft>
                <a:spcPct val="0"/>
              </a:spcAft>
              <a:buClr>
                <a:schemeClr val="accent1"/>
              </a:buClr>
              <a:buFont typeface="Wingdings" pitchFamily="2" charset="2"/>
              <a:buChar char="p"/>
              <a:defRPr b="1">
                <a:solidFill>
                  <a:schemeClr val="tx1"/>
                </a:solidFill>
                <a:latin typeface="+mn-lt"/>
                <a:ea typeface="+mn-ea"/>
              </a:defRPr>
            </a:lvl9pPr>
          </a:lstStyle>
          <a:p>
            <a:pPr>
              <a:lnSpc>
                <a:spcPct val="90000"/>
              </a:lnSpc>
              <a:buFont typeface="Arial" pitchFamily="34" charset="0"/>
              <a:buNone/>
            </a:pPr>
            <a:r>
              <a:rPr lang="zh-CN" altLang="en-US" b="1" kern="0" dirty="0" smtClean="0">
                <a:solidFill>
                  <a:srgbClr val="FF0000"/>
                </a:solidFill>
              </a:rPr>
              <a:t>上大</a:t>
            </a:r>
            <a:r>
              <a:rPr lang="zh-CN" altLang="en-US" kern="0" dirty="0" smtClean="0"/>
              <a:t>学子烛光追思钱伟长</a:t>
            </a:r>
          </a:p>
          <a:p>
            <a:r>
              <a:rPr lang="zh-CN" altLang="en-US" sz="2200" kern="0" dirty="0" smtClean="0">
                <a:solidFill>
                  <a:srgbClr val="FF0000"/>
                </a:solidFill>
              </a:rPr>
              <a:t>University sub </a:t>
            </a:r>
            <a:r>
              <a:rPr lang="zh-CN" altLang="en-US" sz="2200" kern="0" dirty="0" smtClean="0"/>
              <a:t>candlelight memorial chang</a:t>
            </a:r>
          </a:p>
          <a:p>
            <a:r>
              <a:rPr lang="zh-CN" altLang="en-US" sz="2200" kern="0" dirty="0" smtClean="0">
                <a:solidFill>
                  <a:srgbClr val="FF0000"/>
                </a:solidFill>
              </a:rPr>
              <a:t>On the big students </a:t>
            </a:r>
            <a:r>
              <a:rPr lang="zh-CN" altLang="en-US" sz="2200" kern="0" dirty="0" smtClean="0"/>
              <a:t>qian wei-chang candlelight memorial  </a:t>
            </a:r>
          </a:p>
          <a:p>
            <a:r>
              <a:rPr lang="zh-CN" altLang="en-US" sz="2200" kern="0" dirty="0" smtClean="0">
                <a:solidFill>
                  <a:srgbClr val="FF0000"/>
                </a:solidFill>
              </a:rPr>
              <a:t>Shanghai University students </a:t>
            </a:r>
            <a:r>
              <a:rPr lang="zh-CN" altLang="en-US" sz="2200" kern="0" dirty="0" smtClean="0"/>
              <a:t>mourn Qian Weichang with the  candlelight</a:t>
            </a:r>
            <a:endParaRPr lang="zh-CN" altLang="en-US" sz="2200" kern="0" dirty="0"/>
          </a:p>
        </p:txBody>
      </p:sp>
      <p:sp>
        <p:nvSpPr>
          <p:cNvPr id="2" name="矩形 1"/>
          <p:cNvSpPr/>
          <p:nvPr/>
        </p:nvSpPr>
        <p:spPr>
          <a:xfrm>
            <a:off x="6660232" y="1422365"/>
            <a:ext cx="1415772" cy="461665"/>
          </a:xfrm>
          <a:prstGeom prst="rect">
            <a:avLst/>
          </a:prstGeom>
        </p:spPr>
        <p:txBody>
          <a:bodyPr wrap="none">
            <a:spAutoFit/>
          </a:bodyPr>
          <a:lstStyle/>
          <a:p>
            <a:r>
              <a:rPr lang="zh-CN" altLang="en-US" sz="2400" dirty="0">
                <a:solidFill>
                  <a:srgbClr val="FF0000"/>
                </a:solidFill>
                <a:latin typeface="华文中宋" panose="02010600040101010101" pitchFamily="2" charset="-122"/>
                <a:ea typeface="华文中宋" panose="02010600040101010101" pitchFamily="2" charset="-122"/>
              </a:rPr>
              <a:t>词法歧义</a:t>
            </a:r>
          </a:p>
        </p:txBody>
      </p:sp>
      <p:sp>
        <p:nvSpPr>
          <p:cNvPr id="6" name="矩形 5"/>
          <p:cNvSpPr/>
          <p:nvPr/>
        </p:nvSpPr>
        <p:spPr>
          <a:xfrm>
            <a:off x="6814120" y="4005064"/>
            <a:ext cx="1107996" cy="461665"/>
          </a:xfrm>
          <a:prstGeom prst="rect">
            <a:avLst/>
          </a:prstGeom>
        </p:spPr>
        <p:txBody>
          <a:bodyPr wrap="none">
            <a:spAutoFit/>
          </a:bodyPr>
          <a:lstStyle/>
          <a:p>
            <a:r>
              <a:rPr lang="zh-CN" altLang="en-US" sz="2400" dirty="0" smtClean="0">
                <a:solidFill>
                  <a:srgbClr val="FF0000"/>
                </a:solidFill>
                <a:latin typeface="华文中宋" panose="02010600040101010101" pitchFamily="2" charset="-122"/>
                <a:ea typeface="华文中宋" panose="02010600040101010101" pitchFamily="2" charset="-122"/>
              </a:rPr>
              <a:t>新词汇</a:t>
            </a:r>
            <a:endParaRPr lang="zh-CN" altLang="en-US" sz="2400" dirty="0">
              <a:solidFill>
                <a:srgbClr val="FF0000"/>
              </a:solidFill>
              <a:latin typeface="华文中宋" panose="02010600040101010101" pitchFamily="2" charset="-122"/>
              <a:ea typeface="华文中宋" panose="02010600040101010101" pitchFamily="2" charset="-122"/>
            </a:endParaRPr>
          </a:p>
        </p:txBody>
      </p:sp>
    </p:spTree>
    <p:extLst>
      <p:ext uri="{BB962C8B-B14F-4D97-AF65-F5344CB8AC3E}">
        <p14:creationId xmlns:p14="http://schemas.microsoft.com/office/powerpoint/2010/main" val="3799248251"/>
      </p:ext>
    </p:extLst>
  </p:cSld>
  <p:clrMapOvr>
    <a:masterClrMapping/>
  </p:clrMapOvr>
  <p:transition spd="slow">
    <p:circle/>
  </p:transition>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基于大数据的翻译方法</a:t>
            </a:r>
            <a:endParaRPr lang="zh-CN" altLang="en-US" b="0" dirty="0">
              <a:latin typeface="微软雅黑" pitchFamily="34" charset="-122"/>
              <a:ea typeface="微软雅黑" pitchFamily="34" charset="-122"/>
            </a:endParaRPr>
          </a:p>
        </p:txBody>
      </p:sp>
      <p:sp>
        <p:nvSpPr>
          <p:cNvPr id="3" name="内容占位符 2"/>
          <p:cNvSpPr>
            <a:spLocks noGrp="1"/>
          </p:cNvSpPr>
          <p:nvPr>
            <p:ph idx="1"/>
          </p:nvPr>
        </p:nvSpPr>
        <p:spPr/>
        <p:txBody>
          <a:bodyPr/>
          <a:lstStyle/>
          <a:p>
            <a:pPr>
              <a:lnSpc>
                <a:spcPct val="200000"/>
              </a:lnSpc>
            </a:pPr>
            <a:r>
              <a:rPr lang="zh-CN" altLang="en-US" sz="2400" b="0" dirty="0" smtClean="0">
                <a:solidFill>
                  <a:srgbClr val="FF0000"/>
                </a:solidFill>
                <a:latin typeface="微软雅黑" panose="020B0503020204020204" pitchFamily="34" charset="-122"/>
                <a:ea typeface="微软雅黑" panose="020B0503020204020204" pitchFamily="34" charset="-122"/>
              </a:rPr>
              <a:t>她买了</a:t>
            </a:r>
            <a:r>
              <a:rPr lang="zh-CN" altLang="en-US" sz="2400" b="0" dirty="0" smtClean="0">
                <a:solidFill>
                  <a:srgbClr val="0000FF"/>
                </a:solidFill>
                <a:latin typeface="微软雅黑" panose="020B0503020204020204" pitchFamily="34" charset="-122"/>
                <a:ea typeface="微软雅黑" panose="020B0503020204020204" pitchFamily="34" charset="-122"/>
              </a:rPr>
              <a:t>一本计算机语言入门书</a:t>
            </a:r>
            <a:r>
              <a:rPr lang="zh-CN" altLang="en-US" sz="2400" b="0" dirty="0" smtClean="0">
                <a:latin typeface="微软雅黑" panose="020B0503020204020204" pitchFamily="34" charset="-122"/>
                <a:ea typeface="微软雅黑" panose="020B0503020204020204" pitchFamily="34" charset="-122"/>
              </a:rPr>
              <a:t>。</a:t>
            </a:r>
            <a:endParaRPr lang="en-US" altLang="zh-CN" sz="2400" b="0" dirty="0" smtClean="0">
              <a:latin typeface="微软雅黑" panose="020B0503020204020204" pitchFamily="34" charset="-122"/>
              <a:ea typeface="微软雅黑" panose="020B0503020204020204" pitchFamily="34" charset="-122"/>
            </a:endParaRPr>
          </a:p>
          <a:p>
            <a:pPr marL="0" indent="0">
              <a:lnSpc>
                <a:spcPct val="200000"/>
              </a:lnSpc>
              <a:buNone/>
            </a:pPr>
            <a:endParaRPr lang="en-US" altLang="zh-CN" sz="1100" b="0" dirty="0" smtClean="0">
              <a:latin typeface="微软雅黑" panose="020B0503020204020204" pitchFamily="34" charset="-122"/>
              <a:ea typeface="微软雅黑" panose="020B0503020204020204" pitchFamily="34" charset="-122"/>
            </a:endParaRPr>
          </a:p>
          <a:p>
            <a:pPr marL="0" indent="0">
              <a:lnSpc>
                <a:spcPct val="200000"/>
              </a:lnSpc>
              <a:buNone/>
            </a:pPr>
            <a:r>
              <a:rPr lang="zh-CN" altLang="en-US" sz="2400" b="0" dirty="0" smtClean="0">
                <a:latin typeface="微软雅黑" panose="020B0503020204020204" pitchFamily="34" charset="-122"/>
                <a:ea typeface="微软雅黑" panose="020B0503020204020204" pitchFamily="34" charset="-122"/>
              </a:rPr>
              <a:t>语料库</a:t>
            </a:r>
            <a:endParaRPr lang="en-US" altLang="zh-CN" sz="2400" b="0" dirty="0" smtClean="0">
              <a:latin typeface="微软雅黑" panose="020B0503020204020204" pitchFamily="34" charset="-122"/>
              <a:ea typeface="微软雅黑" panose="020B0503020204020204" pitchFamily="34" charset="-122"/>
            </a:endParaRPr>
          </a:p>
          <a:p>
            <a:pPr>
              <a:lnSpc>
                <a:spcPct val="200000"/>
              </a:lnSpc>
            </a:pPr>
            <a:r>
              <a:rPr lang="zh-CN" altLang="en-US" sz="2400" b="0" dirty="0" smtClean="0">
                <a:solidFill>
                  <a:srgbClr val="FF0000"/>
                </a:solidFill>
                <a:latin typeface="微软雅黑" panose="020B0503020204020204" pitchFamily="34" charset="-122"/>
                <a:ea typeface="微软雅黑" panose="020B0503020204020204" pitchFamily="34" charset="-122"/>
              </a:rPr>
              <a:t>她买了</a:t>
            </a:r>
            <a:r>
              <a:rPr lang="zh-CN" altLang="en-US" sz="2400" b="0" dirty="0" smtClean="0">
                <a:latin typeface="微软雅黑" panose="020B0503020204020204" pitchFamily="34" charset="-122"/>
                <a:ea typeface="微软雅黑" panose="020B0503020204020204" pitchFamily="34" charset="-122"/>
              </a:rPr>
              <a:t>一件时髦的夹克衫。</a:t>
            </a:r>
            <a:endParaRPr lang="en-US" altLang="zh-CN" sz="2400" b="0" dirty="0" smtClean="0">
              <a:latin typeface="微软雅黑" panose="020B0503020204020204" pitchFamily="34" charset="-122"/>
              <a:ea typeface="微软雅黑" panose="020B0503020204020204" pitchFamily="34" charset="-122"/>
            </a:endParaRPr>
          </a:p>
          <a:p>
            <a:pPr lvl="1" indent="-342900">
              <a:lnSpc>
                <a:spcPct val="200000"/>
              </a:lnSpc>
            </a:pPr>
            <a:r>
              <a:rPr lang="en-US" altLang="zh-CN" sz="2000" b="0" u="sng" dirty="0" smtClean="0">
                <a:latin typeface="微软雅黑" panose="020B0503020204020204" pitchFamily="34" charset="-122"/>
                <a:ea typeface="微软雅黑" panose="020B0503020204020204" pitchFamily="34" charset="-122"/>
              </a:rPr>
              <a:t>She bought </a:t>
            </a:r>
            <a:r>
              <a:rPr lang="en-US" altLang="zh-CN" sz="2000" b="0" dirty="0" smtClean="0">
                <a:latin typeface="微软雅黑" panose="020B0503020204020204" pitchFamily="34" charset="-122"/>
                <a:ea typeface="微软雅黑" panose="020B0503020204020204" pitchFamily="34" charset="-122"/>
              </a:rPr>
              <a:t>a sharp jacket.</a:t>
            </a:r>
            <a:endParaRPr lang="zh-CN" altLang="en-US" sz="2000" b="0" dirty="0">
              <a:latin typeface="微软雅黑" panose="020B0503020204020204" pitchFamily="34" charset="-122"/>
              <a:ea typeface="微软雅黑" panose="020B0503020204020204" pitchFamily="34" charset="-122"/>
            </a:endParaRPr>
          </a:p>
          <a:p>
            <a:pPr>
              <a:lnSpc>
                <a:spcPct val="200000"/>
              </a:lnSpc>
            </a:pPr>
            <a:r>
              <a:rPr lang="zh-CN" altLang="en-US" sz="2400" b="0" dirty="0" smtClean="0">
                <a:latin typeface="微软雅黑" panose="020B0503020204020204" pitchFamily="34" charset="-122"/>
                <a:ea typeface="微软雅黑" panose="020B0503020204020204" pitchFamily="34" charset="-122"/>
              </a:rPr>
              <a:t>他正在读</a:t>
            </a:r>
            <a:r>
              <a:rPr lang="zh-CN" altLang="en-US" sz="2400" b="0" dirty="0" smtClean="0">
                <a:solidFill>
                  <a:srgbClr val="0000FF"/>
                </a:solidFill>
                <a:latin typeface="微软雅黑" panose="020B0503020204020204" pitchFamily="34" charset="-122"/>
                <a:ea typeface="微软雅黑" panose="020B0503020204020204" pitchFamily="34" charset="-122"/>
              </a:rPr>
              <a:t>一本计算机语言入门书</a:t>
            </a:r>
            <a:r>
              <a:rPr lang="zh-CN" altLang="en-US" sz="2400" b="0" dirty="0" smtClean="0">
                <a:latin typeface="微软雅黑" panose="020B0503020204020204" pitchFamily="34" charset="-122"/>
                <a:ea typeface="微软雅黑" panose="020B0503020204020204" pitchFamily="34" charset="-122"/>
              </a:rPr>
              <a:t>。</a:t>
            </a:r>
            <a:endParaRPr lang="en-US" altLang="zh-CN" sz="2400" b="0" dirty="0" smtClean="0">
              <a:latin typeface="微软雅黑" panose="020B0503020204020204" pitchFamily="34" charset="-122"/>
              <a:ea typeface="微软雅黑" panose="020B0503020204020204" pitchFamily="34" charset="-122"/>
            </a:endParaRPr>
          </a:p>
          <a:p>
            <a:pPr lvl="1">
              <a:lnSpc>
                <a:spcPct val="200000"/>
              </a:lnSpc>
            </a:pPr>
            <a:r>
              <a:rPr lang="en-US" altLang="zh-CN" sz="2000" b="0" dirty="0" smtClean="0">
                <a:latin typeface="微软雅黑" panose="020B0503020204020204" pitchFamily="34" charset="-122"/>
                <a:ea typeface="微软雅黑" panose="020B0503020204020204" pitchFamily="34" charset="-122"/>
              </a:rPr>
              <a:t>He is reading </a:t>
            </a:r>
            <a:r>
              <a:rPr lang="en-US" altLang="zh-CN" sz="2000" b="0" u="sng" dirty="0" smtClean="0">
                <a:latin typeface="微软雅黑" panose="020B0503020204020204" pitchFamily="34" charset="-122"/>
                <a:ea typeface="微软雅黑" panose="020B0503020204020204" pitchFamily="34" charset="-122"/>
              </a:rPr>
              <a:t>a book on introduction to computational linguistics</a:t>
            </a:r>
            <a:r>
              <a:rPr lang="en-US" altLang="zh-CN" sz="2000" b="0" dirty="0" smtClean="0">
                <a:latin typeface="微软雅黑" panose="020B0503020204020204" pitchFamily="34" charset="-122"/>
                <a:ea typeface="微软雅黑" panose="020B0503020204020204" pitchFamily="34" charset="-122"/>
              </a:rPr>
              <a:t>.</a:t>
            </a:r>
            <a:endParaRPr lang="zh-CN" altLang="en-US" sz="2000" b="0" dirty="0">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3872396330"/>
      </p:ext>
    </p:extLst>
  </p:cSld>
  <p:clrMapOvr>
    <a:masterClrMapping/>
  </p:clrMapOvr>
  <p:transition spd="slow">
    <p:circle/>
  </p:transition>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内容占位符 3"/>
          <p:cNvSpPr>
            <a:spLocks noGrp="1"/>
          </p:cNvSpPr>
          <p:nvPr>
            <p:ph idx="1"/>
          </p:nvPr>
        </p:nvSpPr>
        <p:spPr/>
        <p:txBody>
          <a:bodyPr/>
          <a:lstStyle/>
          <a:p>
            <a:r>
              <a:rPr lang="en-US" altLang="zh-CN" dirty="0" smtClean="0"/>
              <a:t>GPT-3</a:t>
            </a:r>
            <a:r>
              <a:rPr lang="zh-CN" altLang="en-US" dirty="0"/>
              <a:t>数据主要来自</a:t>
            </a:r>
            <a:r>
              <a:rPr lang="en-US" altLang="zh-CN" dirty="0" err="1"/>
              <a:t>CommonCrawl</a:t>
            </a:r>
            <a:r>
              <a:rPr lang="zh-CN" altLang="en-US" dirty="0"/>
              <a:t>、新闻、帖子、书籍及各种网页，原始数据规模达</a:t>
            </a:r>
            <a:r>
              <a:rPr lang="en-US" altLang="zh-CN" dirty="0" smtClean="0"/>
              <a:t>45TB</a:t>
            </a:r>
            <a:endParaRPr lang="zh-CN" altLang="en-US" dirty="0"/>
          </a:p>
        </p:txBody>
      </p:sp>
      <p:sp>
        <p:nvSpPr>
          <p:cNvPr id="3" name="标题 2"/>
          <p:cNvSpPr>
            <a:spLocks noGrp="1"/>
          </p:cNvSpPr>
          <p:nvPr>
            <p:ph type="title"/>
          </p:nvPr>
        </p:nvSpPr>
        <p:spPr/>
        <p:txBody>
          <a:bodyPr/>
          <a:lstStyle/>
          <a:p>
            <a:r>
              <a:rPr lang="zh-CN" altLang="en-US" dirty="0" smtClean="0"/>
              <a:t>例</a:t>
            </a:r>
            <a:r>
              <a:rPr lang="en-US" altLang="zh-CN" dirty="0" smtClean="0"/>
              <a:t>5</a:t>
            </a:r>
            <a:r>
              <a:rPr lang="zh-CN" altLang="en-US" dirty="0" smtClean="0"/>
              <a:t>：</a:t>
            </a:r>
            <a:r>
              <a:rPr lang="en-US" altLang="zh-CN" dirty="0" err="1" smtClean="0"/>
              <a:t>Chatgpt</a:t>
            </a:r>
            <a:endParaRPr lang="zh-CN" altLang="en-US" dirty="0"/>
          </a:p>
        </p:txBody>
      </p:sp>
      <p:pic>
        <p:nvPicPr>
          <p:cNvPr id="5" name="图片 4"/>
          <p:cNvPicPr>
            <a:picLocks noChangeAspect="1"/>
          </p:cNvPicPr>
          <p:nvPr/>
        </p:nvPicPr>
        <p:blipFill>
          <a:blip r:embed="rId2"/>
          <a:stretch>
            <a:fillRect/>
          </a:stretch>
        </p:blipFill>
        <p:spPr>
          <a:xfrm>
            <a:off x="3059832" y="2060848"/>
            <a:ext cx="2751004" cy="1529895"/>
          </a:xfrm>
          <a:prstGeom prst="rect">
            <a:avLst/>
          </a:prstGeom>
        </p:spPr>
      </p:pic>
      <p:pic>
        <p:nvPicPr>
          <p:cNvPr id="6" name="图片 5"/>
          <p:cNvPicPr>
            <a:picLocks noChangeAspect="1"/>
          </p:cNvPicPr>
          <p:nvPr/>
        </p:nvPicPr>
        <p:blipFill>
          <a:blip r:embed="rId3"/>
          <a:stretch>
            <a:fillRect/>
          </a:stretch>
        </p:blipFill>
        <p:spPr>
          <a:xfrm>
            <a:off x="320093" y="4048559"/>
            <a:ext cx="4487244" cy="2440212"/>
          </a:xfrm>
          <a:prstGeom prst="rect">
            <a:avLst/>
          </a:prstGeom>
        </p:spPr>
      </p:pic>
      <p:pic>
        <p:nvPicPr>
          <p:cNvPr id="7" name="图片 6"/>
          <p:cNvPicPr>
            <a:picLocks noChangeAspect="1"/>
          </p:cNvPicPr>
          <p:nvPr/>
        </p:nvPicPr>
        <p:blipFill>
          <a:blip r:embed="rId4"/>
          <a:stretch>
            <a:fillRect/>
          </a:stretch>
        </p:blipFill>
        <p:spPr>
          <a:xfrm>
            <a:off x="5173725" y="4048559"/>
            <a:ext cx="3780364" cy="2356669"/>
          </a:xfrm>
          <a:prstGeom prst="rect">
            <a:avLst/>
          </a:prstGeom>
        </p:spPr>
      </p:pic>
      <p:sp>
        <p:nvSpPr>
          <p:cNvPr id="8" name="AutoShape 2" descr="https://img2018.cnblogs.com/blog/1057853/201812/1057853-20181221192051147-2071126533.png"/>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p>
        </p:txBody>
      </p:sp>
    </p:spTree>
    <p:extLst>
      <p:ext uri="{BB962C8B-B14F-4D97-AF65-F5344CB8AC3E}">
        <p14:creationId xmlns:p14="http://schemas.microsoft.com/office/powerpoint/2010/main" val="3061127492"/>
      </p:ext>
    </p:extLst>
  </p:cSld>
  <p:clrMapOvr>
    <a:masterClrMapping/>
  </p:clrMapOvr>
  <mc:AlternateContent xmlns:mc="http://schemas.openxmlformats.org/markup-compatibility/2006" xmlns:p14="http://schemas.microsoft.com/office/powerpoint/2010/main">
    <mc:Choice Requires="p14">
      <p:transition p14:dur="10">
        <p:circle/>
      </p:transition>
    </mc:Choice>
    <mc:Fallback xmlns="">
      <p:transition>
        <p:circle/>
      </p:transition>
    </mc:Fallback>
  </mc:AlternateContent>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p:txBody>
          <a:bodyPr/>
          <a:lstStyle/>
          <a:p>
            <a:pPr>
              <a:lnSpc>
                <a:spcPct val="200000"/>
              </a:lnSpc>
            </a:pPr>
            <a:r>
              <a:rPr lang="zh-CN" altLang="en-US" sz="2400" dirty="0"/>
              <a:t>基于</a:t>
            </a:r>
            <a:r>
              <a:rPr lang="en-US" altLang="zh-CN" sz="2400" dirty="0"/>
              <a:t>23</a:t>
            </a:r>
            <a:r>
              <a:rPr lang="zh-CN" altLang="en-US" sz="2400" dirty="0"/>
              <a:t>万个人类棋谱，收录了</a:t>
            </a:r>
            <a:r>
              <a:rPr lang="en-US" altLang="zh-CN" sz="2400" dirty="0"/>
              <a:t>6000</a:t>
            </a:r>
            <a:r>
              <a:rPr lang="zh-CN" altLang="en-US" sz="2400" dirty="0"/>
              <a:t>个近代围棋史上主要的开局变化，有两万多个分支变化，三十七万步棋</a:t>
            </a:r>
            <a:r>
              <a:rPr lang="zh-CN" altLang="en-US" sz="2400" dirty="0" smtClean="0"/>
              <a:t>组成</a:t>
            </a:r>
            <a:endParaRPr lang="en-US" altLang="zh-CN" sz="2400" dirty="0" smtClean="0"/>
          </a:p>
          <a:p>
            <a:pPr>
              <a:lnSpc>
                <a:spcPct val="200000"/>
              </a:lnSpc>
            </a:pPr>
            <a:r>
              <a:rPr lang="en-US" altLang="zh-CN" sz="2400" dirty="0" err="1"/>
              <a:t>alphago</a:t>
            </a:r>
            <a:r>
              <a:rPr lang="zh-CN" altLang="en-US" sz="2400" dirty="0"/>
              <a:t> 每天能下三百万盘</a:t>
            </a:r>
            <a:r>
              <a:rPr lang="zh-CN" altLang="en-US" sz="2400" dirty="0" smtClean="0"/>
              <a:t>棋</a:t>
            </a:r>
            <a:endParaRPr lang="zh-CN" altLang="en-US" sz="2400" dirty="0"/>
          </a:p>
        </p:txBody>
      </p:sp>
      <p:sp>
        <p:nvSpPr>
          <p:cNvPr id="2" name="标题 1"/>
          <p:cNvSpPr>
            <a:spLocks noGrp="1"/>
          </p:cNvSpPr>
          <p:nvPr>
            <p:ph type="title"/>
          </p:nvPr>
        </p:nvSpPr>
        <p:spPr/>
        <p:txBody>
          <a:bodyPr/>
          <a:lstStyle/>
          <a:p>
            <a:r>
              <a:rPr lang="zh-CN" altLang="en-US" dirty="0" smtClean="0"/>
              <a:t>例</a:t>
            </a:r>
            <a:r>
              <a:rPr lang="en-US" altLang="zh-CN" dirty="0" smtClean="0"/>
              <a:t>6</a:t>
            </a:r>
            <a:r>
              <a:rPr lang="zh-CN" altLang="en-US" dirty="0" smtClean="0"/>
              <a:t>： </a:t>
            </a:r>
            <a:r>
              <a:rPr lang="en-US" altLang="zh-CN" dirty="0" err="1" smtClean="0"/>
              <a:t>AlphaGo</a:t>
            </a:r>
            <a:endParaRPr lang="zh-CN" altLang="en-US" dirty="0"/>
          </a:p>
        </p:txBody>
      </p:sp>
      <p:pic>
        <p:nvPicPr>
          <p:cNvPr id="4" name="图片 3"/>
          <p:cNvPicPr>
            <a:picLocks noChangeAspect="1"/>
          </p:cNvPicPr>
          <p:nvPr/>
        </p:nvPicPr>
        <p:blipFill>
          <a:blip r:embed="rId2"/>
          <a:stretch>
            <a:fillRect/>
          </a:stretch>
        </p:blipFill>
        <p:spPr>
          <a:xfrm>
            <a:off x="1619672" y="3819709"/>
            <a:ext cx="5495925" cy="1876425"/>
          </a:xfrm>
          <a:prstGeom prst="rect">
            <a:avLst/>
          </a:prstGeom>
        </p:spPr>
      </p:pic>
    </p:spTree>
    <p:extLst>
      <p:ext uri="{BB962C8B-B14F-4D97-AF65-F5344CB8AC3E}">
        <p14:creationId xmlns:p14="http://schemas.microsoft.com/office/powerpoint/2010/main" val="3076853383"/>
      </p:ext>
    </p:extLst>
  </p:cSld>
  <p:clrMapOvr>
    <a:masterClrMapping/>
  </p:clrMapOvr>
  <p:transition spd="slow">
    <p:circle/>
  </p:transition>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其他</a:t>
            </a:r>
          </a:p>
        </p:txBody>
      </p:sp>
      <p:pic>
        <p:nvPicPr>
          <p:cNvPr id="3" name="图片 2"/>
          <p:cNvPicPr>
            <a:picLocks noChangeAspect="1"/>
          </p:cNvPicPr>
          <p:nvPr/>
        </p:nvPicPr>
        <p:blipFill>
          <a:blip r:embed="rId2"/>
          <a:stretch>
            <a:fillRect/>
          </a:stretch>
        </p:blipFill>
        <p:spPr>
          <a:xfrm>
            <a:off x="827584" y="1148280"/>
            <a:ext cx="3166351" cy="2205448"/>
          </a:xfrm>
          <a:prstGeom prst="rect">
            <a:avLst/>
          </a:prstGeom>
        </p:spPr>
      </p:pic>
      <p:sp>
        <p:nvSpPr>
          <p:cNvPr id="4" name="矩形 3"/>
          <p:cNvSpPr/>
          <p:nvPr/>
        </p:nvSpPr>
        <p:spPr>
          <a:xfrm>
            <a:off x="864545" y="3439536"/>
            <a:ext cx="3005951" cy="400110"/>
          </a:xfrm>
          <a:prstGeom prst="rect">
            <a:avLst/>
          </a:prstGeom>
        </p:spPr>
        <p:txBody>
          <a:bodyPr wrap="none">
            <a:spAutoFit/>
          </a:bodyPr>
          <a:lstStyle/>
          <a:p>
            <a:r>
              <a:rPr lang="zh-CN" altLang="en-US" dirty="0">
                <a:solidFill>
                  <a:srgbClr val="FF0000"/>
                </a:solidFill>
                <a:latin typeface="微软雅黑" panose="020B0503020204020204" pitchFamily="34" charset="-122"/>
                <a:ea typeface="微软雅黑" panose="020B0503020204020204" pitchFamily="34" charset="-122"/>
              </a:rPr>
              <a:t>大数据与乔布斯癌症治疗</a:t>
            </a:r>
            <a:endParaRPr lang="zh-CN" altLang="en-US" dirty="0">
              <a:solidFill>
                <a:srgbClr val="FF0000"/>
              </a:solidFill>
            </a:endParaRPr>
          </a:p>
        </p:txBody>
      </p:sp>
      <p:sp>
        <p:nvSpPr>
          <p:cNvPr id="5" name="矩形 4"/>
          <p:cNvSpPr/>
          <p:nvPr/>
        </p:nvSpPr>
        <p:spPr>
          <a:xfrm>
            <a:off x="5442966" y="3439536"/>
            <a:ext cx="2749471" cy="707886"/>
          </a:xfrm>
          <a:prstGeom prst="rect">
            <a:avLst/>
          </a:prstGeom>
        </p:spPr>
        <p:txBody>
          <a:bodyPr wrap="none">
            <a:spAutoFit/>
          </a:bodyPr>
          <a:lstStyle/>
          <a:p>
            <a:r>
              <a:rPr lang="zh-CN" altLang="en-US" dirty="0">
                <a:solidFill>
                  <a:srgbClr val="FF0000"/>
                </a:solidFill>
                <a:latin typeface="微软雅黑" panose="020B0503020204020204" pitchFamily="34" charset="-122"/>
                <a:ea typeface="微软雅黑" panose="020B0503020204020204" pitchFamily="34" charset="-122"/>
              </a:rPr>
              <a:t>淘宝指数进行市场分析</a:t>
            </a:r>
          </a:p>
          <a:p>
            <a:endParaRPr lang="zh-CN" altLang="en-US" dirty="0">
              <a:solidFill>
                <a:srgbClr val="FF0000"/>
              </a:solidFill>
              <a:latin typeface="微软雅黑" panose="020B0503020204020204" pitchFamily="34" charset="-122"/>
              <a:ea typeface="微软雅黑" panose="020B0503020204020204" pitchFamily="34" charset="-122"/>
            </a:endParaRPr>
          </a:p>
        </p:txBody>
      </p:sp>
      <p:pic>
        <p:nvPicPr>
          <p:cNvPr id="6" name="图片 5"/>
          <p:cNvPicPr>
            <a:picLocks noChangeAspect="1"/>
          </p:cNvPicPr>
          <p:nvPr/>
        </p:nvPicPr>
        <p:blipFill>
          <a:blip r:embed="rId3"/>
          <a:stretch>
            <a:fillRect/>
          </a:stretch>
        </p:blipFill>
        <p:spPr>
          <a:xfrm>
            <a:off x="5046224" y="1095760"/>
            <a:ext cx="3246219" cy="2310868"/>
          </a:xfrm>
          <a:prstGeom prst="rect">
            <a:avLst/>
          </a:prstGeom>
        </p:spPr>
      </p:pic>
      <p:sp>
        <p:nvSpPr>
          <p:cNvPr id="7" name="矩形 6"/>
          <p:cNvSpPr/>
          <p:nvPr/>
        </p:nvSpPr>
        <p:spPr>
          <a:xfrm>
            <a:off x="1121025" y="6314560"/>
            <a:ext cx="2492990" cy="400110"/>
          </a:xfrm>
          <a:prstGeom prst="rect">
            <a:avLst/>
          </a:prstGeom>
        </p:spPr>
        <p:txBody>
          <a:bodyPr wrap="none">
            <a:spAutoFit/>
          </a:bodyPr>
          <a:lstStyle/>
          <a:p>
            <a:r>
              <a:rPr lang="zh-CN" altLang="en-US" dirty="0">
                <a:solidFill>
                  <a:srgbClr val="FF0000"/>
                </a:solidFill>
                <a:latin typeface="微软雅黑" panose="020B0503020204020204" pitchFamily="34" charset="-122"/>
                <a:ea typeface="微软雅黑" panose="020B0503020204020204" pitchFamily="34" charset="-122"/>
              </a:rPr>
              <a:t>奥巴马大选连任成功</a:t>
            </a:r>
            <a:endParaRPr lang="zh-CN" altLang="en-US" dirty="0">
              <a:solidFill>
                <a:srgbClr val="FF0000"/>
              </a:solidFill>
            </a:endParaRPr>
          </a:p>
        </p:txBody>
      </p:sp>
      <p:pic>
        <p:nvPicPr>
          <p:cNvPr id="8" name="图片 7"/>
          <p:cNvPicPr>
            <a:picLocks noChangeAspect="1"/>
          </p:cNvPicPr>
          <p:nvPr/>
        </p:nvPicPr>
        <p:blipFill>
          <a:blip r:embed="rId4"/>
          <a:stretch>
            <a:fillRect/>
          </a:stretch>
        </p:blipFill>
        <p:spPr>
          <a:xfrm>
            <a:off x="827584" y="3974379"/>
            <a:ext cx="3240360" cy="2225936"/>
          </a:xfrm>
          <a:prstGeom prst="rect">
            <a:avLst/>
          </a:prstGeom>
        </p:spPr>
      </p:pic>
      <p:pic>
        <p:nvPicPr>
          <p:cNvPr id="11" name="图片 10"/>
          <p:cNvPicPr>
            <a:picLocks noChangeAspect="1"/>
          </p:cNvPicPr>
          <p:nvPr/>
        </p:nvPicPr>
        <p:blipFill>
          <a:blip r:embed="rId5"/>
          <a:stretch>
            <a:fillRect/>
          </a:stretch>
        </p:blipFill>
        <p:spPr>
          <a:xfrm>
            <a:off x="4972365" y="3974379"/>
            <a:ext cx="3320078" cy="2257968"/>
          </a:xfrm>
          <a:prstGeom prst="rect">
            <a:avLst/>
          </a:prstGeom>
        </p:spPr>
      </p:pic>
      <p:sp>
        <p:nvSpPr>
          <p:cNvPr id="12" name="矩形 11"/>
          <p:cNvSpPr/>
          <p:nvPr/>
        </p:nvSpPr>
        <p:spPr>
          <a:xfrm>
            <a:off x="6084168" y="6314560"/>
            <a:ext cx="1467068" cy="400110"/>
          </a:xfrm>
          <a:prstGeom prst="rect">
            <a:avLst/>
          </a:prstGeom>
        </p:spPr>
        <p:txBody>
          <a:bodyPr wrap="none">
            <a:spAutoFit/>
          </a:bodyPr>
          <a:lstStyle/>
          <a:p>
            <a:r>
              <a:rPr lang="zh-CN" altLang="en-US" dirty="0">
                <a:solidFill>
                  <a:srgbClr val="FF0000"/>
                </a:solidFill>
                <a:latin typeface="微软雅黑" panose="020B0503020204020204" pitchFamily="34" charset="-122"/>
                <a:ea typeface="微软雅黑" panose="020B0503020204020204" pitchFamily="34" charset="-122"/>
              </a:rPr>
              <a:t>啤酒与尿布</a:t>
            </a:r>
            <a:endParaRPr lang="zh-CN" altLang="en-US" dirty="0">
              <a:solidFill>
                <a:srgbClr val="FF0000"/>
              </a:solidFill>
            </a:endParaRPr>
          </a:p>
        </p:txBody>
      </p:sp>
    </p:spTree>
    <p:extLst>
      <p:ext uri="{BB962C8B-B14F-4D97-AF65-F5344CB8AC3E}">
        <p14:creationId xmlns:p14="http://schemas.microsoft.com/office/powerpoint/2010/main" val="2778239717"/>
      </p:ext>
    </p:extLst>
  </p:cSld>
  <p:clrMapOvr>
    <a:masterClrMapping/>
  </p:clrMapOvr>
  <p:transition spd="slow">
    <p:circle/>
  </p:transition>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b="0" dirty="0">
                <a:latin typeface="微软雅黑" pitchFamily="34" charset="-122"/>
                <a:ea typeface="微软雅黑" pitchFamily="34" charset="-122"/>
              </a:rPr>
              <a:t>为什么能工作</a:t>
            </a:r>
          </a:p>
        </p:txBody>
      </p:sp>
      <p:sp>
        <p:nvSpPr>
          <p:cNvPr id="3" name="内容占位符 2"/>
          <p:cNvSpPr>
            <a:spLocks noGrp="1"/>
          </p:cNvSpPr>
          <p:nvPr>
            <p:ph idx="1"/>
          </p:nvPr>
        </p:nvSpPr>
        <p:spPr>
          <a:xfrm>
            <a:off x="395536" y="1085555"/>
            <a:ext cx="8510007" cy="5403216"/>
          </a:xfrm>
        </p:spPr>
        <p:txBody>
          <a:bodyPr/>
          <a:lstStyle/>
          <a:p>
            <a:pPr>
              <a:lnSpc>
                <a:spcPct val="175000"/>
              </a:lnSpc>
            </a:pPr>
            <a:r>
              <a:rPr lang="zh-CN" altLang="zh-CN" sz="2400" b="0" dirty="0" smtClean="0">
                <a:latin typeface="微软雅黑" panose="020B0503020204020204" pitchFamily="34" charset="-122"/>
                <a:ea typeface="微软雅黑" panose="020B0503020204020204" pitchFamily="34" charset="-122"/>
                <a:cs typeface="Times New Roman" panose="02020603050405020304" pitchFamily="18" charset="0"/>
              </a:rPr>
              <a:t>预测流感</a:t>
            </a:r>
            <a:endParaRPr lang="en-US" altLang="zh-CN" sz="2400" b="0" dirty="0" smtClean="0">
              <a:latin typeface="微软雅黑" panose="020B0503020204020204" pitchFamily="34" charset="-122"/>
              <a:ea typeface="微软雅黑" panose="020B0503020204020204" pitchFamily="34" charset="-122"/>
              <a:cs typeface="Times New Roman" panose="02020603050405020304" pitchFamily="18" charset="0"/>
            </a:endParaRPr>
          </a:p>
          <a:p>
            <a:pPr>
              <a:lnSpc>
                <a:spcPct val="175000"/>
              </a:lnSpc>
            </a:pPr>
            <a:r>
              <a:rPr lang="zh-CN" altLang="en-US" sz="2400" b="0" dirty="0" smtClean="0">
                <a:latin typeface="微软雅黑" panose="020B0503020204020204" pitchFamily="34" charset="-122"/>
                <a:ea typeface="微软雅黑" panose="020B0503020204020204" pitchFamily="34" charset="-122"/>
              </a:rPr>
              <a:t>人立方</a:t>
            </a:r>
            <a:endParaRPr lang="en-US" altLang="zh-CN" sz="2400" b="0" dirty="0" smtClean="0">
              <a:latin typeface="微软雅黑" panose="020B0503020204020204" pitchFamily="34" charset="-122"/>
              <a:ea typeface="微软雅黑" panose="020B0503020204020204" pitchFamily="34" charset="-122"/>
            </a:endParaRPr>
          </a:p>
          <a:p>
            <a:pPr>
              <a:lnSpc>
                <a:spcPct val="175000"/>
              </a:lnSpc>
            </a:pPr>
            <a:r>
              <a:rPr lang="en-US" altLang="zh-CN" sz="2400" b="0" dirty="0" err="1" smtClean="0">
                <a:latin typeface="微软雅黑" panose="020B0503020204020204" pitchFamily="34" charset="-122"/>
                <a:ea typeface="微软雅黑" panose="020B0503020204020204" pitchFamily="34" charset="-122"/>
                <a:cs typeface="Times New Roman" panose="02020603050405020304" pitchFamily="18" charset="0"/>
              </a:rPr>
              <a:t>Akinator</a:t>
            </a:r>
            <a:endParaRPr lang="en-US" altLang="zh-CN" sz="2400" b="0" dirty="0" smtClean="0">
              <a:latin typeface="微软雅黑" panose="020B0503020204020204" pitchFamily="34" charset="-122"/>
              <a:ea typeface="微软雅黑" panose="020B0503020204020204" pitchFamily="34" charset="-122"/>
              <a:cs typeface="Times New Roman" panose="02020603050405020304" pitchFamily="18" charset="0"/>
            </a:endParaRPr>
          </a:p>
          <a:p>
            <a:pPr>
              <a:lnSpc>
                <a:spcPct val="175000"/>
              </a:lnSpc>
            </a:pPr>
            <a:r>
              <a:rPr lang="zh-CN" altLang="en-US" sz="2400" b="0" dirty="0" smtClean="0">
                <a:latin typeface="微软雅黑" panose="020B0503020204020204" pitchFamily="34" charset="-122"/>
                <a:ea typeface="微软雅黑" panose="020B0503020204020204" pitchFamily="34" charset="-122"/>
                <a:cs typeface="Times New Roman" panose="02020603050405020304" pitchFamily="18" charset="0"/>
              </a:rPr>
              <a:t>机器翻译</a:t>
            </a:r>
            <a:endParaRPr lang="en-US" altLang="zh-CN" sz="2400" b="0" dirty="0" smtClean="0">
              <a:latin typeface="微软雅黑" panose="020B0503020204020204" pitchFamily="34" charset="-122"/>
              <a:ea typeface="微软雅黑" panose="020B0503020204020204" pitchFamily="34" charset="-122"/>
              <a:cs typeface="Times New Roman" panose="02020603050405020304" pitchFamily="18" charset="0"/>
            </a:endParaRPr>
          </a:p>
          <a:p>
            <a:pPr>
              <a:lnSpc>
                <a:spcPct val="175000"/>
              </a:lnSpc>
            </a:pPr>
            <a:r>
              <a:rPr lang="en-US" altLang="zh-CN" sz="2400" dirty="0" err="1"/>
              <a:t>Chatgpt</a:t>
            </a:r>
            <a:endParaRPr lang="en-US" altLang="zh-CN" sz="2400" dirty="0"/>
          </a:p>
          <a:p>
            <a:pPr>
              <a:lnSpc>
                <a:spcPct val="175000"/>
              </a:lnSpc>
            </a:pPr>
            <a:r>
              <a:rPr lang="zh-CN" altLang="en-US" sz="2400" dirty="0"/>
              <a:t>微软小</a:t>
            </a:r>
            <a:r>
              <a:rPr lang="zh-CN" altLang="en-US" sz="2400" dirty="0" smtClean="0"/>
              <a:t>冰</a:t>
            </a:r>
            <a:endParaRPr lang="en-US" altLang="zh-CN" sz="2400" dirty="0" smtClean="0"/>
          </a:p>
          <a:p>
            <a:pPr>
              <a:lnSpc>
                <a:spcPct val="175000"/>
              </a:lnSpc>
            </a:pPr>
            <a:r>
              <a:rPr lang="en-US" altLang="zh-CN" sz="2400" dirty="0" err="1"/>
              <a:t>Alphago</a:t>
            </a:r>
            <a:endParaRPr lang="en-US" altLang="zh-CN" sz="2400" dirty="0"/>
          </a:p>
          <a:p>
            <a:endParaRPr lang="en-US" altLang="zh-CN" sz="2400" b="0" dirty="0" smtClean="0">
              <a:latin typeface="微软雅黑" panose="020B0503020204020204" pitchFamily="34" charset="-122"/>
              <a:ea typeface="微软雅黑" panose="020B0503020204020204" pitchFamily="34" charset="-122"/>
              <a:cs typeface="Times New Roman" panose="02020603050405020304" pitchFamily="18" charset="0"/>
            </a:endParaRPr>
          </a:p>
          <a:p>
            <a:endParaRPr lang="zh-CN" altLang="en-US" sz="2800" b="0" dirty="0">
              <a:latin typeface="微软雅黑" panose="020B0503020204020204" pitchFamily="34" charset="-122"/>
              <a:ea typeface="微软雅黑" panose="020B0503020204020204" pitchFamily="34" charset="-122"/>
            </a:endParaRPr>
          </a:p>
        </p:txBody>
      </p:sp>
      <p:sp>
        <p:nvSpPr>
          <p:cNvPr id="5" name="流程图: 磁盘 4"/>
          <p:cNvSpPr/>
          <p:nvPr/>
        </p:nvSpPr>
        <p:spPr bwMode="auto">
          <a:xfrm>
            <a:off x="4788024" y="4365104"/>
            <a:ext cx="2160240" cy="2052954"/>
          </a:xfrm>
          <a:prstGeom prst="flowChartMagneticDisk">
            <a:avLst/>
          </a:prstGeom>
          <a:solidFill>
            <a:schemeClr val="accent1"/>
          </a:solidFill>
          <a:ln w="9525" cap="flat" cmpd="sng" algn="ctr">
            <a:solidFill>
              <a:schemeClr val="tx1"/>
            </a:solidFill>
            <a:prstDash val="solid"/>
            <a:miter lim="800000"/>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lang="zh-CN" altLang="en-US" sz="3600" dirty="0" smtClean="0"/>
              <a:t>互联网</a:t>
            </a:r>
            <a:endParaRPr lang="en-US" altLang="zh-CN" sz="3600" dirty="0" smtClean="0"/>
          </a:p>
          <a:p>
            <a:pPr marL="0" marR="0" indent="0" algn="ctr" defTabSz="914400" rtl="0" eaLnBrk="1" fontAlgn="base" latinLnBrk="0" hangingPunct="1">
              <a:lnSpc>
                <a:spcPct val="100000"/>
              </a:lnSpc>
              <a:spcBef>
                <a:spcPct val="0"/>
              </a:spcBef>
              <a:spcAft>
                <a:spcPct val="0"/>
              </a:spcAft>
              <a:buClrTx/>
              <a:buSzTx/>
              <a:buFontTx/>
              <a:buNone/>
              <a:tabLst/>
            </a:pPr>
            <a:r>
              <a:rPr lang="zh-CN" altLang="en-US" sz="3600" dirty="0" smtClean="0"/>
              <a:t>大数据</a:t>
            </a:r>
            <a:endParaRPr kumimoji="0" lang="zh-CN" altLang="en-US" sz="3600" i="0" u="none" strike="noStrike" cap="none" normalizeH="0" baseline="0" dirty="0" smtClean="0">
              <a:ln>
                <a:noFill/>
              </a:ln>
              <a:solidFill>
                <a:schemeClr val="tx1"/>
              </a:solidFill>
              <a:effectLst/>
            </a:endParaRPr>
          </a:p>
        </p:txBody>
      </p:sp>
      <p:pic>
        <p:nvPicPr>
          <p:cNvPr id="4" name="图片 3"/>
          <p:cNvPicPr>
            <a:picLocks noChangeAspect="1"/>
          </p:cNvPicPr>
          <p:nvPr/>
        </p:nvPicPr>
        <p:blipFill>
          <a:blip r:embed="rId2"/>
          <a:stretch>
            <a:fillRect/>
          </a:stretch>
        </p:blipFill>
        <p:spPr>
          <a:xfrm>
            <a:off x="2843808" y="1433612"/>
            <a:ext cx="5845711" cy="2889259"/>
          </a:xfrm>
          <a:prstGeom prst="rect">
            <a:avLst/>
          </a:prstGeom>
        </p:spPr>
      </p:pic>
    </p:spTree>
    <p:extLst>
      <p:ext uri="{BB962C8B-B14F-4D97-AF65-F5344CB8AC3E}">
        <p14:creationId xmlns:p14="http://schemas.microsoft.com/office/powerpoint/2010/main" val="47973881"/>
      </p:ext>
    </p:extLst>
  </p:cSld>
  <p:clrMapOvr>
    <a:masterClrMapping/>
  </p:clrMapOvr>
  <p:transition spd="slow">
    <p:circle/>
  </p:transition>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本框 4">
            <a:extLst>
              <a:ext uri="{FF2B5EF4-FFF2-40B4-BE49-F238E27FC236}">
                <a16:creationId xmlns:a16="http://schemas.microsoft.com/office/drawing/2014/main" id="{81D1A8D4-A673-4A3B-8AB4-E1C064BCB58F}"/>
              </a:ext>
            </a:extLst>
          </p:cNvPr>
          <p:cNvSpPr txBox="1"/>
          <p:nvPr/>
        </p:nvSpPr>
        <p:spPr>
          <a:xfrm>
            <a:off x="1331640" y="2961743"/>
            <a:ext cx="6264696" cy="923330"/>
          </a:xfrm>
          <a:prstGeom prst="rect">
            <a:avLst/>
          </a:prstGeom>
          <a:noFill/>
        </p:spPr>
        <p:txBody>
          <a:bodyPr wrap="square" rtlCol="0">
            <a:spAutoFit/>
          </a:bodyPr>
          <a:lstStyle>
            <a:defPPr>
              <a:defRPr lang="zh-CN"/>
            </a:defPPr>
            <a:lvl1pPr algn="ctr">
              <a:defRPr sz="5400" b="0">
                <a:solidFill>
                  <a:srgbClr val="FF0000"/>
                </a:solidFill>
                <a:latin typeface="微软雅黑" panose="020B0503020204020204" pitchFamily="34" charset="-122"/>
                <a:ea typeface="微软雅黑" panose="020B0503020204020204" pitchFamily="34" charset="-122"/>
              </a:defRPr>
            </a:lvl1pPr>
          </a:lstStyle>
          <a:p>
            <a:r>
              <a:rPr lang="en-US" altLang="zh-CN" dirty="0" smtClean="0"/>
              <a:t>2</a:t>
            </a:r>
            <a:r>
              <a:rPr lang="en-US" altLang="zh-CN" dirty="0"/>
              <a:t>. </a:t>
            </a:r>
            <a:r>
              <a:rPr lang="zh-CN" altLang="en-US" dirty="0"/>
              <a:t>大数据的背景</a:t>
            </a:r>
          </a:p>
        </p:txBody>
      </p:sp>
      <p:sp>
        <p:nvSpPr>
          <p:cNvPr id="6" name="Freeform 14">
            <a:extLst>
              <a:ext uri="{FF2B5EF4-FFF2-40B4-BE49-F238E27FC236}">
                <a16:creationId xmlns:a16="http://schemas.microsoft.com/office/drawing/2014/main" id="{B602F2C2-90ED-4AB6-9B44-1F7F2F037278}"/>
              </a:ext>
            </a:extLst>
          </p:cNvPr>
          <p:cNvSpPr/>
          <p:nvPr/>
        </p:nvSpPr>
        <p:spPr>
          <a:xfrm>
            <a:off x="4053105" y="1407496"/>
            <a:ext cx="1108861" cy="1039289"/>
          </a:xfrm>
          <a:custGeom>
            <a:avLst/>
            <a:gdLst>
              <a:gd name="connsiteX0" fmla="*/ 388426 w 607282"/>
              <a:gd name="connsiteY0" fmla="*/ 385710 h 569180"/>
              <a:gd name="connsiteX1" fmla="*/ 431276 w 607282"/>
              <a:gd name="connsiteY1" fmla="*/ 385710 h 569180"/>
              <a:gd name="connsiteX2" fmla="*/ 431276 w 607282"/>
              <a:gd name="connsiteY2" fmla="*/ 438433 h 569180"/>
              <a:gd name="connsiteX3" fmla="*/ 522771 w 607282"/>
              <a:gd name="connsiteY3" fmla="*/ 529738 h 569180"/>
              <a:gd name="connsiteX4" fmla="*/ 522771 w 607282"/>
              <a:gd name="connsiteY4" fmla="*/ 559964 h 569180"/>
              <a:gd name="connsiteX5" fmla="*/ 492483 w 607282"/>
              <a:gd name="connsiteY5" fmla="*/ 559964 h 569180"/>
              <a:gd name="connsiteX6" fmla="*/ 431276 w 607282"/>
              <a:gd name="connsiteY6" fmla="*/ 498941 h 569180"/>
              <a:gd name="connsiteX7" fmla="*/ 431276 w 607282"/>
              <a:gd name="connsiteY7" fmla="*/ 547771 h 569180"/>
              <a:gd name="connsiteX8" fmla="*/ 409822 w 607282"/>
              <a:gd name="connsiteY8" fmla="*/ 569180 h 569180"/>
              <a:gd name="connsiteX9" fmla="*/ 388426 w 607282"/>
              <a:gd name="connsiteY9" fmla="*/ 547771 h 569180"/>
              <a:gd name="connsiteX10" fmla="*/ 388426 w 607282"/>
              <a:gd name="connsiteY10" fmla="*/ 498941 h 569180"/>
              <a:gd name="connsiteX11" fmla="*/ 327276 w 607282"/>
              <a:gd name="connsiteY11" fmla="*/ 559964 h 569180"/>
              <a:gd name="connsiteX12" fmla="*/ 296988 w 607282"/>
              <a:gd name="connsiteY12" fmla="*/ 559964 h 569180"/>
              <a:gd name="connsiteX13" fmla="*/ 296988 w 607282"/>
              <a:gd name="connsiteY13" fmla="*/ 529738 h 569180"/>
              <a:gd name="connsiteX14" fmla="*/ 296931 w 607282"/>
              <a:gd name="connsiteY14" fmla="*/ 529738 h 569180"/>
              <a:gd name="connsiteX15" fmla="*/ 388426 w 607282"/>
              <a:gd name="connsiteY15" fmla="*/ 438433 h 569180"/>
              <a:gd name="connsiteX16" fmla="*/ 388426 w 607282"/>
              <a:gd name="connsiteY16" fmla="*/ 434597 h 569180"/>
              <a:gd name="connsiteX17" fmla="*/ 38140 w 607282"/>
              <a:gd name="connsiteY17" fmla="*/ 145929 h 569180"/>
              <a:gd name="connsiteX18" fmla="*/ 38255 w 607282"/>
              <a:gd name="connsiteY18" fmla="*/ 145929 h 569180"/>
              <a:gd name="connsiteX19" fmla="*/ 66358 w 607282"/>
              <a:gd name="connsiteY19" fmla="*/ 145929 h 569180"/>
              <a:gd name="connsiteX20" fmla="*/ 68767 w 607282"/>
              <a:gd name="connsiteY20" fmla="*/ 161160 h 569180"/>
              <a:gd name="connsiteX21" fmla="*/ 76453 w 607282"/>
              <a:gd name="connsiteY21" fmla="*/ 208857 h 569180"/>
              <a:gd name="connsiteX22" fmla="*/ 82589 w 607282"/>
              <a:gd name="connsiteY22" fmla="*/ 246763 h 569180"/>
              <a:gd name="connsiteX23" fmla="*/ 92684 w 607282"/>
              <a:gd name="connsiteY23" fmla="*/ 246763 h 569180"/>
              <a:gd name="connsiteX24" fmla="*/ 99222 w 607282"/>
              <a:gd name="connsiteY24" fmla="*/ 172898 h 569180"/>
              <a:gd name="connsiteX25" fmla="*/ 91594 w 607282"/>
              <a:gd name="connsiteY25" fmla="*/ 145929 h 569180"/>
              <a:gd name="connsiteX26" fmla="*/ 136502 w 607282"/>
              <a:gd name="connsiteY26" fmla="*/ 145929 h 569180"/>
              <a:gd name="connsiteX27" fmla="*/ 128874 w 607282"/>
              <a:gd name="connsiteY27" fmla="*/ 172898 h 569180"/>
              <a:gd name="connsiteX28" fmla="*/ 135355 w 607282"/>
              <a:gd name="connsiteY28" fmla="*/ 246763 h 569180"/>
              <a:gd name="connsiteX29" fmla="*/ 145507 w 607282"/>
              <a:gd name="connsiteY29" fmla="*/ 246763 h 569180"/>
              <a:gd name="connsiteX30" fmla="*/ 153192 w 607282"/>
              <a:gd name="connsiteY30" fmla="*/ 198780 h 569180"/>
              <a:gd name="connsiteX31" fmla="*/ 161738 w 607282"/>
              <a:gd name="connsiteY31" fmla="*/ 145929 h 569180"/>
              <a:gd name="connsiteX32" fmla="*/ 336094 w 607282"/>
              <a:gd name="connsiteY32" fmla="*/ 145929 h 569180"/>
              <a:gd name="connsiteX33" fmla="*/ 374349 w 607282"/>
              <a:gd name="connsiteY33" fmla="*/ 184121 h 569180"/>
              <a:gd name="connsiteX34" fmla="*/ 336094 w 607282"/>
              <a:gd name="connsiteY34" fmla="*/ 222256 h 569180"/>
              <a:gd name="connsiteX35" fmla="*/ 189841 w 607282"/>
              <a:gd name="connsiteY35" fmla="*/ 222256 h 569180"/>
              <a:gd name="connsiteX36" fmla="*/ 189841 w 607282"/>
              <a:gd name="connsiteY36" fmla="*/ 298011 h 569180"/>
              <a:gd name="connsiteX37" fmla="*/ 189841 w 607282"/>
              <a:gd name="connsiteY37" fmla="*/ 365807 h 569180"/>
              <a:gd name="connsiteX38" fmla="*/ 189841 w 607282"/>
              <a:gd name="connsiteY38" fmla="*/ 528081 h 569180"/>
              <a:gd name="connsiteX39" fmla="*/ 151586 w 607282"/>
              <a:gd name="connsiteY39" fmla="*/ 566216 h 569180"/>
              <a:gd name="connsiteX40" fmla="*/ 114019 w 607282"/>
              <a:gd name="connsiteY40" fmla="*/ 535239 h 569180"/>
              <a:gd name="connsiteX41" fmla="*/ 76453 w 607282"/>
              <a:gd name="connsiteY41" fmla="*/ 566216 h 569180"/>
              <a:gd name="connsiteX42" fmla="*/ 38255 w 607282"/>
              <a:gd name="connsiteY42" fmla="*/ 528081 h 569180"/>
              <a:gd name="connsiteX43" fmla="*/ 38255 w 607282"/>
              <a:gd name="connsiteY43" fmla="*/ 384874 h 569180"/>
              <a:gd name="connsiteX44" fmla="*/ 0 w 607282"/>
              <a:gd name="connsiteY44" fmla="*/ 346739 h 569180"/>
              <a:gd name="connsiteX45" fmla="*/ 0 w 607282"/>
              <a:gd name="connsiteY45" fmla="*/ 184121 h 569180"/>
              <a:gd name="connsiteX46" fmla="*/ 38140 w 607282"/>
              <a:gd name="connsiteY46" fmla="*/ 145929 h 569180"/>
              <a:gd name="connsiteX47" fmla="*/ 545532 w 607282"/>
              <a:gd name="connsiteY47" fmla="*/ 89195 h 569180"/>
              <a:gd name="connsiteX48" fmla="*/ 587343 w 607282"/>
              <a:gd name="connsiteY48" fmla="*/ 89195 h 569180"/>
              <a:gd name="connsiteX49" fmla="*/ 587343 w 607282"/>
              <a:gd name="connsiteY49" fmla="*/ 124061 h 569180"/>
              <a:gd name="connsiteX50" fmla="*/ 587228 w 607282"/>
              <a:gd name="connsiteY50" fmla="*/ 124061 h 569180"/>
              <a:gd name="connsiteX51" fmla="*/ 587343 w 607282"/>
              <a:gd name="connsiteY51" fmla="*/ 324787 h 569180"/>
              <a:gd name="connsiteX52" fmla="*/ 541403 w 607282"/>
              <a:gd name="connsiteY52" fmla="*/ 370989 h 569180"/>
              <a:gd name="connsiteX53" fmla="*/ 278325 w 607282"/>
              <a:gd name="connsiteY53" fmla="*/ 370531 h 569180"/>
              <a:gd name="connsiteX54" fmla="*/ 233131 w 607282"/>
              <a:gd name="connsiteY54" fmla="*/ 331027 h 569180"/>
              <a:gd name="connsiteX55" fmla="*/ 232729 w 607282"/>
              <a:gd name="connsiteY55" fmla="*/ 233012 h 569180"/>
              <a:gd name="connsiteX56" fmla="*/ 272475 w 607282"/>
              <a:gd name="connsiteY56" fmla="*/ 233012 h 569180"/>
              <a:gd name="connsiteX57" fmla="*/ 272475 w 607282"/>
              <a:gd name="connsiteY57" fmla="*/ 330340 h 569180"/>
              <a:gd name="connsiteX58" fmla="*/ 545532 w 607282"/>
              <a:gd name="connsiteY58" fmla="*/ 329997 h 569180"/>
              <a:gd name="connsiteX59" fmla="*/ 545532 w 607282"/>
              <a:gd name="connsiteY59" fmla="*/ 124061 h 569180"/>
              <a:gd name="connsiteX60" fmla="*/ 231948 w 607282"/>
              <a:gd name="connsiteY60" fmla="*/ 89124 h 569180"/>
              <a:gd name="connsiteX61" fmla="*/ 273793 w 607282"/>
              <a:gd name="connsiteY61" fmla="*/ 89124 h 569180"/>
              <a:gd name="connsiteX62" fmla="*/ 273793 w 607282"/>
              <a:gd name="connsiteY62" fmla="*/ 135062 h 569180"/>
              <a:gd name="connsiteX63" fmla="*/ 272240 w 607282"/>
              <a:gd name="connsiteY63" fmla="*/ 135062 h 569180"/>
              <a:gd name="connsiteX64" fmla="*/ 233571 w 607282"/>
              <a:gd name="connsiteY64" fmla="*/ 135062 h 569180"/>
              <a:gd name="connsiteX65" fmla="*/ 231948 w 607282"/>
              <a:gd name="connsiteY65" fmla="*/ 135062 h 569180"/>
              <a:gd name="connsiteX66" fmla="*/ 409822 w 607282"/>
              <a:gd name="connsiteY66" fmla="*/ 10232 h 569180"/>
              <a:gd name="connsiteX67" fmla="*/ 437925 w 607282"/>
              <a:gd name="connsiteY67" fmla="*/ 35771 h 569180"/>
              <a:gd name="connsiteX68" fmla="*/ 447503 w 607282"/>
              <a:gd name="connsiteY68" fmla="*/ 35771 h 569180"/>
              <a:gd name="connsiteX69" fmla="*/ 578958 w 607282"/>
              <a:gd name="connsiteY69" fmla="*/ 35828 h 569180"/>
              <a:gd name="connsiteX70" fmla="*/ 593009 w 607282"/>
              <a:gd name="connsiteY70" fmla="*/ 37031 h 569180"/>
              <a:gd name="connsiteX71" fmla="*/ 607233 w 607282"/>
              <a:gd name="connsiteY71" fmla="*/ 57874 h 569180"/>
              <a:gd name="connsiteX72" fmla="*/ 587159 w 607282"/>
              <a:gd name="connsiteY72" fmla="*/ 76828 h 569180"/>
              <a:gd name="connsiteX73" fmla="*/ 579244 w 607282"/>
              <a:gd name="connsiteY73" fmla="*/ 76885 h 569180"/>
              <a:gd name="connsiteX74" fmla="*/ 241776 w 607282"/>
              <a:gd name="connsiteY74" fmla="*/ 76885 h 569180"/>
              <a:gd name="connsiteX75" fmla="*/ 233861 w 607282"/>
              <a:gd name="connsiteY75" fmla="*/ 76828 h 569180"/>
              <a:gd name="connsiteX76" fmla="*/ 212984 w 607282"/>
              <a:gd name="connsiteY76" fmla="*/ 56672 h 569180"/>
              <a:gd name="connsiteX77" fmla="*/ 233287 w 607282"/>
              <a:gd name="connsiteY77" fmla="*/ 35943 h 569180"/>
              <a:gd name="connsiteX78" fmla="*/ 244357 w 607282"/>
              <a:gd name="connsiteY78" fmla="*/ 35771 h 569180"/>
              <a:gd name="connsiteX79" fmla="*/ 371108 w 607282"/>
              <a:gd name="connsiteY79" fmla="*/ 35771 h 569180"/>
              <a:gd name="connsiteX80" fmla="*/ 381661 w 607282"/>
              <a:gd name="connsiteY80" fmla="*/ 35771 h 569180"/>
              <a:gd name="connsiteX81" fmla="*/ 409822 w 607282"/>
              <a:gd name="connsiteY81" fmla="*/ 10232 h 569180"/>
              <a:gd name="connsiteX82" fmla="*/ 114034 w 607282"/>
              <a:gd name="connsiteY82" fmla="*/ 0 h 569180"/>
              <a:gd name="connsiteX83" fmla="*/ 182130 w 607282"/>
              <a:gd name="connsiteY83" fmla="*/ 67990 h 569180"/>
              <a:gd name="connsiteX84" fmla="*/ 114034 w 607282"/>
              <a:gd name="connsiteY84" fmla="*/ 135980 h 569180"/>
              <a:gd name="connsiteX85" fmla="*/ 45938 w 607282"/>
              <a:gd name="connsiteY85" fmla="*/ 67990 h 569180"/>
              <a:gd name="connsiteX86" fmla="*/ 114034 w 607282"/>
              <a:gd name="connsiteY86" fmla="*/ 0 h 5691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Lst>
            <a:rect l="l" t="t" r="r" b="b"/>
            <a:pathLst>
              <a:path w="607282" h="569180">
                <a:moveTo>
                  <a:pt x="388426" y="385710"/>
                </a:moveTo>
                <a:lnTo>
                  <a:pt x="431276" y="385710"/>
                </a:lnTo>
                <a:lnTo>
                  <a:pt x="431276" y="438433"/>
                </a:lnTo>
                <a:lnTo>
                  <a:pt x="522771" y="529738"/>
                </a:lnTo>
                <a:cubicBezTo>
                  <a:pt x="531146" y="538096"/>
                  <a:pt x="531146" y="551606"/>
                  <a:pt x="522771" y="559964"/>
                </a:cubicBezTo>
                <a:cubicBezTo>
                  <a:pt x="514396" y="568321"/>
                  <a:pt x="500858" y="568321"/>
                  <a:pt x="492483" y="559964"/>
                </a:cubicBezTo>
                <a:lnTo>
                  <a:pt x="431276" y="498941"/>
                </a:lnTo>
                <a:lnTo>
                  <a:pt x="431276" y="547771"/>
                </a:lnTo>
                <a:cubicBezTo>
                  <a:pt x="431276" y="559563"/>
                  <a:pt x="421697" y="569180"/>
                  <a:pt x="409822" y="569180"/>
                </a:cubicBezTo>
                <a:cubicBezTo>
                  <a:pt x="398005" y="569180"/>
                  <a:pt x="388426" y="559563"/>
                  <a:pt x="388426" y="547771"/>
                </a:cubicBezTo>
                <a:lnTo>
                  <a:pt x="388426" y="498941"/>
                </a:lnTo>
                <a:lnTo>
                  <a:pt x="327276" y="559964"/>
                </a:lnTo>
                <a:cubicBezTo>
                  <a:pt x="318901" y="568321"/>
                  <a:pt x="305306" y="568321"/>
                  <a:pt x="296988" y="559964"/>
                </a:cubicBezTo>
                <a:cubicBezTo>
                  <a:pt x="288613" y="551606"/>
                  <a:pt x="288613" y="538096"/>
                  <a:pt x="296988" y="529738"/>
                </a:cubicBezTo>
                <a:lnTo>
                  <a:pt x="296931" y="529738"/>
                </a:lnTo>
                <a:lnTo>
                  <a:pt x="388426" y="438433"/>
                </a:lnTo>
                <a:lnTo>
                  <a:pt x="388426" y="434597"/>
                </a:lnTo>
                <a:close/>
                <a:moveTo>
                  <a:pt x="38140" y="145929"/>
                </a:moveTo>
                <a:lnTo>
                  <a:pt x="38255" y="145929"/>
                </a:lnTo>
                <a:lnTo>
                  <a:pt x="66358" y="145929"/>
                </a:lnTo>
                <a:lnTo>
                  <a:pt x="68767" y="161160"/>
                </a:lnTo>
                <a:lnTo>
                  <a:pt x="76453" y="208857"/>
                </a:lnTo>
                <a:lnTo>
                  <a:pt x="82589" y="246763"/>
                </a:lnTo>
                <a:lnTo>
                  <a:pt x="92684" y="246763"/>
                </a:lnTo>
                <a:lnTo>
                  <a:pt x="99222" y="172898"/>
                </a:lnTo>
                <a:lnTo>
                  <a:pt x="91594" y="145929"/>
                </a:lnTo>
                <a:lnTo>
                  <a:pt x="136502" y="145929"/>
                </a:lnTo>
                <a:lnTo>
                  <a:pt x="128874" y="172898"/>
                </a:lnTo>
                <a:lnTo>
                  <a:pt x="135355" y="246763"/>
                </a:lnTo>
                <a:lnTo>
                  <a:pt x="145507" y="246763"/>
                </a:lnTo>
                <a:lnTo>
                  <a:pt x="153192" y="198780"/>
                </a:lnTo>
                <a:lnTo>
                  <a:pt x="161738" y="145929"/>
                </a:lnTo>
                <a:lnTo>
                  <a:pt x="336094" y="145929"/>
                </a:lnTo>
                <a:cubicBezTo>
                  <a:pt x="357200" y="145929"/>
                  <a:pt x="374349" y="162992"/>
                  <a:pt x="374349" y="184121"/>
                </a:cubicBezTo>
                <a:cubicBezTo>
                  <a:pt x="374349" y="205193"/>
                  <a:pt x="357200" y="222256"/>
                  <a:pt x="336094" y="222256"/>
                </a:cubicBezTo>
                <a:lnTo>
                  <a:pt x="189841" y="222256"/>
                </a:lnTo>
                <a:lnTo>
                  <a:pt x="189841" y="298011"/>
                </a:lnTo>
                <a:lnTo>
                  <a:pt x="189841" y="365807"/>
                </a:lnTo>
                <a:lnTo>
                  <a:pt x="189841" y="528081"/>
                </a:lnTo>
                <a:cubicBezTo>
                  <a:pt x="189841" y="549153"/>
                  <a:pt x="172692" y="566216"/>
                  <a:pt x="151586" y="566216"/>
                </a:cubicBezTo>
                <a:cubicBezTo>
                  <a:pt x="132889" y="566216"/>
                  <a:pt x="117403" y="552875"/>
                  <a:pt x="114019" y="535239"/>
                </a:cubicBezTo>
                <a:cubicBezTo>
                  <a:pt x="110693" y="552875"/>
                  <a:pt x="95150" y="566216"/>
                  <a:pt x="76453" y="566216"/>
                </a:cubicBezTo>
                <a:cubicBezTo>
                  <a:pt x="55346" y="566216"/>
                  <a:pt x="38255" y="549153"/>
                  <a:pt x="38255" y="528081"/>
                </a:cubicBezTo>
                <a:lnTo>
                  <a:pt x="38255" y="384874"/>
                </a:lnTo>
                <a:cubicBezTo>
                  <a:pt x="17091" y="384874"/>
                  <a:pt x="0" y="367811"/>
                  <a:pt x="0" y="346739"/>
                </a:cubicBezTo>
                <a:lnTo>
                  <a:pt x="0" y="184121"/>
                </a:lnTo>
                <a:cubicBezTo>
                  <a:pt x="0" y="163050"/>
                  <a:pt x="17091" y="145986"/>
                  <a:pt x="38140" y="145929"/>
                </a:cubicBezTo>
                <a:close/>
                <a:moveTo>
                  <a:pt x="545532" y="89195"/>
                </a:moveTo>
                <a:lnTo>
                  <a:pt x="587343" y="89195"/>
                </a:lnTo>
                <a:lnTo>
                  <a:pt x="587343" y="124061"/>
                </a:lnTo>
                <a:lnTo>
                  <a:pt x="587228" y="124061"/>
                </a:lnTo>
                <a:cubicBezTo>
                  <a:pt x="587228" y="190989"/>
                  <a:pt x="587056" y="257859"/>
                  <a:pt x="587343" y="324787"/>
                </a:cubicBezTo>
                <a:cubicBezTo>
                  <a:pt x="587457" y="352669"/>
                  <a:pt x="567498" y="371104"/>
                  <a:pt x="541403" y="370989"/>
                </a:cubicBezTo>
                <a:cubicBezTo>
                  <a:pt x="453710" y="370646"/>
                  <a:pt x="366018" y="370703"/>
                  <a:pt x="278325" y="370531"/>
                </a:cubicBezTo>
                <a:cubicBezTo>
                  <a:pt x="255441" y="370474"/>
                  <a:pt x="234278" y="353527"/>
                  <a:pt x="233131" y="331027"/>
                </a:cubicBezTo>
                <a:cubicBezTo>
                  <a:pt x="231525" y="299024"/>
                  <a:pt x="232729" y="266905"/>
                  <a:pt x="232729" y="233012"/>
                </a:cubicBezTo>
                <a:lnTo>
                  <a:pt x="272475" y="233012"/>
                </a:lnTo>
                <a:lnTo>
                  <a:pt x="272475" y="330340"/>
                </a:lnTo>
                <a:cubicBezTo>
                  <a:pt x="364010" y="330512"/>
                  <a:pt x="453997" y="330398"/>
                  <a:pt x="545532" y="329997"/>
                </a:cubicBezTo>
                <a:lnTo>
                  <a:pt x="545532" y="124061"/>
                </a:lnTo>
                <a:close/>
                <a:moveTo>
                  <a:pt x="231948" y="89124"/>
                </a:moveTo>
                <a:lnTo>
                  <a:pt x="273793" y="89124"/>
                </a:lnTo>
                <a:lnTo>
                  <a:pt x="273793" y="135062"/>
                </a:lnTo>
                <a:lnTo>
                  <a:pt x="272240" y="135062"/>
                </a:lnTo>
                <a:lnTo>
                  <a:pt x="233571" y="135062"/>
                </a:lnTo>
                <a:lnTo>
                  <a:pt x="231948" y="135062"/>
                </a:lnTo>
                <a:close/>
                <a:moveTo>
                  <a:pt x="409822" y="10232"/>
                </a:moveTo>
                <a:cubicBezTo>
                  <a:pt x="424505" y="10232"/>
                  <a:pt x="436606" y="21455"/>
                  <a:pt x="437925" y="35771"/>
                </a:cubicBezTo>
                <a:lnTo>
                  <a:pt x="447503" y="35771"/>
                </a:lnTo>
                <a:cubicBezTo>
                  <a:pt x="491321" y="35771"/>
                  <a:pt x="535140" y="35771"/>
                  <a:pt x="578958" y="35828"/>
                </a:cubicBezTo>
                <a:cubicBezTo>
                  <a:pt x="583661" y="35828"/>
                  <a:pt x="588650" y="35599"/>
                  <a:pt x="593009" y="37031"/>
                </a:cubicBezTo>
                <a:cubicBezTo>
                  <a:pt x="601326" y="39665"/>
                  <a:pt x="607921" y="50144"/>
                  <a:pt x="607233" y="57874"/>
                </a:cubicBezTo>
                <a:cubicBezTo>
                  <a:pt x="606315" y="67380"/>
                  <a:pt x="597368" y="75912"/>
                  <a:pt x="587159" y="76828"/>
                </a:cubicBezTo>
                <a:cubicBezTo>
                  <a:pt x="584521" y="77057"/>
                  <a:pt x="581883" y="76885"/>
                  <a:pt x="579244" y="76885"/>
                </a:cubicBezTo>
                <a:cubicBezTo>
                  <a:pt x="466774" y="76885"/>
                  <a:pt x="354304" y="76885"/>
                  <a:pt x="241776" y="76885"/>
                </a:cubicBezTo>
                <a:cubicBezTo>
                  <a:pt x="239137" y="76885"/>
                  <a:pt x="236499" y="77057"/>
                  <a:pt x="233861" y="76828"/>
                </a:cubicBezTo>
                <a:cubicBezTo>
                  <a:pt x="223078" y="75740"/>
                  <a:pt x="213156" y="66120"/>
                  <a:pt x="212984" y="56672"/>
                </a:cubicBezTo>
                <a:cubicBezTo>
                  <a:pt x="212755" y="47166"/>
                  <a:pt x="222448" y="37088"/>
                  <a:pt x="233287" y="35943"/>
                </a:cubicBezTo>
                <a:cubicBezTo>
                  <a:pt x="236958" y="35542"/>
                  <a:pt x="240686" y="35771"/>
                  <a:pt x="244357" y="35771"/>
                </a:cubicBezTo>
                <a:cubicBezTo>
                  <a:pt x="286626" y="35771"/>
                  <a:pt x="328839" y="35771"/>
                  <a:pt x="371108" y="35771"/>
                </a:cubicBezTo>
                <a:lnTo>
                  <a:pt x="381661" y="35771"/>
                </a:lnTo>
                <a:cubicBezTo>
                  <a:pt x="382981" y="21455"/>
                  <a:pt x="395082" y="10232"/>
                  <a:pt x="409822" y="10232"/>
                </a:cubicBezTo>
                <a:close/>
                <a:moveTo>
                  <a:pt x="114034" y="0"/>
                </a:moveTo>
                <a:cubicBezTo>
                  <a:pt x="151642" y="0"/>
                  <a:pt x="182130" y="30440"/>
                  <a:pt x="182130" y="67990"/>
                </a:cubicBezTo>
                <a:cubicBezTo>
                  <a:pt x="182130" y="105540"/>
                  <a:pt x="151642" y="135980"/>
                  <a:pt x="114034" y="135980"/>
                </a:cubicBezTo>
                <a:cubicBezTo>
                  <a:pt x="76426" y="135980"/>
                  <a:pt x="45938" y="105540"/>
                  <a:pt x="45938" y="67990"/>
                </a:cubicBezTo>
                <a:cubicBezTo>
                  <a:pt x="45938" y="30440"/>
                  <a:pt x="76426" y="0"/>
                  <a:pt x="114034" y="0"/>
                </a:cubicBezTo>
                <a:close/>
              </a:path>
            </a:pathLst>
          </a:custGeom>
          <a:solidFill>
            <a:srgbClr val="3F3B3A"/>
          </a:solidFill>
          <a:ln w="12700" cap="flat">
            <a:noFill/>
            <a:miter lim="400000"/>
          </a:ln>
          <a:effectLst/>
        </p:spPr>
        <p:txBody>
          <a:bodyPr wrap="square" lIns="91439" tIns="91439" rIns="91439" bIns="91439" numCol="1" anchor="t">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a:latin typeface="思源黑体 CN Medium" panose="020B0600000000000000" pitchFamily="34" charset="-122"/>
              <a:ea typeface="思源黑体 CN Medium" panose="020B0600000000000000" pitchFamily="34" charset="-122"/>
            </a:endParaRPr>
          </a:p>
        </p:txBody>
      </p:sp>
      <p:cxnSp>
        <p:nvCxnSpPr>
          <p:cNvPr id="7" name="直接连接符 6">
            <a:extLst>
              <a:ext uri="{FF2B5EF4-FFF2-40B4-BE49-F238E27FC236}">
                <a16:creationId xmlns:a16="http://schemas.microsoft.com/office/drawing/2014/main" id="{D7FC733E-4E96-45E0-B9E5-24BD4CBE51BD}"/>
              </a:ext>
            </a:extLst>
          </p:cNvPr>
          <p:cNvCxnSpPr>
            <a:cxnSpLocks/>
          </p:cNvCxnSpPr>
          <p:nvPr/>
        </p:nvCxnSpPr>
        <p:spPr>
          <a:xfrm>
            <a:off x="1024175" y="4221088"/>
            <a:ext cx="7056784" cy="0"/>
          </a:xfrm>
          <a:prstGeom prst="line">
            <a:avLst/>
          </a:prstGeom>
          <a:ln w="15875">
            <a:solidFill>
              <a:srgbClr val="3F3B3A"/>
            </a:solidFill>
          </a:ln>
        </p:spPr>
        <p:style>
          <a:lnRef idx="1">
            <a:schemeClr val="accent1"/>
          </a:lnRef>
          <a:fillRef idx="0">
            <a:schemeClr val="accent1"/>
          </a:fillRef>
          <a:effectRef idx="0">
            <a:schemeClr val="accent1"/>
          </a:effectRef>
          <a:fontRef idx="minor">
            <a:schemeClr val="tx1"/>
          </a:fontRef>
        </p:style>
      </p:cxnSp>
      <p:cxnSp>
        <p:nvCxnSpPr>
          <p:cNvPr id="11" name="直接连接符 10">
            <a:extLst>
              <a:ext uri="{FF2B5EF4-FFF2-40B4-BE49-F238E27FC236}">
                <a16:creationId xmlns:a16="http://schemas.microsoft.com/office/drawing/2014/main" id="{D7FC733E-4E96-45E0-B9E5-24BD4CBE51BD}"/>
              </a:ext>
            </a:extLst>
          </p:cNvPr>
          <p:cNvCxnSpPr>
            <a:cxnSpLocks/>
          </p:cNvCxnSpPr>
          <p:nvPr/>
        </p:nvCxnSpPr>
        <p:spPr>
          <a:xfrm>
            <a:off x="978293" y="2625728"/>
            <a:ext cx="7056784" cy="0"/>
          </a:xfrm>
          <a:prstGeom prst="line">
            <a:avLst/>
          </a:prstGeom>
          <a:ln w="15875">
            <a:solidFill>
              <a:srgbClr val="3F3B3A"/>
            </a:solidFill>
          </a:ln>
        </p:spPr>
        <p:style>
          <a:lnRef idx="1">
            <a:schemeClr val="accent1"/>
          </a:lnRef>
          <a:fillRef idx="0">
            <a:schemeClr val="accent1"/>
          </a:fillRef>
          <a:effectRef idx="0">
            <a:schemeClr val="accent1"/>
          </a:effectRef>
          <a:fontRef idx="minor">
            <a:schemeClr val="tx1"/>
          </a:fontRef>
        </p:style>
      </p:cxnSp>
      <p:pic>
        <p:nvPicPr>
          <p:cNvPr id="9" name="图片 8"/>
          <p:cNvPicPr>
            <a:picLocks noChangeAspect="1"/>
          </p:cNvPicPr>
          <p:nvPr/>
        </p:nvPicPr>
        <p:blipFill>
          <a:blip r:embed="rId2"/>
          <a:stretch>
            <a:fillRect/>
          </a:stretch>
        </p:blipFill>
        <p:spPr>
          <a:xfrm>
            <a:off x="6156176" y="260648"/>
            <a:ext cx="2660986" cy="610982"/>
          </a:xfrm>
          <a:prstGeom prst="rect">
            <a:avLst/>
          </a:prstGeom>
        </p:spPr>
      </p:pic>
    </p:spTree>
    <p:extLst>
      <p:ext uri="{BB962C8B-B14F-4D97-AF65-F5344CB8AC3E}">
        <p14:creationId xmlns:p14="http://schemas.microsoft.com/office/powerpoint/2010/main" val="974588721"/>
      </p:ext>
    </p:extLst>
  </p:cSld>
  <p:clrMapOvr>
    <a:masterClrMapping/>
  </p:clrMapOvr>
  <p:transition spd="slow">
    <p:circle/>
  </p:transition>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9458" name="Picture 4" descr="互联网"/>
          <p:cNvPicPr>
            <a:picLocks noChangeAspect="1" noChangeArrowheads="1"/>
          </p:cNvPicPr>
          <p:nvPr/>
        </p:nvPicPr>
        <p:blipFill>
          <a:blip r:embed="rId2">
            <a:extLst>
              <a:ext uri="{28A0092B-C50C-407E-A947-70E740481C1C}">
                <a14:useLocalDpi xmlns:a14="http://schemas.microsoft.com/office/drawing/2010/main" val="0"/>
              </a:ext>
            </a:extLst>
          </a:blip>
          <a:srcRect t="14583" b="4829"/>
          <a:stretch>
            <a:fillRect/>
          </a:stretch>
        </p:blipFill>
        <p:spPr bwMode="auto">
          <a:xfrm>
            <a:off x="250901" y="1268760"/>
            <a:ext cx="8670271" cy="52716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标题 2"/>
          <p:cNvSpPr>
            <a:spLocks noGrp="1"/>
          </p:cNvSpPr>
          <p:nvPr>
            <p:ph type="title"/>
          </p:nvPr>
        </p:nvSpPr>
        <p:spPr>
          <a:xfrm>
            <a:off x="14037" y="0"/>
            <a:ext cx="9144000" cy="936104"/>
          </a:xfrm>
        </p:spPr>
        <p:txBody>
          <a:bodyPr/>
          <a:lstStyle/>
          <a:p>
            <a:r>
              <a:rPr lang="zh-CN" altLang="en-US" dirty="0">
                <a:sym typeface="Century Schoolbook" pitchFamily="18" charset="0"/>
              </a:rPr>
              <a:t>网上</a:t>
            </a:r>
            <a:r>
              <a:rPr lang="en-US" altLang="zh-CN" dirty="0">
                <a:sym typeface="Century Schoolbook" pitchFamily="18" charset="0"/>
              </a:rPr>
              <a:t>1</a:t>
            </a:r>
            <a:r>
              <a:rPr lang="zh-CN" altLang="en-US" dirty="0">
                <a:sym typeface="Century Schoolbook" pitchFamily="18" charset="0"/>
              </a:rPr>
              <a:t>分钟，人间</a:t>
            </a:r>
            <a:r>
              <a:rPr lang="en-US" altLang="zh-CN" dirty="0">
                <a:sym typeface="Century Schoolbook" pitchFamily="18" charset="0"/>
              </a:rPr>
              <a:t>1</a:t>
            </a:r>
            <a:r>
              <a:rPr lang="zh-CN" altLang="en-US" dirty="0" smtClean="0">
                <a:sym typeface="Century Schoolbook" pitchFamily="18" charset="0"/>
              </a:rPr>
              <a:t>万年</a:t>
            </a:r>
            <a:endParaRPr lang="zh-CN" altLang="en-US" dirty="0"/>
          </a:p>
        </p:txBody>
      </p:sp>
    </p:spTree>
    <p:extLst>
      <p:ext uri="{BB962C8B-B14F-4D97-AF65-F5344CB8AC3E}">
        <p14:creationId xmlns:p14="http://schemas.microsoft.com/office/powerpoint/2010/main" val="3952464174"/>
      </p:ext>
    </p:extLst>
  </p:cSld>
  <p:clrMapOvr>
    <a:masterClrMapping/>
  </p:clrMapOvr>
  <p:transition spd="slow">
    <p:circle/>
  </p:transition>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zh-CN" dirty="0"/>
              <a:t>数据</a:t>
            </a:r>
            <a:r>
              <a:rPr lang="zh-CN" altLang="en-US" dirty="0"/>
              <a:t>信息</a:t>
            </a:r>
            <a:r>
              <a:rPr lang="zh-CN" altLang="zh-CN" dirty="0"/>
              <a:t>的认识史就是人类的发展史</a:t>
            </a:r>
            <a:endParaRPr lang="zh-CN" altLang="en-US" dirty="0"/>
          </a:p>
        </p:txBody>
      </p:sp>
      <p:sp>
        <p:nvSpPr>
          <p:cNvPr id="3" name="内容占位符 2"/>
          <p:cNvSpPr>
            <a:spLocks noGrp="1"/>
          </p:cNvSpPr>
          <p:nvPr>
            <p:ph idx="1"/>
          </p:nvPr>
        </p:nvSpPr>
        <p:spPr>
          <a:xfrm>
            <a:off x="318356" y="1013547"/>
            <a:ext cx="8507288" cy="5256213"/>
          </a:xfrm>
        </p:spPr>
        <p:txBody>
          <a:bodyPr/>
          <a:lstStyle/>
          <a:p>
            <a:pPr>
              <a:lnSpc>
                <a:spcPct val="200000"/>
              </a:lnSpc>
            </a:pPr>
            <a:r>
              <a:rPr lang="zh-CN" altLang="en-US" sz="2400" b="0" dirty="0" smtClean="0">
                <a:latin typeface="微软雅黑" panose="020B0503020204020204" pitchFamily="34" charset="-122"/>
                <a:ea typeface="微软雅黑" panose="020B0503020204020204" pitchFamily="34" charset="-122"/>
              </a:rPr>
              <a:t>数据对人类历史的推动</a:t>
            </a:r>
            <a:endParaRPr lang="en-US" altLang="zh-CN" sz="2400" b="0" dirty="0" smtClean="0">
              <a:latin typeface="微软雅黑" panose="020B0503020204020204" pitchFamily="34" charset="-122"/>
              <a:ea typeface="微软雅黑" panose="020B0503020204020204" pitchFamily="34" charset="-122"/>
            </a:endParaRPr>
          </a:p>
          <a:p>
            <a:pPr>
              <a:lnSpc>
                <a:spcPct val="200000"/>
              </a:lnSpc>
            </a:pPr>
            <a:r>
              <a:rPr lang="zh-CN" altLang="zh-CN" sz="2400" b="0" dirty="0" smtClean="0">
                <a:latin typeface="微软雅黑" panose="020B0503020204020204" pitchFamily="34" charset="-122"/>
                <a:ea typeface="微软雅黑" panose="020B0503020204020204" pitchFamily="34" charset="-122"/>
              </a:rPr>
              <a:t>三</a:t>
            </a:r>
            <a:r>
              <a:rPr lang="zh-CN" altLang="zh-CN" sz="2400" b="0" dirty="0">
                <a:latin typeface="微软雅黑" panose="020B0503020204020204" pitchFamily="34" charset="-122"/>
                <a:ea typeface="微软雅黑" panose="020B0503020204020204" pitchFamily="34" charset="-122"/>
              </a:rPr>
              <a:t>次信息</a:t>
            </a:r>
            <a:r>
              <a:rPr lang="zh-CN" altLang="zh-CN" sz="2400" b="0" dirty="0" smtClean="0">
                <a:latin typeface="微软雅黑" panose="020B0503020204020204" pitchFamily="34" charset="-122"/>
                <a:ea typeface="微软雅黑" panose="020B0503020204020204" pitchFamily="34" charset="-122"/>
              </a:rPr>
              <a:t>革命</a:t>
            </a:r>
            <a:endParaRPr lang="en-US" altLang="zh-CN" sz="2400" b="0" dirty="0" smtClean="0">
              <a:latin typeface="微软雅黑" panose="020B0503020204020204" pitchFamily="34" charset="-122"/>
              <a:ea typeface="微软雅黑" panose="020B0503020204020204" pitchFamily="34" charset="-122"/>
            </a:endParaRPr>
          </a:p>
          <a:p>
            <a:pPr lvl="1">
              <a:lnSpc>
                <a:spcPct val="200000"/>
              </a:lnSpc>
            </a:pPr>
            <a:r>
              <a:rPr lang="zh-CN" altLang="zh-CN" sz="2400" b="0" dirty="0" smtClean="0">
                <a:latin typeface="微软雅黑" panose="020B0503020204020204" pitchFamily="34" charset="-122"/>
                <a:ea typeface="微软雅黑" panose="020B0503020204020204" pitchFamily="34" charset="-122"/>
              </a:rPr>
              <a:t>语言</a:t>
            </a:r>
            <a:r>
              <a:rPr lang="zh-CN" altLang="zh-CN" sz="2400" b="0" dirty="0">
                <a:latin typeface="微软雅黑" panose="020B0503020204020204" pitchFamily="34" charset="-122"/>
                <a:ea typeface="微软雅黑" panose="020B0503020204020204" pitchFamily="34" charset="-122"/>
              </a:rPr>
              <a:t>的创造</a:t>
            </a:r>
            <a:r>
              <a:rPr lang="en-US" altLang="zh-CN" sz="2400" b="0" dirty="0">
                <a:latin typeface="微软雅黑" panose="020B0503020204020204" pitchFamily="34" charset="-122"/>
                <a:ea typeface="微软雅黑" panose="020B0503020204020204" pitchFamily="34" charset="-122"/>
              </a:rPr>
              <a:t>——</a:t>
            </a:r>
            <a:r>
              <a:rPr lang="zh-CN" altLang="zh-CN" sz="2400" b="0" dirty="0">
                <a:latin typeface="微软雅黑" panose="020B0503020204020204" pitchFamily="34" charset="-122"/>
                <a:ea typeface="微软雅黑" panose="020B0503020204020204" pitchFamily="34" charset="-122"/>
              </a:rPr>
              <a:t>文字的创造</a:t>
            </a:r>
            <a:r>
              <a:rPr lang="en-US" altLang="zh-CN" sz="2400" b="0" dirty="0">
                <a:latin typeface="微软雅黑" panose="020B0503020204020204" pitchFamily="34" charset="-122"/>
                <a:ea typeface="微软雅黑" panose="020B0503020204020204" pitchFamily="34" charset="-122"/>
              </a:rPr>
              <a:t>——</a:t>
            </a:r>
            <a:r>
              <a:rPr lang="zh-CN" altLang="zh-CN" sz="2400" b="0" dirty="0">
                <a:latin typeface="微软雅黑" panose="020B0503020204020204" pitchFamily="34" charset="-122"/>
                <a:ea typeface="微软雅黑" panose="020B0503020204020204" pitchFamily="34" charset="-122"/>
              </a:rPr>
              <a:t>电信通讯</a:t>
            </a:r>
            <a:r>
              <a:rPr lang="zh-CN" altLang="zh-CN" sz="2400" b="0" dirty="0" smtClean="0">
                <a:latin typeface="微软雅黑" panose="020B0503020204020204" pitchFamily="34" charset="-122"/>
                <a:ea typeface="微软雅黑" panose="020B0503020204020204" pitchFamily="34" charset="-122"/>
              </a:rPr>
              <a:t>的</a:t>
            </a:r>
            <a:r>
              <a:rPr lang="zh-CN" altLang="en-US" sz="2400" b="0" dirty="0" smtClean="0">
                <a:latin typeface="微软雅黑" panose="020B0503020204020204" pitchFamily="34" charset="-122"/>
                <a:ea typeface="微软雅黑" panose="020B0503020204020204" pitchFamily="34" charset="-122"/>
              </a:rPr>
              <a:t>创造</a:t>
            </a:r>
            <a:endParaRPr lang="en-US" altLang="zh-CN" sz="2400" b="0" dirty="0" smtClean="0">
              <a:latin typeface="微软雅黑" panose="020B0503020204020204" pitchFamily="34" charset="-122"/>
              <a:ea typeface="微软雅黑" panose="020B0503020204020204" pitchFamily="34" charset="-122"/>
            </a:endParaRPr>
          </a:p>
          <a:p>
            <a:pPr>
              <a:lnSpc>
                <a:spcPct val="200000"/>
              </a:lnSpc>
            </a:pPr>
            <a:r>
              <a:rPr lang="zh-CN" altLang="zh-CN" sz="2400" b="0" dirty="0" smtClean="0">
                <a:latin typeface="微软雅黑" panose="020B0503020204020204" pitchFamily="34" charset="-122"/>
                <a:ea typeface="微软雅黑" panose="020B0503020204020204" pitchFamily="34" charset="-122"/>
              </a:rPr>
              <a:t>人类</a:t>
            </a:r>
            <a:r>
              <a:rPr lang="zh-CN" altLang="zh-CN" sz="2400" b="0" dirty="0">
                <a:latin typeface="微软雅黑" panose="020B0503020204020204" pitchFamily="34" charset="-122"/>
                <a:ea typeface="微软雅黑" panose="020B0503020204020204" pitchFamily="34" charset="-122"/>
              </a:rPr>
              <a:t>的认识和实践，就是一部数据搜索、处理、挖掘和创新的历史</a:t>
            </a:r>
            <a:r>
              <a:rPr lang="zh-CN" altLang="zh-CN" sz="2400" b="0" dirty="0" smtClean="0">
                <a:latin typeface="微软雅黑" panose="020B0503020204020204" pitchFamily="34" charset="-122"/>
                <a:ea typeface="微软雅黑" panose="020B0503020204020204" pitchFamily="34" charset="-122"/>
              </a:rPr>
              <a:t>。</a:t>
            </a:r>
            <a:endParaRPr lang="en-US" altLang="zh-CN" sz="2400" b="0" dirty="0" smtClean="0">
              <a:latin typeface="微软雅黑" panose="020B0503020204020204" pitchFamily="34" charset="-122"/>
              <a:ea typeface="微软雅黑" panose="020B0503020204020204" pitchFamily="34" charset="-122"/>
            </a:endParaRPr>
          </a:p>
        </p:txBody>
      </p:sp>
      <p:pic>
        <p:nvPicPr>
          <p:cNvPr id="4" name="图片 3"/>
          <p:cNvPicPr>
            <a:picLocks noChangeAspect="1"/>
          </p:cNvPicPr>
          <p:nvPr/>
        </p:nvPicPr>
        <p:blipFill>
          <a:blip r:embed="rId3"/>
          <a:stretch>
            <a:fillRect/>
          </a:stretch>
        </p:blipFill>
        <p:spPr>
          <a:xfrm>
            <a:off x="179512" y="1268760"/>
            <a:ext cx="8496944" cy="5171461"/>
          </a:xfrm>
          <a:prstGeom prst="rect">
            <a:avLst/>
          </a:prstGeom>
        </p:spPr>
      </p:pic>
    </p:spTree>
    <p:extLst>
      <p:ext uri="{BB962C8B-B14F-4D97-AF65-F5344CB8AC3E}">
        <p14:creationId xmlns:p14="http://schemas.microsoft.com/office/powerpoint/2010/main" val="3788432702"/>
      </p:ext>
    </p:extLst>
  </p:cSld>
  <p:clrMapOvr>
    <a:masterClrMapping/>
  </p:clrMapOvr>
  <p:transition spd="slow">
    <p:circle/>
  </p:transition>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6" name="Rectangle 2"/>
          <p:cNvSpPr>
            <a:spLocks noGrp="1" noRot="1" noChangeArrowheads="1"/>
          </p:cNvSpPr>
          <p:nvPr>
            <p:ph type="title"/>
          </p:nvPr>
        </p:nvSpPr>
        <p:spPr/>
        <p:txBody>
          <a:bodyPr/>
          <a:lstStyle/>
          <a:p>
            <a:r>
              <a:rPr lang="zh-CN" altLang="en-US" dirty="0"/>
              <a:t>迎接大数据时代的到来</a:t>
            </a:r>
          </a:p>
        </p:txBody>
      </p:sp>
      <p:sp>
        <p:nvSpPr>
          <p:cNvPr id="13315" name="Rectangle 3"/>
          <p:cNvSpPr>
            <a:spLocks noGrp="1" noRot="1" noChangeArrowheads="1"/>
          </p:cNvSpPr>
          <p:nvPr>
            <p:ph type="body" idx="1"/>
          </p:nvPr>
        </p:nvSpPr>
        <p:spPr>
          <a:xfrm>
            <a:off x="395536" y="1052736"/>
            <a:ext cx="3826768" cy="5256213"/>
          </a:xfrm>
        </p:spPr>
        <p:txBody>
          <a:bodyPr/>
          <a:lstStyle/>
          <a:p>
            <a:pPr>
              <a:lnSpc>
                <a:spcPct val="200000"/>
              </a:lnSpc>
            </a:pPr>
            <a:r>
              <a:rPr lang="zh-CN" altLang="en-US" sz="2400" b="0" dirty="0" smtClean="0">
                <a:solidFill>
                  <a:srgbClr val="000000"/>
                </a:solidFill>
                <a:latin typeface="微软雅黑" panose="020B0503020204020204" pitchFamily="34" charset="-122"/>
                <a:ea typeface="微软雅黑" panose="020B0503020204020204" pitchFamily="34" charset="-122"/>
              </a:rPr>
              <a:t>硬件成本的降低</a:t>
            </a:r>
          </a:p>
          <a:p>
            <a:pPr>
              <a:lnSpc>
                <a:spcPct val="200000"/>
              </a:lnSpc>
            </a:pPr>
            <a:r>
              <a:rPr lang="zh-CN" altLang="en-US" sz="2400" b="0" dirty="0" smtClean="0">
                <a:solidFill>
                  <a:srgbClr val="000000"/>
                </a:solidFill>
                <a:latin typeface="微软雅黑" panose="020B0503020204020204" pitchFamily="34" charset="-122"/>
                <a:ea typeface="微软雅黑" panose="020B0503020204020204" pitchFamily="34" charset="-122"/>
              </a:rPr>
              <a:t>网络带宽的提升</a:t>
            </a:r>
          </a:p>
          <a:p>
            <a:pPr>
              <a:lnSpc>
                <a:spcPct val="200000"/>
              </a:lnSpc>
            </a:pPr>
            <a:r>
              <a:rPr lang="zh-CN" altLang="en-US" sz="2400" b="0" dirty="0" smtClean="0">
                <a:solidFill>
                  <a:srgbClr val="000000"/>
                </a:solidFill>
                <a:latin typeface="微软雅黑" panose="020B0503020204020204" pitchFamily="34" charset="-122"/>
                <a:ea typeface="微软雅黑" panose="020B0503020204020204" pitchFamily="34" charset="-122"/>
              </a:rPr>
              <a:t>云计算的兴起</a:t>
            </a:r>
          </a:p>
          <a:p>
            <a:pPr>
              <a:lnSpc>
                <a:spcPct val="200000"/>
              </a:lnSpc>
            </a:pPr>
            <a:r>
              <a:rPr lang="zh-CN" altLang="en-US" sz="2400" b="0" dirty="0">
                <a:latin typeface="微软雅黑" panose="020B0503020204020204" pitchFamily="34" charset="-122"/>
                <a:ea typeface="微软雅黑" panose="020B0503020204020204" pitchFamily="34" charset="-122"/>
              </a:rPr>
              <a:t>智能终端的普及</a:t>
            </a:r>
          </a:p>
          <a:p>
            <a:pPr>
              <a:lnSpc>
                <a:spcPct val="200000"/>
              </a:lnSpc>
            </a:pPr>
            <a:r>
              <a:rPr lang="zh-CN" altLang="en-US" sz="2400" b="0" dirty="0">
                <a:solidFill>
                  <a:srgbClr val="000000"/>
                </a:solidFill>
                <a:latin typeface="微软雅黑" panose="020B0503020204020204" pitchFamily="34" charset="-122"/>
                <a:ea typeface="微软雅黑" panose="020B0503020204020204" pitchFamily="34" charset="-122"/>
              </a:rPr>
              <a:t>互联网模式的发展</a:t>
            </a:r>
          </a:p>
          <a:p>
            <a:pPr>
              <a:lnSpc>
                <a:spcPct val="200000"/>
              </a:lnSpc>
            </a:pPr>
            <a:r>
              <a:rPr lang="zh-CN" altLang="en-US" sz="2400" b="0" dirty="0">
                <a:solidFill>
                  <a:srgbClr val="000000"/>
                </a:solidFill>
                <a:latin typeface="微软雅黑" panose="020B0503020204020204" pitchFamily="34" charset="-122"/>
                <a:ea typeface="微软雅黑" panose="020B0503020204020204" pitchFamily="34" charset="-122"/>
              </a:rPr>
              <a:t>电子商务、社交网络</a:t>
            </a:r>
            <a:endParaRPr lang="en-US" altLang="zh-CN" sz="2400" b="0" dirty="0">
              <a:solidFill>
                <a:srgbClr val="000000"/>
              </a:solidFill>
              <a:latin typeface="微软雅黑" panose="020B0503020204020204" pitchFamily="34" charset="-122"/>
              <a:ea typeface="微软雅黑" panose="020B0503020204020204" pitchFamily="34" charset="-122"/>
            </a:endParaRPr>
          </a:p>
          <a:p>
            <a:pPr>
              <a:lnSpc>
                <a:spcPct val="200000"/>
              </a:lnSpc>
            </a:pPr>
            <a:r>
              <a:rPr lang="zh-CN" altLang="en-US" sz="2400" b="0" dirty="0" smtClean="0">
                <a:solidFill>
                  <a:srgbClr val="000000"/>
                </a:solidFill>
                <a:latin typeface="微软雅黑" panose="020B0503020204020204" pitchFamily="34" charset="-122"/>
                <a:ea typeface="微软雅黑" panose="020B0503020204020204" pitchFamily="34" charset="-122"/>
              </a:rPr>
              <a:t>物</a:t>
            </a:r>
            <a:r>
              <a:rPr lang="zh-CN" altLang="en-US" sz="2400" b="0" dirty="0">
                <a:solidFill>
                  <a:srgbClr val="000000"/>
                </a:solidFill>
                <a:latin typeface="微软雅黑" panose="020B0503020204020204" pitchFamily="34" charset="-122"/>
                <a:ea typeface="微软雅黑" panose="020B0503020204020204" pitchFamily="34" charset="-122"/>
              </a:rPr>
              <a:t>联网</a:t>
            </a:r>
            <a:endParaRPr lang="en-US" altLang="zh-CN" sz="2400" b="0" dirty="0">
              <a:solidFill>
                <a:srgbClr val="000000"/>
              </a:solidFill>
              <a:latin typeface="微软雅黑" panose="020B0503020204020204" pitchFamily="34" charset="-122"/>
              <a:ea typeface="微软雅黑" panose="020B0503020204020204" pitchFamily="34" charset="-122"/>
            </a:endParaRPr>
          </a:p>
          <a:p>
            <a:pPr>
              <a:lnSpc>
                <a:spcPct val="200000"/>
              </a:lnSpc>
            </a:pPr>
            <a:endParaRPr lang="en-US" altLang="zh-CN" sz="2400" b="0" dirty="0" smtClean="0">
              <a:solidFill>
                <a:srgbClr val="000000"/>
              </a:solidFill>
              <a:latin typeface="微软雅黑" panose="020B0503020204020204" pitchFamily="34" charset="-122"/>
              <a:ea typeface="微软雅黑" panose="020B0503020204020204" pitchFamily="34" charset="-122"/>
            </a:endParaRPr>
          </a:p>
        </p:txBody>
      </p:sp>
      <p:pic>
        <p:nvPicPr>
          <p:cNvPr id="67589" name="Picture 5" descr="U8473P827DT20130218095519"/>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912975" y="3612034"/>
            <a:ext cx="4000500" cy="2667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7590" name="Picture 6" descr="u=3710980397,1824459920&amp;fm=23&amp;gp=0"/>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724400" y="1219200"/>
            <a:ext cx="3962400" cy="2219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7591" name="Picture 7" descr="u=2368988055,829313941&amp;fm=23&amp;gp=0"/>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869246" y="4120097"/>
            <a:ext cx="2148086" cy="2724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7592" name="Picture 8" descr="u=305110568,2854458598&amp;fm=23&amp;gp=0"/>
          <p:cNvPicPr>
            <a:picLocks noChangeAspect="1" noChangeArrowheads="1"/>
          </p:cNvPicPr>
          <p:nvPr/>
        </p:nvPicPr>
        <p:blipFill rotWithShape="1">
          <a:blip r:embed="rId5">
            <a:extLst>
              <a:ext uri="{28A0092B-C50C-407E-A947-70E740481C1C}">
                <a14:useLocalDpi xmlns:a14="http://schemas.microsoft.com/office/drawing/2010/main" val="0"/>
              </a:ext>
            </a:extLst>
          </a:blip>
          <a:srcRect l="34610" r="31973"/>
          <a:stretch/>
        </p:blipFill>
        <p:spPr bwMode="auto">
          <a:xfrm>
            <a:off x="3635896" y="1392237"/>
            <a:ext cx="916707" cy="20462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445139928"/>
      </p:ext>
    </p:extLst>
  </p:cSld>
  <p:clrMapOvr>
    <a:masterClrMapping/>
  </p:clrMapOvr>
  <p:transition spd="slow">
    <p:circle/>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nodeType="clickEffect">
                                  <p:stCondLst>
                                    <p:cond delay="0"/>
                                  </p:stCondLst>
                                  <p:childTnLst>
                                    <p:set>
                                      <p:cBhvr>
                                        <p:cTn id="6" dur="1" fill="hold">
                                          <p:stCondLst>
                                            <p:cond delay="0"/>
                                          </p:stCondLst>
                                        </p:cTn>
                                        <p:tgtEl>
                                          <p:spTgt spid="67592"/>
                                        </p:tgtEl>
                                        <p:attrNameLst>
                                          <p:attrName>style.visibility</p:attrName>
                                        </p:attrNameLst>
                                      </p:cBhvr>
                                      <p:to>
                                        <p:strVal val="visible"/>
                                      </p:to>
                                    </p:set>
                                    <p:anim calcmode="lin" valueType="num">
                                      <p:cBhvr additive="base">
                                        <p:cTn id="7" dur="500" fill="hold"/>
                                        <p:tgtEl>
                                          <p:spTgt spid="67592"/>
                                        </p:tgtEl>
                                        <p:attrNameLst>
                                          <p:attrName>ppt_x</p:attrName>
                                        </p:attrNameLst>
                                      </p:cBhvr>
                                      <p:tavLst>
                                        <p:tav tm="0">
                                          <p:val>
                                            <p:strVal val="#ppt_x"/>
                                          </p:val>
                                        </p:tav>
                                        <p:tav tm="100000">
                                          <p:val>
                                            <p:strVal val="#ppt_x"/>
                                          </p:val>
                                        </p:tav>
                                      </p:tavLst>
                                    </p:anim>
                                    <p:anim calcmode="lin" valueType="num">
                                      <p:cBhvr additive="base">
                                        <p:cTn id="8" dur="500" fill="hold"/>
                                        <p:tgtEl>
                                          <p:spTgt spid="67592"/>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4" fill="hold" nodeType="clickEffect">
                                  <p:stCondLst>
                                    <p:cond delay="0"/>
                                  </p:stCondLst>
                                  <p:childTnLst>
                                    <p:set>
                                      <p:cBhvr>
                                        <p:cTn id="12" dur="1" fill="hold">
                                          <p:stCondLst>
                                            <p:cond delay="0"/>
                                          </p:stCondLst>
                                        </p:cTn>
                                        <p:tgtEl>
                                          <p:spTgt spid="67591"/>
                                        </p:tgtEl>
                                        <p:attrNameLst>
                                          <p:attrName>style.visibility</p:attrName>
                                        </p:attrNameLst>
                                      </p:cBhvr>
                                      <p:to>
                                        <p:strVal val="visible"/>
                                      </p:to>
                                    </p:set>
                                    <p:anim calcmode="lin" valueType="num">
                                      <p:cBhvr additive="base">
                                        <p:cTn id="13" dur="500" fill="hold"/>
                                        <p:tgtEl>
                                          <p:spTgt spid="67591"/>
                                        </p:tgtEl>
                                        <p:attrNameLst>
                                          <p:attrName>ppt_x</p:attrName>
                                        </p:attrNameLst>
                                      </p:cBhvr>
                                      <p:tavLst>
                                        <p:tav tm="0">
                                          <p:val>
                                            <p:strVal val="#ppt_x"/>
                                          </p:val>
                                        </p:tav>
                                        <p:tav tm="100000">
                                          <p:val>
                                            <p:strVal val="#ppt_x"/>
                                          </p:val>
                                        </p:tav>
                                      </p:tavLst>
                                    </p:anim>
                                    <p:anim calcmode="lin" valueType="num">
                                      <p:cBhvr additive="base">
                                        <p:cTn id="14" dur="500" fill="hold"/>
                                        <p:tgtEl>
                                          <p:spTgt spid="67591"/>
                                        </p:tgtEl>
                                        <p:attrNameLst>
                                          <p:attrName>ppt_y</p:attrName>
                                        </p:attrNameLst>
                                      </p:cBhvr>
                                      <p:tavLst>
                                        <p:tav tm="0">
                                          <p:val>
                                            <p:strVal val="1+#ppt_h/2"/>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2" fill="hold" nodeType="clickEffect">
                                  <p:stCondLst>
                                    <p:cond delay="0"/>
                                  </p:stCondLst>
                                  <p:childTnLst>
                                    <p:set>
                                      <p:cBhvr>
                                        <p:cTn id="18" dur="1" fill="hold">
                                          <p:stCondLst>
                                            <p:cond delay="0"/>
                                          </p:stCondLst>
                                        </p:cTn>
                                        <p:tgtEl>
                                          <p:spTgt spid="67589"/>
                                        </p:tgtEl>
                                        <p:attrNameLst>
                                          <p:attrName>style.visibility</p:attrName>
                                        </p:attrNameLst>
                                      </p:cBhvr>
                                      <p:to>
                                        <p:strVal val="visible"/>
                                      </p:to>
                                    </p:set>
                                    <p:anim calcmode="lin" valueType="num">
                                      <p:cBhvr additive="base">
                                        <p:cTn id="19" dur="500" fill="hold"/>
                                        <p:tgtEl>
                                          <p:spTgt spid="67589"/>
                                        </p:tgtEl>
                                        <p:attrNameLst>
                                          <p:attrName>ppt_x</p:attrName>
                                        </p:attrNameLst>
                                      </p:cBhvr>
                                      <p:tavLst>
                                        <p:tav tm="0">
                                          <p:val>
                                            <p:strVal val="1+#ppt_w/2"/>
                                          </p:val>
                                        </p:tav>
                                        <p:tav tm="100000">
                                          <p:val>
                                            <p:strVal val="#ppt_x"/>
                                          </p:val>
                                        </p:tav>
                                      </p:tavLst>
                                    </p:anim>
                                    <p:anim calcmode="lin" valueType="num">
                                      <p:cBhvr additive="base">
                                        <p:cTn id="20" dur="500" fill="hold"/>
                                        <p:tgtEl>
                                          <p:spTgt spid="67589"/>
                                        </p:tgtEl>
                                        <p:attrNameLst>
                                          <p:attrName>ppt_y</p:attrName>
                                        </p:attrNameLst>
                                      </p:cBhvr>
                                      <p:tavLst>
                                        <p:tav tm="0">
                                          <p:val>
                                            <p:strVal val="#ppt_y"/>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1" fill="hold" nodeType="clickEffect">
                                  <p:stCondLst>
                                    <p:cond delay="0"/>
                                  </p:stCondLst>
                                  <p:childTnLst>
                                    <p:set>
                                      <p:cBhvr>
                                        <p:cTn id="24" dur="1" fill="hold">
                                          <p:stCondLst>
                                            <p:cond delay="0"/>
                                          </p:stCondLst>
                                        </p:cTn>
                                        <p:tgtEl>
                                          <p:spTgt spid="67590"/>
                                        </p:tgtEl>
                                        <p:attrNameLst>
                                          <p:attrName>style.visibility</p:attrName>
                                        </p:attrNameLst>
                                      </p:cBhvr>
                                      <p:to>
                                        <p:strVal val="visible"/>
                                      </p:to>
                                    </p:set>
                                    <p:anim calcmode="lin" valueType="num">
                                      <p:cBhvr additive="base">
                                        <p:cTn id="25" dur="500" fill="hold"/>
                                        <p:tgtEl>
                                          <p:spTgt spid="67590"/>
                                        </p:tgtEl>
                                        <p:attrNameLst>
                                          <p:attrName>ppt_x</p:attrName>
                                        </p:attrNameLst>
                                      </p:cBhvr>
                                      <p:tavLst>
                                        <p:tav tm="0">
                                          <p:val>
                                            <p:strVal val="#ppt_x"/>
                                          </p:val>
                                        </p:tav>
                                        <p:tav tm="100000">
                                          <p:val>
                                            <p:strVal val="#ppt_x"/>
                                          </p:val>
                                        </p:tav>
                                      </p:tavLst>
                                    </p:anim>
                                    <p:anim calcmode="lin" valueType="num">
                                      <p:cBhvr additive="base">
                                        <p:cTn id="26" dur="500" fill="hold"/>
                                        <p:tgtEl>
                                          <p:spTgt spid="67590"/>
                                        </p:tgtEl>
                                        <p:attrNameLst>
                                          <p:attrName>ppt_y</p:attrName>
                                        </p:attrNameLst>
                                      </p:cBhvr>
                                      <p:tavLst>
                                        <p:tav tm="0">
                                          <p:val>
                                            <p:strVal val="0-#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本框 4">
            <a:extLst>
              <a:ext uri="{FF2B5EF4-FFF2-40B4-BE49-F238E27FC236}">
                <a16:creationId xmlns:a16="http://schemas.microsoft.com/office/drawing/2014/main" id="{81D1A8D4-A673-4A3B-8AB4-E1C064BCB58F}"/>
              </a:ext>
            </a:extLst>
          </p:cNvPr>
          <p:cNvSpPr txBox="1"/>
          <p:nvPr/>
        </p:nvSpPr>
        <p:spPr>
          <a:xfrm>
            <a:off x="1331640" y="2961743"/>
            <a:ext cx="6264696" cy="923330"/>
          </a:xfrm>
          <a:prstGeom prst="rect">
            <a:avLst/>
          </a:prstGeom>
          <a:noFill/>
        </p:spPr>
        <p:txBody>
          <a:bodyPr wrap="square" rtlCol="0">
            <a:spAutoFit/>
          </a:bodyPr>
          <a:lstStyle>
            <a:defPPr>
              <a:defRPr lang="zh-CN"/>
            </a:defPPr>
            <a:lvl1pPr algn="ctr">
              <a:defRPr sz="5400" b="0">
                <a:solidFill>
                  <a:srgbClr val="FF0000"/>
                </a:solidFill>
                <a:latin typeface="微软雅黑" panose="020B0503020204020204" pitchFamily="34" charset="-122"/>
                <a:ea typeface="微软雅黑" panose="020B0503020204020204" pitchFamily="34" charset="-122"/>
              </a:defRPr>
            </a:lvl1pPr>
          </a:lstStyle>
          <a:p>
            <a:r>
              <a:rPr lang="en-US" altLang="zh-CN" dirty="0" smtClean="0"/>
              <a:t>3</a:t>
            </a:r>
            <a:r>
              <a:rPr lang="en-US" altLang="zh-CN" dirty="0"/>
              <a:t>. </a:t>
            </a:r>
            <a:r>
              <a:rPr lang="zh-CN" altLang="en-US" dirty="0"/>
              <a:t>什么是大数据</a:t>
            </a:r>
          </a:p>
        </p:txBody>
      </p:sp>
      <p:sp>
        <p:nvSpPr>
          <p:cNvPr id="6" name="Freeform 14">
            <a:extLst>
              <a:ext uri="{FF2B5EF4-FFF2-40B4-BE49-F238E27FC236}">
                <a16:creationId xmlns:a16="http://schemas.microsoft.com/office/drawing/2014/main" id="{B602F2C2-90ED-4AB6-9B44-1F7F2F037278}"/>
              </a:ext>
            </a:extLst>
          </p:cNvPr>
          <p:cNvSpPr/>
          <p:nvPr/>
        </p:nvSpPr>
        <p:spPr>
          <a:xfrm>
            <a:off x="4053105" y="1407496"/>
            <a:ext cx="1108861" cy="1039289"/>
          </a:xfrm>
          <a:custGeom>
            <a:avLst/>
            <a:gdLst>
              <a:gd name="connsiteX0" fmla="*/ 388426 w 607282"/>
              <a:gd name="connsiteY0" fmla="*/ 385710 h 569180"/>
              <a:gd name="connsiteX1" fmla="*/ 431276 w 607282"/>
              <a:gd name="connsiteY1" fmla="*/ 385710 h 569180"/>
              <a:gd name="connsiteX2" fmla="*/ 431276 w 607282"/>
              <a:gd name="connsiteY2" fmla="*/ 438433 h 569180"/>
              <a:gd name="connsiteX3" fmla="*/ 522771 w 607282"/>
              <a:gd name="connsiteY3" fmla="*/ 529738 h 569180"/>
              <a:gd name="connsiteX4" fmla="*/ 522771 w 607282"/>
              <a:gd name="connsiteY4" fmla="*/ 559964 h 569180"/>
              <a:gd name="connsiteX5" fmla="*/ 492483 w 607282"/>
              <a:gd name="connsiteY5" fmla="*/ 559964 h 569180"/>
              <a:gd name="connsiteX6" fmla="*/ 431276 w 607282"/>
              <a:gd name="connsiteY6" fmla="*/ 498941 h 569180"/>
              <a:gd name="connsiteX7" fmla="*/ 431276 w 607282"/>
              <a:gd name="connsiteY7" fmla="*/ 547771 h 569180"/>
              <a:gd name="connsiteX8" fmla="*/ 409822 w 607282"/>
              <a:gd name="connsiteY8" fmla="*/ 569180 h 569180"/>
              <a:gd name="connsiteX9" fmla="*/ 388426 w 607282"/>
              <a:gd name="connsiteY9" fmla="*/ 547771 h 569180"/>
              <a:gd name="connsiteX10" fmla="*/ 388426 w 607282"/>
              <a:gd name="connsiteY10" fmla="*/ 498941 h 569180"/>
              <a:gd name="connsiteX11" fmla="*/ 327276 w 607282"/>
              <a:gd name="connsiteY11" fmla="*/ 559964 h 569180"/>
              <a:gd name="connsiteX12" fmla="*/ 296988 w 607282"/>
              <a:gd name="connsiteY12" fmla="*/ 559964 h 569180"/>
              <a:gd name="connsiteX13" fmla="*/ 296988 w 607282"/>
              <a:gd name="connsiteY13" fmla="*/ 529738 h 569180"/>
              <a:gd name="connsiteX14" fmla="*/ 296931 w 607282"/>
              <a:gd name="connsiteY14" fmla="*/ 529738 h 569180"/>
              <a:gd name="connsiteX15" fmla="*/ 388426 w 607282"/>
              <a:gd name="connsiteY15" fmla="*/ 438433 h 569180"/>
              <a:gd name="connsiteX16" fmla="*/ 388426 w 607282"/>
              <a:gd name="connsiteY16" fmla="*/ 434597 h 569180"/>
              <a:gd name="connsiteX17" fmla="*/ 38140 w 607282"/>
              <a:gd name="connsiteY17" fmla="*/ 145929 h 569180"/>
              <a:gd name="connsiteX18" fmla="*/ 38255 w 607282"/>
              <a:gd name="connsiteY18" fmla="*/ 145929 h 569180"/>
              <a:gd name="connsiteX19" fmla="*/ 66358 w 607282"/>
              <a:gd name="connsiteY19" fmla="*/ 145929 h 569180"/>
              <a:gd name="connsiteX20" fmla="*/ 68767 w 607282"/>
              <a:gd name="connsiteY20" fmla="*/ 161160 h 569180"/>
              <a:gd name="connsiteX21" fmla="*/ 76453 w 607282"/>
              <a:gd name="connsiteY21" fmla="*/ 208857 h 569180"/>
              <a:gd name="connsiteX22" fmla="*/ 82589 w 607282"/>
              <a:gd name="connsiteY22" fmla="*/ 246763 h 569180"/>
              <a:gd name="connsiteX23" fmla="*/ 92684 w 607282"/>
              <a:gd name="connsiteY23" fmla="*/ 246763 h 569180"/>
              <a:gd name="connsiteX24" fmla="*/ 99222 w 607282"/>
              <a:gd name="connsiteY24" fmla="*/ 172898 h 569180"/>
              <a:gd name="connsiteX25" fmla="*/ 91594 w 607282"/>
              <a:gd name="connsiteY25" fmla="*/ 145929 h 569180"/>
              <a:gd name="connsiteX26" fmla="*/ 136502 w 607282"/>
              <a:gd name="connsiteY26" fmla="*/ 145929 h 569180"/>
              <a:gd name="connsiteX27" fmla="*/ 128874 w 607282"/>
              <a:gd name="connsiteY27" fmla="*/ 172898 h 569180"/>
              <a:gd name="connsiteX28" fmla="*/ 135355 w 607282"/>
              <a:gd name="connsiteY28" fmla="*/ 246763 h 569180"/>
              <a:gd name="connsiteX29" fmla="*/ 145507 w 607282"/>
              <a:gd name="connsiteY29" fmla="*/ 246763 h 569180"/>
              <a:gd name="connsiteX30" fmla="*/ 153192 w 607282"/>
              <a:gd name="connsiteY30" fmla="*/ 198780 h 569180"/>
              <a:gd name="connsiteX31" fmla="*/ 161738 w 607282"/>
              <a:gd name="connsiteY31" fmla="*/ 145929 h 569180"/>
              <a:gd name="connsiteX32" fmla="*/ 336094 w 607282"/>
              <a:gd name="connsiteY32" fmla="*/ 145929 h 569180"/>
              <a:gd name="connsiteX33" fmla="*/ 374349 w 607282"/>
              <a:gd name="connsiteY33" fmla="*/ 184121 h 569180"/>
              <a:gd name="connsiteX34" fmla="*/ 336094 w 607282"/>
              <a:gd name="connsiteY34" fmla="*/ 222256 h 569180"/>
              <a:gd name="connsiteX35" fmla="*/ 189841 w 607282"/>
              <a:gd name="connsiteY35" fmla="*/ 222256 h 569180"/>
              <a:gd name="connsiteX36" fmla="*/ 189841 w 607282"/>
              <a:gd name="connsiteY36" fmla="*/ 298011 h 569180"/>
              <a:gd name="connsiteX37" fmla="*/ 189841 w 607282"/>
              <a:gd name="connsiteY37" fmla="*/ 365807 h 569180"/>
              <a:gd name="connsiteX38" fmla="*/ 189841 w 607282"/>
              <a:gd name="connsiteY38" fmla="*/ 528081 h 569180"/>
              <a:gd name="connsiteX39" fmla="*/ 151586 w 607282"/>
              <a:gd name="connsiteY39" fmla="*/ 566216 h 569180"/>
              <a:gd name="connsiteX40" fmla="*/ 114019 w 607282"/>
              <a:gd name="connsiteY40" fmla="*/ 535239 h 569180"/>
              <a:gd name="connsiteX41" fmla="*/ 76453 w 607282"/>
              <a:gd name="connsiteY41" fmla="*/ 566216 h 569180"/>
              <a:gd name="connsiteX42" fmla="*/ 38255 w 607282"/>
              <a:gd name="connsiteY42" fmla="*/ 528081 h 569180"/>
              <a:gd name="connsiteX43" fmla="*/ 38255 w 607282"/>
              <a:gd name="connsiteY43" fmla="*/ 384874 h 569180"/>
              <a:gd name="connsiteX44" fmla="*/ 0 w 607282"/>
              <a:gd name="connsiteY44" fmla="*/ 346739 h 569180"/>
              <a:gd name="connsiteX45" fmla="*/ 0 w 607282"/>
              <a:gd name="connsiteY45" fmla="*/ 184121 h 569180"/>
              <a:gd name="connsiteX46" fmla="*/ 38140 w 607282"/>
              <a:gd name="connsiteY46" fmla="*/ 145929 h 569180"/>
              <a:gd name="connsiteX47" fmla="*/ 545532 w 607282"/>
              <a:gd name="connsiteY47" fmla="*/ 89195 h 569180"/>
              <a:gd name="connsiteX48" fmla="*/ 587343 w 607282"/>
              <a:gd name="connsiteY48" fmla="*/ 89195 h 569180"/>
              <a:gd name="connsiteX49" fmla="*/ 587343 w 607282"/>
              <a:gd name="connsiteY49" fmla="*/ 124061 h 569180"/>
              <a:gd name="connsiteX50" fmla="*/ 587228 w 607282"/>
              <a:gd name="connsiteY50" fmla="*/ 124061 h 569180"/>
              <a:gd name="connsiteX51" fmla="*/ 587343 w 607282"/>
              <a:gd name="connsiteY51" fmla="*/ 324787 h 569180"/>
              <a:gd name="connsiteX52" fmla="*/ 541403 w 607282"/>
              <a:gd name="connsiteY52" fmla="*/ 370989 h 569180"/>
              <a:gd name="connsiteX53" fmla="*/ 278325 w 607282"/>
              <a:gd name="connsiteY53" fmla="*/ 370531 h 569180"/>
              <a:gd name="connsiteX54" fmla="*/ 233131 w 607282"/>
              <a:gd name="connsiteY54" fmla="*/ 331027 h 569180"/>
              <a:gd name="connsiteX55" fmla="*/ 232729 w 607282"/>
              <a:gd name="connsiteY55" fmla="*/ 233012 h 569180"/>
              <a:gd name="connsiteX56" fmla="*/ 272475 w 607282"/>
              <a:gd name="connsiteY56" fmla="*/ 233012 h 569180"/>
              <a:gd name="connsiteX57" fmla="*/ 272475 w 607282"/>
              <a:gd name="connsiteY57" fmla="*/ 330340 h 569180"/>
              <a:gd name="connsiteX58" fmla="*/ 545532 w 607282"/>
              <a:gd name="connsiteY58" fmla="*/ 329997 h 569180"/>
              <a:gd name="connsiteX59" fmla="*/ 545532 w 607282"/>
              <a:gd name="connsiteY59" fmla="*/ 124061 h 569180"/>
              <a:gd name="connsiteX60" fmla="*/ 231948 w 607282"/>
              <a:gd name="connsiteY60" fmla="*/ 89124 h 569180"/>
              <a:gd name="connsiteX61" fmla="*/ 273793 w 607282"/>
              <a:gd name="connsiteY61" fmla="*/ 89124 h 569180"/>
              <a:gd name="connsiteX62" fmla="*/ 273793 w 607282"/>
              <a:gd name="connsiteY62" fmla="*/ 135062 h 569180"/>
              <a:gd name="connsiteX63" fmla="*/ 272240 w 607282"/>
              <a:gd name="connsiteY63" fmla="*/ 135062 h 569180"/>
              <a:gd name="connsiteX64" fmla="*/ 233571 w 607282"/>
              <a:gd name="connsiteY64" fmla="*/ 135062 h 569180"/>
              <a:gd name="connsiteX65" fmla="*/ 231948 w 607282"/>
              <a:gd name="connsiteY65" fmla="*/ 135062 h 569180"/>
              <a:gd name="connsiteX66" fmla="*/ 409822 w 607282"/>
              <a:gd name="connsiteY66" fmla="*/ 10232 h 569180"/>
              <a:gd name="connsiteX67" fmla="*/ 437925 w 607282"/>
              <a:gd name="connsiteY67" fmla="*/ 35771 h 569180"/>
              <a:gd name="connsiteX68" fmla="*/ 447503 w 607282"/>
              <a:gd name="connsiteY68" fmla="*/ 35771 h 569180"/>
              <a:gd name="connsiteX69" fmla="*/ 578958 w 607282"/>
              <a:gd name="connsiteY69" fmla="*/ 35828 h 569180"/>
              <a:gd name="connsiteX70" fmla="*/ 593009 w 607282"/>
              <a:gd name="connsiteY70" fmla="*/ 37031 h 569180"/>
              <a:gd name="connsiteX71" fmla="*/ 607233 w 607282"/>
              <a:gd name="connsiteY71" fmla="*/ 57874 h 569180"/>
              <a:gd name="connsiteX72" fmla="*/ 587159 w 607282"/>
              <a:gd name="connsiteY72" fmla="*/ 76828 h 569180"/>
              <a:gd name="connsiteX73" fmla="*/ 579244 w 607282"/>
              <a:gd name="connsiteY73" fmla="*/ 76885 h 569180"/>
              <a:gd name="connsiteX74" fmla="*/ 241776 w 607282"/>
              <a:gd name="connsiteY74" fmla="*/ 76885 h 569180"/>
              <a:gd name="connsiteX75" fmla="*/ 233861 w 607282"/>
              <a:gd name="connsiteY75" fmla="*/ 76828 h 569180"/>
              <a:gd name="connsiteX76" fmla="*/ 212984 w 607282"/>
              <a:gd name="connsiteY76" fmla="*/ 56672 h 569180"/>
              <a:gd name="connsiteX77" fmla="*/ 233287 w 607282"/>
              <a:gd name="connsiteY77" fmla="*/ 35943 h 569180"/>
              <a:gd name="connsiteX78" fmla="*/ 244357 w 607282"/>
              <a:gd name="connsiteY78" fmla="*/ 35771 h 569180"/>
              <a:gd name="connsiteX79" fmla="*/ 371108 w 607282"/>
              <a:gd name="connsiteY79" fmla="*/ 35771 h 569180"/>
              <a:gd name="connsiteX80" fmla="*/ 381661 w 607282"/>
              <a:gd name="connsiteY80" fmla="*/ 35771 h 569180"/>
              <a:gd name="connsiteX81" fmla="*/ 409822 w 607282"/>
              <a:gd name="connsiteY81" fmla="*/ 10232 h 569180"/>
              <a:gd name="connsiteX82" fmla="*/ 114034 w 607282"/>
              <a:gd name="connsiteY82" fmla="*/ 0 h 569180"/>
              <a:gd name="connsiteX83" fmla="*/ 182130 w 607282"/>
              <a:gd name="connsiteY83" fmla="*/ 67990 h 569180"/>
              <a:gd name="connsiteX84" fmla="*/ 114034 w 607282"/>
              <a:gd name="connsiteY84" fmla="*/ 135980 h 569180"/>
              <a:gd name="connsiteX85" fmla="*/ 45938 w 607282"/>
              <a:gd name="connsiteY85" fmla="*/ 67990 h 569180"/>
              <a:gd name="connsiteX86" fmla="*/ 114034 w 607282"/>
              <a:gd name="connsiteY86" fmla="*/ 0 h 5691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Lst>
            <a:rect l="l" t="t" r="r" b="b"/>
            <a:pathLst>
              <a:path w="607282" h="569180">
                <a:moveTo>
                  <a:pt x="388426" y="385710"/>
                </a:moveTo>
                <a:lnTo>
                  <a:pt x="431276" y="385710"/>
                </a:lnTo>
                <a:lnTo>
                  <a:pt x="431276" y="438433"/>
                </a:lnTo>
                <a:lnTo>
                  <a:pt x="522771" y="529738"/>
                </a:lnTo>
                <a:cubicBezTo>
                  <a:pt x="531146" y="538096"/>
                  <a:pt x="531146" y="551606"/>
                  <a:pt x="522771" y="559964"/>
                </a:cubicBezTo>
                <a:cubicBezTo>
                  <a:pt x="514396" y="568321"/>
                  <a:pt x="500858" y="568321"/>
                  <a:pt x="492483" y="559964"/>
                </a:cubicBezTo>
                <a:lnTo>
                  <a:pt x="431276" y="498941"/>
                </a:lnTo>
                <a:lnTo>
                  <a:pt x="431276" y="547771"/>
                </a:lnTo>
                <a:cubicBezTo>
                  <a:pt x="431276" y="559563"/>
                  <a:pt x="421697" y="569180"/>
                  <a:pt x="409822" y="569180"/>
                </a:cubicBezTo>
                <a:cubicBezTo>
                  <a:pt x="398005" y="569180"/>
                  <a:pt x="388426" y="559563"/>
                  <a:pt x="388426" y="547771"/>
                </a:cubicBezTo>
                <a:lnTo>
                  <a:pt x="388426" y="498941"/>
                </a:lnTo>
                <a:lnTo>
                  <a:pt x="327276" y="559964"/>
                </a:lnTo>
                <a:cubicBezTo>
                  <a:pt x="318901" y="568321"/>
                  <a:pt x="305306" y="568321"/>
                  <a:pt x="296988" y="559964"/>
                </a:cubicBezTo>
                <a:cubicBezTo>
                  <a:pt x="288613" y="551606"/>
                  <a:pt x="288613" y="538096"/>
                  <a:pt x="296988" y="529738"/>
                </a:cubicBezTo>
                <a:lnTo>
                  <a:pt x="296931" y="529738"/>
                </a:lnTo>
                <a:lnTo>
                  <a:pt x="388426" y="438433"/>
                </a:lnTo>
                <a:lnTo>
                  <a:pt x="388426" y="434597"/>
                </a:lnTo>
                <a:close/>
                <a:moveTo>
                  <a:pt x="38140" y="145929"/>
                </a:moveTo>
                <a:lnTo>
                  <a:pt x="38255" y="145929"/>
                </a:lnTo>
                <a:lnTo>
                  <a:pt x="66358" y="145929"/>
                </a:lnTo>
                <a:lnTo>
                  <a:pt x="68767" y="161160"/>
                </a:lnTo>
                <a:lnTo>
                  <a:pt x="76453" y="208857"/>
                </a:lnTo>
                <a:lnTo>
                  <a:pt x="82589" y="246763"/>
                </a:lnTo>
                <a:lnTo>
                  <a:pt x="92684" y="246763"/>
                </a:lnTo>
                <a:lnTo>
                  <a:pt x="99222" y="172898"/>
                </a:lnTo>
                <a:lnTo>
                  <a:pt x="91594" y="145929"/>
                </a:lnTo>
                <a:lnTo>
                  <a:pt x="136502" y="145929"/>
                </a:lnTo>
                <a:lnTo>
                  <a:pt x="128874" y="172898"/>
                </a:lnTo>
                <a:lnTo>
                  <a:pt x="135355" y="246763"/>
                </a:lnTo>
                <a:lnTo>
                  <a:pt x="145507" y="246763"/>
                </a:lnTo>
                <a:lnTo>
                  <a:pt x="153192" y="198780"/>
                </a:lnTo>
                <a:lnTo>
                  <a:pt x="161738" y="145929"/>
                </a:lnTo>
                <a:lnTo>
                  <a:pt x="336094" y="145929"/>
                </a:lnTo>
                <a:cubicBezTo>
                  <a:pt x="357200" y="145929"/>
                  <a:pt x="374349" y="162992"/>
                  <a:pt x="374349" y="184121"/>
                </a:cubicBezTo>
                <a:cubicBezTo>
                  <a:pt x="374349" y="205193"/>
                  <a:pt x="357200" y="222256"/>
                  <a:pt x="336094" y="222256"/>
                </a:cubicBezTo>
                <a:lnTo>
                  <a:pt x="189841" y="222256"/>
                </a:lnTo>
                <a:lnTo>
                  <a:pt x="189841" y="298011"/>
                </a:lnTo>
                <a:lnTo>
                  <a:pt x="189841" y="365807"/>
                </a:lnTo>
                <a:lnTo>
                  <a:pt x="189841" y="528081"/>
                </a:lnTo>
                <a:cubicBezTo>
                  <a:pt x="189841" y="549153"/>
                  <a:pt x="172692" y="566216"/>
                  <a:pt x="151586" y="566216"/>
                </a:cubicBezTo>
                <a:cubicBezTo>
                  <a:pt x="132889" y="566216"/>
                  <a:pt x="117403" y="552875"/>
                  <a:pt x="114019" y="535239"/>
                </a:cubicBezTo>
                <a:cubicBezTo>
                  <a:pt x="110693" y="552875"/>
                  <a:pt x="95150" y="566216"/>
                  <a:pt x="76453" y="566216"/>
                </a:cubicBezTo>
                <a:cubicBezTo>
                  <a:pt x="55346" y="566216"/>
                  <a:pt x="38255" y="549153"/>
                  <a:pt x="38255" y="528081"/>
                </a:cubicBezTo>
                <a:lnTo>
                  <a:pt x="38255" y="384874"/>
                </a:lnTo>
                <a:cubicBezTo>
                  <a:pt x="17091" y="384874"/>
                  <a:pt x="0" y="367811"/>
                  <a:pt x="0" y="346739"/>
                </a:cubicBezTo>
                <a:lnTo>
                  <a:pt x="0" y="184121"/>
                </a:lnTo>
                <a:cubicBezTo>
                  <a:pt x="0" y="163050"/>
                  <a:pt x="17091" y="145986"/>
                  <a:pt x="38140" y="145929"/>
                </a:cubicBezTo>
                <a:close/>
                <a:moveTo>
                  <a:pt x="545532" y="89195"/>
                </a:moveTo>
                <a:lnTo>
                  <a:pt x="587343" y="89195"/>
                </a:lnTo>
                <a:lnTo>
                  <a:pt x="587343" y="124061"/>
                </a:lnTo>
                <a:lnTo>
                  <a:pt x="587228" y="124061"/>
                </a:lnTo>
                <a:cubicBezTo>
                  <a:pt x="587228" y="190989"/>
                  <a:pt x="587056" y="257859"/>
                  <a:pt x="587343" y="324787"/>
                </a:cubicBezTo>
                <a:cubicBezTo>
                  <a:pt x="587457" y="352669"/>
                  <a:pt x="567498" y="371104"/>
                  <a:pt x="541403" y="370989"/>
                </a:cubicBezTo>
                <a:cubicBezTo>
                  <a:pt x="453710" y="370646"/>
                  <a:pt x="366018" y="370703"/>
                  <a:pt x="278325" y="370531"/>
                </a:cubicBezTo>
                <a:cubicBezTo>
                  <a:pt x="255441" y="370474"/>
                  <a:pt x="234278" y="353527"/>
                  <a:pt x="233131" y="331027"/>
                </a:cubicBezTo>
                <a:cubicBezTo>
                  <a:pt x="231525" y="299024"/>
                  <a:pt x="232729" y="266905"/>
                  <a:pt x="232729" y="233012"/>
                </a:cubicBezTo>
                <a:lnTo>
                  <a:pt x="272475" y="233012"/>
                </a:lnTo>
                <a:lnTo>
                  <a:pt x="272475" y="330340"/>
                </a:lnTo>
                <a:cubicBezTo>
                  <a:pt x="364010" y="330512"/>
                  <a:pt x="453997" y="330398"/>
                  <a:pt x="545532" y="329997"/>
                </a:cubicBezTo>
                <a:lnTo>
                  <a:pt x="545532" y="124061"/>
                </a:lnTo>
                <a:close/>
                <a:moveTo>
                  <a:pt x="231948" y="89124"/>
                </a:moveTo>
                <a:lnTo>
                  <a:pt x="273793" y="89124"/>
                </a:lnTo>
                <a:lnTo>
                  <a:pt x="273793" y="135062"/>
                </a:lnTo>
                <a:lnTo>
                  <a:pt x="272240" y="135062"/>
                </a:lnTo>
                <a:lnTo>
                  <a:pt x="233571" y="135062"/>
                </a:lnTo>
                <a:lnTo>
                  <a:pt x="231948" y="135062"/>
                </a:lnTo>
                <a:close/>
                <a:moveTo>
                  <a:pt x="409822" y="10232"/>
                </a:moveTo>
                <a:cubicBezTo>
                  <a:pt x="424505" y="10232"/>
                  <a:pt x="436606" y="21455"/>
                  <a:pt x="437925" y="35771"/>
                </a:cubicBezTo>
                <a:lnTo>
                  <a:pt x="447503" y="35771"/>
                </a:lnTo>
                <a:cubicBezTo>
                  <a:pt x="491321" y="35771"/>
                  <a:pt x="535140" y="35771"/>
                  <a:pt x="578958" y="35828"/>
                </a:cubicBezTo>
                <a:cubicBezTo>
                  <a:pt x="583661" y="35828"/>
                  <a:pt x="588650" y="35599"/>
                  <a:pt x="593009" y="37031"/>
                </a:cubicBezTo>
                <a:cubicBezTo>
                  <a:pt x="601326" y="39665"/>
                  <a:pt x="607921" y="50144"/>
                  <a:pt x="607233" y="57874"/>
                </a:cubicBezTo>
                <a:cubicBezTo>
                  <a:pt x="606315" y="67380"/>
                  <a:pt x="597368" y="75912"/>
                  <a:pt x="587159" y="76828"/>
                </a:cubicBezTo>
                <a:cubicBezTo>
                  <a:pt x="584521" y="77057"/>
                  <a:pt x="581883" y="76885"/>
                  <a:pt x="579244" y="76885"/>
                </a:cubicBezTo>
                <a:cubicBezTo>
                  <a:pt x="466774" y="76885"/>
                  <a:pt x="354304" y="76885"/>
                  <a:pt x="241776" y="76885"/>
                </a:cubicBezTo>
                <a:cubicBezTo>
                  <a:pt x="239137" y="76885"/>
                  <a:pt x="236499" y="77057"/>
                  <a:pt x="233861" y="76828"/>
                </a:cubicBezTo>
                <a:cubicBezTo>
                  <a:pt x="223078" y="75740"/>
                  <a:pt x="213156" y="66120"/>
                  <a:pt x="212984" y="56672"/>
                </a:cubicBezTo>
                <a:cubicBezTo>
                  <a:pt x="212755" y="47166"/>
                  <a:pt x="222448" y="37088"/>
                  <a:pt x="233287" y="35943"/>
                </a:cubicBezTo>
                <a:cubicBezTo>
                  <a:pt x="236958" y="35542"/>
                  <a:pt x="240686" y="35771"/>
                  <a:pt x="244357" y="35771"/>
                </a:cubicBezTo>
                <a:cubicBezTo>
                  <a:pt x="286626" y="35771"/>
                  <a:pt x="328839" y="35771"/>
                  <a:pt x="371108" y="35771"/>
                </a:cubicBezTo>
                <a:lnTo>
                  <a:pt x="381661" y="35771"/>
                </a:lnTo>
                <a:cubicBezTo>
                  <a:pt x="382981" y="21455"/>
                  <a:pt x="395082" y="10232"/>
                  <a:pt x="409822" y="10232"/>
                </a:cubicBezTo>
                <a:close/>
                <a:moveTo>
                  <a:pt x="114034" y="0"/>
                </a:moveTo>
                <a:cubicBezTo>
                  <a:pt x="151642" y="0"/>
                  <a:pt x="182130" y="30440"/>
                  <a:pt x="182130" y="67990"/>
                </a:cubicBezTo>
                <a:cubicBezTo>
                  <a:pt x="182130" y="105540"/>
                  <a:pt x="151642" y="135980"/>
                  <a:pt x="114034" y="135980"/>
                </a:cubicBezTo>
                <a:cubicBezTo>
                  <a:pt x="76426" y="135980"/>
                  <a:pt x="45938" y="105540"/>
                  <a:pt x="45938" y="67990"/>
                </a:cubicBezTo>
                <a:cubicBezTo>
                  <a:pt x="45938" y="30440"/>
                  <a:pt x="76426" y="0"/>
                  <a:pt x="114034" y="0"/>
                </a:cubicBezTo>
                <a:close/>
              </a:path>
            </a:pathLst>
          </a:custGeom>
          <a:solidFill>
            <a:srgbClr val="3F3B3A"/>
          </a:solidFill>
          <a:ln w="12700" cap="flat">
            <a:noFill/>
            <a:miter lim="400000"/>
          </a:ln>
          <a:effectLst/>
        </p:spPr>
        <p:txBody>
          <a:bodyPr wrap="square" lIns="91439" tIns="91439" rIns="91439" bIns="91439" numCol="1" anchor="t">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a:latin typeface="思源黑体 CN Medium" panose="020B0600000000000000" pitchFamily="34" charset="-122"/>
              <a:ea typeface="思源黑体 CN Medium" panose="020B0600000000000000" pitchFamily="34" charset="-122"/>
            </a:endParaRPr>
          </a:p>
        </p:txBody>
      </p:sp>
      <p:cxnSp>
        <p:nvCxnSpPr>
          <p:cNvPr id="7" name="直接连接符 6">
            <a:extLst>
              <a:ext uri="{FF2B5EF4-FFF2-40B4-BE49-F238E27FC236}">
                <a16:creationId xmlns:a16="http://schemas.microsoft.com/office/drawing/2014/main" id="{D7FC733E-4E96-45E0-B9E5-24BD4CBE51BD}"/>
              </a:ext>
            </a:extLst>
          </p:cNvPr>
          <p:cNvCxnSpPr>
            <a:cxnSpLocks/>
          </p:cNvCxnSpPr>
          <p:nvPr/>
        </p:nvCxnSpPr>
        <p:spPr>
          <a:xfrm>
            <a:off x="1024175" y="4221088"/>
            <a:ext cx="7056784" cy="0"/>
          </a:xfrm>
          <a:prstGeom prst="line">
            <a:avLst/>
          </a:prstGeom>
          <a:ln w="15875">
            <a:solidFill>
              <a:srgbClr val="3F3B3A"/>
            </a:solidFill>
          </a:ln>
        </p:spPr>
        <p:style>
          <a:lnRef idx="1">
            <a:schemeClr val="accent1"/>
          </a:lnRef>
          <a:fillRef idx="0">
            <a:schemeClr val="accent1"/>
          </a:fillRef>
          <a:effectRef idx="0">
            <a:schemeClr val="accent1"/>
          </a:effectRef>
          <a:fontRef idx="minor">
            <a:schemeClr val="tx1"/>
          </a:fontRef>
        </p:style>
      </p:cxnSp>
      <p:cxnSp>
        <p:nvCxnSpPr>
          <p:cNvPr id="11" name="直接连接符 10">
            <a:extLst>
              <a:ext uri="{FF2B5EF4-FFF2-40B4-BE49-F238E27FC236}">
                <a16:creationId xmlns:a16="http://schemas.microsoft.com/office/drawing/2014/main" id="{D7FC733E-4E96-45E0-B9E5-24BD4CBE51BD}"/>
              </a:ext>
            </a:extLst>
          </p:cNvPr>
          <p:cNvCxnSpPr>
            <a:cxnSpLocks/>
          </p:cNvCxnSpPr>
          <p:nvPr/>
        </p:nvCxnSpPr>
        <p:spPr>
          <a:xfrm>
            <a:off x="978293" y="2625728"/>
            <a:ext cx="7056784" cy="0"/>
          </a:xfrm>
          <a:prstGeom prst="line">
            <a:avLst/>
          </a:prstGeom>
          <a:ln w="15875">
            <a:solidFill>
              <a:srgbClr val="3F3B3A"/>
            </a:solidFill>
          </a:ln>
        </p:spPr>
        <p:style>
          <a:lnRef idx="1">
            <a:schemeClr val="accent1"/>
          </a:lnRef>
          <a:fillRef idx="0">
            <a:schemeClr val="accent1"/>
          </a:fillRef>
          <a:effectRef idx="0">
            <a:schemeClr val="accent1"/>
          </a:effectRef>
          <a:fontRef idx="minor">
            <a:schemeClr val="tx1"/>
          </a:fontRef>
        </p:style>
      </p:cxnSp>
      <p:pic>
        <p:nvPicPr>
          <p:cNvPr id="9" name="图片 8"/>
          <p:cNvPicPr>
            <a:picLocks noChangeAspect="1"/>
          </p:cNvPicPr>
          <p:nvPr/>
        </p:nvPicPr>
        <p:blipFill>
          <a:blip r:embed="rId2"/>
          <a:stretch>
            <a:fillRect/>
          </a:stretch>
        </p:blipFill>
        <p:spPr>
          <a:xfrm>
            <a:off x="6156176" y="260648"/>
            <a:ext cx="2660986" cy="610982"/>
          </a:xfrm>
          <a:prstGeom prst="rect">
            <a:avLst/>
          </a:prstGeom>
        </p:spPr>
      </p:pic>
    </p:spTree>
    <p:extLst>
      <p:ext uri="{BB962C8B-B14F-4D97-AF65-F5344CB8AC3E}">
        <p14:creationId xmlns:p14="http://schemas.microsoft.com/office/powerpoint/2010/main" val="2974658207"/>
      </p:ext>
    </p:extLst>
  </p:cSld>
  <p:clrMapOvr>
    <a:masterClrMapping/>
  </p:clrMapOvr>
  <p:transition spd="slow">
    <p:circle/>
  </p:transition>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r>
              <a:rPr dirty="0"/>
              <a:t>大数据的特征</a:t>
            </a:r>
          </a:p>
        </p:txBody>
      </p:sp>
      <p:pic>
        <p:nvPicPr>
          <p:cNvPr id="6" name="图片 5"/>
          <p:cNvPicPr>
            <a:picLocks noChangeAspect="1"/>
          </p:cNvPicPr>
          <p:nvPr/>
        </p:nvPicPr>
        <p:blipFill rotWithShape="1">
          <a:blip r:embed="rId3"/>
          <a:srcRect r="49307"/>
          <a:stretch/>
        </p:blipFill>
        <p:spPr>
          <a:xfrm>
            <a:off x="1583808" y="1484784"/>
            <a:ext cx="2556144" cy="4927407"/>
          </a:xfrm>
          <a:prstGeom prst="rect">
            <a:avLst/>
          </a:prstGeom>
        </p:spPr>
      </p:pic>
      <p:pic>
        <p:nvPicPr>
          <p:cNvPr id="8" name="图片 7"/>
          <p:cNvPicPr>
            <a:picLocks noChangeAspect="1"/>
          </p:cNvPicPr>
          <p:nvPr/>
        </p:nvPicPr>
        <p:blipFill rotWithShape="1">
          <a:blip r:embed="rId3"/>
          <a:srcRect l="50694"/>
          <a:stretch/>
        </p:blipFill>
        <p:spPr>
          <a:xfrm>
            <a:off x="5148064" y="1417217"/>
            <a:ext cx="2520280" cy="4994974"/>
          </a:xfrm>
          <a:prstGeom prst="rect">
            <a:avLst/>
          </a:prstGeom>
        </p:spPr>
      </p:pic>
    </p:spTree>
    <p:extLst>
      <p:ext uri="{BB962C8B-B14F-4D97-AF65-F5344CB8AC3E}">
        <p14:creationId xmlns:p14="http://schemas.microsoft.com/office/powerpoint/2010/main" val="869514878"/>
      </p:ext>
    </p:extLst>
  </p:cSld>
  <p:clrMapOvr>
    <a:masterClrMapping/>
  </p:clrMapOvr>
  <p:transition>
    <p:pull dir="r"/>
  </p:transition>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大数据的意义</a:t>
            </a:r>
            <a:r>
              <a:rPr lang="en-US" altLang="zh-CN" dirty="0"/>
              <a:t>1</a:t>
            </a:r>
            <a:r>
              <a:rPr lang="zh-CN" altLang="en-US" dirty="0"/>
              <a:t>：知著见微</a:t>
            </a:r>
          </a:p>
        </p:txBody>
      </p:sp>
      <p:sp>
        <p:nvSpPr>
          <p:cNvPr id="3" name="内容占位符 2"/>
          <p:cNvSpPr>
            <a:spLocks noGrp="1"/>
          </p:cNvSpPr>
          <p:nvPr>
            <p:ph idx="1"/>
          </p:nvPr>
        </p:nvSpPr>
        <p:spPr/>
        <p:txBody>
          <a:bodyPr/>
          <a:lstStyle/>
          <a:p>
            <a:pPr>
              <a:lnSpc>
                <a:spcPct val="150000"/>
              </a:lnSpc>
            </a:pPr>
            <a:r>
              <a:rPr lang="zh-CN" altLang="en-US" sz="2800" b="0" dirty="0">
                <a:latin typeface="微软雅黑" panose="020B0503020204020204" pitchFamily="34" charset="-122"/>
                <a:ea typeface="微软雅黑" panose="020B0503020204020204" pitchFamily="34" charset="-122"/>
              </a:rPr>
              <a:t>知著见微：大数据的</a:t>
            </a:r>
            <a:r>
              <a:rPr lang="zh-CN" altLang="en-US" sz="2800" b="0" dirty="0" smtClean="0">
                <a:latin typeface="微软雅黑" panose="020B0503020204020204" pitchFamily="34" charset="-122"/>
                <a:ea typeface="微软雅黑" panose="020B0503020204020204" pitchFamily="34" charset="-122"/>
              </a:rPr>
              <a:t>“大弹性”</a:t>
            </a:r>
            <a:endParaRPr lang="en-US" altLang="zh-CN" sz="2800" b="0" dirty="0" smtClean="0">
              <a:latin typeface="微软雅黑" panose="020B0503020204020204" pitchFamily="34" charset="-122"/>
              <a:ea typeface="微软雅黑" panose="020B0503020204020204" pitchFamily="34" charset="-122"/>
            </a:endParaRPr>
          </a:p>
          <a:p>
            <a:pPr>
              <a:lnSpc>
                <a:spcPct val="150000"/>
              </a:lnSpc>
            </a:pPr>
            <a:r>
              <a:rPr lang="zh-CN" altLang="en-US" sz="2800" b="0" dirty="0" smtClean="0">
                <a:latin typeface="微软雅黑" panose="020B0503020204020204" pitchFamily="34" charset="-122"/>
                <a:ea typeface="微软雅黑" panose="020B0503020204020204" pitchFamily="34" charset="-122"/>
              </a:rPr>
              <a:t>知著</a:t>
            </a:r>
            <a:r>
              <a:rPr lang="en-US" altLang="zh-CN" sz="2800" b="0" dirty="0" smtClean="0">
                <a:latin typeface="微软雅黑" panose="020B0503020204020204" pitchFamily="34" charset="-122"/>
                <a:ea typeface="微软雅黑" panose="020B0503020204020204" pitchFamily="34" charset="-122"/>
              </a:rPr>
              <a:t>----</a:t>
            </a:r>
            <a:r>
              <a:rPr lang="zh-CN" altLang="en-US" sz="2800" b="0" dirty="0" smtClean="0">
                <a:latin typeface="微软雅黑" panose="020B0503020204020204" pitchFamily="34" charset="-122"/>
                <a:ea typeface="微软雅黑" panose="020B0503020204020204" pitchFamily="34" charset="-122"/>
              </a:rPr>
              <a:t>天文望远镜</a:t>
            </a:r>
            <a:endParaRPr lang="en-US" altLang="zh-CN" sz="2800" b="0" dirty="0" smtClean="0">
              <a:latin typeface="微软雅黑" panose="020B0503020204020204" pitchFamily="34" charset="-122"/>
              <a:ea typeface="微软雅黑" panose="020B0503020204020204" pitchFamily="34" charset="-122"/>
            </a:endParaRPr>
          </a:p>
          <a:p>
            <a:pPr lvl="1">
              <a:lnSpc>
                <a:spcPct val="150000"/>
              </a:lnSpc>
            </a:pPr>
            <a:r>
              <a:rPr lang="zh-CN" altLang="en-US" sz="2400" b="0" dirty="0" smtClean="0">
                <a:latin typeface="微软雅黑" panose="020B0503020204020204" pitchFamily="34" charset="-122"/>
                <a:ea typeface="微软雅黑" panose="020B0503020204020204" pitchFamily="34" charset="-122"/>
              </a:rPr>
              <a:t>传统采样和定位（平均、去噪声）</a:t>
            </a:r>
            <a:endParaRPr lang="en-US" altLang="zh-CN" sz="2400" b="0" dirty="0" smtClean="0">
              <a:latin typeface="微软雅黑" panose="020B0503020204020204" pitchFamily="34" charset="-122"/>
              <a:ea typeface="微软雅黑" panose="020B0503020204020204" pitchFamily="34" charset="-122"/>
            </a:endParaRPr>
          </a:p>
          <a:p>
            <a:pPr lvl="1">
              <a:lnSpc>
                <a:spcPct val="150000"/>
              </a:lnSpc>
            </a:pPr>
            <a:r>
              <a:rPr lang="zh-CN" altLang="en-US" sz="2400" b="0" dirty="0" smtClean="0">
                <a:latin typeface="微软雅黑" panose="020B0503020204020204" pitchFamily="34" charset="-122"/>
                <a:ea typeface="微软雅黑" panose="020B0503020204020204" pitchFamily="34" charset="-122"/>
              </a:rPr>
              <a:t>社会计算、计算广告、情感分析</a:t>
            </a:r>
            <a:endParaRPr lang="en-US" altLang="zh-CN" sz="2400" b="0" dirty="0" smtClean="0">
              <a:latin typeface="微软雅黑" panose="020B0503020204020204" pitchFamily="34" charset="-122"/>
              <a:ea typeface="微软雅黑" panose="020B0503020204020204" pitchFamily="34" charset="-122"/>
            </a:endParaRPr>
          </a:p>
          <a:p>
            <a:pPr>
              <a:lnSpc>
                <a:spcPct val="150000"/>
              </a:lnSpc>
            </a:pPr>
            <a:r>
              <a:rPr lang="zh-CN" altLang="en-US" sz="2800" b="0" dirty="0" smtClean="0">
                <a:latin typeface="微软雅黑" panose="020B0503020204020204" pitchFamily="34" charset="-122"/>
                <a:ea typeface="微软雅黑" panose="020B0503020204020204" pitchFamily="34" charset="-122"/>
              </a:rPr>
              <a:t>见微</a:t>
            </a:r>
            <a:r>
              <a:rPr lang="en-US" altLang="zh-CN" sz="2800" b="0" dirty="0" smtClean="0">
                <a:latin typeface="微软雅黑" panose="020B0503020204020204" pitchFamily="34" charset="-122"/>
                <a:ea typeface="微软雅黑" panose="020B0503020204020204" pitchFamily="34" charset="-122"/>
              </a:rPr>
              <a:t>----</a:t>
            </a:r>
            <a:r>
              <a:rPr lang="zh-CN" altLang="en-US" sz="2800" b="0" dirty="0" smtClean="0">
                <a:latin typeface="微软雅黑" panose="020B0503020204020204" pitchFamily="34" charset="-122"/>
                <a:ea typeface="微软雅黑" panose="020B0503020204020204" pitchFamily="34" charset="-122"/>
              </a:rPr>
              <a:t>显微镜</a:t>
            </a:r>
            <a:endParaRPr lang="en-US" altLang="zh-CN" sz="2800" b="0" dirty="0" smtClean="0">
              <a:latin typeface="微软雅黑" panose="020B0503020204020204" pitchFamily="34" charset="-122"/>
              <a:ea typeface="微软雅黑" panose="020B0503020204020204" pitchFamily="34" charset="-122"/>
            </a:endParaRPr>
          </a:p>
          <a:p>
            <a:pPr lvl="1">
              <a:lnSpc>
                <a:spcPct val="150000"/>
              </a:lnSpc>
            </a:pPr>
            <a:r>
              <a:rPr lang="zh-CN" altLang="en-US" sz="2400" b="0" dirty="0" smtClean="0">
                <a:latin typeface="微软雅黑" panose="020B0503020204020204" pitchFamily="34" charset="-122"/>
                <a:ea typeface="微软雅黑" panose="020B0503020204020204" pitchFamily="34" charset="-122"/>
              </a:rPr>
              <a:t>从</a:t>
            </a:r>
            <a:r>
              <a:rPr lang="zh-CN" altLang="en-US" sz="2400" b="0" dirty="0">
                <a:latin typeface="微软雅黑" panose="020B0503020204020204" pitchFamily="34" charset="-122"/>
                <a:ea typeface="微软雅黑" panose="020B0503020204020204" pitchFamily="34" charset="-122"/>
              </a:rPr>
              <a:t>细分到微分、微分到</a:t>
            </a:r>
            <a:r>
              <a:rPr lang="zh-CN" altLang="en-US" sz="2400" b="0" dirty="0" smtClean="0">
                <a:latin typeface="微软雅黑" panose="020B0503020204020204" pitchFamily="34" charset="-122"/>
                <a:ea typeface="微软雅黑" panose="020B0503020204020204" pitchFamily="34" charset="-122"/>
              </a:rPr>
              <a:t>个人</a:t>
            </a:r>
            <a:endParaRPr lang="en-US" altLang="zh-CN" sz="2400" b="0" dirty="0">
              <a:latin typeface="微软雅黑" panose="020B0503020204020204" pitchFamily="34" charset="-122"/>
              <a:ea typeface="微软雅黑" panose="020B0503020204020204" pitchFamily="34" charset="-122"/>
            </a:endParaRPr>
          </a:p>
          <a:p>
            <a:pPr lvl="1">
              <a:lnSpc>
                <a:spcPct val="150000"/>
              </a:lnSpc>
            </a:pPr>
            <a:endParaRPr lang="en-US" altLang="zh-CN" sz="2400" b="0" dirty="0" smtClean="0">
              <a:latin typeface="微软雅黑" panose="020B0503020204020204" pitchFamily="34" charset="-122"/>
              <a:ea typeface="微软雅黑" panose="020B0503020204020204" pitchFamily="34" charset="-122"/>
            </a:endParaRPr>
          </a:p>
          <a:p>
            <a:pPr>
              <a:lnSpc>
                <a:spcPct val="150000"/>
              </a:lnSpc>
            </a:pPr>
            <a:endParaRPr lang="zh-CN" altLang="en-US" sz="2800" b="0" dirty="0">
              <a:latin typeface="微软雅黑" panose="020B0503020204020204" pitchFamily="34" charset="-122"/>
              <a:ea typeface="微软雅黑" panose="020B0503020204020204" pitchFamily="34" charset="-122"/>
            </a:endParaRPr>
          </a:p>
          <a:p>
            <a:pPr>
              <a:lnSpc>
                <a:spcPct val="150000"/>
              </a:lnSpc>
            </a:pPr>
            <a:endParaRPr lang="zh-CN" altLang="en-US" sz="2800" b="0" dirty="0">
              <a:latin typeface="微软雅黑" panose="020B0503020204020204" pitchFamily="34" charset="-122"/>
              <a:ea typeface="微软雅黑" panose="020B0503020204020204" pitchFamily="34" charset="-122"/>
            </a:endParaRPr>
          </a:p>
          <a:p>
            <a:pPr>
              <a:lnSpc>
                <a:spcPct val="150000"/>
              </a:lnSpc>
            </a:pPr>
            <a:endParaRPr lang="zh-CN" altLang="en-US" sz="2800" b="0" dirty="0">
              <a:latin typeface="微软雅黑" panose="020B0503020204020204" pitchFamily="34" charset="-122"/>
              <a:ea typeface="微软雅黑" panose="020B0503020204020204" pitchFamily="34" charset="-122"/>
            </a:endParaRPr>
          </a:p>
        </p:txBody>
      </p:sp>
      <p:pic>
        <p:nvPicPr>
          <p:cNvPr id="5" name="图片 4"/>
          <p:cNvPicPr>
            <a:picLocks noChangeAspect="1"/>
          </p:cNvPicPr>
          <p:nvPr/>
        </p:nvPicPr>
        <p:blipFill>
          <a:blip r:embed="rId3"/>
          <a:stretch>
            <a:fillRect/>
          </a:stretch>
        </p:blipFill>
        <p:spPr>
          <a:xfrm>
            <a:off x="1331640" y="4653136"/>
            <a:ext cx="2825691" cy="2101150"/>
          </a:xfrm>
          <a:prstGeom prst="rect">
            <a:avLst/>
          </a:prstGeom>
        </p:spPr>
      </p:pic>
      <p:pic>
        <p:nvPicPr>
          <p:cNvPr id="6" name="图片 5"/>
          <p:cNvPicPr>
            <a:picLocks noChangeAspect="1"/>
          </p:cNvPicPr>
          <p:nvPr/>
        </p:nvPicPr>
        <p:blipFill>
          <a:blip r:embed="rId4"/>
          <a:stretch>
            <a:fillRect/>
          </a:stretch>
        </p:blipFill>
        <p:spPr>
          <a:xfrm>
            <a:off x="5796136" y="1916832"/>
            <a:ext cx="2923803" cy="1995983"/>
          </a:xfrm>
          <a:prstGeom prst="rect">
            <a:avLst/>
          </a:prstGeom>
        </p:spPr>
      </p:pic>
      <p:pic>
        <p:nvPicPr>
          <p:cNvPr id="7" name="图片 6"/>
          <p:cNvPicPr>
            <a:picLocks noChangeAspect="1"/>
          </p:cNvPicPr>
          <p:nvPr/>
        </p:nvPicPr>
        <p:blipFill>
          <a:blip r:embed="rId5"/>
          <a:stretch>
            <a:fillRect/>
          </a:stretch>
        </p:blipFill>
        <p:spPr>
          <a:xfrm>
            <a:off x="5796135" y="4363731"/>
            <a:ext cx="2923803" cy="1873581"/>
          </a:xfrm>
          <a:prstGeom prst="rect">
            <a:avLst/>
          </a:prstGeom>
        </p:spPr>
      </p:pic>
    </p:spTree>
    <p:extLst>
      <p:ext uri="{BB962C8B-B14F-4D97-AF65-F5344CB8AC3E}">
        <p14:creationId xmlns:p14="http://schemas.microsoft.com/office/powerpoint/2010/main" val="1309534944"/>
      </p:ext>
    </p:extLst>
  </p:cSld>
  <p:clrMapOvr>
    <a:masterClrMapping/>
  </p:clrMapOvr>
  <p:transition spd="slow">
    <p:circle/>
  </p:transition>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大数据的意义</a:t>
            </a:r>
            <a:r>
              <a:rPr lang="en-US" altLang="zh-CN" dirty="0"/>
              <a:t>2</a:t>
            </a:r>
            <a:r>
              <a:rPr lang="zh-CN" altLang="en-US" dirty="0"/>
              <a:t>：当下皆明</a:t>
            </a:r>
          </a:p>
        </p:txBody>
      </p:sp>
      <p:sp>
        <p:nvSpPr>
          <p:cNvPr id="3" name="内容占位符 2"/>
          <p:cNvSpPr>
            <a:spLocks noGrp="1"/>
          </p:cNvSpPr>
          <p:nvPr>
            <p:ph idx="1"/>
          </p:nvPr>
        </p:nvSpPr>
        <p:spPr>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a:lnSpc>
                <a:spcPct val="150000"/>
              </a:lnSpc>
            </a:pPr>
            <a:r>
              <a:rPr lang="zh-CN" altLang="en-US" sz="2800" b="0" dirty="0">
                <a:latin typeface="微软雅黑" panose="020B0503020204020204" pitchFamily="34" charset="-122"/>
                <a:ea typeface="微软雅黑" panose="020B0503020204020204" pitchFamily="34" charset="-122"/>
              </a:rPr>
              <a:t>当下皆明：快思考也要深分析</a:t>
            </a:r>
            <a:endParaRPr lang="en-US" altLang="zh-CN" sz="2800" b="0" dirty="0">
              <a:latin typeface="微软雅黑" panose="020B0503020204020204" pitchFamily="34" charset="-122"/>
              <a:ea typeface="微软雅黑" panose="020B0503020204020204" pitchFamily="34" charset="-122"/>
            </a:endParaRPr>
          </a:p>
          <a:p>
            <a:pPr>
              <a:lnSpc>
                <a:spcPct val="150000"/>
              </a:lnSpc>
            </a:pPr>
            <a:r>
              <a:rPr lang="zh-CN" altLang="en-US" sz="2800" b="0" dirty="0">
                <a:latin typeface="微软雅黑" panose="020B0503020204020204" pitchFamily="34" charset="-122"/>
                <a:ea typeface="微软雅黑" panose="020B0503020204020204" pitchFamily="34" charset="-122"/>
              </a:rPr>
              <a:t>当下</a:t>
            </a:r>
            <a:endParaRPr lang="en-US" altLang="zh-CN" sz="2800" b="0" dirty="0">
              <a:latin typeface="微软雅黑" panose="020B0503020204020204" pitchFamily="34" charset="-122"/>
              <a:ea typeface="微软雅黑" panose="020B0503020204020204" pitchFamily="34" charset="-122"/>
            </a:endParaRPr>
          </a:p>
          <a:p>
            <a:pPr lvl="1">
              <a:lnSpc>
                <a:spcPct val="150000"/>
              </a:lnSpc>
            </a:pPr>
            <a:r>
              <a:rPr lang="zh-CN" altLang="en-US" sz="2400" b="0" dirty="0" smtClean="0">
                <a:latin typeface="微软雅黑" panose="020B0503020204020204" pitchFamily="34" charset="-122"/>
                <a:ea typeface="微软雅黑" panose="020B0503020204020204" pitchFamily="34" charset="-122"/>
              </a:rPr>
              <a:t>刻舟求剑、人口普查</a:t>
            </a:r>
            <a:endParaRPr lang="en-US" altLang="zh-CN" sz="2400" b="0" dirty="0">
              <a:latin typeface="微软雅黑" panose="020B0503020204020204" pitchFamily="34" charset="-122"/>
              <a:ea typeface="微软雅黑" panose="020B0503020204020204" pitchFamily="34" charset="-122"/>
            </a:endParaRPr>
          </a:p>
          <a:p>
            <a:pPr lvl="1">
              <a:lnSpc>
                <a:spcPct val="150000"/>
              </a:lnSpc>
            </a:pPr>
            <a:r>
              <a:rPr lang="zh-CN" altLang="en-US" sz="2400" b="0" dirty="0" smtClean="0">
                <a:latin typeface="微软雅黑" panose="020B0503020204020204" pitchFamily="34" charset="-122"/>
                <a:ea typeface="微软雅黑" panose="020B0503020204020204" pitchFamily="34" charset="-122"/>
              </a:rPr>
              <a:t>实时</a:t>
            </a:r>
            <a:r>
              <a:rPr lang="zh-CN" altLang="en-US" sz="2400" b="0" dirty="0">
                <a:latin typeface="微软雅黑" panose="020B0503020204020204" pitchFamily="34" charset="-122"/>
                <a:ea typeface="微软雅黑" panose="020B0503020204020204" pitchFamily="34" charset="-122"/>
              </a:rPr>
              <a:t>推荐  聊天机器人</a:t>
            </a:r>
            <a:endParaRPr lang="en-US" altLang="zh-CN" sz="2400" b="0" dirty="0">
              <a:latin typeface="微软雅黑" panose="020B0503020204020204" pitchFamily="34" charset="-122"/>
              <a:ea typeface="微软雅黑" panose="020B0503020204020204" pitchFamily="34" charset="-122"/>
            </a:endParaRPr>
          </a:p>
          <a:p>
            <a:pPr>
              <a:lnSpc>
                <a:spcPct val="150000"/>
              </a:lnSpc>
            </a:pPr>
            <a:r>
              <a:rPr lang="zh-CN" altLang="en-US" sz="2800" b="0" dirty="0">
                <a:latin typeface="微软雅黑" panose="020B0503020204020204" pitchFamily="34" charset="-122"/>
                <a:ea typeface="微软雅黑" panose="020B0503020204020204" pitchFamily="34" charset="-122"/>
              </a:rPr>
              <a:t>皆明</a:t>
            </a:r>
            <a:endParaRPr lang="en-US" altLang="zh-CN" sz="2800" b="0" dirty="0">
              <a:latin typeface="微软雅黑" panose="020B0503020204020204" pitchFamily="34" charset="-122"/>
              <a:ea typeface="微软雅黑" panose="020B0503020204020204" pitchFamily="34" charset="-122"/>
            </a:endParaRPr>
          </a:p>
          <a:p>
            <a:pPr lvl="1">
              <a:lnSpc>
                <a:spcPct val="150000"/>
              </a:lnSpc>
            </a:pPr>
            <a:r>
              <a:rPr lang="zh-CN" altLang="en-US" sz="2400" b="0" dirty="0">
                <a:latin typeface="微软雅黑" panose="020B0503020204020204" pitchFamily="34" charset="-122"/>
                <a:ea typeface="微软雅黑" panose="020B0503020204020204" pitchFamily="34" charset="-122"/>
              </a:rPr>
              <a:t>描述性分析：</a:t>
            </a:r>
            <a:r>
              <a:rPr lang="zh-CN" altLang="en-US" sz="2400" b="0" dirty="0" smtClean="0">
                <a:latin typeface="微软雅黑" panose="020B0503020204020204" pitchFamily="34" charset="-122"/>
                <a:ea typeface="微软雅黑" panose="020B0503020204020204" pitchFamily="34" charset="-122"/>
              </a:rPr>
              <a:t>过去，现在</a:t>
            </a:r>
            <a:endParaRPr lang="en-US" altLang="zh-CN" sz="2400" b="0" dirty="0">
              <a:latin typeface="微软雅黑" panose="020B0503020204020204" pitchFamily="34" charset="-122"/>
              <a:ea typeface="微软雅黑" panose="020B0503020204020204" pitchFamily="34" charset="-122"/>
            </a:endParaRPr>
          </a:p>
          <a:p>
            <a:pPr lvl="1">
              <a:lnSpc>
                <a:spcPct val="150000"/>
              </a:lnSpc>
            </a:pPr>
            <a:r>
              <a:rPr lang="zh-CN" altLang="en-US" sz="2400" b="0" dirty="0">
                <a:latin typeface="微软雅黑" panose="020B0503020204020204" pitchFamily="34" charset="-122"/>
                <a:ea typeface="微软雅黑" panose="020B0503020204020204" pitchFamily="34" charset="-122"/>
              </a:rPr>
              <a:t>预测性分析：票房</a:t>
            </a:r>
            <a:r>
              <a:rPr lang="zh-CN" altLang="en-US" sz="2400" b="0" dirty="0" smtClean="0">
                <a:latin typeface="微软雅黑" panose="020B0503020204020204" pitchFamily="34" charset="-122"/>
                <a:ea typeface="微软雅黑" panose="020B0503020204020204" pitchFamily="34" charset="-122"/>
              </a:rPr>
              <a:t>预测</a:t>
            </a:r>
            <a:endParaRPr lang="en-US" altLang="zh-CN" sz="2400" b="0" dirty="0">
              <a:latin typeface="微软雅黑" panose="020B0503020204020204" pitchFamily="34" charset="-122"/>
              <a:ea typeface="微软雅黑" panose="020B0503020204020204" pitchFamily="34" charset="-122"/>
            </a:endParaRPr>
          </a:p>
          <a:p>
            <a:pPr lvl="1">
              <a:lnSpc>
                <a:spcPct val="150000"/>
              </a:lnSpc>
            </a:pPr>
            <a:r>
              <a:rPr lang="zh-CN" altLang="en-US" sz="2400" b="0" dirty="0">
                <a:latin typeface="微软雅黑" panose="020B0503020204020204" pitchFamily="34" charset="-122"/>
                <a:ea typeface="微软雅黑" panose="020B0503020204020204" pitchFamily="34" charset="-122"/>
              </a:rPr>
              <a:t>处方性分析：草船借箭</a:t>
            </a:r>
            <a:endParaRPr lang="en-US" altLang="zh-CN" sz="2400" b="0" dirty="0">
              <a:latin typeface="微软雅黑" panose="020B0503020204020204" pitchFamily="34" charset="-122"/>
              <a:ea typeface="微软雅黑" panose="020B0503020204020204" pitchFamily="34" charset="-122"/>
            </a:endParaRPr>
          </a:p>
          <a:p>
            <a:pPr>
              <a:lnSpc>
                <a:spcPct val="150000"/>
              </a:lnSpc>
            </a:pPr>
            <a:endParaRPr lang="zh-CN" altLang="en-US" sz="2800" b="0" dirty="0">
              <a:latin typeface="微软雅黑" panose="020B0503020204020204" pitchFamily="34" charset="-122"/>
              <a:ea typeface="微软雅黑" panose="020B0503020204020204" pitchFamily="34" charset="-122"/>
            </a:endParaRPr>
          </a:p>
          <a:p>
            <a:pPr>
              <a:lnSpc>
                <a:spcPct val="150000"/>
              </a:lnSpc>
            </a:pPr>
            <a:endParaRPr lang="zh-CN" altLang="en-US" sz="2800" b="0" dirty="0">
              <a:latin typeface="微软雅黑" panose="020B0503020204020204" pitchFamily="34" charset="-122"/>
              <a:ea typeface="微软雅黑" panose="020B0503020204020204" pitchFamily="34" charset="-122"/>
            </a:endParaRPr>
          </a:p>
          <a:p>
            <a:pPr>
              <a:lnSpc>
                <a:spcPct val="150000"/>
              </a:lnSpc>
            </a:pPr>
            <a:endParaRPr lang="zh-CN" altLang="en-US" sz="2800" b="0" dirty="0">
              <a:latin typeface="微软雅黑" panose="020B0503020204020204" pitchFamily="34" charset="-122"/>
              <a:ea typeface="微软雅黑" panose="020B0503020204020204" pitchFamily="34" charset="-122"/>
            </a:endParaRPr>
          </a:p>
        </p:txBody>
      </p:sp>
      <p:pic>
        <p:nvPicPr>
          <p:cNvPr id="4" name="图片 3"/>
          <p:cNvPicPr>
            <a:picLocks noChangeAspect="1"/>
          </p:cNvPicPr>
          <p:nvPr/>
        </p:nvPicPr>
        <p:blipFill>
          <a:blip r:embed="rId3"/>
          <a:stretch>
            <a:fillRect/>
          </a:stretch>
        </p:blipFill>
        <p:spPr>
          <a:xfrm>
            <a:off x="5508104" y="1772816"/>
            <a:ext cx="3037399" cy="2209748"/>
          </a:xfrm>
          <a:prstGeom prst="rect">
            <a:avLst/>
          </a:prstGeom>
        </p:spPr>
      </p:pic>
      <p:pic>
        <p:nvPicPr>
          <p:cNvPr id="5" name="图片 4"/>
          <p:cNvPicPr>
            <a:picLocks noChangeAspect="1"/>
          </p:cNvPicPr>
          <p:nvPr/>
        </p:nvPicPr>
        <p:blipFill>
          <a:blip r:embed="rId4"/>
          <a:stretch>
            <a:fillRect/>
          </a:stretch>
        </p:blipFill>
        <p:spPr>
          <a:xfrm>
            <a:off x="5508103" y="4275809"/>
            <a:ext cx="3037399" cy="2212962"/>
          </a:xfrm>
          <a:prstGeom prst="rect">
            <a:avLst/>
          </a:prstGeom>
        </p:spPr>
      </p:pic>
    </p:spTree>
    <p:extLst>
      <p:ext uri="{BB962C8B-B14F-4D97-AF65-F5344CB8AC3E}">
        <p14:creationId xmlns:p14="http://schemas.microsoft.com/office/powerpoint/2010/main" val="1366978648"/>
      </p:ext>
    </p:extLst>
  </p:cSld>
  <p:clrMapOvr>
    <a:masterClrMapping/>
  </p:clrMapOvr>
  <p:transition spd="slow">
    <p:circle/>
  </p:transition>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大数据的意义</a:t>
            </a:r>
            <a:r>
              <a:rPr lang="en-US" altLang="zh-CN" dirty="0"/>
              <a:t>3</a:t>
            </a:r>
            <a:r>
              <a:rPr lang="zh-CN" altLang="en-US" dirty="0"/>
              <a:t>：辨讹晓意</a:t>
            </a:r>
          </a:p>
        </p:txBody>
      </p:sp>
      <p:sp>
        <p:nvSpPr>
          <p:cNvPr id="3" name="内容占位符 2"/>
          <p:cNvSpPr>
            <a:spLocks noGrp="1"/>
          </p:cNvSpPr>
          <p:nvPr>
            <p:ph idx="1"/>
          </p:nvPr>
        </p:nvSpPr>
        <p:spPr>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a:lnSpc>
                <a:spcPct val="150000"/>
              </a:lnSpc>
            </a:pPr>
            <a:r>
              <a:rPr lang="zh-CN" altLang="en-US" sz="2800" b="0" dirty="0">
                <a:latin typeface="微软雅黑" panose="020B0503020204020204" pitchFamily="34" charset="-122"/>
                <a:ea typeface="微软雅黑" panose="020B0503020204020204" pitchFamily="34" charset="-122"/>
              </a:rPr>
              <a:t>辨讹晓意：从真相窥探思想</a:t>
            </a:r>
            <a:endParaRPr lang="en-US" altLang="zh-CN" sz="2800" b="0" dirty="0">
              <a:latin typeface="微软雅黑" panose="020B0503020204020204" pitchFamily="34" charset="-122"/>
              <a:ea typeface="微软雅黑" panose="020B0503020204020204" pitchFamily="34" charset="-122"/>
            </a:endParaRPr>
          </a:p>
          <a:p>
            <a:pPr>
              <a:lnSpc>
                <a:spcPct val="150000"/>
              </a:lnSpc>
            </a:pPr>
            <a:r>
              <a:rPr lang="zh-CN" altLang="en-US" sz="2800" b="0" dirty="0">
                <a:latin typeface="微软雅黑" panose="020B0503020204020204" pitchFamily="34" charset="-122"/>
                <a:ea typeface="微软雅黑" panose="020B0503020204020204" pitchFamily="34" charset="-122"/>
              </a:rPr>
              <a:t>辨讹</a:t>
            </a:r>
            <a:endParaRPr lang="en-US" altLang="zh-CN" sz="2800" b="0" dirty="0">
              <a:latin typeface="微软雅黑" panose="020B0503020204020204" pitchFamily="34" charset="-122"/>
              <a:ea typeface="微软雅黑" panose="020B0503020204020204" pitchFamily="34" charset="-122"/>
            </a:endParaRPr>
          </a:p>
          <a:p>
            <a:pPr lvl="1">
              <a:lnSpc>
                <a:spcPct val="150000"/>
              </a:lnSpc>
            </a:pPr>
            <a:r>
              <a:rPr lang="zh-CN" altLang="en-US" sz="2400" b="0" dirty="0">
                <a:latin typeface="微软雅黑" panose="020B0503020204020204" pitchFamily="34" charset="-122"/>
                <a:ea typeface="微软雅黑" panose="020B0503020204020204" pitchFamily="34" charset="-122"/>
              </a:rPr>
              <a:t>看到真相</a:t>
            </a:r>
            <a:endParaRPr lang="en-US" altLang="zh-CN" sz="2400" b="0" dirty="0">
              <a:latin typeface="微软雅黑" panose="020B0503020204020204" pitchFamily="34" charset="-122"/>
              <a:ea typeface="微软雅黑" panose="020B0503020204020204" pitchFamily="34" charset="-122"/>
            </a:endParaRPr>
          </a:p>
          <a:p>
            <a:pPr lvl="1">
              <a:lnSpc>
                <a:spcPct val="150000"/>
              </a:lnSpc>
            </a:pPr>
            <a:r>
              <a:rPr lang="zh-CN" altLang="en-US" sz="2400" b="0" dirty="0">
                <a:latin typeface="微软雅黑" panose="020B0503020204020204" pitchFamily="34" charset="-122"/>
                <a:ea typeface="微软雅黑" panose="020B0503020204020204" pitchFamily="34" charset="-122"/>
              </a:rPr>
              <a:t>美国德克萨斯州的数据新闻报道说，能够把这个州的很多政府雇员的工资都做到数据库里面供人们查询</a:t>
            </a:r>
            <a:endParaRPr lang="en-US" altLang="zh-CN" sz="2400" b="0" dirty="0">
              <a:latin typeface="微软雅黑" panose="020B0503020204020204" pitchFamily="34" charset="-122"/>
              <a:ea typeface="微软雅黑" panose="020B0503020204020204" pitchFamily="34" charset="-122"/>
            </a:endParaRPr>
          </a:p>
          <a:p>
            <a:pPr>
              <a:lnSpc>
                <a:spcPct val="150000"/>
              </a:lnSpc>
            </a:pPr>
            <a:r>
              <a:rPr lang="zh-CN" altLang="en-US" sz="2800" b="0" dirty="0">
                <a:latin typeface="微软雅黑" panose="020B0503020204020204" pitchFamily="34" charset="-122"/>
                <a:ea typeface="微软雅黑" panose="020B0503020204020204" pitchFamily="34" charset="-122"/>
              </a:rPr>
              <a:t>晓意</a:t>
            </a:r>
          </a:p>
          <a:p>
            <a:pPr lvl="1">
              <a:lnSpc>
                <a:spcPct val="150000"/>
              </a:lnSpc>
            </a:pPr>
            <a:r>
              <a:rPr lang="zh-CN" altLang="en-US" sz="2400" b="0" dirty="0">
                <a:latin typeface="微软雅黑" panose="020B0503020204020204" pitchFamily="34" charset="-122"/>
                <a:ea typeface="微软雅黑" panose="020B0503020204020204" pitchFamily="34" charset="-122"/>
              </a:rPr>
              <a:t>机器能够逐步窥探人的思想境界</a:t>
            </a:r>
            <a:endParaRPr lang="en-US" altLang="zh-CN" sz="2400" b="0" dirty="0">
              <a:latin typeface="微软雅黑" panose="020B0503020204020204" pitchFamily="34" charset="-122"/>
              <a:ea typeface="微软雅黑" panose="020B0503020204020204" pitchFamily="34" charset="-122"/>
            </a:endParaRPr>
          </a:p>
          <a:p>
            <a:pPr lvl="1">
              <a:lnSpc>
                <a:spcPct val="150000"/>
              </a:lnSpc>
            </a:pPr>
            <a:r>
              <a:rPr lang="zh-CN" altLang="en-US" sz="2400" b="0" dirty="0">
                <a:latin typeface="微软雅黑" panose="020B0503020204020204" pitchFamily="34" charset="-122"/>
                <a:ea typeface="微软雅黑" panose="020B0503020204020204" pitchFamily="34" charset="-122"/>
              </a:rPr>
              <a:t>情感分析、价值观分析</a:t>
            </a:r>
          </a:p>
          <a:p>
            <a:pPr>
              <a:lnSpc>
                <a:spcPct val="150000"/>
              </a:lnSpc>
            </a:pPr>
            <a:endParaRPr lang="zh-CN" altLang="en-US" sz="2800" b="0" dirty="0">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593115308"/>
      </p:ext>
    </p:extLst>
  </p:cSld>
  <p:clrMapOvr>
    <a:masterClrMapping/>
  </p:clrMapOvr>
  <p:transition spd="slow">
    <p:circle/>
  </p:transition>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本框 4">
            <a:extLst>
              <a:ext uri="{FF2B5EF4-FFF2-40B4-BE49-F238E27FC236}">
                <a16:creationId xmlns:a16="http://schemas.microsoft.com/office/drawing/2014/main" id="{81D1A8D4-A673-4A3B-8AB4-E1C064BCB58F}"/>
              </a:ext>
            </a:extLst>
          </p:cNvPr>
          <p:cNvSpPr txBox="1"/>
          <p:nvPr/>
        </p:nvSpPr>
        <p:spPr>
          <a:xfrm>
            <a:off x="1331640" y="2961743"/>
            <a:ext cx="6264696" cy="923330"/>
          </a:xfrm>
          <a:prstGeom prst="rect">
            <a:avLst/>
          </a:prstGeom>
          <a:noFill/>
        </p:spPr>
        <p:txBody>
          <a:bodyPr wrap="square" rtlCol="0">
            <a:spAutoFit/>
          </a:bodyPr>
          <a:lstStyle>
            <a:defPPr>
              <a:defRPr lang="zh-CN"/>
            </a:defPPr>
            <a:lvl1pPr algn="ctr">
              <a:defRPr sz="5400" b="0">
                <a:solidFill>
                  <a:srgbClr val="FF0000"/>
                </a:solidFill>
                <a:latin typeface="微软雅黑" panose="020B0503020204020204" pitchFamily="34" charset="-122"/>
                <a:ea typeface="微软雅黑" panose="020B0503020204020204" pitchFamily="34" charset="-122"/>
              </a:defRPr>
            </a:lvl1pPr>
          </a:lstStyle>
          <a:p>
            <a:r>
              <a:rPr lang="en-US" altLang="zh-CN" dirty="0" smtClean="0"/>
              <a:t>4</a:t>
            </a:r>
            <a:r>
              <a:rPr lang="en-US" altLang="zh-CN" dirty="0"/>
              <a:t>. </a:t>
            </a:r>
            <a:r>
              <a:rPr lang="zh-CN" altLang="en-US" dirty="0"/>
              <a:t>大数据思维</a:t>
            </a:r>
          </a:p>
        </p:txBody>
      </p:sp>
      <p:sp>
        <p:nvSpPr>
          <p:cNvPr id="6" name="Freeform 14">
            <a:extLst>
              <a:ext uri="{FF2B5EF4-FFF2-40B4-BE49-F238E27FC236}">
                <a16:creationId xmlns:a16="http://schemas.microsoft.com/office/drawing/2014/main" id="{B602F2C2-90ED-4AB6-9B44-1F7F2F037278}"/>
              </a:ext>
            </a:extLst>
          </p:cNvPr>
          <p:cNvSpPr/>
          <p:nvPr/>
        </p:nvSpPr>
        <p:spPr>
          <a:xfrm>
            <a:off x="4053105" y="1407496"/>
            <a:ext cx="1108861" cy="1039289"/>
          </a:xfrm>
          <a:custGeom>
            <a:avLst/>
            <a:gdLst>
              <a:gd name="connsiteX0" fmla="*/ 388426 w 607282"/>
              <a:gd name="connsiteY0" fmla="*/ 385710 h 569180"/>
              <a:gd name="connsiteX1" fmla="*/ 431276 w 607282"/>
              <a:gd name="connsiteY1" fmla="*/ 385710 h 569180"/>
              <a:gd name="connsiteX2" fmla="*/ 431276 w 607282"/>
              <a:gd name="connsiteY2" fmla="*/ 438433 h 569180"/>
              <a:gd name="connsiteX3" fmla="*/ 522771 w 607282"/>
              <a:gd name="connsiteY3" fmla="*/ 529738 h 569180"/>
              <a:gd name="connsiteX4" fmla="*/ 522771 w 607282"/>
              <a:gd name="connsiteY4" fmla="*/ 559964 h 569180"/>
              <a:gd name="connsiteX5" fmla="*/ 492483 w 607282"/>
              <a:gd name="connsiteY5" fmla="*/ 559964 h 569180"/>
              <a:gd name="connsiteX6" fmla="*/ 431276 w 607282"/>
              <a:gd name="connsiteY6" fmla="*/ 498941 h 569180"/>
              <a:gd name="connsiteX7" fmla="*/ 431276 w 607282"/>
              <a:gd name="connsiteY7" fmla="*/ 547771 h 569180"/>
              <a:gd name="connsiteX8" fmla="*/ 409822 w 607282"/>
              <a:gd name="connsiteY8" fmla="*/ 569180 h 569180"/>
              <a:gd name="connsiteX9" fmla="*/ 388426 w 607282"/>
              <a:gd name="connsiteY9" fmla="*/ 547771 h 569180"/>
              <a:gd name="connsiteX10" fmla="*/ 388426 w 607282"/>
              <a:gd name="connsiteY10" fmla="*/ 498941 h 569180"/>
              <a:gd name="connsiteX11" fmla="*/ 327276 w 607282"/>
              <a:gd name="connsiteY11" fmla="*/ 559964 h 569180"/>
              <a:gd name="connsiteX12" fmla="*/ 296988 w 607282"/>
              <a:gd name="connsiteY12" fmla="*/ 559964 h 569180"/>
              <a:gd name="connsiteX13" fmla="*/ 296988 w 607282"/>
              <a:gd name="connsiteY13" fmla="*/ 529738 h 569180"/>
              <a:gd name="connsiteX14" fmla="*/ 296931 w 607282"/>
              <a:gd name="connsiteY14" fmla="*/ 529738 h 569180"/>
              <a:gd name="connsiteX15" fmla="*/ 388426 w 607282"/>
              <a:gd name="connsiteY15" fmla="*/ 438433 h 569180"/>
              <a:gd name="connsiteX16" fmla="*/ 388426 w 607282"/>
              <a:gd name="connsiteY16" fmla="*/ 434597 h 569180"/>
              <a:gd name="connsiteX17" fmla="*/ 38140 w 607282"/>
              <a:gd name="connsiteY17" fmla="*/ 145929 h 569180"/>
              <a:gd name="connsiteX18" fmla="*/ 38255 w 607282"/>
              <a:gd name="connsiteY18" fmla="*/ 145929 h 569180"/>
              <a:gd name="connsiteX19" fmla="*/ 66358 w 607282"/>
              <a:gd name="connsiteY19" fmla="*/ 145929 h 569180"/>
              <a:gd name="connsiteX20" fmla="*/ 68767 w 607282"/>
              <a:gd name="connsiteY20" fmla="*/ 161160 h 569180"/>
              <a:gd name="connsiteX21" fmla="*/ 76453 w 607282"/>
              <a:gd name="connsiteY21" fmla="*/ 208857 h 569180"/>
              <a:gd name="connsiteX22" fmla="*/ 82589 w 607282"/>
              <a:gd name="connsiteY22" fmla="*/ 246763 h 569180"/>
              <a:gd name="connsiteX23" fmla="*/ 92684 w 607282"/>
              <a:gd name="connsiteY23" fmla="*/ 246763 h 569180"/>
              <a:gd name="connsiteX24" fmla="*/ 99222 w 607282"/>
              <a:gd name="connsiteY24" fmla="*/ 172898 h 569180"/>
              <a:gd name="connsiteX25" fmla="*/ 91594 w 607282"/>
              <a:gd name="connsiteY25" fmla="*/ 145929 h 569180"/>
              <a:gd name="connsiteX26" fmla="*/ 136502 w 607282"/>
              <a:gd name="connsiteY26" fmla="*/ 145929 h 569180"/>
              <a:gd name="connsiteX27" fmla="*/ 128874 w 607282"/>
              <a:gd name="connsiteY27" fmla="*/ 172898 h 569180"/>
              <a:gd name="connsiteX28" fmla="*/ 135355 w 607282"/>
              <a:gd name="connsiteY28" fmla="*/ 246763 h 569180"/>
              <a:gd name="connsiteX29" fmla="*/ 145507 w 607282"/>
              <a:gd name="connsiteY29" fmla="*/ 246763 h 569180"/>
              <a:gd name="connsiteX30" fmla="*/ 153192 w 607282"/>
              <a:gd name="connsiteY30" fmla="*/ 198780 h 569180"/>
              <a:gd name="connsiteX31" fmla="*/ 161738 w 607282"/>
              <a:gd name="connsiteY31" fmla="*/ 145929 h 569180"/>
              <a:gd name="connsiteX32" fmla="*/ 336094 w 607282"/>
              <a:gd name="connsiteY32" fmla="*/ 145929 h 569180"/>
              <a:gd name="connsiteX33" fmla="*/ 374349 w 607282"/>
              <a:gd name="connsiteY33" fmla="*/ 184121 h 569180"/>
              <a:gd name="connsiteX34" fmla="*/ 336094 w 607282"/>
              <a:gd name="connsiteY34" fmla="*/ 222256 h 569180"/>
              <a:gd name="connsiteX35" fmla="*/ 189841 w 607282"/>
              <a:gd name="connsiteY35" fmla="*/ 222256 h 569180"/>
              <a:gd name="connsiteX36" fmla="*/ 189841 w 607282"/>
              <a:gd name="connsiteY36" fmla="*/ 298011 h 569180"/>
              <a:gd name="connsiteX37" fmla="*/ 189841 w 607282"/>
              <a:gd name="connsiteY37" fmla="*/ 365807 h 569180"/>
              <a:gd name="connsiteX38" fmla="*/ 189841 w 607282"/>
              <a:gd name="connsiteY38" fmla="*/ 528081 h 569180"/>
              <a:gd name="connsiteX39" fmla="*/ 151586 w 607282"/>
              <a:gd name="connsiteY39" fmla="*/ 566216 h 569180"/>
              <a:gd name="connsiteX40" fmla="*/ 114019 w 607282"/>
              <a:gd name="connsiteY40" fmla="*/ 535239 h 569180"/>
              <a:gd name="connsiteX41" fmla="*/ 76453 w 607282"/>
              <a:gd name="connsiteY41" fmla="*/ 566216 h 569180"/>
              <a:gd name="connsiteX42" fmla="*/ 38255 w 607282"/>
              <a:gd name="connsiteY42" fmla="*/ 528081 h 569180"/>
              <a:gd name="connsiteX43" fmla="*/ 38255 w 607282"/>
              <a:gd name="connsiteY43" fmla="*/ 384874 h 569180"/>
              <a:gd name="connsiteX44" fmla="*/ 0 w 607282"/>
              <a:gd name="connsiteY44" fmla="*/ 346739 h 569180"/>
              <a:gd name="connsiteX45" fmla="*/ 0 w 607282"/>
              <a:gd name="connsiteY45" fmla="*/ 184121 h 569180"/>
              <a:gd name="connsiteX46" fmla="*/ 38140 w 607282"/>
              <a:gd name="connsiteY46" fmla="*/ 145929 h 569180"/>
              <a:gd name="connsiteX47" fmla="*/ 545532 w 607282"/>
              <a:gd name="connsiteY47" fmla="*/ 89195 h 569180"/>
              <a:gd name="connsiteX48" fmla="*/ 587343 w 607282"/>
              <a:gd name="connsiteY48" fmla="*/ 89195 h 569180"/>
              <a:gd name="connsiteX49" fmla="*/ 587343 w 607282"/>
              <a:gd name="connsiteY49" fmla="*/ 124061 h 569180"/>
              <a:gd name="connsiteX50" fmla="*/ 587228 w 607282"/>
              <a:gd name="connsiteY50" fmla="*/ 124061 h 569180"/>
              <a:gd name="connsiteX51" fmla="*/ 587343 w 607282"/>
              <a:gd name="connsiteY51" fmla="*/ 324787 h 569180"/>
              <a:gd name="connsiteX52" fmla="*/ 541403 w 607282"/>
              <a:gd name="connsiteY52" fmla="*/ 370989 h 569180"/>
              <a:gd name="connsiteX53" fmla="*/ 278325 w 607282"/>
              <a:gd name="connsiteY53" fmla="*/ 370531 h 569180"/>
              <a:gd name="connsiteX54" fmla="*/ 233131 w 607282"/>
              <a:gd name="connsiteY54" fmla="*/ 331027 h 569180"/>
              <a:gd name="connsiteX55" fmla="*/ 232729 w 607282"/>
              <a:gd name="connsiteY55" fmla="*/ 233012 h 569180"/>
              <a:gd name="connsiteX56" fmla="*/ 272475 w 607282"/>
              <a:gd name="connsiteY56" fmla="*/ 233012 h 569180"/>
              <a:gd name="connsiteX57" fmla="*/ 272475 w 607282"/>
              <a:gd name="connsiteY57" fmla="*/ 330340 h 569180"/>
              <a:gd name="connsiteX58" fmla="*/ 545532 w 607282"/>
              <a:gd name="connsiteY58" fmla="*/ 329997 h 569180"/>
              <a:gd name="connsiteX59" fmla="*/ 545532 w 607282"/>
              <a:gd name="connsiteY59" fmla="*/ 124061 h 569180"/>
              <a:gd name="connsiteX60" fmla="*/ 231948 w 607282"/>
              <a:gd name="connsiteY60" fmla="*/ 89124 h 569180"/>
              <a:gd name="connsiteX61" fmla="*/ 273793 w 607282"/>
              <a:gd name="connsiteY61" fmla="*/ 89124 h 569180"/>
              <a:gd name="connsiteX62" fmla="*/ 273793 w 607282"/>
              <a:gd name="connsiteY62" fmla="*/ 135062 h 569180"/>
              <a:gd name="connsiteX63" fmla="*/ 272240 w 607282"/>
              <a:gd name="connsiteY63" fmla="*/ 135062 h 569180"/>
              <a:gd name="connsiteX64" fmla="*/ 233571 w 607282"/>
              <a:gd name="connsiteY64" fmla="*/ 135062 h 569180"/>
              <a:gd name="connsiteX65" fmla="*/ 231948 w 607282"/>
              <a:gd name="connsiteY65" fmla="*/ 135062 h 569180"/>
              <a:gd name="connsiteX66" fmla="*/ 409822 w 607282"/>
              <a:gd name="connsiteY66" fmla="*/ 10232 h 569180"/>
              <a:gd name="connsiteX67" fmla="*/ 437925 w 607282"/>
              <a:gd name="connsiteY67" fmla="*/ 35771 h 569180"/>
              <a:gd name="connsiteX68" fmla="*/ 447503 w 607282"/>
              <a:gd name="connsiteY68" fmla="*/ 35771 h 569180"/>
              <a:gd name="connsiteX69" fmla="*/ 578958 w 607282"/>
              <a:gd name="connsiteY69" fmla="*/ 35828 h 569180"/>
              <a:gd name="connsiteX70" fmla="*/ 593009 w 607282"/>
              <a:gd name="connsiteY70" fmla="*/ 37031 h 569180"/>
              <a:gd name="connsiteX71" fmla="*/ 607233 w 607282"/>
              <a:gd name="connsiteY71" fmla="*/ 57874 h 569180"/>
              <a:gd name="connsiteX72" fmla="*/ 587159 w 607282"/>
              <a:gd name="connsiteY72" fmla="*/ 76828 h 569180"/>
              <a:gd name="connsiteX73" fmla="*/ 579244 w 607282"/>
              <a:gd name="connsiteY73" fmla="*/ 76885 h 569180"/>
              <a:gd name="connsiteX74" fmla="*/ 241776 w 607282"/>
              <a:gd name="connsiteY74" fmla="*/ 76885 h 569180"/>
              <a:gd name="connsiteX75" fmla="*/ 233861 w 607282"/>
              <a:gd name="connsiteY75" fmla="*/ 76828 h 569180"/>
              <a:gd name="connsiteX76" fmla="*/ 212984 w 607282"/>
              <a:gd name="connsiteY76" fmla="*/ 56672 h 569180"/>
              <a:gd name="connsiteX77" fmla="*/ 233287 w 607282"/>
              <a:gd name="connsiteY77" fmla="*/ 35943 h 569180"/>
              <a:gd name="connsiteX78" fmla="*/ 244357 w 607282"/>
              <a:gd name="connsiteY78" fmla="*/ 35771 h 569180"/>
              <a:gd name="connsiteX79" fmla="*/ 371108 w 607282"/>
              <a:gd name="connsiteY79" fmla="*/ 35771 h 569180"/>
              <a:gd name="connsiteX80" fmla="*/ 381661 w 607282"/>
              <a:gd name="connsiteY80" fmla="*/ 35771 h 569180"/>
              <a:gd name="connsiteX81" fmla="*/ 409822 w 607282"/>
              <a:gd name="connsiteY81" fmla="*/ 10232 h 569180"/>
              <a:gd name="connsiteX82" fmla="*/ 114034 w 607282"/>
              <a:gd name="connsiteY82" fmla="*/ 0 h 569180"/>
              <a:gd name="connsiteX83" fmla="*/ 182130 w 607282"/>
              <a:gd name="connsiteY83" fmla="*/ 67990 h 569180"/>
              <a:gd name="connsiteX84" fmla="*/ 114034 w 607282"/>
              <a:gd name="connsiteY84" fmla="*/ 135980 h 569180"/>
              <a:gd name="connsiteX85" fmla="*/ 45938 w 607282"/>
              <a:gd name="connsiteY85" fmla="*/ 67990 h 569180"/>
              <a:gd name="connsiteX86" fmla="*/ 114034 w 607282"/>
              <a:gd name="connsiteY86" fmla="*/ 0 h 5691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Lst>
            <a:rect l="l" t="t" r="r" b="b"/>
            <a:pathLst>
              <a:path w="607282" h="569180">
                <a:moveTo>
                  <a:pt x="388426" y="385710"/>
                </a:moveTo>
                <a:lnTo>
                  <a:pt x="431276" y="385710"/>
                </a:lnTo>
                <a:lnTo>
                  <a:pt x="431276" y="438433"/>
                </a:lnTo>
                <a:lnTo>
                  <a:pt x="522771" y="529738"/>
                </a:lnTo>
                <a:cubicBezTo>
                  <a:pt x="531146" y="538096"/>
                  <a:pt x="531146" y="551606"/>
                  <a:pt x="522771" y="559964"/>
                </a:cubicBezTo>
                <a:cubicBezTo>
                  <a:pt x="514396" y="568321"/>
                  <a:pt x="500858" y="568321"/>
                  <a:pt x="492483" y="559964"/>
                </a:cubicBezTo>
                <a:lnTo>
                  <a:pt x="431276" y="498941"/>
                </a:lnTo>
                <a:lnTo>
                  <a:pt x="431276" y="547771"/>
                </a:lnTo>
                <a:cubicBezTo>
                  <a:pt x="431276" y="559563"/>
                  <a:pt x="421697" y="569180"/>
                  <a:pt x="409822" y="569180"/>
                </a:cubicBezTo>
                <a:cubicBezTo>
                  <a:pt x="398005" y="569180"/>
                  <a:pt x="388426" y="559563"/>
                  <a:pt x="388426" y="547771"/>
                </a:cubicBezTo>
                <a:lnTo>
                  <a:pt x="388426" y="498941"/>
                </a:lnTo>
                <a:lnTo>
                  <a:pt x="327276" y="559964"/>
                </a:lnTo>
                <a:cubicBezTo>
                  <a:pt x="318901" y="568321"/>
                  <a:pt x="305306" y="568321"/>
                  <a:pt x="296988" y="559964"/>
                </a:cubicBezTo>
                <a:cubicBezTo>
                  <a:pt x="288613" y="551606"/>
                  <a:pt x="288613" y="538096"/>
                  <a:pt x="296988" y="529738"/>
                </a:cubicBezTo>
                <a:lnTo>
                  <a:pt x="296931" y="529738"/>
                </a:lnTo>
                <a:lnTo>
                  <a:pt x="388426" y="438433"/>
                </a:lnTo>
                <a:lnTo>
                  <a:pt x="388426" y="434597"/>
                </a:lnTo>
                <a:close/>
                <a:moveTo>
                  <a:pt x="38140" y="145929"/>
                </a:moveTo>
                <a:lnTo>
                  <a:pt x="38255" y="145929"/>
                </a:lnTo>
                <a:lnTo>
                  <a:pt x="66358" y="145929"/>
                </a:lnTo>
                <a:lnTo>
                  <a:pt x="68767" y="161160"/>
                </a:lnTo>
                <a:lnTo>
                  <a:pt x="76453" y="208857"/>
                </a:lnTo>
                <a:lnTo>
                  <a:pt x="82589" y="246763"/>
                </a:lnTo>
                <a:lnTo>
                  <a:pt x="92684" y="246763"/>
                </a:lnTo>
                <a:lnTo>
                  <a:pt x="99222" y="172898"/>
                </a:lnTo>
                <a:lnTo>
                  <a:pt x="91594" y="145929"/>
                </a:lnTo>
                <a:lnTo>
                  <a:pt x="136502" y="145929"/>
                </a:lnTo>
                <a:lnTo>
                  <a:pt x="128874" y="172898"/>
                </a:lnTo>
                <a:lnTo>
                  <a:pt x="135355" y="246763"/>
                </a:lnTo>
                <a:lnTo>
                  <a:pt x="145507" y="246763"/>
                </a:lnTo>
                <a:lnTo>
                  <a:pt x="153192" y="198780"/>
                </a:lnTo>
                <a:lnTo>
                  <a:pt x="161738" y="145929"/>
                </a:lnTo>
                <a:lnTo>
                  <a:pt x="336094" y="145929"/>
                </a:lnTo>
                <a:cubicBezTo>
                  <a:pt x="357200" y="145929"/>
                  <a:pt x="374349" y="162992"/>
                  <a:pt x="374349" y="184121"/>
                </a:cubicBezTo>
                <a:cubicBezTo>
                  <a:pt x="374349" y="205193"/>
                  <a:pt x="357200" y="222256"/>
                  <a:pt x="336094" y="222256"/>
                </a:cubicBezTo>
                <a:lnTo>
                  <a:pt x="189841" y="222256"/>
                </a:lnTo>
                <a:lnTo>
                  <a:pt x="189841" y="298011"/>
                </a:lnTo>
                <a:lnTo>
                  <a:pt x="189841" y="365807"/>
                </a:lnTo>
                <a:lnTo>
                  <a:pt x="189841" y="528081"/>
                </a:lnTo>
                <a:cubicBezTo>
                  <a:pt x="189841" y="549153"/>
                  <a:pt x="172692" y="566216"/>
                  <a:pt x="151586" y="566216"/>
                </a:cubicBezTo>
                <a:cubicBezTo>
                  <a:pt x="132889" y="566216"/>
                  <a:pt x="117403" y="552875"/>
                  <a:pt x="114019" y="535239"/>
                </a:cubicBezTo>
                <a:cubicBezTo>
                  <a:pt x="110693" y="552875"/>
                  <a:pt x="95150" y="566216"/>
                  <a:pt x="76453" y="566216"/>
                </a:cubicBezTo>
                <a:cubicBezTo>
                  <a:pt x="55346" y="566216"/>
                  <a:pt x="38255" y="549153"/>
                  <a:pt x="38255" y="528081"/>
                </a:cubicBezTo>
                <a:lnTo>
                  <a:pt x="38255" y="384874"/>
                </a:lnTo>
                <a:cubicBezTo>
                  <a:pt x="17091" y="384874"/>
                  <a:pt x="0" y="367811"/>
                  <a:pt x="0" y="346739"/>
                </a:cubicBezTo>
                <a:lnTo>
                  <a:pt x="0" y="184121"/>
                </a:lnTo>
                <a:cubicBezTo>
                  <a:pt x="0" y="163050"/>
                  <a:pt x="17091" y="145986"/>
                  <a:pt x="38140" y="145929"/>
                </a:cubicBezTo>
                <a:close/>
                <a:moveTo>
                  <a:pt x="545532" y="89195"/>
                </a:moveTo>
                <a:lnTo>
                  <a:pt x="587343" y="89195"/>
                </a:lnTo>
                <a:lnTo>
                  <a:pt x="587343" y="124061"/>
                </a:lnTo>
                <a:lnTo>
                  <a:pt x="587228" y="124061"/>
                </a:lnTo>
                <a:cubicBezTo>
                  <a:pt x="587228" y="190989"/>
                  <a:pt x="587056" y="257859"/>
                  <a:pt x="587343" y="324787"/>
                </a:cubicBezTo>
                <a:cubicBezTo>
                  <a:pt x="587457" y="352669"/>
                  <a:pt x="567498" y="371104"/>
                  <a:pt x="541403" y="370989"/>
                </a:cubicBezTo>
                <a:cubicBezTo>
                  <a:pt x="453710" y="370646"/>
                  <a:pt x="366018" y="370703"/>
                  <a:pt x="278325" y="370531"/>
                </a:cubicBezTo>
                <a:cubicBezTo>
                  <a:pt x="255441" y="370474"/>
                  <a:pt x="234278" y="353527"/>
                  <a:pt x="233131" y="331027"/>
                </a:cubicBezTo>
                <a:cubicBezTo>
                  <a:pt x="231525" y="299024"/>
                  <a:pt x="232729" y="266905"/>
                  <a:pt x="232729" y="233012"/>
                </a:cubicBezTo>
                <a:lnTo>
                  <a:pt x="272475" y="233012"/>
                </a:lnTo>
                <a:lnTo>
                  <a:pt x="272475" y="330340"/>
                </a:lnTo>
                <a:cubicBezTo>
                  <a:pt x="364010" y="330512"/>
                  <a:pt x="453997" y="330398"/>
                  <a:pt x="545532" y="329997"/>
                </a:cubicBezTo>
                <a:lnTo>
                  <a:pt x="545532" y="124061"/>
                </a:lnTo>
                <a:close/>
                <a:moveTo>
                  <a:pt x="231948" y="89124"/>
                </a:moveTo>
                <a:lnTo>
                  <a:pt x="273793" y="89124"/>
                </a:lnTo>
                <a:lnTo>
                  <a:pt x="273793" y="135062"/>
                </a:lnTo>
                <a:lnTo>
                  <a:pt x="272240" y="135062"/>
                </a:lnTo>
                <a:lnTo>
                  <a:pt x="233571" y="135062"/>
                </a:lnTo>
                <a:lnTo>
                  <a:pt x="231948" y="135062"/>
                </a:lnTo>
                <a:close/>
                <a:moveTo>
                  <a:pt x="409822" y="10232"/>
                </a:moveTo>
                <a:cubicBezTo>
                  <a:pt x="424505" y="10232"/>
                  <a:pt x="436606" y="21455"/>
                  <a:pt x="437925" y="35771"/>
                </a:cubicBezTo>
                <a:lnTo>
                  <a:pt x="447503" y="35771"/>
                </a:lnTo>
                <a:cubicBezTo>
                  <a:pt x="491321" y="35771"/>
                  <a:pt x="535140" y="35771"/>
                  <a:pt x="578958" y="35828"/>
                </a:cubicBezTo>
                <a:cubicBezTo>
                  <a:pt x="583661" y="35828"/>
                  <a:pt x="588650" y="35599"/>
                  <a:pt x="593009" y="37031"/>
                </a:cubicBezTo>
                <a:cubicBezTo>
                  <a:pt x="601326" y="39665"/>
                  <a:pt x="607921" y="50144"/>
                  <a:pt x="607233" y="57874"/>
                </a:cubicBezTo>
                <a:cubicBezTo>
                  <a:pt x="606315" y="67380"/>
                  <a:pt x="597368" y="75912"/>
                  <a:pt x="587159" y="76828"/>
                </a:cubicBezTo>
                <a:cubicBezTo>
                  <a:pt x="584521" y="77057"/>
                  <a:pt x="581883" y="76885"/>
                  <a:pt x="579244" y="76885"/>
                </a:cubicBezTo>
                <a:cubicBezTo>
                  <a:pt x="466774" y="76885"/>
                  <a:pt x="354304" y="76885"/>
                  <a:pt x="241776" y="76885"/>
                </a:cubicBezTo>
                <a:cubicBezTo>
                  <a:pt x="239137" y="76885"/>
                  <a:pt x="236499" y="77057"/>
                  <a:pt x="233861" y="76828"/>
                </a:cubicBezTo>
                <a:cubicBezTo>
                  <a:pt x="223078" y="75740"/>
                  <a:pt x="213156" y="66120"/>
                  <a:pt x="212984" y="56672"/>
                </a:cubicBezTo>
                <a:cubicBezTo>
                  <a:pt x="212755" y="47166"/>
                  <a:pt x="222448" y="37088"/>
                  <a:pt x="233287" y="35943"/>
                </a:cubicBezTo>
                <a:cubicBezTo>
                  <a:pt x="236958" y="35542"/>
                  <a:pt x="240686" y="35771"/>
                  <a:pt x="244357" y="35771"/>
                </a:cubicBezTo>
                <a:cubicBezTo>
                  <a:pt x="286626" y="35771"/>
                  <a:pt x="328839" y="35771"/>
                  <a:pt x="371108" y="35771"/>
                </a:cubicBezTo>
                <a:lnTo>
                  <a:pt x="381661" y="35771"/>
                </a:lnTo>
                <a:cubicBezTo>
                  <a:pt x="382981" y="21455"/>
                  <a:pt x="395082" y="10232"/>
                  <a:pt x="409822" y="10232"/>
                </a:cubicBezTo>
                <a:close/>
                <a:moveTo>
                  <a:pt x="114034" y="0"/>
                </a:moveTo>
                <a:cubicBezTo>
                  <a:pt x="151642" y="0"/>
                  <a:pt x="182130" y="30440"/>
                  <a:pt x="182130" y="67990"/>
                </a:cubicBezTo>
                <a:cubicBezTo>
                  <a:pt x="182130" y="105540"/>
                  <a:pt x="151642" y="135980"/>
                  <a:pt x="114034" y="135980"/>
                </a:cubicBezTo>
                <a:cubicBezTo>
                  <a:pt x="76426" y="135980"/>
                  <a:pt x="45938" y="105540"/>
                  <a:pt x="45938" y="67990"/>
                </a:cubicBezTo>
                <a:cubicBezTo>
                  <a:pt x="45938" y="30440"/>
                  <a:pt x="76426" y="0"/>
                  <a:pt x="114034" y="0"/>
                </a:cubicBezTo>
                <a:close/>
              </a:path>
            </a:pathLst>
          </a:custGeom>
          <a:solidFill>
            <a:srgbClr val="3F3B3A"/>
          </a:solidFill>
          <a:ln w="12700" cap="flat">
            <a:noFill/>
            <a:miter lim="400000"/>
          </a:ln>
          <a:effectLst/>
        </p:spPr>
        <p:txBody>
          <a:bodyPr wrap="square" lIns="91439" tIns="91439" rIns="91439" bIns="91439" numCol="1" anchor="t">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a:latin typeface="思源黑体 CN Medium" panose="020B0600000000000000" pitchFamily="34" charset="-122"/>
              <a:ea typeface="思源黑体 CN Medium" panose="020B0600000000000000" pitchFamily="34" charset="-122"/>
            </a:endParaRPr>
          </a:p>
        </p:txBody>
      </p:sp>
      <p:cxnSp>
        <p:nvCxnSpPr>
          <p:cNvPr id="7" name="直接连接符 6">
            <a:extLst>
              <a:ext uri="{FF2B5EF4-FFF2-40B4-BE49-F238E27FC236}">
                <a16:creationId xmlns:a16="http://schemas.microsoft.com/office/drawing/2014/main" id="{D7FC733E-4E96-45E0-B9E5-24BD4CBE51BD}"/>
              </a:ext>
            </a:extLst>
          </p:cNvPr>
          <p:cNvCxnSpPr>
            <a:cxnSpLocks/>
          </p:cNvCxnSpPr>
          <p:nvPr/>
        </p:nvCxnSpPr>
        <p:spPr>
          <a:xfrm>
            <a:off x="1024175" y="4221088"/>
            <a:ext cx="7056784" cy="0"/>
          </a:xfrm>
          <a:prstGeom prst="line">
            <a:avLst/>
          </a:prstGeom>
          <a:ln w="15875">
            <a:solidFill>
              <a:srgbClr val="3F3B3A"/>
            </a:solidFill>
          </a:ln>
        </p:spPr>
        <p:style>
          <a:lnRef idx="1">
            <a:schemeClr val="accent1"/>
          </a:lnRef>
          <a:fillRef idx="0">
            <a:schemeClr val="accent1"/>
          </a:fillRef>
          <a:effectRef idx="0">
            <a:schemeClr val="accent1"/>
          </a:effectRef>
          <a:fontRef idx="minor">
            <a:schemeClr val="tx1"/>
          </a:fontRef>
        </p:style>
      </p:cxnSp>
      <p:cxnSp>
        <p:nvCxnSpPr>
          <p:cNvPr id="11" name="直接连接符 10">
            <a:extLst>
              <a:ext uri="{FF2B5EF4-FFF2-40B4-BE49-F238E27FC236}">
                <a16:creationId xmlns:a16="http://schemas.microsoft.com/office/drawing/2014/main" id="{D7FC733E-4E96-45E0-B9E5-24BD4CBE51BD}"/>
              </a:ext>
            </a:extLst>
          </p:cNvPr>
          <p:cNvCxnSpPr>
            <a:cxnSpLocks/>
          </p:cNvCxnSpPr>
          <p:nvPr/>
        </p:nvCxnSpPr>
        <p:spPr>
          <a:xfrm>
            <a:off x="978293" y="2625728"/>
            <a:ext cx="7056784" cy="0"/>
          </a:xfrm>
          <a:prstGeom prst="line">
            <a:avLst/>
          </a:prstGeom>
          <a:ln w="15875">
            <a:solidFill>
              <a:srgbClr val="3F3B3A"/>
            </a:solidFill>
          </a:ln>
        </p:spPr>
        <p:style>
          <a:lnRef idx="1">
            <a:schemeClr val="accent1"/>
          </a:lnRef>
          <a:fillRef idx="0">
            <a:schemeClr val="accent1"/>
          </a:fillRef>
          <a:effectRef idx="0">
            <a:schemeClr val="accent1"/>
          </a:effectRef>
          <a:fontRef idx="minor">
            <a:schemeClr val="tx1"/>
          </a:fontRef>
        </p:style>
      </p:cxnSp>
      <p:pic>
        <p:nvPicPr>
          <p:cNvPr id="9" name="图片 8"/>
          <p:cNvPicPr>
            <a:picLocks noChangeAspect="1"/>
          </p:cNvPicPr>
          <p:nvPr/>
        </p:nvPicPr>
        <p:blipFill>
          <a:blip r:embed="rId2"/>
          <a:stretch>
            <a:fillRect/>
          </a:stretch>
        </p:blipFill>
        <p:spPr>
          <a:xfrm>
            <a:off x="6156176" y="260648"/>
            <a:ext cx="2660986" cy="610982"/>
          </a:xfrm>
          <a:prstGeom prst="rect">
            <a:avLst/>
          </a:prstGeom>
        </p:spPr>
      </p:pic>
    </p:spTree>
    <p:extLst>
      <p:ext uri="{BB962C8B-B14F-4D97-AF65-F5344CB8AC3E}">
        <p14:creationId xmlns:p14="http://schemas.microsoft.com/office/powerpoint/2010/main" val="3999074698"/>
      </p:ext>
    </p:extLst>
  </p:cSld>
  <p:clrMapOvr>
    <a:masterClrMapping/>
  </p:clrMapOvr>
  <p:transition spd="slow">
    <p:circle/>
  </p:transition>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6" name="矩形 2"/>
          <p:cNvSpPr>
            <a:spLocks noChangeArrowheads="1"/>
          </p:cNvSpPr>
          <p:nvPr/>
        </p:nvSpPr>
        <p:spPr bwMode="auto">
          <a:xfrm>
            <a:off x="395536" y="1700808"/>
            <a:ext cx="8597225" cy="830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nSpc>
                <a:spcPct val="150000"/>
              </a:lnSpc>
            </a:pPr>
            <a:r>
              <a:rPr lang="zh-CN" altLang="en-US" sz="3200" dirty="0">
                <a:solidFill>
                  <a:srgbClr val="FF0000"/>
                </a:solidFill>
                <a:latin typeface="微软雅黑" panose="020B0503020204020204" pitchFamily="34" charset="-122"/>
                <a:ea typeface="微软雅黑" panose="020B0503020204020204" pitchFamily="34" charset="-122"/>
              </a:rPr>
              <a:t>“更多”</a:t>
            </a:r>
            <a:r>
              <a:rPr lang="en-US" altLang="zh-CN" sz="3200" b="0" dirty="0" smtClean="0">
                <a:solidFill>
                  <a:srgbClr val="0000FF"/>
                </a:solidFill>
                <a:latin typeface="黑体" pitchFamily="49" charset="-122"/>
                <a:ea typeface="黑体" pitchFamily="49" charset="-122"/>
              </a:rPr>
              <a:t>—— </a:t>
            </a:r>
            <a:r>
              <a:rPr lang="zh-CN" altLang="en-US" sz="3200" b="0" dirty="0" smtClean="0">
                <a:solidFill>
                  <a:srgbClr val="0000FF"/>
                </a:solidFill>
                <a:latin typeface="黑体" pitchFamily="49" charset="-122"/>
                <a:ea typeface="黑体" pitchFamily="49" charset="-122"/>
              </a:rPr>
              <a:t>不是</a:t>
            </a:r>
            <a:r>
              <a:rPr lang="zh-CN" altLang="en-US" sz="3200" b="0" dirty="0">
                <a:solidFill>
                  <a:srgbClr val="0000FF"/>
                </a:solidFill>
                <a:latin typeface="黑体" pitchFamily="49" charset="-122"/>
                <a:ea typeface="黑体" pitchFamily="49" charset="-122"/>
              </a:rPr>
              <a:t>随机样本，而是全体数据！</a:t>
            </a:r>
          </a:p>
        </p:txBody>
      </p:sp>
      <p:sp>
        <p:nvSpPr>
          <p:cNvPr id="2" name="标题 1"/>
          <p:cNvSpPr>
            <a:spLocks noGrp="1"/>
          </p:cNvSpPr>
          <p:nvPr>
            <p:ph type="title"/>
          </p:nvPr>
        </p:nvSpPr>
        <p:spPr/>
        <p:txBody>
          <a:bodyPr/>
          <a:lstStyle/>
          <a:p>
            <a:r>
              <a:rPr lang="zh-CN" altLang="en-US" dirty="0" smtClean="0"/>
              <a:t>大数据思维</a:t>
            </a:r>
            <a:endParaRPr lang="zh-CN" altLang="en-US" dirty="0"/>
          </a:p>
        </p:txBody>
      </p:sp>
      <p:sp>
        <p:nvSpPr>
          <p:cNvPr id="5" name="矩形 5"/>
          <p:cNvSpPr>
            <a:spLocks noChangeArrowheads="1"/>
          </p:cNvSpPr>
          <p:nvPr/>
        </p:nvSpPr>
        <p:spPr bwMode="auto">
          <a:xfrm>
            <a:off x="387002" y="2764762"/>
            <a:ext cx="8081963" cy="830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nSpc>
                <a:spcPct val="150000"/>
              </a:lnSpc>
            </a:pPr>
            <a:r>
              <a:rPr lang="zh-CN" altLang="en-US" sz="3200" dirty="0">
                <a:solidFill>
                  <a:srgbClr val="FF0000"/>
                </a:solidFill>
                <a:latin typeface="微软雅黑" panose="020B0503020204020204" pitchFamily="34" charset="-122"/>
                <a:ea typeface="微软雅黑" panose="020B0503020204020204" pitchFamily="34" charset="-122"/>
              </a:rPr>
              <a:t>“更杂”</a:t>
            </a:r>
            <a:r>
              <a:rPr lang="en-US" altLang="zh-CN" sz="3200" b="0" dirty="0" smtClean="0">
                <a:solidFill>
                  <a:srgbClr val="0000FF"/>
                </a:solidFill>
                <a:latin typeface="微软雅黑" panose="020B0503020204020204" pitchFamily="34" charset="-122"/>
                <a:ea typeface="微软雅黑" panose="020B0503020204020204" pitchFamily="34" charset="-122"/>
              </a:rPr>
              <a:t>—— </a:t>
            </a:r>
            <a:r>
              <a:rPr lang="zh-CN" altLang="en-US" sz="3200" b="0" dirty="0" smtClean="0">
                <a:solidFill>
                  <a:srgbClr val="0000FF"/>
                </a:solidFill>
                <a:latin typeface="微软雅黑" panose="020B0503020204020204" pitchFamily="34" charset="-122"/>
                <a:ea typeface="微软雅黑" panose="020B0503020204020204" pitchFamily="34" charset="-122"/>
              </a:rPr>
              <a:t>不是</a:t>
            </a:r>
            <a:r>
              <a:rPr lang="zh-CN" altLang="en-US" sz="3200" b="0" dirty="0">
                <a:solidFill>
                  <a:srgbClr val="0000FF"/>
                </a:solidFill>
                <a:latin typeface="微软雅黑" panose="020B0503020204020204" pitchFamily="34" charset="-122"/>
                <a:ea typeface="微软雅黑" panose="020B0503020204020204" pitchFamily="34" charset="-122"/>
              </a:rPr>
              <a:t>精确性，而是混杂性！</a:t>
            </a:r>
          </a:p>
        </p:txBody>
      </p:sp>
      <p:sp>
        <p:nvSpPr>
          <p:cNvPr id="6" name="矩形 5"/>
          <p:cNvSpPr>
            <a:spLocks noChangeArrowheads="1"/>
          </p:cNvSpPr>
          <p:nvPr/>
        </p:nvSpPr>
        <p:spPr bwMode="auto">
          <a:xfrm>
            <a:off x="380369" y="3867879"/>
            <a:ext cx="8612392" cy="830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lnSpc>
                <a:spcPct val="150000"/>
              </a:lnSpc>
            </a:pPr>
            <a:r>
              <a:rPr lang="zh-CN" altLang="en-US" sz="3200" dirty="0">
                <a:solidFill>
                  <a:srgbClr val="FF0000"/>
                </a:solidFill>
                <a:latin typeface="微软雅黑" panose="020B0503020204020204" pitchFamily="34" charset="-122"/>
                <a:ea typeface="微软雅黑" panose="020B0503020204020204" pitchFamily="34" charset="-122"/>
              </a:rPr>
              <a:t>“更好”</a:t>
            </a:r>
            <a:r>
              <a:rPr lang="en-US" altLang="zh-CN" sz="3200" b="0" dirty="0" smtClean="0">
                <a:solidFill>
                  <a:srgbClr val="0000FF"/>
                </a:solidFill>
                <a:latin typeface="黑体" pitchFamily="49" charset="-122"/>
                <a:ea typeface="黑体" pitchFamily="49" charset="-122"/>
              </a:rPr>
              <a:t>—— </a:t>
            </a:r>
            <a:r>
              <a:rPr lang="zh-CN" altLang="en-US" sz="3200" b="0" dirty="0" smtClean="0">
                <a:solidFill>
                  <a:srgbClr val="0000FF"/>
                </a:solidFill>
                <a:latin typeface="黑体" pitchFamily="49" charset="-122"/>
                <a:ea typeface="黑体" pitchFamily="49" charset="-122"/>
              </a:rPr>
              <a:t>不是</a:t>
            </a:r>
            <a:r>
              <a:rPr lang="zh-CN" altLang="en-US" sz="3200" b="0" dirty="0">
                <a:solidFill>
                  <a:srgbClr val="0000FF"/>
                </a:solidFill>
                <a:latin typeface="黑体" pitchFamily="49" charset="-122"/>
                <a:ea typeface="黑体" pitchFamily="49" charset="-122"/>
              </a:rPr>
              <a:t>因果关系，而是相关</a:t>
            </a:r>
            <a:r>
              <a:rPr lang="zh-CN" altLang="en-US" sz="3200" b="0" dirty="0" smtClean="0">
                <a:solidFill>
                  <a:srgbClr val="0000FF"/>
                </a:solidFill>
                <a:latin typeface="黑体" pitchFamily="49" charset="-122"/>
                <a:ea typeface="黑体" pitchFamily="49" charset="-122"/>
              </a:rPr>
              <a:t>关系！</a:t>
            </a:r>
            <a:endParaRPr lang="zh-CN" altLang="en-US" sz="3200" b="0" dirty="0">
              <a:solidFill>
                <a:srgbClr val="0000FF"/>
              </a:solidFill>
              <a:latin typeface="黑体" pitchFamily="49" charset="-122"/>
              <a:ea typeface="黑体" pitchFamily="49" charset="-122"/>
            </a:endParaRPr>
          </a:p>
        </p:txBody>
      </p:sp>
    </p:spTree>
    <p:extLst>
      <p:ext uri="{BB962C8B-B14F-4D97-AF65-F5344CB8AC3E}">
        <p14:creationId xmlns:p14="http://schemas.microsoft.com/office/powerpoint/2010/main" val="1834006109"/>
      </p:ext>
    </p:extLst>
  </p:cSld>
  <p:clrMapOvr>
    <a:masterClrMapping/>
  </p:clrMapOvr>
  <p:transition spd="slow">
    <p:circle/>
  </p:transition>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zh-CN" dirty="0"/>
              <a:t>大数据时代的新经验主义</a:t>
            </a:r>
            <a:endParaRPr lang="zh-CN" altLang="en-US" dirty="0"/>
          </a:p>
        </p:txBody>
      </p:sp>
      <p:sp>
        <p:nvSpPr>
          <p:cNvPr id="7" name="内容占位符 2"/>
          <p:cNvSpPr>
            <a:spLocks noGrp="1"/>
          </p:cNvSpPr>
          <p:nvPr>
            <p:ph idx="1"/>
          </p:nvPr>
        </p:nvSpPr>
        <p:spPr>
          <a:xfrm>
            <a:off x="395288" y="1052513"/>
            <a:ext cx="5843587" cy="5256212"/>
          </a:xfrm>
        </p:spPr>
        <p:txBody>
          <a:bodyPr/>
          <a:lstStyle/>
          <a:p>
            <a:pPr>
              <a:lnSpc>
                <a:spcPct val="250000"/>
              </a:lnSpc>
            </a:pPr>
            <a:r>
              <a:rPr lang="zh-CN" altLang="en-US" sz="2400" b="1" dirty="0" smtClean="0">
                <a:latin typeface="微软雅黑" panose="020B0503020204020204" pitchFamily="34" charset="-122"/>
                <a:ea typeface="微软雅黑" panose="020B0503020204020204" pitchFamily="34" charset="-122"/>
              </a:rPr>
              <a:t>传统：</a:t>
            </a:r>
            <a:r>
              <a:rPr lang="zh-CN" altLang="en-US" sz="2400" b="0" dirty="0" smtClean="0">
                <a:latin typeface="微软雅黑" panose="020B0503020204020204" pitchFamily="34" charset="-122"/>
                <a:ea typeface="微软雅黑" panose="020B0503020204020204" pitchFamily="34" charset="-122"/>
              </a:rPr>
              <a:t>理性分析</a:t>
            </a:r>
            <a:r>
              <a:rPr lang="en-US" altLang="zh-CN" sz="2400" b="0" dirty="0" smtClean="0">
                <a:latin typeface="微软雅黑" panose="020B0503020204020204" pitchFamily="34" charset="-122"/>
                <a:ea typeface="微软雅黑" panose="020B0503020204020204" pitchFamily="34" charset="-122"/>
              </a:rPr>
              <a:t>&gt;</a:t>
            </a:r>
            <a:r>
              <a:rPr lang="zh-CN" altLang="en-US" sz="2400" b="0" dirty="0" smtClean="0">
                <a:latin typeface="微软雅黑" panose="020B0503020204020204" pitchFamily="34" charset="-122"/>
                <a:ea typeface="微软雅黑" panose="020B0503020204020204" pitchFamily="34" charset="-122"/>
              </a:rPr>
              <a:t>主观经验</a:t>
            </a:r>
            <a:endParaRPr lang="en-US" altLang="zh-CN" sz="2400" b="0" dirty="0" smtClean="0">
              <a:latin typeface="微软雅黑" panose="020B0503020204020204" pitchFamily="34" charset="-122"/>
              <a:ea typeface="微软雅黑" panose="020B0503020204020204" pitchFamily="34" charset="-122"/>
            </a:endParaRPr>
          </a:p>
          <a:p>
            <a:pPr>
              <a:lnSpc>
                <a:spcPct val="250000"/>
              </a:lnSpc>
            </a:pPr>
            <a:r>
              <a:rPr lang="zh-CN" altLang="en-US" sz="2400" b="1" dirty="0" smtClean="0">
                <a:latin typeface="微软雅黑" panose="020B0503020204020204" pitchFamily="34" charset="-122"/>
                <a:ea typeface="微软雅黑" panose="020B0503020204020204" pitchFamily="34" charset="-122"/>
              </a:rPr>
              <a:t>今天：</a:t>
            </a:r>
            <a:r>
              <a:rPr lang="zh-CN" altLang="zh-CN" sz="2400" b="0" dirty="0" smtClean="0">
                <a:latin typeface="微软雅黑" panose="020B0503020204020204" pitchFamily="34" charset="-122"/>
                <a:ea typeface="微软雅黑" panose="020B0503020204020204" pitchFamily="34" charset="-122"/>
              </a:rPr>
              <a:t>经验主义</a:t>
            </a:r>
            <a:r>
              <a:rPr lang="en-US" altLang="zh-CN" sz="2400" b="0" dirty="0" smtClean="0">
                <a:latin typeface="微软雅黑" panose="020B0503020204020204" pitchFamily="34" charset="-122"/>
                <a:ea typeface="微软雅黑" panose="020B0503020204020204" pitchFamily="34" charset="-122"/>
              </a:rPr>
              <a:t>&gt;</a:t>
            </a:r>
            <a:r>
              <a:rPr lang="zh-CN" altLang="zh-CN" sz="2400" b="0" dirty="0" smtClean="0">
                <a:latin typeface="微软雅黑" panose="020B0503020204020204" pitchFamily="34" charset="-122"/>
                <a:ea typeface="微软雅黑" panose="020B0503020204020204" pitchFamily="34" charset="-122"/>
              </a:rPr>
              <a:t>理性主义</a:t>
            </a:r>
          </a:p>
          <a:p>
            <a:pPr>
              <a:lnSpc>
                <a:spcPct val="250000"/>
              </a:lnSpc>
            </a:pPr>
            <a:r>
              <a:rPr lang="zh-CN" altLang="en-US" sz="2400" dirty="0" smtClean="0"/>
              <a:t>大数据 </a:t>
            </a:r>
            <a:r>
              <a:rPr lang="en-US" altLang="zh-CN" sz="2400" dirty="0" smtClean="0"/>
              <a:t>= </a:t>
            </a:r>
            <a:r>
              <a:rPr lang="zh-CN" altLang="en-US" sz="2400" dirty="0" smtClean="0"/>
              <a:t>经验</a:t>
            </a:r>
            <a:endParaRPr lang="en-US" altLang="zh-CN" sz="2400" b="0" dirty="0" smtClean="0">
              <a:latin typeface="微软雅黑" panose="020B0503020204020204" pitchFamily="34" charset="-122"/>
              <a:ea typeface="微软雅黑" panose="020B0503020204020204" pitchFamily="34" charset="-122"/>
            </a:endParaRPr>
          </a:p>
          <a:p>
            <a:pPr>
              <a:lnSpc>
                <a:spcPct val="250000"/>
              </a:lnSpc>
            </a:pPr>
            <a:r>
              <a:rPr lang="zh-CN" altLang="zh-CN" sz="2400" b="0" dirty="0" smtClean="0">
                <a:latin typeface="微软雅黑" panose="020B0503020204020204" pitchFamily="34" charset="-122"/>
                <a:ea typeface="微软雅黑" panose="020B0503020204020204" pitchFamily="34" charset="-122"/>
              </a:rPr>
              <a:t>数据</a:t>
            </a:r>
            <a:r>
              <a:rPr lang="en-US" altLang="zh-CN" sz="2400" b="0" dirty="0" smtClean="0">
                <a:latin typeface="微软雅黑" panose="020B0503020204020204" pitchFamily="34" charset="-122"/>
                <a:ea typeface="微软雅黑" panose="020B0503020204020204" pitchFamily="34" charset="-122"/>
              </a:rPr>
              <a:t>&gt;</a:t>
            </a:r>
            <a:r>
              <a:rPr lang="zh-CN" altLang="zh-CN" sz="2400" b="0" dirty="0" smtClean="0">
                <a:latin typeface="微软雅黑" panose="020B0503020204020204" pitchFamily="34" charset="-122"/>
                <a:ea typeface="微软雅黑" panose="020B0503020204020204" pitchFamily="34" charset="-122"/>
              </a:rPr>
              <a:t>模型</a:t>
            </a:r>
          </a:p>
          <a:p>
            <a:pPr>
              <a:lnSpc>
                <a:spcPct val="250000"/>
              </a:lnSpc>
            </a:pPr>
            <a:r>
              <a:rPr lang="zh-CN" altLang="en-US" sz="2400" b="0" dirty="0" smtClean="0">
                <a:latin typeface="微软雅黑" panose="020B0503020204020204" pitchFamily="34" charset="-122"/>
                <a:ea typeface="微软雅黑" panose="020B0503020204020204" pitchFamily="34" charset="-122"/>
              </a:rPr>
              <a:t>简单计算超越复杂计算</a:t>
            </a:r>
            <a:endParaRPr lang="en-US" altLang="zh-CN" sz="2400" b="0" dirty="0" smtClean="0">
              <a:latin typeface="微软雅黑" panose="020B0503020204020204" pitchFamily="34" charset="-122"/>
              <a:ea typeface="微软雅黑" panose="020B0503020204020204" pitchFamily="34" charset="-122"/>
            </a:endParaRPr>
          </a:p>
        </p:txBody>
      </p:sp>
      <p:sp>
        <p:nvSpPr>
          <p:cNvPr id="5" name="圆角矩形 4"/>
          <p:cNvSpPr/>
          <p:nvPr/>
        </p:nvSpPr>
        <p:spPr bwMode="auto">
          <a:xfrm>
            <a:off x="5796136" y="1916832"/>
            <a:ext cx="2232248" cy="1296144"/>
          </a:xfrm>
          <a:prstGeom prst="roundRect">
            <a:avLst/>
          </a:prstGeom>
          <a:solidFill>
            <a:schemeClr val="accent1"/>
          </a:solidFill>
          <a:ln w="9525" cap="flat" cmpd="sng" algn="ctr">
            <a:solidFill>
              <a:schemeClr val="tx1"/>
            </a:solidFill>
            <a:prstDash val="solid"/>
            <a:miter lim="800000"/>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rtlCol="0" anchor="t" anchorCtr="0" compatLnSpc="1">
            <a:prstTxWarp prst="textNoShape">
              <a:avLst/>
            </a:prstTxWarp>
          </a:bodyPr>
          <a:lstStyle/>
          <a:p>
            <a:pPr marL="0" marR="0" indent="0" algn="ctr" defTabSz="914400" rtl="0" eaLnBrk="1" fontAlgn="base" latinLnBrk="0" hangingPunct="1">
              <a:lnSpc>
                <a:spcPct val="150000"/>
              </a:lnSpc>
              <a:spcBef>
                <a:spcPct val="0"/>
              </a:spcBef>
              <a:spcAft>
                <a:spcPct val="0"/>
              </a:spcAft>
              <a:buClrTx/>
              <a:buSzTx/>
              <a:buFontTx/>
              <a:buNone/>
              <a:tabLst/>
            </a:pPr>
            <a:r>
              <a:rPr kumimoji="0" lang="zh-CN" altLang="en-US" sz="4000" i="0" u="none" strike="noStrike" cap="none" normalizeH="0" baseline="0" dirty="0" smtClean="0">
                <a:ln>
                  <a:noFill/>
                </a:ln>
                <a:solidFill>
                  <a:schemeClr val="tx1"/>
                </a:solidFill>
                <a:effectLst/>
                <a:latin typeface="Arial" pitchFamily="34" charset="0"/>
              </a:rPr>
              <a:t>流感预测</a:t>
            </a:r>
          </a:p>
        </p:txBody>
      </p:sp>
      <p:sp>
        <p:nvSpPr>
          <p:cNvPr id="6" name="圆角矩形 5"/>
          <p:cNvSpPr/>
          <p:nvPr/>
        </p:nvSpPr>
        <p:spPr bwMode="auto">
          <a:xfrm>
            <a:off x="5796136" y="4077072"/>
            <a:ext cx="2232248" cy="1296144"/>
          </a:xfrm>
          <a:prstGeom prst="roundRect">
            <a:avLst/>
          </a:prstGeom>
          <a:solidFill>
            <a:schemeClr val="accent1"/>
          </a:solidFill>
          <a:ln w="9525" cap="flat" cmpd="sng" algn="ctr">
            <a:solidFill>
              <a:schemeClr val="tx1"/>
            </a:solidFill>
            <a:prstDash val="solid"/>
            <a:miter lim="800000"/>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rtlCol="0" anchor="t" anchorCtr="0" compatLnSpc="1">
            <a:prstTxWarp prst="textNoShape">
              <a:avLst/>
            </a:prstTxWarp>
          </a:bodyPr>
          <a:lstStyle/>
          <a:p>
            <a:pPr marL="0" marR="0" indent="0" algn="ctr" defTabSz="914400" rtl="0" eaLnBrk="1" fontAlgn="base" latinLnBrk="0" hangingPunct="1">
              <a:lnSpc>
                <a:spcPct val="150000"/>
              </a:lnSpc>
              <a:spcBef>
                <a:spcPct val="0"/>
              </a:spcBef>
              <a:spcAft>
                <a:spcPct val="0"/>
              </a:spcAft>
              <a:buClrTx/>
              <a:buSzTx/>
              <a:buFontTx/>
              <a:buNone/>
              <a:tabLst/>
            </a:pPr>
            <a:r>
              <a:rPr lang="zh-CN" altLang="en-US" sz="4000" dirty="0" smtClean="0"/>
              <a:t>机器翻译</a:t>
            </a:r>
            <a:endParaRPr kumimoji="0" lang="zh-CN" altLang="en-US" sz="4000" i="0" u="none" strike="noStrike" cap="none" normalizeH="0" baseline="0" dirty="0" smtClean="0">
              <a:ln>
                <a:noFill/>
              </a:ln>
              <a:solidFill>
                <a:schemeClr val="tx1"/>
              </a:solidFill>
              <a:effectLst/>
              <a:latin typeface="Arial" pitchFamily="34" charset="0"/>
            </a:endParaRPr>
          </a:p>
        </p:txBody>
      </p:sp>
    </p:spTree>
    <p:extLst>
      <p:ext uri="{BB962C8B-B14F-4D97-AF65-F5344CB8AC3E}">
        <p14:creationId xmlns:p14="http://schemas.microsoft.com/office/powerpoint/2010/main" val="1446970926"/>
      </p:ext>
    </p:extLst>
  </p:cSld>
  <p:clrMapOvr>
    <a:masterClrMapping/>
  </p:clrMapOvr>
  <p:transition spd="slow">
    <p:circle/>
  </p:transition>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传统方法与大数据方法</a:t>
            </a:r>
            <a:endParaRPr lang="zh-CN" altLang="en-US" dirty="0"/>
          </a:p>
        </p:txBody>
      </p:sp>
      <p:pic>
        <p:nvPicPr>
          <p:cNvPr id="3" name="图片 2"/>
          <p:cNvPicPr>
            <a:picLocks noChangeAspect="1"/>
          </p:cNvPicPr>
          <p:nvPr/>
        </p:nvPicPr>
        <p:blipFill>
          <a:blip r:embed="rId2"/>
          <a:stretch>
            <a:fillRect/>
          </a:stretch>
        </p:blipFill>
        <p:spPr>
          <a:xfrm>
            <a:off x="899592" y="1196752"/>
            <a:ext cx="6930770" cy="4642621"/>
          </a:xfrm>
          <a:prstGeom prst="rect">
            <a:avLst/>
          </a:prstGeom>
        </p:spPr>
      </p:pic>
      <p:sp>
        <p:nvSpPr>
          <p:cNvPr id="4" name="矩形 3"/>
          <p:cNvSpPr/>
          <p:nvPr/>
        </p:nvSpPr>
        <p:spPr>
          <a:xfrm>
            <a:off x="2699792" y="6012369"/>
            <a:ext cx="4288353" cy="584775"/>
          </a:xfrm>
          <a:prstGeom prst="rect">
            <a:avLst/>
          </a:prstGeom>
        </p:spPr>
        <p:txBody>
          <a:bodyPr wrap="none">
            <a:spAutoFit/>
          </a:bodyPr>
          <a:lstStyle/>
          <a:p>
            <a:r>
              <a:rPr lang="zh-CN" altLang="en-US" sz="3200" dirty="0">
                <a:solidFill>
                  <a:srgbClr val="FF0000"/>
                </a:solidFill>
                <a:latin typeface="华文中宋" panose="02010600040101010101" pitchFamily="2" charset="-122"/>
                <a:ea typeface="华文中宋" panose="02010600040101010101" pitchFamily="2" charset="-122"/>
              </a:rPr>
              <a:t>简单计算超越复杂计算</a:t>
            </a:r>
          </a:p>
        </p:txBody>
      </p:sp>
    </p:spTree>
    <p:extLst>
      <p:ext uri="{BB962C8B-B14F-4D97-AF65-F5344CB8AC3E}">
        <p14:creationId xmlns:p14="http://schemas.microsoft.com/office/powerpoint/2010/main" val="1907053300"/>
      </p:ext>
    </p:extLst>
  </p:cSld>
  <p:clrMapOvr>
    <a:masterClrMapping/>
  </p:clrMapOvr>
  <p:transition spd="slow">
    <p:circle/>
  </p:transition>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如何认识</a:t>
            </a:r>
            <a:r>
              <a:rPr lang="zh-CN" altLang="en-US" dirty="0"/>
              <a:t>世界</a:t>
            </a:r>
          </a:p>
        </p:txBody>
      </p:sp>
      <p:sp>
        <p:nvSpPr>
          <p:cNvPr id="3" name="内容占位符 2"/>
          <p:cNvSpPr>
            <a:spLocks noGrp="1"/>
          </p:cNvSpPr>
          <p:nvPr>
            <p:ph idx="1"/>
          </p:nvPr>
        </p:nvSpPr>
        <p:spPr>
          <a:xfrm>
            <a:off x="457200" y="1052736"/>
            <a:ext cx="8435280" cy="5781834"/>
          </a:xfrm>
        </p:spPr>
        <p:txBody>
          <a:bodyPr/>
          <a:lstStyle/>
          <a:p>
            <a:pPr>
              <a:lnSpc>
                <a:spcPct val="200000"/>
              </a:lnSpc>
            </a:pPr>
            <a:r>
              <a:rPr lang="zh-CN" altLang="en-US" sz="2400" b="0" dirty="0" smtClean="0">
                <a:latin typeface="微软雅黑" panose="020B0503020204020204" pitchFamily="34" charset="-122"/>
                <a:ea typeface="微软雅黑" panose="020B0503020204020204" pitchFamily="34" charset="-122"/>
              </a:rPr>
              <a:t>改变认识论：理论认识世界、数据认识世界 ？</a:t>
            </a:r>
            <a:endParaRPr lang="en-US" altLang="zh-CN" sz="2400" b="0" dirty="0" smtClean="0">
              <a:latin typeface="微软雅黑" panose="020B0503020204020204" pitchFamily="34" charset="-122"/>
              <a:ea typeface="微软雅黑" panose="020B0503020204020204" pitchFamily="34" charset="-122"/>
            </a:endParaRPr>
          </a:p>
          <a:p>
            <a:pPr>
              <a:lnSpc>
                <a:spcPct val="200000"/>
              </a:lnSpc>
            </a:pPr>
            <a:r>
              <a:rPr lang="zh-CN" altLang="en-US" sz="2400" b="0" dirty="0" smtClean="0">
                <a:latin typeface="微软雅黑" panose="020B0503020204020204" pitchFamily="34" charset="-122"/>
                <a:ea typeface="微软雅黑" panose="020B0503020204020204" pitchFamily="34" charset="-122"/>
              </a:rPr>
              <a:t>白</a:t>
            </a:r>
            <a:r>
              <a:rPr lang="zh-CN" altLang="zh-CN" sz="2400" b="0" dirty="0" smtClean="0">
                <a:latin typeface="微软雅黑" panose="020B0503020204020204" pitchFamily="34" charset="-122"/>
                <a:ea typeface="微软雅黑" panose="020B0503020204020204" pitchFamily="34" charset="-122"/>
              </a:rPr>
              <a:t>天鹅</a:t>
            </a:r>
            <a:r>
              <a:rPr lang="en-US" altLang="zh-CN" sz="2400" b="0" dirty="0">
                <a:latin typeface="微软雅黑" panose="020B0503020204020204" pitchFamily="34" charset="-122"/>
                <a:ea typeface="微软雅黑" panose="020B0503020204020204" pitchFamily="34" charset="-122"/>
              </a:rPr>
              <a:t>+</a:t>
            </a:r>
            <a:r>
              <a:rPr lang="zh-CN" altLang="zh-CN" sz="2400" b="0" dirty="0">
                <a:latin typeface="微软雅黑" panose="020B0503020204020204" pitchFamily="34" charset="-122"/>
                <a:ea typeface="微软雅黑" panose="020B0503020204020204" pitchFamily="34" charset="-122"/>
              </a:rPr>
              <a:t>黑</a:t>
            </a:r>
            <a:r>
              <a:rPr lang="zh-CN" altLang="zh-CN" sz="2400" b="0" dirty="0" smtClean="0">
                <a:latin typeface="微软雅黑" panose="020B0503020204020204" pitchFamily="34" charset="-122"/>
                <a:ea typeface="微软雅黑" panose="020B0503020204020204" pitchFamily="34" charset="-122"/>
              </a:rPr>
              <a:t>天鹅</a:t>
            </a:r>
            <a:r>
              <a:rPr lang="en-US" altLang="zh-CN" sz="2400" b="0" dirty="0" smtClean="0">
                <a:latin typeface="微软雅黑" panose="020B0503020204020204" pitchFamily="34" charset="-122"/>
                <a:ea typeface="微软雅黑" panose="020B0503020204020204" pitchFamily="34" charset="-122"/>
              </a:rPr>
              <a:t> </a:t>
            </a:r>
            <a:r>
              <a:rPr lang="zh-CN" altLang="en-US" sz="2400" b="0" dirty="0" smtClean="0">
                <a:latin typeface="微软雅黑" panose="020B0503020204020204" pitchFamily="34" charset="-122"/>
                <a:ea typeface="微软雅黑" panose="020B0503020204020204" pitchFamily="34" charset="-122"/>
              </a:rPr>
              <a:t>（</a:t>
            </a:r>
            <a:r>
              <a:rPr lang="en-US" altLang="zh-CN" sz="2400" b="0" dirty="0" smtClean="0">
                <a:latin typeface="微软雅黑" panose="020B0503020204020204" pitchFamily="34" charset="-122"/>
                <a:ea typeface="微软雅黑" panose="020B0503020204020204" pitchFamily="34" charset="-122"/>
              </a:rPr>
              <a:t>1697</a:t>
            </a:r>
            <a:r>
              <a:rPr lang="zh-CN" altLang="en-US" sz="2400" b="0" dirty="0" smtClean="0">
                <a:latin typeface="微软雅黑" panose="020B0503020204020204" pitchFamily="34" charset="-122"/>
                <a:ea typeface="微软雅黑" panose="020B0503020204020204" pitchFamily="34" charset="-122"/>
              </a:rPr>
              <a:t>）</a:t>
            </a:r>
            <a:r>
              <a:rPr lang="en-US" altLang="zh-CN" sz="2400" b="0" dirty="0" smtClean="0">
                <a:latin typeface="微软雅黑" panose="020B0503020204020204" pitchFamily="34" charset="-122"/>
                <a:ea typeface="微软雅黑" panose="020B0503020204020204" pitchFamily="34" charset="-122"/>
              </a:rPr>
              <a:t>   </a:t>
            </a:r>
            <a:r>
              <a:rPr lang="zh-CN" altLang="en-US" sz="2400" b="0" dirty="0" smtClean="0">
                <a:solidFill>
                  <a:srgbClr val="FF0000"/>
                </a:solidFill>
                <a:latin typeface="微软雅黑" panose="020B0503020204020204" pitchFamily="34" charset="-122"/>
                <a:ea typeface="微软雅黑" panose="020B0503020204020204" pitchFamily="34" charset="-122"/>
              </a:rPr>
              <a:t>经验知识也许是可怕的！</a:t>
            </a:r>
            <a:endParaRPr lang="en-US" altLang="zh-CN" sz="2400" b="0" dirty="0">
              <a:solidFill>
                <a:srgbClr val="FF0000"/>
              </a:solidFill>
              <a:latin typeface="微软雅黑" panose="020B0503020204020204" pitchFamily="34" charset="-122"/>
              <a:ea typeface="微软雅黑" panose="020B0503020204020204" pitchFamily="34" charset="-122"/>
            </a:endParaRPr>
          </a:p>
          <a:p>
            <a:pPr>
              <a:lnSpc>
                <a:spcPct val="200000"/>
              </a:lnSpc>
            </a:pPr>
            <a:r>
              <a:rPr lang="zh-CN" altLang="zh-CN" sz="2400" b="0" dirty="0">
                <a:latin typeface="微软雅黑" panose="020B0503020204020204" pitchFamily="34" charset="-122"/>
                <a:ea typeface="微软雅黑" panose="020B0503020204020204" pitchFamily="34" charset="-122"/>
              </a:rPr>
              <a:t>认识者获得的不是对象本身绝对映像，而是离开对象，从对象中抽象出、关于</a:t>
            </a:r>
            <a:r>
              <a:rPr lang="zh-CN" altLang="en-US" sz="2400" b="0" dirty="0">
                <a:latin typeface="微软雅黑" panose="020B0503020204020204" pitchFamily="34" charset="-122"/>
                <a:ea typeface="微软雅黑" panose="020B0503020204020204" pitchFamily="34" charset="-122"/>
              </a:rPr>
              <a:t>其</a:t>
            </a:r>
            <a:r>
              <a:rPr lang="zh-CN" altLang="zh-CN" sz="2400" b="0" dirty="0">
                <a:latin typeface="微软雅黑" panose="020B0503020204020204" pitchFamily="34" charset="-122"/>
                <a:ea typeface="微软雅黑" panose="020B0503020204020204" pitchFamily="34" charset="-122"/>
              </a:rPr>
              <a:t>运动轨迹</a:t>
            </a:r>
            <a:r>
              <a:rPr lang="zh-CN" altLang="en-US" sz="2400" b="0" dirty="0">
                <a:latin typeface="微软雅黑" panose="020B0503020204020204" pitchFamily="34" charset="-122"/>
                <a:ea typeface="微软雅黑" panose="020B0503020204020204" pitchFamily="34" charset="-122"/>
              </a:rPr>
              <a:t>的</a:t>
            </a:r>
            <a:r>
              <a:rPr lang="zh-CN" altLang="zh-CN" sz="2400" b="0" dirty="0">
                <a:latin typeface="微软雅黑" panose="020B0503020204020204" pitchFamily="34" charset="-122"/>
                <a:ea typeface="微软雅黑" panose="020B0503020204020204" pitchFamily="34" charset="-122"/>
              </a:rPr>
              <a:t>数据</a:t>
            </a:r>
            <a:endParaRPr lang="en-US" altLang="zh-CN" sz="2400" b="0" dirty="0">
              <a:latin typeface="微软雅黑" panose="020B0503020204020204" pitchFamily="34" charset="-122"/>
              <a:ea typeface="微软雅黑" panose="020B0503020204020204" pitchFamily="34" charset="-122"/>
            </a:endParaRPr>
          </a:p>
          <a:p>
            <a:pPr>
              <a:lnSpc>
                <a:spcPct val="200000"/>
              </a:lnSpc>
            </a:pPr>
            <a:r>
              <a:rPr lang="zh-CN" altLang="zh-CN" sz="2400" b="0" dirty="0" smtClean="0">
                <a:latin typeface="微软雅黑" panose="020B0503020204020204" pitchFamily="34" charset="-122"/>
                <a:ea typeface="微软雅黑" panose="020B0503020204020204" pitchFamily="34" charset="-122"/>
              </a:rPr>
              <a:t>数据</a:t>
            </a:r>
            <a:r>
              <a:rPr lang="zh-CN" altLang="zh-CN" sz="2400" b="0" dirty="0">
                <a:latin typeface="微软雅黑" panose="020B0503020204020204" pitchFamily="34" charset="-122"/>
                <a:ea typeface="微软雅黑" panose="020B0503020204020204" pitchFamily="34" charset="-122"/>
              </a:rPr>
              <a:t>反映的是具有同构关系的两个序列的关系信息，一个对象的运动轨迹，通过另一个序列的载体编码来表达</a:t>
            </a:r>
            <a:r>
              <a:rPr lang="zh-CN" altLang="zh-CN" sz="2400" b="0" dirty="0" smtClean="0">
                <a:latin typeface="微软雅黑" panose="020B0503020204020204" pitchFamily="34" charset="-122"/>
                <a:ea typeface="微软雅黑" panose="020B0503020204020204" pitchFamily="34" charset="-122"/>
              </a:rPr>
              <a:t>。</a:t>
            </a:r>
            <a:endParaRPr lang="en-US" altLang="zh-CN" sz="2400" b="0" dirty="0" smtClean="0">
              <a:latin typeface="微软雅黑" panose="020B0503020204020204" pitchFamily="34" charset="-122"/>
              <a:ea typeface="微软雅黑" panose="020B0503020204020204" pitchFamily="34" charset="-122"/>
            </a:endParaRPr>
          </a:p>
          <a:p>
            <a:pPr>
              <a:lnSpc>
                <a:spcPct val="200000"/>
              </a:lnSpc>
            </a:pPr>
            <a:r>
              <a:rPr lang="zh-CN" altLang="zh-CN" sz="2400" b="0" dirty="0" smtClean="0">
                <a:latin typeface="微软雅黑" panose="020B0503020204020204" pitchFamily="34" charset="-122"/>
                <a:ea typeface="微软雅黑" panose="020B0503020204020204" pitchFamily="34" charset="-122"/>
              </a:rPr>
              <a:t>同构</a:t>
            </a:r>
            <a:r>
              <a:rPr lang="zh-CN" altLang="zh-CN" sz="2400" b="0" dirty="0">
                <a:latin typeface="微软雅黑" panose="020B0503020204020204" pitchFamily="34" charset="-122"/>
                <a:ea typeface="微软雅黑" panose="020B0503020204020204" pitchFamily="34" charset="-122"/>
              </a:rPr>
              <a:t>关系是大数据的数理哲学基础</a:t>
            </a:r>
            <a:endParaRPr lang="zh-CN" altLang="en-US" sz="2400" b="0" dirty="0">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4117538823"/>
      </p:ext>
    </p:extLst>
  </p:cSld>
  <p:clrMapOvr>
    <a:masterClrMapping/>
  </p:clrMapOvr>
  <p:transition spd="slow">
    <p:circle/>
  </p:transition>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本框 4">
            <a:extLst>
              <a:ext uri="{FF2B5EF4-FFF2-40B4-BE49-F238E27FC236}">
                <a16:creationId xmlns:a16="http://schemas.microsoft.com/office/drawing/2014/main" id="{81D1A8D4-A673-4A3B-8AB4-E1C064BCB58F}"/>
              </a:ext>
            </a:extLst>
          </p:cNvPr>
          <p:cNvSpPr txBox="1"/>
          <p:nvPr/>
        </p:nvSpPr>
        <p:spPr>
          <a:xfrm>
            <a:off x="1331640" y="2961743"/>
            <a:ext cx="6264696" cy="923330"/>
          </a:xfrm>
          <a:prstGeom prst="rect">
            <a:avLst/>
          </a:prstGeom>
          <a:noFill/>
        </p:spPr>
        <p:txBody>
          <a:bodyPr wrap="square" rtlCol="0">
            <a:spAutoFit/>
          </a:bodyPr>
          <a:lstStyle>
            <a:defPPr>
              <a:defRPr lang="zh-CN"/>
            </a:defPPr>
            <a:lvl1pPr algn="ctr">
              <a:defRPr sz="5400" b="0">
                <a:solidFill>
                  <a:srgbClr val="FF0000"/>
                </a:solidFill>
                <a:latin typeface="微软雅黑" panose="020B0503020204020204" pitchFamily="34" charset="-122"/>
                <a:ea typeface="微软雅黑" panose="020B0503020204020204" pitchFamily="34" charset="-122"/>
              </a:defRPr>
            </a:lvl1pPr>
          </a:lstStyle>
          <a:p>
            <a:r>
              <a:rPr lang="en-US" altLang="zh-CN" dirty="0" smtClean="0"/>
              <a:t>5. </a:t>
            </a:r>
            <a:r>
              <a:rPr lang="zh-CN" altLang="en-US" dirty="0" smtClean="0"/>
              <a:t>大数据分析</a:t>
            </a:r>
            <a:endParaRPr lang="zh-CN" altLang="en-US" dirty="0"/>
          </a:p>
        </p:txBody>
      </p:sp>
      <p:sp>
        <p:nvSpPr>
          <p:cNvPr id="6" name="Freeform 14">
            <a:extLst>
              <a:ext uri="{FF2B5EF4-FFF2-40B4-BE49-F238E27FC236}">
                <a16:creationId xmlns:a16="http://schemas.microsoft.com/office/drawing/2014/main" id="{B602F2C2-90ED-4AB6-9B44-1F7F2F037278}"/>
              </a:ext>
            </a:extLst>
          </p:cNvPr>
          <p:cNvSpPr/>
          <p:nvPr/>
        </p:nvSpPr>
        <p:spPr>
          <a:xfrm>
            <a:off x="4053105" y="1407496"/>
            <a:ext cx="1108861" cy="1039289"/>
          </a:xfrm>
          <a:custGeom>
            <a:avLst/>
            <a:gdLst>
              <a:gd name="connsiteX0" fmla="*/ 388426 w 607282"/>
              <a:gd name="connsiteY0" fmla="*/ 385710 h 569180"/>
              <a:gd name="connsiteX1" fmla="*/ 431276 w 607282"/>
              <a:gd name="connsiteY1" fmla="*/ 385710 h 569180"/>
              <a:gd name="connsiteX2" fmla="*/ 431276 w 607282"/>
              <a:gd name="connsiteY2" fmla="*/ 438433 h 569180"/>
              <a:gd name="connsiteX3" fmla="*/ 522771 w 607282"/>
              <a:gd name="connsiteY3" fmla="*/ 529738 h 569180"/>
              <a:gd name="connsiteX4" fmla="*/ 522771 w 607282"/>
              <a:gd name="connsiteY4" fmla="*/ 559964 h 569180"/>
              <a:gd name="connsiteX5" fmla="*/ 492483 w 607282"/>
              <a:gd name="connsiteY5" fmla="*/ 559964 h 569180"/>
              <a:gd name="connsiteX6" fmla="*/ 431276 w 607282"/>
              <a:gd name="connsiteY6" fmla="*/ 498941 h 569180"/>
              <a:gd name="connsiteX7" fmla="*/ 431276 w 607282"/>
              <a:gd name="connsiteY7" fmla="*/ 547771 h 569180"/>
              <a:gd name="connsiteX8" fmla="*/ 409822 w 607282"/>
              <a:gd name="connsiteY8" fmla="*/ 569180 h 569180"/>
              <a:gd name="connsiteX9" fmla="*/ 388426 w 607282"/>
              <a:gd name="connsiteY9" fmla="*/ 547771 h 569180"/>
              <a:gd name="connsiteX10" fmla="*/ 388426 w 607282"/>
              <a:gd name="connsiteY10" fmla="*/ 498941 h 569180"/>
              <a:gd name="connsiteX11" fmla="*/ 327276 w 607282"/>
              <a:gd name="connsiteY11" fmla="*/ 559964 h 569180"/>
              <a:gd name="connsiteX12" fmla="*/ 296988 w 607282"/>
              <a:gd name="connsiteY12" fmla="*/ 559964 h 569180"/>
              <a:gd name="connsiteX13" fmla="*/ 296988 w 607282"/>
              <a:gd name="connsiteY13" fmla="*/ 529738 h 569180"/>
              <a:gd name="connsiteX14" fmla="*/ 296931 w 607282"/>
              <a:gd name="connsiteY14" fmla="*/ 529738 h 569180"/>
              <a:gd name="connsiteX15" fmla="*/ 388426 w 607282"/>
              <a:gd name="connsiteY15" fmla="*/ 438433 h 569180"/>
              <a:gd name="connsiteX16" fmla="*/ 388426 w 607282"/>
              <a:gd name="connsiteY16" fmla="*/ 434597 h 569180"/>
              <a:gd name="connsiteX17" fmla="*/ 38140 w 607282"/>
              <a:gd name="connsiteY17" fmla="*/ 145929 h 569180"/>
              <a:gd name="connsiteX18" fmla="*/ 38255 w 607282"/>
              <a:gd name="connsiteY18" fmla="*/ 145929 h 569180"/>
              <a:gd name="connsiteX19" fmla="*/ 66358 w 607282"/>
              <a:gd name="connsiteY19" fmla="*/ 145929 h 569180"/>
              <a:gd name="connsiteX20" fmla="*/ 68767 w 607282"/>
              <a:gd name="connsiteY20" fmla="*/ 161160 h 569180"/>
              <a:gd name="connsiteX21" fmla="*/ 76453 w 607282"/>
              <a:gd name="connsiteY21" fmla="*/ 208857 h 569180"/>
              <a:gd name="connsiteX22" fmla="*/ 82589 w 607282"/>
              <a:gd name="connsiteY22" fmla="*/ 246763 h 569180"/>
              <a:gd name="connsiteX23" fmla="*/ 92684 w 607282"/>
              <a:gd name="connsiteY23" fmla="*/ 246763 h 569180"/>
              <a:gd name="connsiteX24" fmla="*/ 99222 w 607282"/>
              <a:gd name="connsiteY24" fmla="*/ 172898 h 569180"/>
              <a:gd name="connsiteX25" fmla="*/ 91594 w 607282"/>
              <a:gd name="connsiteY25" fmla="*/ 145929 h 569180"/>
              <a:gd name="connsiteX26" fmla="*/ 136502 w 607282"/>
              <a:gd name="connsiteY26" fmla="*/ 145929 h 569180"/>
              <a:gd name="connsiteX27" fmla="*/ 128874 w 607282"/>
              <a:gd name="connsiteY27" fmla="*/ 172898 h 569180"/>
              <a:gd name="connsiteX28" fmla="*/ 135355 w 607282"/>
              <a:gd name="connsiteY28" fmla="*/ 246763 h 569180"/>
              <a:gd name="connsiteX29" fmla="*/ 145507 w 607282"/>
              <a:gd name="connsiteY29" fmla="*/ 246763 h 569180"/>
              <a:gd name="connsiteX30" fmla="*/ 153192 w 607282"/>
              <a:gd name="connsiteY30" fmla="*/ 198780 h 569180"/>
              <a:gd name="connsiteX31" fmla="*/ 161738 w 607282"/>
              <a:gd name="connsiteY31" fmla="*/ 145929 h 569180"/>
              <a:gd name="connsiteX32" fmla="*/ 336094 w 607282"/>
              <a:gd name="connsiteY32" fmla="*/ 145929 h 569180"/>
              <a:gd name="connsiteX33" fmla="*/ 374349 w 607282"/>
              <a:gd name="connsiteY33" fmla="*/ 184121 h 569180"/>
              <a:gd name="connsiteX34" fmla="*/ 336094 w 607282"/>
              <a:gd name="connsiteY34" fmla="*/ 222256 h 569180"/>
              <a:gd name="connsiteX35" fmla="*/ 189841 w 607282"/>
              <a:gd name="connsiteY35" fmla="*/ 222256 h 569180"/>
              <a:gd name="connsiteX36" fmla="*/ 189841 w 607282"/>
              <a:gd name="connsiteY36" fmla="*/ 298011 h 569180"/>
              <a:gd name="connsiteX37" fmla="*/ 189841 w 607282"/>
              <a:gd name="connsiteY37" fmla="*/ 365807 h 569180"/>
              <a:gd name="connsiteX38" fmla="*/ 189841 w 607282"/>
              <a:gd name="connsiteY38" fmla="*/ 528081 h 569180"/>
              <a:gd name="connsiteX39" fmla="*/ 151586 w 607282"/>
              <a:gd name="connsiteY39" fmla="*/ 566216 h 569180"/>
              <a:gd name="connsiteX40" fmla="*/ 114019 w 607282"/>
              <a:gd name="connsiteY40" fmla="*/ 535239 h 569180"/>
              <a:gd name="connsiteX41" fmla="*/ 76453 w 607282"/>
              <a:gd name="connsiteY41" fmla="*/ 566216 h 569180"/>
              <a:gd name="connsiteX42" fmla="*/ 38255 w 607282"/>
              <a:gd name="connsiteY42" fmla="*/ 528081 h 569180"/>
              <a:gd name="connsiteX43" fmla="*/ 38255 w 607282"/>
              <a:gd name="connsiteY43" fmla="*/ 384874 h 569180"/>
              <a:gd name="connsiteX44" fmla="*/ 0 w 607282"/>
              <a:gd name="connsiteY44" fmla="*/ 346739 h 569180"/>
              <a:gd name="connsiteX45" fmla="*/ 0 w 607282"/>
              <a:gd name="connsiteY45" fmla="*/ 184121 h 569180"/>
              <a:gd name="connsiteX46" fmla="*/ 38140 w 607282"/>
              <a:gd name="connsiteY46" fmla="*/ 145929 h 569180"/>
              <a:gd name="connsiteX47" fmla="*/ 545532 w 607282"/>
              <a:gd name="connsiteY47" fmla="*/ 89195 h 569180"/>
              <a:gd name="connsiteX48" fmla="*/ 587343 w 607282"/>
              <a:gd name="connsiteY48" fmla="*/ 89195 h 569180"/>
              <a:gd name="connsiteX49" fmla="*/ 587343 w 607282"/>
              <a:gd name="connsiteY49" fmla="*/ 124061 h 569180"/>
              <a:gd name="connsiteX50" fmla="*/ 587228 w 607282"/>
              <a:gd name="connsiteY50" fmla="*/ 124061 h 569180"/>
              <a:gd name="connsiteX51" fmla="*/ 587343 w 607282"/>
              <a:gd name="connsiteY51" fmla="*/ 324787 h 569180"/>
              <a:gd name="connsiteX52" fmla="*/ 541403 w 607282"/>
              <a:gd name="connsiteY52" fmla="*/ 370989 h 569180"/>
              <a:gd name="connsiteX53" fmla="*/ 278325 w 607282"/>
              <a:gd name="connsiteY53" fmla="*/ 370531 h 569180"/>
              <a:gd name="connsiteX54" fmla="*/ 233131 w 607282"/>
              <a:gd name="connsiteY54" fmla="*/ 331027 h 569180"/>
              <a:gd name="connsiteX55" fmla="*/ 232729 w 607282"/>
              <a:gd name="connsiteY55" fmla="*/ 233012 h 569180"/>
              <a:gd name="connsiteX56" fmla="*/ 272475 w 607282"/>
              <a:gd name="connsiteY56" fmla="*/ 233012 h 569180"/>
              <a:gd name="connsiteX57" fmla="*/ 272475 w 607282"/>
              <a:gd name="connsiteY57" fmla="*/ 330340 h 569180"/>
              <a:gd name="connsiteX58" fmla="*/ 545532 w 607282"/>
              <a:gd name="connsiteY58" fmla="*/ 329997 h 569180"/>
              <a:gd name="connsiteX59" fmla="*/ 545532 w 607282"/>
              <a:gd name="connsiteY59" fmla="*/ 124061 h 569180"/>
              <a:gd name="connsiteX60" fmla="*/ 231948 w 607282"/>
              <a:gd name="connsiteY60" fmla="*/ 89124 h 569180"/>
              <a:gd name="connsiteX61" fmla="*/ 273793 w 607282"/>
              <a:gd name="connsiteY61" fmla="*/ 89124 h 569180"/>
              <a:gd name="connsiteX62" fmla="*/ 273793 w 607282"/>
              <a:gd name="connsiteY62" fmla="*/ 135062 h 569180"/>
              <a:gd name="connsiteX63" fmla="*/ 272240 w 607282"/>
              <a:gd name="connsiteY63" fmla="*/ 135062 h 569180"/>
              <a:gd name="connsiteX64" fmla="*/ 233571 w 607282"/>
              <a:gd name="connsiteY64" fmla="*/ 135062 h 569180"/>
              <a:gd name="connsiteX65" fmla="*/ 231948 w 607282"/>
              <a:gd name="connsiteY65" fmla="*/ 135062 h 569180"/>
              <a:gd name="connsiteX66" fmla="*/ 409822 w 607282"/>
              <a:gd name="connsiteY66" fmla="*/ 10232 h 569180"/>
              <a:gd name="connsiteX67" fmla="*/ 437925 w 607282"/>
              <a:gd name="connsiteY67" fmla="*/ 35771 h 569180"/>
              <a:gd name="connsiteX68" fmla="*/ 447503 w 607282"/>
              <a:gd name="connsiteY68" fmla="*/ 35771 h 569180"/>
              <a:gd name="connsiteX69" fmla="*/ 578958 w 607282"/>
              <a:gd name="connsiteY69" fmla="*/ 35828 h 569180"/>
              <a:gd name="connsiteX70" fmla="*/ 593009 w 607282"/>
              <a:gd name="connsiteY70" fmla="*/ 37031 h 569180"/>
              <a:gd name="connsiteX71" fmla="*/ 607233 w 607282"/>
              <a:gd name="connsiteY71" fmla="*/ 57874 h 569180"/>
              <a:gd name="connsiteX72" fmla="*/ 587159 w 607282"/>
              <a:gd name="connsiteY72" fmla="*/ 76828 h 569180"/>
              <a:gd name="connsiteX73" fmla="*/ 579244 w 607282"/>
              <a:gd name="connsiteY73" fmla="*/ 76885 h 569180"/>
              <a:gd name="connsiteX74" fmla="*/ 241776 w 607282"/>
              <a:gd name="connsiteY74" fmla="*/ 76885 h 569180"/>
              <a:gd name="connsiteX75" fmla="*/ 233861 w 607282"/>
              <a:gd name="connsiteY75" fmla="*/ 76828 h 569180"/>
              <a:gd name="connsiteX76" fmla="*/ 212984 w 607282"/>
              <a:gd name="connsiteY76" fmla="*/ 56672 h 569180"/>
              <a:gd name="connsiteX77" fmla="*/ 233287 w 607282"/>
              <a:gd name="connsiteY77" fmla="*/ 35943 h 569180"/>
              <a:gd name="connsiteX78" fmla="*/ 244357 w 607282"/>
              <a:gd name="connsiteY78" fmla="*/ 35771 h 569180"/>
              <a:gd name="connsiteX79" fmla="*/ 371108 w 607282"/>
              <a:gd name="connsiteY79" fmla="*/ 35771 h 569180"/>
              <a:gd name="connsiteX80" fmla="*/ 381661 w 607282"/>
              <a:gd name="connsiteY80" fmla="*/ 35771 h 569180"/>
              <a:gd name="connsiteX81" fmla="*/ 409822 w 607282"/>
              <a:gd name="connsiteY81" fmla="*/ 10232 h 569180"/>
              <a:gd name="connsiteX82" fmla="*/ 114034 w 607282"/>
              <a:gd name="connsiteY82" fmla="*/ 0 h 569180"/>
              <a:gd name="connsiteX83" fmla="*/ 182130 w 607282"/>
              <a:gd name="connsiteY83" fmla="*/ 67990 h 569180"/>
              <a:gd name="connsiteX84" fmla="*/ 114034 w 607282"/>
              <a:gd name="connsiteY84" fmla="*/ 135980 h 569180"/>
              <a:gd name="connsiteX85" fmla="*/ 45938 w 607282"/>
              <a:gd name="connsiteY85" fmla="*/ 67990 h 569180"/>
              <a:gd name="connsiteX86" fmla="*/ 114034 w 607282"/>
              <a:gd name="connsiteY86" fmla="*/ 0 h 5691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Lst>
            <a:rect l="l" t="t" r="r" b="b"/>
            <a:pathLst>
              <a:path w="607282" h="569180">
                <a:moveTo>
                  <a:pt x="388426" y="385710"/>
                </a:moveTo>
                <a:lnTo>
                  <a:pt x="431276" y="385710"/>
                </a:lnTo>
                <a:lnTo>
                  <a:pt x="431276" y="438433"/>
                </a:lnTo>
                <a:lnTo>
                  <a:pt x="522771" y="529738"/>
                </a:lnTo>
                <a:cubicBezTo>
                  <a:pt x="531146" y="538096"/>
                  <a:pt x="531146" y="551606"/>
                  <a:pt x="522771" y="559964"/>
                </a:cubicBezTo>
                <a:cubicBezTo>
                  <a:pt x="514396" y="568321"/>
                  <a:pt x="500858" y="568321"/>
                  <a:pt x="492483" y="559964"/>
                </a:cubicBezTo>
                <a:lnTo>
                  <a:pt x="431276" y="498941"/>
                </a:lnTo>
                <a:lnTo>
                  <a:pt x="431276" y="547771"/>
                </a:lnTo>
                <a:cubicBezTo>
                  <a:pt x="431276" y="559563"/>
                  <a:pt x="421697" y="569180"/>
                  <a:pt x="409822" y="569180"/>
                </a:cubicBezTo>
                <a:cubicBezTo>
                  <a:pt x="398005" y="569180"/>
                  <a:pt x="388426" y="559563"/>
                  <a:pt x="388426" y="547771"/>
                </a:cubicBezTo>
                <a:lnTo>
                  <a:pt x="388426" y="498941"/>
                </a:lnTo>
                <a:lnTo>
                  <a:pt x="327276" y="559964"/>
                </a:lnTo>
                <a:cubicBezTo>
                  <a:pt x="318901" y="568321"/>
                  <a:pt x="305306" y="568321"/>
                  <a:pt x="296988" y="559964"/>
                </a:cubicBezTo>
                <a:cubicBezTo>
                  <a:pt x="288613" y="551606"/>
                  <a:pt x="288613" y="538096"/>
                  <a:pt x="296988" y="529738"/>
                </a:cubicBezTo>
                <a:lnTo>
                  <a:pt x="296931" y="529738"/>
                </a:lnTo>
                <a:lnTo>
                  <a:pt x="388426" y="438433"/>
                </a:lnTo>
                <a:lnTo>
                  <a:pt x="388426" y="434597"/>
                </a:lnTo>
                <a:close/>
                <a:moveTo>
                  <a:pt x="38140" y="145929"/>
                </a:moveTo>
                <a:lnTo>
                  <a:pt x="38255" y="145929"/>
                </a:lnTo>
                <a:lnTo>
                  <a:pt x="66358" y="145929"/>
                </a:lnTo>
                <a:lnTo>
                  <a:pt x="68767" y="161160"/>
                </a:lnTo>
                <a:lnTo>
                  <a:pt x="76453" y="208857"/>
                </a:lnTo>
                <a:lnTo>
                  <a:pt x="82589" y="246763"/>
                </a:lnTo>
                <a:lnTo>
                  <a:pt x="92684" y="246763"/>
                </a:lnTo>
                <a:lnTo>
                  <a:pt x="99222" y="172898"/>
                </a:lnTo>
                <a:lnTo>
                  <a:pt x="91594" y="145929"/>
                </a:lnTo>
                <a:lnTo>
                  <a:pt x="136502" y="145929"/>
                </a:lnTo>
                <a:lnTo>
                  <a:pt x="128874" y="172898"/>
                </a:lnTo>
                <a:lnTo>
                  <a:pt x="135355" y="246763"/>
                </a:lnTo>
                <a:lnTo>
                  <a:pt x="145507" y="246763"/>
                </a:lnTo>
                <a:lnTo>
                  <a:pt x="153192" y="198780"/>
                </a:lnTo>
                <a:lnTo>
                  <a:pt x="161738" y="145929"/>
                </a:lnTo>
                <a:lnTo>
                  <a:pt x="336094" y="145929"/>
                </a:lnTo>
                <a:cubicBezTo>
                  <a:pt x="357200" y="145929"/>
                  <a:pt x="374349" y="162992"/>
                  <a:pt x="374349" y="184121"/>
                </a:cubicBezTo>
                <a:cubicBezTo>
                  <a:pt x="374349" y="205193"/>
                  <a:pt x="357200" y="222256"/>
                  <a:pt x="336094" y="222256"/>
                </a:cubicBezTo>
                <a:lnTo>
                  <a:pt x="189841" y="222256"/>
                </a:lnTo>
                <a:lnTo>
                  <a:pt x="189841" y="298011"/>
                </a:lnTo>
                <a:lnTo>
                  <a:pt x="189841" y="365807"/>
                </a:lnTo>
                <a:lnTo>
                  <a:pt x="189841" y="528081"/>
                </a:lnTo>
                <a:cubicBezTo>
                  <a:pt x="189841" y="549153"/>
                  <a:pt x="172692" y="566216"/>
                  <a:pt x="151586" y="566216"/>
                </a:cubicBezTo>
                <a:cubicBezTo>
                  <a:pt x="132889" y="566216"/>
                  <a:pt x="117403" y="552875"/>
                  <a:pt x="114019" y="535239"/>
                </a:cubicBezTo>
                <a:cubicBezTo>
                  <a:pt x="110693" y="552875"/>
                  <a:pt x="95150" y="566216"/>
                  <a:pt x="76453" y="566216"/>
                </a:cubicBezTo>
                <a:cubicBezTo>
                  <a:pt x="55346" y="566216"/>
                  <a:pt x="38255" y="549153"/>
                  <a:pt x="38255" y="528081"/>
                </a:cubicBezTo>
                <a:lnTo>
                  <a:pt x="38255" y="384874"/>
                </a:lnTo>
                <a:cubicBezTo>
                  <a:pt x="17091" y="384874"/>
                  <a:pt x="0" y="367811"/>
                  <a:pt x="0" y="346739"/>
                </a:cubicBezTo>
                <a:lnTo>
                  <a:pt x="0" y="184121"/>
                </a:lnTo>
                <a:cubicBezTo>
                  <a:pt x="0" y="163050"/>
                  <a:pt x="17091" y="145986"/>
                  <a:pt x="38140" y="145929"/>
                </a:cubicBezTo>
                <a:close/>
                <a:moveTo>
                  <a:pt x="545532" y="89195"/>
                </a:moveTo>
                <a:lnTo>
                  <a:pt x="587343" y="89195"/>
                </a:lnTo>
                <a:lnTo>
                  <a:pt x="587343" y="124061"/>
                </a:lnTo>
                <a:lnTo>
                  <a:pt x="587228" y="124061"/>
                </a:lnTo>
                <a:cubicBezTo>
                  <a:pt x="587228" y="190989"/>
                  <a:pt x="587056" y="257859"/>
                  <a:pt x="587343" y="324787"/>
                </a:cubicBezTo>
                <a:cubicBezTo>
                  <a:pt x="587457" y="352669"/>
                  <a:pt x="567498" y="371104"/>
                  <a:pt x="541403" y="370989"/>
                </a:cubicBezTo>
                <a:cubicBezTo>
                  <a:pt x="453710" y="370646"/>
                  <a:pt x="366018" y="370703"/>
                  <a:pt x="278325" y="370531"/>
                </a:cubicBezTo>
                <a:cubicBezTo>
                  <a:pt x="255441" y="370474"/>
                  <a:pt x="234278" y="353527"/>
                  <a:pt x="233131" y="331027"/>
                </a:cubicBezTo>
                <a:cubicBezTo>
                  <a:pt x="231525" y="299024"/>
                  <a:pt x="232729" y="266905"/>
                  <a:pt x="232729" y="233012"/>
                </a:cubicBezTo>
                <a:lnTo>
                  <a:pt x="272475" y="233012"/>
                </a:lnTo>
                <a:lnTo>
                  <a:pt x="272475" y="330340"/>
                </a:lnTo>
                <a:cubicBezTo>
                  <a:pt x="364010" y="330512"/>
                  <a:pt x="453997" y="330398"/>
                  <a:pt x="545532" y="329997"/>
                </a:cubicBezTo>
                <a:lnTo>
                  <a:pt x="545532" y="124061"/>
                </a:lnTo>
                <a:close/>
                <a:moveTo>
                  <a:pt x="231948" y="89124"/>
                </a:moveTo>
                <a:lnTo>
                  <a:pt x="273793" y="89124"/>
                </a:lnTo>
                <a:lnTo>
                  <a:pt x="273793" y="135062"/>
                </a:lnTo>
                <a:lnTo>
                  <a:pt x="272240" y="135062"/>
                </a:lnTo>
                <a:lnTo>
                  <a:pt x="233571" y="135062"/>
                </a:lnTo>
                <a:lnTo>
                  <a:pt x="231948" y="135062"/>
                </a:lnTo>
                <a:close/>
                <a:moveTo>
                  <a:pt x="409822" y="10232"/>
                </a:moveTo>
                <a:cubicBezTo>
                  <a:pt x="424505" y="10232"/>
                  <a:pt x="436606" y="21455"/>
                  <a:pt x="437925" y="35771"/>
                </a:cubicBezTo>
                <a:lnTo>
                  <a:pt x="447503" y="35771"/>
                </a:lnTo>
                <a:cubicBezTo>
                  <a:pt x="491321" y="35771"/>
                  <a:pt x="535140" y="35771"/>
                  <a:pt x="578958" y="35828"/>
                </a:cubicBezTo>
                <a:cubicBezTo>
                  <a:pt x="583661" y="35828"/>
                  <a:pt x="588650" y="35599"/>
                  <a:pt x="593009" y="37031"/>
                </a:cubicBezTo>
                <a:cubicBezTo>
                  <a:pt x="601326" y="39665"/>
                  <a:pt x="607921" y="50144"/>
                  <a:pt x="607233" y="57874"/>
                </a:cubicBezTo>
                <a:cubicBezTo>
                  <a:pt x="606315" y="67380"/>
                  <a:pt x="597368" y="75912"/>
                  <a:pt x="587159" y="76828"/>
                </a:cubicBezTo>
                <a:cubicBezTo>
                  <a:pt x="584521" y="77057"/>
                  <a:pt x="581883" y="76885"/>
                  <a:pt x="579244" y="76885"/>
                </a:cubicBezTo>
                <a:cubicBezTo>
                  <a:pt x="466774" y="76885"/>
                  <a:pt x="354304" y="76885"/>
                  <a:pt x="241776" y="76885"/>
                </a:cubicBezTo>
                <a:cubicBezTo>
                  <a:pt x="239137" y="76885"/>
                  <a:pt x="236499" y="77057"/>
                  <a:pt x="233861" y="76828"/>
                </a:cubicBezTo>
                <a:cubicBezTo>
                  <a:pt x="223078" y="75740"/>
                  <a:pt x="213156" y="66120"/>
                  <a:pt x="212984" y="56672"/>
                </a:cubicBezTo>
                <a:cubicBezTo>
                  <a:pt x="212755" y="47166"/>
                  <a:pt x="222448" y="37088"/>
                  <a:pt x="233287" y="35943"/>
                </a:cubicBezTo>
                <a:cubicBezTo>
                  <a:pt x="236958" y="35542"/>
                  <a:pt x="240686" y="35771"/>
                  <a:pt x="244357" y="35771"/>
                </a:cubicBezTo>
                <a:cubicBezTo>
                  <a:pt x="286626" y="35771"/>
                  <a:pt x="328839" y="35771"/>
                  <a:pt x="371108" y="35771"/>
                </a:cubicBezTo>
                <a:lnTo>
                  <a:pt x="381661" y="35771"/>
                </a:lnTo>
                <a:cubicBezTo>
                  <a:pt x="382981" y="21455"/>
                  <a:pt x="395082" y="10232"/>
                  <a:pt x="409822" y="10232"/>
                </a:cubicBezTo>
                <a:close/>
                <a:moveTo>
                  <a:pt x="114034" y="0"/>
                </a:moveTo>
                <a:cubicBezTo>
                  <a:pt x="151642" y="0"/>
                  <a:pt x="182130" y="30440"/>
                  <a:pt x="182130" y="67990"/>
                </a:cubicBezTo>
                <a:cubicBezTo>
                  <a:pt x="182130" y="105540"/>
                  <a:pt x="151642" y="135980"/>
                  <a:pt x="114034" y="135980"/>
                </a:cubicBezTo>
                <a:cubicBezTo>
                  <a:pt x="76426" y="135980"/>
                  <a:pt x="45938" y="105540"/>
                  <a:pt x="45938" y="67990"/>
                </a:cubicBezTo>
                <a:cubicBezTo>
                  <a:pt x="45938" y="30440"/>
                  <a:pt x="76426" y="0"/>
                  <a:pt x="114034" y="0"/>
                </a:cubicBezTo>
                <a:close/>
              </a:path>
            </a:pathLst>
          </a:custGeom>
          <a:solidFill>
            <a:srgbClr val="3F3B3A"/>
          </a:solidFill>
          <a:ln w="12700" cap="flat">
            <a:noFill/>
            <a:miter lim="400000"/>
          </a:ln>
          <a:effectLst/>
        </p:spPr>
        <p:txBody>
          <a:bodyPr wrap="square" lIns="91439" tIns="91439" rIns="91439" bIns="91439" numCol="1" anchor="t">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a:latin typeface="思源黑体 CN Medium" panose="020B0600000000000000" pitchFamily="34" charset="-122"/>
              <a:ea typeface="思源黑体 CN Medium" panose="020B0600000000000000" pitchFamily="34" charset="-122"/>
            </a:endParaRPr>
          </a:p>
        </p:txBody>
      </p:sp>
      <p:cxnSp>
        <p:nvCxnSpPr>
          <p:cNvPr id="7" name="直接连接符 6">
            <a:extLst>
              <a:ext uri="{FF2B5EF4-FFF2-40B4-BE49-F238E27FC236}">
                <a16:creationId xmlns:a16="http://schemas.microsoft.com/office/drawing/2014/main" id="{D7FC733E-4E96-45E0-B9E5-24BD4CBE51BD}"/>
              </a:ext>
            </a:extLst>
          </p:cNvPr>
          <p:cNvCxnSpPr>
            <a:cxnSpLocks/>
          </p:cNvCxnSpPr>
          <p:nvPr/>
        </p:nvCxnSpPr>
        <p:spPr>
          <a:xfrm>
            <a:off x="1024175" y="4221088"/>
            <a:ext cx="7056784" cy="0"/>
          </a:xfrm>
          <a:prstGeom prst="line">
            <a:avLst/>
          </a:prstGeom>
          <a:ln w="15875">
            <a:solidFill>
              <a:srgbClr val="3F3B3A"/>
            </a:solidFill>
          </a:ln>
        </p:spPr>
        <p:style>
          <a:lnRef idx="1">
            <a:schemeClr val="accent1"/>
          </a:lnRef>
          <a:fillRef idx="0">
            <a:schemeClr val="accent1"/>
          </a:fillRef>
          <a:effectRef idx="0">
            <a:schemeClr val="accent1"/>
          </a:effectRef>
          <a:fontRef idx="minor">
            <a:schemeClr val="tx1"/>
          </a:fontRef>
        </p:style>
      </p:cxnSp>
      <p:cxnSp>
        <p:nvCxnSpPr>
          <p:cNvPr id="11" name="直接连接符 10">
            <a:extLst>
              <a:ext uri="{FF2B5EF4-FFF2-40B4-BE49-F238E27FC236}">
                <a16:creationId xmlns:a16="http://schemas.microsoft.com/office/drawing/2014/main" id="{D7FC733E-4E96-45E0-B9E5-24BD4CBE51BD}"/>
              </a:ext>
            </a:extLst>
          </p:cNvPr>
          <p:cNvCxnSpPr>
            <a:cxnSpLocks/>
          </p:cNvCxnSpPr>
          <p:nvPr/>
        </p:nvCxnSpPr>
        <p:spPr>
          <a:xfrm>
            <a:off x="978293" y="2625728"/>
            <a:ext cx="7056784" cy="0"/>
          </a:xfrm>
          <a:prstGeom prst="line">
            <a:avLst/>
          </a:prstGeom>
          <a:ln w="15875">
            <a:solidFill>
              <a:srgbClr val="3F3B3A"/>
            </a:solidFill>
          </a:ln>
        </p:spPr>
        <p:style>
          <a:lnRef idx="1">
            <a:schemeClr val="accent1"/>
          </a:lnRef>
          <a:fillRef idx="0">
            <a:schemeClr val="accent1"/>
          </a:fillRef>
          <a:effectRef idx="0">
            <a:schemeClr val="accent1"/>
          </a:effectRef>
          <a:fontRef idx="minor">
            <a:schemeClr val="tx1"/>
          </a:fontRef>
        </p:style>
      </p:cxnSp>
      <p:pic>
        <p:nvPicPr>
          <p:cNvPr id="9" name="图片 8"/>
          <p:cNvPicPr>
            <a:picLocks noChangeAspect="1"/>
          </p:cNvPicPr>
          <p:nvPr/>
        </p:nvPicPr>
        <p:blipFill>
          <a:blip r:embed="rId2"/>
          <a:stretch>
            <a:fillRect/>
          </a:stretch>
        </p:blipFill>
        <p:spPr>
          <a:xfrm>
            <a:off x="6156176" y="260648"/>
            <a:ext cx="2660986" cy="610982"/>
          </a:xfrm>
          <a:prstGeom prst="rect">
            <a:avLst/>
          </a:prstGeom>
        </p:spPr>
      </p:pic>
    </p:spTree>
    <p:extLst>
      <p:ext uri="{BB962C8B-B14F-4D97-AF65-F5344CB8AC3E}">
        <p14:creationId xmlns:p14="http://schemas.microsoft.com/office/powerpoint/2010/main" val="3966807571"/>
      </p:ext>
    </p:extLst>
  </p:cSld>
  <p:clrMapOvr>
    <a:masterClrMapping/>
  </p:clrMapOvr>
  <p:transition spd="slow">
    <p:circle/>
  </p:transition>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大数据分析</a:t>
            </a:r>
            <a:endParaRPr lang="zh-CN" altLang="en-US" dirty="0"/>
          </a:p>
        </p:txBody>
      </p:sp>
      <p:cxnSp>
        <p:nvCxnSpPr>
          <p:cNvPr id="4" name="直接箭头连接符 3"/>
          <p:cNvCxnSpPr/>
          <p:nvPr/>
        </p:nvCxnSpPr>
        <p:spPr bwMode="auto">
          <a:xfrm>
            <a:off x="2555776" y="4739964"/>
            <a:ext cx="5400600" cy="0"/>
          </a:xfrm>
          <a:prstGeom prst="straightConnector1">
            <a:avLst/>
          </a:prstGeom>
          <a:solidFill>
            <a:schemeClr val="accent1"/>
          </a:solidFill>
          <a:ln w="9525" cap="flat" cmpd="sng" algn="ctr">
            <a:solidFill>
              <a:schemeClr val="tx1"/>
            </a:solidFill>
            <a:prstDash val="solid"/>
            <a:miter lim="800000"/>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5" name="直接箭头连接符 4"/>
          <p:cNvCxnSpPr/>
          <p:nvPr/>
        </p:nvCxnSpPr>
        <p:spPr bwMode="auto">
          <a:xfrm flipV="1">
            <a:off x="2555776" y="1889773"/>
            <a:ext cx="0" cy="2850191"/>
          </a:xfrm>
          <a:prstGeom prst="straightConnector1">
            <a:avLst/>
          </a:prstGeom>
          <a:solidFill>
            <a:schemeClr val="accent1"/>
          </a:solidFill>
          <a:ln w="9525" cap="flat" cmpd="sng" algn="ctr">
            <a:solidFill>
              <a:schemeClr val="tx1"/>
            </a:solidFill>
            <a:prstDash val="solid"/>
            <a:miter lim="800000"/>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0" name="圆角矩形 9"/>
          <p:cNvSpPr/>
          <p:nvPr/>
        </p:nvSpPr>
        <p:spPr bwMode="auto">
          <a:xfrm>
            <a:off x="827584" y="2548322"/>
            <a:ext cx="1584176" cy="648072"/>
          </a:xfrm>
          <a:prstGeom prst="roundRect">
            <a:avLst/>
          </a:prstGeom>
          <a:solidFill>
            <a:srgbClr val="FF0000">
              <a:alpha val="17000"/>
            </a:srgbClr>
          </a:solidFill>
          <a:ln w="6350" cap="flat" cmpd="sng" algn="ctr">
            <a:solidFill>
              <a:schemeClr val="tx1">
                <a:alpha val="34000"/>
              </a:schemeClr>
            </a:solidFill>
            <a:prstDash val="solid"/>
            <a:miter lim="800000"/>
            <a:headEnd type="none" w="med" len="med"/>
            <a:tailEnd type="none" w="med" len="med"/>
          </a:ln>
          <a:effectLst/>
          <a:extLst/>
        </p:spPr>
        <p:txBody>
          <a:bodyPr vert="horz" wrap="none" lIns="91440" tIns="45720" rIns="91440" bIns="45720" numCol="1" rtlCol="0" anchor="t" anchorCtr="0" compatLnSpc="1">
            <a:prstTxWarp prst="textNoShape">
              <a:avLst/>
            </a:prstTxWarp>
          </a:bodyPr>
          <a:lstStyle/>
          <a:p>
            <a:pPr algn="ctr" eaLnBrk="1" hangingPunct="1">
              <a:lnSpc>
                <a:spcPct val="150000"/>
              </a:lnSpc>
            </a:pPr>
            <a:r>
              <a:rPr lang="zh-CN" altLang="en-US" b="0" dirty="0">
                <a:latin typeface="华文中宋" panose="02010600040101010101" pitchFamily="2" charset="-122"/>
                <a:ea typeface="华文中宋" panose="02010600040101010101" pitchFamily="2" charset="-122"/>
              </a:rPr>
              <a:t>预测性分析</a:t>
            </a:r>
          </a:p>
        </p:txBody>
      </p:sp>
      <p:sp>
        <p:nvSpPr>
          <p:cNvPr id="11" name="圆角矩形 10"/>
          <p:cNvSpPr/>
          <p:nvPr/>
        </p:nvSpPr>
        <p:spPr bwMode="auto">
          <a:xfrm>
            <a:off x="827584" y="3814963"/>
            <a:ext cx="1584176" cy="648072"/>
          </a:xfrm>
          <a:prstGeom prst="roundRect">
            <a:avLst/>
          </a:prstGeom>
          <a:solidFill>
            <a:schemeClr val="accent1"/>
          </a:solidFill>
          <a:ln w="9525" cap="flat" cmpd="sng" algn="ctr">
            <a:solidFill>
              <a:schemeClr val="tx1"/>
            </a:solidFill>
            <a:prstDash val="solid"/>
            <a:miter lim="800000"/>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rtlCol="0" anchor="t" anchorCtr="0" compatLnSpc="1">
            <a:prstTxWarp prst="textNoShape">
              <a:avLst/>
            </a:prstTxWarp>
          </a:bodyPr>
          <a:lstStyle/>
          <a:p>
            <a:pPr marL="0" marR="0" indent="0" algn="ctr" defTabSz="914400" rtl="0" eaLnBrk="1" fontAlgn="base" latinLnBrk="0" hangingPunct="1">
              <a:lnSpc>
                <a:spcPct val="150000"/>
              </a:lnSpc>
              <a:spcBef>
                <a:spcPct val="0"/>
              </a:spcBef>
              <a:spcAft>
                <a:spcPct val="0"/>
              </a:spcAft>
              <a:buClrTx/>
              <a:buSzTx/>
              <a:buFontTx/>
              <a:buNone/>
              <a:tabLst/>
            </a:pPr>
            <a:r>
              <a:rPr kumimoji="0" lang="zh-CN" altLang="en-US" b="0" i="0" u="none" strike="noStrike" cap="none" normalizeH="0" baseline="0" dirty="0" smtClean="0">
                <a:ln>
                  <a:noFill/>
                </a:ln>
                <a:solidFill>
                  <a:schemeClr val="tx1"/>
                </a:solidFill>
                <a:effectLst/>
                <a:latin typeface="华文中宋" panose="02010600040101010101" pitchFamily="2" charset="-122"/>
                <a:ea typeface="华文中宋" panose="02010600040101010101" pitchFamily="2" charset="-122"/>
              </a:rPr>
              <a:t>描述性分析</a:t>
            </a:r>
          </a:p>
        </p:txBody>
      </p:sp>
      <p:sp>
        <p:nvSpPr>
          <p:cNvPr id="12" name="圆角矩形 11"/>
          <p:cNvSpPr/>
          <p:nvPr/>
        </p:nvSpPr>
        <p:spPr bwMode="auto">
          <a:xfrm>
            <a:off x="3437262" y="4895102"/>
            <a:ext cx="682855" cy="432048"/>
          </a:xfrm>
          <a:prstGeom prst="roundRect">
            <a:avLst/>
          </a:prstGeom>
          <a:solidFill>
            <a:srgbClr val="FFFF00">
              <a:alpha val="48000"/>
            </a:srgbClr>
          </a:solidFill>
          <a:ln w="6350" cap="flat" cmpd="sng" algn="ctr">
            <a:solidFill>
              <a:schemeClr val="tx1"/>
            </a:solidFill>
            <a:prstDash val="solid"/>
            <a:miter lim="800000"/>
            <a:headEnd type="none" w="med" len="med"/>
            <a:tailEnd type="none" w="med" len="med"/>
          </a:ln>
          <a:effectLst/>
          <a:extLst/>
        </p:spPr>
        <p:txBody>
          <a:bodyPr vert="horz" wrap="none" lIns="91440" tIns="45720" rIns="91440" bIns="45720" numCol="1" rtlCol="0" anchor="t" anchorCtr="0" compatLnSpc="1">
            <a:prstTxWarp prst="textNoShape">
              <a:avLst/>
            </a:prstTxWarp>
          </a:bodyPr>
          <a:lstStyle/>
          <a:p>
            <a:pPr marL="0" marR="0" indent="0" algn="ctr" defTabSz="914400" rtl="0" eaLnBrk="1" fontAlgn="base" latinLnBrk="0" hangingPunct="1">
              <a:spcBef>
                <a:spcPct val="0"/>
              </a:spcBef>
              <a:spcAft>
                <a:spcPct val="0"/>
              </a:spcAft>
              <a:buClrTx/>
              <a:buSzTx/>
              <a:buFontTx/>
              <a:buNone/>
              <a:tabLst/>
            </a:pPr>
            <a:r>
              <a:rPr kumimoji="0" lang="zh-CN" altLang="en-US" b="0" i="0" u="none" strike="noStrike" cap="none" normalizeH="0" baseline="0" dirty="0" smtClean="0">
                <a:ln>
                  <a:noFill/>
                </a:ln>
                <a:solidFill>
                  <a:schemeClr val="tx1"/>
                </a:solidFill>
                <a:effectLst/>
                <a:latin typeface="华文仿宋" panose="02010600040101010101" pitchFamily="2" charset="-122"/>
                <a:ea typeface="华文仿宋" panose="02010600040101010101" pitchFamily="2" charset="-122"/>
              </a:rPr>
              <a:t>表格</a:t>
            </a:r>
          </a:p>
        </p:txBody>
      </p:sp>
      <p:sp>
        <p:nvSpPr>
          <p:cNvPr id="13" name="圆角矩形 12"/>
          <p:cNvSpPr/>
          <p:nvPr/>
        </p:nvSpPr>
        <p:spPr bwMode="auto">
          <a:xfrm>
            <a:off x="4283967" y="4895102"/>
            <a:ext cx="682855" cy="432048"/>
          </a:xfrm>
          <a:prstGeom prst="roundRect">
            <a:avLst/>
          </a:prstGeom>
          <a:solidFill>
            <a:srgbClr val="FFFF00">
              <a:alpha val="48000"/>
            </a:srgbClr>
          </a:solidFill>
          <a:ln w="6350" cap="flat" cmpd="sng" algn="ctr">
            <a:solidFill>
              <a:schemeClr val="tx1"/>
            </a:solidFill>
            <a:prstDash val="solid"/>
            <a:miter lim="800000"/>
            <a:headEnd type="none" w="med" len="med"/>
            <a:tailEnd type="none" w="med" len="med"/>
          </a:ln>
          <a:effectLst/>
          <a:extLst/>
        </p:spPr>
        <p:txBody>
          <a:bodyPr vert="horz" wrap="none" lIns="91440" tIns="45720" rIns="91440" bIns="45720" numCol="1" rtlCol="0" anchor="t" anchorCtr="0" compatLnSpc="1">
            <a:prstTxWarp prst="textNoShape">
              <a:avLst/>
            </a:prstTxWarp>
          </a:bodyPr>
          <a:lstStyle/>
          <a:p>
            <a:pPr algn="ctr" eaLnBrk="1" hangingPunct="1"/>
            <a:r>
              <a:rPr lang="zh-CN" altLang="en-US" b="0" dirty="0">
                <a:latin typeface="华文仿宋" panose="02010600040101010101" pitchFamily="2" charset="-122"/>
                <a:ea typeface="华文仿宋" panose="02010600040101010101" pitchFamily="2" charset="-122"/>
              </a:rPr>
              <a:t>文本</a:t>
            </a:r>
          </a:p>
        </p:txBody>
      </p:sp>
      <p:sp>
        <p:nvSpPr>
          <p:cNvPr id="14" name="圆角矩形 13"/>
          <p:cNvSpPr/>
          <p:nvPr/>
        </p:nvSpPr>
        <p:spPr bwMode="auto">
          <a:xfrm>
            <a:off x="5130672" y="4895102"/>
            <a:ext cx="682855" cy="432048"/>
          </a:xfrm>
          <a:prstGeom prst="roundRect">
            <a:avLst/>
          </a:prstGeom>
          <a:solidFill>
            <a:srgbClr val="FFFF00">
              <a:alpha val="48000"/>
            </a:srgbClr>
          </a:solidFill>
          <a:ln w="6350" cap="flat" cmpd="sng" algn="ctr">
            <a:solidFill>
              <a:schemeClr val="tx1"/>
            </a:solidFill>
            <a:prstDash val="solid"/>
            <a:miter lim="800000"/>
            <a:headEnd type="none" w="med" len="med"/>
            <a:tailEnd type="none" w="med" len="med"/>
          </a:ln>
          <a:effectLst/>
          <a:extLst/>
        </p:spPr>
        <p:txBody>
          <a:bodyPr vert="horz" wrap="none" lIns="91440" tIns="45720" rIns="91440" bIns="45720" numCol="1" rtlCol="0" anchor="t" anchorCtr="0" compatLnSpc="1">
            <a:prstTxWarp prst="textNoShape">
              <a:avLst/>
            </a:prstTxWarp>
          </a:bodyPr>
          <a:lstStyle/>
          <a:p>
            <a:pPr algn="ctr" eaLnBrk="1" hangingPunct="1"/>
            <a:r>
              <a:rPr lang="zh-CN" altLang="en-US" b="0" dirty="0">
                <a:latin typeface="华文仿宋" panose="02010600040101010101" pitchFamily="2" charset="-122"/>
                <a:ea typeface="华文仿宋" panose="02010600040101010101" pitchFamily="2" charset="-122"/>
              </a:rPr>
              <a:t>图像</a:t>
            </a:r>
          </a:p>
        </p:txBody>
      </p:sp>
      <p:sp>
        <p:nvSpPr>
          <p:cNvPr id="15" name="圆角矩形 14"/>
          <p:cNvSpPr/>
          <p:nvPr/>
        </p:nvSpPr>
        <p:spPr bwMode="auto">
          <a:xfrm>
            <a:off x="5977377" y="4895102"/>
            <a:ext cx="682855" cy="432048"/>
          </a:xfrm>
          <a:prstGeom prst="roundRect">
            <a:avLst/>
          </a:prstGeom>
          <a:solidFill>
            <a:srgbClr val="FFFF00">
              <a:alpha val="48000"/>
            </a:srgbClr>
          </a:solidFill>
          <a:ln w="6350" cap="flat" cmpd="sng" algn="ctr">
            <a:solidFill>
              <a:schemeClr val="tx1"/>
            </a:solidFill>
            <a:prstDash val="solid"/>
            <a:miter lim="800000"/>
            <a:headEnd type="none" w="med" len="med"/>
            <a:tailEnd type="none" w="med" len="med"/>
          </a:ln>
          <a:effectLst/>
          <a:extLst/>
        </p:spPr>
        <p:txBody>
          <a:bodyPr vert="horz" wrap="none" lIns="91440" tIns="45720" rIns="91440" bIns="45720" numCol="1" rtlCol="0" anchor="t" anchorCtr="0" compatLnSpc="1">
            <a:prstTxWarp prst="textNoShape">
              <a:avLst/>
            </a:prstTxWarp>
          </a:bodyPr>
          <a:lstStyle/>
          <a:p>
            <a:pPr algn="ctr" eaLnBrk="1" hangingPunct="1"/>
            <a:r>
              <a:rPr lang="zh-CN" altLang="en-US" b="0" dirty="0">
                <a:latin typeface="华文仿宋" panose="02010600040101010101" pitchFamily="2" charset="-122"/>
                <a:ea typeface="华文仿宋" panose="02010600040101010101" pitchFamily="2" charset="-122"/>
              </a:rPr>
              <a:t>视频</a:t>
            </a:r>
          </a:p>
        </p:txBody>
      </p:sp>
      <p:sp>
        <p:nvSpPr>
          <p:cNvPr id="18" name="圆角矩形 17"/>
          <p:cNvSpPr/>
          <p:nvPr/>
        </p:nvSpPr>
        <p:spPr bwMode="auto">
          <a:xfrm>
            <a:off x="2448985" y="4895102"/>
            <a:ext cx="834344" cy="432048"/>
          </a:xfrm>
          <a:prstGeom prst="roundRect">
            <a:avLst/>
          </a:prstGeom>
          <a:solidFill>
            <a:schemeClr val="bg1"/>
          </a:solidFill>
          <a:ln w="15875">
            <a:noFill/>
            <a:prstDash val="dash"/>
            <a:headEnd type="none" w="med" len="med"/>
            <a:tailEnd type="none" w="med" len="med"/>
          </a:ln>
          <a:extLst/>
        </p:spPr>
        <p:style>
          <a:lnRef idx="2">
            <a:schemeClr val="dk1"/>
          </a:lnRef>
          <a:fillRef idx="1">
            <a:schemeClr val="lt1"/>
          </a:fillRef>
          <a:effectRef idx="0">
            <a:schemeClr val="dk1"/>
          </a:effectRef>
          <a:fontRef idx="minor">
            <a:schemeClr val="dk1"/>
          </a:fontRef>
        </p:style>
        <p:txBody>
          <a:bodyPr vert="horz" wrap="none" lIns="91440" tIns="45720" rIns="91440" bIns="45720" numCol="1" rtlCol="0" anchor="t" anchorCtr="0" compatLnSpc="1">
            <a:prstTxWarp prst="textNoShape">
              <a:avLst/>
            </a:prstTxWarp>
          </a:bodyPr>
          <a:lstStyle/>
          <a:p>
            <a:pPr marL="0" marR="0" indent="0" algn="ctr" defTabSz="914400" rtl="0" eaLnBrk="1" fontAlgn="base" latinLnBrk="0" hangingPunct="1">
              <a:spcBef>
                <a:spcPct val="0"/>
              </a:spcBef>
              <a:spcAft>
                <a:spcPct val="0"/>
              </a:spcAft>
              <a:buClrTx/>
              <a:buSzTx/>
              <a:buFontTx/>
              <a:buNone/>
              <a:tabLst/>
            </a:pPr>
            <a:r>
              <a:rPr kumimoji="0" lang="zh-CN" altLang="en-US" b="0" i="0" u="none" strike="noStrike" cap="none" normalizeH="0" baseline="0" dirty="0" smtClean="0">
                <a:ln>
                  <a:noFill/>
                </a:ln>
                <a:solidFill>
                  <a:schemeClr val="tx1"/>
                </a:solidFill>
                <a:effectLst/>
                <a:latin typeface="华文中宋" panose="02010600040101010101" pitchFamily="2" charset="-122"/>
                <a:ea typeface="华文中宋" panose="02010600040101010101" pitchFamily="2" charset="-122"/>
              </a:rPr>
              <a:t>多模态</a:t>
            </a:r>
          </a:p>
        </p:txBody>
      </p:sp>
      <p:sp>
        <p:nvSpPr>
          <p:cNvPr id="20" name="圆角矩形 19"/>
          <p:cNvSpPr/>
          <p:nvPr/>
        </p:nvSpPr>
        <p:spPr bwMode="auto">
          <a:xfrm>
            <a:off x="3437262" y="5451571"/>
            <a:ext cx="682855" cy="432048"/>
          </a:xfrm>
          <a:prstGeom prst="roundRect">
            <a:avLst/>
          </a:prstGeom>
          <a:solidFill>
            <a:srgbClr val="FFFF00">
              <a:alpha val="48000"/>
            </a:srgbClr>
          </a:solidFill>
          <a:ln w="6350" cap="flat" cmpd="sng" algn="ctr">
            <a:solidFill>
              <a:schemeClr val="tx1"/>
            </a:solidFill>
            <a:prstDash val="solid"/>
            <a:miter lim="800000"/>
            <a:headEnd type="none" w="med" len="med"/>
            <a:tailEnd type="none" w="med" len="med"/>
          </a:ln>
          <a:effectLst/>
          <a:extLst/>
        </p:spPr>
        <p:txBody>
          <a:bodyPr vert="horz" wrap="none" lIns="91440" tIns="45720" rIns="91440" bIns="45720" numCol="1" rtlCol="0" anchor="t" anchorCtr="0" compatLnSpc="1">
            <a:prstTxWarp prst="textNoShape">
              <a:avLst/>
            </a:prstTxWarp>
          </a:bodyPr>
          <a:lstStyle/>
          <a:p>
            <a:pPr marL="0" marR="0" indent="0" algn="ctr" defTabSz="914400" rtl="0" eaLnBrk="1" fontAlgn="base" latinLnBrk="0" hangingPunct="1">
              <a:spcBef>
                <a:spcPct val="0"/>
              </a:spcBef>
              <a:spcAft>
                <a:spcPct val="0"/>
              </a:spcAft>
              <a:buClrTx/>
              <a:buSzTx/>
              <a:buFontTx/>
              <a:buNone/>
              <a:tabLst/>
            </a:pPr>
            <a:r>
              <a:rPr kumimoji="0" lang="zh-CN" altLang="en-US" b="0" i="0" u="none" strike="noStrike" cap="none" normalizeH="0" baseline="0" dirty="0" smtClean="0">
                <a:ln>
                  <a:noFill/>
                </a:ln>
                <a:solidFill>
                  <a:schemeClr val="tx1"/>
                </a:solidFill>
                <a:effectLst/>
                <a:latin typeface="华文仿宋" panose="02010600040101010101" pitchFamily="2" charset="-122"/>
                <a:ea typeface="华文仿宋" panose="02010600040101010101" pitchFamily="2" charset="-122"/>
              </a:rPr>
              <a:t>微信</a:t>
            </a:r>
          </a:p>
        </p:txBody>
      </p:sp>
      <p:sp>
        <p:nvSpPr>
          <p:cNvPr id="21" name="圆角矩形 20"/>
          <p:cNvSpPr/>
          <p:nvPr/>
        </p:nvSpPr>
        <p:spPr bwMode="auto">
          <a:xfrm>
            <a:off x="4283967" y="5451571"/>
            <a:ext cx="682855" cy="432048"/>
          </a:xfrm>
          <a:prstGeom prst="roundRect">
            <a:avLst/>
          </a:prstGeom>
          <a:solidFill>
            <a:srgbClr val="FFFF00">
              <a:alpha val="48000"/>
            </a:srgbClr>
          </a:solidFill>
          <a:ln w="6350" cap="flat" cmpd="sng" algn="ctr">
            <a:solidFill>
              <a:schemeClr val="tx1"/>
            </a:solidFill>
            <a:prstDash val="solid"/>
            <a:miter lim="800000"/>
            <a:headEnd type="none" w="med" len="med"/>
            <a:tailEnd type="none" w="med" len="med"/>
          </a:ln>
          <a:effectLst/>
          <a:extLst/>
        </p:spPr>
        <p:txBody>
          <a:bodyPr vert="horz" wrap="none" lIns="91440" tIns="45720" rIns="91440" bIns="45720" numCol="1" rtlCol="0" anchor="t" anchorCtr="0" compatLnSpc="1">
            <a:prstTxWarp prst="textNoShape">
              <a:avLst/>
            </a:prstTxWarp>
          </a:bodyPr>
          <a:lstStyle/>
          <a:p>
            <a:pPr algn="ctr" eaLnBrk="1" hangingPunct="1"/>
            <a:r>
              <a:rPr lang="zh-CN" altLang="en-US" b="0" dirty="0" smtClean="0">
                <a:latin typeface="华文仿宋" panose="02010600040101010101" pitchFamily="2" charset="-122"/>
                <a:ea typeface="华文仿宋" panose="02010600040101010101" pitchFamily="2" charset="-122"/>
              </a:rPr>
              <a:t>陶宝</a:t>
            </a:r>
            <a:endParaRPr lang="zh-CN" altLang="en-US" b="0" dirty="0">
              <a:latin typeface="华文仿宋" panose="02010600040101010101" pitchFamily="2" charset="-122"/>
              <a:ea typeface="华文仿宋" panose="02010600040101010101" pitchFamily="2" charset="-122"/>
            </a:endParaRPr>
          </a:p>
        </p:txBody>
      </p:sp>
      <p:sp>
        <p:nvSpPr>
          <p:cNvPr id="22" name="圆角矩形 21"/>
          <p:cNvSpPr/>
          <p:nvPr/>
        </p:nvSpPr>
        <p:spPr bwMode="auto">
          <a:xfrm>
            <a:off x="5130672" y="5451571"/>
            <a:ext cx="682855" cy="432048"/>
          </a:xfrm>
          <a:prstGeom prst="roundRect">
            <a:avLst/>
          </a:prstGeom>
          <a:solidFill>
            <a:srgbClr val="FFFF00">
              <a:alpha val="48000"/>
            </a:srgbClr>
          </a:solidFill>
          <a:ln w="6350" cap="flat" cmpd="sng" algn="ctr">
            <a:solidFill>
              <a:schemeClr val="tx1"/>
            </a:solidFill>
            <a:prstDash val="solid"/>
            <a:miter lim="800000"/>
            <a:headEnd type="none" w="med" len="med"/>
            <a:tailEnd type="none" w="med" len="med"/>
          </a:ln>
          <a:effectLst/>
          <a:extLst/>
        </p:spPr>
        <p:txBody>
          <a:bodyPr vert="horz" wrap="none" lIns="91440" tIns="45720" rIns="91440" bIns="45720" numCol="1" rtlCol="0" anchor="t" anchorCtr="0" compatLnSpc="1">
            <a:prstTxWarp prst="textNoShape">
              <a:avLst/>
            </a:prstTxWarp>
          </a:bodyPr>
          <a:lstStyle/>
          <a:p>
            <a:pPr algn="ctr" eaLnBrk="1" hangingPunct="1"/>
            <a:r>
              <a:rPr lang="zh-CN" altLang="en-US" b="0" dirty="0">
                <a:latin typeface="华文仿宋" panose="02010600040101010101" pitchFamily="2" charset="-122"/>
                <a:ea typeface="华文仿宋" panose="02010600040101010101" pitchFamily="2" charset="-122"/>
              </a:rPr>
              <a:t>微</a:t>
            </a:r>
            <a:r>
              <a:rPr lang="zh-CN" altLang="en-US" b="0" dirty="0" smtClean="0">
                <a:latin typeface="华文仿宋" panose="02010600040101010101" pitchFamily="2" charset="-122"/>
                <a:ea typeface="华文仿宋" panose="02010600040101010101" pitchFamily="2" charset="-122"/>
              </a:rPr>
              <a:t>博</a:t>
            </a:r>
            <a:endParaRPr lang="zh-CN" altLang="en-US" b="0" dirty="0">
              <a:latin typeface="华文仿宋" panose="02010600040101010101" pitchFamily="2" charset="-122"/>
              <a:ea typeface="华文仿宋" panose="02010600040101010101" pitchFamily="2" charset="-122"/>
            </a:endParaRPr>
          </a:p>
        </p:txBody>
      </p:sp>
      <p:sp>
        <p:nvSpPr>
          <p:cNvPr id="23" name="圆角矩形 22"/>
          <p:cNvSpPr/>
          <p:nvPr/>
        </p:nvSpPr>
        <p:spPr bwMode="auto">
          <a:xfrm>
            <a:off x="5977377" y="5451571"/>
            <a:ext cx="682855" cy="432048"/>
          </a:xfrm>
          <a:prstGeom prst="roundRect">
            <a:avLst/>
          </a:prstGeom>
          <a:solidFill>
            <a:srgbClr val="FFFF00">
              <a:alpha val="48000"/>
            </a:srgbClr>
          </a:solidFill>
          <a:ln w="6350" cap="flat" cmpd="sng" algn="ctr">
            <a:solidFill>
              <a:schemeClr val="tx1"/>
            </a:solidFill>
            <a:prstDash val="solid"/>
            <a:miter lim="800000"/>
            <a:headEnd type="none" w="med" len="med"/>
            <a:tailEnd type="none" w="med" len="med"/>
          </a:ln>
          <a:effectLst/>
          <a:extLst/>
        </p:spPr>
        <p:txBody>
          <a:bodyPr vert="horz" wrap="none" lIns="91440" tIns="45720" rIns="91440" bIns="45720" numCol="1" rtlCol="0" anchor="t" anchorCtr="0" compatLnSpc="1">
            <a:prstTxWarp prst="textNoShape">
              <a:avLst/>
            </a:prstTxWarp>
          </a:bodyPr>
          <a:lstStyle/>
          <a:p>
            <a:pPr algn="ctr" eaLnBrk="1" hangingPunct="1"/>
            <a:r>
              <a:rPr lang="zh-CN" altLang="en-US" b="0" dirty="0" smtClean="0">
                <a:latin typeface="华文仿宋" panose="02010600040101010101" pitchFamily="2" charset="-122"/>
                <a:ea typeface="华文仿宋" panose="02010600040101010101" pitchFamily="2" charset="-122"/>
              </a:rPr>
              <a:t>电信</a:t>
            </a:r>
            <a:endParaRPr lang="zh-CN" altLang="en-US" b="0" dirty="0">
              <a:latin typeface="华文仿宋" panose="02010600040101010101" pitchFamily="2" charset="-122"/>
              <a:ea typeface="华文仿宋" panose="02010600040101010101" pitchFamily="2" charset="-122"/>
            </a:endParaRPr>
          </a:p>
        </p:txBody>
      </p:sp>
      <p:sp>
        <p:nvSpPr>
          <p:cNvPr id="24" name="圆角矩形 23"/>
          <p:cNvSpPr/>
          <p:nvPr/>
        </p:nvSpPr>
        <p:spPr bwMode="auto">
          <a:xfrm>
            <a:off x="2448985" y="5451571"/>
            <a:ext cx="834344" cy="432048"/>
          </a:xfrm>
          <a:prstGeom prst="roundRect">
            <a:avLst/>
          </a:prstGeom>
          <a:solidFill>
            <a:schemeClr val="bg1"/>
          </a:solidFill>
          <a:ln w="15875">
            <a:noFill/>
            <a:prstDash val="dash"/>
            <a:headEnd type="none" w="med" len="med"/>
            <a:tailEnd type="none" w="med" len="med"/>
          </a:ln>
          <a:extLst/>
        </p:spPr>
        <p:style>
          <a:lnRef idx="2">
            <a:schemeClr val="dk1"/>
          </a:lnRef>
          <a:fillRef idx="1">
            <a:schemeClr val="lt1"/>
          </a:fillRef>
          <a:effectRef idx="0">
            <a:schemeClr val="dk1"/>
          </a:effectRef>
          <a:fontRef idx="minor">
            <a:schemeClr val="dk1"/>
          </a:fontRef>
        </p:style>
        <p:txBody>
          <a:bodyPr vert="horz" wrap="none" lIns="91440" tIns="45720" rIns="91440" bIns="45720" numCol="1" rtlCol="0" anchor="t" anchorCtr="0" compatLnSpc="1">
            <a:prstTxWarp prst="textNoShape">
              <a:avLst/>
            </a:prstTxWarp>
          </a:bodyPr>
          <a:lstStyle/>
          <a:p>
            <a:pPr marL="0" marR="0" indent="0" algn="ctr" defTabSz="914400" rtl="0" eaLnBrk="1" fontAlgn="base" latinLnBrk="0" hangingPunct="1">
              <a:spcBef>
                <a:spcPct val="0"/>
              </a:spcBef>
              <a:spcAft>
                <a:spcPct val="0"/>
              </a:spcAft>
              <a:buClrTx/>
              <a:buSzTx/>
              <a:buFontTx/>
              <a:buNone/>
              <a:tabLst/>
            </a:pPr>
            <a:r>
              <a:rPr kumimoji="0" lang="zh-CN" altLang="en-US" b="0" i="0" u="none" strike="noStrike" cap="none" normalizeH="0" baseline="0" dirty="0" smtClean="0">
                <a:ln>
                  <a:noFill/>
                </a:ln>
                <a:solidFill>
                  <a:schemeClr val="tx1"/>
                </a:solidFill>
                <a:effectLst/>
                <a:latin typeface="华文中宋" panose="02010600040101010101" pitchFamily="2" charset="-122"/>
                <a:ea typeface="华文中宋" panose="02010600040101010101" pitchFamily="2" charset="-122"/>
              </a:rPr>
              <a:t>多源</a:t>
            </a:r>
          </a:p>
        </p:txBody>
      </p:sp>
      <p:sp>
        <p:nvSpPr>
          <p:cNvPr id="25" name="圆角矩形 24"/>
          <p:cNvSpPr/>
          <p:nvPr/>
        </p:nvSpPr>
        <p:spPr bwMode="auto">
          <a:xfrm>
            <a:off x="3423917" y="5977851"/>
            <a:ext cx="682855" cy="432048"/>
          </a:xfrm>
          <a:prstGeom prst="roundRect">
            <a:avLst/>
          </a:prstGeom>
          <a:solidFill>
            <a:srgbClr val="FFFF00">
              <a:alpha val="48000"/>
            </a:srgbClr>
          </a:solidFill>
          <a:ln w="6350" cap="flat" cmpd="sng" algn="ctr">
            <a:solidFill>
              <a:schemeClr val="tx1"/>
            </a:solidFill>
            <a:prstDash val="solid"/>
            <a:miter lim="800000"/>
            <a:headEnd type="none" w="med" len="med"/>
            <a:tailEnd type="none" w="med" len="med"/>
          </a:ln>
          <a:effectLst/>
          <a:extLst/>
        </p:spPr>
        <p:txBody>
          <a:bodyPr vert="horz" wrap="none" lIns="91440" tIns="45720" rIns="91440" bIns="45720" numCol="1" rtlCol="0" anchor="t" anchorCtr="0" compatLnSpc="1">
            <a:prstTxWarp prst="textNoShape">
              <a:avLst/>
            </a:prstTxWarp>
          </a:bodyPr>
          <a:lstStyle/>
          <a:p>
            <a:pPr marL="0" marR="0" indent="0" algn="ctr" defTabSz="914400" rtl="0" eaLnBrk="1" fontAlgn="base" latinLnBrk="0" hangingPunct="1">
              <a:spcBef>
                <a:spcPct val="0"/>
              </a:spcBef>
              <a:spcAft>
                <a:spcPct val="0"/>
              </a:spcAft>
              <a:buClrTx/>
              <a:buSzTx/>
              <a:buFontTx/>
              <a:buNone/>
              <a:tabLst/>
            </a:pPr>
            <a:r>
              <a:rPr kumimoji="0" lang="zh-CN" altLang="en-US" b="0" i="0" u="none" strike="noStrike" cap="none" normalizeH="0" baseline="0" dirty="0" smtClean="0">
                <a:ln>
                  <a:noFill/>
                </a:ln>
                <a:solidFill>
                  <a:schemeClr val="tx1"/>
                </a:solidFill>
                <a:effectLst/>
                <a:latin typeface="华文仿宋" panose="02010600040101010101" pitchFamily="2" charset="-122"/>
                <a:ea typeface="华文仿宋" panose="02010600040101010101" pitchFamily="2" charset="-122"/>
              </a:rPr>
              <a:t>观看</a:t>
            </a:r>
          </a:p>
        </p:txBody>
      </p:sp>
      <p:sp>
        <p:nvSpPr>
          <p:cNvPr id="26" name="圆角矩形 25"/>
          <p:cNvSpPr/>
          <p:nvPr/>
        </p:nvSpPr>
        <p:spPr bwMode="auto">
          <a:xfrm>
            <a:off x="4270622" y="5977851"/>
            <a:ext cx="682855" cy="432048"/>
          </a:xfrm>
          <a:prstGeom prst="roundRect">
            <a:avLst/>
          </a:prstGeom>
          <a:solidFill>
            <a:srgbClr val="FFFF00">
              <a:alpha val="48000"/>
            </a:srgbClr>
          </a:solidFill>
          <a:ln w="6350" cap="flat" cmpd="sng" algn="ctr">
            <a:solidFill>
              <a:schemeClr val="tx1"/>
            </a:solidFill>
            <a:prstDash val="solid"/>
            <a:miter lim="800000"/>
            <a:headEnd type="none" w="med" len="med"/>
            <a:tailEnd type="none" w="med" len="med"/>
          </a:ln>
          <a:effectLst/>
          <a:extLst/>
        </p:spPr>
        <p:txBody>
          <a:bodyPr vert="horz" wrap="none" lIns="91440" tIns="45720" rIns="91440" bIns="45720" numCol="1" rtlCol="0" anchor="t" anchorCtr="0" compatLnSpc="1">
            <a:prstTxWarp prst="textNoShape">
              <a:avLst/>
            </a:prstTxWarp>
          </a:bodyPr>
          <a:lstStyle/>
          <a:p>
            <a:pPr algn="ctr" eaLnBrk="1" hangingPunct="1"/>
            <a:r>
              <a:rPr lang="zh-CN" altLang="en-US" b="0" dirty="0" smtClean="0">
                <a:latin typeface="华文仿宋" panose="02010600040101010101" pitchFamily="2" charset="-122"/>
                <a:ea typeface="华文仿宋" panose="02010600040101010101" pitchFamily="2" charset="-122"/>
              </a:rPr>
              <a:t>购买</a:t>
            </a:r>
            <a:endParaRPr lang="zh-CN" altLang="en-US" b="0" dirty="0">
              <a:latin typeface="华文仿宋" panose="02010600040101010101" pitchFamily="2" charset="-122"/>
              <a:ea typeface="华文仿宋" panose="02010600040101010101" pitchFamily="2" charset="-122"/>
            </a:endParaRPr>
          </a:p>
        </p:txBody>
      </p:sp>
      <p:sp>
        <p:nvSpPr>
          <p:cNvPr id="27" name="圆角矩形 26"/>
          <p:cNvSpPr/>
          <p:nvPr/>
        </p:nvSpPr>
        <p:spPr bwMode="auto">
          <a:xfrm>
            <a:off x="5117327" y="5977851"/>
            <a:ext cx="682855" cy="432048"/>
          </a:xfrm>
          <a:prstGeom prst="roundRect">
            <a:avLst/>
          </a:prstGeom>
          <a:solidFill>
            <a:srgbClr val="FFFF00">
              <a:alpha val="48000"/>
            </a:srgbClr>
          </a:solidFill>
          <a:ln w="6350" cap="flat" cmpd="sng" algn="ctr">
            <a:solidFill>
              <a:schemeClr val="tx1"/>
            </a:solidFill>
            <a:prstDash val="solid"/>
            <a:miter lim="800000"/>
            <a:headEnd type="none" w="med" len="med"/>
            <a:tailEnd type="none" w="med" len="med"/>
          </a:ln>
          <a:effectLst/>
          <a:extLst/>
        </p:spPr>
        <p:txBody>
          <a:bodyPr vert="horz" wrap="none" lIns="91440" tIns="45720" rIns="91440" bIns="45720" numCol="1" rtlCol="0" anchor="t" anchorCtr="0" compatLnSpc="1">
            <a:prstTxWarp prst="textNoShape">
              <a:avLst/>
            </a:prstTxWarp>
          </a:bodyPr>
          <a:lstStyle/>
          <a:p>
            <a:pPr algn="ctr" eaLnBrk="1" hangingPunct="1"/>
            <a:r>
              <a:rPr lang="zh-CN" altLang="en-US" b="0" dirty="0" smtClean="0">
                <a:latin typeface="华文仿宋" panose="02010600040101010101" pitchFamily="2" charset="-122"/>
                <a:ea typeface="华文仿宋" panose="02010600040101010101" pitchFamily="2" charset="-122"/>
              </a:rPr>
              <a:t>点赞</a:t>
            </a:r>
            <a:endParaRPr lang="zh-CN" altLang="en-US" b="0" dirty="0">
              <a:latin typeface="华文仿宋" panose="02010600040101010101" pitchFamily="2" charset="-122"/>
              <a:ea typeface="华文仿宋" panose="02010600040101010101" pitchFamily="2" charset="-122"/>
            </a:endParaRPr>
          </a:p>
        </p:txBody>
      </p:sp>
      <p:sp>
        <p:nvSpPr>
          <p:cNvPr id="28" name="圆角矩形 27"/>
          <p:cNvSpPr/>
          <p:nvPr/>
        </p:nvSpPr>
        <p:spPr bwMode="auto">
          <a:xfrm>
            <a:off x="5964032" y="5977851"/>
            <a:ext cx="682855" cy="432048"/>
          </a:xfrm>
          <a:prstGeom prst="roundRect">
            <a:avLst/>
          </a:prstGeom>
          <a:solidFill>
            <a:srgbClr val="FFFF00">
              <a:alpha val="48000"/>
            </a:srgbClr>
          </a:solidFill>
          <a:ln w="6350" cap="flat" cmpd="sng" algn="ctr">
            <a:solidFill>
              <a:schemeClr val="tx1"/>
            </a:solidFill>
            <a:prstDash val="solid"/>
            <a:miter lim="800000"/>
            <a:headEnd type="none" w="med" len="med"/>
            <a:tailEnd type="none" w="med" len="med"/>
          </a:ln>
          <a:effectLst/>
          <a:extLst/>
        </p:spPr>
        <p:txBody>
          <a:bodyPr vert="horz" wrap="none" lIns="91440" tIns="45720" rIns="91440" bIns="45720" numCol="1" rtlCol="0" anchor="t" anchorCtr="0" compatLnSpc="1">
            <a:prstTxWarp prst="textNoShape">
              <a:avLst/>
            </a:prstTxWarp>
          </a:bodyPr>
          <a:lstStyle/>
          <a:p>
            <a:pPr algn="ctr" eaLnBrk="1" hangingPunct="1"/>
            <a:r>
              <a:rPr lang="zh-CN" altLang="en-US" b="0" dirty="0" smtClean="0">
                <a:latin typeface="华文仿宋" panose="02010600040101010101" pitchFamily="2" charset="-122"/>
                <a:ea typeface="华文仿宋" panose="02010600040101010101" pitchFamily="2" charset="-122"/>
              </a:rPr>
              <a:t>评论</a:t>
            </a:r>
            <a:endParaRPr lang="zh-CN" altLang="en-US" b="0" dirty="0">
              <a:latin typeface="华文仿宋" panose="02010600040101010101" pitchFamily="2" charset="-122"/>
              <a:ea typeface="华文仿宋" panose="02010600040101010101" pitchFamily="2" charset="-122"/>
            </a:endParaRPr>
          </a:p>
        </p:txBody>
      </p:sp>
      <p:sp>
        <p:nvSpPr>
          <p:cNvPr id="29" name="圆角矩形 28"/>
          <p:cNvSpPr/>
          <p:nvPr/>
        </p:nvSpPr>
        <p:spPr bwMode="auto">
          <a:xfrm>
            <a:off x="2435640" y="5977851"/>
            <a:ext cx="834344" cy="432048"/>
          </a:xfrm>
          <a:prstGeom prst="roundRect">
            <a:avLst/>
          </a:prstGeom>
          <a:solidFill>
            <a:schemeClr val="bg1"/>
          </a:solidFill>
          <a:ln w="15875">
            <a:noFill/>
            <a:prstDash val="dash"/>
            <a:headEnd type="none" w="med" len="med"/>
            <a:tailEnd type="none" w="med" len="med"/>
          </a:ln>
          <a:extLst/>
        </p:spPr>
        <p:style>
          <a:lnRef idx="2">
            <a:schemeClr val="dk1"/>
          </a:lnRef>
          <a:fillRef idx="1">
            <a:schemeClr val="lt1"/>
          </a:fillRef>
          <a:effectRef idx="0">
            <a:schemeClr val="dk1"/>
          </a:effectRef>
          <a:fontRef idx="minor">
            <a:schemeClr val="dk1"/>
          </a:fontRef>
        </p:style>
        <p:txBody>
          <a:bodyPr vert="horz" wrap="none" lIns="91440" tIns="45720" rIns="91440" bIns="45720" numCol="1" rtlCol="0" anchor="t" anchorCtr="0" compatLnSpc="1">
            <a:prstTxWarp prst="textNoShape">
              <a:avLst/>
            </a:prstTxWarp>
          </a:bodyPr>
          <a:lstStyle/>
          <a:p>
            <a:pPr marL="0" marR="0" indent="0" algn="ctr" defTabSz="914400" rtl="0" eaLnBrk="1" fontAlgn="base" latinLnBrk="0" hangingPunct="1">
              <a:spcBef>
                <a:spcPct val="0"/>
              </a:spcBef>
              <a:spcAft>
                <a:spcPct val="0"/>
              </a:spcAft>
              <a:buClrTx/>
              <a:buSzTx/>
              <a:buFontTx/>
              <a:buNone/>
              <a:tabLst/>
            </a:pPr>
            <a:r>
              <a:rPr kumimoji="0" lang="zh-CN" altLang="en-US" b="0" i="0" u="none" strike="noStrike" cap="none" normalizeH="0" baseline="0" dirty="0" smtClean="0">
                <a:ln>
                  <a:noFill/>
                </a:ln>
                <a:solidFill>
                  <a:schemeClr val="tx1"/>
                </a:solidFill>
                <a:effectLst/>
                <a:latin typeface="华文中宋" panose="02010600040101010101" pitchFamily="2" charset="-122"/>
                <a:ea typeface="华文中宋" panose="02010600040101010101" pitchFamily="2" charset="-122"/>
              </a:rPr>
              <a:t>多行为</a:t>
            </a:r>
          </a:p>
        </p:txBody>
      </p:sp>
      <p:sp>
        <p:nvSpPr>
          <p:cNvPr id="30" name="圆角矩形 29"/>
          <p:cNvSpPr/>
          <p:nvPr/>
        </p:nvSpPr>
        <p:spPr bwMode="auto">
          <a:xfrm>
            <a:off x="859632" y="1371484"/>
            <a:ext cx="1455036" cy="867554"/>
          </a:xfrm>
          <a:prstGeom prst="roundRect">
            <a:avLst/>
          </a:prstGeom>
          <a:solidFill>
            <a:schemeClr val="bg1"/>
          </a:solidFill>
          <a:ln w="15875">
            <a:noFill/>
            <a:prstDash val="dash"/>
            <a:headEnd type="none" w="med" len="med"/>
            <a:tailEnd type="none" w="med" len="med"/>
          </a:ln>
          <a:extLst/>
        </p:spPr>
        <p:style>
          <a:lnRef idx="2">
            <a:schemeClr val="dk1"/>
          </a:lnRef>
          <a:fillRef idx="1">
            <a:schemeClr val="lt1"/>
          </a:fillRef>
          <a:effectRef idx="0">
            <a:schemeClr val="dk1"/>
          </a:effectRef>
          <a:fontRef idx="minor">
            <a:schemeClr val="dk1"/>
          </a:fontRef>
        </p:style>
        <p:txBody>
          <a:bodyPr vert="horz" wrap="none" lIns="91440" tIns="45720" rIns="91440" bIns="45720" numCol="1" rtlCol="0" anchor="t" anchorCtr="0" compatLnSpc="1">
            <a:prstTxWarp prst="textNoShape">
              <a:avLst/>
            </a:prstTxWarp>
          </a:bodyPr>
          <a:lstStyle/>
          <a:p>
            <a:pPr marL="0" marR="0" indent="0" algn="ctr" defTabSz="914400" rtl="0" eaLnBrk="1" fontAlgn="base" latinLnBrk="0" hangingPunct="1">
              <a:spcBef>
                <a:spcPct val="0"/>
              </a:spcBef>
              <a:spcAft>
                <a:spcPct val="0"/>
              </a:spcAft>
              <a:buClrTx/>
              <a:buSzTx/>
              <a:buFontTx/>
              <a:buNone/>
              <a:tabLst/>
            </a:pPr>
            <a:r>
              <a:rPr lang="zh-CN" altLang="en-US" sz="2400" dirty="0" smtClean="0">
                <a:solidFill>
                  <a:srgbClr val="0000FF"/>
                </a:solidFill>
                <a:latin typeface="华文中宋" panose="02010600040101010101" pitchFamily="2" charset="-122"/>
                <a:ea typeface="华文中宋" panose="02010600040101010101" pitchFamily="2" charset="-122"/>
              </a:rPr>
              <a:t>纵向要求</a:t>
            </a:r>
            <a:endParaRPr lang="en-US" altLang="zh-CN" sz="2400" dirty="0" smtClean="0">
              <a:solidFill>
                <a:srgbClr val="0000FF"/>
              </a:solidFill>
              <a:latin typeface="华文中宋" panose="02010600040101010101" pitchFamily="2" charset="-122"/>
              <a:ea typeface="华文中宋" panose="02010600040101010101" pitchFamily="2" charset="-122"/>
            </a:endParaRPr>
          </a:p>
          <a:p>
            <a:pPr marL="0" marR="0" indent="0" algn="ctr" defTabSz="914400" rtl="0" eaLnBrk="1" fontAlgn="base" latinLnBrk="0" hangingPunct="1">
              <a:spcBef>
                <a:spcPct val="0"/>
              </a:spcBef>
              <a:spcAft>
                <a:spcPct val="0"/>
              </a:spcAft>
              <a:buClrTx/>
              <a:buSzTx/>
              <a:buFontTx/>
              <a:buNone/>
              <a:tabLst/>
            </a:pPr>
            <a:r>
              <a:rPr kumimoji="0" lang="zh-CN" altLang="en-US" sz="2400" i="0" u="none" strike="noStrike" cap="none" normalizeH="0" baseline="0" dirty="0" smtClean="0">
                <a:ln>
                  <a:noFill/>
                </a:ln>
                <a:solidFill>
                  <a:srgbClr val="FF0000"/>
                </a:solidFill>
                <a:effectLst/>
                <a:latin typeface="幼圆" panose="02010509060101010101" pitchFamily="49" charset="-122"/>
                <a:ea typeface="幼圆" panose="02010509060101010101" pitchFamily="49" charset="-122"/>
              </a:rPr>
              <a:t>分析层次</a:t>
            </a:r>
          </a:p>
        </p:txBody>
      </p:sp>
      <p:sp>
        <p:nvSpPr>
          <p:cNvPr id="32" name="圆角矩形 31"/>
          <p:cNvSpPr/>
          <p:nvPr/>
        </p:nvSpPr>
        <p:spPr bwMode="auto">
          <a:xfrm>
            <a:off x="6948264" y="4936393"/>
            <a:ext cx="1338400" cy="432048"/>
          </a:xfrm>
          <a:prstGeom prst="roundRect">
            <a:avLst/>
          </a:prstGeom>
          <a:solidFill>
            <a:schemeClr val="bg1"/>
          </a:solidFill>
          <a:ln w="15875">
            <a:noFill/>
            <a:prstDash val="dash"/>
            <a:headEnd type="none" w="med" len="med"/>
            <a:tailEnd type="none" w="med" len="med"/>
          </a:ln>
          <a:extLst/>
        </p:spPr>
        <p:style>
          <a:lnRef idx="2">
            <a:schemeClr val="dk1"/>
          </a:lnRef>
          <a:fillRef idx="1">
            <a:schemeClr val="lt1"/>
          </a:fillRef>
          <a:effectRef idx="0">
            <a:schemeClr val="dk1"/>
          </a:effectRef>
          <a:fontRef idx="minor">
            <a:schemeClr val="dk1"/>
          </a:fontRef>
        </p:style>
        <p:txBody>
          <a:bodyPr vert="horz" wrap="none" lIns="91440" tIns="45720" rIns="91440" bIns="45720" numCol="1" rtlCol="0" anchor="t" anchorCtr="0" compatLnSpc="1">
            <a:prstTxWarp prst="textNoShape">
              <a:avLst/>
            </a:prstTxWarp>
          </a:bodyPr>
          <a:lstStyle/>
          <a:p>
            <a:pPr marL="0" marR="0" indent="0" algn="ctr" defTabSz="914400" rtl="0" eaLnBrk="1" fontAlgn="base" latinLnBrk="0" hangingPunct="1">
              <a:spcBef>
                <a:spcPct val="0"/>
              </a:spcBef>
              <a:spcAft>
                <a:spcPct val="0"/>
              </a:spcAft>
              <a:buClrTx/>
              <a:buSzTx/>
              <a:buFontTx/>
              <a:buNone/>
              <a:tabLst/>
            </a:pPr>
            <a:r>
              <a:rPr kumimoji="0" lang="zh-CN" altLang="en-US" sz="2400" i="0" u="none" strike="noStrike" cap="none" normalizeH="0" baseline="0" dirty="0" smtClean="0">
                <a:ln>
                  <a:noFill/>
                </a:ln>
                <a:solidFill>
                  <a:srgbClr val="0000FF"/>
                </a:solidFill>
                <a:effectLst/>
                <a:latin typeface="华文中宋" panose="02010600040101010101" pitchFamily="2" charset="-122"/>
                <a:ea typeface="华文中宋" panose="02010600040101010101" pitchFamily="2" charset="-122"/>
              </a:rPr>
              <a:t>横向要求</a:t>
            </a:r>
            <a:endParaRPr kumimoji="0" lang="en-US" altLang="zh-CN" sz="2400" i="0" u="none" strike="noStrike" cap="none" normalizeH="0" baseline="0" dirty="0" smtClean="0">
              <a:ln>
                <a:noFill/>
              </a:ln>
              <a:solidFill>
                <a:srgbClr val="0000FF"/>
              </a:solidFill>
              <a:effectLst/>
              <a:latin typeface="华文中宋" panose="02010600040101010101" pitchFamily="2" charset="-122"/>
              <a:ea typeface="华文中宋" panose="02010600040101010101" pitchFamily="2" charset="-122"/>
            </a:endParaRPr>
          </a:p>
          <a:p>
            <a:pPr marL="0" marR="0" indent="0" algn="ctr" defTabSz="914400" rtl="0" eaLnBrk="1" fontAlgn="base" latinLnBrk="0" hangingPunct="1">
              <a:spcBef>
                <a:spcPct val="0"/>
              </a:spcBef>
              <a:spcAft>
                <a:spcPct val="0"/>
              </a:spcAft>
              <a:buClrTx/>
              <a:buSzTx/>
              <a:buFontTx/>
              <a:buNone/>
              <a:tabLst/>
            </a:pPr>
            <a:r>
              <a:rPr kumimoji="0" lang="zh-CN" altLang="en-US" sz="2400" i="0" u="none" strike="noStrike" cap="none" normalizeH="0" baseline="0" dirty="0" smtClean="0">
                <a:ln>
                  <a:noFill/>
                </a:ln>
                <a:solidFill>
                  <a:srgbClr val="FF0000"/>
                </a:solidFill>
                <a:effectLst/>
                <a:latin typeface="幼圆" panose="02010509060101010101" pitchFamily="49" charset="-122"/>
                <a:ea typeface="幼圆" panose="02010509060101010101" pitchFamily="49" charset="-122"/>
              </a:rPr>
              <a:t>分析对象</a:t>
            </a:r>
          </a:p>
        </p:txBody>
      </p:sp>
      <p:cxnSp>
        <p:nvCxnSpPr>
          <p:cNvPr id="35" name="直接连接符 34"/>
          <p:cNvCxnSpPr/>
          <p:nvPr/>
        </p:nvCxnSpPr>
        <p:spPr bwMode="auto">
          <a:xfrm>
            <a:off x="2555797" y="3518457"/>
            <a:ext cx="4795359" cy="0"/>
          </a:xfrm>
          <a:prstGeom prst="line">
            <a:avLst/>
          </a:prstGeom>
          <a:solidFill>
            <a:schemeClr val="accent1"/>
          </a:solidFill>
          <a:ln w="9525" cap="flat" cmpd="sng" algn="ctr">
            <a:solidFill>
              <a:schemeClr val="tx1"/>
            </a:solidFill>
            <a:prstDash val="dash"/>
            <a:miter lim="800000"/>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45" name="椭圆 44"/>
          <p:cNvSpPr/>
          <p:nvPr/>
        </p:nvSpPr>
        <p:spPr bwMode="auto">
          <a:xfrm>
            <a:off x="3004061" y="2407384"/>
            <a:ext cx="1800200" cy="869355"/>
          </a:xfrm>
          <a:prstGeom prst="ellipse">
            <a:avLst/>
          </a:prstGeom>
          <a:solidFill>
            <a:srgbClr val="FF0000">
              <a:alpha val="17000"/>
            </a:srgbClr>
          </a:solidFill>
          <a:ln w="6350" cap="flat" cmpd="sng" algn="ctr">
            <a:solidFill>
              <a:schemeClr val="tx1">
                <a:alpha val="34000"/>
              </a:schemeClr>
            </a:solidFill>
            <a:prstDash val="solid"/>
            <a:miter lim="800000"/>
            <a:headEnd type="none" w="med" len="med"/>
            <a:tailEnd type="none" w="med" len="med"/>
          </a:ln>
          <a:effectLst/>
          <a:extLst/>
        </p:spPr>
        <p:txBody>
          <a:bodyPr vert="horz" wrap="none" lIns="91440" tIns="45720" rIns="91440" bIns="45720" numCol="1" rtlCol="0" anchor="t" anchorCtr="0" compatLnSpc="1">
            <a:prstTxWarp prst="textNoShape">
              <a:avLst/>
            </a:prstTxWarp>
          </a:bodyPr>
          <a:lstStyle/>
          <a:p>
            <a:pPr marL="0" marR="0" indent="0" algn="ctr" defTabSz="914400" rtl="0" eaLnBrk="1" fontAlgn="base" latinLnBrk="0" hangingPunct="1">
              <a:lnSpc>
                <a:spcPct val="150000"/>
              </a:lnSpc>
              <a:spcBef>
                <a:spcPct val="0"/>
              </a:spcBef>
              <a:spcAft>
                <a:spcPct val="0"/>
              </a:spcAft>
              <a:buClrTx/>
              <a:buSzTx/>
              <a:buFontTx/>
              <a:buNone/>
              <a:tabLst/>
            </a:pPr>
            <a:r>
              <a:rPr kumimoji="0" lang="zh-CN" altLang="en-US" sz="2400" b="0" i="0" u="none" strike="noStrike" cap="none" normalizeH="0" baseline="0" dirty="0" smtClean="0">
                <a:ln>
                  <a:noFill/>
                </a:ln>
                <a:solidFill>
                  <a:schemeClr val="tx1"/>
                </a:solidFill>
                <a:effectLst/>
                <a:latin typeface="楷体" panose="02010609060101010101" pitchFamily="49" charset="-122"/>
                <a:ea typeface="楷体" panose="02010609060101010101" pitchFamily="49" charset="-122"/>
              </a:rPr>
              <a:t>回归预测</a:t>
            </a:r>
          </a:p>
        </p:txBody>
      </p:sp>
      <p:sp>
        <p:nvSpPr>
          <p:cNvPr id="46" name="椭圆 45"/>
          <p:cNvSpPr/>
          <p:nvPr/>
        </p:nvSpPr>
        <p:spPr bwMode="auto">
          <a:xfrm>
            <a:off x="5148659" y="2407384"/>
            <a:ext cx="1800200" cy="869355"/>
          </a:xfrm>
          <a:prstGeom prst="ellipse">
            <a:avLst/>
          </a:prstGeom>
          <a:solidFill>
            <a:srgbClr val="FF0000">
              <a:alpha val="17000"/>
            </a:srgbClr>
          </a:solidFill>
          <a:ln w="6350" cap="flat" cmpd="sng" algn="ctr">
            <a:solidFill>
              <a:schemeClr val="tx1">
                <a:alpha val="34000"/>
              </a:schemeClr>
            </a:solidFill>
            <a:prstDash val="solid"/>
            <a:miter lim="800000"/>
            <a:headEnd type="none" w="med" len="med"/>
            <a:tailEnd type="none" w="med" len="med"/>
          </a:ln>
          <a:effectLst/>
          <a:extLst/>
        </p:spPr>
        <p:txBody>
          <a:bodyPr vert="horz" wrap="none" lIns="91440" tIns="45720" rIns="91440" bIns="45720" numCol="1" rtlCol="0" anchor="t" anchorCtr="0" compatLnSpc="1">
            <a:prstTxWarp prst="textNoShape">
              <a:avLst/>
            </a:prstTxWarp>
          </a:bodyPr>
          <a:lstStyle/>
          <a:p>
            <a:pPr marL="0" marR="0" indent="0" algn="ctr" defTabSz="914400" rtl="0" eaLnBrk="1" fontAlgn="base" latinLnBrk="0" hangingPunct="1">
              <a:lnSpc>
                <a:spcPct val="150000"/>
              </a:lnSpc>
              <a:spcBef>
                <a:spcPct val="0"/>
              </a:spcBef>
              <a:spcAft>
                <a:spcPct val="0"/>
              </a:spcAft>
              <a:buClrTx/>
              <a:buSzTx/>
              <a:buFontTx/>
              <a:buNone/>
              <a:tabLst/>
            </a:pPr>
            <a:r>
              <a:rPr kumimoji="0" lang="zh-CN" altLang="en-US" sz="2400" b="0" i="0" u="none" strike="noStrike" cap="none" normalizeH="0" baseline="0" dirty="0" smtClean="0">
                <a:ln>
                  <a:noFill/>
                </a:ln>
                <a:solidFill>
                  <a:schemeClr val="tx1"/>
                </a:solidFill>
                <a:effectLst/>
                <a:latin typeface="楷体" panose="02010609060101010101" pitchFamily="49" charset="-122"/>
                <a:ea typeface="楷体" panose="02010609060101010101" pitchFamily="49" charset="-122"/>
              </a:rPr>
              <a:t>分类预测</a:t>
            </a:r>
          </a:p>
        </p:txBody>
      </p:sp>
      <p:sp>
        <p:nvSpPr>
          <p:cNvPr id="47" name="椭圆 46"/>
          <p:cNvSpPr/>
          <p:nvPr/>
        </p:nvSpPr>
        <p:spPr bwMode="auto">
          <a:xfrm>
            <a:off x="3004061" y="3715472"/>
            <a:ext cx="1800200" cy="869355"/>
          </a:xfrm>
          <a:prstGeom prst="ellipse">
            <a:avLst/>
          </a:prstGeom>
          <a:solidFill>
            <a:schemeClr val="accent1"/>
          </a:solidFill>
          <a:ln w="9525" cap="flat" cmpd="sng" algn="ctr">
            <a:solidFill>
              <a:schemeClr val="tx1"/>
            </a:solidFill>
            <a:prstDash val="solid"/>
            <a:miter lim="800000"/>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rtlCol="0" anchor="t" anchorCtr="0" compatLnSpc="1">
            <a:prstTxWarp prst="textNoShape">
              <a:avLst/>
            </a:prstTxWarp>
          </a:bodyPr>
          <a:lstStyle/>
          <a:p>
            <a:pPr algn="ctr" eaLnBrk="1" hangingPunct="1">
              <a:lnSpc>
                <a:spcPct val="150000"/>
              </a:lnSpc>
            </a:pPr>
            <a:r>
              <a:rPr lang="zh-CN" altLang="en-US" sz="2400" b="0" dirty="0">
                <a:latin typeface="楷体" panose="02010609060101010101" pitchFamily="49" charset="-122"/>
                <a:ea typeface="楷体" panose="02010609060101010101" pitchFamily="49" charset="-122"/>
              </a:rPr>
              <a:t>特征工程</a:t>
            </a:r>
          </a:p>
        </p:txBody>
      </p:sp>
      <p:sp>
        <p:nvSpPr>
          <p:cNvPr id="48" name="椭圆 47"/>
          <p:cNvSpPr/>
          <p:nvPr/>
        </p:nvSpPr>
        <p:spPr bwMode="auto">
          <a:xfrm>
            <a:off x="5130672" y="3715472"/>
            <a:ext cx="1800200" cy="869355"/>
          </a:xfrm>
          <a:prstGeom prst="ellipse">
            <a:avLst/>
          </a:prstGeom>
          <a:solidFill>
            <a:schemeClr val="accent1"/>
          </a:solidFill>
          <a:ln w="9525" cap="flat" cmpd="sng" algn="ctr">
            <a:solidFill>
              <a:schemeClr val="tx1"/>
            </a:solidFill>
            <a:prstDash val="solid"/>
            <a:miter lim="800000"/>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rtlCol="0" anchor="t" anchorCtr="0" compatLnSpc="1">
            <a:prstTxWarp prst="textNoShape">
              <a:avLst/>
            </a:prstTxWarp>
          </a:bodyPr>
          <a:lstStyle/>
          <a:p>
            <a:pPr algn="ctr" eaLnBrk="1" hangingPunct="1">
              <a:lnSpc>
                <a:spcPct val="150000"/>
              </a:lnSpc>
            </a:pPr>
            <a:r>
              <a:rPr lang="zh-CN" altLang="en-US" sz="2400" b="0" dirty="0">
                <a:latin typeface="楷体" panose="02010609060101010101" pitchFamily="49" charset="-122"/>
                <a:ea typeface="楷体" panose="02010609060101010101" pitchFamily="49" charset="-122"/>
              </a:rPr>
              <a:t>建模依据</a:t>
            </a:r>
          </a:p>
        </p:txBody>
      </p:sp>
      <p:sp>
        <p:nvSpPr>
          <p:cNvPr id="49" name="矩形 48"/>
          <p:cNvSpPr/>
          <p:nvPr/>
        </p:nvSpPr>
        <p:spPr>
          <a:xfrm>
            <a:off x="2697089" y="1402638"/>
            <a:ext cx="4512774" cy="523220"/>
          </a:xfrm>
          <a:prstGeom prst="rect">
            <a:avLst/>
          </a:prstGeom>
        </p:spPr>
        <p:txBody>
          <a:bodyPr wrap="none">
            <a:spAutoFit/>
          </a:bodyPr>
          <a:lstStyle/>
          <a:p>
            <a:r>
              <a:rPr lang="zh-CN" altLang="en-US" sz="2800" dirty="0">
                <a:solidFill>
                  <a:srgbClr val="FF0000"/>
                </a:solidFill>
                <a:latin typeface="幼圆" panose="02010509060101010101" pitchFamily="49" charset="-122"/>
                <a:ea typeface="幼圆" panose="02010509060101010101" pitchFamily="49" charset="-122"/>
              </a:rPr>
              <a:t>大</a:t>
            </a:r>
            <a:r>
              <a:rPr lang="zh-CN" altLang="en-US" sz="2800" dirty="0" smtClean="0">
                <a:solidFill>
                  <a:srgbClr val="FF0000"/>
                </a:solidFill>
                <a:latin typeface="幼圆" panose="02010509060101010101" pitchFamily="49" charset="-122"/>
                <a:ea typeface="幼圆" panose="02010509060101010101" pitchFamily="49" charset="-122"/>
              </a:rPr>
              <a:t>数据分析的二维概念框架</a:t>
            </a:r>
            <a:endParaRPr lang="zh-CN" altLang="en-US" sz="2800" dirty="0">
              <a:solidFill>
                <a:srgbClr val="FF0000"/>
              </a:solidFill>
              <a:latin typeface="幼圆" panose="02010509060101010101" pitchFamily="49" charset="-122"/>
              <a:ea typeface="幼圆" panose="02010509060101010101" pitchFamily="49" charset="-122"/>
            </a:endParaRPr>
          </a:p>
        </p:txBody>
      </p:sp>
    </p:spTree>
    <p:extLst>
      <p:ext uri="{BB962C8B-B14F-4D97-AF65-F5344CB8AC3E}">
        <p14:creationId xmlns:p14="http://schemas.microsoft.com/office/powerpoint/2010/main" val="3909400174"/>
      </p:ext>
    </p:extLst>
  </p:cSld>
  <p:clrMapOvr>
    <a:masterClrMapping/>
  </p:clrMapOvr>
  <p:transition spd="slow">
    <p:circle/>
  </p:transition>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研究范式</a:t>
            </a:r>
            <a:endParaRPr lang="zh-CN" altLang="en-US" dirty="0"/>
          </a:p>
        </p:txBody>
      </p:sp>
      <p:sp>
        <p:nvSpPr>
          <p:cNvPr id="14" name="圆角矩形 13"/>
          <p:cNvSpPr/>
          <p:nvPr/>
        </p:nvSpPr>
        <p:spPr bwMode="auto">
          <a:xfrm>
            <a:off x="3193902" y="1531672"/>
            <a:ext cx="2736304" cy="1656184"/>
          </a:xfrm>
          <a:prstGeom prst="roundRect">
            <a:avLst/>
          </a:prstGeom>
          <a:solidFill>
            <a:srgbClr val="FFFF00"/>
          </a:solidFill>
          <a:ln>
            <a:headEnd type="none" w="med" len="med"/>
            <a:tailEnd type="none" w="med" len="med"/>
          </a:ln>
          <a:extLst/>
        </p:spPr>
        <p:style>
          <a:lnRef idx="2">
            <a:schemeClr val="accent1"/>
          </a:lnRef>
          <a:fillRef idx="1">
            <a:schemeClr val="lt1"/>
          </a:fillRef>
          <a:effectRef idx="0">
            <a:schemeClr val="accent1"/>
          </a:effectRef>
          <a:fontRef idx="minor">
            <a:schemeClr val="dk1"/>
          </a:fontRef>
        </p:style>
        <p:txBody>
          <a:bodyPr vert="horz" wrap="none" lIns="91440" tIns="45720" rIns="91440" bIns="45720" numCol="1" rtlCol="0" anchor="t" anchorCtr="0" compatLnSpc="1">
            <a:prstTxWarp prst="textNoShape">
              <a:avLst/>
            </a:prstTxWarp>
          </a:bodyPr>
          <a:lstStyle/>
          <a:p>
            <a:pPr marL="0" marR="0" indent="0" algn="ctr" defTabSz="914400" rtl="0" eaLnBrk="1" fontAlgn="base" latinLnBrk="0" hangingPunct="1">
              <a:lnSpc>
                <a:spcPct val="150000"/>
              </a:lnSpc>
              <a:spcBef>
                <a:spcPct val="0"/>
              </a:spcBef>
              <a:spcAft>
                <a:spcPct val="0"/>
              </a:spcAft>
              <a:buClrTx/>
              <a:buSzTx/>
              <a:buFontTx/>
              <a:buNone/>
              <a:tabLst/>
            </a:pPr>
            <a:r>
              <a:rPr lang="zh-CN" altLang="en-US" sz="3200" dirty="0">
                <a:solidFill>
                  <a:schemeClr val="tx1"/>
                </a:solidFill>
                <a:latin typeface="华文中宋" panose="02010600040101010101" pitchFamily="2" charset="-122"/>
                <a:ea typeface="华文中宋" panose="02010600040101010101" pitchFamily="2" charset="-122"/>
              </a:rPr>
              <a:t>预测性</a:t>
            </a:r>
            <a:r>
              <a:rPr lang="zh-CN" altLang="en-US" sz="3200" dirty="0" smtClean="0">
                <a:solidFill>
                  <a:schemeClr val="tx1"/>
                </a:solidFill>
                <a:latin typeface="华文中宋" panose="02010600040101010101" pitchFamily="2" charset="-122"/>
                <a:ea typeface="华文中宋" panose="02010600040101010101" pitchFamily="2" charset="-122"/>
              </a:rPr>
              <a:t>分析</a:t>
            </a:r>
            <a:endParaRPr lang="en-US" altLang="zh-CN" sz="3200" dirty="0" smtClean="0">
              <a:solidFill>
                <a:schemeClr val="tx1"/>
              </a:solidFill>
              <a:latin typeface="华文中宋" panose="02010600040101010101" pitchFamily="2" charset="-122"/>
              <a:ea typeface="华文中宋" panose="02010600040101010101" pitchFamily="2" charset="-122"/>
            </a:endParaRPr>
          </a:p>
          <a:p>
            <a:pPr algn="ctr">
              <a:lnSpc>
                <a:spcPct val="150000"/>
              </a:lnSpc>
            </a:pPr>
            <a:r>
              <a:rPr lang="zh-CN" altLang="en-US" sz="2800" b="0" dirty="0" smtClean="0">
                <a:solidFill>
                  <a:schemeClr val="tx1"/>
                </a:solidFill>
                <a:latin typeface="楷体" panose="02010609060101010101" pitchFamily="49" charset="-122"/>
                <a:ea typeface="楷体" panose="02010609060101010101" pitchFamily="49" charset="-122"/>
              </a:rPr>
              <a:t>（机器学习）</a:t>
            </a:r>
            <a:endParaRPr lang="zh-CN" altLang="en-US" sz="2800" dirty="0">
              <a:solidFill>
                <a:schemeClr val="tx1"/>
              </a:solidFill>
              <a:latin typeface="华文中宋" panose="02010600040101010101" pitchFamily="2" charset="-122"/>
              <a:ea typeface="华文中宋" panose="02010600040101010101" pitchFamily="2" charset="-122"/>
            </a:endParaRPr>
          </a:p>
        </p:txBody>
      </p:sp>
      <p:sp>
        <p:nvSpPr>
          <p:cNvPr id="15" name="圆角矩形 14"/>
          <p:cNvSpPr/>
          <p:nvPr/>
        </p:nvSpPr>
        <p:spPr bwMode="auto">
          <a:xfrm>
            <a:off x="3193902" y="3881333"/>
            <a:ext cx="2711418" cy="1728192"/>
          </a:xfrm>
          <a:prstGeom prst="roundRect">
            <a:avLst/>
          </a:prstGeom>
          <a:solidFill>
            <a:srgbClr val="56E8C5"/>
          </a:solidFill>
          <a:ln>
            <a:headEnd type="none" w="med" len="med"/>
            <a:tailEnd type="none" w="med" len="med"/>
          </a:ln>
          <a:extLst/>
        </p:spPr>
        <p:style>
          <a:lnRef idx="2">
            <a:schemeClr val="accent1"/>
          </a:lnRef>
          <a:fillRef idx="1">
            <a:schemeClr val="lt1"/>
          </a:fillRef>
          <a:effectRef idx="0">
            <a:schemeClr val="accent1"/>
          </a:effectRef>
          <a:fontRef idx="minor">
            <a:schemeClr val="dk1"/>
          </a:fontRef>
        </p:style>
        <p:txBody>
          <a:bodyPr vert="horz" wrap="none" lIns="91440" tIns="45720" rIns="91440" bIns="45720" numCol="1" rtlCol="0" anchor="t" anchorCtr="0" compatLnSpc="1">
            <a:prstTxWarp prst="textNoShape">
              <a:avLst/>
            </a:prstTxWarp>
          </a:bodyPr>
          <a:lstStyle/>
          <a:p>
            <a:pPr marL="0" marR="0" indent="0" algn="ctr" defTabSz="914400" rtl="0" eaLnBrk="1" fontAlgn="base" latinLnBrk="0" hangingPunct="1">
              <a:lnSpc>
                <a:spcPct val="150000"/>
              </a:lnSpc>
              <a:spcBef>
                <a:spcPct val="0"/>
              </a:spcBef>
              <a:spcAft>
                <a:spcPct val="0"/>
              </a:spcAft>
              <a:buClrTx/>
              <a:buSzTx/>
              <a:buFontTx/>
              <a:buNone/>
              <a:tabLst/>
            </a:pPr>
            <a:r>
              <a:rPr kumimoji="0" lang="zh-CN" altLang="en-US" sz="3200" i="0" u="none" strike="noStrike" cap="none" normalizeH="0" baseline="0" dirty="0" smtClean="0">
                <a:ln>
                  <a:noFill/>
                </a:ln>
                <a:solidFill>
                  <a:schemeClr val="tx1"/>
                </a:solidFill>
                <a:effectLst/>
                <a:latin typeface="华文中宋" panose="02010600040101010101" pitchFamily="2" charset="-122"/>
                <a:ea typeface="华文中宋" panose="02010600040101010101" pitchFamily="2" charset="-122"/>
              </a:rPr>
              <a:t>描述性分析</a:t>
            </a:r>
            <a:endParaRPr kumimoji="0" lang="en-US" altLang="zh-CN" sz="3200" i="0" u="none" strike="noStrike" cap="none" normalizeH="0" baseline="0" dirty="0" smtClean="0">
              <a:ln>
                <a:noFill/>
              </a:ln>
              <a:solidFill>
                <a:schemeClr val="tx1"/>
              </a:solidFill>
              <a:effectLst/>
              <a:latin typeface="华文中宋" panose="02010600040101010101" pitchFamily="2" charset="-122"/>
              <a:ea typeface="华文中宋" panose="02010600040101010101" pitchFamily="2" charset="-122"/>
            </a:endParaRPr>
          </a:p>
          <a:p>
            <a:pPr marL="0" marR="0" indent="0" algn="ctr" defTabSz="914400" rtl="0" eaLnBrk="1" fontAlgn="base" latinLnBrk="0" hangingPunct="1">
              <a:lnSpc>
                <a:spcPct val="150000"/>
              </a:lnSpc>
              <a:spcBef>
                <a:spcPct val="0"/>
              </a:spcBef>
              <a:spcAft>
                <a:spcPct val="0"/>
              </a:spcAft>
              <a:buClrTx/>
              <a:buSzTx/>
              <a:buFontTx/>
              <a:buNone/>
              <a:tabLst/>
            </a:pPr>
            <a:r>
              <a:rPr lang="zh-CN" altLang="en-US" sz="2800" b="0" dirty="0" smtClean="0">
                <a:solidFill>
                  <a:schemeClr val="tx1"/>
                </a:solidFill>
                <a:latin typeface="楷体" panose="02010609060101010101" pitchFamily="49" charset="-122"/>
                <a:ea typeface="楷体" panose="02010609060101010101" pitchFamily="49" charset="-122"/>
              </a:rPr>
              <a:t>（统计图、云图）</a:t>
            </a:r>
            <a:endParaRPr kumimoji="0" lang="zh-CN" altLang="en-US" sz="2800" b="0" i="0" u="none" strike="noStrike" cap="none" normalizeH="0" baseline="0" dirty="0" smtClean="0">
              <a:ln>
                <a:noFill/>
              </a:ln>
              <a:solidFill>
                <a:schemeClr val="tx1"/>
              </a:solidFill>
              <a:effectLst/>
              <a:latin typeface="楷体" panose="02010609060101010101" pitchFamily="49" charset="-122"/>
              <a:ea typeface="楷体" panose="02010609060101010101" pitchFamily="49" charset="-122"/>
            </a:endParaRPr>
          </a:p>
        </p:txBody>
      </p:sp>
      <p:sp>
        <p:nvSpPr>
          <p:cNvPr id="3" name="右箭头 2"/>
          <p:cNvSpPr/>
          <p:nvPr/>
        </p:nvSpPr>
        <p:spPr bwMode="auto">
          <a:xfrm rot="16200000">
            <a:off x="4357148" y="3079844"/>
            <a:ext cx="648072" cy="864096"/>
          </a:xfrm>
          <a:prstGeom prst="rightArrow">
            <a:avLst/>
          </a:prstGeom>
          <a:ln w="15875">
            <a:prstDash val="dash"/>
            <a:headEnd type="none" w="med" len="med"/>
            <a:tailEnd type="none" w="med" len="med"/>
          </a:ln>
          <a:extLst/>
        </p:spPr>
        <p:style>
          <a:lnRef idx="2">
            <a:schemeClr val="accent6"/>
          </a:lnRef>
          <a:fillRef idx="1">
            <a:schemeClr val="lt1"/>
          </a:fillRef>
          <a:effectRef idx="0">
            <a:schemeClr val="accent6"/>
          </a:effectRef>
          <a:fontRef idx="minor">
            <a:schemeClr val="dk1"/>
          </a:fontRef>
        </p:style>
        <p:txBody>
          <a:bodyPr vert="horz" wrap="non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zh-CN" altLang="en-US" sz="1800" i="0" u="none" strike="noStrike" normalizeH="0" baseline="0" smtClean="0">
              <a:ln w="6600">
                <a:solidFill>
                  <a:schemeClr val="accent2"/>
                </a:solidFill>
                <a:prstDash val="solid"/>
              </a:ln>
              <a:solidFill>
                <a:srgbClr val="FFFFFF"/>
              </a:solidFill>
              <a:effectLst>
                <a:outerShdw dist="38100" dir="2700000" algn="tl" rotWithShape="0">
                  <a:schemeClr val="accent2"/>
                </a:outerShdw>
              </a:effectLst>
              <a:latin typeface="Arial" pitchFamily="34" charset="0"/>
            </a:endParaRPr>
          </a:p>
        </p:txBody>
      </p:sp>
      <p:sp>
        <p:nvSpPr>
          <p:cNvPr id="7" name="右箭头 6"/>
          <p:cNvSpPr/>
          <p:nvPr/>
        </p:nvSpPr>
        <p:spPr bwMode="auto">
          <a:xfrm>
            <a:off x="2418918" y="3200562"/>
            <a:ext cx="449683" cy="761858"/>
          </a:xfrm>
          <a:prstGeom prst="rightArrow">
            <a:avLst/>
          </a:prstGeom>
          <a:ln>
            <a:headEnd type="none" w="med" len="med"/>
            <a:tailEnd type="none" w="med" len="med"/>
          </a:ln>
          <a:extLst/>
        </p:spPr>
        <p:style>
          <a:lnRef idx="2">
            <a:schemeClr val="accent6"/>
          </a:lnRef>
          <a:fillRef idx="1">
            <a:schemeClr val="lt1"/>
          </a:fillRef>
          <a:effectRef idx="0">
            <a:schemeClr val="accent6"/>
          </a:effectRef>
          <a:fontRef idx="minor">
            <a:schemeClr val="dk1"/>
          </a:fontRef>
        </p:style>
        <p:txBody>
          <a:bodyPr vert="horz" wrap="non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zh-CN" altLang="en-US" sz="1800" i="0" u="none" strike="noStrike" normalizeH="0" baseline="0" smtClean="0">
              <a:ln w="6600">
                <a:solidFill>
                  <a:schemeClr val="accent2"/>
                </a:solidFill>
                <a:prstDash val="solid"/>
              </a:ln>
              <a:solidFill>
                <a:srgbClr val="FFFFFF"/>
              </a:solidFill>
              <a:effectLst>
                <a:outerShdw dist="38100" dir="2700000" algn="tl" rotWithShape="0">
                  <a:schemeClr val="accent2"/>
                </a:outerShdw>
              </a:effectLst>
              <a:latin typeface="Arial" pitchFamily="34" charset="0"/>
            </a:endParaRPr>
          </a:p>
        </p:txBody>
      </p:sp>
      <p:pic>
        <p:nvPicPr>
          <p:cNvPr id="8" name="图片 7"/>
          <p:cNvPicPr>
            <a:picLocks noChangeAspect="1"/>
          </p:cNvPicPr>
          <p:nvPr/>
        </p:nvPicPr>
        <p:blipFill>
          <a:blip r:embed="rId2"/>
          <a:stretch>
            <a:fillRect/>
          </a:stretch>
        </p:blipFill>
        <p:spPr>
          <a:xfrm>
            <a:off x="611247" y="3966669"/>
            <a:ext cx="1437132" cy="1557520"/>
          </a:xfrm>
          <a:prstGeom prst="rect">
            <a:avLst/>
          </a:prstGeom>
        </p:spPr>
      </p:pic>
      <p:sp>
        <p:nvSpPr>
          <p:cNvPr id="16" name="圆角矩形 15"/>
          <p:cNvSpPr/>
          <p:nvPr/>
        </p:nvSpPr>
        <p:spPr bwMode="auto">
          <a:xfrm>
            <a:off x="6902711" y="1518585"/>
            <a:ext cx="1626810" cy="1656184"/>
          </a:xfrm>
          <a:prstGeom prst="roundRect">
            <a:avLst/>
          </a:prstGeom>
          <a:solidFill>
            <a:srgbClr val="CCFFCC"/>
          </a:solidFill>
          <a:ln>
            <a:headEnd type="none" w="med" len="med"/>
            <a:tailEnd type="none" w="med" len="med"/>
          </a:ln>
          <a:extLst/>
        </p:spPr>
        <p:style>
          <a:lnRef idx="2">
            <a:schemeClr val="accent1"/>
          </a:lnRef>
          <a:fillRef idx="1">
            <a:schemeClr val="lt1"/>
          </a:fillRef>
          <a:effectRef idx="0">
            <a:schemeClr val="accent1"/>
          </a:effectRef>
          <a:fontRef idx="minor">
            <a:schemeClr val="dk1"/>
          </a:fontRef>
        </p:style>
        <p:txBody>
          <a:bodyPr vert="horz" wrap="none" lIns="91440" tIns="45720" rIns="91440" bIns="45720" numCol="1" rtlCol="0" anchor="t" anchorCtr="0" compatLnSpc="1">
            <a:prstTxWarp prst="textNoShape">
              <a:avLst/>
            </a:prstTxWarp>
          </a:bodyPr>
          <a:lstStyle/>
          <a:p>
            <a:pPr marL="0" marR="0" indent="0" algn="ctr" defTabSz="914400" rtl="0" eaLnBrk="1" fontAlgn="base" latinLnBrk="0" hangingPunct="1">
              <a:lnSpc>
                <a:spcPct val="150000"/>
              </a:lnSpc>
              <a:spcBef>
                <a:spcPct val="0"/>
              </a:spcBef>
              <a:spcAft>
                <a:spcPct val="0"/>
              </a:spcAft>
              <a:buClrTx/>
              <a:buSzTx/>
              <a:buFontTx/>
              <a:buNone/>
              <a:tabLst/>
            </a:pPr>
            <a:r>
              <a:rPr lang="zh-CN" altLang="en-US" sz="3200" dirty="0" smtClean="0">
                <a:solidFill>
                  <a:srgbClr val="0000FF"/>
                </a:solidFill>
                <a:latin typeface="幼圆" panose="02010509060101010101" pitchFamily="49" charset="-122"/>
                <a:ea typeface="幼圆" panose="02010509060101010101" pitchFamily="49" charset="-122"/>
              </a:rPr>
              <a:t>预测</a:t>
            </a:r>
            <a:endParaRPr lang="en-US" altLang="zh-CN" sz="3200" dirty="0" smtClean="0">
              <a:solidFill>
                <a:srgbClr val="0000FF"/>
              </a:solidFill>
              <a:latin typeface="幼圆" panose="02010509060101010101" pitchFamily="49" charset="-122"/>
              <a:ea typeface="幼圆" panose="02010509060101010101" pitchFamily="49" charset="-122"/>
            </a:endParaRPr>
          </a:p>
          <a:p>
            <a:pPr marL="0" marR="0" indent="0" algn="ctr" defTabSz="914400" rtl="0" eaLnBrk="1" fontAlgn="base" latinLnBrk="0" hangingPunct="1">
              <a:lnSpc>
                <a:spcPct val="150000"/>
              </a:lnSpc>
              <a:spcBef>
                <a:spcPct val="0"/>
              </a:spcBef>
              <a:spcAft>
                <a:spcPct val="0"/>
              </a:spcAft>
              <a:buClrTx/>
              <a:buSzTx/>
              <a:buFontTx/>
              <a:buNone/>
              <a:tabLst/>
            </a:pPr>
            <a:r>
              <a:rPr lang="zh-CN" altLang="en-US" sz="3200" dirty="0" smtClean="0">
                <a:solidFill>
                  <a:srgbClr val="0000FF"/>
                </a:solidFill>
                <a:latin typeface="幼圆" panose="02010509060101010101" pitchFamily="49" charset="-122"/>
                <a:ea typeface="幼圆" panose="02010509060101010101" pitchFamily="49" charset="-122"/>
              </a:rPr>
              <a:t>推荐</a:t>
            </a:r>
            <a:endParaRPr lang="zh-CN" altLang="en-US" sz="2800" dirty="0">
              <a:solidFill>
                <a:srgbClr val="0000FF"/>
              </a:solidFill>
              <a:latin typeface="幼圆" panose="02010509060101010101" pitchFamily="49" charset="-122"/>
              <a:ea typeface="幼圆" panose="02010509060101010101" pitchFamily="49" charset="-122"/>
            </a:endParaRPr>
          </a:p>
        </p:txBody>
      </p:sp>
      <p:sp>
        <p:nvSpPr>
          <p:cNvPr id="17" name="圆角矩形 16"/>
          <p:cNvSpPr/>
          <p:nvPr/>
        </p:nvSpPr>
        <p:spPr bwMode="auto">
          <a:xfrm>
            <a:off x="6902711" y="3881333"/>
            <a:ext cx="1626810" cy="1656184"/>
          </a:xfrm>
          <a:prstGeom prst="roundRect">
            <a:avLst/>
          </a:prstGeom>
          <a:solidFill>
            <a:srgbClr val="CCFFCC"/>
          </a:solidFill>
          <a:ln>
            <a:headEnd type="none" w="med" len="med"/>
            <a:tailEnd type="none" w="med" len="med"/>
          </a:ln>
          <a:extLst/>
        </p:spPr>
        <p:style>
          <a:lnRef idx="2">
            <a:schemeClr val="accent1"/>
          </a:lnRef>
          <a:fillRef idx="1">
            <a:schemeClr val="lt1"/>
          </a:fillRef>
          <a:effectRef idx="0">
            <a:schemeClr val="accent1"/>
          </a:effectRef>
          <a:fontRef idx="minor">
            <a:schemeClr val="dk1"/>
          </a:fontRef>
        </p:style>
        <p:txBody>
          <a:bodyPr vert="horz" wrap="none" lIns="91440" tIns="45720" rIns="91440" bIns="45720" numCol="1" rtlCol="0" anchor="t" anchorCtr="0" compatLnSpc="1">
            <a:prstTxWarp prst="textNoShape">
              <a:avLst/>
            </a:prstTxWarp>
          </a:bodyPr>
          <a:lstStyle/>
          <a:p>
            <a:pPr algn="ctr" eaLnBrk="1" hangingPunct="1">
              <a:lnSpc>
                <a:spcPct val="150000"/>
              </a:lnSpc>
            </a:pPr>
            <a:r>
              <a:rPr lang="zh-CN" altLang="en-US" sz="3200" dirty="0">
                <a:solidFill>
                  <a:srgbClr val="0000FF"/>
                </a:solidFill>
                <a:latin typeface="幼圆" panose="02010509060101010101" pitchFamily="49" charset="-122"/>
                <a:ea typeface="幼圆" panose="02010509060101010101" pitchFamily="49" charset="-122"/>
              </a:rPr>
              <a:t>模拟</a:t>
            </a:r>
            <a:endParaRPr lang="en-US" altLang="zh-CN" sz="3200" dirty="0">
              <a:solidFill>
                <a:srgbClr val="0000FF"/>
              </a:solidFill>
              <a:latin typeface="幼圆" panose="02010509060101010101" pitchFamily="49" charset="-122"/>
              <a:ea typeface="幼圆" panose="02010509060101010101" pitchFamily="49" charset="-122"/>
            </a:endParaRPr>
          </a:p>
          <a:p>
            <a:pPr algn="ctr" eaLnBrk="1" hangingPunct="1">
              <a:lnSpc>
                <a:spcPct val="150000"/>
              </a:lnSpc>
            </a:pPr>
            <a:r>
              <a:rPr lang="zh-CN" altLang="en-US" sz="3200" dirty="0">
                <a:solidFill>
                  <a:srgbClr val="0000FF"/>
                </a:solidFill>
                <a:latin typeface="幼圆" panose="02010509060101010101" pitchFamily="49" charset="-122"/>
                <a:ea typeface="幼圆" panose="02010509060101010101" pitchFamily="49" charset="-122"/>
              </a:rPr>
              <a:t>仿真</a:t>
            </a:r>
          </a:p>
        </p:txBody>
      </p:sp>
      <p:sp>
        <p:nvSpPr>
          <p:cNvPr id="18" name="圆角矩形 17"/>
          <p:cNvSpPr/>
          <p:nvPr/>
        </p:nvSpPr>
        <p:spPr bwMode="auto">
          <a:xfrm>
            <a:off x="6692589" y="1216767"/>
            <a:ext cx="2088232" cy="4716525"/>
          </a:xfrm>
          <a:prstGeom prst="roundRect">
            <a:avLst/>
          </a:prstGeom>
          <a:noFill/>
          <a:ln w="12700">
            <a:solidFill>
              <a:srgbClr val="FF0000"/>
            </a:solidFill>
            <a:prstDash val="dash"/>
            <a:headEnd type="none" w="med" len="med"/>
            <a:tailEnd type="none" w="med" len="med"/>
          </a:ln>
          <a:extLst/>
        </p:spPr>
        <p:style>
          <a:lnRef idx="2">
            <a:schemeClr val="accent1"/>
          </a:lnRef>
          <a:fillRef idx="1">
            <a:schemeClr val="lt1"/>
          </a:fillRef>
          <a:effectRef idx="0">
            <a:schemeClr val="accent1"/>
          </a:effectRef>
          <a:fontRef idx="minor">
            <a:schemeClr val="dk1"/>
          </a:fontRef>
        </p:style>
        <p:txBody>
          <a:bodyPr vert="horz" wrap="none" lIns="91440" tIns="45720" rIns="91440" bIns="45720" numCol="1" rtlCol="0" anchor="t" anchorCtr="0" compatLnSpc="1">
            <a:prstTxWarp prst="textNoShape">
              <a:avLst/>
            </a:prstTxWarp>
          </a:bodyPr>
          <a:lstStyle/>
          <a:p>
            <a:pPr marL="0" marR="0" indent="0" algn="ctr" defTabSz="914400" rtl="0" eaLnBrk="1" fontAlgn="base" latinLnBrk="0" hangingPunct="1">
              <a:lnSpc>
                <a:spcPct val="150000"/>
              </a:lnSpc>
              <a:spcBef>
                <a:spcPct val="0"/>
              </a:spcBef>
              <a:spcAft>
                <a:spcPct val="0"/>
              </a:spcAft>
              <a:buClrTx/>
              <a:buSzTx/>
              <a:buFontTx/>
              <a:buNone/>
              <a:tabLst/>
            </a:pPr>
            <a:endParaRPr lang="zh-CN" altLang="en-US" sz="2800" dirty="0">
              <a:solidFill>
                <a:schemeClr val="tx1"/>
              </a:solidFill>
              <a:latin typeface="华文中宋" panose="02010600040101010101" pitchFamily="2" charset="-122"/>
              <a:ea typeface="华文中宋" panose="02010600040101010101" pitchFamily="2" charset="-122"/>
            </a:endParaRPr>
          </a:p>
        </p:txBody>
      </p:sp>
      <p:sp>
        <p:nvSpPr>
          <p:cNvPr id="19" name="圆角矩形 18"/>
          <p:cNvSpPr/>
          <p:nvPr/>
        </p:nvSpPr>
        <p:spPr bwMode="auto">
          <a:xfrm>
            <a:off x="2880984" y="1216767"/>
            <a:ext cx="3302021" cy="4716525"/>
          </a:xfrm>
          <a:prstGeom prst="roundRect">
            <a:avLst/>
          </a:prstGeom>
          <a:noFill/>
          <a:ln w="12700">
            <a:solidFill>
              <a:srgbClr val="FF0000"/>
            </a:solidFill>
            <a:prstDash val="dash"/>
            <a:headEnd type="none" w="med" len="med"/>
            <a:tailEnd type="none" w="med" len="med"/>
          </a:ln>
          <a:extLst/>
        </p:spPr>
        <p:style>
          <a:lnRef idx="2">
            <a:schemeClr val="accent1"/>
          </a:lnRef>
          <a:fillRef idx="1">
            <a:schemeClr val="lt1"/>
          </a:fillRef>
          <a:effectRef idx="0">
            <a:schemeClr val="accent1"/>
          </a:effectRef>
          <a:fontRef idx="minor">
            <a:schemeClr val="dk1"/>
          </a:fontRef>
        </p:style>
        <p:txBody>
          <a:bodyPr vert="horz" wrap="none" lIns="91440" tIns="45720" rIns="91440" bIns="45720" numCol="1" rtlCol="0" anchor="t" anchorCtr="0" compatLnSpc="1">
            <a:prstTxWarp prst="textNoShape">
              <a:avLst/>
            </a:prstTxWarp>
          </a:bodyPr>
          <a:lstStyle/>
          <a:p>
            <a:pPr marL="0" marR="0" indent="0" algn="ctr" defTabSz="914400" rtl="0" eaLnBrk="1" fontAlgn="base" latinLnBrk="0" hangingPunct="1">
              <a:lnSpc>
                <a:spcPct val="150000"/>
              </a:lnSpc>
              <a:spcBef>
                <a:spcPct val="0"/>
              </a:spcBef>
              <a:spcAft>
                <a:spcPct val="0"/>
              </a:spcAft>
              <a:buClrTx/>
              <a:buSzTx/>
              <a:buFontTx/>
              <a:buNone/>
              <a:tabLst/>
            </a:pPr>
            <a:endParaRPr lang="zh-CN" altLang="en-US" sz="2800" dirty="0">
              <a:solidFill>
                <a:schemeClr val="tx1"/>
              </a:solidFill>
              <a:latin typeface="华文中宋" panose="02010600040101010101" pitchFamily="2" charset="-122"/>
              <a:ea typeface="华文中宋" panose="02010600040101010101" pitchFamily="2" charset="-122"/>
            </a:endParaRPr>
          </a:p>
        </p:txBody>
      </p:sp>
      <p:pic>
        <p:nvPicPr>
          <p:cNvPr id="11" name="图片 10"/>
          <p:cNvPicPr>
            <a:picLocks noChangeAspect="1"/>
          </p:cNvPicPr>
          <p:nvPr/>
        </p:nvPicPr>
        <p:blipFill>
          <a:blip r:embed="rId3"/>
          <a:stretch>
            <a:fillRect/>
          </a:stretch>
        </p:blipFill>
        <p:spPr>
          <a:xfrm>
            <a:off x="690691" y="1607561"/>
            <a:ext cx="1257300" cy="1352550"/>
          </a:xfrm>
          <a:prstGeom prst="rect">
            <a:avLst/>
          </a:prstGeom>
        </p:spPr>
      </p:pic>
      <p:pic>
        <p:nvPicPr>
          <p:cNvPr id="12" name="图片 11"/>
          <p:cNvPicPr>
            <a:picLocks noChangeAspect="1"/>
          </p:cNvPicPr>
          <p:nvPr/>
        </p:nvPicPr>
        <p:blipFill rotWithShape="1">
          <a:blip r:embed="rId4"/>
          <a:srcRect l="-1" t="66551" r="4344"/>
          <a:stretch/>
        </p:blipFill>
        <p:spPr>
          <a:xfrm>
            <a:off x="690792" y="3032785"/>
            <a:ext cx="583120" cy="618079"/>
          </a:xfrm>
          <a:prstGeom prst="rect">
            <a:avLst/>
          </a:prstGeom>
        </p:spPr>
      </p:pic>
      <p:pic>
        <p:nvPicPr>
          <p:cNvPr id="20" name="图片 19"/>
          <p:cNvPicPr>
            <a:picLocks noChangeAspect="1"/>
          </p:cNvPicPr>
          <p:nvPr/>
        </p:nvPicPr>
        <p:blipFill rotWithShape="1">
          <a:blip r:embed="rId4"/>
          <a:srcRect t="35377" r="3155" b="33449"/>
          <a:stretch/>
        </p:blipFill>
        <p:spPr>
          <a:xfrm>
            <a:off x="1349145" y="3053792"/>
            <a:ext cx="590364" cy="576064"/>
          </a:xfrm>
          <a:prstGeom prst="rect">
            <a:avLst/>
          </a:prstGeom>
        </p:spPr>
      </p:pic>
      <p:sp>
        <p:nvSpPr>
          <p:cNvPr id="21" name="圆角矩形 20"/>
          <p:cNvSpPr/>
          <p:nvPr/>
        </p:nvSpPr>
        <p:spPr bwMode="auto">
          <a:xfrm>
            <a:off x="385732" y="1223228"/>
            <a:ext cx="1973858" cy="4716525"/>
          </a:xfrm>
          <a:prstGeom prst="roundRect">
            <a:avLst/>
          </a:prstGeom>
          <a:noFill/>
          <a:ln w="12700">
            <a:solidFill>
              <a:srgbClr val="FF0000"/>
            </a:solidFill>
            <a:prstDash val="dash"/>
            <a:headEnd type="none" w="med" len="med"/>
            <a:tailEnd type="none" w="med" len="med"/>
          </a:ln>
          <a:extLst/>
        </p:spPr>
        <p:style>
          <a:lnRef idx="2">
            <a:schemeClr val="accent1"/>
          </a:lnRef>
          <a:fillRef idx="1">
            <a:schemeClr val="lt1"/>
          </a:fillRef>
          <a:effectRef idx="0">
            <a:schemeClr val="accent1"/>
          </a:effectRef>
          <a:fontRef idx="minor">
            <a:schemeClr val="dk1"/>
          </a:fontRef>
        </p:style>
        <p:txBody>
          <a:bodyPr vert="horz" wrap="none" lIns="91440" tIns="45720" rIns="91440" bIns="45720" numCol="1" rtlCol="0" anchor="t" anchorCtr="0" compatLnSpc="1">
            <a:prstTxWarp prst="textNoShape">
              <a:avLst/>
            </a:prstTxWarp>
          </a:bodyPr>
          <a:lstStyle/>
          <a:p>
            <a:pPr marL="0" marR="0" indent="0" algn="ctr" defTabSz="914400" rtl="0" eaLnBrk="1" fontAlgn="base" latinLnBrk="0" hangingPunct="1">
              <a:lnSpc>
                <a:spcPct val="150000"/>
              </a:lnSpc>
              <a:spcBef>
                <a:spcPct val="0"/>
              </a:spcBef>
              <a:spcAft>
                <a:spcPct val="0"/>
              </a:spcAft>
              <a:buClrTx/>
              <a:buSzTx/>
              <a:buFontTx/>
              <a:buNone/>
              <a:tabLst/>
            </a:pPr>
            <a:endParaRPr lang="zh-CN" altLang="en-US" sz="2800" dirty="0">
              <a:solidFill>
                <a:schemeClr val="tx1"/>
              </a:solidFill>
              <a:latin typeface="华文中宋" panose="02010600040101010101" pitchFamily="2" charset="-122"/>
              <a:ea typeface="华文中宋" panose="02010600040101010101" pitchFamily="2" charset="-122"/>
            </a:endParaRPr>
          </a:p>
        </p:txBody>
      </p:sp>
      <p:sp>
        <p:nvSpPr>
          <p:cNvPr id="22" name="圆角矩形 28"/>
          <p:cNvSpPr>
            <a:spLocks noChangeArrowheads="1"/>
          </p:cNvSpPr>
          <p:nvPr/>
        </p:nvSpPr>
        <p:spPr bwMode="auto">
          <a:xfrm>
            <a:off x="1023269" y="5952810"/>
            <a:ext cx="476250" cy="550863"/>
          </a:xfrm>
          <a:prstGeom prst="roundRect">
            <a:avLst>
              <a:gd name="adj" fmla="val 16667"/>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lstStyle>
            <a:lvl1pPr>
              <a:spcBef>
                <a:spcPct val="20000"/>
              </a:spcBef>
              <a:buClr>
                <a:srgbClr val="2D7693"/>
              </a:buClr>
              <a:buSzPct val="70000"/>
              <a:buFont typeface="Wingdings" panose="05000000000000000000" pitchFamily="2" charset="2"/>
              <a:buChar char="n"/>
              <a:defRPr sz="26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FC3A4C"/>
              </a:buClr>
              <a:buSzPct val="70000"/>
              <a:buFont typeface="Wingdings" panose="05000000000000000000" pitchFamily="2" charset="2"/>
              <a:buChar char="Ø"/>
              <a:defRPr sz="22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SzPct val="70000"/>
              <a:buFont typeface="Wingdings" panose="05000000000000000000" pitchFamily="2" charset="2"/>
              <a:buChar char="l"/>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1"/>
              </a:buClr>
              <a:buFont typeface="Wingdings" panose="05000000000000000000" pitchFamily="2" charset="2"/>
              <a:buChar char="p"/>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1"/>
              </a:buClr>
              <a:buFont typeface="Wingdings" panose="05000000000000000000" pitchFamily="2" charset="2"/>
              <a:buChar char="p"/>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Font typeface="Wingdings" panose="05000000000000000000" pitchFamily="2" charset="2"/>
              <a:buChar char="p"/>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Font typeface="Wingdings" panose="05000000000000000000" pitchFamily="2" charset="2"/>
              <a:buChar char="p"/>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Font typeface="Wingdings" panose="05000000000000000000" pitchFamily="2" charset="2"/>
              <a:buChar char="p"/>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Font typeface="Wingdings" panose="05000000000000000000" pitchFamily="2" charset="2"/>
              <a:buChar char="p"/>
              <a:defRPr sz="2000" b="1">
                <a:solidFill>
                  <a:schemeClr val="tx1"/>
                </a:solidFill>
                <a:latin typeface="Arial" panose="020B0604020202020204" pitchFamily="34" charset="0"/>
                <a:ea typeface="宋体" panose="02010600030101010101" pitchFamily="2" charset="-122"/>
              </a:defRPr>
            </a:lvl9pPr>
          </a:lstStyle>
          <a:p>
            <a:pPr algn="ctr" eaLnBrk="1" hangingPunct="1">
              <a:spcBef>
                <a:spcPts val="4200"/>
              </a:spcBef>
              <a:buClrTx/>
              <a:buSzTx/>
              <a:buFontTx/>
              <a:buNone/>
            </a:pPr>
            <a:r>
              <a:rPr lang="zh-CN" altLang="en-US" sz="3200" dirty="0" smtClean="0">
                <a:solidFill>
                  <a:srgbClr val="FF0000"/>
                </a:solidFill>
                <a:latin typeface="幼圆" panose="02010509060101010101" pitchFamily="49" charset="-122"/>
                <a:ea typeface="幼圆" panose="02010509060101010101" pitchFamily="49" charset="-122"/>
              </a:rPr>
              <a:t>大数据</a:t>
            </a:r>
            <a:endParaRPr lang="zh-CN" altLang="en-US" sz="2400" dirty="0">
              <a:solidFill>
                <a:srgbClr val="FF0000"/>
              </a:solidFill>
              <a:latin typeface="幼圆" panose="02010509060101010101" pitchFamily="49" charset="-122"/>
              <a:ea typeface="幼圆" panose="02010509060101010101" pitchFamily="49" charset="-122"/>
            </a:endParaRPr>
          </a:p>
        </p:txBody>
      </p:sp>
      <p:sp>
        <p:nvSpPr>
          <p:cNvPr id="23" name="圆角矩形 28"/>
          <p:cNvSpPr>
            <a:spLocks noChangeArrowheads="1"/>
          </p:cNvSpPr>
          <p:nvPr/>
        </p:nvSpPr>
        <p:spPr bwMode="auto">
          <a:xfrm>
            <a:off x="4311774" y="5996168"/>
            <a:ext cx="476250" cy="550863"/>
          </a:xfrm>
          <a:prstGeom prst="roundRect">
            <a:avLst>
              <a:gd name="adj" fmla="val 16667"/>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lstStyle>
            <a:lvl1pPr>
              <a:spcBef>
                <a:spcPct val="20000"/>
              </a:spcBef>
              <a:buClr>
                <a:srgbClr val="2D7693"/>
              </a:buClr>
              <a:buSzPct val="70000"/>
              <a:buFont typeface="Wingdings" panose="05000000000000000000" pitchFamily="2" charset="2"/>
              <a:buChar char="n"/>
              <a:defRPr sz="26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FC3A4C"/>
              </a:buClr>
              <a:buSzPct val="70000"/>
              <a:buFont typeface="Wingdings" panose="05000000000000000000" pitchFamily="2" charset="2"/>
              <a:buChar char="Ø"/>
              <a:defRPr sz="22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SzPct val="70000"/>
              <a:buFont typeface="Wingdings" panose="05000000000000000000" pitchFamily="2" charset="2"/>
              <a:buChar char="l"/>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1"/>
              </a:buClr>
              <a:buFont typeface="Wingdings" panose="05000000000000000000" pitchFamily="2" charset="2"/>
              <a:buChar char="p"/>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1"/>
              </a:buClr>
              <a:buFont typeface="Wingdings" panose="05000000000000000000" pitchFamily="2" charset="2"/>
              <a:buChar char="p"/>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Font typeface="Wingdings" panose="05000000000000000000" pitchFamily="2" charset="2"/>
              <a:buChar char="p"/>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Font typeface="Wingdings" panose="05000000000000000000" pitchFamily="2" charset="2"/>
              <a:buChar char="p"/>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Font typeface="Wingdings" panose="05000000000000000000" pitchFamily="2" charset="2"/>
              <a:buChar char="p"/>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Font typeface="Wingdings" panose="05000000000000000000" pitchFamily="2" charset="2"/>
              <a:buChar char="p"/>
              <a:defRPr sz="2000" b="1">
                <a:solidFill>
                  <a:schemeClr val="tx1"/>
                </a:solidFill>
                <a:latin typeface="Arial" panose="020B0604020202020204" pitchFamily="34" charset="0"/>
                <a:ea typeface="宋体" panose="02010600030101010101" pitchFamily="2" charset="-122"/>
              </a:defRPr>
            </a:lvl9pPr>
          </a:lstStyle>
          <a:p>
            <a:pPr algn="ctr" eaLnBrk="1" hangingPunct="1">
              <a:spcBef>
                <a:spcPts val="4200"/>
              </a:spcBef>
              <a:buClrTx/>
              <a:buSzTx/>
              <a:buFontTx/>
              <a:buNone/>
            </a:pPr>
            <a:r>
              <a:rPr lang="zh-CN" altLang="en-US" sz="3200" dirty="0" smtClean="0">
                <a:solidFill>
                  <a:srgbClr val="FF0000"/>
                </a:solidFill>
                <a:latin typeface="幼圆" panose="02010509060101010101" pitchFamily="49" charset="-122"/>
                <a:ea typeface="幼圆" panose="02010509060101010101" pitchFamily="49" charset="-122"/>
              </a:rPr>
              <a:t>分析</a:t>
            </a:r>
            <a:endParaRPr lang="zh-CN" altLang="en-US" sz="2400" dirty="0">
              <a:solidFill>
                <a:srgbClr val="FF0000"/>
              </a:solidFill>
              <a:latin typeface="幼圆" panose="02010509060101010101" pitchFamily="49" charset="-122"/>
              <a:ea typeface="幼圆" panose="02010509060101010101" pitchFamily="49" charset="-122"/>
            </a:endParaRPr>
          </a:p>
        </p:txBody>
      </p:sp>
      <p:sp>
        <p:nvSpPr>
          <p:cNvPr id="24" name="圆角矩形 28"/>
          <p:cNvSpPr>
            <a:spLocks noChangeArrowheads="1"/>
          </p:cNvSpPr>
          <p:nvPr/>
        </p:nvSpPr>
        <p:spPr bwMode="auto">
          <a:xfrm>
            <a:off x="7460038" y="5952810"/>
            <a:ext cx="476250" cy="550863"/>
          </a:xfrm>
          <a:prstGeom prst="roundRect">
            <a:avLst>
              <a:gd name="adj" fmla="val 16667"/>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lstStyle>
            <a:lvl1pPr>
              <a:spcBef>
                <a:spcPct val="20000"/>
              </a:spcBef>
              <a:buClr>
                <a:srgbClr val="2D7693"/>
              </a:buClr>
              <a:buSzPct val="70000"/>
              <a:buFont typeface="Wingdings" panose="05000000000000000000" pitchFamily="2" charset="2"/>
              <a:buChar char="n"/>
              <a:defRPr sz="26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FC3A4C"/>
              </a:buClr>
              <a:buSzPct val="70000"/>
              <a:buFont typeface="Wingdings" panose="05000000000000000000" pitchFamily="2" charset="2"/>
              <a:buChar char="Ø"/>
              <a:defRPr sz="22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SzPct val="70000"/>
              <a:buFont typeface="Wingdings" panose="05000000000000000000" pitchFamily="2" charset="2"/>
              <a:buChar char="l"/>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1"/>
              </a:buClr>
              <a:buFont typeface="Wingdings" panose="05000000000000000000" pitchFamily="2" charset="2"/>
              <a:buChar char="p"/>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1"/>
              </a:buClr>
              <a:buFont typeface="Wingdings" panose="05000000000000000000" pitchFamily="2" charset="2"/>
              <a:buChar char="p"/>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Font typeface="Wingdings" panose="05000000000000000000" pitchFamily="2" charset="2"/>
              <a:buChar char="p"/>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Font typeface="Wingdings" panose="05000000000000000000" pitchFamily="2" charset="2"/>
              <a:buChar char="p"/>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Font typeface="Wingdings" panose="05000000000000000000" pitchFamily="2" charset="2"/>
              <a:buChar char="p"/>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Font typeface="Wingdings" panose="05000000000000000000" pitchFamily="2" charset="2"/>
              <a:buChar char="p"/>
              <a:defRPr sz="2000" b="1">
                <a:solidFill>
                  <a:schemeClr val="tx1"/>
                </a:solidFill>
                <a:latin typeface="Arial" panose="020B0604020202020204" pitchFamily="34" charset="0"/>
                <a:ea typeface="宋体" panose="02010600030101010101" pitchFamily="2" charset="-122"/>
              </a:defRPr>
            </a:lvl9pPr>
          </a:lstStyle>
          <a:p>
            <a:pPr algn="ctr" eaLnBrk="1" hangingPunct="1">
              <a:spcBef>
                <a:spcPts val="4200"/>
              </a:spcBef>
              <a:buClrTx/>
              <a:buSzTx/>
              <a:buFontTx/>
              <a:buNone/>
            </a:pPr>
            <a:r>
              <a:rPr lang="zh-CN" altLang="en-US" sz="3200" dirty="0" smtClean="0">
                <a:solidFill>
                  <a:srgbClr val="FF0000"/>
                </a:solidFill>
                <a:latin typeface="幼圆" panose="02010509060101010101" pitchFamily="49" charset="-122"/>
                <a:ea typeface="幼圆" panose="02010509060101010101" pitchFamily="49" charset="-122"/>
              </a:rPr>
              <a:t>管理决策</a:t>
            </a:r>
            <a:endParaRPr lang="zh-CN" altLang="en-US" sz="2400" dirty="0">
              <a:solidFill>
                <a:srgbClr val="FF0000"/>
              </a:solidFill>
              <a:latin typeface="幼圆" panose="02010509060101010101" pitchFamily="49" charset="-122"/>
              <a:ea typeface="幼圆" panose="02010509060101010101" pitchFamily="49" charset="-122"/>
            </a:endParaRPr>
          </a:p>
        </p:txBody>
      </p:sp>
      <p:sp>
        <p:nvSpPr>
          <p:cNvPr id="25" name="右箭头 24"/>
          <p:cNvSpPr/>
          <p:nvPr/>
        </p:nvSpPr>
        <p:spPr bwMode="auto">
          <a:xfrm>
            <a:off x="6238615" y="3174769"/>
            <a:ext cx="449683" cy="761858"/>
          </a:xfrm>
          <a:prstGeom prst="rightArrow">
            <a:avLst/>
          </a:prstGeom>
          <a:ln>
            <a:headEnd type="none" w="med" len="med"/>
            <a:tailEnd type="none" w="med" len="med"/>
          </a:ln>
          <a:extLst/>
        </p:spPr>
        <p:style>
          <a:lnRef idx="2">
            <a:schemeClr val="accent6"/>
          </a:lnRef>
          <a:fillRef idx="1">
            <a:schemeClr val="lt1"/>
          </a:fillRef>
          <a:effectRef idx="0">
            <a:schemeClr val="accent6"/>
          </a:effectRef>
          <a:fontRef idx="minor">
            <a:schemeClr val="dk1"/>
          </a:fontRef>
        </p:style>
        <p:txBody>
          <a:bodyPr vert="horz" wrap="non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zh-CN" altLang="en-US" sz="1800" i="0" u="none" strike="noStrike" normalizeH="0" baseline="0" smtClean="0">
              <a:ln w="6600">
                <a:solidFill>
                  <a:schemeClr val="accent2"/>
                </a:solidFill>
                <a:prstDash val="solid"/>
              </a:ln>
              <a:solidFill>
                <a:srgbClr val="FFFFFF"/>
              </a:solidFill>
              <a:effectLst>
                <a:outerShdw dist="38100" dir="2700000" algn="tl" rotWithShape="0">
                  <a:schemeClr val="accent2"/>
                </a:outerShdw>
              </a:effectLst>
              <a:latin typeface="Arial" pitchFamily="34" charset="0"/>
            </a:endParaRPr>
          </a:p>
        </p:txBody>
      </p:sp>
    </p:spTree>
    <p:extLst>
      <p:ext uri="{BB962C8B-B14F-4D97-AF65-F5344CB8AC3E}">
        <p14:creationId xmlns:p14="http://schemas.microsoft.com/office/powerpoint/2010/main" val="3920424163"/>
      </p:ext>
    </p:extLst>
  </p:cSld>
  <p:clrMapOvr>
    <a:masterClrMapping/>
  </p:clrMapOvr>
  <p:transition spd="slow">
    <p:circle/>
  </p:transition>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r>
              <a:rPr lang="zh-CN" altLang="en-US" dirty="0" smtClean="0"/>
              <a:t>大数据驱动的管理决策</a:t>
            </a:r>
            <a:r>
              <a:rPr lang="en-US" altLang="zh-CN" dirty="0" smtClean="0"/>
              <a:t>-</a:t>
            </a:r>
            <a:r>
              <a:rPr lang="zh-CN" altLang="en-US" dirty="0" smtClean="0"/>
              <a:t>科学问题范式</a:t>
            </a:r>
            <a:endParaRPr lang="zh-CN" altLang="en-US" dirty="0"/>
          </a:p>
        </p:txBody>
      </p:sp>
      <p:sp>
        <p:nvSpPr>
          <p:cNvPr id="4" name="矩形 3"/>
          <p:cNvSpPr/>
          <p:nvPr/>
        </p:nvSpPr>
        <p:spPr>
          <a:xfrm>
            <a:off x="2699792" y="1312892"/>
            <a:ext cx="3360215" cy="1107996"/>
          </a:xfrm>
          <a:prstGeom prst="rect">
            <a:avLst/>
          </a:prstGeom>
          <a:solidFill>
            <a:srgbClr val="92D050">
              <a:alpha val="28000"/>
            </a:srgbClr>
          </a:solidFill>
        </p:spPr>
        <p:txBody>
          <a:bodyPr wrap="none">
            <a:spAutoFit/>
          </a:bodyPr>
          <a:lstStyle/>
          <a:p>
            <a:r>
              <a:rPr lang="en-US" altLang="zh-CN" sz="6600" dirty="0" smtClean="0">
                <a:latin typeface="Yu Gothic UI Semilight" panose="020B0400000000000000" pitchFamily="34" charset="-128"/>
                <a:ea typeface="Yu Gothic UI Semilight" panose="020B0400000000000000" pitchFamily="34" charset="-128"/>
                <a:cs typeface="Arial" panose="020B0604020202020204" pitchFamily="34" charset="0"/>
              </a:rPr>
              <a:t>y = f ( x )</a:t>
            </a:r>
            <a:endParaRPr lang="zh-CN" altLang="en-US" sz="6600" dirty="0">
              <a:latin typeface="Yu Gothic UI Semilight" panose="020B0400000000000000" pitchFamily="34" charset="-128"/>
              <a:ea typeface="Yu Gothic UI Semilight" panose="020B0400000000000000" pitchFamily="34" charset="-128"/>
              <a:cs typeface="Arial" panose="020B0604020202020204" pitchFamily="34" charset="0"/>
            </a:endParaRPr>
          </a:p>
        </p:txBody>
      </p:sp>
      <p:sp>
        <p:nvSpPr>
          <p:cNvPr id="5" name="圆角矩形标注 4"/>
          <p:cNvSpPr/>
          <p:nvPr/>
        </p:nvSpPr>
        <p:spPr bwMode="auto">
          <a:xfrm>
            <a:off x="6732240" y="3389646"/>
            <a:ext cx="2088232" cy="1353442"/>
          </a:xfrm>
          <a:prstGeom prst="wedgeRoundRectCallout">
            <a:avLst>
              <a:gd name="adj1" fmla="val -109725"/>
              <a:gd name="adj2" fmla="val -121579"/>
              <a:gd name="adj3" fmla="val 16667"/>
            </a:avLst>
          </a:prstGeom>
          <a:solidFill>
            <a:schemeClr val="accent1"/>
          </a:solidFill>
          <a:ln w="9525" cap="flat" cmpd="sng" algn="ctr">
            <a:solidFill>
              <a:schemeClr val="tx1"/>
            </a:solidFill>
            <a:prstDash val="solid"/>
            <a:miter lim="800000"/>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rtlCol="0" anchor="t" anchorCtr="0" compatLnSpc="1">
            <a:prstTxWarp prst="textNoShape">
              <a:avLst/>
            </a:prstTxWarp>
          </a:bodyPr>
          <a:lstStyle/>
          <a:p>
            <a:pPr marL="0" marR="0" indent="0" algn="ctr" defTabSz="914400" rtl="0" eaLnBrk="1" fontAlgn="base" latinLnBrk="0" hangingPunct="1">
              <a:lnSpc>
                <a:spcPct val="150000"/>
              </a:lnSpc>
              <a:spcBef>
                <a:spcPct val="0"/>
              </a:spcBef>
              <a:spcAft>
                <a:spcPct val="0"/>
              </a:spcAft>
              <a:buClrTx/>
              <a:buSzTx/>
              <a:buFontTx/>
              <a:buNone/>
              <a:tabLst/>
            </a:pPr>
            <a:r>
              <a:rPr lang="zh-CN" altLang="en-US" sz="2400" dirty="0" smtClean="0">
                <a:solidFill>
                  <a:srgbClr val="FF0000"/>
                </a:solidFill>
                <a:latin typeface="幼圆" panose="02010509060101010101" pitchFamily="49" charset="-122"/>
                <a:ea typeface="幼圆" panose="02010509060101010101" pitchFamily="49" charset="-122"/>
              </a:rPr>
              <a:t>大数据</a:t>
            </a:r>
            <a:endParaRPr lang="en-US" altLang="zh-CN" sz="2400" dirty="0" smtClean="0">
              <a:solidFill>
                <a:srgbClr val="FF0000"/>
              </a:solidFill>
              <a:latin typeface="幼圆" panose="02010509060101010101" pitchFamily="49" charset="-122"/>
              <a:ea typeface="幼圆" panose="02010509060101010101" pitchFamily="49" charset="-122"/>
            </a:endParaRPr>
          </a:p>
          <a:p>
            <a:pPr marL="0" marR="0" indent="0" algn="ctr" defTabSz="914400" rtl="0" eaLnBrk="1" fontAlgn="base" latinLnBrk="0" hangingPunct="1">
              <a:lnSpc>
                <a:spcPct val="150000"/>
              </a:lnSpc>
              <a:spcBef>
                <a:spcPct val="0"/>
              </a:spcBef>
              <a:spcAft>
                <a:spcPct val="0"/>
              </a:spcAft>
              <a:buClrTx/>
              <a:buSzTx/>
              <a:buFontTx/>
              <a:buNone/>
              <a:tabLst/>
            </a:pPr>
            <a:r>
              <a:rPr kumimoji="0" lang="zh-CN" altLang="en-US" sz="2400" i="0" u="none" strike="noStrike" cap="none" normalizeH="0" baseline="0" dirty="0" smtClean="0">
                <a:ln>
                  <a:noFill/>
                </a:ln>
                <a:solidFill>
                  <a:srgbClr val="0000FF"/>
                </a:solidFill>
                <a:effectLst/>
                <a:latin typeface="幼圆" panose="02010509060101010101" pitchFamily="49" charset="-122"/>
                <a:ea typeface="幼圆" panose="02010509060101010101" pitchFamily="49" charset="-122"/>
              </a:rPr>
              <a:t>（对象）</a:t>
            </a:r>
          </a:p>
        </p:txBody>
      </p:sp>
      <p:sp>
        <p:nvSpPr>
          <p:cNvPr id="8" name="圆角矩形标注 7"/>
          <p:cNvSpPr/>
          <p:nvPr/>
        </p:nvSpPr>
        <p:spPr bwMode="auto">
          <a:xfrm>
            <a:off x="3599892" y="3389646"/>
            <a:ext cx="2088232" cy="1353442"/>
          </a:xfrm>
          <a:prstGeom prst="wedgeRoundRectCallout">
            <a:avLst>
              <a:gd name="adj1" fmla="val -11496"/>
              <a:gd name="adj2" fmla="val -119733"/>
              <a:gd name="adj3" fmla="val 16667"/>
            </a:avLst>
          </a:prstGeom>
          <a:solidFill>
            <a:schemeClr val="accent1"/>
          </a:solidFill>
          <a:ln w="9525" cap="flat" cmpd="sng" algn="ctr">
            <a:solidFill>
              <a:schemeClr val="tx1"/>
            </a:solidFill>
            <a:prstDash val="solid"/>
            <a:miter lim="800000"/>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rtlCol="0" anchor="t" anchorCtr="0" compatLnSpc="1">
            <a:prstTxWarp prst="textNoShape">
              <a:avLst/>
            </a:prstTxWarp>
          </a:bodyPr>
          <a:lstStyle/>
          <a:p>
            <a:pPr marL="0" marR="0" indent="0" algn="ctr" defTabSz="914400" rtl="0" eaLnBrk="1" fontAlgn="base" latinLnBrk="0" hangingPunct="1">
              <a:lnSpc>
                <a:spcPct val="150000"/>
              </a:lnSpc>
              <a:spcBef>
                <a:spcPct val="0"/>
              </a:spcBef>
              <a:spcAft>
                <a:spcPct val="0"/>
              </a:spcAft>
              <a:buClrTx/>
              <a:buSzTx/>
              <a:buFontTx/>
              <a:buNone/>
              <a:tabLst/>
            </a:pPr>
            <a:r>
              <a:rPr lang="zh-CN" altLang="en-US" sz="2400" dirty="0" smtClean="0">
                <a:solidFill>
                  <a:srgbClr val="FF0000"/>
                </a:solidFill>
                <a:latin typeface="幼圆" panose="02010509060101010101" pitchFamily="49" charset="-122"/>
                <a:ea typeface="幼圆" panose="02010509060101010101" pitchFamily="49" charset="-122"/>
              </a:rPr>
              <a:t>机器学习</a:t>
            </a:r>
            <a:endParaRPr lang="en-US" altLang="zh-CN" sz="2400" dirty="0" smtClean="0">
              <a:solidFill>
                <a:srgbClr val="FF0000"/>
              </a:solidFill>
              <a:latin typeface="幼圆" panose="02010509060101010101" pitchFamily="49" charset="-122"/>
              <a:ea typeface="幼圆" panose="02010509060101010101" pitchFamily="49" charset="-122"/>
            </a:endParaRPr>
          </a:p>
          <a:p>
            <a:pPr marL="0" marR="0" indent="0" algn="ctr" defTabSz="914400" rtl="0" eaLnBrk="1" fontAlgn="base" latinLnBrk="0" hangingPunct="1">
              <a:lnSpc>
                <a:spcPct val="150000"/>
              </a:lnSpc>
              <a:spcBef>
                <a:spcPct val="0"/>
              </a:spcBef>
              <a:spcAft>
                <a:spcPct val="0"/>
              </a:spcAft>
              <a:buClrTx/>
              <a:buSzTx/>
              <a:buFontTx/>
              <a:buNone/>
              <a:tabLst/>
            </a:pPr>
            <a:r>
              <a:rPr kumimoji="0" lang="zh-CN" altLang="en-US" sz="2400" i="0" u="none" strike="noStrike" cap="none" normalizeH="0" baseline="0" dirty="0" smtClean="0">
                <a:ln>
                  <a:noFill/>
                </a:ln>
                <a:solidFill>
                  <a:srgbClr val="0000FF"/>
                </a:solidFill>
                <a:effectLst/>
                <a:latin typeface="幼圆" panose="02010509060101010101" pitchFamily="49" charset="-122"/>
                <a:ea typeface="幼圆" panose="02010509060101010101" pitchFamily="49" charset="-122"/>
              </a:rPr>
              <a:t>（技术）</a:t>
            </a:r>
          </a:p>
        </p:txBody>
      </p:sp>
      <p:sp>
        <p:nvSpPr>
          <p:cNvPr id="9" name="圆角矩形标注 8"/>
          <p:cNvSpPr/>
          <p:nvPr/>
        </p:nvSpPr>
        <p:spPr bwMode="auto">
          <a:xfrm>
            <a:off x="467544" y="3356992"/>
            <a:ext cx="2088232" cy="1353442"/>
          </a:xfrm>
          <a:prstGeom prst="wedgeRoundRectCallout">
            <a:avLst>
              <a:gd name="adj1" fmla="val 68248"/>
              <a:gd name="adj2" fmla="val -118029"/>
              <a:gd name="adj3" fmla="val 16667"/>
            </a:avLst>
          </a:prstGeom>
          <a:solidFill>
            <a:schemeClr val="accent1"/>
          </a:solidFill>
          <a:ln w="9525" cap="flat" cmpd="sng" algn="ctr">
            <a:solidFill>
              <a:schemeClr val="tx1"/>
            </a:solidFill>
            <a:prstDash val="solid"/>
            <a:miter lim="800000"/>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rtlCol="0" anchor="t" anchorCtr="0" compatLnSpc="1">
            <a:prstTxWarp prst="textNoShape">
              <a:avLst/>
            </a:prstTxWarp>
          </a:bodyPr>
          <a:lstStyle/>
          <a:p>
            <a:pPr marL="0" marR="0" indent="0" algn="ctr" defTabSz="914400" rtl="0" eaLnBrk="1" fontAlgn="base" latinLnBrk="0" hangingPunct="1">
              <a:lnSpc>
                <a:spcPct val="150000"/>
              </a:lnSpc>
              <a:spcBef>
                <a:spcPct val="0"/>
              </a:spcBef>
              <a:spcAft>
                <a:spcPct val="0"/>
              </a:spcAft>
              <a:buClrTx/>
              <a:buSzTx/>
              <a:buFontTx/>
              <a:buNone/>
              <a:tabLst/>
            </a:pPr>
            <a:r>
              <a:rPr lang="zh-CN" altLang="en-US" sz="2400" dirty="0" smtClean="0">
                <a:solidFill>
                  <a:srgbClr val="FF0000"/>
                </a:solidFill>
                <a:latin typeface="幼圆" panose="02010509060101010101" pitchFamily="49" charset="-122"/>
                <a:ea typeface="幼圆" panose="02010509060101010101" pitchFamily="49" charset="-122"/>
              </a:rPr>
              <a:t>管理决策</a:t>
            </a:r>
            <a:endParaRPr lang="en-US" altLang="zh-CN" sz="2400" dirty="0" smtClean="0">
              <a:solidFill>
                <a:srgbClr val="FF0000"/>
              </a:solidFill>
              <a:latin typeface="幼圆" panose="02010509060101010101" pitchFamily="49" charset="-122"/>
              <a:ea typeface="幼圆" panose="02010509060101010101" pitchFamily="49" charset="-122"/>
            </a:endParaRPr>
          </a:p>
          <a:p>
            <a:pPr marL="0" marR="0" indent="0" algn="ctr" defTabSz="914400" rtl="0" eaLnBrk="1" fontAlgn="base" latinLnBrk="0" hangingPunct="1">
              <a:lnSpc>
                <a:spcPct val="150000"/>
              </a:lnSpc>
              <a:spcBef>
                <a:spcPct val="0"/>
              </a:spcBef>
              <a:spcAft>
                <a:spcPct val="0"/>
              </a:spcAft>
              <a:buClrTx/>
              <a:buSzTx/>
              <a:buFontTx/>
              <a:buNone/>
              <a:tabLst/>
            </a:pPr>
            <a:r>
              <a:rPr kumimoji="0" lang="zh-CN" altLang="en-US" sz="2400" i="0" u="none" strike="noStrike" cap="none" normalizeH="0" baseline="0" dirty="0" smtClean="0">
                <a:ln>
                  <a:noFill/>
                </a:ln>
                <a:solidFill>
                  <a:srgbClr val="0000FF"/>
                </a:solidFill>
                <a:effectLst/>
                <a:latin typeface="幼圆" panose="02010509060101010101" pitchFamily="49" charset="-122"/>
                <a:ea typeface="幼圆" panose="02010509060101010101" pitchFamily="49" charset="-122"/>
              </a:rPr>
              <a:t>（应用）</a:t>
            </a:r>
          </a:p>
        </p:txBody>
      </p:sp>
      <p:sp>
        <p:nvSpPr>
          <p:cNvPr id="2" name="矩形 1"/>
          <p:cNvSpPr/>
          <p:nvPr/>
        </p:nvSpPr>
        <p:spPr>
          <a:xfrm>
            <a:off x="6984268" y="4941168"/>
            <a:ext cx="1836204" cy="1569660"/>
          </a:xfrm>
          <a:prstGeom prst="rect">
            <a:avLst/>
          </a:prstGeom>
        </p:spPr>
        <p:txBody>
          <a:bodyPr wrap="square">
            <a:spAutoFit/>
          </a:bodyPr>
          <a:lstStyle/>
          <a:p>
            <a:pPr algn="ctr"/>
            <a:r>
              <a:rPr lang="zh-CN" altLang="en-US" sz="2400" b="0" dirty="0" smtClean="0">
                <a:latin typeface="楷体" panose="02010609060101010101" pitchFamily="49" charset="-122"/>
                <a:ea typeface="楷体" panose="02010609060101010101" pitchFamily="49" charset="-122"/>
              </a:rPr>
              <a:t>表格、文本交易、交互社交网络、</a:t>
            </a:r>
            <a:endParaRPr lang="en-US" altLang="zh-CN" sz="2400" b="0" dirty="0">
              <a:latin typeface="楷体" panose="02010609060101010101" pitchFamily="49" charset="-122"/>
              <a:ea typeface="楷体" panose="02010609060101010101" pitchFamily="49" charset="-122"/>
            </a:endParaRPr>
          </a:p>
          <a:p>
            <a:pPr algn="ctr"/>
            <a:r>
              <a:rPr lang="zh-CN" altLang="en-US" sz="2400" b="0" dirty="0" smtClean="0">
                <a:latin typeface="楷体" panose="02010609060101010101" pitchFamily="49" charset="-122"/>
                <a:ea typeface="楷体" panose="02010609060101010101" pitchFamily="49" charset="-122"/>
              </a:rPr>
              <a:t>多模态</a:t>
            </a:r>
            <a:endParaRPr lang="zh-CN" altLang="en-US" sz="2400" b="0" dirty="0">
              <a:latin typeface="楷体" panose="02010609060101010101" pitchFamily="49" charset="-122"/>
              <a:ea typeface="楷体" panose="02010609060101010101" pitchFamily="49" charset="-122"/>
            </a:endParaRPr>
          </a:p>
        </p:txBody>
      </p:sp>
      <p:sp>
        <p:nvSpPr>
          <p:cNvPr id="10" name="矩形 9"/>
          <p:cNvSpPr/>
          <p:nvPr/>
        </p:nvSpPr>
        <p:spPr>
          <a:xfrm>
            <a:off x="3995936" y="4797152"/>
            <a:ext cx="1584176" cy="1569660"/>
          </a:xfrm>
          <a:prstGeom prst="rect">
            <a:avLst/>
          </a:prstGeom>
        </p:spPr>
        <p:txBody>
          <a:bodyPr wrap="square">
            <a:spAutoFit/>
          </a:bodyPr>
          <a:lstStyle/>
          <a:p>
            <a:r>
              <a:rPr lang="zh-CN" altLang="en-US" sz="2400" b="0" dirty="0" smtClean="0">
                <a:latin typeface="楷体" panose="02010609060101010101" pitchFamily="49" charset="-122"/>
                <a:ea typeface="楷体" panose="02010609060101010101" pitchFamily="49" charset="-122"/>
              </a:rPr>
              <a:t>数据挖掘</a:t>
            </a:r>
            <a:endParaRPr lang="en-US" altLang="zh-CN" sz="2400" b="0" dirty="0" smtClean="0">
              <a:latin typeface="楷体" panose="02010609060101010101" pitchFamily="49" charset="-122"/>
              <a:ea typeface="楷体" panose="02010609060101010101" pitchFamily="49" charset="-122"/>
            </a:endParaRPr>
          </a:p>
          <a:p>
            <a:r>
              <a:rPr lang="zh-CN" altLang="en-US" sz="2400" b="0" dirty="0" smtClean="0">
                <a:latin typeface="楷体" panose="02010609060101010101" pitchFamily="49" charset="-122"/>
                <a:ea typeface="楷体" panose="02010609060101010101" pitchFamily="49" charset="-122"/>
              </a:rPr>
              <a:t>分类回归</a:t>
            </a:r>
            <a:endParaRPr lang="en-US" altLang="zh-CN" sz="2400" b="0" dirty="0" smtClean="0">
              <a:latin typeface="楷体" panose="02010609060101010101" pitchFamily="49" charset="-122"/>
              <a:ea typeface="楷体" panose="02010609060101010101" pitchFamily="49" charset="-122"/>
            </a:endParaRPr>
          </a:p>
          <a:p>
            <a:r>
              <a:rPr lang="zh-CN" altLang="en-US" sz="2400" b="0" dirty="0" smtClean="0">
                <a:latin typeface="楷体" panose="02010609060101010101" pitchFamily="49" charset="-122"/>
                <a:ea typeface="楷体" panose="02010609060101010101" pitchFamily="49" charset="-122"/>
              </a:rPr>
              <a:t>集成学习</a:t>
            </a:r>
          </a:p>
          <a:p>
            <a:r>
              <a:rPr lang="zh-CN" altLang="en-US" sz="2400" b="0" dirty="0" smtClean="0">
                <a:latin typeface="楷体" panose="02010609060101010101" pitchFamily="49" charset="-122"/>
                <a:ea typeface="楷体" panose="02010609060101010101" pitchFamily="49" charset="-122"/>
              </a:rPr>
              <a:t>深度学习</a:t>
            </a:r>
            <a:endParaRPr lang="zh-CN" altLang="en-US" sz="2400" b="0" dirty="0">
              <a:latin typeface="楷体" panose="02010609060101010101" pitchFamily="49" charset="-122"/>
              <a:ea typeface="楷体" panose="02010609060101010101" pitchFamily="49" charset="-122"/>
            </a:endParaRPr>
          </a:p>
        </p:txBody>
      </p:sp>
      <p:sp>
        <p:nvSpPr>
          <p:cNvPr id="11" name="矩形 10"/>
          <p:cNvSpPr/>
          <p:nvPr/>
        </p:nvSpPr>
        <p:spPr>
          <a:xfrm>
            <a:off x="719572" y="4725144"/>
            <a:ext cx="1584176" cy="1754326"/>
          </a:xfrm>
          <a:prstGeom prst="rect">
            <a:avLst/>
          </a:prstGeom>
        </p:spPr>
        <p:txBody>
          <a:bodyPr wrap="square">
            <a:spAutoFit/>
          </a:bodyPr>
          <a:lstStyle/>
          <a:p>
            <a:pPr algn="ctr">
              <a:lnSpc>
                <a:spcPct val="150000"/>
              </a:lnSpc>
            </a:pPr>
            <a:r>
              <a:rPr lang="zh-CN" altLang="en-US" sz="2400" b="0" dirty="0" smtClean="0">
                <a:latin typeface="楷体" panose="02010609060101010101" pitchFamily="49" charset="-122"/>
                <a:ea typeface="楷体" panose="02010609060101010101" pitchFamily="49" charset="-122"/>
              </a:rPr>
              <a:t>预测</a:t>
            </a:r>
            <a:endParaRPr lang="en-US" altLang="zh-CN" sz="2400" b="0" dirty="0" smtClean="0">
              <a:latin typeface="楷体" panose="02010609060101010101" pitchFamily="49" charset="-122"/>
              <a:ea typeface="楷体" panose="02010609060101010101" pitchFamily="49" charset="-122"/>
            </a:endParaRPr>
          </a:p>
          <a:p>
            <a:pPr algn="ctr">
              <a:lnSpc>
                <a:spcPct val="150000"/>
              </a:lnSpc>
            </a:pPr>
            <a:r>
              <a:rPr lang="zh-CN" altLang="en-US" sz="2400" b="0" dirty="0" smtClean="0">
                <a:latin typeface="楷体" panose="02010609060101010101" pitchFamily="49" charset="-122"/>
                <a:ea typeface="楷体" panose="02010609060101010101" pitchFamily="49" charset="-122"/>
              </a:rPr>
              <a:t>推荐</a:t>
            </a:r>
            <a:endParaRPr lang="en-US" altLang="zh-CN" sz="2400" b="0" dirty="0" smtClean="0">
              <a:latin typeface="楷体" panose="02010609060101010101" pitchFamily="49" charset="-122"/>
              <a:ea typeface="楷体" panose="02010609060101010101" pitchFamily="49" charset="-122"/>
            </a:endParaRPr>
          </a:p>
          <a:p>
            <a:pPr algn="ctr">
              <a:lnSpc>
                <a:spcPct val="150000"/>
              </a:lnSpc>
            </a:pPr>
            <a:r>
              <a:rPr lang="zh-CN" altLang="en-US" sz="2400" b="0" dirty="0" smtClean="0">
                <a:latin typeface="楷体" panose="02010609060101010101" pitchFamily="49" charset="-122"/>
                <a:ea typeface="楷体" panose="02010609060101010101" pitchFamily="49" charset="-122"/>
              </a:rPr>
              <a:t>决策支持</a:t>
            </a:r>
            <a:endParaRPr lang="zh-CN" altLang="en-US" sz="2400" b="0" dirty="0">
              <a:latin typeface="楷体" panose="02010609060101010101" pitchFamily="49" charset="-122"/>
              <a:ea typeface="楷体" panose="02010609060101010101" pitchFamily="49" charset="-122"/>
            </a:endParaRPr>
          </a:p>
        </p:txBody>
      </p:sp>
    </p:spTree>
    <p:extLst>
      <p:ext uri="{BB962C8B-B14F-4D97-AF65-F5344CB8AC3E}">
        <p14:creationId xmlns:p14="http://schemas.microsoft.com/office/powerpoint/2010/main" val="2440481158"/>
      </p:ext>
    </p:extLst>
  </p:cSld>
  <p:clrMapOvr>
    <a:masterClrMapping/>
  </p:clrMapOvr>
  <p:transition spd="slow">
    <p:circle/>
  </p:transition>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大数据驱动的智能决策</a:t>
            </a:r>
            <a:endParaRPr lang="zh-CN" altLang="en-US" dirty="0"/>
          </a:p>
        </p:txBody>
      </p:sp>
      <p:sp>
        <p:nvSpPr>
          <p:cNvPr id="3" name="椭圆 2"/>
          <p:cNvSpPr/>
          <p:nvPr/>
        </p:nvSpPr>
        <p:spPr bwMode="auto">
          <a:xfrm>
            <a:off x="3303566" y="2762509"/>
            <a:ext cx="2448271" cy="2376263"/>
          </a:xfrm>
          <a:prstGeom prst="ellipse">
            <a:avLst/>
          </a:prstGeom>
          <a:solidFill>
            <a:srgbClr val="FFFF00">
              <a:alpha val="28000"/>
            </a:srgbClr>
          </a:solidFill>
          <a:ln w="9525" cap="flat" cmpd="sng" algn="ctr">
            <a:solidFill>
              <a:schemeClr val="tx1"/>
            </a:solidFill>
            <a:prstDash val="solid"/>
            <a:miter lim="800000"/>
            <a:headEnd type="none" w="med" len="med"/>
            <a:tailEnd type="none" w="med" len="med"/>
          </a:ln>
          <a:effectLst/>
          <a:extLst/>
        </p:spPr>
        <p:txBody>
          <a:bodyPr vert="horz" wrap="none" lIns="91440" tIns="45720" rIns="91440" bIns="45720" numCol="1" rtlCol="0" anchor="t" anchorCtr="0" compatLnSpc="1">
            <a:prstTxWarp prst="textNoShape">
              <a:avLst/>
            </a:prstTxWarp>
          </a:bodyPr>
          <a:lstStyle/>
          <a:p>
            <a:pPr marL="0" marR="0" indent="0" algn="ctr" defTabSz="914400" rtl="0" eaLnBrk="1" fontAlgn="base" latinLnBrk="0" hangingPunct="1">
              <a:lnSpc>
                <a:spcPct val="150000"/>
              </a:lnSpc>
              <a:spcBef>
                <a:spcPct val="0"/>
              </a:spcBef>
              <a:spcAft>
                <a:spcPct val="0"/>
              </a:spcAft>
              <a:buClrTx/>
              <a:buSzTx/>
              <a:buFontTx/>
              <a:buNone/>
              <a:tabLst/>
            </a:pPr>
            <a:endParaRPr kumimoji="0" lang="en-US" altLang="zh-CN" sz="600" b="0" i="0" u="none" strike="noStrike" cap="none" normalizeH="0" baseline="0" dirty="0" smtClean="0">
              <a:ln>
                <a:noFill/>
              </a:ln>
              <a:solidFill>
                <a:srgbClr val="FF0000"/>
              </a:solidFill>
              <a:effectLst/>
              <a:latin typeface="华文中宋" panose="02010600040101010101" pitchFamily="2" charset="-122"/>
              <a:ea typeface="华文中宋" panose="02010600040101010101" pitchFamily="2" charset="-122"/>
            </a:endParaRPr>
          </a:p>
          <a:p>
            <a:pPr marL="0" marR="0" indent="0" algn="ctr" defTabSz="914400" rtl="0" eaLnBrk="1" fontAlgn="base" latinLnBrk="0" hangingPunct="1">
              <a:spcBef>
                <a:spcPct val="0"/>
              </a:spcBef>
              <a:spcAft>
                <a:spcPct val="0"/>
              </a:spcAft>
              <a:buClrTx/>
              <a:buSzTx/>
              <a:buFontTx/>
              <a:buNone/>
              <a:tabLst/>
            </a:pPr>
            <a:r>
              <a:rPr kumimoji="0" lang="zh-CN" altLang="en-US" sz="2800" b="0" i="0" u="none" strike="noStrike" cap="none" normalizeH="0" baseline="0" dirty="0" smtClean="0">
                <a:ln>
                  <a:noFill/>
                </a:ln>
                <a:solidFill>
                  <a:srgbClr val="FF0000"/>
                </a:solidFill>
                <a:effectLst/>
                <a:latin typeface="幼圆" panose="02010509060101010101" pitchFamily="49" charset="-122"/>
                <a:ea typeface="幼圆" panose="02010509060101010101" pitchFamily="49" charset="-122"/>
              </a:rPr>
              <a:t>大数据驱动</a:t>
            </a:r>
            <a:endParaRPr kumimoji="0" lang="en-US" altLang="zh-CN" sz="2800" b="0" i="0" u="none" strike="noStrike" cap="none" normalizeH="0" baseline="0" dirty="0" smtClean="0">
              <a:ln>
                <a:noFill/>
              </a:ln>
              <a:solidFill>
                <a:srgbClr val="FF0000"/>
              </a:solidFill>
              <a:effectLst/>
              <a:latin typeface="幼圆" panose="02010509060101010101" pitchFamily="49" charset="-122"/>
              <a:ea typeface="幼圆" panose="02010509060101010101" pitchFamily="49" charset="-122"/>
            </a:endParaRPr>
          </a:p>
          <a:p>
            <a:pPr marL="0" marR="0" indent="0" algn="ctr" defTabSz="914400" rtl="0" eaLnBrk="1" fontAlgn="base" latinLnBrk="0" hangingPunct="1">
              <a:spcBef>
                <a:spcPct val="0"/>
              </a:spcBef>
              <a:spcAft>
                <a:spcPct val="0"/>
              </a:spcAft>
              <a:buClrTx/>
              <a:buSzTx/>
              <a:buFontTx/>
              <a:buNone/>
              <a:tabLst/>
            </a:pPr>
            <a:r>
              <a:rPr kumimoji="0" lang="zh-CN" altLang="en-US" sz="2800" b="0" i="0" u="none" strike="noStrike" cap="none" normalizeH="0" baseline="0" dirty="0" smtClean="0">
                <a:ln>
                  <a:noFill/>
                </a:ln>
                <a:solidFill>
                  <a:srgbClr val="FF0000"/>
                </a:solidFill>
                <a:effectLst/>
                <a:latin typeface="幼圆" panose="02010509060101010101" pitchFamily="49" charset="-122"/>
                <a:ea typeface="幼圆" panose="02010509060101010101" pitchFamily="49" charset="-122"/>
              </a:rPr>
              <a:t>的智能</a:t>
            </a:r>
            <a:r>
              <a:rPr lang="zh-CN" altLang="en-US" sz="2800" b="0" dirty="0" smtClean="0">
                <a:solidFill>
                  <a:srgbClr val="FF0000"/>
                </a:solidFill>
                <a:latin typeface="幼圆" panose="02010509060101010101" pitchFamily="49" charset="-122"/>
                <a:ea typeface="幼圆" panose="02010509060101010101" pitchFamily="49" charset="-122"/>
              </a:rPr>
              <a:t>管理</a:t>
            </a:r>
            <a:endParaRPr lang="en-US" altLang="zh-CN" sz="2800" b="0" dirty="0" smtClean="0">
              <a:solidFill>
                <a:srgbClr val="FF0000"/>
              </a:solidFill>
              <a:latin typeface="幼圆" panose="02010509060101010101" pitchFamily="49" charset="-122"/>
              <a:ea typeface="幼圆" panose="02010509060101010101" pitchFamily="49" charset="-122"/>
            </a:endParaRPr>
          </a:p>
          <a:p>
            <a:pPr marL="0" marR="0" indent="0" algn="ctr" defTabSz="914400" rtl="0" eaLnBrk="1" fontAlgn="base" latinLnBrk="0" hangingPunct="1">
              <a:spcBef>
                <a:spcPct val="0"/>
              </a:spcBef>
              <a:spcAft>
                <a:spcPct val="0"/>
              </a:spcAft>
              <a:buClrTx/>
              <a:buSzTx/>
              <a:buFontTx/>
              <a:buNone/>
              <a:tabLst/>
            </a:pPr>
            <a:r>
              <a:rPr lang="zh-CN" altLang="en-US" sz="2800" b="0" dirty="0" smtClean="0">
                <a:solidFill>
                  <a:srgbClr val="FF0000"/>
                </a:solidFill>
                <a:latin typeface="幼圆" panose="02010509060101010101" pitchFamily="49" charset="-122"/>
                <a:ea typeface="幼圆" panose="02010509060101010101" pitchFamily="49" charset="-122"/>
              </a:rPr>
              <a:t>与</a:t>
            </a:r>
            <a:r>
              <a:rPr kumimoji="0" lang="zh-CN" altLang="en-US" sz="2800" b="0" i="0" u="none" strike="noStrike" cap="none" normalizeH="0" baseline="0" dirty="0" smtClean="0">
                <a:ln>
                  <a:noFill/>
                </a:ln>
                <a:solidFill>
                  <a:srgbClr val="FF0000"/>
                </a:solidFill>
                <a:effectLst/>
                <a:latin typeface="幼圆" panose="02010509060101010101" pitchFamily="49" charset="-122"/>
                <a:ea typeface="幼圆" panose="02010509060101010101" pitchFamily="49" charset="-122"/>
              </a:rPr>
              <a:t>决策方法</a:t>
            </a:r>
          </a:p>
        </p:txBody>
      </p:sp>
      <p:sp>
        <p:nvSpPr>
          <p:cNvPr id="8" name="圆角矩形 7"/>
          <p:cNvSpPr/>
          <p:nvPr/>
        </p:nvSpPr>
        <p:spPr bwMode="auto">
          <a:xfrm>
            <a:off x="5443594" y="2081787"/>
            <a:ext cx="1529647" cy="1224136"/>
          </a:xfrm>
          <a:prstGeom prst="roundRect">
            <a:avLst/>
          </a:prstGeom>
          <a:ln w="19050">
            <a:solidFill>
              <a:srgbClr val="0000FF"/>
            </a:solidFill>
            <a:headEnd type="none" w="med" len="med"/>
            <a:tailEnd type="none" w="med" len="med"/>
          </a:ln>
          <a:extLst/>
        </p:spPr>
        <p:style>
          <a:lnRef idx="2">
            <a:schemeClr val="accent1"/>
          </a:lnRef>
          <a:fillRef idx="1">
            <a:schemeClr val="lt1"/>
          </a:fillRef>
          <a:effectRef idx="0">
            <a:schemeClr val="accent1"/>
          </a:effectRef>
          <a:fontRef idx="minor">
            <a:schemeClr val="dk1"/>
          </a:fontRef>
        </p:style>
        <p:txBody>
          <a:bodyPr vert="horz" wrap="none" lIns="91440" tIns="45720" rIns="91440" bIns="45720" numCol="1" rtlCol="0" anchor="t" anchorCtr="0" compatLnSpc="1">
            <a:prstTxWarp prst="textNoShape">
              <a:avLst/>
            </a:prstTxWarp>
          </a:bodyPr>
          <a:lstStyle/>
          <a:p>
            <a:pPr marL="0" marR="0" indent="0" algn="ctr" defTabSz="914400" rtl="0" eaLnBrk="1" fontAlgn="base" latinLnBrk="0" hangingPunct="1">
              <a:lnSpc>
                <a:spcPct val="150000"/>
              </a:lnSpc>
              <a:spcBef>
                <a:spcPct val="0"/>
              </a:spcBef>
              <a:spcAft>
                <a:spcPct val="0"/>
              </a:spcAft>
              <a:buClrTx/>
              <a:buSzTx/>
              <a:buFontTx/>
              <a:buNone/>
              <a:tabLst/>
            </a:pPr>
            <a:r>
              <a:rPr kumimoji="0" lang="zh-CN" altLang="en-US" sz="2400" i="0" u="none" strike="noStrike" cap="none" normalizeH="0" baseline="0" dirty="0" smtClean="0">
                <a:ln>
                  <a:noFill/>
                </a:ln>
                <a:solidFill>
                  <a:srgbClr val="0000FF"/>
                </a:solidFill>
                <a:effectLst/>
                <a:latin typeface="Arial" pitchFamily="34" charset="0"/>
              </a:rPr>
              <a:t>智慧</a:t>
            </a:r>
            <a:endParaRPr kumimoji="0" lang="en-US" altLang="zh-CN" sz="2400" i="0" u="none" strike="noStrike" cap="none" normalizeH="0" baseline="0" dirty="0" smtClean="0">
              <a:ln>
                <a:noFill/>
              </a:ln>
              <a:solidFill>
                <a:srgbClr val="0000FF"/>
              </a:solidFill>
              <a:effectLst/>
              <a:latin typeface="Arial" pitchFamily="34" charset="0"/>
            </a:endParaRPr>
          </a:p>
          <a:p>
            <a:pPr marL="0" marR="0" indent="0" algn="ctr" defTabSz="914400" rtl="0" eaLnBrk="1" fontAlgn="base" latinLnBrk="0" hangingPunct="1">
              <a:lnSpc>
                <a:spcPct val="100000"/>
              </a:lnSpc>
              <a:spcBef>
                <a:spcPct val="0"/>
              </a:spcBef>
              <a:spcAft>
                <a:spcPct val="0"/>
              </a:spcAft>
              <a:buClrTx/>
              <a:buSzTx/>
              <a:buFontTx/>
              <a:buNone/>
              <a:tabLst/>
            </a:pPr>
            <a:r>
              <a:rPr kumimoji="0" lang="zh-CN" altLang="en-US" sz="2400" i="0" u="none" strike="noStrike" cap="none" normalizeH="0" baseline="0" dirty="0" smtClean="0">
                <a:ln>
                  <a:noFill/>
                </a:ln>
                <a:solidFill>
                  <a:srgbClr val="0000FF"/>
                </a:solidFill>
                <a:effectLst/>
                <a:latin typeface="Arial" pitchFamily="34" charset="0"/>
              </a:rPr>
              <a:t>社会治理</a:t>
            </a:r>
          </a:p>
        </p:txBody>
      </p:sp>
      <p:sp>
        <p:nvSpPr>
          <p:cNvPr id="9" name="圆角矩形 8"/>
          <p:cNvSpPr/>
          <p:nvPr/>
        </p:nvSpPr>
        <p:spPr bwMode="auto">
          <a:xfrm>
            <a:off x="5444485" y="4610830"/>
            <a:ext cx="1528756" cy="1222144"/>
          </a:xfrm>
          <a:prstGeom prst="roundRect">
            <a:avLst/>
          </a:prstGeom>
          <a:ln w="19050">
            <a:solidFill>
              <a:srgbClr val="0000FF"/>
            </a:solidFill>
            <a:headEnd type="none" w="med" len="med"/>
            <a:tailEnd type="none" w="med" len="med"/>
          </a:ln>
          <a:extLst/>
        </p:spPr>
        <p:style>
          <a:lnRef idx="2">
            <a:schemeClr val="accent1"/>
          </a:lnRef>
          <a:fillRef idx="1">
            <a:schemeClr val="lt1"/>
          </a:fillRef>
          <a:effectRef idx="0">
            <a:schemeClr val="accent1"/>
          </a:effectRef>
          <a:fontRef idx="minor">
            <a:schemeClr val="dk1"/>
          </a:fontRef>
        </p:style>
        <p:txBody>
          <a:bodyPr vert="horz" wrap="none" lIns="91440" tIns="45720" rIns="91440" bIns="45720" numCol="1" rtlCol="0" anchor="t" anchorCtr="0" compatLnSpc="1">
            <a:prstTxWarp prst="textNoShape">
              <a:avLst/>
            </a:prstTxWarp>
          </a:bodyPr>
          <a:lstStyle/>
          <a:p>
            <a:pPr marL="0" marR="0" indent="0" algn="ctr" defTabSz="914400" rtl="0" eaLnBrk="1" fontAlgn="base" latinLnBrk="0" hangingPunct="1">
              <a:lnSpc>
                <a:spcPct val="150000"/>
              </a:lnSpc>
              <a:spcBef>
                <a:spcPct val="0"/>
              </a:spcBef>
              <a:spcAft>
                <a:spcPct val="0"/>
              </a:spcAft>
              <a:buClrTx/>
              <a:buSzTx/>
              <a:buFontTx/>
              <a:buNone/>
              <a:tabLst/>
            </a:pPr>
            <a:r>
              <a:rPr kumimoji="0" lang="zh-CN" altLang="en-US" sz="2400" i="0" u="none" strike="noStrike" cap="none" normalizeH="0" baseline="0" dirty="0" smtClean="0">
                <a:ln>
                  <a:noFill/>
                </a:ln>
                <a:solidFill>
                  <a:srgbClr val="0000FF"/>
                </a:solidFill>
                <a:effectLst/>
                <a:latin typeface="Arial" pitchFamily="34" charset="0"/>
              </a:rPr>
              <a:t>群体</a:t>
            </a:r>
            <a:endParaRPr kumimoji="0" lang="en-US" altLang="zh-CN" sz="2400" i="0" u="none" strike="noStrike" cap="none" normalizeH="0" baseline="0" dirty="0" smtClean="0">
              <a:ln>
                <a:noFill/>
              </a:ln>
              <a:solidFill>
                <a:srgbClr val="0000FF"/>
              </a:solidFill>
              <a:effectLst/>
              <a:latin typeface="Arial" pitchFamily="34" charset="0"/>
            </a:endParaRPr>
          </a:p>
          <a:p>
            <a:pPr marL="0" marR="0" indent="0" algn="ctr" defTabSz="914400" rtl="0" eaLnBrk="1" fontAlgn="base" latinLnBrk="0" hangingPunct="1">
              <a:lnSpc>
                <a:spcPct val="100000"/>
              </a:lnSpc>
              <a:spcBef>
                <a:spcPct val="0"/>
              </a:spcBef>
              <a:spcAft>
                <a:spcPct val="0"/>
              </a:spcAft>
              <a:buClrTx/>
              <a:buSzTx/>
              <a:buFontTx/>
              <a:buNone/>
              <a:tabLst/>
            </a:pPr>
            <a:r>
              <a:rPr kumimoji="0" lang="zh-CN" altLang="en-US" sz="2400" i="0" u="none" strike="noStrike" cap="none" normalizeH="0" baseline="0" dirty="0" smtClean="0">
                <a:ln>
                  <a:noFill/>
                </a:ln>
                <a:solidFill>
                  <a:srgbClr val="0000FF"/>
                </a:solidFill>
                <a:effectLst/>
                <a:latin typeface="Arial" pitchFamily="34" charset="0"/>
              </a:rPr>
              <a:t>智能决策</a:t>
            </a:r>
          </a:p>
        </p:txBody>
      </p:sp>
      <p:sp>
        <p:nvSpPr>
          <p:cNvPr id="11" name="圆角矩形 10"/>
          <p:cNvSpPr/>
          <p:nvPr/>
        </p:nvSpPr>
        <p:spPr bwMode="auto">
          <a:xfrm>
            <a:off x="2068307" y="4610830"/>
            <a:ext cx="1528756" cy="1222144"/>
          </a:xfrm>
          <a:prstGeom prst="roundRect">
            <a:avLst/>
          </a:prstGeom>
          <a:ln w="19050">
            <a:solidFill>
              <a:srgbClr val="0000FF"/>
            </a:solidFill>
            <a:headEnd type="none" w="med" len="med"/>
            <a:tailEnd type="none" w="med" len="med"/>
          </a:ln>
          <a:extLst/>
        </p:spPr>
        <p:style>
          <a:lnRef idx="2">
            <a:schemeClr val="accent1"/>
          </a:lnRef>
          <a:fillRef idx="1">
            <a:schemeClr val="lt1"/>
          </a:fillRef>
          <a:effectRef idx="0">
            <a:schemeClr val="accent1"/>
          </a:effectRef>
          <a:fontRef idx="minor">
            <a:schemeClr val="dk1"/>
          </a:fontRef>
        </p:style>
        <p:txBody>
          <a:bodyPr vert="horz" wrap="none" lIns="91440" tIns="45720" rIns="91440" bIns="45720" numCol="1" rtlCol="0" anchor="t" anchorCtr="0" compatLnSpc="1">
            <a:prstTxWarp prst="textNoShape">
              <a:avLst/>
            </a:prstTxWarp>
          </a:bodyPr>
          <a:lstStyle/>
          <a:p>
            <a:pPr marL="0" marR="0" indent="0" algn="ctr" defTabSz="914400" rtl="0" eaLnBrk="1" fontAlgn="base" latinLnBrk="0" hangingPunct="1">
              <a:lnSpc>
                <a:spcPct val="150000"/>
              </a:lnSpc>
              <a:spcBef>
                <a:spcPct val="0"/>
              </a:spcBef>
              <a:spcAft>
                <a:spcPct val="0"/>
              </a:spcAft>
              <a:buClrTx/>
              <a:buSzTx/>
              <a:buFontTx/>
              <a:buNone/>
              <a:tabLst/>
            </a:pPr>
            <a:r>
              <a:rPr kumimoji="0" lang="zh-CN" altLang="en-US" sz="2400" i="0" u="none" strike="noStrike" cap="none" normalizeH="0" baseline="0" dirty="0" smtClean="0">
                <a:ln>
                  <a:noFill/>
                </a:ln>
                <a:solidFill>
                  <a:srgbClr val="0000FF"/>
                </a:solidFill>
                <a:effectLst/>
                <a:latin typeface="Arial" pitchFamily="34" charset="0"/>
              </a:rPr>
              <a:t>智能</a:t>
            </a:r>
            <a:endParaRPr kumimoji="0" lang="en-US" altLang="zh-CN" sz="2400" i="0" u="none" strike="noStrike" cap="none" normalizeH="0" baseline="0" dirty="0" smtClean="0">
              <a:ln>
                <a:noFill/>
              </a:ln>
              <a:solidFill>
                <a:srgbClr val="0000FF"/>
              </a:solidFill>
              <a:effectLst/>
              <a:latin typeface="Arial" pitchFamily="34" charset="0"/>
            </a:endParaRPr>
          </a:p>
          <a:p>
            <a:pPr marL="0" marR="0" indent="0" algn="ctr" defTabSz="914400" rtl="0" eaLnBrk="1" fontAlgn="base" latinLnBrk="0" hangingPunct="1">
              <a:lnSpc>
                <a:spcPct val="100000"/>
              </a:lnSpc>
              <a:spcBef>
                <a:spcPct val="0"/>
              </a:spcBef>
              <a:spcAft>
                <a:spcPct val="0"/>
              </a:spcAft>
              <a:buClrTx/>
              <a:buSzTx/>
              <a:buFontTx/>
              <a:buNone/>
              <a:tabLst/>
            </a:pPr>
            <a:r>
              <a:rPr kumimoji="0" lang="zh-CN" altLang="en-US" sz="2400" i="0" u="none" strike="noStrike" cap="none" normalizeH="0" baseline="0" dirty="0" smtClean="0">
                <a:ln>
                  <a:noFill/>
                </a:ln>
                <a:solidFill>
                  <a:srgbClr val="0000FF"/>
                </a:solidFill>
                <a:effectLst/>
                <a:latin typeface="Arial" pitchFamily="34" charset="0"/>
              </a:rPr>
              <a:t>信息推荐</a:t>
            </a:r>
          </a:p>
        </p:txBody>
      </p:sp>
      <p:cxnSp>
        <p:nvCxnSpPr>
          <p:cNvPr id="14" name="直接箭头连接符 13"/>
          <p:cNvCxnSpPr/>
          <p:nvPr/>
        </p:nvCxnSpPr>
        <p:spPr bwMode="auto">
          <a:xfrm flipV="1">
            <a:off x="2530799" y="3402908"/>
            <a:ext cx="0" cy="1124792"/>
          </a:xfrm>
          <a:prstGeom prst="straightConnector1">
            <a:avLst/>
          </a:prstGeom>
          <a:solidFill>
            <a:schemeClr val="accent1"/>
          </a:solidFill>
          <a:ln w="9525" cap="flat" cmpd="sng" algn="ctr">
            <a:solidFill>
              <a:schemeClr val="tx1"/>
            </a:solidFill>
            <a:prstDash val="dash"/>
            <a:miter lim="800000"/>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5" name="直接箭头连接符 14"/>
          <p:cNvCxnSpPr/>
          <p:nvPr/>
        </p:nvCxnSpPr>
        <p:spPr bwMode="auto">
          <a:xfrm flipV="1">
            <a:off x="6452597" y="3402908"/>
            <a:ext cx="0" cy="1124792"/>
          </a:xfrm>
          <a:prstGeom prst="straightConnector1">
            <a:avLst/>
          </a:prstGeom>
          <a:solidFill>
            <a:schemeClr val="accent1"/>
          </a:solidFill>
          <a:ln w="9525" cap="flat" cmpd="sng" algn="ctr">
            <a:solidFill>
              <a:schemeClr val="tx1"/>
            </a:solidFill>
            <a:prstDash val="dash"/>
            <a:miter lim="800000"/>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6" name="圆角矩形 15"/>
          <p:cNvSpPr/>
          <p:nvPr/>
        </p:nvSpPr>
        <p:spPr bwMode="auto">
          <a:xfrm>
            <a:off x="2067416" y="2081787"/>
            <a:ext cx="1529647" cy="1224136"/>
          </a:xfrm>
          <a:prstGeom prst="roundRect">
            <a:avLst/>
          </a:prstGeom>
          <a:ln w="19050">
            <a:solidFill>
              <a:srgbClr val="0000FF"/>
            </a:solidFill>
            <a:headEnd type="none" w="med" len="med"/>
            <a:tailEnd type="none" w="med" len="med"/>
          </a:ln>
          <a:extLst/>
        </p:spPr>
        <p:style>
          <a:lnRef idx="2">
            <a:schemeClr val="accent1"/>
          </a:lnRef>
          <a:fillRef idx="1">
            <a:schemeClr val="lt1"/>
          </a:fillRef>
          <a:effectRef idx="0">
            <a:schemeClr val="accent1"/>
          </a:effectRef>
          <a:fontRef idx="minor">
            <a:schemeClr val="dk1"/>
          </a:fontRef>
        </p:style>
        <p:txBody>
          <a:bodyPr vert="horz" wrap="none" lIns="91440" tIns="45720" rIns="91440" bIns="45720" numCol="1" rtlCol="0" anchor="t" anchorCtr="0" compatLnSpc="1">
            <a:prstTxWarp prst="textNoShape">
              <a:avLst/>
            </a:prstTxWarp>
          </a:bodyPr>
          <a:lstStyle/>
          <a:p>
            <a:pPr marL="0" marR="0" indent="0" algn="ctr" defTabSz="914400" rtl="0" eaLnBrk="1" fontAlgn="base" latinLnBrk="0" hangingPunct="1">
              <a:lnSpc>
                <a:spcPct val="150000"/>
              </a:lnSpc>
              <a:spcBef>
                <a:spcPct val="0"/>
              </a:spcBef>
              <a:spcAft>
                <a:spcPct val="0"/>
              </a:spcAft>
              <a:buClrTx/>
              <a:buSzTx/>
              <a:buFontTx/>
              <a:buNone/>
              <a:tabLst/>
            </a:pPr>
            <a:r>
              <a:rPr kumimoji="0" lang="zh-CN" altLang="en-US" sz="2400" i="0" u="none" strike="noStrike" cap="none" normalizeH="0" baseline="0" dirty="0" smtClean="0">
                <a:ln>
                  <a:noFill/>
                </a:ln>
                <a:solidFill>
                  <a:srgbClr val="0000FF"/>
                </a:solidFill>
                <a:effectLst/>
                <a:latin typeface="Arial" pitchFamily="34" charset="0"/>
              </a:rPr>
              <a:t>智能</a:t>
            </a:r>
            <a:endParaRPr kumimoji="0" lang="en-US" altLang="zh-CN" sz="2400" i="0" u="none" strike="noStrike" cap="none" normalizeH="0" baseline="0" dirty="0" smtClean="0">
              <a:ln>
                <a:noFill/>
              </a:ln>
              <a:solidFill>
                <a:srgbClr val="0000FF"/>
              </a:solidFill>
              <a:effectLst/>
              <a:latin typeface="Arial" pitchFamily="34" charset="0"/>
            </a:endParaRPr>
          </a:p>
          <a:p>
            <a:pPr marL="0" marR="0" indent="0" algn="ctr" defTabSz="914400" rtl="0" eaLnBrk="1" fontAlgn="base" latinLnBrk="0" hangingPunct="1">
              <a:lnSpc>
                <a:spcPct val="100000"/>
              </a:lnSpc>
              <a:spcBef>
                <a:spcPct val="0"/>
              </a:spcBef>
              <a:spcAft>
                <a:spcPct val="0"/>
              </a:spcAft>
              <a:buClrTx/>
              <a:buSzTx/>
              <a:buFontTx/>
              <a:buNone/>
              <a:tabLst/>
            </a:pPr>
            <a:r>
              <a:rPr kumimoji="0" lang="zh-CN" altLang="en-US" sz="2400" i="0" u="none" strike="noStrike" cap="none" normalizeH="0" baseline="0" dirty="0" smtClean="0">
                <a:ln>
                  <a:noFill/>
                </a:ln>
                <a:solidFill>
                  <a:srgbClr val="0000FF"/>
                </a:solidFill>
                <a:effectLst/>
                <a:latin typeface="Arial" pitchFamily="34" charset="0"/>
              </a:rPr>
              <a:t>商务管理</a:t>
            </a:r>
          </a:p>
        </p:txBody>
      </p:sp>
      <p:sp>
        <p:nvSpPr>
          <p:cNvPr id="19" name="圆角矩形 18"/>
          <p:cNvSpPr/>
          <p:nvPr/>
        </p:nvSpPr>
        <p:spPr bwMode="auto">
          <a:xfrm>
            <a:off x="7391554" y="2683466"/>
            <a:ext cx="727386" cy="2563676"/>
          </a:xfrm>
          <a:prstGeom prst="roundRect">
            <a:avLst/>
          </a:prstGeom>
          <a:solidFill>
            <a:srgbClr val="00B050">
              <a:alpha val="38000"/>
            </a:srgbClr>
          </a:solidFill>
          <a:ln w="9525" cap="flat" cmpd="sng" algn="ctr">
            <a:noFill/>
            <a:prstDash val="solid"/>
            <a:miter lim="800000"/>
            <a:headEnd type="none" w="med" len="med"/>
            <a:tailEnd type="none" w="med" len="med"/>
          </a:ln>
          <a:effectLst/>
          <a:extLst/>
        </p:spPr>
        <p:txBody>
          <a:bodyPr vert="eaVert" wrap="non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lang="zh-CN" altLang="en-US" sz="2400" dirty="0" smtClean="0">
                <a:solidFill>
                  <a:srgbClr val="FF0000"/>
                </a:solidFill>
                <a:latin typeface="楷体" panose="02010609060101010101" pitchFamily="49" charset="-122"/>
                <a:ea typeface="楷体" panose="02010609060101010101" pitchFamily="49" charset="-122"/>
              </a:rPr>
              <a:t>社会群体 </a:t>
            </a:r>
            <a:r>
              <a:rPr lang="zh-CN" altLang="en-US" sz="2400" b="0" dirty="0" smtClean="0">
                <a:latin typeface="楷体" panose="02010609060101010101" pitchFamily="49" charset="-122"/>
                <a:ea typeface="楷体" panose="02010609060101010101" pitchFamily="49" charset="-122"/>
              </a:rPr>
              <a:t>视角</a:t>
            </a:r>
            <a:endParaRPr kumimoji="0" lang="zh-CN" altLang="en-US" sz="2400" b="0" i="0" u="none" strike="noStrike" cap="none" normalizeH="0" baseline="0" dirty="0" smtClean="0">
              <a:ln>
                <a:noFill/>
              </a:ln>
              <a:solidFill>
                <a:schemeClr val="tx1"/>
              </a:solidFill>
              <a:effectLst/>
              <a:latin typeface="楷体" panose="02010609060101010101" pitchFamily="49" charset="-122"/>
              <a:ea typeface="楷体" panose="02010609060101010101" pitchFamily="49" charset="-122"/>
            </a:endParaRPr>
          </a:p>
        </p:txBody>
      </p:sp>
      <p:sp>
        <p:nvSpPr>
          <p:cNvPr id="20" name="圆角矩形 19"/>
          <p:cNvSpPr/>
          <p:nvPr/>
        </p:nvSpPr>
        <p:spPr bwMode="auto">
          <a:xfrm>
            <a:off x="3115947" y="6047994"/>
            <a:ext cx="2747873" cy="576064"/>
          </a:xfrm>
          <a:prstGeom prst="roundRect">
            <a:avLst/>
          </a:prstGeom>
          <a:solidFill>
            <a:srgbClr val="FFFF00">
              <a:alpha val="38000"/>
            </a:srgbClr>
          </a:solidFill>
          <a:ln w="9525" cap="flat" cmpd="sng" algn="ctr">
            <a:noFill/>
            <a:prstDash val="solid"/>
            <a:miter lim="800000"/>
            <a:headEnd type="none" w="med" len="med"/>
            <a:tailEnd type="none" w="med" len="med"/>
          </a:ln>
          <a:effectLst/>
          <a:extLst/>
        </p:spPr>
        <p:txBody>
          <a:bodyPr vert="horz" wrap="non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lang="zh-CN" altLang="en-US" sz="2400" b="0" dirty="0" smtClean="0">
                <a:latin typeface="楷体" panose="02010609060101010101" pitchFamily="49" charset="-122"/>
                <a:ea typeface="楷体" panose="02010609060101010101" pitchFamily="49" charset="-122"/>
              </a:rPr>
              <a:t>建模技术方法</a:t>
            </a:r>
            <a:endParaRPr kumimoji="0" lang="zh-CN" altLang="en-US" sz="2400" b="0" i="0" u="none" strike="noStrike" cap="none" normalizeH="0" baseline="0" dirty="0" smtClean="0">
              <a:ln>
                <a:noFill/>
              </a:ln>
              <a:solidFill>
                <a:schemeClr val="tx1"/>
              </a:solidFill>
              <a:effectLst/>
              <a:latin typeface="楷体" panose="02010609060101010101" pitchFamily="49" charset="-122"/>
              <a:ea typeface="楷体" panose="02010609060101010101" pitchFamily="49" charset="-122"/>
            </a:endParaRPr>
          </a:p>
        </p:txBody>
      </p:sp>
      <p:sp>
        <p:nvSpPr>
          <p:cNvPr id="21" name="圆角矩形 20"/>
          <p:cNvSpPr/>
          <p:nvPr/>
        </p:nvSpPr>
        <p:spPr bwMode="auto">
          <a:xfrm>
            <a:off x="3115947" y="1263471"/>
            <a:ext cx="2747873" cy="576064"/>
          </a:xfrm>
          <a:prstGeom prst="roundRect">
            <a:avLst/>
          </a:prstGeom>
          <a:solidFill>
            <a:srgbClr val="FFFF00">
              <a:alpha val="38000"/>
            </a:srgbClr>
          </a:solidFill>
          <a:ln w="9525" cap="flat" cmpd="sng" algn="ctr">
            <a:noFill/>
            <a:prstDash val="solid"/>
            <a:miter lim="800000"/>
            <a:headEnd type="none" w="med" len="med"/>
            <a:tailEnd type="none" w="med" len="med"/>
          </a:ln>
          <a:effectLst/>
          <a:extLst/>
        </p:spPr>
        <p:txBody>
          <a:bodyPr vert="horz" wrap="non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lang="zh-CN" altLang="en-US" sz="2400" b="0" dirty="0" smtClean="0">
                <a:latin typeface="楷体" panose="02010609060101010101" pitchFamily="49" charset="-122"/>
                <a:ea typeface="楷体" panose="02010609060101010101" pitchFamily="49" charset="-122"/>
              </a:rPr>
              <a:t>行业应用范式</a:t>
            </a:r>
            <a:endParaRPr kumimoji="0" lang="zh-CN" altLang="en-US" sz="2400" b="0" i="0" u="none" strike="noStrike" cap="none" normalizeH="0" baseline="0" dirty="0" smtClean="0">
              <a:ln>
                <a:noFill/>
              </a:ln>
              <a:solidFill>
                <a:schemeClr val="tx1"/>
              </a:solidFill>
              <a:effectLst/>
              <a:latin typeface="楷体" panose="02010609060101010101" pitchFamily="49" charset="-122"/>
              <a:ea typeface="楷体" panose="02010609060101010101" pitchFamily="49" charset="-122"/>
            </a:endParaRPr>
          </a:p>
        </p:txBody>
      </p:sp>
      <p:sp>
        <p:nvSpPr>
          <p:cNvPr id="23" name="圆角矩形 22"/>
          <p:cNvSpPr/>
          <p:nvPr/>
        </p:nvSpPr>
        <p:spPr bwMode="auto">
          <a:xfrm>
            <a:off x="930957" y="2762509"/>
            <a:ext cx="727386" cy="2563676"/>
          </a:xfrm>
          <a:prstGeom prst="roundRect">
            <a:avLst/>
          </a:prstGeom>
          <a:solidFill>
            <a:srgbClr val="00B050">
              <a:alpha val="38000"/>
            </a:srgbClr>
          </a:solidFill>
          <a:ln w="9525" cap="flat" cmpd="sng" algn="ctr">
            <a:noFill/>
            <a:prstDash val="solid"/>
            <a:miter lim="800000"/>
            <a:headEnd type="none" w="med" len="med"/>
            <a:tailEnd type="none" w="med" len="med"/>
          </a:ln>
          <a:effectLst/>
          <a:extLst/>
        </p:spPr>
        <p:txBody>
          <a:bodyPr vert="eaVert" wrap="none" lIns="91440" tIns="45720" rIns="91440" bIns="45720" numCol="1" rtlCol="0" anchor="t" anchorCtr="0" compatLnSpc="1">
            <a:prstTxWarp prst="textNoShape">
              <a:avLst/>
            </a:prstTxWarp>
          </a:bodyPr>
          <a:lstStyle/>
          <a:p>
            <a:pPr algn="ctr" eaLnBrk="1" hangingPunct="1"/>
            <a:r>
              <a:rPr lang="zh-CN" altLang="en-US" sz="2400" dirty="0">
                <a:solidFill>
                  <a:srgbClr val="FF0000"/>
                </a:solidFill>
                <a:latin typeface="楷体" panose="02010609060101010101" pitchFamily="49" charset="-122"/>
                <a:ea typeface="楷体" panose="02010609060101010101" pitchFamily="49" charset="-122"/>
              </a:rPr>
              <a:t>个体用户 </a:t>
            </a:r>
            <a:r>
              <a:rPr lang="zh-CN" altLang="en-US" sz="2400" b="0" dirty="0">
                <a:latin typeface="楷体" panose="02010609060101010101" pitchFamily="49" charset="-122"/>
                <a:ea typeface="楷体" panose="02010609060101010101" pitchFamily="49" charset="-122"/>
              </a:rPr>
              <a:t>视角</a:t>
            </a:r>
          </a:p>
        </p:txBody>
      </p:sp>
      <p:sp>
        <p:nvSpPr>
          <p:cNvPr id="24" name="矩形 23"/>
          <p:cNvSpPr/>
          <p:nvPr/>
        </p:nvSpPr>
        <p:spPr>
          <a:xfrm>
            <a:off x="179512" y="1196752"/>
            <a:ext cx="2635574" cy="1323439"/>
          </a:xfrm>
          <a:prstGeom prst="rect">
            <a:avLst/>
          </a:prstGeom>
        </p:spPr>
        <p:txBody>
          <a:bodyPr wrap="square">
            <a:spAutoFit/>
          </a:bodyPr>
          <a:lstStyle/>
          <a:p>
            <a:r>
              <a:rPr lang="en-US" altLang="zh-CN" dirty="0" smtClean="0">
                <a:latin typeface="Times New Roman" panose="02020603050405020304" pitchFamily="18" charset="0"/>
                <a:ea typeface="楷体" panose="02010609060101010101" pitchFamily="49" charset="-122"/>
                <a:cs typeface="Times New Roman" panose="02020603050405020304" pitchFamily="18" charset="0"/>
              </a:rPr>
              <a:t>ICIS2012 PACIS2014</a:t>
            </a:r>
          </a:p>
          <a:p>
            <a:r>
              <a:rPr lang="zh-CN" altLang="en-US" dirty="0">
                <a:latin typeface="Times New Roman" panose="02020603050405020304" pitchFamily="18" charset="0"/>
                <a:ea typeface="楷体" panose="02010609060101010101" pitchFamily="49" charset="-122"/>
                <a:cs typeface="Times New Roman" panose="02020603050405020304" pitchFamily="18" charset="0"/>
              </a:rPr>
              <a:t>信息系统学报</a:t>
            </a:r>
            <a:r>
              <a:rPr lang="en-US" altLang="zh-CN" dirty="0" smtClean="0">
                <a:latin typeface="Times New Roman" panose="02020603050405020304" pitchFamily="18" charset="0"/>
                <a:ea typeface="楷体" panose="02010609060101010101" pitchFamily="49" charset="-122"/>
                <a:cs typeface="Times New Roman" panose="02020603050405020304" pitchFamily="18" charset="0"/>
              </a:rPr>
              <a:t>2012</a:t>
            </a:r>
            <a:endParaRPr lang="en-US" altLang="zh-CN" dirty="0">
              <a:latin typeface="Times New Roman" panose="02020603050405020304" pitchFamily="18" charset="0"/>
              <a:ea typeface="楷体" panose="02010609060101010101" pitchFamily="49" charset="-122"/>
              <a:cs typeface="Times New Roman" panose="02020603050405020304" pitchFamily="18" charset="0"/>
            </a:endParaRPr>
          </a:p>
          <a:p>
            <a:r>
              <a:rPr lang="zh-CN" altLang="en-US" dirty="0" smtClean="0">
                <a:latin typeface="Times New Roman" panose="02020603050405020304" pitchFamily="18" charset="0"/>
                <a:ea typeface="楷体" panose="02010609060101010101" pitchFamily="49" charset="-122"/>
                <a:cs typeface="Times New Roman" panose="02020603050405020304" pitchFamily="18" charset="0"/>
              </a:rPr>
              <a:t>信息系统学报</a:t>
            </a:r>
            <a:r>
              <a:rPr lang="en-US" altLang="zh-CN" dirty="0" smtClean="0">
                <a:latin typeface="Times New Roman" panose="02020603050405020304" pitchFamily="18" charset="0"/>
                <a:ea typeface="楷体" panose="02010609060101010101" pitchFamily="49" charset="-122"/>
                <a:cs typeface="Times New Roman" panose="02020603050405020304" pitchFamily="18" charset="0"/>
              </a:rPr>
              <a:t>2019</a:t>
            </a:r>
          </a:p>
          <a:p>
            <a:r>
              <a:rPr lang="en-US" altLang="zh-CN" dirty="0" smtClean="0">
                <a:latin typeface="Times New Roman" panose="02020603050405020304" pitchFamily="18" charset="0"/>
                <a:ea typeface="楷体" panose="02010609060101010101" pitchFamily="49" charset="-122"/>
                <a:cs typeface="Times New Roman" panose="02020603050405020304" pitchFamily="18" charset="0"/>
              </a:rPr>
              <a:t>TKDD2023</a:t>
            </a:r>
          </a:p>
        </p:txBody>
      </p:sp>
      <p:sp>
        <p:nvSpPr>
          <p:cNvPr id="25" name="矩形 24"/>
          <p:cNvSpPr/>
          <p:nvPr/>
        </p:nvSpPr>
        <p:spPr>
          <a:xfrm>
            <a:off x="179512" y="5453717"/>
            <a:ext cx="3011468" cy="1323439"/>
          </a:xfrm>
          <a:prstGeom prst="rect">
            <a:avLst/>
          </a:prstGeom>
        </p:spPr>
        <p:txBody>
          <a:bodyPr wrap="square">
            <a:spAutoFit/>
          </a:bodyPr>
          <a:lstStyle/>
          <a:p>
            <a:r>
              <a:rPr lang="en-US" altLang="zh-CN" dirty="0">
                <a:latin typeface="Times New Roman" panose="02020603050405020304" pitchFamily="18" charset="0"/>
                <a:ea typeface="楷体" panose="02010609060101010101" pitchFamily="49" charset="-122"/>
                <a:cs typeface="Times New Roman" panose="02020603050405020304" pitchFamily="18" charset="0"/>
              </a:rPr>
              <a:t>SIGIR2023 </a:t>
            </a:r>
            <a:endParaRPr lang="en-US" altLang="zh-CN" dirty="0" smtClean="0">
              <a:latin typeface="Times New Roman" panose="02020603050405020304" pitchFamily="18" charset="0"/>
              <a:ea typeface="楷体" panose="02010609060101010101" pitchFamily="49" charset="-122"/>
              <a:cs typeface="Times New Roman" panose="02020603050405020304" pitchFamily="18" charset="0"/>
            </a:endParaRPr>
          </a:p>
          <a:p>
            <a:r>
              <a:rPr lang="en-US" altLang="zh-CN" dirty="0" smtClean="0">
                <a:latin typeface="Times New Roman" panose="02020603050405020304" pitchFamily="18" charset="0"/>
                <a:ea typeface="楷体" panose="02010609060101010101" pitchFamily="49" charset="-122"/>
                <a:cs typeface="Times New Roman" panose="02020603050405020304" pitchFamily="18" charset="0"/>
              </a:rPr>
              <a:t>TKDD2022 InfoSci2023</a:t>
            </a:r>
          </a:p>
          <a:p>
            <a:r>
              <a:rPr lang="en-US" altLang="zh-CN" dirty="0" smtClean="0">
                <a:latin typeface="Times New Roman" panose="02020603050405020304" pitchFamily="18" charset="0"/>
                <a:ea typeface="楷体" panose="02010609060101010101" pitchFamily="49" charset="-122"/>
                <a:cs typeface="Times New Roman" panose="02020603050405020304" pitchFamily="18" charset="0"/>
              </a:rPr>
              <a:t>DSAFAA2020</a:t>
            </a:r>
          </a:p>
          <a:p>
            <a:r>
              <a:rPr lang="en-US" altLang="zh-CN" dirty="0" smtClean="0">
                <a:latin typeface="Times New Roman" panose="02020603050405020304" pitchFamily="18" charset="0"/>
                <a:ea typeface="楷体" panose="02010609060101010101" pitchFamily="49" charset="-122"/>
                <a:cs typeface="Times New Roman" panose="02020603050405020304" pitchFamily="18" charset="0"/>
              </a:rPr>
              <a:t>ICASSP2022 ICME2022</a:t>
            </a:r>
            <a:endParaRPr lang="en-US" altLang="zh-CN" dirty="0">
              <a:latin typeface="Times New Roman" panose="02020603050405020304" pitchFamily="18" charset="0"/>
              <a:ea typeface="楷体" panose="02010609060101010101" pitchFamily="49" charset="-122"/>
              <a:cs typeface="Times New Roman" panose="02020603050405020304" pitchFamily="18" charset="0"/>
            </a:endParaRPr>
          </a:p>
        </p:txBody>
      </p:sp>
      <p:sp>
        <p:nvSpPr>
          <p:cNvPr id="26" name="矩形 25"/>
          <p:cNvSpPr/>
          <p:nvPr/>
        </p:nvSpPr>
        <p:spPr>
          <a:xfrm>
            <a:off x="6660232" y="5761493"/>
            <a:ext cx="2650298" cy="1015663"/>
          </a:xfrm>
          <a:prstGeom prst="rect">
            <a:avLst/>
          </a:prstGeom>
        </p:spPr>
        <p:txBody>
          <a:bodyPr wrap="square">
            <a:spAutoFit/>
          </a:bodyPr>
          <a:lstStyle/>
          <a:p>
            <a:r>
              <a:rPr lang="en-US" altLang="zh-CN" dirty="0" smtClean="0">
                <a:latin typeface="Times New Roman" panose="02020603050405020304" pitchFamily="18" charset="0"/>
                <a:ea typeface="楷体" panose="02010609060101010101" pitchFamily="49" charset="-122"/>
                <a:cs typeface="Times New Roman" panose="02020603050405020304" pitchFamily="18" charset="0"/>
              </a:rPr>
              <a:t>DSS2023 DS2020</a:t>
            </a:r>
          </a:p>
          <a:p>
            <a:r>
              <a:rPr lang="en-US" altLang="zh-CN" dirty="0" smtClean="0">
                <a:latin typeface="Times New Roman" panose="02020603050405020304" pitchFamily="18" charset="0"/>
                <a:ea typeface="楷体" panose="02010609060101010101" pitchFamily="49" charset="-122"/>
                <a:cs typeface="Times New Roman" panose="02020603050405020304" pitchFamily="18" charset="0"/>
              </a:rPr>
              <a:t>InfoSci2022 </a:t>
            </a:r>
            <a:r>
              <a:rPr lang="en-US" altLang="zh-CN" dirty="0">
                <a:latin typeface="Times New Roman" panose="02020603050405020304" pitchFamily="18" charset="0"/>
                <a:ea typeface="楷体" panose="02010609060101010101" pitchFamily="49" charset="-122"/>
                <a:cs typeface="Times New Roman" panose="02020603050405020304" pitchFamily="18" charset="0"/>
              </a:rPr>
              <a:t>PR2022 </a:t>
            </a:r>
            <a:endParaRPr lang="en-US" altLang="zh-CN" dirty="0" smtClean="0">
              <a:latin typeface="Times New Roman" panose="02020603050405020304" pitchFamily="18" charset="0"/>
              <a:ea typeface="楷体" panose="02010609060101010101" pitchFamily="49" charset="-122"/>
              <a:cs typeface="Times New Roman" panose="02020603050405020304" pitchFamily="18" charset="0"/>
            </a:endParaRPr>
          </a:p>
          <a:p>
            <a:r>
              <a:rPr lang="zh-CN" altLang="en-US" dirty="0" smtClean="0">
                <a:latin typeface="Times New Roman" panose="02020603050405020304" pitchFamily="18" charset="0"/>
                <a:ea typeface="楷体" panose="02010609060101010101" pitchFamily="49" charset="-122"/>
                <a:cs typeface="Times New Roman" panose="02020603050405020304" pitchFamily="18" charset="0"/>
              </a:rPr>
              <a:t>系统工程</a:t>
            </a:r>
            <a:r>
              <a:rPr lang="en-US" altLang="zh-CN" dirty="0" smtClean="0">
                <a:latin typeface="Times New Roman" panose="02020603050405020304" pitchFamily="18" charset="0"/>
                <a:ea typeface="楷体" panose="02010609060101010101" pitchFamily="49" charset="-122"/>
                <a:cs typeface="Times New Roman" panose="02020603050405020304" pitchFamily="18" charset="0"/>
              </a:rPr>
              <a:t>2017</a:t>
            </a:r>
            <a:endParaRPr lang="en-US" altLang="zh-CN" dirty="0">
              <a:latin typeface="Times New Roman" panose="02020603050405020304" pitchFamily="18" charset="0"/>
              <a:ea typeface="楷体" panose="02010609060101010101" pitchFamily="49" charset="-122"/>
              <a:cs typeface="Times New Roman" panose="02020603050405020304" pitchFamily="18" charset="0"/>
            </a:endParaRPr>
          </a:p>
        </p:txBody>
      </p:sp>
      <p:sp>
        <p:nvSpPr>
          <p:cNvPr id="27" name="矩形 26"/>
          <p:cNvSpPr/>
          <p:nvPr/>
        </p:nvSpPr>
        <p:spPr>
          <a:xfrm>
            <a:off x="6876257" y="1196752"/>
            <a:ext cx="2078758" cy="1015663"/>
          </a:xfrm>
          <a:prstGeom prst="rect">
            <a:avLst/>
          </a:prstGeom>
        </p:spPr>
        <p:txBody>
          <a:bodyPr wrap="square">
            <a:spAutoFit/>
          </a:bodyPr>
          <a:lstStyle/>
          <a:p>
            <a:r>
              <a:rPr lang="en-US" altLang="zh-CN" dirty="0" smtClean="0">
                <a:latin typeface="Times New Roman" panose="02020603050405020304" pitchFamily="18" charset="0"/>
                <a:ea typeface="楷体" panose="02010609060101010101" pitchFamily="49" charset="-122"/>
                <a:cs typeface="Times New Roman" panose="02020603050405020304" pitchFamily="18" charset="0"/>
              </a:rPr>
              <a:t>I&amp;M2021</a:t>
            </a:r>
          </a:p>
          <a:p>
            <a:r>
              <a:rPr lang="en-US" altLang="zh-CN" dirty="0" smtClean="0">
                <a:latin typeface="Times New Roman" panose="02020603050405020304" pitchFamily="18" charset="0"/>
                <a:ea typeface="楷体" panose="02010609060101010101" pitchFamily="49" charset="-122"/>
                <a:cs typeface="Times New Roman" panose="02020603050405020304" pitchFamily="18" charset="0"/>
              </a:rPr>
              <a:t>ICASSP2022</a:t>
            </a:r>
          </a:p>
          <a:p>
            <a:r>
              <a:rPr lang="zh-CN" altLang="en-US" dirty="0" smtClean="0">
                <a:latin typeface="Times New Roman" panose="02020603050405020304" pitchFamily="18" charset="0"/>
                <a:ea typeface="楷体" panose="02010609060101010101" pitchFamily="49" charset="-122"/>
                <a:cs typeface="Times New Roman" panose="02020603050405020304" pitchFamily="18" charset="0"/>
              </a:rPr>
              <a:t>计算机学报</a:t>
            </a:r>
            <a:r>
              <a:rPr lang="en-US" altLang="zh-CN" dirty="0" smtClean="0">
                <a:latin typeface="Times New Roman" panose="02020603050405020304" pitchFamily="18" charset="0"/>
                <a:ea typeface="楷体" panose="02010609060101010101" pitchFamily="49" charset="-122"/>
                <a:cs typeface="Times New Roman" panose="02020603050405020304" pitchFamily="18" charset="0"/>
              </a:rPr>
              <a:t>2022</a:t>
            </a:r>
            <a:endParaRPr lang="en-US" altLang="zh-CN" dirty="0">
              <a:latin typeface="Times New Roman" panose="02020603050405020304" pitchFamily="18" charset="0"/>
              <a:ea typeface="楷体" panose="02010609060101010101" pitchFamily="49" charset="-122"/>
              <a:cs typeface="Times New Roman" panose="02020603050405020304" pitchFamily="18" charset="0"/>
            </a:endParaRPr>
          </a:p>
        </p:txBody>
      </p:sp>
      <p:cxnSp>
        <p:nvCxnSpPr>
          <p:cNvPr id="29" name="直接连接符 28"/>
          <p:cNvCxnSpPr/>
          <p:nvPr/>
        </p:nvCxnSpPr>
        <p:spPr bwMode="auto">
          <a:xfrm>
            <a:off x="3663563" y="2420888"/>
            <a:ext cx="1695017" cy="0"/>
          </a:xfrm>
          <a:prstGeom prst="line">
            <a:avLst/>
          </a:prstGeom>
          <a:solidFill>
            <a:schemeClr val="accent1"/>
          </a:solidFill>
          <a:ln w="9525" cap="flat" cmpd="sng" algn="ctr">
            <a:solidFill>
              <a:schemeClr val="tx1"/>
            </a:solidFill>
            <a:prstDash val="solid"/>
            <a:miter lim="800000"/>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0" name="直接连接符 29"/>
          <p:cNvCxnSpPr/>
          <p:nvPr/>
        </p:nvCxnSpPr>
        <p:spPr bwMode="auto">
          <a:xfrm>
            <a:off x="3663563" y="5513789"/>
            <a:ext cx="1695017" cy="0"/>
          </a:xfrm>
          <a:prstGeom prst="line">
            <a:avLst/>
          </a:prstGeom>
          <a:solidFill>
            <a:schemeClr val="accent1"/>
          </a:solidFill>
          <a:ln w="9525" cap="flat" cmpd="sng" algn="ctr">
            <a:solidFill>
              <a:schemeClr val="tx1"/>
            </a:solidFill>
            <a:prstDash val="solid"/>
            <a:miter lim="800000"/>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Tree>
    <p:extLst>
      <p:ext uri="{BB962C8B-B14F-4D97-AF65-F5344CB8AC3E}">
        <p14:creationId xmlns:p14="http://schemas.microsoft.com/office/powerpoint/2010/main" val="4279146504"/>
      </p:ext>
    </p:extLst>
  </p:cSld>
  <p:clrMapOvr>
    <a:masterClrMapping/>
  </p:clrMapOvr>
  <p:transition spd="slow">
    <p:circle/>
  </p:transition>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总结</a:t>
            </a:r>
          </a:p>
        </p:txBody>
      </p:sp>
      <p:sp>
        <p:nvSpPr>
          <p:cNvPr id="3" name="内容占位符 2"/>
          <p:cNvSpPr>
            <a:spLocks noGrp="1"/>
          </p:cNvSpPr>
          <p:nvPr>
            <p:ph idx="1"/>
          </p:nvPr>
        </p:nvSpPr>
        <p:spPr>
          <a:xfrm>
            <a:off x="323528" y="1212850"/>
            <a:ext cx="2890664" cy="5256213"/>
          </a:xfrm>
        </p:spPr>
        <p:txBody>
          <a:bodyPr/>
          <a:lstStyle/>
          <a:p>
            <a:pPr>
              <a:lnSpc>
                <a:spcPct val="250000"/>
              </a:lnSpc>
            </a:pPr>
            <a:r>
              <a:rPr lang="zh-CN" altLang="en-US" sz="2800" dirty="0" smtClean="0"/>
              <a:t>大数据出现</a:t>
            </a:r>
            <a:endParaRPr lang="en-US" altLang="zh-CN" sz="2800" dirty="0" smtClean="0"/>
          </a:p>
          <a:p>
            <a:pPr>
              <a:lnSpc>
                <a:spcPct val="250000"/>
              </a:lnSpc>
            </a:pPr>
            <a:r>
              <a:rPr lang="zh-CN" altLang="en-US" sz="2800" dirty="0" smtClean="0"/>
              <a:t>大数据概念</a:t>
            </a:r>
            <a:endParaRPr lang="en-US" altLang="zh-CN" sz="2800" dirty="0" smtClean="0"/>
          </a:p>
          <a:p>
            <a:pPr>
              <a:lnSpc>
                <a:spcPct val="250000"/>
              </a:lnSpc>
            </a:pPr>
            <a:r>
              <a:rPr lang="zh-CN" altLang="en-US" sz="2800" dirty="0" smtClean="0"/>
              <a:t>大数据思维</a:t>
            </a:r>
            <a:endParaRPr lang="en-US" altLang="zh-CN" sz="2800" dirty="0" smtClean="0"/>
          </a:p>
        </p:txBody>
      </p:sp>
      <p:sp>
        <p:nvSpPr>
          <p:cNvPr id="5" name="内容占位符 2"/>
          <p:cNvSpPr txBox="1">
            <a:spLocks/>
          </p:cNvSpPr>
          <p:nvPr/>
        </p:nvSpPr>
        <p:spPr bwMode="auto">
          <a:xfrm>
            <a:off x="2915816" y="1196752"/>
            <a:ext cx="5771778" cy="504018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lr>
                <a:srgbClr val="2D7693"/>
              </a:buClr>
              <a:buSzPct val="70000"/>
              <a:buFont typeface="Wingdings" pitchFamily="2" charset="2"/>
              <a:buChar char="n"/>
              <a:defRPr sz="2600" b="1">
                <a:solidFill>
                  <a:schemeClr val="tx1"/>
                </a:solidFill>
                <a:latin typeface="+mn-lt"/>
                <a:ea typeface="+mn-ea"/>
                <a:cs typeface="+mn-cs"/>
              </a:defRPr>
            </a:lvl1pPr>
            <a:lvl2pPr marL="742950" indent="-285750" algn="l" rtl="0" eaLnBrk="0" fontAlgn="base" hangingPunct="0">
              <a:spcBef>
                <a:spcPct val="20000"/>
              </a:spcBef>
              <a:spcAft>
                <a:spcPct val="0"/>
              </a:spcAft>
              <a:buClr>
                <a:srgbClr val="FC3A4C"/>
              </a:buClr>
              <a:buSzPct val="70000"/>
              <a:buFont typeface="Wingdings" pitchFamily="2" charset="2"/>
              <a:buChar char="Ø"/>
              <a:defRPr sz="2200" b="1">
                <a:solidFill>
                  <a:schemeClr val="tx1"/>
                </a:solidFill>
                <a:latin typeface="+mn-lt"/>
                <a:ea typeface="+mn-ea"/>
              </a:defRPr>
            </a:lvl2pPr>
            <a:lvl3pPr marL="1143000" indent="-228600" algn="l" rtl="0" eaLnBrk="0" fontAlgn="base" hangingPunct="0">
              <a:spcBef>
                <a:spcPct val="20000"/>
              </a:spcBef>
              <a:spcAft>
                <a:spcPct val="0"/>
              </a:spcAft>
              <a:buClr>
                <a:srgbClr val="0000FF"/>
              </a:buClr>
              <a:buSzPct val="70000"/>
              <a:buFont typeface="Wingdings" pitchFamily="2" charset="2"/>
              <a:buChar char="l"/>
              <a:defRPr sz="2000" b="1">
                <a:solidFill>
                  <a:schemeClr val="tx1"/>
                </a:solidFill>
                <a:latin typeface="+mn-lt"/>
                <a:ea typeface="+mn-ea"/>
              </a:defRPr>
            </a:lvl3pPr>
            <a:lvl4pPr marL="1600200" indent="-228600" algn="l" rtl="0" eaLnBrk="0" fontAlgn="base" hangingPunct="0">
              <a:spcBef>
                <a:spcPct val="20000"/>
              </a:spcBef>
              <a:spcAft>
                <a:spcPct val="0"/>
              </a:spcAft>
              <a:buClr>
                <a:schemeClr val="accent1"/>
              </a:buClr>
              <a:buFont typeface="Wingdings" pitchFamily="2" charset="2"/>
              <a:buChar char="p"/>
              <a:defRPr sz="2000" b="1">
                <a:solidFill>
                  <a:schemeClr val="tx1"/>
                </a:solidFill>
                <a:latin typeface="+mn-lt"/>
                <a:ea typeface="+mn-ea"/>
              </a:defRPr>
            </a:lvl4pPr>
            <a:lvl5pPr marL="2057400" indent="-228600" algn="l" rtl="0" eaLnBrk="0" fontAlgn="base" hangingPunct="0">
              <a:spcBef>
                <a:spcPct val="20000"/>
              </a:spcBef>
              <a:spcAft>
                <a:spcPct val="0"/>
              </a:spcAft>
              <a:buClr>
                <a:schemeClr val="accent1"/>
              </a:buClr>
              <a:buFont typeface="Wingdings" pitchFamily="2" charset="2"/>
              <a:buChar char="p"/>
              <a:defRPr sz="2000" b="1">
                <a:solidFill>
                  <a:schemeClr val="tx1"/>
                </a:solidFill>
                <a:latin typeface="+mn-lt"/>
                <a:ea typeface="+mn-ea"/>
              </a:defRPr>
            </a:lvl5pPr>
            <a:lvl6pPr marL="2514600" indent="-228600" algn="l" rtl="0" eaLnBrk="1" fontAlgn="base" hangingPunct="1">
              <a:spcBef>
                <a:spcPct val="20000"/>
              </a:spcBef>
              <a:spcAft>
                <a:spcPct val="0"/>
              </a:spcAft>
              <a:buClr>
                <a:schemeClr val="accent1"/>
              </a:buClr>
              <a:buFont typeface="Wingdings" pitchFamily="2" charset="2"/>
              <a:buChar char="p"/>
              <a:defRPr b="1">
                <a:solidFill>
                  <a:schemeClr val="tx1"/>
                </a:solidFill>
                <a:latin typeface="+mn-lt"/>
                <a:ea typeface="+mn-ea"/>
              </a:defRPr>
            </a:lvl6pPr>
            <a:lvl7pPr marL="2971800" indent="-228600" algn="l" rtl="0" eaLnBrk="1" fontAlgn="base" hangingPunct="1">
              <a:spcBef>
                <a:spcPct val="20000"/>
              </a:spcBef>
              <a:spcAft>
                <a:spcPct val="0"/>
              </a:spcAft>
              <a:buClr>
                <a:schemeClr val="accent1"/>
              </a:buClr>
              <a:buFont typeface="Wingdings" pitchFamily="2" charset="2"/>
              <a:buChar char="p"/>
              <a:defRPr b="1">
                <a:solidFill>
                  <a:schemeClr val="tx1"/>
                </a:solidFill>
                <a:latin typeface="+mn-lt"/>
                <a:ea typeface="+mn-ea"/>
              </a:defRPr>
            </a:lvl7pPr>
            <a:lvl8pPr marL="3429000" indent="-228600" algn="l" rtl="0" eaLnBrk="1" fontAlgn="base" hangingPunct="1">
              <a:spcBef>
                <a:spcPct val="20000"/>
              </a:spcBef>
              <a:spcAft>
                <a:spcPct val="0"/>
              </a:spcAft>
              <a:buClr>
                <a:schemeClr val="accent1"/>
              </a:buClr>
              <a:buFont typeface="Wingdings" pitchFamily="2" charset="2"/>
              <a:buChar char="p"/>
              <a:defRPr b="1">
                <a:solidFill>
                  <a:schemeClr val="tx1"/>
                </a:solidFill>
                <a:latin typeface="+mn-lt"/>
                <a:ea typeface="+mn-ea"/>
              </a:defRPr>
            </a:lvl8pPr>
            <a:lvl9pPr marL="3886200" indent="-228600" algn="l" rtl="0" eaLnBrk="1" fontAlgn="base" hangingPunct="1">
              <a:spcBef>
                <a:spcPct val="20000"/>
              </a:spcBef>
              <a:spcAft>
                <a:spcPct val="0"/>
              </a:spcAft>
              <a:buClr>
                <a:schemeClr val="accent1"/>
              </a:buClr>
              <a:buFont typeface="Wingdings" pitchFamily="2" charset="2"/>
              <a:buChar char="p"/>
              <a:defRPr b="1">
                <a:solidFill>
                  <a:schemeClr val="tx1"/>
                </a:solidFill>
                <a:latin typeface="+mn-lt"/>
                <a:ea typeface="+mn-ea"/>
              </a:defRPr>
            </a:lvl9pPr>
          </a:lstStyle>
          <a:p>
            <a:pPr marL="0" indent="0">
              <a:lnSpc>
                <a:spcPct val="250000"/>
              </a:lnSpc>
              <a:buFont typeface="Wingdings" pitchFamily="2" charset="2"/>
              <a:buNone/>
            </a:pPr>
            <a:r>
              <a:rPr kumimoji="1" lang="zh-CN" altLang="en-US" sz="2400" b="0" dirty="0" smtClean="0">
                <a:latin typeface="微软雅黑" panose="020B0503020204020204" pitchFamily="34" charset="-122"/>
                <a:ea typeface="微软雅黑" panose="020B0503020204020204" pitchFamily="34" charset="-122"/>
              </a:rPr>
              <a:t>大数据并不是一个充斥着算法和机器的冰冷世界，人类的作用依然无法被完全替代。大数据为我们提供的不是最终答案，只是参考答案，帮助是暂时的，而更好的方法和答案还在不久的未来！！</a:t>
            </a:r>
          </a:p>
          <a:p>
            <a:pPr>
              <a:lnSpc>
                <a:spcPct val="250000"/>
              </a:lnSpc>
            </a:pPr>
            <a:endParaRPr lang="zh-CN" altLang="en-US" sz="2000" b="0" dirty="0">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1024593082"/>
      </p:ext>
    </p:extLst>
  </p:cSld>
  <p:clrMapOvr>
    <a:masterClrMapping/>
  </p:clrMapOvr>
  <p:transition spd="slow">
    <p:circle/>
  </p:transition>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本框 4">
            <a:extLst>
              <a:ext uri="{FF2B5EF4-FFF2-40B4-BE49-F238E27FC236}">
                <a16:creationId xmlns:a16="http://schemas.microsoft.com/office/drawing/2014/main" id="{81D1A8D4-A673-4A3B-8AB4-E1C064BCB58F}"/>
              </a:ext>
            </a:extLst>
          </p:cNvPr>
          <p:cNvSpPr txBox="1"/>
          <p:nvPr/>
        </p:nvSpPr>
        <p:spPr>
          <a:xfrm>
            <a:off x="2843808" y="2916713"/>
            <a:ext cx="4197621" cy="1015663"/>
          </a:xfrm>
          <a:prstGeom prst="rect">
            <a:avLst/>
          </a:prstGeom>
          <a:noFill/>
        </p:spPr>
        <p:txBody>
          <a:bodyPr wrap="square" rtlCol="0">
            <a:spAutoFit/>
          </a:bodyPr>
          <a:lstStyle/>
          <a:p>
            <a:r>
              <a:rPr lang="zh-CN" altLang="en-US" sz="6000" b="0" dirty="0" smtClean="0">
                <a:solidFill>
                  <a:srgbClr val="FF0000"/>
                </a:solidFill>
                <a:latin typeface="思源黑体 CN Medium" panose="020B0600000000000000" pitchFamily="34" charset="-122"/>
                <a:ea typeface="思源黑体 CN Medium" panose="020B0600000000000000" pitchFamily="34" charset="-122"/>
              </a:rPr>
              <a:t>谢谢大家！</a:t>
            </a:r>
            <a:endParaRPr lang="zh-CN" altLang="en-US" sz="6000" b="0" dirty="0">
              <a:solidFill>
                <a:srgbClr val="FF0000"/>
              </a:solidFill>
              <a:latin typeface="思源黑体 CN Medium" panose="020B0600000000000000" pitchFamily="34" charset="-122"/>
              <a:ea typeface="思源黑体 CN Medium" panose="020B0600000000000000" pitchFamily="34" charset="-122"/>
            </a:endParaRPr>
          </a:p>
        </p:txBody>
      </p:sp>
      <p:cxnSp>
        <p:nvCxnSpPr>
          <p:cNvPr id="7" name="直接连接符 6">
            <a:extLst>
              <a:ext uri="{FF2B5EF4-FFF2-40B4-BE49-F238E27FC236}">
                <a16:creationId xmlns:a16="http://schemas.microsoft.com/office/drawing/2014/main" id="{D7FC733E-4E96-45E0-B9E5-24BD4CBE51BD}"/>
              </a:ext>
            </a:extLst>
          </p:cNvPr>
          <p:cNvCxnSpPr>
            <a:cxnSpLocks/>
          </p:cNvCxnSpPr>
          <p:nvPr/>
        </p:nvCxnSpPr>
        <p:spPr>
          <a:xfrm>
            <a:off x="1024175" y="4221088"/>
            <a:ext cx="7056784" cy="0"/>
          </a:xfrm>
          <a:prstGeom prst="line">
            <a:avLst/>
          </a:prstGeom>
          <a:ln w="15875">
            <a:solidFill>
              <a:srgbClr val="3F3B3A"/>
            </a:solidFill>
          </a:ln>
        </p:spPr>
        <p:style>
          <a:lnRef idx="1">
            <a:schemeClr val="accent1"/>
          </a:lnRef>
          <a:fillRef idx="0">
            <a:schemeClr val="accent1"/>
          </a:fillRef>
          <a:effectRef idx="0">
            <a:schemeClr val="accent1"/>
          </a:effectRef>
          <a:fontRef idx="minor">
            <a:schemeClr val="tx1"/>
          </a:fontRef>
        </p:style>
      </p:cxnSp>
      <p:cxnSp>
        <p:nvCxnSpPr>
          <p:cNvPr id="11" name="直接连接符 10">
            <a:extLst>
              <a:ext uri="{FF2B5EF4-FFF2-40B4-BE49-F238E27FC236}">
                <a16:creationId xmlns:a16="http://schemas.microsoft.com/office/drawing/2014/main" id="{D7FC733E-4E96-45E0-B9E5-24BD4CBE51BD}"/>
              </a:ext>
            </a:extLst>
          </p:cNvPr>
          <p:cNvCxnSpPr>
            <a:cxnSpLocks/>
          </p:cNvCxnSpPr>
          <p:nvPr/>
        </p:nvCxnSpPr>
        <p:spPr>
          <a:xfrm>
            <a:off x="978293" y="2625728"/>
            <a:ext cx="7056784" cy="0"/>
          </a:xfrm>
          <a:prstGeom prst="line">
            <a:avLst/>
          </a:prstGeom>
          <a:ln w="15875">
            <a:solidFill>
              <a:srgbClr val="3F3B3A"/>
            </a:solidFill>
          </a:ln>
        </p:spPr>
        <p:style>
          <a:lnRef idx="1">
            <a:schemeClr val="accent1"/>
          </a:lnRef>
          <a:fillRef idx="0">
            <a:schemeClr val="accent1"/>
          </a:fillRef>
          <a:effectRef idx="0">
            <a:schemeClr val="accent1"/>
          </a:effectRef>
          <a:fontRef idx="minor">
            <a:schemeClr val="tx1"/>
          </a:fontRef>
        </p:style>
      </p:cxnSp>
      <p:sp>
        <p:nvSpPr>
          <p:cNvPr id="12" name="science-conference_68080">
            <a:extLst>
              <a:ext uri="{FF2B5EF4-FFF2-40B4-BE49-F238E27FC236}">
                <a16:creationId xmlns:a16="http://schemas.microsoft.com/office/drawing/2014/main" id="{F5F06994-9830-4FAD-AC75-CC45B977F649}"/>
              </a:ext>
            </a:extLst>
          </p:cNvPr>
          <p:cNvSpPr>
            <a:spLocks noChangeAspect="1"/>
          </p:cNvSpPr>
          <p:nvPr/>
        </p:nvSpPr>
        <p:spPr bwMode="auto">
          <a:xfrm>
            <a:off x="4140777" y="1030369"/>
            <a:ext cx="823580" cy="1300741"/>
          </a:xfrm>
          <a:custGeom>
            <a:avLst/>
            <a:gdLst>
              <a:gd name="connsiteX0" fmla="*/ 190764 w 385450"/>
              <a:gd name="connsiteY0" fmla="*/ 514563 h 608768"/>
              <a:gd name="connsiteX1" fmla="*/ 211847 w 385450"/>
              <a:gd name="connsiteY1" fmla="*/ 526418 h 608768"/>
              <a:gd name="connsiteX2" fmla="*/ 210607 w 385450"/>
              <a:gd name="connsiteY2" fmla="*/ 529304 h 608768"/>
              <a:gd name="connsiteX3" fmla="*/ 190764 w 385450"/>
              <a:gd name="connsiteY3" fmla="*/ 548787 h 608768"/>
              <a:gd name="connsiteX4" fmla="*/ 170818 w 385450"/>
              <a:gd name="connsiteY4" fmla="*/ 529304 h 608768"/>
              <a:gd name="connsiteX5" fmla="*/ 169578 w 385450"/>
              <a:gd name="connsiteY5" fmla="*/ 526418 h 608768"/>
              <a:gd name="connsiteX6" fmla="*/ 190764 w 385450"/>
              <a:gd name="connsiteY6" fmla="*/ 514563 h 608768"/>
              <a:gd name="connsiteX7" fmla="*/ 219467 w 385450"/>
              <a:gd name="connsiteY7" fmla="*/ 493887 h 608768"/>
              <a:gd name="connsiteX8" fmla="*/ 215033 w 385450"/>
              <a:gd name="connsiteY8" fmla="*/ 517315 h 608768"/>
              <a:gd name="connsiteX9" fmla="*/ 199568 w 385450"/>
              <a:gd name="connsiteY9" fmla="*/ 508749 h 608768"/>
              <a:gd name="connsiteX10" fmla="*/ 208950 w 385450"/>
              <a:gd name="connsiteY10" fmla="*/ 502041 h 608768"/>
              <a:gd name="connsiteX11" fmla="*/ 219467 w 385450"/>
              <a:gd name="connsiteY11" fmla="*/ 493887 h 608768"/>
              <a:gd name="connsiteX12" fmla="*/ 162098 w 385450"/>
              <a:gd name="connsiteY12" fmla="*/ 493887 h 608768"/>
              <a:gd name="connsiteX13" fmla="*/ 172491 w 385450"/>
              <a:gd name="connsiteY13" fmla="*/ 502041 h 608768"/>
              <a:gd name="connsiteX14" fmla="*/ 181856 w 385450"/>
              <a:gd name="connsiteY14" fmla="*/ 508749 h 608768"/>
              <a:gd name="connsiteX15" fmla="*/ 166523 w 385450"/>
              <a:gd name="connsiteY15" fmla="*/ 517315 h 608768"/>
              <a:gd name="connsiteX16" fmla="*/ 162098 w 385450"/>
              <a:gd name="connsiteY16" fmla="*/ 493887 h 608768"/>
              <a:gd name="connsiteX17" fmla="*/ 230644 w 385450"/>
              <a:gd name="connsiteY17" fmla="*/ 484220 h 608768"/>
              <a:gd name="connsiteX18" fmla="*/ 246720 w 385450"/>
              <a:gd name="connsiteY18" fmla="*/ 502370 h 608768"/>
              <a:gd name="connsiteX19" fmla="*/ 256097 w 385450"/>
              <a:gd name="connsiteY19" fmla="*/ 526294 h 608768"/>
              <a:gd name="connsiteX20" fmla="*/ 249296 w 385450"/>
              <a:gd name="connsiteY20" fmla="*/ 528253 h 608768"/>
              <a:gd name="connsiteX21" fmla="*/ 223842 w 385450"/>
              <a:gd name="connsiteY21" fmla="*/ 521447 h 608768"/>
              <a:gd name="connsiteX22" fmla="*/ 229716 w 385450"/>
              <a:gd name="connsiteY22" fmla="*/ 485045 h 608768"/>
              <a:gd name="connsiteX23" fmla="*/ 230644 w 385450"/>
              <a:gd name="connsiteY23" fmla="*/ 484220 h 608768"/>
              <a:gd name="connsiteX24" fmla="*/ 150811 w 385450"/>
              <a:gd name="connsiteY24" fmla="*/ 484220 h 608768"/>
              <a:gd name="connsiteX25" fmla="*/ 151842 w 385450"/>
              <a:gd name="connsiteY25" fmla="*/ 485045 h 608768"/>
              <a:gd name="connsiteX26" fmla="*/ 157723 w 385450"/>
              <a:gd name="connsiteY26" fmla="*/ 521447 h 608768"/>
              <a:gd name="connsiteX27" fmla="*/ 132137 w 385450"/>
              <a:gd name="connsiteY27" fmla="*/ 528253 h 608768"/>
              <a:gd name="connsiteX28" fmla="*/ 125431 w 385450"/>
              <a:gd name="connsiteY28" fmla="*/ 526294 h 608768"/>
              <a:gd name="connsiteX29" fmla="*/ 134820 w 385450"/>
              <a:gd name="connsiteY29" fmla="*/ 502370 h 608768"/>
              <a:gd name="connsiteX30" fmla="*/ 150811 w 385450"/>
              <a:gd name="connsiteY30" fmla="*/ 484220 h 608768"/>
              <a:gd name="connsiteX31" fmla="*/ 190782 w 385450"/>
              <a:gd name="connsiteY31" fmla="*/ 463115 h 608768"/>
              <a:gd name="connsiteX32" fmla="*/ 176120 w 385450"/>
              <a:gd name="connsiteY32" fmla="*/ 477657 h 608768"/>
              <a:gd name="connsiteX33" fmla="*/ 190782 w 385450"/>
              <a:gd name="connsiteY33" fmla="*/ 492199 h 608768"/>
              <a:gd name="connsiteX34" fmla="*/ 205341 w 385450"/>
              <a:gd name="connsiteY34" fmla="*/ 477657 h 608768"/>
              <a:gd name="connsiteX35" fmla="*/ 190782 w 385450"/>
              <a:gd name="connsiteY35" fmla="*/ 463115 h 608768"/>
              <a:gd name="connsiteX36" fmla="*/ 190782 w 385450"/>
              <a:gd name="connsiteY36" fmla="*/ 452183 h 608768"/>
              <a:gd name="connsiteX37" fmla="*/ 203276 w 385450"/>
              <a:gd name="connsiteY37" fmla="*/ 460949 h 608768"/>
              <a:gd name="connsiteX38" fmla="*/ 220210 w 385450"/>
              <a:gd name="connsiteY38" fmla="*/ 474666 h 608768"/>
              <a:gd name="connsiteX39" fmla="*/ 220314 w 385450"/>
              <a:gd name="connsiteY39" fmla="*/ 477657 h 608768"/>
              <a:gd name="connsiteX40" fmla="*/ 220210 w 385450"/>
              <a:gd name="connsiteY40" fmla="*/ 480751 h 608768"/>
              <a:gd name="connsiteX41" fmla="*/ 203276 w 385450"/>
              <a:gd name="connsiteY41" fmla="*/ 494365 h 608768"/>
              <a:gd name="connsiteX42" fmla="*/ 190782 w 385450"/>
              <a:gd name="connsiteY42" fmla="*/ 503131 h 608768"/>
              <a:gd name="connsiteX43" fmla="*/ 178288 w 385450"/>
              <a:gd name="connsiteY43" fmla="*/ 494365 h 608768"/>
              <a:gd name="connsiteX44" fmla="*/ 161251 w 385450"/>
              <a:gd name="connsiteY44" fmla="*/ 480751 h 608768"/>
              <a:gd name="connsiteX45" fmla="*/ 161251 w 385450"/>
              <a:gd name="connsiteY45" fmla="*/ 477657 h 608768"/>
              <a:gd name="connsiteX46" fmla="*/ 161251 w 385450"/>
              <a:gd name="connsiteY46" fmla="*/ 474666 h 608768"/>
              <a:gd name="connsiteX47" fmla="*/ 178288 w 385450"/>
              <a:gd name="connsiteY47" fmla="*/ 460949 h 608768"/>
              <a:gd name="connsiteX48" fmla="*/ 190782 w 385450"/>
              <a:gd name="connsiteY48" fmla="*/ 452183 h 608768"/>
              <a:gd name="connsiteX49" fmla="*/ 215033 w 385450"/>
              <a:gd name="connsiteY49" fmla="*/ 437929 h 608768"/>
              <a:gd name="connsiteX50" fmla="*/ 219467 w 385450"/>
              <a:gd name="connsiteY50" fmla="*/ 461427 h 608768"/>
              <a:gd name="connsiteX51" fmla="*/ 208950 w 385450"/>
              <a:gd name="connsiteY51" fmla="*/ 453182 h 608768"/>
              <a:gd name="connsiteX52" fmla="*/ 199568 w 385450"/>
              <a:gd name="connsiteY52" fmla="*/ 446483 h 608768"/>
              <a:gd name="connsiteX53" fmla="*/ 215033 w 385450"/>
              <a:gd name="connsiteY53" fmla="*/ 437929 h 608768"/>
              <a:gd name="connsiteX54" fmla="*/ 166523 w 385450"/>
              <a:gd name="connsiteY54" fmla="*/ 437929 h 608768"/>
              <a:gd name="connsiteX55" fmla="*/ 181856 w 385450"/>
              <a:gd name="connsiteY55" fmla="*/ 446483 h 608768"/>
              <a:gd name="connsiteX56" fmla="*/ 172491 w 385450"/>
              <a:gd name="connsiteY56" fmla="*/ 453182 h 608768"/>
              <a:gd name="connsiteX57" fmla="*/ 162098 w 385450"/>
              <a:gd name="connsiteY57" fmla="*/ 461427 h 608768"/>
              <a:gd name="connsiteX58" fmla="*/ 166523 w 385450"/>
              <a:gd name="connsiteY58" fmla="*/ 437929 h 608768"/>
              <a:gd name="connsiteX59" fmla="*/ 249292 w 385450"/>
              <a:gd name="connsiteY59" fmla="*/ 426991 h 608768"/>
              <a:gd name="connsiteX60" fmla="*/ 256092 w 385450"/>
              <a:gd name="connsiteY60" fmla="*/ 429053 h 608768"/>
              <a:gd name="connsiteX61" fmla="*/ 252280 w 385450"/>
              <a:gd name="connsiteY61" fmla="*/ 444418 h 608768"/>
              <a:gd name="connsiteX62" fmla="*/ 252177 w 385450"/>
              <a:gd name="connsiteY62" fmla="*/ 444418 h 608768"/>
              <a:gd name="connsiteX63" fmla="*/ 243110 w 385450"/>
              <a:gd name="connsiteY63" fmla="*/ 453596 h 608768"/>
              <a:gd name="connsiteX64" fmla="*/ 243625 w 385450"/>
              <a:gd name="connsiteY64" fmla="*/ 456793 h 608768"/>
              <a:gd name="connsiteX65" fmla="*/ 230642 w 385450"/>
              <a:gd name="connsiteY65" fmla="*/ 471024 h 608768"/>
              <a:gd name="connsiteX66" fmla="*/ 229715 w 385450"/>
              <a:gd name="connsiteY66" fmla="*/ 470199 h 608768"/>
              <a:gd name="connsiteX67" fmla="*/ 223842 w 385450"/>
              <a:gd name="connsiteY67" fmla="*/ 433797 h 608768"/>
              <a:gd name="connsiteX68" fmla="*/ 249292 w 385450"/>
              <a:gd name="connsiteY68" fmla="*/ 426991 h 608768"/>
              <a:gd name="connsiteX69" fmla="*/ 132137 w 385450"/>
              <a:gd name="connsiteY69" fmla="*/ 426991 h 608768"/>
              <a:gd name="connsiteX70" fmla="*/ 136677 w 385450"/>
              <a:gd name="connsiteY70" fmla="*/ 427300 h 608768"/>
              <a:gd name="connsiteX71" fmla="*/ 145240 w 385450"/>
              <a:gd name="connsiteY71" fmla="*/ 433384 h 608768"/>
              <a:gd name="connsiteX72" fmla="*/ 151120 w 385450"/>
              <a:gd name="connsiteY72" fmla="*/ 431219 h 608768"/>
              <a:gd name="connsiteX73" fmla="*/ 157723 w 385450"/>
              <a:gd name="connsiteY73" fmla="*/ 433797 h 608768"/>
              <a:gd name="connsiteX74" fmla="*/ 151739 w 385450"/>
              <a:gd name="connsiteY74" fmla="*/ 470199 h 608768"/>
              <a:gd name="connsiteX75" fmla="*/ 150811 w 385450"/>
              <a:gd name="connsiteY75" fmla="*/ 471024 h 608768"/>
              <a:gd name="connsiteX76" fmla="*/ 134820 w 385450"/>
              <a:gd name="connsiteY76" fmla="*/ 452874 h 608768"/>
              <a:gd name="connsiteX77" fmla="*/ 125431 w 385450"/>
              <a:gd name="connsiteY77" fmla="*/ 429053 h 608768"/>
              <a:gd name="connsiteX78" fmla="*/ 132137 w 385450"/>
              <a:gd name="connsiteY78" fmla="*/ 426991 h 608768"/>
              <a:gd name="connsiteX79" fmla="*/ 190764 w 385450"/>
              <a:gd name="connsiteY79" fmla="*/ 406527 h 608768"/>
              <a:gd name="connsiteX80" fmla="*/ 210607 w 385450"/>
              <a:gd name="connsiteY80" fmla="*/ 426010 h 608768"/>
              <a:gd name="connsiteX81" fmla="*/ 211847 w 385450"/>
              <a:gd name="connsiteY81" fmla="*/ 428896 h 608768"/>
              <a:gd name="connsiteX82" fmla="*/ 190764 w 385450"/>
              <a:gd name="connsiteY82" fmla="*/ 440751 h 608768"/>
              <a:gd name="connsiteX83" fmla="*/ 169578 w 385450"/>
              <a:gd name="connsiteY83" fmla="*/ 428896 h 608768"/>
              <a:gd name="connsiteX84" fmla="*/ 170818 w 385450"/>
              <a:gd name="connsiteY84" fmla="*/ 426010 h 608768"/>
              <a:gd name="connsiteX85" fmla="*/ 190764 w 385450"/>
              <a:gd name="connsiteY85" fmla="*/ 406527 h 608768"/>
              <a:gd name="connsiteX86" fmla="*/ 190761 w 385450"/>
              <a:gd name="connsiteY86" fmla="*/ 397011 h 608768"/>
              <a:gd name="connsiteX87" fmla="*/ 162059 w 385450"/>
              <a:gd name="connsiteY87" fmla="*/ 421960 h 608768"/>
              <a:gd name="connsiteX88" fmla="*/ 160923 w 385450"/>
              <a:gd name="connsiteY88" fmla="*/ 424846 h 608768"/>
              <a:gd name="connsiteX89" fmla="*/ 154213 w 385450"/>
              <a:gd name="connsiteY89" fmla="*/ 422166 h 608768"/>
              <a:gd name="connsiteX90" fmla="*/ 145230 w 385450"/>
              <a:gd name="connsiteY90" fmla="*/ 415052 h 608768"/>
              <a:gd name="connsiteX91" fmla="*/ 138519 w 385450"/>
              <a:gd name="connsiteY91" fmla="*/ 417939 h 608768"/>
              <a:gd name="connsiteX92" fmla="*/ 132118 w 385450"/>
              <a:gd name="connsiteY92" fmla="*/ 417424 h 608768"/>
              <a:gd name="connsiteX93" fmla="*/ 117664 w 385450"/>
              <a:gd name="connsiteY93" fmla="*/ 423300 h 608768"/>
              <a:gd name="connsiteX94" fmla="*/ 127059 w 385450"/>
              <a:gd name="connsiteY94" fmla="*/ 458662 h 608768"/>
              <a:gd name="connsiteX95" fmla="*/ 143888 w 385450"/>
              <a:gd name="connsiteY95" fmla="*/ 477631 h 608768"/>
              <a:gd name="connsiteX96" fmla="*/ 127059 w 385450"/>
              <a:gd name="connsiteY96" fmla="*/ 496601 h 608768"/>
              <a:gd name="connsiteX97" fmla="*/ 117664 w 385450"/>
              <a:gd name="connsiteY97" fmla="*/ 531963 h 608768"/>
              <a:gd name="connsiteX98" fmla="*/ 132118 w 385450"/>
              <a:gd name="connsiteY98" fmla="*/ 537839 h 608768"/>
              <a:gd name="connsiteX99" fmla="*/ 160923 w 385450"/>
              <a:gd name="connsiteY99" fmla="*/ 530416 h 608768"/>
              <a:gd name="connsiteX100" fmla="*/ 162059 w 385450"/>
              <a:gd name="connsiteY100" fmla="*/ 533303 h 608768"/>
              <a:gd name="connsiteX101" fmla="*/ 190761 w 385450"/>
              <a:gd name="connsiteY101" fmla="*/ 558355 h 608768"/>
              <a:gd name="connsiteX102" fmla="*/ 219360 w 385450"/>
              <a:gd name="connsiteY102" fmla="*/ 533303 h 608768"/>
              <a:gd name="connsiteX103" fmla="*/ 220599 w 385450"/>
              <a:gd name="connsiteY103" fmla="*/ 530416 h 608768"/>
              <a:gd name="connsiteX104" fmla="*/ 249301 w 385450"/>
              <a:gd name="connsiteY104" fmla="*/ 537839 h 608768"/>
              <a:gd name="connsiteX105" fmla="*/ 263755 w 385450"/>
              <a:gd name="connsiteY105" fmla="*/ 531963 h 608768"/>
              <a:gd name="connsiteX106" fmla="*/ 254360 w 385450"/>
              <a:gd name="connsiteY106" fmla="*/ 496601 h 608768"/>
              <a:gd name="connsiteX107" fmla="*/ 237531 w 385450"/>
              <a:gd name="connsiteY107" fmla="*/ 477631 h 608768"/>
              <a:gd name="connsiteX108" fmla="*/ 251160 w 385450"/>
              <a:gd name="connsiteY108" fmla="*/ 462682 h 608768"/>
              <a:gd name="connsiteX109" fmla="*/ 252192 w 385450"/>
              <a:gd name="connsiteY109" fmla="*/ 462785 h 608768"/>
              <a:gd name="connsiteX110" fmla="*/ 261381 w 385450"/>
              <a:gd name="connsiteY110" fmla="*/ 453610 h 608768"/>
              <a:gd name="connsiteX111" fmla="*/ 260452 w 385450"/>
              <a:gd name="connsiteY111" fmla="*/ 449589 h 608768"/>
              <a:gd name="connsiteX112" fmla="*/ 263755 w 385450"/>
              <a:gd name="connsiteY112" fmla="*/ 423300 h 608768"/>
              <a:gd name="connsiteX113" fmla="*/ 249301 w 385450"/>
              <a:gd name="connsiteY113" fmla="*/ 417424 h 608768"/>
              <a:gd name="connsiteX114" fmla="*/ 220599 w 385450"/>
              <a:gd name="connsiteY114" fmla="*/ 424846 h 608768"/>
              <a:gd name="connsiteX115" fmla="*/ 219360 w 385450"/>
              <a:gd name="connsiteY115" fmla="*/ 421960 h 608768"/>
              <a:gd name="connsiteX116" fmla="*/ 190761 w 385450"/>
              <a:gd name="connsiteY116" fmla="*/ 397011 h 608768"/>
              <a:gd name="connsiteX117" fmla="*/ 15246 w 385450"/>
              <a:gd name="connsiteY117" fmla="*/ 352474 h 608768"/>
              <a:gd name="connsiteX118" fmla="*/ 370304 w 385450"/>
              <a:gd name="connsiteY118" fmla="*/ 352474 h 608768"/>
              <a:gd name="connsiteX119" fmla="*/ 381557 w 385450"/>
              <a:gd name="connsiteY119" fmla="*/ 357422 h 608768"/>
              <a:gd name="connsiteX120" fmla="*/ 385377 w 385450"/>
              <a:gd name="connsiteY120" fmla="*/ 369072 h 608768"/>
              <a:gd name="connsiteX121" fmla="*/ 355023 w 385450"/>
              <a:gd name="connsiteY121" fmla="*/ 595057 h 608768"/>
              <a:gd name="connsiteX122" fmla="*/ 339950 w 385450"/>
              <a:gd name="connsiteY122" fmla="*/ 608768 h 608768"/>
              <a:gd name="connsiteX123" fmla="*/ 45600 w 385450"/>
              <a:gd name="connsiteY123" fmla="*/ 608768 h 608768"/>
              <a:gd name="connsiteX124" fmla="*/ 30423 w 385450"/>
              <a:gd name="connsiteY124" fmla="*/ 595057 h 608768"/>
              <a:gd name="connsiteX125" fmla="*/ 69 w 385450"/>
              <a:gd name="connsiteY125" fmla="*/ 369072 h 608768"/>
              <a:gd name="connsiteX126" fmla="*/ 3992 w 385450"/>
              <a:gd name="connsiteY126" fmla="*/ 357422 h 608768"/>
              <a:gd name="connsiteX127" fmla="*/ 15246 w 385450"/>
              <a:gd name="connsiteY127" fmla="*/ 352474 h 608768"/>
              <a:gd name="connsiteX128" fmla="*/ 229886 w 385450"/>
              <a:gd name="connsiteY128" fmla="*/ 196878 h 608768"/>
              <a:gd name="connsiteX129" fmla="*/ 251679 w 385450"/>
              <a:gd name="connsiteY129" fmla="*/ 215230 h 608768"/>
              <a:gd name="connsiteX130" fmla="*/ 297227 w 385450"/>
              <a:gd name="connsiteY130" fmla="*/ 236159 h 608768"/>
              <a:gd name="connsiteX131" fmla="*/ 313855 w 385450"/>
              <a:gd name="connsiteY131" fmla="*/ 250387 h 608768"/>
              <a:gd name="connsiteX132" fmla="*/ 341122 w 385450"/>
              <a:gd name="connsiteY132" fmla="*/ 330599 h 608768"/>
              <a:gd name="connsiteX133" fmla="*/ 209538 w 385450"/>
              <a:gd name="connsiteY133" fmla="*/ 330599 h 608768"/>
              <a:gd name="connsiteX134" fmla="*/ 194769 w 385450"/>
              <a:gd name="connsiteY134" fmla="*/ 231726 h 608768"/>
              <a:gd name="connsiteX135" fmla="*/ 155647 w 385450"/>
              <a:gd name="connsiteY135" fmla="*/ 196878 h 608768"/>
              <a:gd name="connsiteX136" fmla="*/ 190747 w 385450"/>
              <a:gd name="connsiteY136" fmla="*/ 231726 h 608768"/>
              <a:gd name="connsiteX137" fmla="*/ 175881 w 385450"/>
              <a:gd name="connsiteY137" fmla="*/ 330599 h 608768"/>
              <a:gd name="connsiteX138" fmla="*/ 44465 w 385450"/>
              <a:gd name="connsiteY138" fmla="*/ 330599 h 608768"/>
              <a:gd name="connsiteX139" fmla="*/ 71615 w 385450"/>
              <a:gd name="connsiteY139" fmla="*/ 250387 h 608768"/>
              <a:gd name="connsiteX140" fmla="*/ 88339 w 385450"/>
              <a:gd name="connsiteY140" fmla="*/ 236159 h 608768"/>
              <a:gd name="connsiteX141" fmla="*/ 133762 w 385450"/>
              <a:gd name="connsiteY141" fmla="*/ 215230 h 608768"/>
              <a:gd name="connsiteX142" fmla="*/ 160716 w 385450"/>
              <a:gd name="connsiteY142" fmla="*/ 70485 h 608768"/>
              <a:gd name="connsiteX143" fmla="*/ 129130 w 385450"/>
              <a:gd name="connsiteY143" fmla="*/ 98962 h 608768"/>
              <a:gd name="connsiteX144" fmla="*/ 191398 w 385450"/>
              <a:gd name="connsiteY144" fmla="*/ 178647 h 608768"/>
              <a:gd name="connsiteX145" fmla="*/ 253666 w 385450"/>
              <a:gd name="connsiteY145" fmla="*/ 98962 h 608768"/>
              <a:gd name="connsiteX146" fmla="*/ 174876 w 385450"/>
              <a:gd name="connsiteY146" fmla="*/ 100611 h 608768"/>
              <a:gd name="connsiteX147" fmla="*/ 160716 w 385450"/>
              <a:gd name="connsiteY147" fmla="*/ 70485 h 608768"/>
              <a:gd name="connsiteX148" fmla="*/ 191398 w 385450"/>
              <a:gd name="connsiteY148" fmla="*/ 0 h 608768"/>
              <a:gd name="connsiteX149" fmla="*/ 273286 w 385450"/>
              <a:gd name="connsiteY149" fmla="*/ 80407 h 608768"/>
              <a:gd name="connsiteX150" fmla="*/ 191398 w 385450"/>
              <a:gd name="connsiteY150" fmla="*/ 196172 h 608768"/>
              <a:gd name="connsiteX151" fmla="*/ 109407 w 385450"/>
              <a:gd name="connsiteY151" fmla="*/ 80407 h 608768"/>
              <a:gd name="connsiteX152" fmla="*/ 191398 w 385450"/>
              <a:gd name="connsiteY152" fmla="*/ 0 h 6087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Lst>
            <a:rect l="l" t="t" r="r" b="b"/>
            <a:pathLst>
              <a:path w="385450" h="608768">
                <a:moveTo>
                  <a:pt x="190764" y="514563"/>
                </a:moveTo>
                <a:cubicBezTo>
                  <a:pt x="197998" y="519099"/>
                  <a:pt x="205026" y="523119"/>
                  <a:pt x="211847" y="526418"/>
                </a:cubicBezTo>
                <a:cubicBezTo>
                  <a:pt x="211433" y="527449"/>
                  <a:pt x="211020" y="528480"/>
                  <a:pt x="210607" y="529304"/>
                </a:cubicBezTo>
                <a:cubicBezTo>
                  <a:pt x="205026" y="541674"/>
                  <a:pt x="197792" y="548787"/>
                  <a:pt x="190764" y="548787"/>
                </a:cubicBezTo>
                <a:cubicBezTo>
                  <a:pt x="183633" y="548787"/>
                  <a:pt x="176399" y="541674"/>
                  <a:pt x="170818" y="529304"/>
                </a:cubicBezTo>
                <a:cubicBezTo>
                  <a:pt x="170405" y="528480"/>
                  <a:pt x="169991" y="527449"/>
                  <a:pt x="169578" y="526418"/>
                </a:cubicBezTo>
                <a:cubicBezTo>
                  <a:pt x="176399" y="523119"/>
                  <a:pt x="183530" y="519099"/>
                  <a:pt x="190764" y="514563"/>
                </a:cubicBezTo>
                <a:close/>
                <a:moveTo>
                  <a:pt x="219467" y="493887"/>
                </a:moveTo>
                <a:cubicBezTo>
                  <a:pt x="218642" y="502247"/>
                  <a:pt x="217095" y="510091"/>
                  <a:pt x="215033" y="517315"/>
                </a:cubicBezTo>
                <a:cubicBezTo>
                  <a:pt x="209981" y="514735"/>
                  <a:pt x="204826" y="511948"/>
                  <a:pt x="199568" y="508749"/>
                </a:cubicBezTo>
                <a:cubicBezTo>
                  <a:pt x="202764" y="506582"/>
                  <a:pt x="205857" y="504311"/>
                  <a:pt x="208950" y="502041"/>
                </a:cubicBezTo>
                <a:cubicBezTo>
                  <a:pt x="212559" y="499357"/>
                  <a:pt x="216064" y="496571"/>
                  <a:pt x="219467" y="493887"/>
                </a:cubicBezTo>
                <a:close/>
                <a:moveTo>
                  <a:pt x="162098" y="493887"/>
                </a:moveTo>
                <a:cubicBezTo>
                  <a:pt x="165494" y="496571"/>
                  <a:pt x="168992" y="499357"/>
                  <a:pt x="172491" y="502041"/>
                </a:cubicBezTo>
                <a:cubicBezTo>
                  <a:pt x="175578" y="504311"/>
                  <a:pt x="178666" y="506582"/>
                  <a:pt x="181856" y="508749"/>
                </a:cubicBezTo>
                <a:cubicBezTo>
                  <a:pt x="176608" y="511948"/>
                  <a:pt x="171462" y="514838"/>
                  <a:pt x="166523" y="517315"/>
                </a:cubicBezTo>
                <a:cubicBezTo>
                  <a:pt x="164362" y="510091"/>
                  <a:pt x="162921" y="502247"/>
                  <a:pt x="162098" y="493887"/>
                </a:cubicBezTo>
                <a:close/>
                <a:moveTo>
                  <a:pt x="230644" y="484220"/>
                </a:moveTo>
                <a:cubicBezTo>
                  <a:pt x="236930" y="490511"/>
                  <a:pt x="242392" y="496595"/>
                  <a:pt x="246720" y="502370"/>
                </a:cubicBezTo>
                <a:cubicBezTo>
                  <a:pt x="257437" y="516704"/>
                  <a:pt x="257643" y="524128"/>
                  <a:pt x="256097" y="526294"/>
                </a:cubicBezTo>
                <a:cubicBezTo>
                  <a:pt x="255067" y="527531"/>
                  <a:pt x="252697" y="528253"/>
                  <a:pt x="249296" y="528253"/>
                </a:cubicBezTo>
                <a:cubicBezTo>
                  <a:pt x="243010" y="528253"/>
                  <a:pt x="234250" y="525881"/>
                  <a:pt x="223842" y="521447"/>
                </a:cubicBezTo>
                <a:cubicBezTo>
                  <a:pt x="227140" y="510619"/>
                  <a:pt x="229201" y="498039"/>
                  <a:pt x="229716" y="485045"/>
                </a:cubicBezTo>
                <a:cubicBezTo>
                  <a:pt x="230025" y="484839"/>
                  <a:pt x="230335" y="484530"/>
                  <a:pt x="230644" y="484220"/>
                </a:cubicBezTo>
                <a:close/>
                <a:moveTo>
                  <a:pt x="150811" y="484220"/>
                </a:moveTo>
                <a:cubicBezTo>
                  <a:pt x="151120" y="484530"/>
                  <a:pt x="151430" y="484839"/>
                  <a:pt x="151842" y="485045"/>
                </a:cubicBezTo>
                <a:cubicBezTo>
                  <a:pt x="152358" y="498039"/>
                  <a:pt x="154421" y="510619"/>
                  <a:pt x="157723" y="521447"/>
                </a:cubicBezTo>
                <a:cubicBezTo>
                  <a:pt x="147303" y="525881"/>
                  <a:pt x="138430" y="528253"/>
                  <a:pt x="132137" y="528253"/>
                </a:cubicBezTo>
                <a:cubicBezTo>
                  <a:pt x="128733" y="528253"/>
                  <a:pt x="126360" y="527531"/>
                  <a:pt x="125431" y="526294"/>
                </a:cubicBezTo>
                <a:cubicBezTo>
                  <a:pt x="123781" y="524128"/>
                  <a:pt x="124090" y="516704"/>
                  <a:pt x="134820" y="502370"/>
                </a:cubicBezTo>
                <a:cubicBezTo>
                  <a:pt x="139153" y="496595"/>
                  <a:pt x="144517" y="490511"/>
                  <a:pt x="150811" y="484220"/>
                </a:cubicBezTo>
                <a:close/>
                <a:moveTo>
                  <a:pt x="190782" y="463115"/>
                </a:moveTo>
                <a:cubicBezTo>
                  <a:pt x="182728" y="463115"/>
                  <a:pt x="176120" y="469612"/>
                  <a:pt x="176120" y="477657"/>
                </a:cubicBezTo>
                <a:cubicBezTo>
                  <a:pt x="176120" y="485702"/>
                  <a:pt x="182728" y="492199"/>
                  <a:pt x="190782" y="492199"/>
                </a:cubicBezTo>
                <a:cubicBezTo>
                  <a:pt x="198836" y="492199"/>
                  <a:pt x="205341" y="485702"/>
                  <a:pt x="205341" y="477657"/>
                </a:cubicBezTo>
                <a:cubicBezTo>
                  <a:pt x="205341" y="469612"/>
                  <a:pt x="198836" y="463115"/>
                  <a:pt x="190782" y="463115"/>
                </a:cubicBezTo>
                <a:close/>
                <a:moveTo>
                  <a:pt x="190782" y="452183"/>
                </a:moveTo>
                <a:cubicBezTo>
                  <a:pt x="194913" y="454967"/>
                  <a:pt x="199146" y="457855"/>
                  <a:pt x="203276" y="460949"/>
                </a:cubicBezTo>
                <a:cubicBezTo>
                  <a:pt x="209162" y="465384"/>
                  <a:pt x="214944" y="469922"/>
                  <a:pt x="220210" y="474666"/>
                </a:cubicBezTo>
                <a:cubicBezTo>
                  <a:pt x="220210" y="475697"/>
                  <a:pt x="220314" y="476729"/>
                  <a:pt x="220314" y="477657"/>
                </a:cubicBezTo>
                <a:cubicBezTo>
                  <a:pt x="220314" y="478688"/>
                  <a:pt x="220210" y="479719"/>
                  <a:pt x="220210" y="480751"/>
                </a:cubicBezTo>
                <a:cubicBezTo>
                  <a:pt x="214944" y="485392"/>
                  <a:pt x="209162" y="490033"/>
                  <a:pt x="203276" y="494365"/>
                </a:cubicBezTo>
                <a:cubicBezTo>
                  <a:pt x="199146" y="497459"/>
                  <a:pt x="194913" y="500347"/>
                  <a:pt x="190782" y="503131"/>
                </a:cubicBezTo>
                <a:cubicBezTo>
                  <a:pt x="186549" y="500347"/>
                  <a:pt x="182315" y="497459"/>
                  <a:pt x="178288" y="494365"/>
                </a:cubicBezTo>
                <a:cubicBezTo>
                  <a:pt x="172299" y="490033"/>
                  <a:pt x="166620" y="485392"/>
                  <a:pt x="161251" y="480751"/>
                </a:cubicBezTo>
                <a:cubicBezTo>
                  <a:pt x="161251" y="479719"/>
                  <a:pt x="161251" y="478688"/>
                  <a:pt x="161251" y="477657"/>
                </a:cubicBezTo>
                <a:cubicBezTo>
                  <a:pt x="161251" y="476729"/>
                  <a:pt x="161251" y="475697"/>
                  <a:pt x="161251" y="474666"/>
                </a:cubicBezTo>
                <a:cubicBezTo>
                  <a:pt x="166620" y="469922"/>
                  <a:pt x="172299" y="465384"/>
                  <a:pt x="178288" y="460949"/>
                </a:cubicBezTo>
                <a:cubicBezTo>
                  <a:pt x="182315" y="457855"/>
                  <a:pt x="186549" y="454967"/>
                  <a:pt x="190782" y="452183"/>
                </a:cubicBezTo>
                <a:close/>
                <a:moveTo>
                  <a:pt x="215033" y="437929"/>
                </a:moveTo>
                <a:cubicBezTo>
                  <a:pt x="217095" y="445143"/>
                  <a:pt x="218642" y="452976"/>
                  <a:pt x="219467" y="461427"/>
                </a:cubicBezTo>
                <a:cubicBezTo>
                  <a:pt x="216064" y="458644"/>
                  <a:pt x="212559" y="455861"/>
                  <a:pt x="208950" y="453182"/>
                </a:cubicBezTo>
                <a:cubicBezTo>
                  <a:pt x="205960" y="450914"/>
                  <a:pt x="202764" y="448647"/>
                  <a:pt x="199568" y="446483"/>
                </a:cubicBezTo>
                <a:cubicBezTo>
                  <a:pt x="204826" y="443288"/>
                  <a:pt x="209981" y="440505"/>
                  <a:pt x="215033" y="437929"/>
                </a:cubicBezTo>
                <a:close/>
                <a:moveTo>
                  <a:pt x="166523" y="437929"/>
                </a:moveTo>
                <a:cubicBezTo>
                  <a:pt x="171462" y="440505"/>
                  <a:pt x="176608" y="443391"/>
                  <a:pt x="181856" y="446483"/>
                </a:cubicBezTo>
                <a:cubicBezTo>
                  <a:pt x="178666" y="448647"/>
                  <a:pt x="175578" y="450914"/>
                  <a:pt x="172491" y="453182"/>
                </a:cubicBezTo>
                <a:cubicBezTo>
                  <a:pt x="168992" y="455861"/>
                  <a:pt x="165494" y="458644"/>
                  <a:pt x="162098" y="461427"/>
                </a:cubicBezTo>
                <a:cubicBezTo>
                  <a:pt x="162921" y="452976"/>
                  <a:pt x="164362" y="445143"/>
                  <a:pt x="166523" y="437929"/>
                </a:cubicBezTo>
                <a:close/>
                <a:moveTo>
                  <a:pt x="249292" y="426991"/>
                </a:moveTo>
                <a:cubicBezTo>
                  <a:pt x="252692" y="426991"/>
                  <a:pt x="255061" y="427713"/>
                  <a:pt x="256092" y="429053"/>
                </a:cubicBezTo>
                <a:cubicBezTo>
                  <a:pt x="257431" y="430806"/>
                  <a:pt x="257225" y="435859"/>
                  <a:pt x="252280" y="444418"/>
                </a:cubicBezTo>
                <a:lnTo>
                  <a:pt x="252177" y="444418"/>
                </a:lnTo>
                <a:cubicBezTo>
                  <a:pt x="247128" y="444418"/>
                  <a:pt x="243110" y="448543"/>
                  <a:pt x="243110" y="453596"/>
                </a:cubicBezTo>
                <a:cubicBezTo>
                  <a:pt x="243110" y="454731"/>
                  <a:pt x="243213" y="455762"/>
                  <a:pt x="243625" y="456793"/>
                </a:cubicBezTo>
                <a:cubicBezTo>
                  <a:pt x="239916" y="461433"/>
                  <a:pt x="235588" y="466177"/>
                  <a:pt x="230642" y="471024"/>
                </a:cubicBezTo>
                <a:cubicBezTo>
                  <a:pt x="230333" y="470714"/>
                  <a:pt x="230024" y="470405"/>
                  <a:pt x="229715" y="470199"/>
                </a:cubicBezTo>
                <a:cubicBezTo>
                  <a:pt x="229200" y="457205"/>
                  <a:pt x="227139" y="444625"/>
                  <a:pt x="223842" y="433797"/>
                </a:cubicBezTo>
                <a:cubicBezTo>
                  <a:pt x="234249" y="429363"/>
                  <a:pt x="243007" y="426991"/>
                  <a:pt x="249292" y="426991"/>
                </a:cubicBezTo>
                <a:close/>
                <a:moveTo>
                  <a:pt x="132137" y="426991"/>
                </a:moveTo>
                <a:cubicBezTo>
                  <a:pt x="133478" y="426991"/>
                  <a:pt x="135026" y="427094"/>
                  <a:pt x="136677" y="427300"/>
                </a:cubicBezTo>
                <a:cubicBezTo>
                  <a:pt x="137915" y="430909"/>
                  <a:pt x="141422" y="433384"/>
                  <a:pt x="145240" y="433384"/>
                </a:cubicBezTo>
                <a:cubicBezTo>
                  <a:pt x="147406" y="433384"/>
                  <a:pt x="149469" y="432559"/>
                  <a:pt x="151120" y="431219"/>
                </a:cubicBezTo>
                <a:cubicBezTo>
                  <a:pt x="153287" y="432044"/>
                  <a:pt x="155453" y="432869"/>
                  <a:pt x="157723" y="433797"/>
                </a:cubicBezTo>
                <a:cubicBezTo>
                  <a:pt x="154421" y="444625"/>
                  <a:pt x="152358" y="457205"/>
                  <a:pt x="151739" y="470199"/>
                </a:cubicBezTo>
                <a:cubicBezTo>
                  <a:pt x="151430" y="470405"/>
                  <a:pt x="151120" y="470714"/>
                  <a:pt x="150811" y="471024"/>
                </a:cubicBezTo>
                <a:cubicBezTo>
                  <a:pt x="144517" y="464836"/>
                  <a:pt x="139153" y="458752"/>
                  <a:pt x="134820" y="452874"/>
                </a:cubicBezTo>
                <a:cubicBezTo>
                  <a:pt x="123987" y="438540"/>
                  <a:pt x="123781" y="431116"/>
                  <a:pt x="125431" y="429053"/>
                </a:cubicBezTo>
                <a:cubicBezTo>
                  <a:pt x="126360" y="427713"/>
                  <a:pt x="128733" y="426991"/>
                  <a:pt x="132137" y="426991"/>
                </a:cubicBezTo>
                <a:close/>
                <a:moveTo>
                  <a:pt x="190764" y="406527"/>
                </a:moveTo>
                <a:cubicBezTo>
                  <a:pt x="197792" y="406527"/>
                  <a:pt x="205026" y="413640"/>
                  <a:pt x="210607" y="426010"/>
                </a:cubicBezTo>
                <a:cubicBezTo>
                  <a:pt x="211020" y="426937"/>
                  <a:pt x="211433" y="427865"/>
                  <a:pt x="211847" y="428896"/>
                </a:cubicBezTo>
                <a:cubicBezTo>
                  <a:pt x="205026" y="432195"/>
                  <a:pt x="197998" y="436215"/>
                  <a:pt x="190764" y="440751"/>
                </a:cubicBezTo>
                <a:cubicBezTo>
                  <a:pt x="183530" y="436215"/>
                  <a:pt x="176399" y="432195"/>
                  <a:pt x="169578" y="428896"/>
                </a:cubicBezTo>
                <a:cubicBezTo>
                  <a:pt x="169991" y="427865"/>
                  <a:pt x="170405" y="426937"/>
                  <a:pt x="170818" y="426010"/>
                </a:cubicBezTo>
                <a:cubicBezTo>
                  <a:pt x="176399" y="413640"/>
                  <a:pt x="183633" y="406527"/>
                  <a:pt x="190764" y="406527"/>
                </a:cubicBezTo>
                <a:close/>
                <a:moveTo>
                  <a:pt x="190761" y="397011"/>
                </a:moveTo>
                <a:cubicBezTo>
                  <a:pt x="179611" y="397011"/>
                  <a:pt x="169390" y="405877"/>
                  <a:pt x="162059" y="421960"/>
                </a:cubicBezTo>
                <a:cubicBezTo>
                  <a:pt x="161646" y="422888"/>
                  <a:pt x="161336" y="423815"/>
                  <a:pt x="160923" y="424846"/>
                </a:cubicBezTo>
                <a:cubicBezTo>
                  <a:pt x="158549" y="423815"/>
                  <a:pt x="156381" y="422991"/>
                  <a:pt x="154213" y="422166"/>
                </a:cubicBezTo>
                <a:cubicBezTo>
                  <a:pt x="153283" y="418042"/>
                  <a:pt x="149567" y="415052"/>
                  <a:pt x="145230" y="415052"/>
                </a:cubicBezTo>
                <a:cubicBezTo>
                  <a:pt x="142752" y="415052"/>
                  <a:pt x="140275" y="416083"/>
                  <a:pt x="138519" y="417939"/>
                </a:cubicBezTo>
                <a:cubicBezTo>
                  <a:pt x="136248" y="417630"/>
                  <a:pt x="134080" y="417424"/>
                  <a:pt x="132118" y="417424"/>
                </a:cubicBezTo>
                <a:cubicBezTo>
                  <a:pt x="125407" y="417424"/>
                  <a:pt x="120555" y="419382"/>
                  <a:pt x="117664" y="423300"/>
                </a:cubicBezTo>
                <a:cubicBezTo>
                  <a:pt x="112089" y="430723"/>
                  <a:pt x="115393" y="442991"/>
                  <a:pt x="127059" y="458662"/>
                </a:cubicBezTo>
                <a:cubicBezTo>
                  <a:pt x="131602" y="464744"/>
                  <a:pt x="137281" y="471136"/>
                  <a:pt x="143888" y="477631"/>
                </a:cubicBezTo>
                <a:cubicBezTo>
                  <a:pt x="137281" y="484126"/>
                  <a:pt x="131602" y="490518"/>
                  <a:pt x="127059" y="496601"/>
                </a:cubicBezTo>
                <a:cubicBezTo>
                  <a:pt x="115393" y="512271"/>
                  <a:pt x="112089" y="524540"/>
                  <a:pt x="117664" y="531963"/>
                </a:cubicBezTo>
                <a:cubicBezTo>
                  <a:pt x="120555" y="535880"/>
                  <a:pt x="125407" y="537839"/>
                  <a:pt x="132118" y="537839"/>
                </a:cubicBezTo>
                <a:cubicBezTo>
                  <a:pt x="139552" y="537839"/>
                  <a:pt x="149463" y="535365"/>
                  <a:pt x="160923" y="530416"/>
                </a:cubicBezTo>
                <a:cubicBezTo>
                  <a:pt x="161336" y="531447"/>
                  <a:pt x="161646" y="532375"/>
                  <a:pt x="162059" y="533303"/>
                </a:cubicBezTo>
                <a:cubicBezTo>
                  <a:pt x="169390" y="549386"/>
                  <a:pt x="179611" y="558355"/>
                  <a:pt x="190761" y="558355"/>
                </a:cubicBezTo>
                <a:cubicBezTo>
                  <a:pt x="201912" y="558355"/>
                  <a:pt x="212029" y="549386"/>
                  <a:pt x="219360" y="533303"/>
                </a:cubicBezTo>
                <a:cubicBezTo>
                  <a:pt x="219773" y="532375"/>
                  <a:pt x="220186" y="531447"/>
                  <a:pt x="220599" y="530416"/>
                </a:cubicBezTo>
                <a:cubicBezTo>
                  <a:pt x="231956" y="535365"/>
                  <a:pt x="241971" y="537839"/>
                  <a:pt x="249301" y="537839"/>
                </a:cubicBezTo>
                <a:cubicBezTo>
                  <a:pt x="256012" y="537839"/>
                  <a:pt x="260865" y="535880"/>
                  <a:pt x="263755" y="531963"/>
                </a:cubicBezTo>
                <a:cubicBezTo>
                  <a:pt x="269331" y="524540"/>
                  <a:pt x="266130" y="512271"/>
                  <a:pt x="254360" y="496601"/>
                </a:cubicBezTo>
                <a:cubicBezTo>
                  <a:pt x="249817" y="490518"/>
                  <a:pt x="244139" y="484126"/>
                  <a:pt x="237531" y="477631"/>
                </a:cubicBezTo>
                <a:cubicBezTo>
                  <a:pt x="242694" y="472579"/>
                  <a:pt x="247236" y="467528"/>
                  <a:pt x="251160" y="462682"/>
                </a:cubicBezTo>
                <a:cubicBezTo>
                  <a:pt x="251573" y="462785"/>
                  <a:pt x="251882" y="462785"/>
                  <a:pt x="252192" y="462785"/>
                </a:cubicBezTo>
                <a:cubicBezTo>
                  <a:pt x="257251" y="462785"/>
                  <a:pt x="261381" y="458662"/>
                  <a:pt x="261381" y="453610"/>
                </a:cubicBezTo>
                <a:cubicBezTo>
                  <a:pt x="261381" y="452270"/>
                  <a:pt x="261071" y="450826"/>
                  <a:pt x="260452" y="449589"/>
                </a:cubicBezTo>
                <a:cubicBezTo>
                  <a:pt x="267162" y="438146"/>
                  <a:pt x="268298" y="429279"/>
                  <a:pt x="263755" y="423300"/>
                </a:cubicBezTo>
                <a:cubicBezTo>
                  <a:pt x="260865" y="419382"/>
                  <a:pt x="256012" y="417424"/>
                  <a:pt x="249301" y="417424"/>
                </a:cubicBezTo>
                <a:cubicBezTo>
                  <a:pt x="241971" y="417424"/>
                  <a:pt x="231956" y="420001"/>
                  <a:pt x="220599" y="424846"/>
                </a:cubicBezTo>
                <a:cubicBezTo>
                  <a:pt x="220186" y="423815"/>
                  <a:pt x="219773" y="422888"/>
                  <a:pt x="219360" y="421960"/>
                </a:cubicBezTo>
                <a:cubicBezTo>
                  <a:pt x="212029" y="405877"/>
                  <a:pt x="201912" y="397011"/>
                  <a:pt x="190761" y="397011"/>
                </a:cubicBezTo>
                <a:close/>
                <a:moveTo>
                  <a:pt x="15246" y="352474"/>
                </a:moveTo>
                <a:lnTo>
                  <a:pt x="370304" y="352474"/>
                </a:lnTo>
                <a:cubicBezTo>
                  <a:pt x="374537" y="352474"/>
                  <a:pt x="378666" y="354329"/>
                  <a:pt x="381557" y="357422"/>
                </a:cubicBezTo>
                <a:cubicBezTo>
                  <a:pt x="384448" y="360618"/>
                  <a:pt x="385790" y="364845"/>
                  <a:pt x="385377" y="369072"/>
                </a:cubicBezTo>
                <a:lnTo>
                  <a:pt x="355023" y="595057"/>
                </a:lnTo>
                <a:cubicBezTo>
                  <a:pt x="354301" y="602789"/>
                  <a:pt x="347796" y="608768"/>
                  <a:pt x="339950" y="608768"/>
                </a:cubicBezTo>
                <a:lnTo>
                  <a:pt x="45600" y="608768"/>
                </a:lnTo>
                <a:cubicBezTo>
                  <a:pt x="37753" y="608768"/>
                  <a:pt x="31249" y="602789"/>
                  <a:pt x="30423" y="595057"/>
                </a:cubicBezTo>
                <a:lnTo>
                  <a:pt x="69" y="369072"/>
                </a:lnTo>
                <a:cubicBezTo>
                  <a:pt x="-344" y="364845"/>
                  <a:pt x="1101" y="360618"/>
                  <a:pt x="3992" y="357422"/>
                </a:cubicBezTo>
                <a:cubicBezTo>
                  <a:pt x="6883" y="354329"/>
                  <a:pt x="10909" y="352474"/>
                  <a:pt x="15246" y="352474"/>
                </a:cubicBezTo>
                <a:close/>
                <a:moveTo>
                  <a:pt x="229886" y="196878"/>
                </a:moveTo>
                <a:lnTo>
                  <a:pt x="251679" y="215230"/>
                </a:lnTo>
                <a:lnTo>
                  <a:pt x="297227" y="236159"/>
                </a:lnTo>
                <a:cubicBezTo>
                  <a:pt x="303940" y="238943"/>
                  <a:pt x="310963" y="243376"/>
                  <a:pt x="313855" y="250387"/>
                </a:cubicBezTo>
                <a:cubicBezTo>
                  <a:pt x="313855" y="250387"/>
                  <a:pt x="333169" y="296163"/>
                  <a:pt x="341122" y="330599"/>
                </a:cubicBezTo>
                <a:lnTo>
                  <a:pt x="209538" y="330599"/>
                </a:lnTo>
                <a:lnTo>
                  <a:pt x="194769" y="231726"/>
                </a:lnTo>
                <a:close/>
                <a:moveTo>
                  <a:pt x="155647" y="196878"/>
                </a:moveTo>
                <a:lnTo>
                  <a:pt x="190747" y="231726"/>
                </a:lnTo>
                <a:lnTo>
                  <a:pt x="175881" y="330599"/>
                </a:lnTo>
                <a:lnTo>
                  <a:pt x="44465" y="330599"/>
                </a:lnTo>
                <a:cubicBezTo>
                  <a:pt x="52414" y="296163"/>
                  <a:pt x="71615" y="250387"/>
                  <a:pt x="71615" y="250387"/>
                </a:cubicBezTo>
                <a:cubicBezTo>
                  <a:pt x="75022" y="243067"/>
                  <a:pt x="81629" y="238943"/>
                  <a:pt x="88339" y="236159"/>
                </a:cubicBezTo>
                <a:lnTo>
                  <a:pt x="133762" y="215230"/>
                </a:lnTo>
                <a:close/>
                <a:moveTo>
                  <a:pt x="160716" y="70485"/>
                </a:moveTo>
                <a:cubicBezTo>
                  <a:pt x="145085" y="69041"/>
                  <a:pt x="126549" y="77366"/>
                  <a:pt x="129130" y="98962"/>
                </a:cubicBezTo>
                <a:cubicBezTo>
                  <a:pt x="133777" y="138753"/>
                  <a:pt x="157321" y="178647"/>
                  <a:pt x="191398" y="178647"/>
                </a:cubicBezTo>
                <a:cubicBezTo>
                  <a:pt x="223822" y="178647"/>
                  <a:pt x="253253" y="130712"/>
                  <a:pt x="253666" y="98962"/>
                </a:cubicBezTo>
                <a:cubicBezTo>
                  <a:pt x="254182" y="45976"/>
                  <a:pt x="217317" y="105147"/>
                  <a:pt x="174876" y="100611"/>
                </a:cubicBezTo>
                <a:cubicBezTo>
                  <a:pt x="189075" y="83138"/>
                  <a:pt x="176347" y="71928"/>
                  <a:pt x="160716" y="70485"/>
                </a:cubicBezTo>
                <a:close/>
                <a:moveTo>
                  <a:pt x="191398" y="0"/>
                </a:moveTo>
                <a:cubicBezTo>
                  <a:pt x="249845" y="0"/>
                  <a:pt x="273802" y="30101"/>
                  <a:pt x="273286" y="80407"/>
                </a:cubicBezTo>
                <a:cubicBezTo>
                  <a:pt x="272563" y="152979"/>
                  <a:pt x="225991" y="196172"/>
                  <a:pt x="191398" y="196172"/>
                </a:cubicBezTo>
                <a:cubicBezTo>
                  <a:pt x="150816" y="196172"/>
                  <a:pt x="110130" y="152979"/>
                  <a:pt x="109407" y="80407"/>
                </a:cubicBezTo>
                <a:cubicBezTo>
                  <a:pt x="108891" y="30101"/>
                  <a:pt x="132848" y="0"/>
                  <a:pt x="191398" y="0"/>
                </a:cubicBezTo>
                <a:close/>
              </a:path>
            </a:pathLst>
          </a:custGeom>
          <a:solidFill>
            <a:srgbClr val="C10000"/>
          </a:solidFill>
          <a:ln>
            <a:noFill/>
          </a:ln>
        </p:spPr>
      </p:sp>
      <p:sp>
        <p:nvSpPr>
          <p:cNvPr id="14" name="female-instructor-giving-a-lecture-standing-at-the-side-of-a-screen_43195">
            <a:extLst>
              <a:ext uri="{FF2B5EF4-FFF2-40B4-BE49-F238E27FC236}">
                <a16:creationId xmlns:a16="http://schemas.microsoft.com/office/drawing/2014/main" id="{A3CC8630-8483-4AC1-83CF-8E9426A7DDC8}"/>
              </a:ext>
            </a:extLst>
          </p:cNvPr>
          <p:cNvSpPr>
            <a:spLocks noChangeAspect="1"/>
          </p:cNvSpPr>
          <p:nvPr/>
        </p:nvSpPr>
        <p:spPr bwMode="auto">
          <a:xfrm>
            <a:off x="107504" y="6525344"/>
            <a:ext cx="294652" cy="253054"/>
          </a:xfrm>
          <a:custGeom>
            <a:avLst/>
            <a:gdLst>
              <a:gd name="connsiteX0" fmla="*/ 45866 w 605777"/>
              <a:gd name="connsiteY0" fmla="*/ 339787 h 520255"/>
              <a:gd name="connsiteX1" fmla="*/ 147937 w 605777"/>
              <a:gd name="connsiteY1" fmla="*/ 341219 h 520255"/>
              <a:gd name="connsiteX2" fmla="*/ 150812 w 605777"/>
              <a:gd name="connsiteY2" fmla="*/ 408537 h 520255"/>
              <a:gd name="connsiteX3" fmla="*/ 130685 w 605777"/>
              <a:gd name="connsiteY3" fmla="*/ 408537 h 520255"/>
              <a:gd name="connsiteX4" fmla="*/ 133561 w 605777"/>
              <a:gd name="connsiteY4" fmla="*/ 447208 h 520255"/>
              <a:gd name="connsiteX5" fmla="*/ 129248 w 605777"/>
              <a:gd name="connsiteY5" fmla="*/ 501635 h 520255"/>
              <a:gd name="connsiteX6" fmla="*/ 150812 w 605777"/>
              <a:gd name="connsiteY6" fmla="*/ 510229 h 520255"/>
              <a:gd name="connsiteX7" fmla="*/ 136436 w 605777"/>
              <a:gd name="connsiteY7" fmla="*/ 520255 h 520255"/>
              <a:gd name="connsiteX8" fmla="*/ 127810 w 605777"/>
              <a:gd name="connsiteY8" fmla="*/ 520255 h 520255"/>
              <a:gd name="connsiteX9" fmla="*/ 104808 w 605777"/>
              <a:gd name="connsiteY9" fmla="*/ 520255 h 520255"/>
              <a:gd name="connsiteX10" fmla="*/ 103371 w 605777"/>
              <a:gd name="connsiteY10" fmla="*/ 520255 h 520255"/>
              <a:gd name="connsiteX11" fmla="*/ 103371 w 605777"/>
              <a:gd name="connsiteY11" fmla="*/ 511661 h 520255"/>
              <a:gd name="connsiteX12" fmla="*/ 106246 w 605777"/>
              <a:gd name="connsiteY12" fmla="*/ 505932 h 520255"/>
              <a:gd name="connsiteX13" fmla="*/ 111996 w 605777"/>
              <a:gd name="connsiteY13" fmla="*/ 447208 h 520255"/>
              <a:gd name="connsiteX14" fmla="*/ 109121 w 605777"/>
              <a:gd name="connsiteY14" fmla="*/ 408537 h 520255"/>
              <a:gd name="connsiteX15" fmla="*/ 96183 w 605777"/>
              <a:gd name="connsiteY15" fmla="*/ 408537 h 520255"/>
              <a:gd name="connsiteX16" fmla="*/ 96183 w 605777"/>
              <a:gd name="connsiteY16" fmla="*/ 507364 h 520255"/>
              <a:gd name="connsiteX17" fmla="*/ 97620 w 605777"/>
              <a:gd name="connsiteY17" fmla="*/ 511661 h 520255"/>
              <a:gd name="connsiteX18" fmla="*/ 97620 w 605777"/>
              <a:gd name="connsiteY18" fmla="*/ 520255 h 520255"/>
              <a:gd name="connsiteX19" fmla="*/ 96183 w 605777"/>
              <a:gd name="connsiteY19" fmla="*/ 520255 h 520255"/>
              <a:gd name="connsiteX20" fmla="*/ 74618 w 605777"/>
              <a:gd name="connsiteY20" fmla="*/ 520255 h 520255"/>
              <a:gd name="connsiteX21" fmla="*/ 65993 w 605777"/>
              <a:gd name="connsiteY21" fmla="*/ 520255 h 520255"/>
              <a:gd name="connsiteX22" fmla="*/ 51617 w 605777"/>
              <a:gd name="connsiteY22" fmla="*/ 510229 h 520255"/>
              <a:gd name="connsiteX23" fmla="*/ 74618 w 605777"/>
              <a:gd name="connsiteY23" fmla="*/ 501635 h 520255"/>
              <a:gd name="connsiteX24" fmla="*/ 74618 w 605777"/>
              <a:gd name="connsiteY24" fmla="*/ 408537 h 520255"/>
              <a:gd name="connsiteX25" fmla="*/ 42991 w 605777"/>
              <a:gd name="connsiteY25" fmla="*/ 408537 h 520255"/>
              <a:gd name="connsiteX26" fmla="*/ 219630 w 605777"/>
              <a:gd name="connsiteY26" fmla="*/ 117545 h 520255"/>
              <a:gd name="connsiteX27" fmla="*/ 219630 w 605777"/>
              <a:gd name="connsiteY27" fmla="*/ 182051 h 520255"/>
              <a:gd name="connsiteX28" fmla="*/ 285663 w 605777"/>
              <a:gd name="connsiteY28" fmla="*/ 197819 h 520255"/>
              <a:gd name="connsiteX29" fmla="*/ 285663 w 605777"/>
              <a:gd name="connsiteY29" fmla="*/ 240823 h 520255"/>
              <a:gd name="connsiteX30" fmla="*/ 219630 w 605777"/>
              <a:gd name="connsiteY30" fmla="*/ 233656 h 520255"/>
              <a:gd name="connsiteX31" fmla="*/ 219630 w 605777"/>
              <a:gd name="connsiteY31" fmla="*/ 341166 h 520255"/>
              <a:gd name="connsiteX32" fmla="*/ 377534 w 605777"/>
              <a:gd name="connsiteY32" fmla="*/ 341166 h 520255"/>
              <a:gd name="connsiteX33" fmla="*/ 403373 w 605777"/>
              <a:gd name="connsiteY33" fmla="*/ 341166 h 520255"/>
              <a:gd name="connsiteX34" fmla="*/ 581374 w 605777"/>
              <a:gd name="connsiteY34" fmla="*/ 341166 h 520255"/>
              <a:gd name="connsiteX35" fmla="*/ 581374 w 605777"/>
              <a:gd name="connsiteY35" fmla="*/ 117545 h 520255"/>
              <a:gd name="connsiteX36" fmla="*/ 107662 w 605777"/>
              <a:gd name="connsiteY36" fmla="*/ 78841 h 520255"/>
              <a:gd name="connsiteX37" fmla="*/ 107662 w 605777"/>
              <a:gd name="connsiteY37" fmla="*/ 98909 h 520255"/>
              <a:gd name="connsiteX38" fmla="*/ 144985 w 605777"/>
              <a:gd name="connsiteY38" fmla="*/ 98909 h 520255"/>
              <a:gd name="connsiteX39" fmla="*/ 144985 w 605777"/>
              <a:gd name="connsiteY39" fmla="*/ 78841 h 520255"/>
              <a:gd name="connsiteX40" fmla="*/ 48807 w 605777"/>
              <a:gd name="connsiteY40" fmla="*/ 78841 h 520255"/>
              <a:gd name="connsiteX41" fmla="*/ 48807 w 605777"/>
              <a:gd name="connsiteY41" fmla="*/ 98909 h 520255"/>
              <a:gd name="connsiteX42" fmla="*/ 87565 w 605777"/>
              <a:gd name="connsiteY42" fmla="*/ 98909 h 520255"/>
              <a:gd name="connsiteX43" fmla="*/ 87565 w 605777"/>
              <a:gd name="connsiteY43" fmla="*/ 78841 h 520255"/>
              <a:gd name="connsiteX44" fmla="*/ 68904 w 605777"/>
              <a:gd name="connsiteY44" fmla="*/ 38704 h 520255"/>
              <a:gd name="connsiteX45" fmla="*/ 24403 w 605777"/>
              <a:gd name="connsiteY45" fmla="*/ 77407 h 520255"/>
              <a:gd name="connsiteX46" fmla="*/ 24403 w 605777"/>
              <a:gd name="connsiteY46" fmla="*/ 81708 h 520255"/>
              <a:gd name="connsiteX47" fmla="*/ 43065 w 605777"/>
              <a:gd name="connsiteY47" fmla="*/ 84575 h 520255"/>
              <a:gd name="connsiteX48" fmla="*/ 43065 w 605777"/>
              <a:gd name="connsiteY48" fmla="*/ 73107 h 520255"/>
              <a:gd name="connsiteX49" fmla="*/ 93307 w 605777"/>
              <a:gd name="connsiteY49" fmla="*/ 73107 h 520255"/>
              <a:gd name="connsiteX50" fmla="*/ 93307 w 605777"/>
              <a:gd name="connsiteY50" fmla="*/ 84575 h 520255"/>
              <a:gd name="connsiteX51" fmla="*/ 101920 w 605777"/>
              <a:gd name="connsiteY51" fmla="*/ 84575 h 520255"/>
              <a:gd name="connsiteX52" fmla="*/ 101920 w 605777"/>
              <a:gd name="connsiteY52" fmla="*/ 73107 h 520255"/>
              <a:gd name="connsiteX53" fmla="*/ 150726 w 605777"/>
              <a:gd name="connsiteY53" fmla="*/ 73107 h 520255"/>
              <a:gd name="connsiteX54" fmla="*/ 150726 w 605777"/>
              <a:gd name="connsiteY54" fmla="*/ 84575 h 520255"/>
              <a:gd name="connsiteX55" fmla="*/ 166517 w 605777"/>
              <a:gd name="connsiteY55" fmla="*/ 81708 h 520255"/>
              <a:gd name="connsiteX56" fmla="*/ 159339 w 605777"/>
              <a:gd name="connsiteY56" fmla="*/ 63073 h 520255"/>
              <a:gd name="connsiteX57" fmla="*/ 68904 w 605777"/>
              <a:gd name="connsiteY57" fmla="*/ 38704 h 520255"/>
              <a:gd name="connsiteX58" fmla="*/ 94742 w 605777"/>
              <a:gd name="connsiteY58" fmla="*/ 0 h 520255"/>
              <a:gd name="connsiteX59" fmla="*/ 180872 w 605777"/>
              <a:gd name="connsiteY59" fmla="*/ 134746 h 520255"/>
              <a:gd name="connsiteX60" fmla="*/ 175130 w 605777"/>
              <a:gd name="connsiteY60" fmla="*/ 172016 h 520255"/>
              <a:gd name="connsiteX61" fmla="*/ 202404 w 605777"/>
              <a:gd name="connsiteY61" fmla="*/ 177750 h 520255"/>
              <a:gd name="connsiteX62" fmla="*/ 202404 w 605777"/>
              <a:gd name="connsiteY62" fmla="*/ 117545 h 520255"/>
              <a:gd name="connsiteX63" fmla="*/ 190920 w 605777"/>
              <a:gd name="connsiteY63" fmla="*/ 117545 h 520255"/>
              <a:gd name="connsiteX64" fmla="*/ 190920 w 605777"/>
              <a:gd name="connsiteY64" fmla="*/ 93176 h 520255"/>
              <a:gd name="connsiteX65" fmla="*/ 202404 w 605777"/>
              <a:gd name="connsiteY65" fmla="*/ 93176 h 520255"/>
              <a:gd name="connsiteX66" fmla="*/ 371792 w 605777"/>
              <a:gd name="connsiteY66" fmla="*/ 93176 h 520255"/>
              <a:gd name="connsiteX67" fmla="*/ 371792 w 605777"/>
              <a:gd name="connsiteY67" fmla="*/ 73107 h 520255"/>
              <a:gd name="connsiteX68" fmla="*/ 420599 w 605777"/>
              <a:gd name="connsiteY68" fmla="*/ 73107 h 520255"/>
              <a:gd name="connsiteX69" fmla="*/ 420599 w 605777"/>
              <a:gd name="connsiteY69" fmla="*/ 93176 h 520255"/>
              <a:gd name="connsiteX70" fmla="*/ 598600 w 605777"/>
              <a:gd name="connsiteY70" fmla="*/ 93176 h 520255"/>
              <a:gd name="connsiteX71" fmla="*/ 605777 w 605777"/>
              <a:gd name="connsiteY71" fmla="*/ 93176 h 520255"/>
              <a:gd name="connsiteX72" fmla="*/ 605777 w 605777"/>
              <a:gd name="connsiteY72" fmla="*/ 117545 h 520255"/>
              <a:gd name="connsiteX73" fmla="*/ 598600 w 605777"/>
              <a:gd name="connsiteY73" fmla="*/ 117545 h 520255"/>
              <a:gd name="connsiteX74" fmla="*/ 598600 w 605777"/>
              <a:gd name="connsiteY74" fmla="*/ 358368 h 520255"/>
              <a:gd name="connsiteX75" fmla="*/ 403373 w 605777"/>
              <a:gd name="connsiteY75" fmla="*/ 358368 h 520255"/>
              <a:gd name="connsiteX76" fmla="*/ 403373 w 605777"/>
              <a:gd name="connsiteY76" fmla="*/ 402805 h 520255"/>
              <a:gd name="connsiteX77" fmla="*/ 500986 w 605777"/>
              <a:gd name="connsiteY77" fmla="*/ 511749 h 520255"/>
              <a:gd name="connsiteX78" fmla="*/ 465099 w 605777"/>
              <a:gd name="connsiteY78" fmla="*/ 511749 h 520255"/>
              <a:gd name="connsiteX79" fmla="*/ 400502 w 605777"/>
              <a:gd name="connsiteY79" fmla="*/ 438642 h 520255"/>
              <a:gd name="connsiteX80" fmla="*/ 400502 w 605777"/>
              <a:gd name="connsiteY80" fmla="*/ 511749 h 520255"/>
              <a:gd name="connsiteX81" fmla="*/ 380405 w 605777"/>
              <a:gd name="connsiteY81" fmla="*/ 511749 h 520255"/>
              <a:gd name="connsiteX82" fmla="*/ 380405 w 605777"/>
              <a:gd name="connsiteY82" fmla="*/ 438642 h 520255"/>
              <a:gd name="connsiteX83" fmla="*/ 315808 w 605777"/>
              <a:gd name="connsiteY83" fmla="*/ 511749 h 520255"/>
              <a:gd name="connsiteX84" fmla="*/ 281356 w 605777"/>
              <a:gd name="connsiteY84" fmla="*/ 511749 h 520255"/>
              <a:gd name="connsiteX85" fmla="*/ 377534 w 605777"/>
              <a:gd name="connsiteY85" fmla="*/ 402805 h 520255"/>
              <a:gd name="connsiteX86" fmla="*/ 377534 w 605777"/>
              <a:gd name="connsiteY86" fmla="*/ 358368 h 520255"/>
              <a:gd name="connsiteX87" fmla="*/ 202404 w 605777"/>
              <a:gd name="connsiteY87" fmla="*/ 358368 h 520255"/>
              <a:gd name="connsiteX88" fmla="*/ 202404 w 605777"/>
              <a:gd name="connsiteY88" fmla="*/ 230789 h 520255"/>
              <a:gd name="connsiteX89" fmla="*/ 147856 w 605777"/>
              <a:gd name="connsiteY89" fmla="*/ 223621 h 520255"/>
              <a:gd name="connsiteX90" fmla="*/ 139243 w 605777"/>
              <a:gd name="connsiteY90" fmla="*/ 273793 h 520255"/>
              <a:gd name="connsiteX91" fmla="*/ 147856 w 605777"/>
              <a:gd name="connsiteY91" fmla="*/ 333999 h 520255"/>
              <a:gd name="connsiteX92" fmla="*/ 123452 w 605777"/>
              <a:gd name="connsiteY92" fmla="*/ 333999 h 520255"/>
              <a:gd name="connsiteX93" fmla="*/ 99049 w 605777"/>
              <a:gd name="connsiteY93" fmla="*/ 333999 h 520255"/>
              <a:gd name="connsiteX94" fmla="*/ 99049 w 605777"/>
              <a:gd name="connsiteY94" fmla="*/ 227922 h 520255"/>
              <a:gd name="connsiteX95" fmla="*/ 123452 w 605777"/>
              <a:gd name="connsiteY95" fmla="*/ 183484 h 520255"/>
              <a:gd name="connsiteX96" fmla="*/ 114839 w 605777"/>
              <a:gd name="connsiteY96" fmla="*/ 179184 h 520255"/>
              <a:gd name="connsiteX97" fmla="*/ 114839 w 605777"/>
              <a:gd name="connsiteY97" fmla="*/ 153381 h 520255"/>
              <a:gd name="connsiteX98" fmla="*/ 166517 w 605777"/>
              <a:gd name="connsiteY98" fmla="*/ 90309 h 520255"/>
              <a:gd name="connsiteX99" fmla="*/ 150726 w 605777"/>
              <a:gd name="connsiteY99" fmla="*/ 93176 h 520255"/>
              <a:gd name="connsiteX100" fmla="*/ 150726 w 605777"/>
              <a:gd name="connsiteY100" fmla="*/ 103210 h 520255"/>
              <a:gd name="connsiteX101" fmla="*/ 101920 w 605777"/>
              <a:gd name="connsiteY101" fmla="*/ 103210 h 520255"/>
              <a:gd name="connsiteX102" fmla="*/ 101920 w 605777"/>
              <a:gd name="connsiteY102" fmla="*/ 96043 h 520255"/>
              <a:gd name="connsiteX103" fmla="*/ 93307 w 605777"/>
              <a:gd name="connsiteY103" fmla="*/ 96043 h 520255"/>
              <a:gd name="connsiteX104" fmla="*/ 93307 w 605777"/>
              <a:gd name="connsiteY104" fmla="*/ 103210 h 520255"/>
              <a:gd name="connsiteX105" fmla="*/ 43065 w 605777"/>
              <a:gd name="connsiteY105" fmla="*/ 103210 h 520255"/>
              <a:gd name="connsiteX106" fmla="*/ 43065 w 605777"/>
              <a:gd name="connsiteY106" fmla="*/ 91742 h 520255"/>
              <a:gd name="connsiteX107" fmla="*/ 24403 w 605777"/>
              <a:gd name="connsiteY107" fmla="*/ 88875 h 520255"/>
              <a:gd name="connsiteX108" fmla="*/ 74646 w 605777"/>
              <a:gd name="connsiteY108" fmla="*/ 151948 h 520255"/>
              <a:gd name="connsiteX109" fmla="*/ 74646 w 605777"/>
              <a:gd name="connsiteY109" fmla="*/ 179184 h 520255"/>
              <a:gd name="connsiteX110" fmla="*/ 67468 w 605777"/>
              <a:gd name="connsiteY110" fmla="*/ 182051 h 520255"/>
              <a:gd name="connsiteX111" fmla="*/ 93307 w 605777"/>
              <a:gd name="connsiteY111" fmla="*/ 229355 h 520255"/>
              <a:gd name="connsiteX112" fmla="*/ 93307 w 605777"/>
              <a:gd name="connsiteY112" fmla="*/ 333999 h 520255"/>
              <a:gd name="connsiteX113" fmla="*/ 45936 w 605777"/>
              <a:gd name="connsiteY113" fmla="*/ 333999 h 520255"/>
              <a:gd name="connsiteX114" fmla="*/ 53113 w 605777"/>
              <a:gd name="connsiteY114" fmla="*/ 276660 h 520255"/>
              <a:gd name="connsiteX115" fmla="*/ 40194 w 605777"/>
              <a:gd name="connsiteY115" fmla="*/ 232222 h 520255"/>
              <a:gd name="connsiteX116" fmla="*/ 28710 w 605777"/>
              <a:gd name="connsiteY116" fmla="*/ 318230 h 520255"/>
              <a:gd name="connsiteX117" fmla="*/ 0 w 605777"/>
              <a:gd name="connsiteY117" fmla="*/ 316797 h 520255"/>
              <a:gd name="connsiteX118" fmla="*/ 12919 w 605777"/>
              <a:gd name="connsiteY118" fmla="*/ 194952 h 520255"/>
              <a:gd name="connsiteX119" fmla="*/ 5742 w 605777"/>
              <a:gd name="connsiteY119" fmla="*/ 87442 h 520255"/>
              <a:gd name="connsiteX120" fmla="*/ 48807 w 605777"/>
              <a:gd name="connsiteY120" fmla="*/ 12901 h 520255"/>
              <a:gd name="connsiteX121" fmla="*/ 60291 w 605777"/>
              <a:gd name="connsiteY121" fmla="*/ 11468 h 520255"/>
              <a:gd name="connsiteX122" fmla="*/ 68904 w 605777"/>
              <a:gd name="connsiteY122" fmla="*/ 2867 h 520255"/>
              <a:gd name="connsiteX123" fmla="*/ 94742 w 605777"/>
              <a:gd name="connsiteY123" fmla="*/ 0 h 5202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Lst>
            <a:rect l="l" t="t" r="r" b="b"/>
            <a:pathLst>
              <a:path w="605777" h="520255">
                <a:moveTo>
                  <a:pt x="45866" y="339787"/>
                </a:moveTo>
                <a:lnTo>
                  <a:pt x="147937" y="341219"/>
                </a:lnTo>
                <a:lnTo>
                  <a:pt x="150812" y="408537"/>
                </a:lnTo>
                <a:lnTo>
                  <a:pt x="130685" y="408537"/>
                </a:lnTo>
                <a:lnTo>
                  <a:pt x="133561" y="447208"/>
                </a:lnTo>
                <a:lnTo>
                  <a:pt x="129248" y="501635"/>
                </a:lnTo>
                <a:cubicBezTo>
                  <a:pt x="142186" y="501635"/>
                  <a:pt x="150812" y="504500"/>
                  <a:pt x="150812" y="510229"/>
                </a:cubicBezTo>
                <a:cubicBezTo>
                  <a:pt x="150812" y="517390"/>
                  <a:pt x="136436" y="520255"/>
                  <a:pt x="136436" y="520255"/>
                </a:cubicBezTo>
                <a:lnTo>
                  <a:pt x="127810" y="520255"/>
                </a:lnTo>
                <a:lnTo>
                  <a:pt x="104808" y="520255"/>
                </a:lnTo>
                <a:lnTo>
                  <a:pt x="103371" y="520255"/>
                </a:lnTo>
                <a:lnTo>
                  <a:pt x="103371" y="511661"/>
                </a:lnTo>
                <a:cubicBezTo>
                  <a:pt x="103371" y="508797"/>
                  <a:pt x="104808" y="507364"/>
                  <a:pt x="106246" y="505932"/>
                </a:cubicBezTo>
                <a:lnTo>
                  <a:pt x="111996" y="447208"/>
                </a:lnTo>
                <a:lnTo>
                  <a:pt x="109121" y="408537"/>
                </a:lnTo>
                <a:lnTo>
                  <a:pt x="96183" y="408537"/>
                </a:lnTo>
                <a:lnTo>
                  <a:pt x="96183" y="507364"/>
                </a:lnTo>
                <a:cubicBezTo>
                  <a:pt x="97620" y="508797"/>
                  <a:pt x="97620" y="510229"/>
                  <a:pt x="97620" y="511661"/>
                </a:cubicBezTo>
                <a:lnTo>
                  <a:pt x="97620" y="520255"/>
                </a:lnTo>
                <a:lnTo>
                  <a:pt x="96183" y="520255"/>
                </a:lnTo>
                <a:lnTo>
                  <a:pt x="74618" y="520255"/>
                </a:lnTo>
                <a:lnTo>
                  <a:pt x="65993" y="520255"/>
                </a:lnTo>
                <a:cubicBezTo>
                  <a:pt x="65993" y="520255"/>
                  <a:pt x="51617" y="517390"/>
                  <a:pt x="51617" y="510229"/>
                </a:cubicBezTo>
                <a:cubicBezTo>
                  <a:pt x="51617" y="504500"/>
                  <a:pt x="60242" y="501635"/>
                  <a:pt x="74618" y="501635"/>
                </a:cubicBezTo>
                <a:lnTo>
                  <a:pt x="74618" y="408537"/>
                </a:lnTo>
                <a:lnTo>
                  <a:pt x="42991" y="408537"/>
                </a:lnTo>
                <a:close/>
                <a:moveTo>
                  <a:pt x="219630" y="117545"/>
                </a:moveTo>
                <a:lnTo>
                  <a:pt x="219630" y="182051"/>
                </a:lnTo>
                <a:lnTo>
                  <a:pt x="285663" y="197819"/>
                </a:lnTo>
                <a:lnTo>
                  <a:pt x="285663" y="240823"/>
                </a:lnTo>
                <a:lnTo>
                  <a:pt x="219630" y="233656"/>
                </a:lnTo>
                <a:lnTo>
                  <a:pt x="219630" y="341166"/>
                </a:lnTo>
                <a:lnTo>
                  <a:pt x="377534" y="341166"/>
                </a:lnTo>
                <a:lnTo>
                  <a:pt x="403373" y="341166"/>
                </a:lnTo>
                <a:lnTo>
                  <a:pt x="581374" y="341166"/>
                </a:lnTo>
                <a:lnTo>
                  <a:pt x="581374" y="117545"/>
                </a:lnTo>
                <a:close/>
                <a:moveTo>
                  <a:pt x="107662" y="78841"/>
                </a:moveTo>
                <a:lnTo>
                  <a:pt x="107662" y="98909"/>
                </a:lnTo>
                <a:lnTo>
                  <a:pt x="144985" y="98909"/>
                </a:lnTo>
                <a:lnTo>
                  <a:pt x="144985" y="78841"/>
                </a:lnTo>
                <a:close/>
                <a:moveTo>
                  <a:pt x="48807" y="78841"/>
                </a:moveTo>
                <a:lnTo>
                  <a:pt x="48807" y="98909"/>
                </a:lnTo>
                <a:lnTo>
                  <a:pt x="87565" y="98909"/>
                </a:lnTo>
                <a:lnTo>
                  <a:pt x="87565" y="78841"/>
                </a:lnTo>
                <a:close/>
                <a:moveTo>
                  <a:pt x="68904" y="38704"/>
                </a:moveTo>
                <a:cubicBezTo>
                  <a:pt x="67468" y="60206"/>
                  <a:pt x="44500" y="75974"/>
                  <a:pt x="24403" y="77407"/>
                </a:cubicBezTo>
                <a:cubicBezTo>
                  <a:pt x="24403" y="78841"/>
                  <a:pt x="24403" y="80274"/>
                  <a:pt x="24403" y="81708"/>
                </a:cubicBezTo>
                <a:lnTo>
                  <a:pt x="43065" y="84575"/>
                </a:lnTo>
                <a:lnTo>
                  <a:pt x="43065" y="73107"/>
                </a:lnTo>
                <a:lnTo>
                  <a:pt x="93307" y="73107"/>
                </a:lnTo>
                <a:lnTo>
                  <a:pt x="93307" y="84575"/>
                </a:lnTo>
                <a:lnTo>
                  <a:pt x="101920" y="84575"/>
                </a:lnTo>
                <a:lnTo>
                  <a:pt x="101920" y="73107"/>
                </a:lnTo>
                <a:lnTo>
                  <a:pt x="150726" y="73107"/>
                </a:lnTo>
                <a:lnTo>
                  <a:pt x="150726" y="84575"/>
                </a:lnTo>
                <a:lnTo>
                  <a:pt x="166517" y="81708"/>
                </a:lnTo>
                <a:cubicBezTo>
                  <a:pt x="166517" y="71674"/>
                  <a:pt x="163646" y="64506"/>
                  <a:pt x="159339" y="63073"/>
                </a:cubicBezTo>
                <a:cubicBezTo>
                  <a:pt x="129194" y="60206"/>
                  <a:pt x="93307" y="58772"/>
                  <a:pt x="68904" y="38704"/>
                </a:cubicBezTo>
                <a:close/>
                <a:moveTo>
                  <a:pt x="94742" y="0"/>
                </a:moveTo>
                <a:cubicBezTo>
                  <a:pt x="185178" y="0"/>
                  <a:pt x="182307" y="103210"/>
                  <a:pt x="180872" y="134746"/>
                </a:cubicBezTo>
                <a:cubicBezTo>
                  <a:pt x="180872" y="153381"/>
                  <a:pt x="176565" y="159115"/>
                  <a:pt x="175130" y="172016"/>
                </a:cubicBezTo>
                <a:lnTo>
                  <a:pt x="202404" y="177750"/>
                </a:lnTo>
                <a:lnTo>
                  <a:pt x="202404" y="117545"/>
                </a:lnTo>
                <a:lnTo>
                  <a:pt x="190920" y="117545"/>
                </a:lnTo>
                <a:lnTo>
                  <a:pt x="190920" y="93176"/>
                </a:lnTo>
                <a:lnTo>
                  <a:pt x="202404" y="93176"/>
                </a:lnTo>
                <a:lnTo>
                  <a:pt x="371792" y="93176"/>
                </a:lnTo>
                <a:lnTo>
                  <a:pt x="371792" y="73107"/>
                </a:lnTo>
                <a:lnTo>
                  <a:pt x="420599" y="73107"/>
                </a:lnTo>
                <a:lnTo>
                  <a:pt x="420599" y="93176"/>
                </a:lnTo>
                <a:lnTo>
                  <a:pt x="598600" y="93176"/>
                </a:lnTo>
                <a:lnTo>
                  <a:pt x="605777" y="93176"/>
                </a:lnTo>
                <a:lnTo>
                  <a:pt x="605777" y="117545"/>
                </a:lnTo>
                <a:lnTo>
                  <a:pt x="598600" y="117545"/>
                </a:lnTo>
                <a:lnTo>
                  <a:pt x="598600" y="358368"/>
                </a:lnTo>
                <a:lnTo>
                  <a:pt x="403373" y="358368"/>
                </a:lnTo>
                <a:lnTo>
                  <a:pt x="403373" y="402805"/>
                </a:lnTo>
                <a:lnTo>
                  <a:pt x="500986" y="511749"/>
                </a:lnTo>
                <a:lnTo>
                  <a:pt x="465099" y="511749"/>
                </a:lnTo>
                <a:lnTo>
                  <a:pt x="400502" y="438642"/>
                </a:lnTo>
                <a:lnTo>
                  <a:pt x="400502" y="511749"/>
                </a:lnTo>
                <a:lnTo>
                  <a:pt x="380405" y="511749"/>
                </a:lnTo>
                <a:lnTo>
                  <a:pt x="380405" y="438642"/>
                </a:lnTo>
                <a:lnTo>
                  <a:pt x="315808" y="511749"/>
                </a:lnTo>
                <a:lnTo>
                  <a:pt x="281356" y="511749"/>
                </a:lnTo>
                <a:lnTo>
                  <a:pt x="377534" y="402805"/>
                </a:lnTo>
                <a:lnTo>
                  <a:pt x="377534" y="358368"/>
                </a:lnTo>
                <a:lnTo>
                  <a:pt x="202404" y="358368"/>
                </a:lnTo>
                <a:lnTo>
                  <a:pt x="202404" y="230789"/>
                </a:lnTo>
                <a:lnTo>
                  <a:pt x="147856" y="223621"/>
                </a:lnTo>
                <a:cubicBezTo>
                  <a:pt x="142114" y="249424"/>
                  <a:pt x="139243" y="273793"/>
                  <a:pt x="139243" y="273793"/>
                </a:cubicBezTo>
                <a:lnTo>
                  <a:pt x="147856" y="333999"/>
                </a:lnTo>
                <a:lnTo>
                  <a:pt x="123452" y="333999"/>
                </a:lnTo>
                <a:lnTo>
                  <a:pt x="99049" y="333999"/>
                </a:lnTo>
                <a:lnTo>
                  <a:pt x="99049" y="227922"/>
                </a:lnTo>
                <a:lnTo>
                  <a:pt x="123452" y="183484"/>
                </a:lnTo>
                <a:lnTo>
                  <a:pt x="114839" y="179184"/>
                </a:lnTo>
                <a:lnTo>
                  <a:pt x="114839" y="153381"/>
                </a:lnTo>
                <a:cubicBezTo>
                  <a:pt x="153597" y="149081"/>
                  <a:pt x="166517" y="114678"/>
                  <a:pt x="166517" y="90309"/>
                </a:cubicBezTo>
                <a:lnTo>
                  <a:pt x="150726" y="93176"/>
                </a:lnTo>
                <a:lnTo>
                  <a:pt x="150726" y="103210"/>
                </a:lnTo>
                <a:lnTo>
                  <a:pt x="101920" y="103210"/>
                </a:lnTo>
                <a:lnTo>
                  <a:pt x="101920" y="96043"/>
                </a:lnTo>
                <a:lnTo>
                  <a:pt x="93307" y="96043"/>
                </a:lnTo>
                <a:lnTo>
                  <a:pt x="93307" y="103210"/>
                </a:lnTo>
                <a:lnTo>
                  <a:pt x="43065" y="103210"/>
                </a:lnTo>
                <a:lnTo>
                  <a:pt x="43065" y="91742"/>
                </a:lnTo>
                <a:lnTo>
                  <a:pt x="24403" y="88875"/>
                </a:lnTo>
                <a:cubicBezTo>
                  <a:pt x="25839" y="118978"/>
                  <a:pt x="47371" y="143347"/>
                  <a:pt x="74646" y="151948"/>
                </a:cubicBezTo>
                <a:lnTo>
                  <a:pt x="74646" y="179184"/>
                </a:lnTo>
                <a:lnTo>
                  <a:pt x="67468" y="182051"/>
                </a:lnTo>
                <a:lnTo>
                  <a:pt x="93307" y="229355"/>
                </a:lnTo>
                <a:lnTo>
                  <a:pt x="93307" y="333999"/>
                </a:lnTo>
                <a:lnTo>
                  <a:pt x="45936" y="333999"/>
                </a:lnTo>
                <a:lnTo>
                  <a:pt x="53113" y="276660"/>
                </a:lnTo>
                <a:cubicBezTo>
                  <a:pt x="53113" y="276660"/>
                  <a:pt x="45936" y="255158"/>
                  <a:pt x="40194" y="232222"/>
                </a:cubicBezTo>
                <a:lnTo>
                  <a:pt x="28710" y="318230"/>
                </a:lnTo>
                <a:lnTo>
                  <a:pt x="0" y="316797"/>
                </a:lnTo>
                <a:lnTo>
                  <a:pt x="12919" y="194952"/>
                </a:lnTo>
                <a:lnTo>
                  <a:pt x="5742" y="87442"/>
                </a:lnTo>
                <a:cubicBezTo>
                  <a:pt x="5742" y="87442"/>
                  <a:pt x="4306" y="34403"/>
                  <a:pt x="48807" y="12901"/>
                </a:cubicBezTo>
                <a:cubicBezTo>
                  <a:pt x="51678" y="11468"/>
                  <a:pt x="57420" y="12901"/>
                  <a:pt x="60291" y="11468"/>
                </a:cubicBezTo>
                <a:cubicBezTo>
                  <a:pt x="63162" y="10034"/>
                  <a:pt x="64597" y="5734"/>
                  <a:pt x="68904" y="2867"/>
                </a:cubicBezTo>
                <a:cubicBezTo>
                  <a:pt x="73210" y="1433"/>
                  <a:pt x="84694" y="0"/>
                  <a:pt x="94742" y="0"/>
                </a:cubicBezTo>
                <a:close/>
              </a:path>
            </a:pathLst>
          </a:custGeom>
          <a:solidFill>
            <a:srgbClr val="C10000"/>
          </a:solidFill>
          <a:ln>
            <a:noFill/>
          </a:ln>
        </p:spPr>
        <p:txBody>
          <a:bodyPr/>
          <a:lstStyle/>
          <a:p>
            <a:endParaRPr lang="zh-CN" altLang="en-US" dirty="0"/>
          </a:p>
        </p:txBody>
      </p:sp>
      <p:pic>
        <p:nvPicPr>
          <p:cNvPr id="9" name="图片 8"/>
          <p:cNvPicPr>
            <a:picLocks noChangeAspect="1"/>
          </p:cNvPicPr>
          <p:nvPr/>
        </p:nvPicPr>
        <p:blipFill>
          <a:blip r:embed="rId2"/>
          <a:stretch>
            <a:fillRect/>
          </a:stretch>
        </p:blipFill>
        <p:spPr>
          <a:xfrm>
            <a:off x="6228184" y="260648"/>
            <a:ext cx="2660986" cy="610982"/>
          </a:xfrm>
          <a:prstGeom prst="rect">
            <a:avLst/>
          </a:prstGeom>
        </p:spPr>
      </p:pic>
      <p:pic>
        <p:nvPicPr>
          <p:cNvPr id="8" name="图片 7"/>
          <p:cNvPicPr>
            <a:picLocks noChangeAspect="1"/>
          </p:cNvPicPr>
          <p:nvPr/>
        </p:nvPicPr>
        <p:blipFill>
          <a:blip r:embed="rId3"/>
          <a:stretch>
            <a:fillRect/>
          </a:stretch>
        </p:blipFill>
        <p:spPr>
          <a:xfrm>
            <a:off x="3647713" y="4531528"/>
            <a:ext cx="1809708" cy="1793067"/>
          </a:xfrm>
          <a:prstGeom prst="rect">
            <a:avLst/>
          </a:prstGeom>
          <a:ln>
            <a:solidFill>
              <a:srgbClr val="FF0000"/>
            </a:solidFill>
          </a:ln>
        </p:spPr>
      </p:pic>
    </p:spTree>
    <p:extLst>
      <p:ext uri="{BB962C8B-B14F-4D97-AF65-F5344CB8AC3E}">
        <p14:creationId xmlns:p14="http://schemas.microsoft.com/office/powerpoint/2010/main" val="1707383443"/>
      </p:ext>
    </p:extLst>
  </p:cSld>
  <p:clrMapOvr>
    <a:masterClrMapping/>
  </p:clrMapOvr>
  <p:transition spd="slow">
    <p:circle/>
  </p:transition>
  <p:timing>
    <p:tnLst>
      <p:par>
        <p:cTn id="1" dur="indefinite" restart="never" nodeType="tmRoot"/>
      </p:par>
    </p:tnLst>
  </p:timing>
</p:sld>
</file>

<file path=ppt/tags/tag1.xml><?xml version="1.0" encoding="utf-8"?>
<p:tagLst xmlns:a="http://schemas.openxmlformats.org/drawingml/2006/main" xmlns:r="http://schemas.openxmlformats.org/officeDocument/2006/relationships" xmlns:p="http://schemas.openxmlformats.org/presentationml/2006/main">
  <p:tag name="TIMING" val="|1.0|1.1|2.3"/>
</p:tagLst>
</file>

<file path=ppt/theme/theme1.xml><?xml version="1.0" encoding="utf-8"?>
<a:theme xmlns:a="http://schemas.openxmlformats.org/drawingml/2006/main" name="yu_讲义模板">
  <a:themeElements>
    <a:clrScheme name="1_讲义模板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1_讲义模板">
      <a:majorFont>
        <a:latin typeface="Book Antiqua"/>
        <a:ea typeface="宋体"/>
        <a:cs typeface=""/>
      </a:majorFont>
      <a:minorFont>
        <a:latin typeface="Arial"/>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miter lim="800000"/>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non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0" lang="en-US" sz="1800" b="0" i="0" u="none" strike="noStrike" cap="none" normalizeH="0" baseline="0" smtClean="0">
            <a:ln>
              <a:noFill/>
            </a:ln>
            <a:solidFill>
              <a:schemeClr val="tx1"/>
            </a:solidFill>
            <a:effectLst/>
            <a:latin typeface="Arial" pitchFamily="34"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miter lim="800000"/>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non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0" lang="en-US" sz="1800" b="0" i="0" u="none" strike="noStrike" cap="none" normalizeH="0" baseline="0" smtClean="0">
            <a:ln>
              <a:noFill/>
            </a:ln>
            <a:solidFill>
              <a:schemeClr val="tx1"/>
            </a:solidFill>
            <a:effectLst/>
            <a:latin typeface="Arial" pitchFamily="34" charset="0"/>
          </a:defRPr>
        </a:defPPr>
      </a:lstStyle>
    </a:lnDef>
  </a:objectDefaults>
  <a:extraClrSchemeLst>
    <a:extraClrScheme>
      <a:clrScheme name="1_讲义模板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1_讲义模板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1_讲义模板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1_讲义模板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1_讲义模板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1_讲义模板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1_讲义模板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1_讲义模板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1_讲义模板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1_讲义模板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1_讲义模板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1_讲义模板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2021]_报告PPT模版_V2" id="{8EC8653A-606D-47E4-A478-266612CD6098}" vid="{7E307012-7BE2-4DF2-B728-4130463293FE}"/>
    </a:ext>
  </a:extLst>
</a:theme>
</file>

<file path=ppt/theme/theme2.xml><?xml version="1.0" encoding="utf-8"?>
<a:theme xmlns:a="http://schemas.openxmlformats.org/drawingml/2006/main" name="Office 主题​​">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主题​​">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[2021]_报告PPT模版_V2</Template>
  <TotalTime>725</TotalTime>
  <Words>10476</Words>
  <Application>Microsoft Office PowerPoint</Application>
  <PresentationFormat>全屏显示(4:3)</PresentationFormat>
  <Paragraphs>455</Paragraphs>
  <Slides>34</Slides>
  <Notes>13</Notes>
  <HiddenSlides>0</HiddenSlides>
  <MMClips>0</MMClips>
  <ScaleCrop>false</ScaleCrop>
  <HeadingPairs>
    <vt:vector size="6" baseType="variant">
      <vt:variant>
        <vt:lpstr>已用的字体</vt:lpstr>
      </vt:variant>
      <vt:variant>
        <vt:i4>19</vt:i4>
      </vt:variant>
      <vt:variant>
        <vt:lpstr>主题</vt:lpstr>
      </vt:variant>
      <vt:variant>
        <vt:i4>1</vt:i4>
      </vt:variant>
      <vt:variant>
        <vt:lpstr>幻灯片标题</vt:lpstr>
      </vt:variant>
      <vt:variant>
        <vt:i4>34</vt:i4>
      </vt:variant>
    </vt:vector>
  </HeadingPairs>
  <TitlesOfParts>
    <vt:vector size="54" baseType="lpstr">
      <vt:lpstr>Century Schoolbook</vt:lpstr>
      <vt:lpstr>Yu Gothic UI Semilight</vt:lpstr>
      <vt:lpstr>仿宋</vt:lpstr>
      <vt:lpstr>黑体</vt:lpstr>
      <vt:lpstr>华文仿宋</vt:lpstr>
      <vt:lpstr>华文中宋</vt:lpstr>
      <vt:lpstr>楷体</vt:lpstr>
      <vt:lpstr>楷体_GB2312</vt:lpstr>
      <vt:lpstr>思源黑体 CN Medium</vt:lpstr>
      <vt:lpstr>宋体</vt:lpstr>
      <vt:lpstr>微软雅黑</vt:lpstr>
      <vt:lpstr>幼圆</vt:lpstr>
      <vt:lpstr>Arial</vt:lpstr>
      <vt:lpstr>Book Antiqua</vt:lpstr>
      <vt:lpstr>Calibri</vt:lpstr>
      <vt:lpstr>Times New Roman</vt:lpstr>
      <vt:lpstr>Verdana</vt:lpstr>
      <vt:lpstr>Wingdings</vt:lpstr>
      <vt:lpstr>Wingdings 2</vt:lpstr>
      <vt:lpstr>yu_讲义模板</vt:lpstr>
      <vt:lpstr>PowerPoint 演示文稿</vt:lpstr>
      <vt:lpstr>目录</vt:lpstr>
      <vt:lpstr>PowerPoint 演示文稿</vt:lpstr>
      <vt:lpstr>例1：预测流感</vt:lpstr>
      <vt:lpstr>例2：人立方</vt:lpstr>
      <vt:lpstr>例3：Akinator</vt:lpstr>
      <vt:lpstr>例4：机器翻译</vt:lpstr>
      <vt:lpstr>机器翻译困难</vt:lpstr>
      <vt:lpstr>基于大数据的翻译方法</vt:lpstr>
      <vt:lpstr>例5：Chatgpt</vt:lpstr>
      <vt:lpstr>例6： AlphaGo</vt:lpstr>
      <vt:lpstr>其他</vt:lpstr>
      <vt:lpstr>为什么能工作</vt:lpstr>
      <vt:lpstr>PowerPoint 演示文稿</vt:lpstr>
      <vt:lpstr>网上1分钟，人间1万年</vt:lpstr>
      <vt:lpstr>数据信息的认识史就是人类的发展史</vt:lpstr>
      <vt:lpstr>迎接大数据时代的到来</vt:lpstr>
      <vt:lpstr>PowerPoint 演示文稿</vt:lpstr>
      <vt:lpstr>大数据的特征</vt:lpstr>
      <vt:lpstr>大数据的意义1：知著见微</vt:lpstr>
      <vt:lpstr>大数据的意义2：当下皆明</vt:lpstr>
      <vt:lpstr>大数据的意义3：辨讹晓意</vt:lpstr>
      <vt:lpstr>PowerPoint 演示文稿</vt:lpstr>
      <vt:lpstr>大数据思维</vt:lpstr>
      <vt:lpstr>大数据时代的新经验主义</vt:lpstr>
      <vt:lpstr>传统方法与大数据方法</vt:lpstr>
      <vt:lpstr>如何认识世界</vt:lpstr>
      <vt:lpstr>PowerPoint 演示文稿</vt:lpstr>
      <vt:lpstr>大数据分析</vt:lpstr>
      <vt:lpstr>研究范式</vt:lpstr>
      <vt:lpstr>大数据驱动的管理决策-科学问题范式</vt:lpstr>
      <vt:lpstr>大数据驱动的智能决策</vt:lpstr>
      <vt:lpstr>总结</vt:lpstr>
      <vt:lpstr>PowerPoint 演示文稿</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yuli</dc:creator>
  <cp:lastModifiedBy>yuli</cp:lastModifiedBy>
  <cp:revision>66</cp:revision>
  <dcterms:created xsi:type="dcterms:W3CDTF">2021-09-11T11:16:46Z</dcterms:created>
  <dcterms:modified xsi:type="dcterms:W3CDTF">2024-06-01T15:26:51Z</dcterms:modified>
</cp:coreProperties>
</file>