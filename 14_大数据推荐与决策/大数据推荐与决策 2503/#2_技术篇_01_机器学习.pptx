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6.jpg" ContentType="image/jpeg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81"/>
  </p:notesMasterIdLst>
  <p:handoutMasterIdLst>
    <p:handoutMasterId r:id="rId82"/>
  </p:handoutMasterIdLst>
  <p:sldIdLst>
    <p:sldId id="1125" r:id="rId2"/>
    <p:sldId id="1245" r:id="rId3"/>
    <p:sldId id="1246" r:id="rId4"/>
    <p:sldId id="1223" r:id="rId5"/>
    <p:sldId id="1224" r:id="rId6"/>
    <p:sldId id="1225" r:id="rId7"/>
    <p:sldId id="1226" r:id="rId8"/>
    <p:sldId id="1227" r:id="rId9"/>
    <p:sldId id="1228" r:id="rId10"/>
    <p:sldId id="1229" r:id="rId11"/>
    <p:sldId id="1230" r:id="rId12"/>
    <p:sldId id="1231" r:id="rId13"/>
    <p:sldId id="1232" r:id="rId14"/>
    <p:sldId id="1233" r:id="rId15"/>
    <p:sldId id="1234" r:id="rId16"/>
    <p:sldId id="1235" r:id="rId17"/>
    <p:sldId id="1236" r:id="rId18"/>
    <p:sldId id="1237" r:id="rId19"/>
    <p:sldId id="1238" r:id="rId20"/>
    <p:sldId id="1239" r:id="rId21"/>
    <p:sldId id="1240" r:id="rId22"/>
    <p:sldId id="1241" r:id="rId23"/>
    <p:sldId id="1242" r:id="rId24"/>
    <p:sldId id="1096" r:id="rId25"/>
    <p:sldId id="1097" r:id="rId26"/>
    <p:sldId id="1098" r:id="rId27"/>
    <p:sldId id="1202" r:id="rId28"/>
    <p:sldId id="1093" r:id="rId29"/>
    <p:sldId id="1127" r:id="rId30"/>
    <p:sldId id="1128" r:id="rId31"/>
    <p:sldId id="1203" r:id="rId32"/>
    <p:sldId id="1204" r:id="rId33"/>
    <p:sldId id="1205" r:id="rId34"/>
    <p:sldId id="1135" r:id="rId35"/>
    <p:sldId id="1206" r:id="rId36"/>
    <p:sldId id="1137" r:id="rId37"/>
    <p:sldId id="1138" r:id="rId38"/>
    <p:sldId id="1142" r:id="rId39"/>
    <p:sldId id="1207" r:id="rId40"/>
    <p:sldId id="1147" r:id="rId41"/>
    <p:sldId id="1208" r:id="rId42"/>
    <p:sldId id="1149" r:id="rId43"/>
    <p:sldId id="1209" r:id="rId44"/>
    <p:sldId id="1210" r:id="rId45"/>
    <p:sldId id="1155" r:id="rId46"/>
    <p:sldId id="1211" r:id="rId47"/>
    <p:sldId id="1212" r:id="rId48"/>
    <p:sldId id="1213" r:id="rId49"/>
    <p:sldId id="1214" r:id="rId50"/>
    <p:sldId id="1215" r:id="rId51"/>
    <p:sldId id="1216" r:id="rId52"/>
    <p:sldId id="1217" r:id="rId53"/>
    <p:sldId id="1218" r:id="rId54"/>
    <p:sldId id="1219" r:id="rId55"/>
    <p:sldId id="1220" r:id="rId56"/>
    <p:sldId id="1221" r:id="rId57"/>
    <p:sldId id="1199" r:id="rId58"/>
    <p:sldId id="1173" r:id="rId59"/>
    <p:sldId id="1174" r:id="rId60"/>
    <p:sldId id="1175" r:id="rId61"/>
    <p:sldId id="1176" r:id="rId62"/>
    <p:sldId id="1177" r:id="rId63"/>
    <p:sldId id="1178" r:id="rId64"/>
    <p:sldId id="1180" r:id="rId65"/>
    <p:sldId id="1181" r:id="rId66"/>
    <p:sldId id="1201" r:id="rId67"/>
    <p:sldId id="1186" r:id="rId68"/>
    <p:sldId id="1187" r:id="rId69"/>
    <p:sldId id="1188" r:id="rId70"/>
    <p:sldId id="1189" r:id="rId71"/>
    <p:sldId id="1200" r:id="rId72"/>
    <p:sldId id="1191" r:id="rId73"/>
    <p:sldId id="1192" r:id="rId74"/>
    <p:sldId id="1193" r:id="rId75"/>
    <p:sldId id="1194" r:id="rId76"/>
    <p:sldId id="1195" r:id="rId77"/>
    <p:sldId id="1196" r:id="rId78"/>
    <p:sldId id="1197" r:id="rId79"/>
    <p:sldId id="1198" r:id="rId8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FFCC"/>
    <a:srgbClr val="2DE3B8"/>
    <a:srgbClr val="56E8C5"/>
    <a:srgbClr val="3BE5BD"/>
    <a:srgbClr val="35E2EB"/>
    <a:srgbClr val="00CC00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22" autoAdjust="0"/>
  </p:normalViewPr>
  <p:slideViewPr>
    <p:cSldViewPr>
      <p:cViewPr varScale="1">
        <p:scale>
          <a:sx n="65" d="100"/>
          <a:sy n="65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70ADB2-1A07-4EFA-B6B4-D5C43CDECD3C}" type="doc">
      <dgm:prSet loTypeId="urn:microsoft.com/office/officeart/2005/8/layout/hProcess9" loCatId="process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4B88F05E-C82B-4F46-9F60-4F55EB62B865}">
      <dgm:prSet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pPr rtl="0"/>
          <a:r>
            <a:rPr lang="zh-CN" altLang="en-US" b="1" dirty="0" smtClean="0">
              <a:solidFill>
                <a:schemeClr val="tx1"/>
              </a:solidFill>
            </a:rPr>
            <a:t>表示</a:t>
          </a:r>
          <a:endParaRPr lang="en-US" altLang="zh-CN" b="1" dirty="0" smtClean="0">
            <a:solidFill>
              <a:schemeClr val="tx1"/>
            </a:solidFill>
          </a:endParaRPr>
        </a:p>
        <a:p>
          <a:pPr rtl="0"/>
          <a:r>
            <a:rPr lang="en-US" altLang="zh-CN" dirty="0" smtClean="0">
              <a:solidFill>
                <a:schemeClr val="tx1"/>
              </a:solidFill>
            </a:rPr>
            <a:t>(Representation)</a:t>
          </a:r>
        </a:p>
      </dgm:t>
    </dgm:pt>
    <dgm:pt modelId="{B8CF3230-F6BC-443F-9CE1-B6F052EAA678}" type="parTrans" cxnId="{5B2A762A-CF61-4DC9-9B1F-C43EBE8FF2F9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7FCDBB50-36C0-4ECA-B9B9-4191FD649D8D}" type="sibTrans" cxnId="{5B2A762A-CF61-4DC9-9B1F-C43EBE8FF2F9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8F92804-26FA-4EBA-8DEC-F94584D8938C}">
      <dgm:prSet custT="1"/>
      <dgm:spPr/>
      <dgm:t>
        <a:bodyPr/>
        <a:lstStyle/>
        <a:p>
          <a:pPr rtl="0"/>
          <a:r>
            <a:rPr lang="zh-CN" sz="2400" b="1" dirty="0" smtClean="0">
              <a:solidFill>
                <a:schemeClr val="tx1"/>
              </a:solidFill>
            </a:rPr>
            <a:t>训练</a:t>
          </a:r>
          <a:endParaRPr lang="en-US" altLang="zh-CN" sz="2400" b="1" dirty="0" smtClean="0">
            <a:solidFill>
              <a:schemeClr val="tx1"/>
            </a:solidFill>
          </a:endParaRPr>
        </a:p>
        <a:p>
          <a:pPr rtl="0"/>
          <a:r>
            <a:rPr lang="en-US" sz="2400" dirty="0" smtClean="0">
              <a:solidFill>
                <a:schemeClr val="tx1"/>
              </a:solidFill>
            </a:rPr>
            <a:t>(Training/Learning)</a:t>
          </a:r>
          <a:endParaRPr lang="zh-CN" sz="2400" dirty="0">
            <a:solidFill>
              <a:schemeClr val="tx1"/>
            </a:solidFill>
          </a:endParaRPr>
        </a:p>
      </dgm:t>
    </dgm:pt>
    <dgm:pt modelId="{2A4834F5-09BE-4A30-9556-3DC32E981ABF}" type="parTrans" cxnId="{D992CF68-6692-43BB-9E74-AA153AAA0D42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B6142F5-C415-489E-97C8-537E3C808125}" type="sibTrans" cxnId="{D992CF68-6692-43BB-9E74-AA153AAA0D42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B2B412C1-CDBD-46E6-819C-35D5A74FA007}">
      <dgm:prSet custT="1"/>
      <dgm:spPr/>
      <dgm:t>
        <a:bodyPr/>
        <a:lstStyle/>
        <a:p>
          <a:pPr rtl="0"/>
          <a:r>
            <a:rPr lang="zh-CN" sz="2400" b="1" dirty="0" smtClean="0">
              <a:solidFill>
                <a:schemeClr val="tx1"/>
              </a:solidFill>
            </a:rPr>
            <a:t>测试</a:t>
          </a:r>
          <a:endParaRPr lang="en-US" altLang="zh-CN" sz="2400" b="1" dirty="0" smtClean="0">
            <a:solidFill>
              <a:schemeClr val="tx1"/>
            </a:solidFill>
          </a:endParaRPr>
        </a:p>
        <a:p>
          <a:pPr rtl="0"/>
          <a:r>
            <a:rPr lang="en-US" sz="2400" dirty="0" smtClean="0">
              <a:solidFill>
                <a:schemeClr val="tx1"/>
              </a:solidFill>
            </a:rPr>
            <a:t>(Testing/Predicting/Inference)</a:t>
          </a:r>
          <a:endParaRPr lang="zh-CN" sz="2400" dirty="0">
            <a:solidFill>
              <a:schemeClr val="tx1"/>
            </a:solidFill>
          </a:endParaRPr>
        </a:p>
      </dgm:t>
    </dgm:pt>
    <dgm:pt modelId="{A8C7924E-7A81-49C1-AE22-EDD3FDFA5869}" type="parTrans" cxnId="{330A179C-9BCD-4C70-BF6D-70921D73C7CD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89E8B735-DC87-4ACB-85CE-2C96F60ADD85}" type="sibTrans" cxnId="{330A179C-9BCD-4C70-BF6D-70921D73C7CD}">
      <dgm:prSet/>
      <dgm:spPr/>
      <dgm:t>
        <a:bodyPr/>
        <a:lstStyle/>
        <a:p>
          <a:endParaRPr lang="zh-CN" altLang="en-US">
            <a:solidFill>
              <a:schemeClr val="tx1"/>
            </a:solidFill>
          </a:endParaRPr>
        </a:p>
      </dgm:t>
    </dgm:pt>
    <dgm:pt modelId="{A8BD8460-C1F2-46E2-B870-862B04482E18}" type="pres">
      <dgm:prSet presAssocID="{4C70ADB2-1A07-4EFA-B6B4-D5C43CDECD3C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967FC14-625F-45DA-8AB3-2A33E2AE6F18}" type="pres">
      <dgm:prSet presAssocID="{4C70ADB2-1A07-4EFA-B6B4-D5C43CDECD3C}" presName="arrow" presStyleLbl="bgShp" presStyleIdx="0" presStyleCnt="1"/>
      <dgm:spPr/>
    </dgm:pt>
    <dgm:pt modelId="{1D9E1826-030A-4ABD-B2FB-3DA171C5FB13}" type="pres">
      <dgm:prSet presAssocID="{4C70ADB2-1A07-4EFA-B6B4-D5C43CDECD3C}" presName="linearProcess" presStyleCnt="0"/>
      <dgm:spPr/>
    </dgm:pt>
    <dgm:pt modelId="{746A50DB-B9BA-4432-961E-95A04614FADE}" type="pres">
      <dgm:prSet presAssocID="{4B88F05E-C82B-4F46-9F60-4F55EB62B865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C49AD92-A0B7-4F07-BFC2-3EC7DB7E85A1}" type="pres">
      <dgm:prSet presAssocID="{7FCDBB50-36C0-4ECA-B9B9-4191FD649D8D}" presName="sibTrans" presStyleCnt="0"/>
      <dgm:spPr/>
    </dgm:pt>
    <dgm:pt modelId="{D709DEAE-F709-4900-8FC5-37D563A67456}" type="pres">
      <dgm:prSet presAssocID="{88F92804-26FA-4EBA-8DEC-F94584D8938C}" presName="textNode" presStyleLbl="node1" presStyleIdx="1" presStyleCnt="3" custScaleX="11131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4B757CC-A116-4B4E-B3C2-AC5A51D4A8B0}" type="pres">
      <dgm:prSet presAssocID="{BB6142F5-C415-489E-97C8-537E3C808125}" presName="sibTrans" presStyleCnt="0"/>
      <dgm:spPr/>
    </dgm:pt>
    <dgm:pt modelId="{7A597973-0DE6-4A5C-8D3D-6FDA09D15828}" type="pres">
      <dgm:prSet presAssocID="{B2B412C1-CDBD-46E6-819C-35D5A74FA007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B2A762A-CF61-4DC9-9B1F-C43EBE8FF2F9}" srcId="{4C70ADB2-1A07-4EFA-B6B4-D5C43CDECD3C}" destId="{4B88F05E-C82B-4F46-9F60-4F55EB62B865}" srcOrd="0" destOrd="0" parTransId="{B8CF3230-F6BC-443F-9CE1-B6F052EAA678}" sibTransId="{7FCDBB50-36C0-4ECA-B9B9-4191FD649D8D}"/>
    <dgm:cxn modelId="{330A179C-9BCD-4C70-BF6D-70921D73C7CD}" srcId="{4C70ADB2-1A07-4EFA-B6B4-D5C43CDECD3C}" destId="{B2B412C1-CDBD-46E6-819C-35D5A74FA007}" srcOrd="2" destOrd="0" parTransId="{A8C7924E-7A81-49C1-AE22-EDD3FDFA5869}" sibTransId="{89E8B735-DC87-4ACB-85CE-2C96F60ADD85}"/>
    <dgm:cxn modelId="{98B9C810-E903-4797-B10C-ED97AB07BDA2}" type="presOf" srcId="{4C70ADB2-1A07-4EFA-B6B4-D5C43CDECD3C}" destId="{A8BD8460-C1F2-46E2-B870-862B04482E18}" srcOrd="0" destOrd="0" presId="urn:microsoft.com/office/officeart/2005/8/layout/hProcess9"/>
    <dgm:cxn modelId="{D992CF68-6692-43BB-9E74-AA153AAA0D42}" srcId="{4C70ADB2-1A07-4EFA-B6B4-D5C43CDECD3C}" destId="{88F92804-26FA-4EBA-8DEC-F94584D8938C}" srcOrd="1" destOrd="0" parTransId="{2A4834F5-09BE-4A30-9556-3DC32E981ABF}" sibTransId="{BB6142F5-C415-489E-97C8-537E3C808125}"/>
    <dgm:cxn modelId="{A2A19965-55FC-407C-9C47-E7DE15F72CB0}" type="presOf" srcId="{88F92804-26FA-4EBA-8DEC-F94584D8938C}" destId="{D709DEAE-F709-4900-8FC5-37D563A67456}" srcOrd="0" destOrd="0" presId="urn:microsoft.com/office/officeart/2005/8/layout/hProcess9"/>
    <dgm:cxn modelId="{EEE00CA0-3F8F-406E-AD5B-1407278B1D71}" type="presOf" srcId="{B2B412C1-CDBD-46E6-819C-35D5A74FA007}" destId="{7A597973-0DE6-4A5C-8D3D-6FDA09D15828}" srcOrd="0" destOrd="0" presId="urn:microsoft.com/office/officeart/2005/8/layout/hProcess9"/>
    <dgm:cxn modelId="{F1F31B1A-55F4-4E2E-8BCB-A03961C8B783}" type="presOf" srcId="{4B88F05E-C82B-4F46-9F60-4F55EB62B865}" destId="{746A50DB-B9BA-4432-961E-95A04614FADE}" srcOrd="0" destOrd="0" presId="urn:microsoft.com/office/officeart/2005/8/layout/hProcess9"/>
    <dgm:cxn modelId="{D08C3D7C-DBBB-4078-8A7D-9F46B9DC7968}" type="presParOf" srcId="{A8BD8460-C1F2-46E2-B870-862B04482E18}" destId="{6967FC14-625F-45DA-8AB3-2A33E2AE6F18}" srcOrd="0" destOrd="0" presId="urn:microsoft.com/office/officeart/2005/8/layout/hProcess9"/>
    <dgm:cxn modelId="{E268FCCE-553B-4099-B88F-BB7A1A5CFDCE}" type="presParOf" srcId="{A8BD8460-C1F2-46E2-B870-862B04482E18}" destId="{1D9E1826-030A-4ABD-B2FB-3DA171C5FB13}" srcOrd="1" destOrd="0" presId="urn:microsoft.com/office/officeart/2005/8/layout/hProcess9"/>
    <dgm:cxn modelId="{9BF76582-4506-49EE-9530-4FB528342F70}" type="presParOf" srcId="{1D9E1826-030A-4ABD-B2FB-3DA171C5FB13}" destId="{746A50DB-B9BA-4432-961E-95A04614FADE}" srcOrd="0" destOrd="0" presId="urn:microsoft.com/office/officeart/2005/8/layout/hProcess9"/>
    <dgm:cxn modelId="{14D0F9E4-1A24-4909-8E45-9069F99B3D54}" type="presParOf" srcId="{1D9E1826-030A-4ABD-B2FB-3DA171C5FB13}" destId="{CC49AD92-A0B7-4F07-BFC2-3EC7DB7E85A1}" srcOrd="1" destOrd="0" presId="urn:microsoft.com/office/officeart/2005/8/layout/hProcess9"/>
    <dgm:cxn modelId="{3EEBC1B2-FE8D-410F-B6BC-C550DCF2D2F7}" type="presParOf" srcId="{1D9E1826-030A-4ABD-B2FB-3DA171C5FB13}" destId="{D709DEAE-F709-4900-8FC5-37D563A67456}" srcOrd="2" destOrd="0" presId="urn:microsoft.com/office/officeart/2005/8/layout/hProcess9"/>
    <dgm:cxn modelId="{DFFF4C8C-2629-42AE-8DCC-CFA4B8B20E15}" type="presParOf" srcId="{1D9E1826-030A-4ABD-B2FB-3DA171C5FB13}" destId="{C4B757CC-A116-4B4E-B3C2-AC5A51D4A8B0}" srcOrd="3" destOrd="0" presId="urn:microsoft.com/office/officeart/2005/8/layout/hProcess9"/>
    <dgm:cxn modelId="{8226C158-B748-41F2-A60A-5D4F3018240D}" type="presParOf" srcId="{1D9E1826-030A-4ABD-B2FB-3DA171C5FB13}" destId="{7A597973-0DE6-4A5C-8D3D-6FDA09D15828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67FC14-625F-45DA-8AB3-2A33E2AE6F18}">
      <dsp:nvSpPr>
        <dsp:cNvPr id="0" name=""/>
        <dsp:cNvSpPr/>
      </dsp:nvSpPr>
      <dsp:spPr>
        <a:xfrm>
          <a:off x="653472" y="0"/>
          <a:ext cx="7406022" cy="4351338"/>
        </a:xfrm>
        <a:prstGeom prst="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46A50DB-B9BA-4432-961E-95A04614FADE}">
      <dsp:nvSpPr>
        <dsp:cNvPr id="0" name=""/>
        <dsp:cNvSpPr/>
      </dsp:nvSpPr>
      <dsp:spPr>
        <a:xfrm>
          <a:off x="799" y="1305401"/>
          <a:ext cx="2684685" cy="1740535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500" b="1" kern="1200" dirty="0" smtClean="0">
              <a:solidFill>
                <a:schemeClr val="tx1"/>
              </a:solidFill>
            </a:rPr>
            <a:t>表示</a:t>
          </a:r>
          <a:endParaRPr lang="en-US" altLang="zh-CN" sz="2500" b="1" kern="1200" dirty="0" smtClean="0">
            <a:solidFill>
              <a:schemeClr val="tx1"/>
            </a:solidFill>
          </a:endParaRPr>
        </a:p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500" kern="1200" dirty="0" smtClean="0">
              <a:solidFill>
                <a:schemeClr val="tx1"/>
              </a:solidFill>
            </a:rPr>
            <a:t>(Representation)</a:t>
          </a:r>
        </a:p>
      </dsp:txBody>
      <dsp:txXfrm>
        <a:off x="85765" y="1390367"/>
        <a:ext cx="2514753" cy="1570603"/>
      </dsp:txXfrm>
    </dsp:sp>
    <dsp:sp modelId="{D709DEAE-F709-4900-8FC5-37D563A67456}">
      <dsp:nvSpPr>
        <dsp:cNvPr id="0" name=""/>
        <dsp:cNvSpPr/>
      </dsp:nvSpPr>
      <dsp:spPr>
        <a:xfrm>
          <a:off x="2862254" y="1305401"/>
          <a:ext cx="2988458" cy="1740535"/>
        </a:xfrm>
        <a:prstGeom prst="roundRect">
          <a:avLst/>
        </a:prstGeom>
        <a:gradFill rotWithShape="0">
          <a:gsLst>
            <a:gs pos="0">
              <a:schemeClr val="accent2">
                <a:hueOff val="-7200000"/>
                <a:satOff val="-25001"/>
                <a:lumOff val="30001"/>
                <a:alphaOff val="0"/>
                <a:shade val="51000"/>
                <a:satMod val="130000"/>
              </a:schemeClr>
            </a:gs>
            <a:gs pos="80000">
              <a:schemeClr val="accent2">
                <a:hueOff val="-7200000"/>
                <a:satOff val="-25001"/>
                <a:lumOff val="30001"/>
                <a:alphaOff val="0"/>
                <a:shade val="93000"/>
                <a:satMod val="130000"/>
              </a:schemeClr>
            </a:gs>
            <a:gs pos="100000">
              <a:schemeClr val="accent2">
                <a:hueOff val="-7200000"/>
                <a:satOff val="-25001"/>
                <a:lumOff val="3000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1" kern="1200" dirty="0" smtClean="0">
              <a:solidFill>
                <a:schemeClr val="tx1"/>
              </a:solidFill>
            </a:rPr>
            <a:t>训练</a:t>
          </a:r>
          <a:endParaRPr lang="en-US" altLang="zh-CN" sz="2400" b="1" kern="1200" dirty="0" smtClean="0">
            <a:solidFill>
              <a:schemeClr val="tx1"/>
            </a:solidFill>
          </a:endParaRPr>
        </a:p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</a:rPr>
            <a:t>(Training/Learning)</a:t>
          </a:r>
          <a:endParaRPr lang="zh-CN" sz="2400" kern="1200" dirty="0">
            <a:solidFill>
              <a:schemeClr val="tx1"/>
            </a:solidFill>
          </a:endParaRPr>
        </a:p>
      </dsp:txBody>
      <dsp:txXfrm>
        <a:off x="2947220" y="1390367"/>
        <a:ext cx="2818526" cy="1570603"/>
      </dsp:txXfrm>
    </dsp:sp>
    <dsp:sp modelId="{7A597973-0DE6-4A5C-8D3D-6FDA09D15828}">
      <dsp:nvSpPr>
        <dsp:cNvPr id="0" name=""/>
        <dsp:cNvSpPr/>
      </dsp:nvSpPr>
      <dsp:spPr>
        <a:xfrm>
          <a:off x="6027482" y="1305401"/>
          <a:ext cx="2684685" cy="1740535"/>
        </a:xfrm>
        <a:prstGeom prst="roundRect">
          <a:avLst/>
        </a:prstGeom>
        <a:gradFill rotWithShape="0">
          <a:gsLst>
            <a:gs pos="0">
              <a:schemeClr val="accent2">
                <a:hueOff val="-14400000"/>
                <a:satOff val="-50003"/>
                <a:lumOff val="60001"/>
                <a:alphaOff val="0"/>
                <a:shade val="51000"/>
                <a:satMod val="130000"/>
              </a:schemeClr>
            </a:gs>
            <a:gs pos="80000">
              <a:schemeClr val="accent2">
                <a:hueOff val="-14400000"/>
                <a:satOff val="-50003"/>
                <a:lumOff val="60001"/>
                <a:alphaOff val="0"/>
                <a:shade val="93000"/>
                <a:satMod val="130000"/>
              </a:schemeClr>
            </a:gs>
            <a:gs pos="100000">
              <a:schemeClr val="accent2">
                <a:hueOff val="-14400000"/>
                <a:satOff val="-50003"/>
                <a:lumOff val="60001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400" b="1" kern="1200" dirty="0" smtClean="0">
              <a:solidFill>
                <a:schemeClr val="tx1"/>
              </a:solidFill>
            </a:rPr>
            <a:t>测试</a:t>
          </a:r>
          <a:endParaRPr lang="en-US" altLang="zh-CN" sz="2400" b="1" kern="1200" dirty="0" smtClean="0">
            <a:solidFill>
              <a:schemeClr val="tx1"/>
            </a:solidFill>
          </a:endParaRPr>
        </a:p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chemeClr val="tx1"/>
              </a:solidFill>
            </a:rPr>
            <a:t>(Testing/Predicting/Inference)</a:t>
          </a:r>
          <a:endParaRPr lang="zh-CN" sz="2400" kern="1200" dirty="0">
            <a:solidFill>
              <a:schemeClr val="tx1"/>
            </a:solidFill>
          </a:endParaRPr>
        </a:p>
      </dsp:txBody>
      <dsp:txXfrm>
        <a:off x="6112448" y="1390367"/>
        <a:ext cx="2514753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5" name="矩形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6" name="矩形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3237" name="矩形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EF99D79-75DE-49ED-8806-60820F95F58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矩形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矩形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0" name="矩形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矩形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8678" name="矩形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latin typeface="Verdana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9" name="矩形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latin typeface="Verdan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ED3B4BA-DCD8-4F6D-A0E0-FDE7D729BE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88314F-8330-4E4D-8D15-53C958A252E6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219768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矩形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131CBF-14D3-4885-8520-868404A7D3F1}" type="slidenum">
              <a:rPr lang="en-US" altLang="zh-CN">
                <a:latin typeface="Verdana" panose="020B0604030504040204" pitchFamily="34" charset="0"/>
              </a:rPr>
              <a:pPr eaLnBrk="1" hangingPunct="1"/>
              <a:t>2</a:t>
            </a:fld>
            <a:endParaRPr lang="en-US" altLang="zh-CN">
              <a:latin typeface="Verdana" panose="020B0604030504040204" pitchFamily="34" charset="0"/>
            </a:endParaRPr>
          </a:p>
        </p:txBody>
      </p:sp>
      <p:sp>
        <p:nvSpPr>
          <p:cNvPr id="93187" name="矩形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矩形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74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 smtClean="0"/>
              <a:t>这里举的是一个有监督的例子，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最终目的就是使得计算机拥有和人类一样的学习能力。即使得计算机具有决策、推理、认知和识别等能力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007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Alphago</a:t>
            </a:r>
            <a:r>
              <a:rPr lang="zh-CN" alt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与李世石的比赛，目标</a:t>
            </a:r>
            <a:r>
              <a:rPr lang="zh-CN" altLang="en-US" sz="1200" b="0" i="0" u="none" strike="noStrike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检测，语音识别</a:t>
            </a:r>
            <a:endParaRPr lang="zh-CN" altLang="en-US" sz="1400" b="0" i="0" u="none" strike="noStrike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22092-480E-4C97-87D2-2B5C4EA5055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201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Y=k1x1+k2x2+…+k10x10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248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25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6033052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A2FE425C-E8C6-42B7-AC35-B57F8DB5BEF8}" type="slidenum">
              <a:rPr lang="en-US" smtClean="0">
                <a:ea typeface="黑体" pitchFamily="49" charset="-122"/>
              </a:rPr>
              <a:pPr/>
              <a:t>26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0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0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812249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28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4273609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30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304030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信款风险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1001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32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806450"/>
            <a:ext cx="5372100" cy="4029075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09472" y="5104077"/>
            <a:ext cx="5552097" cy="4830485"/>
          </a:xfrm>
          <a:noFill/>
          <a:ln/>
        </p:spPr>
        <p:txBody>
          <a:bodyPr wrap="none" anchor="ctr"/>
          <a:lstStyle/>
          <a:p>
            <a:pPr marL="0" lvl="1" defTabSz="990570">
              <a:defRPr/>
            </a:pPr>
            <a:r>
              <a:rPr lang="en-US" altLang="zh-CN" sz="3000" dirty="0">
                <a:solidFill>
                  <a:srgbClr val="FF0000"/>
                </a:solidFill>
              </a:rPr>
              <a:t>k</a:t>
            </a:r>
            <a:r>
              <a:rPr lang="zh-CN" altLang="en-US" sz="3000" dirty="0">
                <a:solidFill>
                  <a:srgbClr val="FF0000"/>
                </a:solidFill>
              </a:rPr>
              <a:t>折交叉验证</a:t>
            </a:r>
            <a:r>
              <a:rPr lang="zh-CN" altLang="en-US" sz="3000" dirty="0"/>
              <a:t>：将上述整个数据集划分成</a:t>
            </a:r>
            <a:r>
              <a:rPr lang="en-US" altLang="zh-CN" sz="3000" dirty="0"/>
              <a:t>k</a:t>
            </a:r>
            <a:r>
              <a:rPr lang="zh-CN" altLang="en-US" sz="3000" dirty="0"/>
              <a:t>份，然后以其中</a:t>
            </a:r>
            <a:r>
              <a:rPr lang="en-US" altLang="zh-CN" sz="3000" dirty="0"/>
              <a:t>k-1</a:t>
            </a:r>
            <a:r>
              <a:rPr lang="zh-CN" altLang="en-US" sz="3000" dirty="0"/>
              <a:t>份为训练集训练出一个分类器，并用于另一份</a:t>
            </a:r>
            <a:r>
              <a:rPr lang="en-US" altLang="zh-CN" sz="3000" dirty="0"/>
              <a:t>(</a:t>
            </a:r>
            <a:r>
              <a:rPr lang="zh-CN" altLang="en-US" sz="3000" dirty="0"/>
              <a:t>测试集</a:t>
            </a:r>
            <a:r>
              <a:rPr lang="en-US" altLang="zh-CN" sz="3000" dirty="0"/>
              <a:t>)</a:t>
            </a:r>
            <a:r>
              <a:rPr lang="zh-CN" altLang="en-US" sz="3000" dirty="0"/>
              <a:t>，循环</a:t>
            </a:r>
            <a:r>
              <a:rPr lang="en-US" altLang="zh-CN" sz="3000" dirty="0"/>
              <a:t>k</a:t>
            </a:r>
            <a:r>
              <a:rPr lang="zh-CN" altLang="en-US" sz="3000" dirty="0"/>
              <a:t>次，将</a:t>
            </a:r>
            <a:r>
              <a:rPr lang="en-US" altLang="zh-CN" sz="3000" dirty="0"/>
              <a:t>k</a:t>
            </a:r>
            <a:r>
              <a:rPr lang="zh-CN" altLang="en-US" sz="3000" dirty="0"/>
              <a:t>次得到的评价指标进行平均。这种做法称为</a:t>
            </a:r>
            <a:r>
              <a:rPr lang="en-US" altLang="zh-CN" sz="3000" dirty="0">
                <a:solidFill>
                  <a:srgbClr val="FF0000"/>
                </a:solidFill>
              </a:rPr>
              <a:t>k</a:t>
            </a:r>
            <a:r>
              <a:rPr lang="zh-CN" altLang="en-US" sz="3000" dirty="0">
                <a:solidFill>
                  <a:srgbClr val="FF0000"/>
                </a:solidFill>
              </a:rPr>
              <a:t>折交叉验证</a:t>
            </a:r>
            <a:r>
              <a:rPr lang="en-US" altLang="zh-CN" sz="3000" dirty="0">
                <a:solidFill>
                  <a:srgbClr val="FF0000"/>
                </a:solidFill>
              </a:rPr>
              <a:t>(k-cross validation)</a:t>
            </a:r>
            <a:r>
              <a:rPr lang="zh-CN" altLang="en-US" sz="3000" dirty="0"/>
              <a:t>。如果</a:t>
            </a:r>
            <a:r>
              <a:rPr lang="en-US" altLang="zh-CN" sz="3000" dirty="0"/>
              <a:t>k=</a:t>
            </a:r>
            <a:r>
              <a:rPr lang="zh-CN" altLang="en-US" sz="3000" dirty="0"/>
              <a:t>数据集的大小，则称</a:t>
            </a:r>
            <a:r>
              <a:rPr lang="zh-CN" altLang="en-US" sz="3000" dirty="0">
                <a:solidFill>
                  <a:srgbClr val="FF0000"/>
                </a:solidFill>
              </a:rPr>
              <a:t>留一法</a:t>
            </a:r>
            <a:r>
              <a:rPr lang="en-US" altLang="zh-CN" sz="3000" dirty="0">
                <a:solidFill>
                  <a:srgbClr val="FF0000"/>
                </a:solidFill>
              </a:rPr>
              <a:t>(leave-one-out)</a:t>
            </a:r>
            <a:r>
              <a:rPr lang="zh-CN" altLang="en-US" sz="3000" dirty="0"/>
              <a:t>。</a:t>
            </a:r>
            <a:endParaRPr lang="en-US" altLang="zh-CN" sz="3000" dirty="0"/>
          </a:p>
          <a:p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592964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33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806450"/>
            <a:ext cx="5372100" cy="4029075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09472" y="5104077"/>
            <a:ext cx="5552097" cy="4830485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1421122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Y=k1x1+k2x2+…+k10x10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7480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37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9462257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8771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mtClean="0"/>
              <a:t>Content Model: Syskill &amp; Webert</a:t>
            </a:r>
            <a:endParaRPr lang="zh-CN" altLang="en-US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E71BFAD-C925-4DD7-8AC0-F43FDF286456}" type="slidenum">
              <a:rPr lang="en-GB" altLang="zh-CN" smtClean="0"/>
              <a:pPr>
                <a:defRPr/>
              </a:pPr>
              <a:t>41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560621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矩形 2055"/>
          <p:cNvSpPr>
            <a:spLocks noGrp="1" noChangeArrowheads="1"/>
          </p:cNvSpPr>
          <p:nvPr>
            <p:ph type="sldNum" sz="quarter" idx="5"/>
          </p:nvPr>
        </p:nvSpPr>
        <p:spPr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DF060E35-2BB9-4C2B-BADC-FC80D159045C}" type="slidenum">
              <a:rPr lang="en-GB" altLang="zh-CN" smtClean="0"/>
              <a:pPr>
                <a:defRPr/>
              </a:pPr>
              <a:t>42</a:t>
            </a:fld>
            <a:endParaRPr lang="en-GB" altLang="zh-CN" smtClean="0"/>
          </a:p>
        </p:txBody>
      </p:sp>
      <p:sp>
        <p:nvSpPr>
          <p:cNvPr id="289795" name="矩形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9796" name="矩形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11021" indent="-211021" eaLnBrk="1" hangingPunct="1"/>
            <a:r>
              <a:rPr lang="en-US" altLang="zh-CN" smtClean="0"/>
              <a:t>Entropy = -(9/14)log(9/14) –(5/14)log(5/14)= 0.9429</a:t>
            </a:r>
          </a:p>
          <a:p>
            <a:pPr marL="211021" indent="-211021" eaLnBrk="1" hangingPunct="1"/>
            <a:endParaRPr lang="en-US" altLang="zh-CN" smtClean="0"/>
          </a:p>
          <a:p>
            <a:pPr marL="211021" indent="-211021" eaLnBrk="1" hangingPunct="1"/>
            <a:r>
              <a:rPr lang="en-US" altLang="zh-CN" smtClean="0"/>
              <a:t>Fare l’esempio di un data set in cui un feature e’ esattamente uguale alla classe</a:t>
            </a:r>
          </a:p>
          <a:p>
            <a:pPr marL="211021" indent="-211021" eaLnBrk="1" hangingPunct="1"/>
            <a:endParaRPr lang="en-US" altLang="zh-CN" smtClean="0"/>
          </a:p>
          <a:p>
            <a:pPr marL="211021" indent="-211021" eaLnBrk="1" hangingPunct="1"/>
            <a:r>
              <a:rPr lang="en-US" altLang="zh-CN" smtClean="0"/>
              <a:t>A  B  CLASS</a:t>
            </a:r>
          </a:p>
          <a:p>
            <a:pPr marL="211021" indent="-211021" eaLnBrk="1" hangingPunct="1">
              <a:buFontTx/>
              <a:buAutoNum type="arabicPlain"/>
            </a:pPr>
            <a:r>
              <a:rPr lang="en-US" altLang="zh-CN" smtClean="0"/>
              <a:t> 0  1</a:t>
            </a:r>
          </a:p>
          <a:p>
            <a:pPr marL="211021" indent="-211021" eaLnBrk="1" hangingPunct="1"/>
            <a:r>
              <a:rPr lang="en-US" altLang="zh-CN" smtClean="0"/>
              <a:t>1  1  1</a:t>
            </a:r>
          </a:p>
          <a:p>
            <a:pPr marL="211021" indent="-211021" eaLnBrk="1" hangingPunct="1"/>
            <a:r>
              <a:rPr lang="en-US" altLang="zh-CN" smtClean="0"/>
              <a:t>0  0  0</a:t>
            </a:r>
          </a:p>
          <a:p>
            <a:pPr marL="211021" indent="-211021" eaLnBrk="1" hangingPunct="1"/>
            <a:r>
              <a:rPr lang="en-US" altLang="zh-CN" smtClean="0"/>
              <a:t>0  1  0</a:t>
            </a:r>
          </a:p>
        </p:txBody>
      </p:sp>
    </p:spTree>
    <p:extLst>
      <p:ext uri="{BB962C8B-B14F-4D97-AF65-F5344CB8AC3E}">
        <p14:creationId xmlns:p14="http://schemas.microsoft.com/office/powerpoint/2010/main" val="2701527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600" b="1" dirty="0"/>
              <a:t>C4.5 - </a:t>
            </a:r>
            <a:r>
              <a:rPr lang="zh-CN" altLang="zh-CN" sz="2600" b="1" dirty="0">
                <a:cs typeface="Helvetica" panose="020B0604020202020204" pitchFamily="34" charset="0"/>
              </a:rPr>
              <a:t>信息增益率</a:t>
            </a:r>
            <a:endParaRPr lang="en-US" altLang="zh-CN" sz="2600" b="1" dirty="0">
              <a:cs typeface="Helvetica" panose="020B0604020202020204" pitchFamily="34" charset="0"/>
            </a:endParaRPr>
          </a:p>
          <a:p>
            <a:endParaRPr lang="en-US" altLang="zh-CN" dirty="0" smtClean="0">
              <a:cs typeface="Helvetica" panose="020B0604020202020204" pitchFamily="34" charset="0"/>
            </a:endParaRPr>
          </a:p>
          <a:p>
            <a:endParaRPr lang="en-US" altLang="zh-CN" dirty="0" smtClean="0">
              <a:cs typeface="Helvetica" panose="020B0604020202020204" pitchFamily="34" charset="0"/>
            </a:endParaRPr>
          </a:p>
          <a:p>
            <a:r>
              <a:rPr lang="en-US" altLang="zh-CN" sz="2600" b="1" dirty="0"/>
              <a:t>CART - </a:t>
            </a:r>
            <a:r>
              <a:rPr lang="zh-CN" altLang="zh-CN" sz="2600" b="1" dirty="0">
                <a:latin typeface="等线" panose="02010600030101010101" pitchFamily="2" charset="-122"/>
                <a:cs typeface="Helvetica" panose="020B0604020202020204" pitchFamily="34" charset="0"/>
              </a:rPr>
              <a:t>基尼系数</a:t>
            </a:r>
            <a:endParaRPr lang="en-US" altLang="zh-CN" sz="2600" b="1" dirty="0"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r>
              <a:rPr lang="zh-CN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表示在样本集合中一个随机选中的样本被分错的概率。</a:t>
            </a:r>
            <a:endParaRPr lang="en-US" altLang="zh-CN" dirty="0" smtClean="0"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r>
              <a:rPr lang="zh-CN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一个袋子有</a:t>
            </a:r>
            <a:r>
              <a:rPr lang="en-US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3</a:t>
            </a:r>
            <a:r>
              <a:rPr lang="zh-CN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种颜色的球，伸手进去掏出</a:t>
            </a:r>
            <a:r>
              <a:rPr lang="en-US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2</a:t>
            </a:r>
            <a:r>
              <a:rPr lang="zh-CN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个球，颜色不一样的概率</a:t>
            </a:r>
            <a:endParaRPr lang="en-US" altLang="zh-CN" dirty="0" smtClean="0"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endParaRPr lang="en-US" altLang="zh-CN" dirty="0" smtClean="0">
              <a:solidFill>
                <a:srgbClr val="333333"/>
              </a:solidFill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r>
              <a:rPr lang="en-US" altLang="zh-CN" dirty="0" smtClean="0">
                <a:solidFill>
                  <a:srgbClr val="333333"/>
                </a:solidFill>
                <a:latin typeface="等线" panose="02010600030101010101" pitchFamily="2" charset="-122"/>
                <a:cs typeface="Helvetica" panose="020B0604020202020204" pitchFamily="34" charset="0"/>
              </a:rPr>
              <a:t>Gini(D)</a:t>
            </a:r>
            <a:r>
              <a:rPr lang="zh-CN" altLang="zh-CN" dirty="0" smtClean="0">
                <a:solidFill>
                  <a:srgbClr val="333333"/>
                </a:solidFill>
                <a:latin typeface="等线" panose="02010600030101010101" pitchFamily="2" charset="-122"/>
                <a:cs typeface="Helvetica" panose="020B0604020202020204" pitchFamily="34" charset="0"/>
              </a:rPr>
              <a:t>越小，数据集</a:t>
            </a:r>
            <a:r>
              <a:rPr lang="en-US" altLang="zh-CN" dirty="0" smtClean="0">
                <a:solidFill>
                  <a:srgbClr val="333333"/>
                </a:solidFill>
                <a:latin typeface="等线" panose="02010600030101010101" pitchFamily="2" charset="-122"/>
                <a:cs typeface="Helvetica" panose="020B0604020202020204" pitchFamily="34" charset="0"/>
              </a:rPr>
              <a:t>D</a:t>
            </a:r>
            <a:r>
              <a:rPr lang="zh-CN" altLang="zh-CN" dirty="0" smtClean="0">
                <a:solidFill>
                  <a:srgbClr val="333333"/>
                </a:solidFill>
                <a:latin typeface="等线" panose="02010600030101010101" pitchFamily="2" charset="-122"/>
                <a:cs typeface="Helvetica" panose="020B0604020202020204" pitchFamily="34" charset="0"/>
              </a:rPr>
              <a:t>的纯度越高。</a:t>
            </a:r>
            <a:endParaRPr lang="zh-CN" altLang="zh-CN" sz="2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1341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47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806450"/>
            <a:ext cx="5372100" cy="4029075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09472" y="5104077"/>
            <a:ext cx="5552097" cy="4830485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3097889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48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806450"/>
            <a:ext cx="5372100" cy="4029075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09472" y="5104077"/>
            <a:ext cx="5552097" cy="4830485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3018286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黑体" pitchFamily="49" charset="-122"/>
              </a:rPr>
              <a:pPr/>
              <a:t>49</a:t>
            </a:fld>
            <a:endParaRPr lang="en-US" dirty="0" smtClean="0">
              <a:ea typeface="黑体" pitchFamily="49" charset="-122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1725" y="806450"/>
            <a:ext cx="5372100" cy="4029075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09472" y="5104077"/>
            <a:ext cx="5552097" cy="4830485"/>
          </a:xfrm>
          <a:noFill/>
          <a:ln/>
        </p:spPr>
        <p:txBody>
          <a:bodyPr wrap="none" anchor="ctr"/>
          <a:lstStyle/>
          <a:p>
            <a:endParaRPr lang="de-DE" smtClean="0"/>
          </a:p>
        </p:txBody>
      </p:sp>
    </p:spTree>
    <p:extLst>
      <p:ext uri="{BB962C8B-B14F-4D97-AF65-F5344CB8AC3E}">
        <p14:creationId xmlns:p14="http://schemas.microsoft.com/office/powerpoint/2010/main" val="27290432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sklearn.model_selection</a:t>
            </a:r>
            <a:endParaRPr lang="en-US" altLang="zh-CN" dirty="0" smtClean="0"/>
          </a:p>
          <a:p>
            <a:r>
              <a:rPr lang="en-US" altLang="zh-CN" dirty="0" smtClean="0"/>
              <a:t>import </a:t>
            </a:r>
            <a:r>
              <a:rPr lang="en-US" altLang="zh-CN" dirty="0" err="1" smtClean="0"/>
              <a:t>cross_val_scorefrom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sklearn.datasets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load_iris</a:t>
            </a:r>
            <a:endParaRPr lang="en-US" altLang="zh-CN" dirty="0" smtClean="0"/>
          </a:p>
          <a:p>
            <a:r>
              <a:rPr lang="en-US" altLang="zh-CN" dirty="0" smtClean="0"/>
              <a:t>from </a:t>
            </a:r>
            <a:r>
              <a:rPr lang="en-US" altLang="zh-CN" dirty="0" err="1" smtClean="0"/>
              <a:t>sklearn.ensemble</a:t>
            </a:r>
            <a:r>
              <a:rPr lang="en-US" altLang="zh-CN" dirty="0" smtClean="0"/>
              <a:t> import </a:t>
            </a:r>
            <a:r>
              <a:rPr lang="en-US" altLang="zh-CN" dirty="0" err="1" smtClean="0"/>
              <a:t>AdaBoostClassifier</a:t>
            </a:r>
            <a:endParaRPr lang="en-US" altLang="zh-CN" dirty="0" smtClean="0"/>
          </a:p>
          <a:p>
            <a:r>
              <a:rPr lang="en-US" altLang="zh-CN" dirty="0" smtClean="0"/>
              <a:t> </a:t>
            </a:r>
          </a:p>
          <a:p>
            <a:r>
              <a:rPr lang="en-US" altLang="zh-CN" dirty="0" smtClean="0"/>
              <a:t>iris = </a:t>
            </a:r>
            <a:r>
              <a:rPr lang="en-US" altLang="zh-CN" dirty="0" err="1" smtClean="0"/>
              <a:t>load_iris</a:t>
            </a:r>
            <a:r>
              <a:rPr lang="en-US" altLang="zh-CN" dirty="0" smtClean="0"/>
              <a:t>()</a:t>
            </a:r>
          </a:p>
          <a:p>
            <a:r>
              <a:rPr lang="en-US" altLang="zh-CN" dirty="0" err="1" smtClean="0"/>
              <a:t>clf</a:t>
            </a:r>
            <a:r>
              <a:rPr lang="en-US" altLang="zh-CN" dirty="0" smtClean="0"/>
              <a:t> = </a:t>
            </a:r>
            <a:r>
              <a:rPr lang="en-US" altLang="zh-CN" dirty="0" err="1" smtClean="0"/>
              <a:t>AdaBoostClassifier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n_estimators</a:t>
            </a:r>
            <a:r>
              <a:rPr lang="en-US" altLang="zh-CN" dirty="0" smtClean="0"/>
              <a:t>=100)</a:t>
            </a:r>
          </a:p>
          <a:p>
            <a:r>
              <a:rPr lang="en-US" altLang="zh-CN" dirty="0" smtClean="0"/>
              <a:t>scores = </a:t>
            </a:r>
            <a:r>
              <a:rPr lang="en-US" altLang="zh-CN" dirty="0" err="1" smtClean="0"/>
              <a:t>cross_val_score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clf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iris.data</a:t>
            </a:r>
            <a:r>
              <a:rPr lang="en-US" altLang="zh-CN" dirty="0" smtClean="0"/>
              <a:t>, </a:t>
            </a:r>
            <a:r>
              <a:rPr lang="en-US" altLang="zh-CN" dirty="0" err="1" smtClean="0"/>
              <a:t>iris.target</a:t>
            </a:r>
            <a:r>
              <a:rPr lang="en-US" altLang="zh-CN" dirty="0" smtClean="0"/>
              <a:t>)</a:t>
            </a:r>
          </a:p>
          <a:p>
            <a:r>
              <a:rPr lang="en-US" altLang="zh-CN" dirty="0" err="1" smtClean="0"/>
              <a:t>scores.mean</a:t>
            </a:r>
            <a:r>
              <a:rPr lang="en-US" altLang="zh-CN" dirty="0" smtClean="0"/>
              <a:t>()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6357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有个需要注意的是，如果直接用初级学习器的训练集来产生次级训练集，则过拟合风险比较大。一般的处理办法是使用交叉验证来做，以</a:t>
            </a:r>
            <a:r>
              <a:rPr lang="en-US" altLang="zh-CN" dirty="0" smtClean="0"/>
              <a:t>k</a:t>
            </a:r>
            <a:r>
              <a:rPr lang="zh-CN" altLang="en-US" dirty="0" smtClean="0"/>
              <a:t>折交叉验证为例，初始训练集</a:t>
            </a:r>
            <a:r>
              <a:rPr lang="en-US" altLang="zh-CN" dirty="0" smtClean="0"/>
              <a:t>D DD</a:t>
            </a:r>
            <a:r>
              <a:rPr lang="zh-CN" altLang="en-US" dirty="0" smtClean="0"/>
              <a:t>被随机划分为</a:t>
            </a:r>
            <a:r>
              <a:rPr lang="en-US" altLang="zh-CN" dirty="0" smtClean="0"/>
              <a:t>k </a:t>
            </a:r>
            <a:r>
              <a:rPr lang="en-US" altLang="zh-CN" dirty="0" err="1" smtClean="0"/>
              <a:t>kk</a:t>
            </a:r>
            <a:r>
              <a:rPr lang="zh-CN" altLang="en-US" dirty="0" smtClean="0"/>
              <a:t>个大小相等的数据集</a:t>
            </a:r>
            <a:r>
              <a:rPr lang="en-US" altLang="zh-CN" dirty="0" smtClean="0"/>
              <a:t>D = { D 1 , D 2 , . . . , D k } D = \{D_1,D_2,...,</a:t>
            </a:r>
            <a:r>
              <a:rPr lang="en-US" altLang="zh-CN" dirty="0" err="1" smtClean="0"/>
              <a:t>D_k</a:t>
            </a:r>
            <a:r>
              <a:rPr lang="en-US" altLang="zh-CN" dirty="0" smtClean="0"/>
              <a:t>\}D={D 1​ ,D 2​ ,...,D k​ }</a:t>
            </a:r>
            <a:r>
              <a:rPr lang="zh-CN" altLang="en-US" dirty="0" smtClean="0"/>
              <a:t>，假设</a:t>
            </a:r>
            <a:r>
              <a:rPr lang="en-US" altLang="zh-CN" dirty="0" smtClean="0"/>
              <a:t>D j </a:t>
            </a:r>
            <a:r>
              <a:rPr lang="en-US" altLang="zh-CN" dirty="0" err="1" smtClean="0"/>
              <a:t>D_jD</a:t>
            </a:r>
            <a:r>
              <a:rPr lang="en-US" altLang="zh-CN" dirty="0" smtClean="0"/>
              <a:t> j​ </a:t>
            </a:r>
            <a:r>
              <a:rPr lang="zh-CN" altLang="en-US" dirty="0" smtClean="0"/>
              <a:t>表示第</a:t>
            </a:r>
            <a:r>
              <a:rPr lang="en-US" altLang="zh-CN" dirty="0" smtClean="0"/>
              <a:t>j </a:t>
            </a:r>
            <a:r>
              <a:rPr lang="en-US" altLang="zh-CN" dirty="0" err="1" smtClean="0"/>
              <a:t>jj</a:t>
            </a:r>
            <a:r>
              <a:rPr lang="zh-CN" altLang="en-US" dirty="0" smtClean="0"/>
              <a:t>折的测试集，则</a:t>
            </a:r>
            <a:r>
              <a:rPr lang="en-US" altLang="zh-CN" dirty="0" smtClean="0"/>
              <a:t>D j ‾ = D ∖ D j \</a:t>
            </a:r>
            <a:r>
              <a:rPr lang="en-US" altLang="zh-CN" dirty="0" err="1" smtClean="0"/>
              <a:t>overline</a:t>
            </a:r>
            <a:r>
              <a:rPr lang="en-US" altLang="zh-CN" dirty="0" smtClean="0"/>
              <a:t>{</a:t>
            </a:r>
            <a:r>
              <a:rPr lang="en-US" altLang="zh-CN" dirty="0" err="1" smtClean="0"/>
              <a:t>D_j</a:t>
            </a:r>
            <a:r>
              <a:rPr lang="en-US" altLang="zh-CN" dirty="0" smtClean="0"/>
              <a:t>}=D \</a:t>
            </a:r>
            <a:r>
              <a:rPr lang="en-US" altLang="zh-CN" dirty="0" err="1" smtClean="0"/>
              <a:t>setminus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D_j</a:t>
            </a:r>
            <a:r>
              <a:rPr lang="en-US" altLang="zh-CN" dirty="0" smtClean="0"/>
              <a:t> D j​ ​ =D∖D j​ </a:t>
            </a:r>
            <a:r>
              <a:rPr lang="zh-CN" altLang="en-US" dirty="0" smtClean="0"/>
              <a:t>表示第</a:t>
            </a:r>
            <a:r>
              <a:rPr lang="en-US" altLang="zh-CN" dirty="0" smtClean="0"/>
              <a:t>j </a:t>
            </a:r>
            <a:r>
              <a:rPr lang="en-US" altLang="zh-CN" dirty="0" err="1" smtClean="0"/>
              <a:t>jj</a:t>
            </a:r>
            <a:r>
              <a:rPr lang="zh-CN" altLang="en-US" dirty="0" smtClean="0"/>
              <a:t>折的训练集。给定</a:t>
            </a:r>
            <a:r>
              <a:rPr lang="en-US" altLang="zh-CN" dirty="0" smtClean="0"/>
              <a:t>T TT</a:t>
            </a:r>
            <a:r>
              <a:rPr lang="zh-CN" altLang="en-US" dirty="0" smtClean="0"/>
              <a:t>个初级学习算法，初级学习器</a:t>
            </a:r>
            <a:r>
              <a:rPr lang="en-US" altLang="zh-CN" dirty="0" smtClean="0"/>
              <a:t>h t ( j ) </a:t>
            </a:r>
            <a:r>
              <a:rPr lang="en-US" altLang="zh-CN" dirty="0" err="1" smtClean="0"/>
              <a:t>h_t</a:t>
            </a:r>
            <a:r>
              <a:rPr lang="en-US" altLang="zh-CN" dirty="0" smtClean="0"/>
              <a:t>^{(j)}h t(j)​ </a:t>
            </a:r>
            <a:r>
              <a:rPr lang="zh-CN" altLang="en-US" dirty="0" smtClean="0"/>
              <a:t>是第</a:t>
            </a:r>
            <a:r>
              <a:rPr lang="en-US" altLang="zh-CN" dirty="0" smtClean="0"/>
              <a:t>t </a:t>
            </a:r>
            <a:r>
              <a:rPr lang="en-US" altLang="zh-CN" dirty="0" err="1" smtClean="0"/>
              <a:t>tt</a:t>
            </a:r>
            <a:r>
              <a:rPr lang="zh-CN" altLang="en-US" dirty="0" smtClean="0"/>
              <a:t>个学习器在</a:t>
            </a:r>
            <a:r>
              <a:rPr lang="en-US" altLang="zh-CN" dirty="0" smtClean="0"/>
              <a:t>D j ‾ \</a:t>
            </a:r>
            <a:r>
              <a:rPr lang="en-US" altLang="zh-CN" dirty="0" err="1" smtClean="0"/>
              <a:t>overline</a:t>
            </a:r>
            <a:r>
              <a:rPr lang="en-US" altLang="zh-CN" dirty="0" smtClean="0"/>
              <a:t>{</a:t>
            </a:r>
            <a:r>
              <a:rPr lang="en-US" altLang="zh-CN" dirty="0" err="1" smtClean="0"/>
              <a:t>D_j</a:t>
            </a:r>
            <a:r>
              <a:rPr lang="en-US" altLang="zh-CN" dirty="0" smtClean="0"/>
              <a:t>} D j​ ​ </a:t>
            </a:r>
            <a:r>
              <a:rPr lang="zh-CN" altLang="en-US" dirty="0" smtClean="0"/>
              <a:t>上学习而得。对</a:t>
            </a:r>
            <a:r>
              <a:rPr lang="en-US" altLang="zh-CN" dirty="0" smtClean="0"/>
              <a:t>D j </a:t>
            </a:r>
            <a:r>
              <a:rPr lang="en-US" altLang="zh-CN" dirty="0" err="1" smtClean="0"/>
              <a:t>D_jD</a:t>
            </a:r>
            <a:r>
              <a:rPr lang="en-US" altLang="zh-CN" dirty="0" smtClean="0"/>
              <a:t> j​ </a:t>
            </a:r>
            <a:r>
              <a:rPr lang="zh-CN" altLang="en-US" dirty="0" smtClean="0"/>
              <a:t>中每个样本</a:t>
            </a:r>
            <a:r>
              <a:rPr lang="en-US" altLang="zh-CN" dirty="0" smtClean="0"/>
              <a:t>x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x_ix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</a:t>
            </a:r>
            <a:r>
              <a:rPr lang="zh-CN" altLang="en-US" dirty="0" smtClean="0"/>
              <a:t>，令</a:t>
            </a:r>
            <a:r>
              <a:rPr lang="en-US" altLang="zh-CN" dirty="0" smtClean="0"/>
              <a:t>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t = h t ( j ) ( x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) z_{it} = </a:t>
            </a:r>
            <a:r>
              <a:rPr lang="en-US" altLang="zh-CN" dirty="0" err="1" smtClean="0"/>
              <a:t>h_t</a:t>
            </a:r>
            <a:r>
              <a:rPr lang="en-US" altLang="zh-CN" dirty="0" smtClean="0"/>
              <a:t>^{(j)}(</a:t>
            </a:r>
            <a:r>
              <a:rPr lang="en-US" altLang="zh-CN" dirty="0" err="1" smtClean="0"/>
              <a:t>x_i</a:t>
            </a:r>
            <a:r>
              <a:rPr lang="en-US" altLang="zh-CN" dirty="0" smtClean="0"/>
              <a:t>)z it​ =h t(j)​ (x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)</a:t>
            </a:r>
            <a:r>
              <a:rPr lang="zh-CN" altLang="en-US" dirty="0" smtClean="0"/>
              <a:t>，则由</a:t>
            </a:r>
            <a:r>
              <a:rPr lang="en-US" altLang="zh-CN" dirty="0" smtClean="0"/>
              <a:t>x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x_ix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</a:t>
            </a:r>
            <a:r>
              <a:rPr lang="zh-CN" altLang="en-US" dirty="0" smtClean="0"/>
              <a:t>所产生的次级训练样本特征为</a:t>
            </a:r>
            <a:r>
              <a:rPr lang="en-US" altLang="zh-CN" dirty="0" smtClean="0"/>
              <a:t>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= ( 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1 , 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2 , . . . , 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T ) z_{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} = (z_{i1},z_{i2},...,z_{</a:t>
            </a:r>
            <a:r>
              <a:rPr lang="en-US" altLang="zh-CN" dirty="0" err="1" smtClean="0"/>
              <a:t>iT</a:t>
            </a:r>
            <a:r>
              <a:rPr lang="en-US" altLang="zh-CN" dirty="0" smtClean="0"/>
              <a:t>})z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=(z i1​ ,z i2​ ,...,z </a:t>
            </a:r>
            <a:r>
              <a:rPr lang="en-US" altLang="zh-CN" dirty="0" err="1" smtClean="0"/>
              <a:t>iT</a:t>
            </a:r>
            <a:r>
              <a:rPr lang="en-US" altLang="zh-CN" dirty="0" smtClean="0"/>
              <a:t>​ 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label</a:t>
            </a:r>
            <a:r>
              <a:rPr lang="zh-CN" altLang="en-US" dirty="0" smtClean="0"/>
              <a:t>为</a:t>
            </a:r>
            <a:r>
              <a:rPr lang="en-US" altLang="zh-CN" dirty="0" smtClean="0"/>
              <a:t>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y_iy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</a:t>
            </a:r>
            <a:r>
              <a:rPr lang="zh-CN" altLang="en-US" dirty="0" smtClean="0"/>
              <a:t>。因此，在整个交叉验证过程结束后，从这</a:t>
            </a:r>
            <a:r>
              <a:rPr lang="en-US" altLang="zh-CN" dirty="0" smtClean="0"/>
              <a:t>T TT</a:t>
            </a:r>
            <a:r>
              <a:rPr lang="zh-CN" altLang="en-US" dirty="0" smtClean="0"/>
              <a:t>个初级学习器产生的次级训练集是</a:t>
            </a:r>
            <a:r>
              <a:rPr lang="en-US" altLang="zh-CN" dirty="0" smtClean="0"/>
              <a:t>D ′ = { ( 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, 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) }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= 1 m D&amp;#x27; = \{(</a:t>
            </a:r>
            <a:r>
              <a:rPr lang="en-US" altLang="zh-CN" dirty="0" err="1" smtClean="0"/>
              <a:t>z_i,y_i</a:t>
            </a:r>
            <a:r>
              <a:rPr lang="en-US" altLang="zh-CN" dirty="0" smtClean="0"/>
              <a:t>)\}_{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=1}^</a:t>
            </a:r>
            <a:r>
              <a:rPr lang="en-US" altLang="zh-CN" dirty="0" err="1" smtClean="0"/>
              <a:t>mD</a:t>
            </a:r>
            <a:r>
              <a:rPr lang="en-US" altLang="zh-CN" dirty="0" smtClean="0"/>
              <a:t> ′ ={(z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,y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​ )}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=1m​ </a:t>
            </a:r>
            <a:r>
              <a:rPr lang="zh-CN" altLang="en-US" dirty="0" smtClean="0"/>
              <a:t>，然后将</a:t>
            </a:r>
            <a:r>
              <a:rPr lang="en-US" altLang="zh-CN" dirty="0" smtClean="0"/>
              <a:t>D ′ D&amp;#x27;D ′ </a:t>
            </a:r>
            <a:r>
              <a:rPr lang="zh-CN" altLang="en-US" dirty="0" smtClean="0"/>
              <a:t>用于训练次级学习器。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ED3B4BA-DCD8-4F6D-A0E0-FDE7D729BE48}" type="slidenum">
              <a:rPr lang="en-US" altLang="zh-CN" smtClean="0"/>
              <a:pPr>
                <a:defRPr/>
              </a:pPr>
              <a:t>78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6314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yu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7646" y="1085555"/>
            <a:ext cx="8627897" cy="5403216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459721"/>
      </p:ext>
    </p:extLst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u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0" y="77443"/>
            <a:ext cx="9144000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 b="0"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6911087"/>
      </p:ext>
    </p:extLst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u_全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7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24900786"/>
      </p:ext>
    </p:extLst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yu_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3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4" name="矩形 4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5" name="矩形 5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6" name="矩形 6"/>
          <p:cNvSpPr>
            <a:spLocks noChangeArrowheads="1"/>
          </p:cNvSpPr>
          <p:nvPr userDrawn="1"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95325" y="1196752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589061"/>
      </p:ext>
    </p:extLst>
  </p:cSld>
  <p:clrMapOvr>
    <a:masterClrMapping/>
  </p:clrMapOvr>
  <p:transition spd="slow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160463"/>
            <a:ext cx="4038600" cy="49657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60463"/>
            <a:ext cx="4038600" cy="49657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29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95250"/>
            <a:ext cx="9144000" cy="9366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212850"/>
            <a:ext cx="8229600" cy="5256213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121929142"/>
      </p:ext>
    </p:extLst>
  </p:cSld>
  <p:clrMapOvr>
    <a:masterClrMapping/>
  </p:clrMapOvr>
  <p:transition>
    <p:pull dir="r"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矩形 6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1" name="矩形 7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2" name="矩形 8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3" name="矩形 9"/>
          <p:cNvSpPr>
            <a:spLocks noChangeArrowheads="1"/>
          </p:cNvSpPr>
          <p:nvPr/>
        </p:nvSpPr>
        <p:spPr bwMode="auto">
          <a:xfrm>
            <a:off x="4010025" y="32527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r" eaLnBrk="1" hangingPunct="1">
              <a:defRPr/>
            </a:pPr>
            <a:endParaRPr lang="zh-CN" altLang="en-US" smtClean="0"/>
          </a:p>
        </p:txBody>
      </p:sp>
      <p:sp>
        <p:nvSpPr>
          <p:cNvPr id="1034" name="矩形 10"/>
          <p:cNvSpPr>
            <a:spLocks noChangeArrowheads="1"/>
          </p:cNvSpPr>
          <p:nvPr/>
        </p:nvSpPr>
        <p:spPr bwMode="gray">
          <a:xfrm>
            <a:off x="304800" y="980728"/>
            <a:ext cx="8410575" cy="46037"/>
          </a:xfrm>
          <a:prstGeom prst="rect">
            <a:avLst/>
          </a:prstGeom>
          <a:gradFill rotWithShape="1">
            <a:gsLst>
              <a:gs pos="0">
                <a:srgbClr val="800000">
                  <a:alpha val="50000"/>
                </a:srgbClr>
              </a:gs>
              <a:gs pos="100000">
                <a:srgbClr val="FAE2F6">
                  <a:alpha val="50000"/>
                </a:srgbClr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 smtClean="0">
              <a:latin typeface="Book Antiqua" panose="02040602050305030304" pitchFamily="18" charset="0"/>
              <a:ea typeface="宋体" panose="02010600030101010101" pitchFamily="2" charset="-122"/>
            </a:endParaRPr>
          </a:p>
        </p:txBody>
      </p:sp>
      <p:pic>
        <p:nvPicPr>
          <p:cNvPr id="1035" name="图片 25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950" y="3414713"/>
            <a:ext cx="38100" cy="2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矩形 14"/>
          <p:cNvSpPr txBox="1">
            <a:spLocks noChangeArrowheads="1"/>
          </p:cNvSpPr>
          <p:nvPr userDrawn="1"/>
        </p:nvSpPr>
        <p:spPr bwMode="auto">
          <a:xfrm>
            <a:off x="7010400" y="6434062"/>
            <a:ext cx="2133600" cy="406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FC3A4C"/>
                </a:solidFill>
                <a:latin typeface="Book Antiqua" panose="02040602050305030304" pitchFamily="18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000" b="1" kern="120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pPr>
              <a:defRPr/>
            </a:pPr>
            <a:fld id="{AA8CF565-2697-4D8A-9440-517CC2056E4B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3" r:id="rId1"/>
    <p:sldLayoutId id="2147484566" r:id="rId2"/>
    <p:sldLayoutId id="2147484567" r:id="rId3"/>
    <p:sldLayoutId id="2147484565" r:id="rId4"/>
    <p:sldLayoutId id="2147484569" r:id="rId5"/>
    <p:sldLayoutId id="2147484570" r:id="rId6"/>
  </p:sldLayoutIdLst>
  <p:transition spd="slow">
    <p:circle/>
  </p:transition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200" b="0">
          <a:solidFill>
            <a:srgbClr val="FF0000"/>
          </a:solidFill>
          <a:effectLst/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800" b="1">
          <a:solidFill>
            <a:srgbClr val="FF0000"/>
          </a:solidFill>
          <a:effectLst>
            <a:outerShdw blurRad="38100" dist="38100" dir="2700000" algn="tl">
              <a:srgbClr val="C0C0C0"/>
            </a:outerShdw>
          </a:effectLst>
          <a:latin typeface="Book Antiqua" pitchFamily="18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2D7693"/>
        </a:buClr>
        <a:buSzPct val="70000"/>
        <a:buFont typeface="Wingdings" panose="05000000000000000000" pitchFamily="2" charset="2"/>
        <a:buChar char="n"/>
        <a:defRPr sz="24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FC3A4C"/>
        </a:buClr>
        <a:buSzPct val="70000"/>
        <a:buFont typeface="Wingdings" panose="05000000000000000000" pitchFamily="2" charset="2"/>
        <a:buChar char="Ø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0FF"/>
        </a:buClr>
        <a:buSzPct val="70000"/>
        <a:buFont typeface="Wingdings" panose="05000000000000000000" pitchFamily="2" charset="2"/>
        <a:buChar char="l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p"/>
        <a:defRPr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p"/>
        <a:defRPr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hyperlink" Target="mailto:liang.li@ict.ac.c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1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9.wmf"/><Relationship Id="rId4" Type="http://schemas.openxmlformats.org/officeDocument/2006/relationships/oleObject" Target="../embeddings/oleObject2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gif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7" Type="http://schemas.openxmlformats.org/officeDocument/2006/relationships/image" Target="../media/image65.gi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jpeg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6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eg"/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9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Box 3"/>
          <p:cNvSpPr txBox="1">
            <a:spLocks noChangeArrowheads="1"/>
          </p:cNvSpPr>
          <p:nvPr/>
        </p:nvSpPr>
        <p:spPr bwMode="auto">
          <a:xfrm>
            <a:off x="367867" y="1729092"/>
            <a:ext cx="842493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None/>
            </a:pPr>
            <a:r>
              <a:rPr lang="zh-CN" altLang="en-US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第</a:t>
            </a:r>
            <a:r>
              <a:rPr lang="en-US" altLang="zh-CN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1</a:t>
            </a:r>
            <a:r>
              <a:rPr lang="zh-CN" altLang="en-US" sz="5400" dirty="0" smtClean="0">
                <a:solidFill>
                  <a:srgbClr val="FF0000"/>
                </a:solidFill>
                <a:latin typeface="华文中宋" panose="02010600040101010101" pitchFamily="2" charset="-122"/>
              </a:rPr>
              <a:t>讲 机器学习</a:t>
            </a:r>
            <a:endParaRPr lang="zh-CN" altLang="en-US" sz="5400" dirty="0">
              <a:solidFill>
                <a:srgbClr val="FF0000"/>
              </a:solidFill>
              <a:latin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79512" y="337201"/>
            <a:ext cx="489654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Aft>
                <a:spcPts val="1800"/>
              </a:spcAft>
            </a:pP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大数据推荐与决策 </a:t>
            </a:r>
            <a:r>
              <a:rPr lang="en-US" altLang="zh-CN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(</a:t>
            </a: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二</a:t>
            </a:r>
            <a:r>
              <a:rPr lang="en-US" altLang="zh-CN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) </a:t>
            </a:r>
            <a:r>
              <a:rPr lang="zh-CN" altLang="en-US" sz="2400" dirty="0" smtClean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技术篇</a:t>
            </a:r>
            <a:endParaRPr lang="en-US" altLang="zh-CN" sz="2400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sp>
        <p:nvSpPr>
          <p:cNvPr id="8" name="TextBox 3"/>
          <p:cNvSpPr txBox="1">
            <a:spLocks noChangeArrowheads="1"/>
          </p:cNvSpPr>
          <p:nvPr/>
        </p:nvSpPr>
        <p:spPr bwMode="auto">
          <a:xfrm>
            <a:off x="539552" y="3298626"/>
            <a:ext cx="8001223" cy="3154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1pPr>
            <a:lvl2pPr marL="742950" indent="-285750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sz="5400" dirty="0" smtClean="0">
                <a:latin typeface="华文中宋" panose="02010600040101010101" pitchFamily="2" charset="-122"/>
              </a:rPr>
              <a:t>余力 </a:t>
            </a:r>
            <a:r>
              <a:rPr lang="zh-CN" altLang="en-US" sz="4000" dirty="0" smtClean="0">
                <a:latin typeface="华文中宋" panose="02010600040101010101" pitchFamily="2" charset="-122"/>
              </a:rPr>
              <a:t>博士</a:t>
            </a:r>
            <a:endParaRPr lang="en-US" altLang="zh-CN" sz="4000" dirty="0" smtClean="0">
              <a:latin typeface="华文中宋" panose="02010600040101010101" pitchFamily="2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 smtClean="0">
                <a:latin typeface="仿宋" panose="02010609060101010101" pitchFamily="49" charset="-122"/>
                <a:ea typeface="仿宋" panose="02010609060101010101" pitchFamily="49" charset="-122"/>
              </a:rPr>
              <a:t>教授、博士生导师</a:t>
            </a:r>
            <a:endParaRPr lang="en-US" altLang="zh-CN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大数据分析与智能决策实验室  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spcAft>
                <a:spcPts val="1800"/>
              </a:spcAft>
              <a:buClrTx/>
              <a:buSzTx/>
              <a:buFontTx/>
              <a:buNone/>
            </a:pPr>
            <a:r>
              <a:rPr lang="en-US" altLang="zh-CN" sz="3600" b="0" dirty="0" smtClean="0">
                <a:latin typeface="+mn-lt"/>
              </a:rPr>
              <a:t>buaayuli@ruc.edu.cn</a:t>
            </a:r>
          </a:p>
        </p:txBody>
      </p:sp>
    </p:spTree>
    <p:extLst>
      <p:ext uri="{BB962C8B-B14F-4D97-AF65-F5344CB8AC3E}">
        <p14:creationId xmlns:p14="http://schemas.microsoft.com/office/powerpoint/2010/main" val="69561052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目录</a:t>
            </a:r>
          </a:p>
        </p:txBody>
      </p:sp>
      <p:sp>
        <p:nvSpPr>
          <p:cNvPr id="12291" name="矩形 3"/>
          <p:cNvSpPr>
            <a:spLocks noGrp="1" noChangeArrowheads="1"/>
          </p:cNvSpPr>
          <p:nvPr>
            <p:ph idx="1"/>
          </p:nvPr>
        </p:nvSpPr>
        <p:spPr>
          <a:xfrm>
            <a:off x="2771800" y="1413024"/>
            <a:ext cx="5184775" cy="5040312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sz="3200" b="0" dirty="0" smtClean="0"/>
              <a:t>概述</a:t>
            </a:r>
            <a:endParaRPr lang="en-US" altLang="zh-CN" sz="3200" b="0" dirty="0" smtClean="0"/>
          </a:p>
          <a:p>
            <a:pPr eaLnBrk="1" hangingPunct="1">
              <a:lnSpc>
                <a:spcPct val="200000"/>
              </a:lnSpc>
            </a:pPr>
            <a:r>
              <a:rPr lang="zh-CN" altLang="en-US" sz="3200" dirty="0" smtClean="0"/>
              <a:t>聚类分析</a:t>
            </a:r>
            <a:endParaRPr lang="en-US" altLang="zh-CN" sz="3200" dirty="0" smtClean="0"/>
          </a:p>
          <a:p>
            <a:pPr eaLnBrk="1" hangingPunct="1">
              <a:lnSpc>
                <a:spcPct val="200000"/>
              </a:lnSpc>
            </a:pPr>
            <a:r>
              <a:rPr lang="zh-CN" altLang="en-US" sz="3200" b="0" dirty="0" smtClean="0"/>
              <a:t>分类预测</a:t>
            </a:r>
            <a:endParaRPr lang="en-US" altLang="zh-CN" sz="3200" b="0" dirty="0" smtClean="0"/>
          </a:p>
          <a:p>
            <a:pPr eaLnBrk="1" hangingPunct="1">
              <a:lnSpc>
                <a:spcPct val="200000"/>
              </a:lnSpc>
            </a:pPr>
            <a:r>
              <a:rPr lang="zh-CN" altLang="en-US" sz="3200" dirty="0" smtClean="0"/>
              <a:t>集成学习</a:t>
            </a:r>
            <a:endParaRPr lang="en-US" altLang="zh-CN" sz="3200" b="0" dirty="0" smtClean="0"/>
          </a:p>
          <a:p>
            <a:pPr eaLnBrk="1" hangingPunct="1">
              <a:lnSpc>
                <a:spcPct val="200000"/>
              </a:lnSpc>
            </a:pPr>
            <a:endParaRPr lang="zh-CN" altLang="en-US" sz="3200" b="0" dirty="0" smtClean="0"/>
          </a:p>
        </p:txBody>
      </p:sp>
    </p:spTree>
    <p:extLst>
      <p:ext uri="{BB962C8B-B14F-4D97-AF65-F5344CB8AC3E}">
        <p14:creationId xmlns:p14="http://schemas.microsoft.com/office/powerpoint/2010/main" val="375721787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机器学习概述</a:t>
            </a:r>
            <a:endParaRPr lang="zh-CN" altLang="en-US" sz="5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3263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851063" y="260648"/>
            <a:ext cx="2954655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dirty="0"/>
              <a:t>人类学习过程</a:t>
            </a:r>
          </a:p>
        </p:txBody>
      </p:sp>
      <p:grpSp>
        <p:nvGrpSpPr>
          <p:cNvPr id="14" name="组合 15"/>
          <p:cNvGrpSpPr/>
          <p:nvPr/>
        </p:nvGrpSpPr>
        <p:grpSpPr>
          <a:xfrm>
            <a:off x="2790043" y="1484784"/>
            <a:ext cx="2283459" cy="2101340"/>
            <a:chOff x="926446" y="1741376"/>
            <a:chExt cx="2701946" cy="2701946"/>
          </a:xfrm>
        </p:grpSpPr>
        <p:sp>
          <p:nvSpPr>
            <p:cNvPr id="15" name="椭圆 14"/>
            <p:cNvSpPr/>
            <p:nvPr/>
          </p:nvSpPr>
          <p:spPr>
            <a:xfrm>
              <a:off x="926446" y="1741376"/>
              <a:ext cx="2701946" cy="2701946"/>
            </a:xfrm>
            <a:prstGeom prst="ellipse">
              <a:avLst/>
            </a:pr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  <a:ln w="190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5400000" scaled="1"/>
              </a:gradFill>
            </a:ln>
            <a:effectLst>
              <a:outerShdw blurRad="279400" dist="152400" dir="2700000" sx="102000" sy="102000" algn="tl" rotWithShape="0">
                <a:prstClr val="black">
                  <a:alpha val="28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16" name="圆角矩形 15"/>
            <p:cNvSpPr/>
            <p:nvPr/>
          </p:nvSpPr>
          <p:spPr>
            <a:xfrm>
              <a:off x="1278052" y="2092982"/>
              <a:ext cx="1998734" cy="1998734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100000">
                  <a:schemeClr val="bg1"/>
                </a:gs>
                <a:gs pos="0">
                  <a:srgbClr val="B8BBBC"/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44790" y="2259720"/>
              <a:ext cx="1665258" cy="1665258"/>
            </a:xfrm>
            <a:prstGeom prst="ellipse">
              <a:avLst/>
            </a:prstGeom>
            <a:blipFill>
              <a:blip r:embed="rId2" cstate="screen"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18" name="组合 12"/>
          <p:cNvGrpSpPr/>
          <p:nvPr/>
        </p:nvGrpSpPr>
        <p:grpSpPr>
          <a:xfrm>
            <a:off x="948761" y="4063969"/>
            <a:ext cx="1857064" cy="1670039"/>
            <a:chOff x="4982374" y="2208496"/>
            <a:chExt cx="2227648" cy="2227648"/>
          </a:xfrm>
          <a:solidFill>
            <a:schemeClr val="accent6">
              <a:lumMod val="60000"/>
              <a:lumOff val="40000"/>
            </a:schemeClr>
          </a:solidFill>
          <a:effectLst>
            <a:outerShdw blurRad="101600" dist="508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椭圆 18"/>
            <p:cNvSpPr/>
            <p:nvPr/>
          </p:nvSpPr>
          <p:spPr>
            <a:xfrm>
              <a:off x="4982374" y="2208496"/>
              <a:ext cx="2227648" cy="22276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accent5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20" name="Group 35"/>
            <p:cNvGrpSpPr>
              <a:grpSpLocks noChangeAspect="1"/>
            </p:cNvGrpSpPr>
            <p:nvPr/>
          </p:nvGrpSpPr>
          <p:grpSpPr bwMode="auto">
            <a:xfrm>
              <a:off x="5112459" y="2218471"/>
              <a:ext cx="2016983" cy="1955861"/>
              <a:chOff x="3477" y="1809"/>
              <a:chExt cx="726" cy="704"/>
            </a:xfrm>
            <a:grpFill/>
          </p:grpSpPr>
          <p:sp>
            <p:nvSpPr>
              <p:cNvPr id="21" name="Freeform 36"/>
              <p:cNvSpPr/>
              <p:nvPr/>
            </p:nvSpPr>
            <p:spPr bwMode="auto">
              <a:xfrm>
                <a:off x="3928" y="1833"/>
                <a:ext cx="15" cy="12"/>
              </a:xfrm>
              <a:custGeom>
                <a:avLst/>
                <a:gdLst>
                  <a:gd name="T0" fmla="*/ 5 w 6"/>
                  <a:gd name="T1" fmla="*/ 0 h 5"/>
                  <a:gd name="T2" fmla="*/ 0 w 6"/>
                  <a:gd name="T3" fmla="*/ 0 h 5"/>
                  <a:gd name="T4" fmla="*/ 0 w 6"/>
                  <a:gd name="T5" fmla="*/ 3 h 5"/>
                  <a:gd name="T6" fmla="*/ 0 w 6"/>
                  <a:gd name="T7" fmla="*/ 4 h 5"/>
                  <a:gd name="T8" fmla="*/ 0 w 6"/>
                  <a:gd name="T9" fmla="*/ 5 h 5"/>
                  <a:gd name="T10" fmla="*/ 1 w 6"/>
                  <a:gd name="T11" fmla="*/ 5 h 5"/>
                  <a:gd name="T12" fmla="*/ 5 w 6"/>
                  <a:gd name="T13" fmla="*/ 5 h 5"/>
                  <a:gd name="T14" fmla="*/ 6 w 6"/>
                  <a:gd name="T15" fmla="*/ 5 h 5"/>
                  <a:gd name="T16" fmla="*/ 6 w 6"/>
                  <a:gd name="T17" fmla="*/ 5 h 5"/>
                  <a:gd name="T18" fmla="*/ 6 w 6"/>
                  <a:gd name="T19" fmla="*/ 5 h 5"/>
                  <a:gd name="T20" fmla="*/ 6 w 6"/>
                  <a:gd name="T21" fmla="*/ 4 h 5"/>
                  <a:gd name="T22" fmla="*/ 6 w 6"/>
                  <a:gd name="T23" fmla="*/ 3 h 5"/>
                  <a:gd name="T24" fmla="*/ 6 w 6"/>
                  <a:gd name="T25" fmla="*/ 3 h 5"/>
                  <a:gd name="T26" fmla="*/ 5 w 6"/>
                  <a:gd name="T27" fmla="*/ 2 h 5"/>
                  <a:gd name="T28" fmla="*/ 5 w 6"/>
                  <a:gd name="T29" fmla="*/ 2 h 5"/>
                  <a:gd name="T30" fmla="*/ 5 w 6"/>
                  <a:gd name="T31" fmla="*/ 1 h 5"/>
                  <a:gd name="T32" fmla="*/ 5 w 6"/>
                  <a:gd name="T33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" h="5">
                    <a:moveTo>
                      <a:pt x="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4"/>
                      <a:pt x="6" y="4"/>
                      <a:pt x="6" y="3"/>
                    </a:cubicBezTo>
                    <a:cubicBezTo>
                      <a:pt x="6" y="3"/>
                      <a:pt x="6" y="3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5" y="0"/>
                      <a:pt x="5" y="0"/>
                      <a:pt x="5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2" name="Freeform 37"/>
              <p:cNvSpPr/>
              <p:nvPr/>
            </p:nvSpPr>
            <p:spPr bwMode="auto">
              <a:xfrm>
                <a:off x="3928" y="1840"/>
                <a:ext cx="34" cy="33"/>
              </a:xfrm>
              <a:custGeom>
                <a:avLst/>
                <a:gdLst>
                  <a:gd name="T0" fmla="*/ 7 w 14"/>
                  <a:gd name="T1" fmla="*/ 0 h 14"/>
                  <a:gd name="T2" fmla="*/ 6 w 14"/>
                  <a:gd name="T3" fmla="*/ 0 h 14"/>
                  <a:gd name="T4" fmla="*/ 6 w 14"/>
                  <a:gd name="T5" fmla="*/ 1 h 14"/>
                  <a:gd name="T6" fmla="*/ 6 w 14"/>
                  <a:gd name="T7" fmla="*/ 2 h 14"/>
                  <a:gd name="T8" fmla="*/ 6 w 14"/>
                  <a:gd name="T9" fmla="*/ 2 h 14"/>
                  <a:gd name="T10" fmla="*/ 6 w 14"/>
                  <a:gd name="T11" fmla="*/ 2 h 14"/>
                  <a:gd name="T12" fmla="*/ 5 w 14"/>
                  <a:gd name="T13" fmla="*/ 3 h 14"/>
                  <a:gd name="T14" fmla="*/ 5 w 14"/>
                  <a:gd name="T15" fmla="*/ 3 h 14"/>
                  <a:gd name="T16" fmla="*/ 4 w 14"/>
                  <a:gd name="T17" fmla="*/ 3 h 14"/>
                  <a:gd name="T18" fmla="*/ 4 w 14"/>
                  <a:gd name="T19" fmla="*/ 3 h 14"/>
                  <a:gd name="T20" fmla="*/ 3 w 14"/>
                  <a:gd name="T21" fmla="*/ 3 h 14"/>
                  <a:gd name="T22" fmla="*/ 3 w 14"/>
                  <a:gd name="T23" fmla="*/ 4 h 14"/>
                  <a:gd name="T24" fmla="*/ 3 w 14"/>
                  <a:gd name="T25" fmla="*/ 4 h 14"/>
                  <a:gd name="T26" fmla="*/ 3 w 14"/>
                  <a:gd name="T27" fmla="*/ 4 h 14"/>
                  <a:gd name="T28" fmla="*/ 3 w 14"/>
                  <a:gd name="T29" fmla="*/ 4 h 14"/>
                  <a:gd name="T30" fmla="*/ 2 w 14"/>
                  <a:gd name="T31" fmla="*/ 4 h 14"/>
                  <a:gd name="T32" fmla="*/ 1 w 14"/>
                  <a:gd name="T33" fmla="*/ 4 h 14"/>
                  <a:gd name="T34" fmla="*/ 0 w 14"/>
                  <a:gd name="T35" fmla="*/ 5 h 14"/>
                  <a:gd name="T36" fmla="*/ 0 w 14"/>
                  <a:gd name="T37" fmla="*/ 6 h 14"/>
                  <a:gd name="T38" fmla="*/ 0 w 14"/>
                  <a:gd name="T39" fmla="*/ 6 h 14"/>
                  <a:gd name="T40" fmla="*/ 0 w 14"/>
                  <a:gd name="T41" fmla="*/ 9 h 14"/>
                  <a:gd name="T42" fmla="*/ 1 w 14"/>
                  <a:gd name="T43" fmla="*/ 9 h 14"/>
                  <a:gd name="T44" fmla="*/ 1 w 14"/>
                  <a:gd name="T45" fmla="*/ 9 h 14"/>
                  <a:gd name="T46" fmla="*/ 1 w 14"/>
                  <a:gd name="T47" fmla="*/ 9 h 14"/>
                  <a:gd name="T48" fmla="*/ 1 w 14"/>
                  <a:gd name="T49" fmla="*/ 9 h 14"/>
                  <a:gd name="T50" fmla="*/ 1 w 14"/>
                  <a:gd name="T51" fmla="*/ 11 h 14"/>
                  <a:gd name="T52" fmla="*/ 2 w 14"/>
                  <a:gd name="T53" fmla="*/ 11 h 14"/>
                  <a:gd name="T54" fmla="*/ 3 w 14"/>
                  <a:gd name="T55" fmla="*/ 11 h 14"/>
                  <a:gd name="T56" fmla="*/ 3 w 14"/>
                  <a:gd name="T57" fmla="*/ 11 h 14"/>
                  <a:gd name="T58" fmla="*/ 3 w 14"/>
                  <a:gd name="T59" fmla="*/ 11 h 14"/>
                  <a:gd name="T60" fmla="*/ 3 w 14"/>
                  <a:gd name="T61" fmla="*/ 13 h 14"/>
                  <a:gd name="T62" fmla="*/ 5 w 14"/>
                  <a:gd name="T63" fmla="*/ 13 h 14"/>
                  <a:gd name="T64" fmla="*/ 6 w 14"/>
                  <a:gd name="T65" fmla="*/ 14 h 14"/>
                  <a:gd name="T66" fmla="*/ 7 w 14"/>
                  <a:gd name="T67" fmla="*/ 14 h 14"/>
                  <a:gd name="T68" fmla="*/ 9 w 14"/>
                  <a:gd name="T69" fmla="*/ 13 h 14"/>
                  <a:gd name="T70" fmla="*/ 10 w 14"/>
                  <a:gd name="T71" fmla="*/ 13 h 14"/>
                  <a:gd name="T72" fmla="*/ 10 w 14"/>
                  <a:gd name="T73" fmla="*/ 12 h 14"/>
                  <a:gd name="T74" fmla="*/ 11 w 14"/>
                  <a:gd name="T75" fmla="*/ 12 h 14"/>
                  <a:gd name="T76" fmla="*/ 12 w 14"/>
                  <a:gd name="T77" fmla="*/ 12 h 14"/>
                  <a:gd name="T78" fmla="*/ 13 w 14"/>
                  <a:gd name="T79" fmla="*/ 8 h 14"/>
                  <a:gd name="T80" fmla="*/ 13 w 14"/>
                  <a:gd name="T81" fmla="*/ 7 h 14"/>
                  <a:gd name="T82" fmla="*/ 12 w 14"/>
                  <a:gd name="T83" fmla="*/ 5 h 14"/>
                  <a:gd name="T84" fmla="*/ 12 w 14"/>
                  <a:gd name="T85" fmla="*/ 5 h 14"/>
                  <a:gd name="T86" fmla="*/ 12 w 14"/>
                  <a:gd name="T87" fmla="*/ 5 h 14"/>
                  <a:gd name="T88" fmla="*/ 13 w 14"/>
                  <a:gd name="T89" fmla="*/ 4 h 14"/>
                  <a:gd name="T90" fmla="*/ 13 w 14"/>
                  <a:gd name="T91" fmla="*/ 2 h 14"/>
                  <a:gd name="T92" fmla="*/ 13 w 14"/>
                  <a:gd name="T93" fmla="*/ 2 h 14"/>
                  <a:gd name="T94" fmla="*/ 12 w 14"/>
                  <a:gd name="T95" fmla="*/ 2 h 14"/>
                  <a:gd name="T96" fmla="*/ 12 w 14"/>
                  <a:gd name="T97" fmla="*/ 1 h 14"/>
                  <a:gd name="T98" fmla="*/ 11 w 14"/>
                  <a:gd name="T99" fmla="*/ 1 h 14"/>
                  <a:gd name="T100" fmla="*/ 8 w 14"/>
                  <a:gd name="T101" fmla="*/ 0 h 14"/>
                  <a:gd name="T102" fmla="*/ 8 w 14"/>
                  <a:gd name="T103" fmla="*/ 0 h 14"/>
                  <a:gd name="T104" fmla="*/ 7 w 14"/>
                  <a:gd name="T105" fmla="*/ 0 h 14"/>
                  <a:gd name="T106" fmla="*/ 7 w 14"/>
                  <a:gd name="T107" fmla="*/ 0 h 14"/>
                  <a:gd name="T108" fmla="*/ 7 w 14"/>
                  <a:gd name="T10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4" h="14">
                    <a:moveTo>
                      <a:pt x="7" y="0"/>
                    </a:moveTo>
                    <a:cubicBezTo>
                      <a:pt x="7" y="0"/>
                      <a:pt x="6" y="0"/>
                      <a:pt x="6" y="0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0" y="5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9"/>
                      <a:pt x="1" y="9"/>
                      <a:pt x="1" y="9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3" y="13"/>
                    </a:cubicBezTo>
                    <a:cubicBezTo>
                      <a:pt x="4" y="13"/>
                      <a:pt x="5" y="13"/>
                      <a:pt x="5" y="13"/>
                    </a:cubicBezTo>
                    <a:cubicBezTo>
                      <a:pt x="6" y="14"/>
                      <a:pt x="6" y="14"/>
                      <a:pt x="6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8" y="14"/>
                      <a:pt x="9" y="13"/>
                      <a:pt x="9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2"/>
                      <a:pt x="10" y="12"/>
                      <a:pt x="10" y="12"/>
                    </a:cubicBezTo>
                    <a:cubicBezTo>
                      <a:pt x="11" y="12"/>
                      <a:pt x="11" y="12"/>
                      <a:pt x="11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3" y="11"/>
                      <a:pt x="14" y="9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6"/>
                      <a:pt x="12" y="6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3" y="5"/>
                      <a:pt x="13" y="5"/>
                      <a:pt x="13" y="4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3" y="2"/>
                      <a:pt x="13" y="2"/>
                      <a:pt x="13" y="2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0" y="0"/>
                      <a:pt x="9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3" name="Freeform 38"/>
              <p:cNvSpPr/>
              <p:nvPr/>
            </p:nvSpPr>
            <p:spPr bwMode="auto">
              <a:xfrm>
                <a:off x="3959" y="1847"/>
                <a:ext cx="22" cy="19"/>
              </a:xfrm>
              <a:custGeom>
                <a:avLst/>
                <a:gdLst>
                  <a:gd name="T0" fmla="*/ 4 w 9"/>
                  <a:gd name="T1" fmla="*/ 0 h 8"/>
                  <a:gd name="T2" fmla="*/ 0 w 9"/>
                  <a:gd name="T3" fmla="*/ 1 h 8"/>
                  <a:gd name="T4" fmla="*/ 0 w 9"/>
                  <a:gd name="T5" fmla="*/ 2 h 8"/>
                  <a:gd name="T6" fmla="*/ 1 w 9"/>
                  <a:gd name="T7" fmla="*/ 3 h 8"/>
                  <a:gd name="T8" fmla="*/ 2 w 9"/>
                  <a:gd name="T9" fmla="*/ 4 h 8"/>
                  <a:gd name="T10" fmla="*/ 3 w 9"/>
                  <a:gd name="T11" fmla="*/ 5 h 8"/>
                  <a:gd name="T12" fmla="*/ 3 w 9"/>
                  <a:gd name="T13" fmla="*/ 6 h 8"/>
                  <a:gd name="T14" fmla="*/ 4 w 9"/>
                  <a:gd name="T15" fmla="*/ 6 h 8"/>
                  <a:gd name="T16" fmla="*/ 4 w 9"/>
                  <a:gd name="T17" fmla="*/ 6 h 8"/>
                  <a:gd name="T18" fmla="*/ 4 w 9"/>
                  <a:gd name="T19" fmla="*/ 7 h 8"/>
                  <a:gd name="T20" fmla="*/ 4 w 9"/>
                  <a:gd name="T21" fmla="*/ 7 h 8"/>
                  <a:gd name="T22" fmla="*/ 6 w 9"/>
                  <a:gd name="T23" fmla="*/ 7 h 8"/>
                  <a:gd name="T24" fmla="*/ 6 w 9"/>
                  <a:gd name="T25" fmla="*/ 8 h 8"/>
                  <a:gd name="T26" fmla="*/ 9 w 9"/>
                  <a:gd name="T27" fmla="*/ 6 h 8"/>
                  <a:gd name="T28" fmla="*/ 9 w 9"/>
                  <a:gd name="T29" fmla="*/ 3 h 8"/>
                  <a:gd name="T30" fmla="*/ 9 w 9"/>
                  <a:gd name="T31" fmla="*/ 2 h 8"/>
                  <a:gd name="T32" fmla="*/ 9 w 9"/>
                  <a:gd name="T33" fmla="*/ 1 h 8"/>
                  <a:gd name="T34" fmla="*/ 8 w 9"/>
                  <a:gd name="T35" fmla="*/ 1 h 8"/>
                  <a:gd name="T36" fmla="*/ 7 w 9"/>
                  <a:gd name="T37" fmla="*/ 1 h 8"/>
                  <a:gd name="T38" fmla="*/ 7 w 9"/>
                  <a:gd name="T39" fmla="*/ 1 h 8"/>
                  <a:gd name="T40" fmla="*/ 7 w 9"/>
                  <a:gd name="T41" fmla="*/ 1 h 8"/>
                  <a:gd name="T42" fmla="*/ 8 w 9"/>
                  <a:gd name="T43" fmla="*/ 0 h 8"/>
                  <a:gd name="T44" fmla="*/ 7 w 9"/>
                  <a:gd name="T45" fmla="*/ 0 h 8"/>
                  <a:gd name="T46" fmla="*/ 5 w 9"/>
                  <a:gd name="T47" fmla="*/ 0 h 8"/>
                  <a:gd name="T48" fmla="*/ 4 w 9"/>
                  <a:gd name="T4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9" h="8">
                    <a:moveTo>
                      <a:pt x="4" y="0"/>
                    </a:moveTo>
                    <a:cubicBezTo>
                      <a:pt x="3" y="0"/>
                      <a:pt x="1" y="0"/>
                      <a:pt x="0" y="1"/>
                    </a:cubicBezTo>
                    <a:cubicBezTo>
                      <a:pt x="0" y="1"/>
                      <a:pt x="0" y="2"/>
                      <a:pt x="0" y="2"/>
                    </a:cubicBezTo>
                    <a:cubicBezTo>
                      <a:pt x="0" y="3"/>
                      <a:pt x="0" y="3"/>
                      <a:pt x="1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3" y="5"/>
                      <a:pt x="3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8"/>
                      <a:pt x="8" y="7"/>
                      <a:pt x="9" y="6"/>
                    </a:cubicBezTo>
                    <a:cubicBezTo>
                      <a:pt x="9" y="5"/>
                      <a:pt x="9" y="4"/>
                      <a:pt x="9" y="3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9" y="1"/>
                      <a:pt x="9" y="1"/>
                      <a:pt x="9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8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5" y="0"/>
                      <a:pt x="4" y="0"/>
                      <a:pt x="4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4" name="Freeform 39"/>
              <p:cNvSpPr/>
              <p:nvPr/>
            </p:nvSpPr>
            <p:spPr bwMode="auto">
              <a:xfrm>
                <a:off x="3959" y="1864"/>
                <a:ext cx="22" cy="14"/>
              </a:xfrm>
              <a:custGeom>
                <a:avLst/>
                <a:gdLst>
                  <a:gd name="T0" fmla="*/ 6 w 9"/>
                  <a:gd name="T1" fmla="*/ 0 h 6"/>
                  <a:gd name="T2" fmla="*/ 4 w 9"/>
                  <a:gd name="T3" fmla="*/ 0 h 6"/>
                  <a:gd name="T4" fmla="*/ 1 w 9"/>
                  <a:gd name="T5" fmla="*/ 0 h 6"/>
                  <a:gd name="T6" fmla="*/ 0 w 9"/>
                  <a:gd name="T7" fmla="*/ 1 h 6"/>
                  <a:gd name="T8" fmla="*/ 0 w 9"/>
                  <a:gd name="T9" fmla="*/ 2 h 6"/>
                  <a:gd name="T10" fmla="*/ 0 w 9"/>
                  <a:gd name="T11" fmla="*/ 2 h 6"/>
                  <a:gd name="T12" fmla="*/ 0 w 9"/>
                  <a:gd name="T13" fmla="*/ 5 h 6"/>
                  <a:gd name="T14" fmla="*/ 3 w 9"/>
                  <a:gd name="T15" fmla="*/ 5 h 6"/>
                  <a:gd name="T16" fmla="*/ 3 w 9"/>
                  <a:gd name="T17" fmla="*/ 6 h 6"/>
                  <a:gd name="T18" fmla="*/ 8 w 9"/>
                  <a:gd name="T19" fmla="*/ 6 h 6"/>
                  <a:gd name="T20" fmla="*/ 8 w 9"/>
                  <a:gd name="T21" fmla="*/ 6 h 6"/>
                  <a:gd name="T22" fmla="*/ 9 w 9"/>
                  <a:gd name="T23" fmla="*/ 6 h 6"/>
                  <a:gd name="T24" fmla="*/ 9 w 9"/>
                  <a:gd name="T25" fmla="*/ 5 h 6"/>
                  <a:gd name="T26" fmla="*/ 9 w 9"/>
                  <a:gd name="T27" fmla="*/ 5 h 6"/>
                  <a:gd name="T28" fmla="*/ 9 w 9"/>
                  <a:gd name="T29" fmla="*/ 3 h 6"/>
                  <a:gd name="T30" fmla="*/ 7 w 9"/>
                  <a:gd name="T31" fmla="*/ 2 h 6"/>
                  <a:gd name="T32" fmla="*/ 7 w 9"/>
                  <a:gd name="T33" fmla="*/ 2 h 6"/>
                  <a:gd name="T34" fmla="*/ 7 w 9"/>
                  <a:gd name="T35" fmla="*/ 2 h 6"/>
                  <a:gd name="T36" fmla="*/ 6 w 9"/>
                  <a:gd name="T37" fmla="*/ 2 h 6"/>
                  <a:gd name="T38" fmla="*/ 6 w 9"/>
                  <a:gd name="T39" fmla="*/ 1 h 6"/>
                  <a:gd name="T40" fmla="*/ 6 w 9"/>
                  <a:gd name="T41" fmla="*/ 1 h 6"/>
                  <a:gd name="T42" fmla="*/ 6 w 9"/>
                  <a:gd name="T43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" h="6">
                    <a:moveTo>
                      <a:pt x="6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8" y="6"/>
                      <a:pt x="9" y="6"/>
                      <a:pt x="9" y="6"/>
                    </a:cubicBezTo>
                    <a:cubicBezTo>
                      <a:pt x="9" y="6"/>
                      <a:pt x="9" y="5"/>
                      <a:pt x="9" y="5"/>
                    </a:cubicBezTo>
                    <a:cubicBezTo>
                      <a:pt x="9" y="5"/>
                      <a:pt x="9" y="5"/>
                      <a:pt x="9" y="5"/>
                    </a:cubicBezTo>
                    <a:cubicBezTo>
                      <a:pt x="9" y="4"/>
                      <a:pt x="9" y="4"/>
                      <a:pt x="9" y="3"/>
                    </a:cubicBezTo>
                    <a:cubicBezTo>
                      <a:pt x="9" y="2"/>
                      <a:pt x="8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0"/>
                      <a:pt x="6" y="0"/>
                      <a:pt x="6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5" name="Freeform 40"/>
              <p:cNvSpPr/>
              <p:nvPr/>
            </p:nvSpPr>
            <p:spPr bwMode="auto">
              <a:xfrm>
                <a:off x="3764" y="1809"/>
                <a:ext cx="81" cy="57"/>
              </a:xfrm>
              <a:custGeom>
                <a:avLst/>
                <a:gdLst>
                  <a:gd name="T0" fmla="*/ 14 w 34"/>
                  <a:gd name="T1" fmla="*/ 1 h 24"/>
                  <a:gd name="T2" fmla="*/ 2 w 34"/>
                  <a:gd name="T3" fmla="*/ 2 h 24"/>
                  <a:gd name="T4" fmla="*/ 2 w 34"/>
                  <a:gd name="T5" fmla="*/ 5 h 24"/>
                  <a:gd name="T6" fmla="*/ 4 w 34"/>
                  <a:gd name="T7" fmla="*/ 6 h 24"/>
                  <a:gd name="T8" fmla="*/ 4 w 34"/>
                  <a:gd name="T9" fmla="*/ 9 h 24"/>
                  <a:gd name="T10" fmla="*/ 4 w 34"/>
                  <a:gd name="T11" fmla="*/ 12 h 24"/>
                  <a:gd name="T12" fmla="*/ 3 w 34"/>
                  <a:gd name="T13" fmla="*/ 13 h 24"/>
                  <a:gd name="T14" fmla="*/ 0 w 34"/>
                  <a:gd name="T15" fmla="*/ 15 h 24"/>
                  <a:gd name="T16" fmla="*/ 0 w 34"/>
                  <a:gd name="T17" fmla="*/ 18 h 24"/>
                  <a:gd name="T18" fmla="*/ 2 w 34"/>
                  <a:gd name="T19" fmla="*/ 20 h 24"/>
                  <a:gd name="T20" fmla="*/ 5 w 34"/>
                  <a:gd name="T21" fmla="*/ 24 h 24"/>
                  <a:gd name="T22" fmla="*/ 11 w 34"/>
                  <a:gd name="T23" fmla="*/ 24 h 24"/>
                  <a:gd name="T24" fmla="*/ 13 w 34"/>
                  <a:gd name="T25" fmla="*/ 22 h 24"/>
                  <a:gd name="T26" fmla="*/ 14 w 34"/>
                  <a:gd name="T27" fmla="*/ 19 h 24"/>
                  <a:gd name="T28" fmla="*/ 15 w 34"/>
                  <a:gd name="T29" fmla="*/ 18 h 24"/>
                  <a:gd name="T30" fmla="*/ 16 w 34"/>
                  <a:gd name="T31" fmla="*/ 18 h 24"/>
                  <a:gd name="T32" fmla="*/ 17 w 34"/>
                  <a:gd name="T33" fmla="*/ 18 h 24"/>
                  <a:gd name="T34" fmla="*/ 21 w 34"/>
                  <a:gd name="T35" fmla="*/ 17 h 24"/>
                  <a:gd name="T36" fmla="*/ 21 w 34"/>
                  <a:gd name="T37" fmla="*/ 16 h 24"/>
                  <a:gd name="T38" fmla="*/ 22 w 34"/>
                  <a:gd name="T39" fmla="*/ 16 h 24"/>
                  <a:gd name="T40" fmla="*/ 25 w 34"/>
                  <a:gd name="T41" fmla="*/ 14 h 24"/>
                  <a:gd name="T42" fmla="*/ 28 w 34"/>
                  <a:gd name="T43" fmla="*/ 14 h 24"/>
                  <a:gd name="T44" fmla="*/ 29 w 34"/>
                  <a:gd name="T45" fmla="*/ 12 h 24"/>
                  <a:gd name="T46" fmla="*/ 29 w 34"/>
                  <a:gd name="T47" fmla="*/ 12 h 24"/>
                  <a:gd name="T48" fmla="*/ 31 w 34"/>
                  <a:gd name="T49" fmla="*/ 11 h 24"/>
                  <a:gd name="T50" fmla="*/ 31 w 34"/>
                  <a:gd name="T51" fmla="*/ 9 h 24"/>
                  <a:gd name="T52" fmla="*/ 31 w 34"/>
                  <a:gd name="T53" fmla="*/ 7 h 24"/>
                  <a:gd name="T54" fmla="*/ 33 w 34"/>
                  <a:gd name="T55" fmla="*/ 5 h 24"/>
                  <a:gd name="T56" fmla="*/ 34 w 34"/>
                  <a:gd name="T57" fmla="*/ 3 h 24"/>
                  <a:gd name="T58" fmla="*/ 34 w 34"/>
                  <a:gd name="T59" fmla="*/ 2 h 24"/>
                  <a:gd name="T60" fmla="*/ 32 w 34"/>
                  <a:gd name="T61" fmla="*/ 0 h 24"/>
                  <a:gd name="T62" fmla="*/ 27 w 34"/>
                  <a:gd name="T6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4" h="24">
                    <a:moveTo>
                      <a:pt x="27" y="0"/>
                    </a:moveTo>
                    <a:cubicBezTo>
                      <a:pt x="23" y="0"/>
                      <a:pt x="18" y="0"/>
                      <a:pt x="14" y="1"/>
                    </a:cubicBezTo>
                    <a:cubicBezTo>
                      <a:pt x="10" y="1"/>
                      <a:pt x="6" y="2"/>
                      <a:pt x="3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5"/>
                      <a:pt x="2" y="5"/>
                    </a:cubicBezTo>
                    <a:cubicBezTo>
                      <a:pt x="3" y="5"/>
                      <a:pt x="3" y="5"/>
                      <a:pt x="3" y="5"/>
                    </a:cubicBezTo>
                    <a:cubicBezTo>
                      <a:pt x="3" y="5"/>
                      <a:pt x="3" y="5"/>
                      <a:pt x="4" y="6"/>
                    </a:cubicBezTo>
                    <a:cubicBezTo>
                      <a:pt x="4" y="6"/>
                      <a:pt x="4" y="7"/>
                      <a:pt x="4" y="8"/>
                    </a:cubicBezTo>
                    <a:cubicBezTo>
                      <a:pt x="4" y="9"/>
                      <a:pt x="4" y="9"/>
                      <a:pt x="4" y="9"/>
                    </a:cubicBezTo>
                    <a:cubicBezTo>
                      <a:pt x="5" y="10"/>
                      <a:pt x="5" y="11"/>
                      <a:pt x="4" y="12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4" y="12"/>
                      <a:pt x="3" y="12"/>
                      <a:pt x="3" y="12"/>
                    </a:cubicBezTo>
                    <a:cubicBezTo>
                      <a:pt x="3" y="13"/>
                      <a:pt x="3" y="13"/>
                      <a:pt x="3" y="13"/>
                    </a:cubicBezTo>
                    <a:cubicBezTo>
                      <a:pt x="2" y="14"/>
                      <a:pt x="2" y="14"/>
                      <a:pt x="1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8"/>
                      <a:pt x="0" y="19"/>
                      <a:pt x="1" y="19"/>
                    </a:cubicBezTo>
                    <a:cubicBezTo>
                      <a:pt x="2" y="20"/>
                      <a:pt x="2" y="20"/>
                      <a:pt x="2" y="20"/>
                    </a:cubicBezTo>
                    <a:cubicBezTo>
                      <a:pt x="3" y="21"/>
                      <a:pt x="4" y="22"/>
                      <a:pt x="5" y="23"/>
                    </a:cubicBezTo>
                    <a:cubicBezTo>
                      <a:pt x="5" y="24"/>
                      <a:pt x="5" y="24"/>
                      <a:pt x="5" y="24"/>
                    </a:cubicBezTo>
                    <a:cubicBezTo>
                      <a:pt x="10" y="24"/>
                      <a:pt x="10" y="24"/>
                      <a:pt x="10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3" y="24"/>
                      <a:pt x="13" y="23"/>
                      <a:pt x="13" y="22"/>
                    </a:cubicBezTo>
                    <a:cubicBezTo>
                      <a:pt x="13" y="22"/>
                      <a:pt x="14" y="21"/>
                      <a:pt x="14" y="21"/>
                    </a:cubicBezTo>
                    <a:cubicBezTo>
                      <a:pt x="14" y="20"/>
                      <a:pt x="14" y="20"/>
                      <a:pt x="14" y="19"/>
                    </a:cubicBezTo>
                    <a:cubicBezTo>
                      <a:pt x="14" y="19"/>
                      <a:pt x="14" y="19"/>
                      <a:pt x="14" y="19"/>
                    </a:cubicBezTo>
                    <a:cubicBezTo>
                      <a:pt x="15" y="19"/>
                      <a:pt x="15" y="19"/>
                      <a:pt x="15" y="18"/>
                    </a:cubicBezTo>
                    <a:cubicBezTo>
                      <a:pt x="15" y="18"/>
                      <a:pt x="15" y="18"/>
                      <a:pt x="15" y="18"/>
                    </a:cubicBezTo>
                    <a:cubicBezTo>
                      <a:pt x="15" y="18"/>
                      <a:pt x="15" y="18"/>
                      <a:pt x="16" y="18"/>
                    </a:cubicBezTo>
                    <a:cubicBezTo>
                      <a:pt x="16" y="18"/>
                      <a:pt x="16" y="18"/>
                      <a:pt x="16" y="18"/>
                    </a:cubicBezTo>
                    <a:cubicBezTo>
                      <a:pt x="17" y="18"/>
                      <a:pt x="17" y="18"/>
                      <a:pt x="17" y="18"/>
                    </a:cubicBezTo>
                    <a:cubicBezTo>
                      <a:pt x="19" y="18"/>
                      <a:pt x="19" y="18"/>
                      <a:pt x="19" y="18"/>
                    </a:cubicBezTo>
                    <a:cubicBezTo>
                      <a:pt x="20" y="18"/>
                      <a:pt x="21" y="18"/>
                      <a:pt x="21" y="17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6"/>
                      <a:pt x="21" y="16"/>
                      <a:pt x="21" y="16"/>
                    </a:cubicBezTo>
                    <a:cubicBezTo>
                      <a:pt x="21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6"/>
                      <a:pt x="23" y="16"/>
                      <a:pt x="24" y="15"/>
                    </a:cubicBezTo>
                    <a:cubicBezTo>
                      <a:pt x="24" y="15"/>
                      <a:pt x="25" y="14"/>
                      <a:pt x="25" y="14"/>
                    </a:cubicBezTo>
                    <a:cubicBezTo>
                      <a:pt x="25" y="14"/>
                      <a:pt x="26" y="14"/>
                      <a:pt x="26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8" y="14"/>
                      <a:pt x="28" y="14"/>
                      <a:pt x="28" y="14"/>
                    </a:cubicBezTo>
                    <a:cubicBezTo>
                      <a:pt x="29" y="14"/>
                      <a:pt x="29" y="13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29" y="12"/>
                      <a:pt x="29" y="12"/>
                      <a:pt x="29" y="12"/>
                    </a:cubicBezTo>
                    <a:cubicBezTo>
                      <a:pt x="30" y="12"/>
                      <a:pt x="30" y="12"/>
                      <a:pt x="30" y="12"/>
                    </a:cubicBezTo>
                    <a:cubicBezTo>
                      <a:pt x="30" y="12"/>
                      <a:pt x="31" y="12"/>
                      <a:pt x="31" y="11"/>
                    </a:cubicBezTo>
                    <a:cubicBezTo>
                      <a:pt x="32" y="11"/>
                      <a:pt x="32" y="10"/>
                      <a:pt x="31" y="10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9"/>
                      <a:pt x="31" y="9"/>
                      <a:pt x="31" y="9"/>
                    </a:cubicBezTo>
                    <a:cubicBezTo>
                      <a:pt x="31" y="8"/>
                      <a:pt x="31" y="7"/>
                      <a:pt x="31" y="7"/>
                    </a:cubicBezTo>
                    <a:cubicBezTo>
                      <a:pt x="31" y="6"/>
                      <a:pt x="31" y="6"/>
                      <a:pt x="32" y="5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4" y="5"/>
                      <a:pt x="34" y="3"/>
                      <a:pt x="34" y="3"/>
                    </a:cubicBezTo>
                    <a:cubicBezTo>
                      <a:pt x="34" y="3"/>
                      <a:pt x="34" y="3"/>
                      <a:pt x="34" y="3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2"/>
                      <a:pt x="34" y="2"/>
                      <a:pt x="34" y="2"/>
                    </a:cubicBezTo>
                    <a:cubicBezTo>
                      <a:pt x="34" y="1"/>
                      <a:pt x="34" y="1"/>
                      <a:pt x="33" y="1"/>
                    </a:cubicBezTo>
                    <a:cubicBezTo>
                      <a:pt x="33" y="0"/>
                      <a:pt x="33" y="0"/>
                      <a:pt x="32" y="0"/>
                    </a:cubicBezTo>
                    <a:cubicBezTo>
                      <a:pt x="32" y="0"/>
                      <a:pt x="31" y="0"/>
                      <a:pt x="31" y="0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6" name="Freeform 41"/>
              <p:cNvSpPr>
                <a:spLocks noEditPoints="1"/>
              </p:cNvSpPr>
              <p:nvPr/>
            </p:nvSpPr>
            <p:spPr bwMode="auto">
              <a:xfrm>
                <a:off x="3902" y="1838"/>
                <a:ext cx="301" cy="585"/>
              </a:xfrm>
              <a:custGeom>
                <a:avLst/>
                <a:gdLst>
                  <a:gd name="T0" fmla="*/ 51 w 126"/>
                  <a:gd name="T1" fmla="*/ 38 h 245"/>
                  <a:gd name="T2" fmla="*/ 34 w 126"/>
                  <a:gd name="T3" fmla="*/ 3 h 245"/>
                  <a:gd name="T4" fmla="*/ 35 w 126"/>
                  <a:gd name="T5" fmla="*/ 9 h 245"/>
                  <a:gd name="T6" fmla="*/ 34 w 126"/>
                  <a:gd name="T7" fmla="*/ 18 h 245"/>
                  <a:gd name="T8" fmla="*/ 22 w 126"/>
                  <a:gd name="T9" fmla="*/ 26 h 245"/>
                  <a:gd name="T10" fmla="*/ 39 w 126"/>
                  <a:gd name="T11" fmla="*/ 42 h 245"/>
                  <a:gd name="T12" fmla="*/ 48 w 126"/>
                  <a:gd name="T13" fmla="*/ 45 h 245"/>
                  <a:gd name="T14" fmla="*/ 59 w 126"/>
                  <a:gd name="T15" fmla="*/ 54 h 245"/>
                  <a:gd name="T16" fmla="*/ 58 w 126"/>
                  <a:gd name="T17" fmla="*/ 43 h 245"/>
                  <a:gd name="T18" fmla="*/ 65 w 126"/>
                  <a:gd name="T19" fmla="*/ 49 h 245"/>
                  <a:gd name="T20" fmla="*/ 67 w 126"/>
                  <a:gd name="T21" fmla="*/ 34 h 245"/>
                  <a:gd name="T22" fmla="*/ 74 w 126"/>
                  <a:gd name="T23" fmla="*/ 44 h 245"/>
                  <a:gd name="T24" fmla="*/ 78 w 126"/>
                  <a:gd name="T25" fmla="*/ 55 h 245"/>
                  <a:gd name="T26" fmla="*/ 85 w 126"/>
                  <a:gd name="T27" fmla="*/ 56 h 245"/>
                  <a:gd name="T28" fmla="*/ 90 w 126"/>
                  <a:gd name="T29" fmla="*/ 63 h 245"/>
                  <a:gd name="T30" fmla="*/ 80 w 126"/>
                  <a:gd name="T31" fmla="*/ 65 h 245"/>
                  <a:gd name="T32" fmla="*/ 71 w 126"/>
                  <a:gd name="T33" fmla="*/ 66 h 245"/>
                  <a:gd name="T34" fmla="*/ 64 w 126"/>
                  <a:gd name="T35" fmla="*/ 63 h 245"/>
                  <a:gd name="T36" fmla="*/ 56 w 126"/>
                  <a:gd name="T37" fmla="*/ 58 h 245"/>
                  <a:gd name="T38" fmla="*/ 48 w 126"/>
                  <a:gd name="T39" fmla="*/ 53 h 245"/>
                  <a:gd name="T40" fmla="*/ 32 w 126"/>
                  <a:gd name="T41" fmla="*/ 54 h 245"/>
                  <a:gd name="T42" fmla="*/ 24 w 126"/>
                  <a:gd name="T43" fmla="*/ 58 h 245"/>
                  <a:gd name="T44" fmla="*/ 14 w 126"/>
                  <a:gd name="T45" fmla="*/ 72 h 245"/>
                  <a:gd name="T46" fmla="*/ 6 w 126"/>
                  <a:gd name="T47" fmla="*/ 80 h 245"/>
                  <a:gd name="T48" fmla="*/ 1 w 126"/>
                  <a:gd name="T49" fmla="*/ 96 h 245"/>
                  <a:gd name="T50" fmla="*/ 1 w 126"/>
                  <a:gd name="T51" fmla="*/ 109 h 245"/>
                  <a:gd name="T52" fmla="*/ 9 w 126"/>
                  <a:gd name="T53" fmla="*/ 120 h 245"/>
                  <a:gd name="T54" fmla="*/ 21 w 126"/>
                  <a:gd name="T55" fmla="*/ 132 h 245"/>
                  <a:gd name="T56" fmla="*/ 33 w 126"/>
                  <a:gd name="T57" fmla="*/ 138 h 245"/>
                  <a:gd name="T58" fmla="*/ 43 w 126"/>
                  <a:gd name="T59" fmla="*/ 139 h 245"/>
                  <a:gd name="T60" fmla="*/ 57 w 126"/>
                  <a:gd name="T61" fmla="*/ 135 h 245"/>
                  <a:gd name="T62" fmla="*/ 67 w 126"/>
                  <a:gd name="T63" fmla="*/ 140 h 245"/>
                  <a:gd name="T64" fmla="*/ 68 w 126"/>
                  <a:gd name="T65" fmla="*/ 153 h 245"/>
                  <a:gd name="T66" fmla="*/ 76 w 126"/>
                  <a:gd name="T67" fmla="*/ 168 h 245"/>
                  <a:gd name="T68" fmla="*/ 77 w 126"/>
                  <a:gd name="T69" fmla="*/ 181 h 245"/>
                  <a:gd name="T70" fmla="*/ 71 w 126"/>
                  <a:gd name="T71" fmla="*/ 194 h 245"/>
                  <a:gd name="T72" fmla="*/ 71 w 126"/>
                  <a:gd name="T73" fmla="*/ 214 h 245"/>
                  <a:gd name="T74" fmla="*/ 72 w 126"/>
                  <a:gd name="T75" fmla="*/ 234 h 245"/>
                  <a:gd name="T76" fmla="*/ 81 w 126"/>
                  <a:gd name="T77" fmla="*/ 242 h 245"/>
                  <a:gd name="T78" fmla="*/ 97 w 126"/>
                  <a:gd name="T79" fmla="*/ 232 h 245"/>
                  <a:gd name="T80" fmla="*/ 100 w 126"/>
                  <a:gd name="T81" fmla="*/ 221 h 245"/>
                  <a:gd name="T82" fmla="*/ 108 w 126"/>
                  <a:gd name="T83" fmla="*/ 206 h 245"/>
                  <a:gd name="T84" fmla="*/ 119 w 126"/>
                  <a:gd name="T85" fmla="*/ 181 h 245"/>
                  <a:gd name="T86" fmla="*/ 122 w 126"/>
                  <a:gd name="T87" fmla="*/ 158 h 245"/>
                  <a:gd name="T88" fmla="*/ 124 w 126"/>
                  <a:gd name="T89" fmla="*/ 142 h 245"/>
                  <a:gd name="T90" fmla="*/ 122 w 126"/>
                  <a:gd name="T91" fmla="*/ 116 h 245"/>
                  <a:gd name="T92" fmla="*/ 116 w 126"/>
                  <a:gd name="T93" fmla="*/ 107 h 245"/>
                  <a:gd name="T94" fmla="*/ 106 w 126"/>
                  <a:gd name="T95" fmla="*/ 90 h 245"/>
                  <a:gd name="T96" fmla="*/ 99 w 126"/>
                  <a:gd name="T97" fmla="*/ 76 h 245"/>
                  <a:gd name="T98" fmla="*/ 103 w 126"/>
                  <a:gd name="T99" fmla="*/ 82 h 245"/>
                  <a:gd name="T100" fmla="*/ 111 w 126"/>
                  <a:gd name="T101" fmla="*/ 95 h 245"/>
                  <a:gd name="T102" fmla="*/ 116 w 126"/>
                  <a:gd name="T103" fmla="*/ 105 h 245"/>
                  <a:gd name="T104" fmla="*/ 118 w 126"/>
                  <a:gd name="T105" fmla="*/ 84 h 245"/>
                  <a:gd name="T106" fmla="*/ 115 w 126"/>
                  <a:gd name="T107" fmla="*/ 77 h 245"/>
                  <a:gd name="T108" fmla="*/ 110 w 126"/>
                  <a:gd name="T109" fmla="*/ 69 h 245"/>
                  <a:gd name="T110" fmla="*/ 106 w 126"/>
                  <a:gd name="T111" fmla="*/ 62 h 245"/>
                  <a:gd name="T112" fmla="*/ 99 w 126"/>
                  <a:gd name="T113" fmla="*/ 52 h 245"/>
                  <a:gd name="T114" fmla="*/ 80 w 126"/>
                  <a:gd name="T115" fmla="*/ 31 h 245"/>
                  <a:gd name="T116" fmla="*/ 62 w 126"/>
                  <a:gd name="T117" fmla="*/ 17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26" h="245">
                    <a:moveTo>
                      <a:pt x="49" y="38"/>
                    </a:moveTo>
                    <a:cubicBezTo>
                      <a:pt x="49" y="38"/>
                      <a:pt x="49" y="38"/>
                      <a:pt x="49" y="38"/>
                    </a:cubicBezTo>
                    <a:cubicBezTo>
                      <a:pt x="49" y="37"/>
                      <a:pt x="49" y="37"/>
                      <a:pt x="49" y="37"/>
                    </a:cubicBezTo>
                    <a:cubicBezTo>
                      <a:pt x="48" y="37"/>
                      <a:pt x="48" y="37"/>
                      <a:pt x="48" y="37"/>
                    </a:cubicBezTo>
                    <a:cubicBezTo>
                      <a:pt x="47" y="37"/>
                      <a:pt x="46" y="36"/>
                      <a:pt x="46" y="35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6" y="34"/>
                      <a:pt x="46" y="34"/>
                      <a:pt x="46" y="34"/>
                    </a:cubicBezTo>
                    <a:cubicBezTo>
                      <a:pt x="47" y="34"/>
                      <a:pt x="47" y="35"/>
                      <a:pt x="47" y="35"/>
                    </a:cubicBezTo>
                    <a:cubicBezTo>
                      <a:pt x="47" y="35"/>
                      <a:pt x="47" y="35"/>
                      <a:pt x="47" y="35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48" y="36"/>
                      <a:pt x="48" y="36"/>
                      <a:pt x="48" y="36"/>
                    </a:cubicBezTo>
                    <a:cubicBezTo>
                      <a:pt x="48" y="36"/>
                      <a:pt x="48" y="36"/>
                      <a:pt x="49" y="37"/>
                    </a:cubicBezTo>
                    <a:cubicBezTo>
                      <a:pt x="50" y="37"/>
                      <a:pt x="50" y="37"/>
                      <a:pt x="50" y="37"/>
                    </a:cubicBezTo>
                    <a:cubicBezTo>
                      <a:pt x="50" y="37"/>
                      <a:pt x="50" y="37"/>
                      <a:pt x="51" y="38"/>
                    </a:cubicBezTo>
                    <a:cubicBezTo>
                      <a:pt x="51" y="38"/>
                      <a:pt x="52" y="38"/>
                      <a:pt x="52" y="38"/>
                    </a:cubicBezTo>
                    <a:cubicBezTo>
                      <a:pt x="52" y="39"/>
                      <a:pt x="52" y="39"/>
                      <a:pt x="52" y="39"/>
                    </a:cubicBezTo>
                    <a:cubicBezTo>
                      <a:pt x="53" y="39"/>
                      <a:pt x="53" y="39"/>
                      <a:pt x="53" y="39"/>
                    </a:cubicBezTo>
                    <a:cubicBezTo>
                      <a:pt x="53" y="40"/>
                      <a:pt x="53" y="40"/>
                      <a:pt x="53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40"/>
                      <a:pt x="52" y="40"/>
                      <a:pt x="52" y="40"/>
                    </a:cubicBezTo>
                    <a:cubicBezTo>
                      <a:pt x="52" y="38"/>
                      <a:pt x="52" y="38"/>
                      <a:pt x="52" y="38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50" y="38"/>
                      <a:pt x="50" y="38"/>
                      <a:pt x="50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9" y="38"/>
                      <a:pt x="49" y="38"/>
                      <a:pt x="49" y="38"/>
                    </a:cubicBezTo>
                    <a:moveTo>
                      <a:pt x="34" y="0"/>
                    </a:moveTo>
                    <a:cubicBezTo>
                      <a:pt x="34" y="3"/>
                      <a:pt x="34" y="3"/>
                      <a:pt x="34" y="3"/>
                    </a:cubicBezTo>
                    <a:cubicBezTo>
                      <a:pt x="34" y="4"/>
                      <a:pt x="34" y="4"/>
                      <a:pt x="35" y="4"/>
                    </a:cubicBezTo>
                    <a:cubicBezTo>
                      <a:pt x="35" y="4"/>
                      <a:pt x="35" y="4"/>
                      <a:pt x="35" y="4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5" y="6"/>
                    </a:cubicBezTo>
                    <a:cubicBezTo>
                      <a:pt x="35" y="6"/>
                      <a:pt x="35" y="6"/>
                      <a:pt x="36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7" y="7"/>
                      <a:pt x="37" y="7"/>
                      <a:pt x="37" y="7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7" y="10"/>
                      <a:pt x="37" y="10"/>
                      <a:pt x="37" y="10"/>
                    </a:cubicBezTo>
                    <a:cubicBezTo>
                      <a:pt x="35" y="9"/>
                      <a:pt x="35" y="9"/>
                      <a:pt x="35" y="9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5" y="13"/>
                      <a:pt x="35" y="14"/>
                      <a:pt x="36" y="14"/>
                    </a:cubicBezTo>
                    <a:cubicBezTo>
                      <a:pt x="37" y="15"/>
                      <a:pt x="37" y="15"/>
                      <a:pt x="38" y="15"/>
                    </a:cubicBezTo>
                    <a:cubicBezTo>
                      <a:pt x="38" y="16"/>
                      <a:pt x="38" y="16"/>
                      <a:pt x="38" y="16"/>
                    </a:cubicBezTo>
                    <a:cubicBezTo>
                      <a:pt x="38" y="16"/>
                      <a:pt x="38" y="17"/>
                      <a:pt x="39" y="17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40" y="18"/>
                      <a:pt x="40" y="18"/>
                      <a:pt x="40" y="18"/>
                    </a:cubicBezTo>
                    <a:cubicBezTo>
                      <a:pt x="39" y="18"/>
                      <a:pt x="39" y="18"/>
                      <a:pt x="39" y="18"/>
                    </a:cubicBezTo>
                    <a:cubicBezTo>
                      <a:pt x="39" y="19"/>
                      <a:pt x="39" y="19"/>
                      <a:pt x="39" y="19"/>
                    </a:cubicBezTo>
                    <a:cubicBezTo>
                      <a:pt x="38" y="18"/>
                      <a:pt x="38" y="18"/>
                      <a:pt x="38" y="18"/>
                    </a:cubicBezTo>
                    <a:cubicBezTo>
                      <a:pt x="35" y="18"/>
                      <a:pt x="35" y="18"/>
                      <a:pt x="35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3" y="18"/>
                      <a:pt x="33" y="19"/>
                      <a:pt x="32" y="19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2" y="20"/>
                      <a:pt x="32" y="20"/>
                      <a:pt x="32" y="20"/>
                    </a:cubicBezTo>
                    <a:cubicBezTo>
                      <a:pt x="31" y="20"/>
                      <a:pt x="31" y="20"/>
                      <a:pt x="31" y="20"/>
                    </a:cubicBezTo>
                    <a:cubicBezTo>
                      <a:pt x="29" y="20"/>
                      <a:pt x="29" y="20"/>
                      <a:pt x="29" y="20"/>
                    </a:cubicBezTo>
                    <a:cubicBezTo>
                      <a:pt x="28" y="20"/>
                      <a:pt x="28" y="20"/>
                      <a:pt x="28" y="21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6" y="21"/>
                      <a:pt x="25" y="21"/>
                      <a:pt x="24" y="22"/>
                    </a:cubicBezTo>
                    <a:cubicBezTo>
                      <a:pt x="24" y="23"/>
                      <a:pt x="23" y="23"/>
                      <a:pt x="23" y="24"/>
                    </a:cubicBezTo>
                    <a:cubicBezTo>
                      <a:pt x="22" y="25"/>
                      <a:pt x="22" y="25"/>
                      <a:pt x="22" y="25"/>
                    </a:cubicBezTo>
                    <a:cubicBezTo>
                      <a:pt x="22" y="25"/>
                      <a:pt x="22" y="26"/>
                      <a:pt x="22" y="26"/>
                    </a:cubicBezTo>
                    <a:cubicBezTo>
                      <a:pt x="21" y="26"/>
                      <a:pt x="21" y="27"/>
                      <a:pt x="20" y="27"/>
                    </a:cubicBezTo>
                    <a:cubicBezTo>
                      <a:pt x="19" y="27"/>
                      <a:pt x="19" y="27"/>
                      <a:pt x="19" y="27"/>
                    </a:cubicBezTo>
                    <a:cubicBezTo>
                      <a:pt x="20" y="28"/>
                      <a:pt x="20" y="28"/>
                      <a:pt x="20" y="28"/>
                    </a:cubicBezTo>
                    <a:cubicBezTo>
                      <a:pt x="21" y="31"/>
                      <a:pt x="23" y="33"/>
                      <a:pt x="25" y="34"/>
                    </a:cubicBezTo>
                    <a:cubicBezTo>
                      <a:pt x="25" y="35"/>
                      <a:pt x="26" y="36"/>
                      <a:pt x="27" y="36"/>
                    </a:cubicBezTo>
                    <a:cubicBezTo>
                      <a:pt x="29" y="39"/>
                      <a:pt x="31" y="42"/>
                      <a:pt x="31" y="45"/>
                    </a:cubicBezTo>
                    <a:cubicBezTo>
                      <a:pt x="31" y="46"/>
                      <a:pt x="31" y="46"/>
                      <a:pt x="31" y="46"/>
                    </a:cubicBezTo>
                    <a:cubicBezTo>
                      <a:pt x="32" y="46"/>
                      <a:pt x="32" y="46"/>
                      <a:pt x="32" y="46"/>
                    </a:cubicBezTo>
                    <a:cubicBezTo>
                      <a:pt x="34" y="46"/>
                      <a:pt x="34" y="44"/>
                      <a:pt x="34" y="43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5" y="42"/>
                      <a:pt x="35" y="42"/>
                      <a:pt x="35" y="42"/>
                    </a:cubicBezTo>
                    <a:cubicBezTo>
                      <a:pt x="38" y="42"/>
                      <a:pt x="38" y="42"/>
                      <a:pt x="38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40" y="42"/>
                      <a:pt x="40" y="41"/>
                    </a:cubicBezTo>
                    <a:cubicBezTo>
                      <a:pt x="40" y="41"/>
                      <a:pt x="41" y="40"/>
                      <a:pt x="41" y="40"/>
                    </a:cubicBezTo>
                    <a:cubicBezTo>
                      <a:pt x="41" y="40"/>
                      <a:pt x="41" y="40"/>
                      <a:pt x="41" y="40"/>
                    </a:cubicBezTo>
                    <a:cubicBezTo>
                      <a:pt x="42" y="40"/>
                      <a:pt x="42" y="40"/>
                      <a:pt x="42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2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4" y="42"/>
                      <a:pt x="44" y="42"/>
                      <a:pt x="44" y="42"/>
                    </a:cubicBezTo>
                    <a:cubicBezTo>
                      <a:pt x="45" y="42"/>
                      <a:pt x="45" y="42"/>
                      <a:pt x="46" y="42"/>
                    </a:cubicBezTo>
                    <a:cubicBezTo>
                      <a:pt x="46" y="42"/>
                      <a:pt x="46" y="43"/>
                      <a:pt x="46" y="43"/>
                    </a:cubicBezTo>
                    <a:cubicBezTo>
                      <a:pt x="47" y="44"/>
                      <a:pt x="47" y="44"/>
                      <a:pt x="47" y="44"/>
                    </a:cubicBezTo>
                    <a:cubicBezTo>
                      <a:pt x="47" y="44"/>
                      <a:pt x="47" y="45"/>
                      <a:pt x="48" y="45"/>
                    </a:cubicBezTo>
                    <a:cubicBezTo>
                      <a:pt x="48" y="45"/>
                      <a:pt x="48" y="45"/>
                      <a:pt x="48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50" y="45"/>
                      <a:pt x="50" y="45"/>
                      <a:pt x="50" y="45"/>
                    </a:cubicBezTo>
                    <a:cubicBezTo>
                      <a:pt x="49" y="46"/>
                      <a:pt x="49" y="46"/>
                      <a:pt x="49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2" y="46"/>
                      <a:pt x="52" y="46"/>
                      <a:pt x="53" y="47"/>
                    </a:cubicBezTo>
                    <a:cubicBezTo>
                      <a:pt x="54" y="47"/>
                      <a:pt x="54" y="48"/>
                      <a:pt x="54" y="48"/>
                    </a:cubicBezTo>
                    <a:cubicBezTo>
                      <a:pt x="54" y="53"/>
                      <a:pt x="54" y="53"/>
                      <a:pt x="54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5"/>
                      <a:pt x="55" y="55"/>
                      <a:pt x="55" y="55"/>
                    </a:cubicBezTo>
                    <a:cubicBezTo>
                      <a:pt x="59" y="55"/>
                      <a:pt x="59" y="55"/>
                      <a:pt x="59" y="55"/>
                    </a:cubicBezTo>
                    <a:cubicBezTo>
                      <a:pt x="59" y="54"/>
                      <a:pt x="59" y="54"/>
                      <a:pt x="59" y="54"/>
                    </a:cubicBezTo>
                    <a:cubicBezTo>
                      <a:pt x="59" y="53"/>
                      <a:pt x="59" y="53"/>
                      <a:pt x="59" y="53"/>
                    </a:cubicBezTo>
                    <a:cubicBezTo>
                      <a:pt x="59" y="53"/>
                      <a:pt x="59" y="53"/>
                      <a:pt x="59" y="53"/>
                    </a:cubicBezTo>
                    <a:cubicBezTo>
                      <a:pt x="60" y="52"/>
                      <a:pt x="60" y="52"/>
                      <a:pt x="60" y="51"/>
                    </a:cubicBezTo>
                    <a:cubicBezTo>
                      <a:pt x="60" y="51"/>
                      <a:pt x="60" y="51"/>
                      <a:pt x="60" y="51"/>
                    </a:cubicBezTo>
                    <a:cubicBezTo>
                      <a:pt x="60" y="45"/>
                      <a:pt x="60" y="45"/>
                      <a:pt x="60" y="45"/>
                    </a:cubicBezTo>
                    <a:cubicBezTo>
                      <a:pt x="60" y="44"/>
                      <a:pt x="59" y="44"/>
                      <a:pt x="59" y="44"/>
                    </a:cubicBezTo>
                    <a:cubicBezTo>
                      <a:pt x="59" y="44"/>
                      <a:pt x="59" y="44"/>
                      <a:pt x="59" y="44"/>
                    </a:cubicBezTo>
                    <a:cubicBezTo>
                      <a:pt x="58" y="43"/>
                      <a:pt x="57" y="43"/>
                      <a:pt x="56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7" y="42"/>
                      <a:pt x="57" y="42"/>
                      <a:pt x="57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2"/>
                      <a:pt x="58" y="42"/>
                      <a:pt x="58" y="42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9" y="43"/>
                      <a:pt x="59" y="43"/>
                      <a:pt x="59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1" y="43"/>
                      <a:pt x="61" y="43"/>
                      <a:pt x="61" y="43"/>
                    </a:cubicBezTo>
                    <a:cubicBezTo>
                      <a:pt x="61" y="44"/>
                      <a:pt x="61" y="44"/>
                      <a:pt x="61" y="44"/>
                    </a:cubicBezTo>
                    <a:cubicBezTo>
                      <a:pt x="61" y="45"/>
                      <a:pt x="62" y="46"/>
                      <a:pt x="62" y="46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3" y="47"/>
                      <a:pt x="63" y="47"/>
                      <a:pt x="63" y="47"/>
                    </a:cubicBezTo>
                    <a:cubicBezTo>
                      <a:pt x="64" y="48"/>
                      <a:pt x="64" y="48"/>
                      <a:pt x="64" y="48"/>
                    </a:cubicBezTo>
                    <a:cubicBezTo>
                      <a:pt x="65" y="48"/>
                      <a:pt x="65" y="48"/>
                      <a:pt x="65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5" y="49"/>
                      <a:pt x="65" y="49"/>
                      <a:pt x="65" y="49"/>
                    </a:cubicBezTo>
                    <a:cubicBezTo>
                      <a:pt x="66" y="50"/>
                      <a:pt x="66" y="50"/>
                      <a:pt x="67" y="50"/>
                    </a:cubicBezTo>
                    <a:cubicBezTo>
                      <a:pt x="67" y="50"/>
                      <a:pt x="67" y="50"/>
                      <a:pt x="67" y="50"/>
                    </a:cubicBezTo>
                    <a:cubicBezTo>
                      <a:pt x="67" y="50"/>
                      <a:pt x="68" y="50"/>
                      <a:pt x="69" y="49"/>
                    </a:cubicBezTo>
                    <a:cubicBezTo>
                      <a:pt x="69" y="49"/>
                      <a:pt x="69" y="49"/>
                      <a:pt x="69" y="48"/>
                    </a:cubicBezTo>
                    <a:cubicBezTo>
                      <a:pt x="69" y="48"/>
                      <a:pt x="69" y="48"/>
                      <a:pt x="69" y="48"/>
                    </a:cubicBezTo>
                    <a:cubicBezTo>
                      <a:pt x="70" y="47"/>
                      <a:pt x="70" y="46"/>
                      <a:pt x="70" y="44"/>
                    </a:cubicBezTo>
                    <a:cubicBezTo>
                      <a:pt x="70" y="42"/>
                      <a:pt x="69" y="40"/>
                      <a:pt x="67" y="38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7" y="37"/>
                      <a:pt x="66" y="37"/>
                      <a:pt x="66" y="36"/>
                    </a:cubicBezTo>
                    <a:cubicBezTo>
                      <a:pt x="66" y="36"/>
                      <a:pt x="66" y="36"/>
                      <a:pt x="66" y="36"/>
                    </a:cubicBezTo>
                    <a:cubicBezTo>
                      <a:pt x="66" y="36"/>
                      <a:pt x="66" y="35"/>
                      <a:pt x="66" y="35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8" y="34"/>
                      <a:pt x="69" y="35"/>
                      <a:pt x="70" y="35"/>
                    </a:cubicBezTo>
                    <a:cubicBezTo>
                      <a:pt x="71" y="36"/>
                      <a:pt x="71" y="36"/>
                      <a:pt x="72" y="36"/>
                    </a:cubicBezTo>
                    <a:cubicBezTo>
                      <a:pt x="73" y="37"/>
                      <a:pt x="73" y="37"/>
                      <a:pt x="73" y="37"/>
                    </a:cubicBezTo>
                    <a:cubicBezTo>
                      <a:pt x="73" y="37"/>
                      <a:pt x="74" y="37"/>
                      <a:pt x="74" y="37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4" y="38"/>
                      <a:pt x="74" y="39"/>
                      <a:pt x="75" y="39"/>
                    </a:cubicBezTo>
                    <a:cubicBezTo>
                      <a:pt x="76" y="39"/>
                      <a:pt x="76" y="39"/>
                      <a:pt x="76" y="39"/>
                    </a:cubicBezTo>
                    <a:cubicBezTo>
                      <a:pt x="76" y="40"/>
                      <a:pt x="77" y="40"/>
                      <a:pt x="78" y="41"/>
                    </a:cubicBezTo>
                    <a:cubicBezTo>
                      <a:pt x="78" y="42"/>
                      <a:pt x="78" y="42"/>
                      <a:pt x="78" y="42"/>
                    </a:cubicBezTo>
                    <a:cubicBezTo>
                      <a:pt x="78" y="42"/>
                      <a:pt x="78" y="42"/>
                      <a:pt x="79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5" y="43"/>
                      <a:pt x="74" y="43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4" y="44"/>
                      <a:pt x="74" y="44"/>
                      <a:pt x="74" y="44"/>
                    </a:cubicBezTo>
                    <a:cubicBezTo>
                      <a:pt x="73" y="44"/>
                      <a:pt x="73" y="44"/>
                      <a:pt x="73" y="44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3" y="46"/>
                      <a:pt x="73" y="48"/>
                      <a:pt x="74" y="49"/>
                    </a:cubicBezTo>
                    <a:cubicBezTo>
                      <a:pt x="74" y="49"/>
                      <a:pt x="74" y="49"/>
                      <a:pt x="74" y="49"/>
                    </a:cubicBezTo>
                    <a:cubicBezTo>
                      <a:pt x="74" y="50"/>
                      <a:pt x="74" y="50"/>
                      <a:pt x="75" y="50"/>
                    </a:cubicBezTo>
                    <a:cubicBezTo>
                      <a:pt x="76" y="50"/>
                      <a:pt x="76" y="50"/>
                      <a:pt x="76" y="50"/>
                    </a:cubicBezTo>
                    <a:cubicBezTo>
                      <a:pt x="76" y="51"/>
                      <a:pt x="76" y="51"/>
                      <a:pt x="76" y="51"/>
                    </a:cubicBezTo>
                    <a:cubicBezTo>
                      <a:pt x="76" y="51"/>
                      <a:pt x="76" y="53"/>
                      <a:pt x="77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3"/>
                      <a:pt x="78" y="53"/>
                      <a:pt x="78" y="53"/>
                    </a:cubicBezTo>
                    <a:cubicBezTo>
                      <a:pt x="78" y="55"/>
                      <a:pt x="78" y="55"/>
                      <a:pt x="78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80" y="55"/>
                      <a:pt x="80" y="55"/>
                      <a:pt x="81" y="55"/>
                    </a:cubicBezTo>
                    <a:cubicBezTo>
                      <a:pt x="81" y="56"/>
                      <a:pt x="82" y="56"/>
                      <a:pt x="83" y="56"/>
                    </a:cubicBezTo>
                    <a:cubicBezTo>
                      <a:pt x="84" y="56"/>
                      <a:pt x="84" y="56"/>
                      <a:pt x="84" y="56"/>
                    </a:cubicBezTo>
                    <a:cubicBezTo>
                      <a:pt x="85" y="56"/>
                      <a:pt x="85" y="56"/>
                      <a:pt x="85" y="56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5" y="55"/>
                      <a:pt x="85" y="55"/>
                    </a:cubicBezTo>
                    <a:cubicBezTo>
                      <a:pt x="85" y="55"/>
                      <a:pt x="86" y="55"/>
                      <a:pt x="86" y="55"/>
                    </a:cubicBezTo>
                    <a:cubicBezTo>
                      <a:pt x="86" y="55"/>
                      <a:pt x="86" y="55"/>
                      <a:pt x="86" y="55"/>
                    </a:cubicBezTo>
                    <a:cubicBezTo>
                      <a:pt x="85" y="56"/>
                      <a:pt x="85" y="56"/>
                      <a:pt x="85" y="56"/>
                    </a:cubicBezTo>
                    <a:cubicBezTo>
                      <a:pt x="86" y="56"/>
                      <a:pt x="86" y="56"/>
                      <a:pt x="86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56"/>
                      <a:pt x="87" y="56"/>
                      <a:pt x="87" y="56"/>
                    </a:cubicBezTo>
                    <a:cubicBezTo>
                      <a:pt x="87" y="57"/>
                      <a:pt x="87" y="57"/>
                      <a:pt x="87" y="57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7" y="59"/>
                      <a:pt x="87" y="59"/>
                      <a:pt x="87" y="59"/>
                    </a:cubicBezTo>
                    <a:cubicBezTo>
                      <a:pt x="87" y="59"/>
                      <a:pt x="87" y="60"/>
                      <a:pt x="88" y="60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8" y="60"/>
                      <a:pt x="88" y="60"/>
                      <a:pt x="88" y="60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88" y="62"/>
                      <a:pt x="88" y="62"/>
                      <a:pt x="88" y="62"/>
                    </a:cubicBezTo>
                    <a:cubicBezTo>
                      <a:pt x="88" y="63"/>
                      <a:pt x="88" y="63"/>
                      <a:pt x="88" y="63"/>
                    </a:cubicBezTo>
                    <a:cubicBezTo>
                      <a:pt x="89" y="63"/>
                      <a:pt x="89" y="63"/>
                      <a:pt x="89" y="63"/>
                    </a:cubicBezTo>
                    <a:cubicBezTo>
                      <a:pt x="90" y="63"/>
                      <a:pt x="90" y="63"/>
                      <a:pt x="90" y="63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65"/>
                      <a:pt x="90" y="65"/>
                      <a:pt x="90" y="65"/>
                    </a:cubicBezTo>
                    <a:cubicBezTo>
                      <a:pt x="90" y="66"/>
                      <a:pt x="89" y="66"/>
                      <a:pt x="89" y="66"/>
                    </a:cubicBezTo>
                    <a:cubicBezTo>
                      <a:pt x="88" y="66"/>
                      <a:pt x="88" y="66"/>
                      <a:pt x="88" y="66"/>
                    </a:cubicBezTo>
                    <a:cubicBezTo>
                      <a:pt x="87" y="65"/>
                      <a:pt x="87" y="65"/>
                      <a:pt x="87" y="65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67"/>
                      <a:pt x="86" y="67"/>
                      <a:pt x="86" y="67"/>
                    </a:cubicBezTo>
                    <a:cubicBezTo>
                      <a:pt x="85" y="67"/>
                      <a:pt x="85" y="67"/>
                      <a:pt x="85" y="67"/>
                    </a:cubicBezTo>
                    <a:cubicBezTo>
                      <a:pt x="85" y="66"/>
                      <a:pt x="85" y="66"/>
                      <a:pt x="85" y="66"/>
                    </a:cubicBezTo>
                    <a:cubicBezTo>
                      <a:pt x="84" y="66"/>
                      <a:pt x="83" y="66"/>
                      <a:pt x="83" y="66"/>
                    </a:cubicBezTo>
                    <a:cubicBezTo>
                      <a:pt x="82" y="66"/>
                      <a:pt x="82" y="66"/>
                      <a:pt x="82" y="66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0" y="66"/>
                      <a:pt x="80" y="66"/>
                      <a:pt x="80" y="66"/>
                    </a:cubicBezTo>
                    <a:cubicBezTo>
                      <a:pt x="80" y="65"/>
                      <a:pt x="80" y="65"/>
                      <a:pt x="80" y="65"/>
                    </a:cubicBezTo>
                    <a:cubicBezTo>
                      <a:pt x="80" y="64"/>
                      <a:pt x="80" y="64"/>
                      <a:pt x="80" y="64"/>
                    </a:cubicBezTo>
                    <a:cubicBezTo>
                      <a:pt x="79" y="64"/>
                      <a:pt x="79" y="64"/>
                      <a:pt x="79" y="64"/>
                    </a:cubicBezTo>
                    <a:cubicBezTo>
                      <a:pt x="79" y="64"/>
                      <a:pt x="79" y="64"/>
                      <a:pt x="78" y="64"/>
                    </a:cubicBezTo>
                    <a:cubicBezTo>
                      <a:pt x="78" y="63"/>
                      <a:pt x="77" y="63"/>
                      <a:pt x="77" y="63"/>
                    </a:cubicBezTo>
                    <a:cubicBezTo>
                      <a:pt x="76" y="63"/>
                      <a:pt x="76" y="63"/>
                      <a:pt x="76" y="63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6" y="65"/>
                      <a:pt x="76" y="66"/>
                      <a:pt x="75" y="67"/>
                    </a:cubicBezTo>
                    <a:cubicBezTo>
                      <a:pt x="75" y="67"/>
                      <a:pt x="75" y="67"/>
                      <a:pt x="74" y="67"/>
                    </a:cubicBezTo>
                    <a:cubicBezTo>
                      <a:pt x="74" y="67"/>
                      <a:pt x="74" y="67"/>
                      <a:pt x="74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3" y="67"/>
                      <a:pt x="73" y="67"/>
                      <a:pt x="73" y="67"/>
                    </a:cubicBezTo>
                    <a:cubicBezTo>
                      <a:pt x="72" y="67"/>
                      <a:pt x="72" y="67"/>
                      <a:pt x="72" y="67"/>
                    </a:cubicBezTo>
                    <a:cubicBezTo>
                      <a:pt x="72" y="66"/>
                      <a:pt x="72" y="66"/>
                      <a:pt x="72" y="66"/>
                    </a:cubicBezTo>
                    <a:cubicBezTo>
                      <a:pt x="71" y="66"/>
                      <a:pt x="71" y="66"/>
                      <a:pt x="71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70" y="66"/>
                      <a:pt x="70" y="66"/>
                      <a:pt x="70" y="66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6"/>
                      <a:pt x="69" y="66"/>
                      <a:pt x="69" y="66"/>
                    </a:cubicBezTo>
                    <a:cubicBezTo>
                      <a:pt x="69" y="65"/>
                      <a:pt x="69" y="65"/>
                      <a:pt x="69" y="65"/>
                    </a:cubicBezTo>
                    <a:cubicBezTo>
                      <a:pt x="69" y="64"/>
                      <a:pt x="69" y="64"/>
                      <a:pt x="69" y="64"/>
                    </a:cubicBezTo>
                    <a:cubicBezTo>
                      <a:pt x="68" y="64"/>
                      <a:pt x="68" y="64"/>
                      <a:pt x="68" y="64"/>
                    </a:cubicBezTo>
                    <a:cubicBezTo>
                      <a:pt x="68" y="64"/>
                      <a:pt x="67" y="64"/>
                      <a:pt x="67" y="64"/>
                    </a:cubicBezTo>
                    <a:cubicBezTo>
                      <a:pt x="67" y="64"/>
                      <a:pt x="67" y="64"/>
                      <a:pt x="67" y="64"/>
                    </a:cubicBezTo>
                    <a:cubicBezTo>
                      <a:pt x="67" y="64"/>
                      <a:pt x="67" y="64"/>
                      <a:pt x="67" y="64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6" y="63"/>
                      <a:pt x="66" y="63"/>
                      <a:pt x="66" y="63"/>
                    </a:cubicBezTo>
                    <a:cubicBezTo>
                      <a:pt x="66" y="63"/>
                      <a:pt x="66" y="63"/>
                      <a:pt x="66" y="63"/>
                    </a:cubicBezTo>
                    <a:cubicBezTo>
                      <a:pt x="65" y="63"/>
                      <a:pt x="65" y="63"/>
                      <a:pt x="64" y="63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63" y="63"/>
                      <a:pt x="63" y="63"/>
                      <a:pt x="63" y="63"/>
                    </a:cubicBezTo>
                    <a:cubicBezTo>
                      <a:pt x="63" y="62"/>
                      <a:pt x="63" y="62"/>
                      <a:pt x="63" y="62"/>
                    </a:cubicBezTo>
                    <a:cubicBezTo>
                      <a:pt x="63" y="61"/>
                      <a:pt x="63" y="61"/>
                      <a:pt x="63" y="61"/>
                    </a:cubicBezTo>
                    <a:cubicBezTo>
                      <a:pt x="62" y="61"/>
                      <a:pt x="62" y="61"/>
                      <a:pt x="62" y="61"/>
                    </a:cubicBezTo>
                    <a:cubicBezTo>
                      <a:pt x="61" y="61"/>
                      <a:pt x="61" y="61"/>
                      <a:pt x="61" y="61"/>
                    </a:cubicBezTo>
                    <a:cubicBezTo>
                      <a:pt x="61" y="61"/>
                      <a:pt x="60" y="61"/>
                      <a:pt x="60" y="61"/>
                    </a:cubicBezTo>
                    <a:cubicBezTo>
                      <a:pt x="59" y="61"/>
                      <a:pt x="59" y="61"/>
                      <a:pt x="58" y="61"/>
                    </a:cubicBezTo>
                    <a:cubicBezTo>
                      <a:pt x="58" y="61"/>
                      <a:pt x="58" y="61"/>
                      <a:pt x="58" y="61"/>
                    </a:cubicBezTo>
                    <a:cubicBezTo>
                      <a:pt x="57" y="61"/>
                      <a:pt x="57" y="61"/>
                      <a:pt x="57" y="61"/>
                    </a:cubicBezTo>
                    <a:cubicBezTo>
                      <a:pt x="57" y="61"/>
                      <a:pt x="57" y="60"/>
                      <a:pt x="57" y="60"/>
                    </a:cubicBezTo>
                    <a:cubicBezTo>
                      <a:pt x="58" y="59"/>
                      <a:pt x="58" y="59"/>
                      <a:pt x="58" y="59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6" y="56"/>
                      <a:pt x="56" y="56"/>
                      <a:pt x="56" y="56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4" y="56"/>
                      <a:pt x="54" y="56"/>
                      <a:pt x="54" y="56"/>
                    </a:cubicBezTo>
                    <a:cubicBezTo>
                      <a:pt x="54" y="55"/>
                      <a:pt x="54" y="55"/>
                      <a:pt x="54" y="55"/>
                    </a:cubicBezTo>
                    <a:cubicBezTo>
                      <a:pt x="55" y="55"/>
                      <a:pt x="55" y="54"/>
                      <a:pt x="54" y="54"/>
                    </a:cubicBezTo>
                    <a:cubicBezTo>
                      <a:pt x="54" y="53"/>
                      <a:pt x="53" y="53"/>
                      <a:pt x="52" y="53"/>
                    </a:cubicBezTo>
                    <a:cubicBezTo>
                      <a:pt x="52" y="53"/>
                      <a:pt x="52" y="53"/>
                      <a:pt x="52" y="53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51" y="51"/>
                      <a:pt x="51" y="51"/>
                      <a:pt x="51" y="51"/>
                    </a:cubicBezTo>
                    <a:cubicBezTo>
                      <a:pt x="49" y="51"/>
                      <a:pt x="48" y="52"/>
                      <a:pt x="48" y="53"/>
                    </a:cubicBezTo>
                    <a:cubicBezTo>
                      <a:pt x="47" y="54"/>
                      <a:pt x="47" y="54"/>
                      <a:pt x="46" y="54"/>
                    </a:cubicBezTo>
                    <a:cubicBezTo>
                      <a:pt x="46" y="54"/>
                      <a:pt x="46" y="54"/>
                      <a:pt x="46" y="54"/>
                    </a:cubicBezTo>
                    <a:cubicBezTo>
                      <a:pt x="46" y="54"/>
                      <a:pt x="45" y="54"/>
                      <a:pt x="44" y="54"/>
                    </a:cubicBezTo>
                    <a:cubicBezTo>
                      <a:pt x="44" y="53"/>
                      <a:pt x="43" y="53"/>
                      <a:pt x="43" y="53"/>
                    </a:cubicBezTo>
                    <a:cubicBezTo>
                      <a:pt x="41" y="53"/>
                      <a:pt x="40" y="53"/>
                      <a:pt x="39" y="53"/>
                    </a:cubicBezTo>
                    <a:cubicBezTo>
                      <a:pt x="39" y="53"/>
                      <a:pt x="38" y="53"/>
                      <a:pt x="38" y="53"/>
                    </a:cubicBezTo>
                    <a:cubicBezTo>
                      <a:pt x="37" y="53"/>
                      <a:pt x="37" y="53"/>
                      <a:pt x="36" y="53"/>
                    </a:cubicBezTo>
                    <a:cubicBezTo>
                      <a:pt x="35" y="53"/>
                      <a:pt x="35" y="53"/>
                      <a:pt x="35" y="53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5" y="54"/>
                      <a:pt x="35" y="54"/>
                      <a:pt x="35" y="54"/>
                    </a:cubicBezTo>
                    <a:cubicBezTo>
                      <a:pt x="35" y="54"/>
                      <a:pt x="35" y="54"/>
                      <a:pt x="34" y="54"/>
                    </a:cubicBezTo>
                    <a:cubicBezTo>
                      <a:pt x="34" y="54"/>
                      <a:pt x="34" y="54"/>
                      <a:pt x="34" y="54"/>
                    </a:cubicBezTo>
                    <a:cubicBezTo>
                      <a:pt x="33" y="54"/>
                      <a:pt x="33" y="54"/>
                      <a:pt x="33" y="54"/>
                    </a:cubicBezTo>
                    <a:cubicBezTo>
                      <a:pt x="32" y="54"/>
                      <a:pt x="32" y="54"/>
                      <a:pt x="32" y="54"/>
                    </a:cubicBezTo>
                    <a:cubicBezTo>
                      <a:pt x="32" y="55"/>
                      <a:pt x="32" y="55"/>
                      <a:pt x="32" y="55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2" y="56"/>
                      <a:pt x="32" y="56"/>
                      <a:pt x="31" y="56"/>
                    </a:cubicBezTo>
                    <a:cubicBezTo>
                      <a:pt x="31" y="56"/>
                      <a:pt x="30" y="56"/>
                      <a:pt x="30" y="56"/>
                    </a:cubicBezTo>
                    <a:cubicBezTo>
                      <a:pt x="29" y="56"/>
                      <a:pt x="29" y="56"/>
                      <a:pt x="29" y="56"/>
                    </a:cubicBezTo>
                    <a:cubicBezTo>
                      <a:pt x="29" y="55"/>
                      <a:pt x="28" y="55"/>
                      <a:pt x="27" y="55"/>
                    </a:cubicBezTo>
                    <a:cubicBezTo>
                      <a:pt x="27" y="55"/>
                      <a:pt x="27" y="55"/>
                      <a:pt x="26" y="56"/>
                    </a:cubicBezTo>
                    <a:cubicBezTo>
                      <a:pt x="26" y="56"/>
                      <a:pt x="26" y="56"/>
                      <a:pt x="26" y="56"/>
                    </a:cubicBezTo>
                    <a:cubicBezTo>
                      <a:pt x="26" y="57"/>
                      <a:pt x="26" y="57"/>
                      <a:pt x="26" y="57"/>
                    </a:cubicBezTo>
                    <a:cubicBezTo>
                      <a:pt x="26" y="56"/>
                      <a:pt x="26" y="56"/>
                      <a:pt x="26" y="56"/>
                    </a:cubicBezTo>
                    <a:cubicBezTo>
                      <a:pt x="26" y="56"/>
                      <a:pt x="25" y="56"/>
                      <a:pt x="24" y="57"/>
                    </a:cubicBezTo>
                    <a:cubicBezTo>
                      <a:pt x="24" y="57"/>
                      <a:pt x="24" y="57"/>
                      <a:pt x="24" y="58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4" y="58"/>
                      <a:pt x="24" y="58"/>
                      <a:pt x="24" y="58"/>
                    </a:cubicBezTo>
                    <a:cubicBezTo>
                      <a:pt x="23" y="60"/>
                      <a:pt x="22" y="60"/>
                      <a:pt x="21" y="60"/>
                    </a:cubicBezTo>
                    <a:cubicBezTo>
                      <a:pt x="20" y="60"/>
                      <a:pt x="20" y="60"/>
                      <a:pt x="20" y="61"/>
                    </a:cubicBezTo>
                    <a:cubicBezTo>
                      <a:pt x="20" y="61"/>
                      <a:pt x="20" y="61"/>
                      <a:pt x="20" y="61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19" y="61"/>
                      <a:pt x="19" y="61"/>
                      <a:pt x="19" y="61"/>
                    </a:cubicBezTo>
                    <a:cubicBezTo>
                      <a:pt x="18" y="61"/>
                      <a:pt x="18" y="61"/>
                      <a:pt x="18" y="61"/>
                    </a:cubicBezTo>
                    <a:cubicBezTo>
                      <a:pt x="17" y="62"/>
                      <a:pt x="17" y="64"/>
                      <a:pt x="17" y="65"/>
                    </a:cubicBezTo>
                    <a:cubicBezTo>
                      <a:pt x="17" y="65"/>
                      <a:pt x="17" y="65"/>
                      <a:pt x="17" y="65"/>
                    </a:cubicBezTo>
                    <a:cubicBezTo>
                      <a:pt x="17" y="66"/>
                      <a:pt x="16" y="67"/>
                      <a:pt x="16" y="67"/>
                    </a:cubicBezTo>
                    <a:cubicBezTo>
                      <a:pt x="15" y="67"/>
                      <a:pt x="15" y="67"/>
                      <a:pt x="15" y="67"/>
                    </a:cubicBezTo>
                    <a:cubicBezTo>
                      <a:pt x="15" y="68"/>
                      <a:pt x="15" y="68"/>
                      <a:pt x="15" y="68"/>
                    </a:cubicBezTo>
                    <a:cubicBezTo>
                      <a:pt x="16" y="70"/>
                      <a:pt x="16" y="71"/>
                      <a:pt x="15" y="71"/>
                    </a:cubicBezTo>
                    <a:cubicBezTo>
                      <a:pt x="15" y="72"/>
                      <a:pt x="14" y="72"/>
                      <a:pt x="14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3" y="72"/>
                      <a:pt x="13" y="72"/>
                      <a:pt x="13" y="72"/>
                    </a:cubicBezTo>
                    <a:cubicBezTo>
                      <a:pt x="12" y="71"/>
                      <a:pt x="12" y="71"/>
                      <a:pt x="12" y="71"/>
                    </a:cubicBezTo>
                    <a:cubicBezTo>
                      <a:pt x="11" y="71"/>
                      <a:pt x="11" y="72"/>
                      <a:pt x="11" y="72"/>
                    </a:cubicBezTo>
                    <a:cubicBezTo>
                      <a:pt x="11" y="73"/>
                      <a:pt x="11" y="73"/>
                      <a:pt x="11" y="73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10" y="73"/>
                      <a:pt x="10" y="73"/>
                      <a:pt x="10" y="73"/>
                    </a:cubicBezTo>
                    <a:cubicBezTo>
                      <a:pt x="9" y="73"/>
                      <a:pt x="9" y="73"/>
                      <a:pt x="9" y="73"/>
                    </a:cubicBezTo>
                    <a:cubicBezTo>
                      <a:pt x="9" y="73"/>
                      <a:pt x="8" y="73"/>
                      <a:pt x="8" y="73"/>
                    </a:cubicBezTo>
                    <a:cubicBezTo>
                      <a:pt x="8" y="74"/>
                      <a:pt x="8" y="74"/>
                      <a:pt x="8" y="74"/>
                    </a:cubicBezTo>
                    <a:cubicBezTo>
                      <a:pt x="7" y="75"/>
                      <a:pt x="7" y="77"/>
                      <a:pt x="7" y="78"/>
                    </a:cubicBezTo>
                    <a:cubicBezTo>
                      <a:pt x="7" y="79"/>
                      <a:pt x="7" y="79"/>
                      <a:pt x="7" y="79"/>
                    </a:cubicBezTo>
                    <a:cubicBezTo>
                      <a:pt x="6" y="79"/>
                      <a:pt x="6" y="80"/>
                      <a:pt x="6" y="80"/>
                    </a:cubicBezTo>
                    <a:cubicBezTo>
                      <a:pt x="6" y="80"/>
                      <a:pt x="6" y="80"/>
                      <a:pt x="6" y="80"/>
                    </a:cubicBezTo>
                    <a:cubicBezTo>
                      <a:pt x="5" y="80"/>
                      <a:pt x="5" y="80"/>
                      <a:pt x="5" y="80"/>
                    </a:cubicBezTo>
                    <a:cubicBezTo>
                      <a:pt x="5" y="83"/>
                      <a:pt x="5" y="83"/>
                      <a:pt x="5" y="83"/>
                    </a:cubicBezTo>
                    <a:cubicBezTo>
                      <a:pt x="5" y="84"/>
                      <a:pt x="5" y="85"/>
                      <a:pt x="4" y="85"/>
                    </a:cubicBezTo>
                    <a:cubicBezTo>
                      <a:pt x="3" y="86"/>
                      <a:pt x="3" y="86"/>
                      <a:pt x="3" y="86"/>
                    </a:cubicBezTo>
                    <a:cubicBezTo>
                      <a:pt x="2" y="86"/>
                      <a:pt x="2" y="86"/>
                      <a:pt x="2" y="86"/>
                    </a:cubicBezTo>
                    <a:cubicBezTo>
                      <a:pt x="2" y="87"/>
                      <a:pt x="2" y="87"/>
                      <a:pt x="2" y="87"/>
                    </a:cubicBezTo>
                    <a:cubicBezTo>
                      <a:pt x="2" y="87"/>
                      <a:pt x="2" y="88"/>
                      <a:pt x="2" y="88"/>
                    </a:cubicBezTo>
                    <a:cubicBezTo>
                      <a:pt x="2" y="89"/>
                      <a:pt x="2" y="89"/>
                      <a:pt x="1" y="90"/>
                    </a:cubicBezTo>
                    <a:cubicBezTo>
                      <a:pt x="1" y="90"/>
                      <a:pt x="1" y="90"/>
                      <a:pt x="0" y="90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4"/>
                      <a:pt x="0" y="95"/>
                      <a:pt x="0" y="96"/>
                    </a:cubicBezTo>
                    <a:cubicBezTo>
                      <a:pt x="1" y="96"/>
                      <a:pt x="1" y="96"/>
                      <a:pt x="1" y="96"/>
                    </a:cubicBezTo>
                    <a:cubicBezTo>
                      <a:pt x="1" y="97"/>
                      <a:pt x="1" y="97"/>
                      <a:pt x="1" y="97"/>
                    </a:cubicBezTo>
                    <a:cubicBezTo>
                      <a:pt x="1" y="97"/>
                      <a:pt x="1" y="98"/>
                      <a:pt x="2" y="98"/>
                    </a:cubicBezTo>
                    <a:cubicBezTo>
                      <a:pt x="2" y="98"/>
                      <a:pt x="2" y="98"/>
                      <a:pt x="2" y="98"/>
                    </a:cubicBezTo>
                    <a:cubicBezTo>
                      <a:pt x="2" y="98"/>
                      <a:pt x="2" y="98"/>
                      <a:pt x="2" y="98"/>
                    </a:cubicBezTo>
                    <a:cubicBezTo>
                      <a:pt x="2" y="99"/>
                      <a:pt x="2" y="99"/>
                      <a:pt x="2" y="99"/>
                    </a:cubicBezTo>
                    <a:cubicBezTo>
                      <a:pt x="2" y="99"/>
                      <a:pt x="2" y="99"/>
                      <a:pt x="2" y="99"/>
                    </a:cubicBezTo>
                    <a:cubicBezTo>
                      <a:pt x="2" y="100"/>
                      <a:pt x="3" y="100"/>
                      <a:pt x="4" y="101"/>
                    </a:cubicBezTo>
                    <a:cubicBezTo>
                      <a:pt x="4" y="101"/>
                      <a:pt x="4" y="101"/>
                      <a:pt x="4" y="101"/>
                    </a:cubicBezTo>
                    <a:cubicBezTo>
                      <a:pt x="4" y="101"/>
                      <a:pt x="4" y="101"/>
                      <a:pt x="4" y="101"/>
                    </a:cubicBezTo>
                    <a:cubicBezTo>
                      <a:pt x="4" y="101"/>
                      <a:pt x="4" y="102"/>
                      <a:pt x="4" y="102"/>
                    </a:cubicBezTo>
                    <a:cubicBezTo>
                      <a:pt x="4" y="103"/>
                      <a:pt x="4" y="103"/>
                      <a:pt x="4" y="103"/>
                    </a:cubicBezTo>
                    <a:cubicBezTo>
                      <a:pt x="4" y="104"/>
                      <a:pt x="4" y="105"/>
                      <a:pt x="3" y="106"/>
                    </a:cubicBezTo>
                    <a:cubicBezTo>
                      <a:pt x="3" y="106"/>
                      <a:pt x="3" y="107"/>
                      <a:pt x="2" y="107"/>
                    </a:cubicBezTo>
                    <a:cubicBezTo>
                      <a:pt x="2" y="108"/>
                      <a:pt x="1" y="108"/>
                      <a:pt x="1" y="109"/>
                    </a:cubicBezTo>
                    <a:cubicBezTo>
                      <a:pt x="0" y="110"/>
                      <a:pt x="0" y="110"/>
                      <a:pt x="0" y="110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2" y="111"/>
                      <a:pt x="2" y="111"/>
                      <a:pt x="2" y="111"/>
                    </a:cubicBezTo>
                    <a:cubicBezTo>
                      <a:pt x="2" y="112"/>
                      <a:pt x="2" y="112"/>
                      <a:pt x="2" y="112"/>
                    </a:cubicBezTo>
                    <a:cubicBezTo>
                      <a:pt x="2" y="112"/>
                      <a:pt x="2" y="112"/>
                      <a:pt x="2" y="112"/>
                    </a:cubicBezTo>
                    <a:cubicBezTo>
                      <a:pt x="2" y="112"/>
                      <a:pt x="2" y="113"/>
                      <a:pt x="3" y="113"/>
                    </a:cubicBezTo>
                    <a:cubicBezTo>
                      <a:pt x="4" y="114"/>
                      <a:pt x="4" y="114"/>
                      <a:pt x="4" y="114"/>
                    </a:cubicBezTo>
                    <a:cubicBezTo>
                      <a:pt x="4" y="114"/>
                      <a:pt x="4" y="115"/>
                      <a:pt x="5" y="116"/>
                    </a:cubicBezTo>
                    <a:cubicBezTo>
                      <a:pt x="5" y="116"/>
                      <a:pt x="5" y="116"/>
                      <a:pt x="5" y="116"/>
                    </a:cubicBezTo>
                    <a:cubicBezTo>
                      <a:pt x="5" y="117"/>
                      <a:pt x="5" y="117"/>
                      <a:pt x="6" y="118"/>
                    </a:cubicBezTo>
                    <a:cubicBezTo>
                      <a:pt x="6" y="118"/>
                      <a:pt x="7" y="118"/>
                      <a:pt x="7" y="118"/>
                    </a:cubicBezTo>
                    <a:cubicBezTo>
                      <a:pt x="7" y="119"/>
                      <a:pt x="7" y="119"/>
                      <a:pt x="7" y="119"/>
                    </a:cubicBezTo>
                    <a:cubicBezTo>
                      <a:pt x="8" y="119"/>
                      <a:pt x="9" y="120"/>
                      <a:pt x="9" y="120"/>
                    </a:cubicBezTo>
                    <a:cubicBezTo>
                      <a:pt x="11" y="121"/>
                      <a:pt x="11" y="123"/>
                      <a:pt x="11" y="125"/>
                    </a:cubicBezTo>
                    <a:cubicBezTo>
                      <a:pt x="11" y="125"/>
                      <a:pt x="11" y="125"/>
                      <a:pt x="11" y="125"/>
                    </a:cubicBezTo>
                    <a:cubicBezTo>
                      <a:pt x="11" y="126"/>
                      <a:pt x="11" y="129"/>
                      <a:pt x="13" y="129"/>
                    </a:cubicBezTo>
                    <a:cubicBezTo>
                      <a:pt x="13" y="129"/>
                      <a:pt x="13" y="129"/>
                      <a:pt x="13" y="129"/>
                    </a:cubicBezTo>
                    <a:cubicBezTo>
                      <a:pt x="14" y="129"/>
                      <a:pt x="14" y="129"/>
                      <a:pt x="14" y="129"/>
                    </a:cubicBezTo>
                    <a:cubicBezTo>
                      <a:pt x="14" y="129"/>
                      <a:pt x="14" y="129"/>
                      <a:pt x="14" y="129"/>
                    </a:cubicBezTo>
                    <a:cubicBezTo>
                      <a:pt x="14" y="131"/>
                      <a:pt x="14" y="131"/>
                      <a:pt x="14" y="131"/>
                    </a:cubicBezTo>
                    <a:cubicBezTo>
                      <a:pt x="15" y="131"/>
                      <a:pt x="15" y="131"/>
                      <a:pt x="15" y="131"/>
                    </a:cubicBezTo>
                    <a:cubicBezTo>
                      <a:pt x="16" y="131"/>
                      <a:pt x="16" y="131"/>
                      <a:pt x="16" y="131"/>
                    </a:cubicBezTo>
                    <a:cubicBezTo>
                      <a:pt x="18" y="131"/>
                      <a:pt x="18" y="131"/>
                      <a:pt x="18" y="131"/>
                    </a:cubicBezTo>
                    <a:cubicBezTo>
                      <a:pt x="18" y="131"/>
                      <a:pt x="18" y="132"/>
                      <a:pt x="20" y="132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0" y="132"/>
                      <a:pt x="20" y="132"/>
                      <a:pt x="20" y="132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21" y="132"/>
                      <a:pt x="21" y="132"/>
                      <a:pt x="21" y="132"/>
                    </a:cubicBezTo>
                    <a:cubicBezTo>
                      <a:pt x="21" y="133"/>
                      <a:pt x="21" y="134"/>
                      <a:pt x="22" y="134"/>
                    </a:cubicBezTo>
                    <a:cubicBezTo>
                      <a:pt x="22" y="134"/>
                      <a:pt x="22" y="134"/>
                      <a:pt x="22" y="134"/>
                    </a:cubicBezTo>
                    <a:cubicBezTo>
                      <a:pt x="22" y="135"/>
                      <a:pt x="23" y="136"/>
                      <a:pt x="24" y="136"/>
                    </a:cubicBezTo>
                    <a:cubicBezTo>
                      <a:pt x="25" y="136"/>
                      <a:pt x="26" y="137"/>
                      <a:pt x="26" y="137"/>
                    </a:cubicBezTo>
                    <a:cubicBezTo>
                      <a:pt x="27" y="138"/>
                      <a:pt x="27" y="138"/>
                      <a:pt x="27" y="138"/>
                    </a:cubicBezTo>
                    <a:cubicBezTo>
                      <a:pt x="27" y="138"/>
                      <a:pt x="27" y="138"/>
                      <a:pt x="27" y="138"/>
                    </a:cubicBezTo>
                    <a:cubicBezTo>
                      <a:pt x="27" y="139"/>
                      <a:pt x="28" y="139"/>
                      <a:pt x="28" y="139"/>
                    </a:cubicBezTo>
                    <a:cubicBezTo>
                      <a:pt x="30" y="139"/>
                      <a:pt x="30" y="139"/>
                      <a:pt x="30" y="139"/>
                    </a:cubicBezTo>
                    <a:cubicBezTo>
                      <a:pt x="30" y="138"/>
                      <a:pt x="30" y="138"/>
                      <a:pt x="30" y="138"/>
                    </a:cubicBezTo>
                    <a:cubicBezTo>
                      <a:pt x="30" y="138"/>
                      <a:pt x="30" y="138"/>
                      <a:pt x="30" y="138"/>
                    </a:cubicBezTo>
                    <a:cubicBezTo>
                      <a:pt x="31" y="138"/>
                      <a:pt x="31" y="138"/>
                      <a:pt x="32" y="138"/>
                    </a:cubicBezTo>
                    <a:cubicBezTo>
                      <a:pt x="33" y="138"/>
                      <a:pt x="33" y="138"/>
                      <a:pt x="33" y="138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7"/>
                      <a:pt x="33" y="137"/>
                      <a:pt x="33" y="137"/>
                    </a:cubicBezTo>
                    <a:cubicBezTo>
                      <a:pt x="33" y="137"/>
                      <a:pt x="34" y="136"/>
                      <a:pt x="34" y="136"/>
                    </a:cubicBezTo>
                    <a:cubicBezTo>
                      <a:pt x="34" y="136"/>
                      <a:pt x="35" y="137"/>
                      <a:pt x="35" y="137"/>
                    </a:cubicBezTo>
                    <a:cubicBezTo>
                      <a:pt x="35" y="137"/>
                      <a:pt x="35" y="137"/>
                      <a:pt x="35" y="137"/>
                    </a:cubicBezTo>
                    <a:cubicBezTo>
                      <a:pt x="35" y="137"/>
                      <a:pt x="36" y="138"/>
                      <a:pt x="37" y="138"/>
                    </a:cubicBezTo>
                    <a:cubicBezTo>
                      <a:pt x="38" y="138"/>
                      <a:pt x="38" y="138"/>
                      <a:pt x="38" y="138"/>
                    </a:cubicBezTo>
                    <a:cubicBezTo>
                      <a:pt x="38" y="138"/>
                      <a:pt x="38" y="138"/>
                      <a:pt x="38" y="138"/>
                    </a:cubicBezTo>
                    <a:cubicBezTo>
                      <a:pt x="38" y="138"/>
                      <a:pt x="38" y="138"/>
                      <a:pt x="38" y="138"/>
                    </a:cubicBezTo>
                    <a:cubicBezTo>
                      <a:pt x="39" y="138"/>
                      <a:pt x="39" y="138"/>
                      <a:pt x="39" y="139"/>
                    </a:cubicBezTo>
                    <a:cubicBezTo>
                      <a:pt x="40" y="139"/>
                      <a:pt x="41" y="139"/>
                      <a:pt x="42" y="139"/>
                    </a:cubicBezTo>
                    <a:cubicBezTo>
                      <a:pt x="42" y="139"/>
                      <a:pt x="42" y="139"/>
                      <a:pt x="42" y="13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3" y="139"/>
                      <a:pt x="43" y="139"/>
                      <a:pt x="43" y="139"/>
                    </a:cubicBezTo>
                    <a:cubicBezTo>
                      <a:pt x="44" y="139"/>
                      <a:pt x="44" y="139"/>
                      <a:pt x="44" y="139"/>
                    </a:cubicBezTo>
                    <a:cubicBezTo>
                      <a:pt x="46" y="139"/>
                      <a:pt x="46" y="139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6" y="138"/>
                      <a:pt x="46" y="138"/>
                      <a:pt x="46" y="138"/>
                    </a:cubicBezTo>
                    <a:cubicBezTo>
                      <a:pt x="47" y="138"/>
                      <a:pt x="47" y="138"/>
                      <a:pt x="47" y="138"/>
                    </a:cubicBezTo>
                    <a:cubicBezTo>
                      <a:pt x="47" y="137"/>
                      <a:pt x="47" y="137"/>
                      <a:pt x="47" y="137"/>
                    </a:cubicBezTo>
                    <a:cubicBezTo>
                      <a:pt x="47" y="136"/>
                      <a:pt x="47" y="136"/>
                      <a:pt x="48" y="135"/>
                    </a:cubicBezTo>
                    <a:cubicBezTo>
                      <a:pt x="48" y="134"/>
                      <a:pt x="48" y="134"/>
                      <a:pt x="49" y="134"/>
                    </a:cubicBezTo>
                    <a:cubicBezTo>
                      <a:pt x="49" y="134"/>
                      <a:pt x="49" y="133"/>
                      <a:pt x="50" y="133"/>
                    </a:cubicBezTo>
                    <a:cubicBezTo>
                      <a:pt x="50" y="133"/>
                      <a:pt x="50" y="133"/>
                      <a:pt x="50" y="133"/>
                    </a:cubicBezTo>
                    <a:cubicBezTo>
                      <a:pt x="51" y="133"/>
                      <a:pt x="51" y="133"/>
                      <a:pt x="51" y="133"/>
                    </a:cubicBezTo>
                    <a:cubicBezTo>
                      <a:pt x="54" y="133"/>
                      <a:pt x="54" y="133"/>
                      <a:pt x="54" y="133"/>
                    </a:cubicBezTo>
                    <a:cubicBezTo>
                      <a:pt x="55" y="133"/>
                      <a:pt x="56" y="134"/>
                      <a:pt x="57" y="135"/>
                    </a:cubicBezTo>
                    <a:cubicBezTo>
                      <a:pt x="57" y="136"/>
                      <a:pt x="57" y="136"/>
                      <a:pt x="58" y="136"/>
                    </a:cubicBezTo>
                    <a:cubicBezTo>
                      <a:pt x="59" y="136"/>
                      <a:pt x="59" y="136"/>
                      <a:pt x="59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36"/>
                      <a:pt x="60" y="136"/>
                      <a:pt x="60" y="136"/>
                    </a:cubicBezTo>
                    <a:cubicBezTo>
                      <a:pt x="60" y="137"/>
                      <a:pt x="60" y="137"/>
                      <a:pt x="60" y="137"/>
                    </a:cubicBezTo>
                    <a:cubicBezTo>
                      <a:pt x="60" y="138"/>
                      <a:pt x="60" y="138"/>
                      <a:pt x="60" y="138"/>
                    </a:cubicBezTo>
                    <a:cubicBezTo>
                      <a:pt x="61" y="138"/>
                      <a:pt x="61" y="138"/>
                      <a:pt x="61" y="138"/>
                    </a:cubicBezTo>
                    <a:cubicBezTo>
                      <a:pt x="61" y="138"/>
                      <a:pt x="61" y="138"/>
                      <a:pt x="61" y="138"/>
                    </a:cubicBezTo>
                    <a:cubicBezTo>
                      <a:pt x="62" y="138"/>
                      <a:pt x="62" y="138"/>
                      <a:pt x="63" y="138"/>
                    </a:cubicBezTo>
                    <a:cubicBezTo>
                      <a:pt x="64" y="138"/>
                      <a:pt x="64" y="138"/>
                      <a:pt x="64" y="138"/>
                    </a:cubicBezTo>
                    <a:cubicBezTo>
                      <a:pt x="64" y="138"/>
                      <a:pt x="64" y="138"/>
                      <a:pt x="64" y="138"/>
                    </a:cubicBezTo>
                    <a:cubicBezTo>
                      <a:pt x="64" y="139"/>
                      <a:pt x="64" y="139"/>
                      <a:pt x="64" y="139"/>
                    </a:cubicBezTo>
                    <a:cubicBezTo>
                      <a:pt x="65" y="139"/>
                      <a:pt x="65" y="139"/>
                      <a:pt x="65" y="139"/>
                    </a:cubicBezTo>
                    <a:cubicBezTo>
                      <a:pt x="66" y="139"/>
                      <a:pt x="66" y="139"/>
                      <a:pt x="67" y="140"/>
                    </a:cubicBezTo>
                    <a:cubicBezTo>
                      <a:pt x="67" y="140"/>
                      <a:pt x="68" y="140"/>
                      <a:pt x="68" y="141"/>
                    </a:cubicBezTo>
                    <a:cubicBezTo>
                      <a:pt x="69" y="141"/>
                      <a:pt x="70" y="143"/>
                      <a:pt x="70" y="144"/>
                    </a:cubicBezTo>
                    <a:cubicBezTo>
                      <a:pt x="70" y="145"/>
                      <a:pt x="70" y="145"/>
                      <a:pt x="69" y="146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7"/>
                      <a:pt x="69" y="148"/>
                      <a:pt x="68" y="148"/>
                    </a:cubicBezTo>
                    <a:cubicBezTo>
                      <a:pt x="68" y="149"/>
                      <a:pt x="68" y="149"/>
                      <a:pt x="68" y="149"/>
                    </a:cubicBezTo>
                    <a:cubicBezTo>
                      <a:pt x="68" y="149"/>
                      <a:pt x="68" y="149"/>
                      <a:pt x="68" y="149"/>
                    </a:cubicBezTo>
                    <a:cubicBezTo>
                      <a:pt x="67" y="149"/>
                      <a:pt x="67" y="149"/>
                      <a:pt x="67" y="149"/>
                    </a:cubicBezTo>
                    <a:cubicBezTo>
                      <a:pt x="67" y="151"/>
                      <a:pt x="67" y="151"/>
                      <a:pt x="67" y="151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8" y="154"/>
                      <a:pt x="68" y="154"/>
                      <a:pt x="68" y="154"/>
                    </a:cubicBezTo>
                    <a:cubicBezTo>
                      <a:pt x="68" y="154"/>
                      <a:pt x="69" y="155"/>
                      <a:pt x="70" y="155"/>
                    </a:cubicBezTo>
                    <a:cubicBezTo>
                      <a:pt x="70" y="155"/>
                      <a:pt x="70" y="155"/>
                      <a:pt x="70" y="155"/>
                    </a:cubicBezTo>
                    <a:cubicBezTo>
                      <a:pt x="70" y="156"/>
                      <a:pt x="71" y="156"/>
                      <a:pt x="71" y="157"/>
                    </a:cubicBezTo>
                    <a:cubicBezTo>
                      <a:pt x="71" y="157"/>
                      <a:pt x="71" y="157"/>
                      <a:pt x="72" y="158"/>
                    </a:cubicBezTo>
                    <a:cubicBezTo>
                      <a:pt x="72" y="159"/>
                      <a:pt x="72" y="159"/>
                      <a:pt x="73" y="160"/>
                    </a:cubicBezTo>
                    <a:cubicBezTo>
                      <a:pt x="73" y="161"/>
                      <a:pt x="73" y="161"/>
                      <a:pt x="73" y="161"/>
                    </a:cubicBezTo>
                    <a:cubicBezTo>
                      <a:pt x="73" y="161"/>
                      <a:pt x="73" y="162"/>
                      <a:pt x="73" y="162"/>
                    </a:cubicBezTo>
                    <a:cubicBezTo>
                      <a:pt x="73" y="163"/>
                      <a:pt x="73" y="163"/>
                      <a:pt x="74" y="164"/>
                    </a:cubicBezTo>
                    <a:cubicBezTo>
                      <a:pt x="75" y="164"/>
                      <a:pt x="75" y="164"/>
                      <a:pt x="75" y="164"/>
                    </a:cubicBezTo>
                    <a:cubicBezTo>
                      <a:pt x="75" y="165"/>
                      <a:pt x="75" y="165"/>
                      <a:pt x="76" y="165"/>
                    </a:cubicBezTo>
                    <a:cubicBezTo>
                      <a:pt x="76" y="165"/>
                      <a:pt x="76" y="166"/>
                      <a:pt x="76" y="166"/>
                    </a:cubicBezTo>
                    <a:cubicBezTo>
                      <a:pt x="76" y="166"/>
                      <a:pt x="76" y="166"/>
                      <a:pt x="76" y="166"/>
                    </a:cubicBezTo>
                    <a:cubicBezTo>
                      <a:pt x="76" y="167"/>
                      <a:pt x="76" y="167"/>
                      <a:pt x="76" y="168"/>
                    </a:cubicBezTo>
                    <a:cubicBezTo>
                      <a:pt x="76" y="169"/>
                      <a:pt x="76" y="169"/>
                      <a:pt x="76" y="169"/>
                    </a:cubicBezTo>
                    <a:cubicBezTo>
                      <a:pt x="76" y="169"/>
                      <a:pt x="76" y="169"/>
                      <a:pt x="76" y="169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7" y="169"/>
                      <a:pt x="77" y="169"/>
                      <a:pt x="77" y="169"/>
                    </a:cubicBezTo>
                    <a:cubicBezTo>
                      <a:pt x="77" y="170"/>
                      <a:pt x="77" y="170"/>
                      <a:pt x="77" y="170"/>
                    </a:cubicBezTo>
                    <a:cubicBezTo>
                      <a:pt x="77" y="170"/>
                      <a:pt x="77" y="170"/>
                      <a:pt x="77" y="170"/>
                    </a:cubicBezTo>
                    <a:cubicBezTo>
                      <a:pt x="77" y="173"/>
                      <a:pt x="77" y="173"/>
                      <a:pt x="77" y="173"/>
                    </a:cubicBezTo>
                    <a:cubicBezTo>
                      <a:pt x="77" y="174"/>
                      <a:pt x="77" y="174"/>
                      <a:pt x="77" y="174"/>
                    </a:cubicBezTo>
                    <a:cubicBezTo>
                      <a:pt x="77" y="174"/>
                      <a:pt x="77" y="176"/>
                      <a:pt x="77" y="176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76" y="176"/>
                      <a:pt x="76" y="176"/>
                      <a:pt x="76" y="176"/>
                    </a:cubicBezTo>
                    <a:cubicBezTo>
                      <a:pt x="76" y="181"/>
                      <a:pt x="76" y="181"/>
                      <a:pt x="76" y="181"/>
                    </a:cubicBezTo>
                    <a:cubicBezTo>
                      <a:pt x="76" y="181"/>
                      <a:pt x="76" y="181"/>
                      <a:pt x="76" y="181"/>
                    </a:cubicBezTo>
                    <a:cubicBezTo>
                      <a:pt x="77" y="181"/>
                      <a:pt x="77" y="181"/>
                      <a:pt x="77" y="181"/>
                    </a:cubicBezTo>
                    <a:cubicBezTo>
                      <a:pt x="78" y="182"/>
                      <a:pt x="78" y="182"/>
                      <a:pt x="78" y="182"/>
                    </a:cubicBezTo>
                    <a:cubicBezTo>
                      <a:pt x="77" y="182"/>
                      <a:pt x="77" y="182"/>
                      <a:pt x="77" y="183"/>
                    </a:cubicBezTo>
                    <a:cubicBezTo>
                      <a:pt x="77" y="183"/>
                      <a:pt x="77" y="183"/>
                      <a:pt x="77" y="183"/>
                    </a:cubicBezTo>
                    <a:cubicBezTo>
                      <a:pt x="77" y="183"/>
                      <a:pt x="76" y="184"/>
                      <a:pt x="76" y="184"/>
                    </a:cubicBezTo>
                    <a:cubicBezTo>
                      <a:pt x="75" y="185"/>
                      <a:pt x="75" y="185"/>
                      <a:pt x="75" y="185"/>
                    </a:cubicBezTo>
                    <a:cubicBezTo>
                      <a:pt x="74" y="186"/>
                      <a:pt x="74" y="186"/>
                      <a:pt x="74" y="187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4" y="188"/>
                      <a:pt x="74" y="188"/>
                      <a:pt x="74" y="188"/>
                    </a:cubicBezTo>
                    <a:cubicBezTo>
                      <a:pt x="73" y="187"/>
                      <a:pt x="73" y="187"/>
                      <a:pt x="73" y="187"/>
                    </a:cubicBezTo>
                    <a:cubicBezTo>
                      <a:pt x="73" y="193"/>
                      <a:pt x="73" y="193"/>
                      <a:pt x="73" y="193"/>
                    </a:cubicBezTo>
                    <a:cubicBezTo>
                      <a:pt x="73" y="193"/>
                      <a:pt x="73" y="193"/>
                      <a:pt x="73" y="193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1" y="193"/>
                      <a:pt x="71" y="193"/>
                      <a:pt x="71" y="193"/>
                    </a:cubicBezTo>
                    <a:cubicBezTo>
                      <a:pt x="71" y="194"/>
                      <a:pt x="71" y="194"/>
                      <a:pt x="71" y="194"/>
                    </a:cubicBezTo>
                    <a:cubicBezTo>
                      <a:pt x="71" y="195"/>
                      <a:pt x="71" y="195"/>
                      <a:pt x="71" y="195"/>
                    </a:cubicBezTo>
                    <a:cubicBezTo>
                      <a:pt x="70" y="196"/>
                      <a:pt x="70" y="196"/>
                      <a:pt x="70" y="196"/>
                    </a:cubicBezTo>
                    <a:cubicBezTo>
                      <a:pt x="70" y="197"/>
                      <a:pt x="70" y="197"/>
                      <a:pt x="70" y="197"/>
                    </a:cubicBezTo>
                    <a:cubicBezTo>
                      <a:pt x="70" y="198"/>
                      <a:pt x="70" y="198"/>
                      <a:pt x="70" y="198"/>
                    </a:cubicBezTo>
                    <a:cubicBezTo>
                      <a:pt x="69" y="198"/>
                      <a:pt x="69" y="198"/>
                      <a:pt x="69" y="198"/>
                    </a:cubicBezTo>
                    <a:cubicBezTo>
                      <a:pt x="68" y="197"/>
                      <a:pt x="68" y="197"/>
                      <a:pt x="68" y="197"/>
                    </a:cubicBezTo>
                    <a:cubicBezTo>
                      <a:pt x="68" y="211"/>
                      <a:pt x="68" y="211"/>
                      <a:pt x="68" y="211"/>
                    </a:cubicBezTo>
                    <a:cubicBezTo>
                      <a:pt x="69" y="211"/>
                      <a:pt x="69" y="211"/>
                      <a:pt x="69" y="211"/>
                    </a:cubicBezTo>
                    <a:cubicBezTo>
                      <a:pt x="70" y="211"/>
                      <a:pt x="70" y="211"/>
                      <a:pt x="70" y="211"/>
                    </a:cubicBezTo>
                    <a:cubicBezTo>
                      <a:pt x="70" y="211"/>
                      <a:pt x="70" y="211"/>
                      <a:pt x="70" y="211"/>
                    </a:cubicBezTo>
                    <a:cubicBezTo>
                      <a:pt x="70" y="211"/>
                      <a:pt x="70" y="211"/>
                      <a:pt x="70" y="211"/>
                    </a:cubicBezTo>
                    <a:cubicBezTo>
                      <a:pt x="70" y="212"/>
                      <a:pt x="70" y="212"/>
                      <a:pt x="70" y="212"/>
                    </a:cubicBezTo>
                    <a:cubicBezTo>
                      <a:pt x="70" y="213"/>
                      <a:pt x="70" y="213"/>
                      <a:pt x="70" y="213"/>
                    </a:cubicBezTo>
                    <a:cubicBezTo>
                      <a:pt x="70" y="213"/>
                      <a:pt x="70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4"/>
                      <a:pt x="71" y="214"/>
                      <a:pt x="71" y="214"/>
                    </a:cubicBezTo>
                    <a:cubicBezTo>
                      <a:pt x="71" y="215"/>
                      <a:pt x="71" y="215"/>
                      <a:pt x="71" y="215"/>
                    </a:cubicBezTo>
                    <a:cubicBezTo>
                      <a:pt x="71" y="217"/>
                      <a:pt x="71" y="217"/>
                      <a:pt x="71" y="218"/>
                    </a:cubicBezTo>
                    <a:cubicBezTo>
                      <a:pt x="71" y="218"/>
                      <a:pt x="71" y="218"/>
                      <a:pt x="71" y="218"/>
                    </a:cubicBezTo>
                    <a:cubicBezTo>
                      <a:pt x="70" y="217"/>
                      <a:pt x="70" y="217"/>
                      <a:pt x="70" y="217"/>
                    </a:cubicBezTo>
                    <a:cubicBezTo>
                      <a:pt x="70" y="231"/>
                      <a:pt x="70" y="231"/>
                      <a:pt x="70" y="231"/>
                    </a:cubicBezTo>
                    <a:cubicBezTo>
                      <a:pt x="70" y="231"/>
                      <a:pt x="70" y="231"/>
                      <a:pt x="70" y="231"/>
                    </a:cubicBezTo>
                    <a:cubicBezTo>
                      <a:pt x="71" y="232"/>
                      <a:pt x="71" y="232"/>
                      <a:pt x="71" y="232"/>
                    </a:cubicBezTo>
                    <a:cubicBezTo>
                      <a:pt x="72" y="232"/>
                      <a:pt x="72" y="233"/>
                      <a:pt x="72" y="234"/>
                    </a:cubicBezTo>
                    <a:cubicBezTo>
                      <a:pt x="73" y="235"/>
                      <a:pt x="73" y="236"/>
                      <a:pt x="72" y="236"/>
                    </a:cubicBezTo>
                    <a:cubicBezTo>
                      <a:pt x="72" y="237"/>
                      <a:pt x="72" y="237"/>
                      <a:pt x="71" y="238"/>
                    </a:cubicBezTo>
                    <a:cubicBezTo>
                      <a:pt x="71" y="238"/>
                      <a:pt x="70" y="238"/>
                      <a:pt x="70" y="238"/>
                    </a:cubicBezTo>
                    <a:cubicBezTo>
                      <a:pt x="69" y="239"/>
                      <a:pt x="69" y="239"/>
                      <a:pt x="69" y="239"/>
                    </a:cubicBezTo>
                    <a:cubicBezTo>
                      <a:pt x="68" y="239"/>
                      <a:pt x="68" y="239"/>
                      <a:pt x="67" y="239"/>
                    </a:cubicBezTo>
                    <a:cubicBezTo>
                      <a:pt x="67" y="240"/>
                      <a:pt x="67" y="241"/>
                      <a:pt x="67" y="242"/>
                    </a:cubicBezTo>
                    <a:cubicBezTo>
                      <a:pt x="67" y="243"/>
                      <a:pt x="67" y="243"/>
                      <a:pt x="67" y="243"/>
                    </a:cubicBezTo>
                    <a:cubicBezTo>
                      <a:pt x="67" y="243"/>
                      <a:pt x="67" y="244"/>
                      <a:pt x="68" y="245"/>
                    </a:cubicBezTo>
                    <a:cubicBezTo>
                      <a:pt x="68" y="245"/>
                      <a:pt x="69" y="245"/>
                      <a:pt x="69" y="245"/>
                    </a:cubicBezTo>
                    <a:cubicBezTo>
                      <a:pt x="70" y="245"/>
                      <a:pt x="70" y="245"/>
                      <a:pt x="71" y="245"/>
                    </a:cubicBezTo>
                    <a:cubicBezTo>
                      <a:pt x="71" y="244"/>
                      <a:pt x="71" y="244"/>
                      <a:pt x="71" y="244"/>
                    </a:cubicBezTo>
                    <a:cubicBezTo>
                      <a:pt x="72" y="244"/>
                      <a:pt x="74" y="244"/>
                      <a:pt x="75" y="244"/>
                    </a:cubicBezTo>
                    <a:cubicBezTo>
                      <a:pt x="76" y="244"/>
                      <a:pt x="76" y="244"/>
                      <a:pt x="76" y="244"/>
                    </a:cubicBezTo>
                    <a:cubicBezTo>
                      <a:pt x="78" y="244"/>
                      <a:pt x="80" y="243"/>
                      <a:pt x="81" y="242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83" y="242"/>
                      <a:pt x="83" y="242"/>
                      <a:pt x="83" y="242"/>
                    </a:cubicBezTo>
                    <a:cubicBezTo>
                      <a:pt x="83" y="243"/>
                      <a:pt x="83" y="243"/>
                      <a:pt x="83" y="243"/>
                    </a:cubicBezTo>
                    <a:cubicBezTo>
                      <a:pt x="84" y="243"/>
                      <a:pt x="84" y="242"/>
                      <a:pt x="85" y="242"/>
                    </a:cubicBezTo>
                    <a:cubicBezTo>
                      <a:pt x="85" y="241"/>
                      <a:pt x="85" y="241"/>
                      <a:pt x="85" y="241"/>
                    </a:cubicBezTo>
                    <a:cubicBezTo>
                      <a:pt x="85" y="240"/>
                      <a:pt x="86" y="240"/>
                      <a:pt x="87" y="240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7" y="239"/>
                      <a:pt x="87" y="239"/>
                      <a:pt x="87" y="239"/>
                    </a:cubicBezTo>
                    <a:cubicBezTo>
                      <a:pt x="87" y="236"/>
                      <a:pt x="88" y="234"/>
                      <a:pt x="90" y="233"/>
                    </a:cubicBezTo>
                    <a:cubicBezTo>
                      <a:pt x="90" y="233"/>
                      <a:pt x="91" y="232"/>
                      <a:pt x="93" y="232"/>
                    </a:cubicBezTo>
                    <a:cubicBezTo>
                      <a:pt x="93" y="232"/>
                      <a:pt x="93" y="232"/>
                      <a:pt x="93" y="232"/>
                    </a:cubicBezTo>
                    <a:cubicBezTo>
                      <a:pt x="94" y="232"/>
                      <a:pt x="94" y="232"/>
                      <a:pt x="95" y="232"/>
                    </a:cubicBezTo>
                    <a:cubicBezTo>
                      <a:pt x="95" y="232"/>
                      <a:pt x="95" y="232"/>
                      <a:pt x="96" y="232"/>
                    </a:cubicBezTo>
                    <a:cubicBezTo>
                      <a:pt x="96" y="232"/>
                      <a:pt x="97" y="232"/>
                      <a:pt x="97" y="232"/>
                    </a:cubicBezTo>
                    <a:cubicBezTo>
                      <a:pt x="99" y="232"/>
                      <a:pt x="99" y="231"/>
                      <a:pt x="99" y="231"/>
                    </a:cubicBezTo>
                    <a:cubicBezTo>
                      <a:pt x="99" y="230"/>
                      <a:pt x="99" y="229"/>
                      <a:pt x="99" y="229"/>
                    </a:cubicBezTo>
                    <a:cubicBezTo>
                      <a:pt x="99" y="228"/>
                      <a:pt x="99" y="228"/>
                      <a:pt x="99" y="228"/>
                    </a:cubicBezTo>
                    <a:cubicBezTo>
                      <a:pt x="99" y="226"/>
                      <a:pt x="99" y="226"/>
                      <a:pt x="99" y="226"/>
                    </a:cubicBezTo>
                    <a:cubicBezTo>
                      <a:pt x="99" y="225"/>
                      <a:pt x="99" y="225"/>
                      <a:pt x="98" y="225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7" y="224"/>
                      <a:pt x="98" y="223"/>
                      <a:pt x="98" y="223"/>
                    </a:cubicBezTo>
                    <a:cubicBezTo>
                      <a:pt x="98" y="222"/>
                      <a:pt x="98" y="222"/>
                      <a:pt x="98" y="222"/>
                    </a:cubicBezTo>
                    <a:cubicBezTo>
                      <a:pt x="99" y="222"/>
                      <a:pt x="99" y="222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99" y="221"/>
                      <a:pt x="99" y="221"/>
                      <a:pt x="99" y="221"/>
                    </a:cubicBezTo>
                    <a:cubicBezTo>
                      <a:pt x="100" y="221"/>
                      <a:pt x="100" y="221"/>
                      <a:pt x="100" y="221"/>
                    </a:cubicBezTo>
                    <a:cubicBezTo>
                      <a:pt x="100" y="220"/>
                      <a:pt x="100" y="220"/>
                      <a:pt x="100" y="220"/>
                    </a:cubicBezTo>
                    <a:cubicBezTo>
                      <a:pt x="100" y="219"/>
                      <a:pt x="100" y="219"/>
                      <a:pt x="100" y="219"/>
                    </a:cubicBezTo>
                    <a:cubicBezTo>
                      <a:pt x="101" y="219"/>
                      <a:pt x="101" y="219"/>
                      <a:pt x="101" y="219"/>
                    </a:cubicBezTo>
                    <a:cubicBezTo>
                      <a:pt x="101" y="219"/>
                      <a:pt x="101" y="219"/>
                      <a:pt x="101" y="219"/>
                    </a:cubicBezTo>
                    <a:cubicBezTo>
                      <a:pt x="101" y="219"/>
                      <a:pt x="102" y="219"/>
                      <a:pt x="102" y="219"/>
                    </a:cubicBezTo>
                    <a:cubicBezTo>
                      <a:pt x="103" y="219"/>
                      <a:pt x="104" y="218"/>
                      <a:pt x="105" y="216"/>
                    </a:cubicBezTo>
                    <a:cubicBezTo>
                      <a:pt x="105" y="215"/>
                      <a:pt x="105" y="213"/>
                      <a:pt x="105" y="212"/>
                    </a:cubicBezTo>
                    <a:cubicBezTo>
                      <a:pt x="105" y="211"/>
                      <a:pt x="105" y="211"/>
                      <a:pt x="105" y="211"/>
                    </a:cubicBezTo>
                    <a:cubicBezTo>
                      <a:pt x="105" y="211"/>
                      <a:pt x="105" y="210"/>
                      <a:pt x="105" y="209"/>
                    </a:cubicBezTo>
                    <a:cubicBezTo>
                      <a:pt x="105" y="209"/>
                      <a:pt x="105" y="209"/>
                      <a:pt x="105" y="209"/>
                    </a:cubicBezTo>
                    <a:cubicBezTo>
                      <a:pt x="106" y="210"/>
                      <a:pt x="106" y="210"/>
                      <a:pt x="106" y="210"/>
                    </a:cubicBezTo>
                    <a:cubicBezTo>
                      <a:pt x="106" y="208"/>
                      <a:pt x="106" y="208"/>
                      <a:pt x="106" y="208"/>
                    </a:cubicBezTo>
                    <a:cubicBezTo>
                      <a:pt x="106" y="208"/>
                      <a:pt x="106" y="207"/>
                      <a:pt x="106" y="207"/>
                    </a:cubicBezTo>
                    <a:cubicBezTo>
                      <a:pt x="107" y="206"/>
                      <a:pt x="107" y="206"/>
                      <a:pt x="108" y="206"/>
                    </a:cubicBezTo>
                    <a:cubicBezTo>
                      <a:pt x="108" y="205"/>
                      <a:pt x="108" y="205"/>
                      <a:pt x="108" y="205"/>
                    </a:cubicBezTo>
                    <a:cubicBezTo>
                      <a:pt x="109" y="205"/>
                      <a:pt x="109" y="205"/>
                      <a:pt x="110" y="204"/>
                    </a:cubicBezTo>
                    <a:cubicBezTo>
                      <a:pt x="110" y="204"/>
                      <a:pt x="110" y="203"/>
                      <a:pt x="110" y="202"/>
                    </a:cubicBezTo>
                    <a:cubicBezTo>
                      <a:pt x="110" y="201"/>
                      <a:pt x="110" y="201"/>
                      <a:pt x="110" y="201"/>
                    </a:cubicBezTo>
                    <a:cubicBezTo>
                      <a:pt x="110" y="200"/>
                      <a:pt x="110" y="200"/>
                      <a:pt x="110" y="200"/>
                    </a:cubicBezTo>
                    <a:cubicBezTo>
                      <a:pt x="111" y="199"/>
                      <a:pt x="111" y="199"/>
                      <a:pt x="112" y="198"/>
                    </a:cubicBezTo>
                    <a:cubicBezTo>
                      <a:pt x="113" y="197"/>
                      <a:pt x="114" y="196"/>
                      <a:pt x="116" y="195"/>
                    </a:cubicBezTo>
                    <a:cubicBezTo>
                      <a:pt x="116" y="194"/>
                      <a:pt x="116" y="194"/>
                      <a:pt x="117" y="194"/>
                    </a:cubicBezTo>
                    <a:cubicBezTo>
                      <a:pt x="117" y="193"/>
                      <a:pt x="118" y="193"/>
                      <a:pt x="118" y="192"/>
                    </a:cubicBezTo>
                    <a:cubicBezTo>
                      <a:pt x="118" y="191"/>
                      <a:pt x="118" y="191"/>
                      <a:pt x="118" y="190"/>
                    </a:cubicBezTo>
                    <a:cubicBezTo>
                      <a:pt x="118" y="189"/>
                      <a:pt x="118" y="189"/>
                      <a:pt x="118" y="188"/>
                    </a:cubicBezTo>
                    <a:cubicBezTo>
                      <a:pt x="117" y="187"/>
                      <a:pt x="117" y="186"/>
                      <a:pt x="118" y="185"/>
                    </a:cubicBezTo>
                    <a:cubicBezTo>
                      <a:pt x="118" y="184"/>
                      <a:pt x="118" y="182"/>
                      <a:pt x="118" y="181"/>
                    </a:cubicBezTo>
                    <a:cubicBezTo>
                      <a:pt x="119" y="181"/>
                      <a:pt x="119" y="181"/>
                      <a:pt x="119" y="181"/>
                    </a:cubicBezTo>
                    <a:cubicBezTo>
                      <a:pt x="119" y="180"/>
                      <a:pt x="119" y="180"/>
                      <a:pt x="119" y="180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19" y="179"/>
                      <a:pt x="119" y="179"/>
                      <a:pt x="119" y="179"/>
                    </a:cubicBezTo>
                    <a:cubicBezTo>
                      <a:pt x="120" y="180"/>
                      <a:pt x="120" y="180"/>
                      <a:pt x="120" y="180"/>
                    </a:cubicBezTo>
                    <a:cubicBezTo>
                      <a:pt x="120" y="179"/>
                      <a:pt x="120" y="179"/>
                      <a:pt x="120" y="179"/>
                    </a:cubicBezTo>
                    <a:cubicBezTo>
                      <a:pt x="121" y="176"/>
                      <a:pt x="121" y="173"/>
                      <a:pt x="120" y="171"/>
                    </a:cubicBezTo>
                    <a:cubicBezTo>
                      <a:pt x="120" y="169"/>
                      <a:pt x="120" y="168"/>
                      <a:pt x="120" y="166"/>
                    </a:cubicBezTo>
                    <a:cubicBezTo>
                      <a:pt x="120" y="164"/>
                      <a:pt x="120" y="162"/>
                      <a:pt x="121" y="161"/>
                    </a:cubicBezTo>
                    <a:cubicBezTo>
                      <a:pt x="121" y="160"/>
                      <a:pt x="121" y="159"/>
                      <a:pt x="122" y="159"/>
                    </a:cubicBezTo>
                    <a:cubicBezTo>
                      <a:pt x="122" y="159"/>
                      <a:pt x="122" y="159"/>
                      <a:pt x="122" y="159"/>
                    </a:cubicBezTo>
                    <a:cubicBezTo>
                      <a:pt x="122" y="158"/>
                      <a:pt x="122" y="158"/>
                      <a:pt x="122" y="158"/>
                    </a:cubicBezTo>
                    <a:cubicBezTo>
                      <a:pt x="122" y="158"/>
                      <a:pt x="122" y="158"/>
                      <a:pt x="122" y="158"/>
                    </a:cubicBezTo>
                    <a:cubicBezTo>
                      <a:pt x="122" y="158"/>
                      <a:pt x="122" y="158"/>
                      <a:pt x="122" y="158"/>
                    </a:cubicBezTo>
                    <a:cubicBezTo>
                      <a:pt x="123" y="158"/>
                      <a:pt x="123" y="158"/>
                      <a:pt x="123" y="158"/>
                    </a:cubicBezTo>
                    <a:cubicBezTo>
                      <a:pt x="123" y="157"/>
                      <a:pt x="123" y="157"/>
                      <a:pt x="123" y="157"/>
                    </a:cubicBezTo>
                    <a:cubicBezTo>
                      <a:pt x="123" y="156"/>
                      <a:pt x="123" y="156"/>
                      <a:pt x="123" y="156"/>
                    </a:cubicBezTo>
                    <a:cubicBezTo>
                      <a:pt x="123" y="156"/>
                      <a:pt x="123" y="155"/>
                      <a:pt x="123" y="155"/>
                    </a:cubicBezTo>
                    <a:cubicBezTo>
                      <a:pt x="124" y="155"/>
                      <a:pt x="124" y="155"/>
                      <a:pt x="124" y="155"/>
                    </a:cubicBezTo>
                    <a:cubicBezTo>
                      <a:pt x="125" y="155"/>
                      <a:pt x="125" y="155"/>
                      <a:pt x="125" y="155"/>
                    </a:cubicBezTo>
                    <a:cubicBezTo>
                      <a:pt x="125" y="150"/>
                      <a:pt x="125" y="150"/>
                      <a:pt x="125" y="150"/>
                    </a:cubicBezTo>
                    <a:cubicBezTo>
                      <a:pt x="125" y="149"/>
                      <a:pt x="124" y="149"/>
                      <a:pt x="124" y="149"/>
                    </a:cubicBezTo>
                    <a:cubicBezTo>
                      <a:pt x="124" y="149"/>
                      <a:pt x="124" y="149"/>
                      <a:pt x="124" y="149"/>
                    </a:cubicBezTo>
                    <a:cubicBezTo>
                      <a:pt x="123" y="148"/>
                      <a:pt x="123" y="148"/>
                      <a:pt x="123" y="147"/>
                    </a:cubicBezTo>
                    <a:cubicBezTo>
                      <a:pt x="123" y="146"/>
                      <a:pt x="123" y="146"/>
                      <a:pt x="123" y="146"/>
                    </a:cubicBezTo>
                    <a:cubicBezTo>
                      <a:pt x="123" y="145"/>
                      <a:pt x="123" y="145"/>
                      <a:pt x="123" y="145"/>
                    </a:cubicBezTo>
                    <a:cubicBezTo>
                      <a:pt x="123" y="144"/>
                      <a:pt x="123" y="143"/>
                      <a:pt x="124" y="142"/>
                    </a:cubicBezTo>
                    <a:cubicBezTo>
                      <a:pt x="124" y="142"/>
                      <a:pt x="124" y="142"/>
                      <a:pt x="124" y="142"/>
                    </a:cubicBezTo>
                    <a:cubicBezTo>
                      <a:pt x="124" y="142"/>
                      <a:pt x="125" y="142"/>
                      <a:pt x="125" y="141"/>
                    </a:cubicBezTo>
                    <a:cubicBezTo>
                      <a:pt x="125" y="140"/>
                      <a:pt x="125" y="140"/>
                      <a:pt x="125" y="140"/>
                    </a:cubicBezTo>
                    <a:cubicBezTo>
                      <a:pt x="125" y="139"/>
                      <a:pt x="125" y="139"/>
                      <a:pt x="125" y="138"/>
                    </a:cubicBezTo>
                    <a:cubicBezTo>
                      <a:pt x="125" y="138"/>
                      <a:pt x="125" y="137"/>
                      <a:pt x="125" y="137"/>
                    </a:cubicBezTo>
                    <a:cubicBezTo>
                      <a:pt x="125" y="136"/>
                      <a:pt x="125" y="136"/>
                      <a:pt x="125" y="135"/>
                    </a:cubicBezTo>
                    <a:cubicBezTo>
                      <a:pt x="125" y="135"/>
                      <a:pt x="125" y="135"/>
                      <a:pt x="125" y="135"/>
                    </a:cubicBezTo>
                    <a:cubicBezTo>
                      <a:pt x="126" y="135"/>
                      <a:pt x="126" y="135"/>
                      <a:pt x="126" y="135"/>
                    </a:cubicBezTo>
                    <a:cubicBezTo>
                      <a:pt x="126" y="128"/>
                      <a:pt x="126" y="128"/>
                      <a:pt x="126" y="128"/>
                    </a:cubicBezTo>
                    <a:cubicBezTo>
                      <a:pt x="126" y="127"/>
                      <a:pt x="126" y="127"/>
                      <a:pt x="126" y="127"/>
                    </a:cubicBezTo>
                    <a:cubicBezTo>
                      <a:pt x="126" y="126"/>
                      <a:pt x="126" y="125"/>
                      <a:pt x="126" y="124"/>
                    </a:cubicBezTo>
                    <a:cubicBezTo>
                      <a:pt x="125" y="123"/>
                      <a:pt x="124" y="122"/>
                      <a:pt x="122" y="121"/>
                    </a:cubicBezTo>
                    <a:cubicBezTo>
                      <a:pt x="122" y="121"/>
                      <a:pt x="122" y="120"/>
                      <a:pt x="122" y="120"/>
                    </a:cubicBezTo>
                    <a:cubicBezTo>
                      <a:pt x="122" y="116"/>
                      <a:pt x="122" y="116"/>
                      <a:pt x="122" y="116"/>
                    </a:cubicBezTo>
                    <a:cubicBezTo>
                      <a:pt x="120" y="116"/>
                      <a:pt x="120" y="116"/>
                      <a:pt x="120" y="116"/>
                    </a:cubicBezTo>
                    <a:cubicBezTo>
                      <a:pt x="120" y="116"/>
                      <a:pt x="120" y="116"/>
                      <a:pt x="120" y="116"/>
                    </a:cubicBezTo>
                    <a:cubicBezTo>
                      <a:pt x="120" y="115"/>
                      <a:pt x="120" y="115"/>
                      <a:pt x="120" y="115"/>
                    </a:cubicBezTo>
                    <a:cubicBezTo>
                      <a:pt x="120" y="115"/>
                      <a:pt x="120" y="115"/>
                      <a:pt x="120" y="115"/>
                    </a:cubicBezTo>
                    <a:cubicBezTo>
                      <a:pt x="120" y="114"/>
                      <a:pt x="120" y="114"/>
                      <a:pt x="120" y="113"/>
                    </a:cubicBezTo>
                    <a:cubicBezTo>
                      <a:pt x="119" y="113"/>
                      <a:pt x="119" y="113"/>
                      <a:pt x="119" y="113"/>
                    </a:cubicBezTo>
                    <a:cubicBezTo>
                      <a:pt x="119" y="112"/>
                      <a:pt x="119" y="112"/>
                      <a:pt x="118" y="112"/>
                    </a:cubicBezTo>
                    <a:cubicBezTo>
                      <a:pt x="118" y="111"/>
                      <a:pt x="118" y="111"/>
                      <a:pt x="118" y="111"/>
                    </a:cubicBezTo>
                    <a:cubicBezTo>
                      <a:pt x="118" y="111"/>
                      <a:pt x="118" y="111"/>
                      <a:pt x="118" y="111"/>
                    </a:cubicBezTo>
                    <a:cubicBezTo>
                      <a:pt x="118" y="110"/>
                      <a:pt x="118" y="109"/>
                      <a:pt x="117" y="109"/>
                    </a:cubicBezTo>
                    <a:cubicBezTo>
                      <a:pt x="116" y="109"/>
                      <a:pt x="116" y="109"/>
                      <a:pt x="116" y="109"/>
                    </a:cubicBezTo>
                    <a:cubicBezTo>
                      <a:pt x="116" y="109"/>
                      <a:pt x="116" y="109"/>
                      <a:pt x="116" y="109"/>
                    </a:cubicBezTo>
                    <a:cubicBezTo>
                      <a:pt x="116" y="108"/>
                      <a:pt x="116" y="108"/>
                      <a:pt x="116" y="108"/>
                    </a:cubicBezTo>
                    <a:cubicBezTo>
                      <a:pt x="116" y="107"/>
                      <a:pt x="116" y="107"/>
                      <a:pt x="116" y="107"/>
                    </a:cubicBezTo>
                    <a:cubicBezTo>
                      <a:pt x="115" y="106"/>
                      <a:pt x="115" y="106"/>
                      <a:pt x="115" y="106"/>
                    </a:cubicBezTo>
                    <a:cubicBezTo>
                      <a:pt x="114" y="105"/>
                      <a:pt x="114" y="105"/>
                      <a:pt x="114" y="105"/>
                    </a:cubicBezTo>
                    <a:cubicBezTo>
                      <a:pt x="113" y="104"/>
                      <a:pt x="113" y="104"/>
                      <a:pt x="113" y="104"/>
                    </a:cubicBezTo>
                    <a:cubicBezTo>
                      <a:pt x="112" y="102"/>
                      <a:pt x="111" y="101"/>
                      <a:pt x="112" y="98"/>
                    </a:cubicBezTo>
                    <a:cubicBezTo>
                      <a:pt x="112" y="97"/>
                      <a:pt x="112" y="97"/>
                      <a:pt x="112" y="97"/>
                    </a:cubicBezTo>
                    <a:cubicBezTo>
                      <a:pt x="111" y="97"/>
                      <a:pt x="111" y="97"/>
                      <a:pt x="111" y="97"/>
                    </a:cubicBezTo>
                    <a:cubicBezTo>
                      <a:pt x="110" y="97"/>
                      <a:pt x="110" y="97"/>
                      <a:pt x="110" y="97"/>
                    </a:cubicBezTo>
                    <a:cubicBezTo>
                      <a:pt x="110" y="96"/>
                      <a:pt x="110" y="95"/>
                      <a:pt x="109" y="94"/>
                    </a:cubicBezTo>
                    <a:cubicBezTo>
                      <a:pt x="109" y="94"/>
                      <a:pt x="109" y="94"/>
                      <a:pt x="109" y="94"/>
                    </a:cubicBezTo>
                    <a:cubicBezTo>
                      <a:pt x="108" y="93"/>
                      <a:pt x="108" y="93"/>
                      <a:pt x="108" y="92"/>
                    </a:cubicBezTo>
                    <a:cubicBezTo>
                      <a:pt x="107" y="92"/>
                      <a:pt x="107" y="91"/>
                      <a:pt x="106" y="91"/>
                    </a:cubicBezTo>
                    <a:cubicBezTo>
                      <a:pt x="106" y="91"/>
                      <a:pt x="106" y="91"/>
                      <a:pt x="106" y="91"/>
                    </a:cubicBezTo>
                    <a:cubicBezTo>
                      <a:pt x="106" y="91"/>
                      <a:pt x="106" y="90"/>
                      <a:pt x="106" y="90"/>
                    </a:cubicBezTo>
                    <a:cubicBezTo>
                      <a:pt x="106" y="90"/>
                      <a:pt x="106" y="90"/>
                      <a:pt x="106" y="90"/>
                    </a:cubicBezTo>
                    <a:cubicBezTo>
                      <a:pt x="106" y="89"/>
                      <a:pt x="106" y="89"/>
                      <a:pt x="106" y="89"/>
                    </a:cubicBezTo>
                    <a:cubicBezTo>
                      <a:pt x="105" y="89"/>
                      <a:pt x="105" y="89"/>
                      <a:pt x="105" y="89"/>
                    </a:cubicBezTo>
                    <a:cubicBezTo>
                      <a:pt x="105" y="88"/>
                      <a:pt x="105" y="88"/>
                      <a:pt x="105" y="88"/>
                    </a:cubicBezTo>
                    <a:cubicBezTo>
                      <a:pt x="105" y="88"/>
                      <a:pt x="105" y="88"/>
                      <a:pt x="105" y="88"/>
                    </a:cubicBezTo>
                    <a:cubicBezTo>
                      <a:pt x="105" y="88"/>
                      <a:pt x="105" y="88"/>
                      <a:pt x="105" y="88"/>
                    </a:cubicBezTo>
                    <a:cubicBezTo>
                      <a:pt x="104" y="88"/>
                      <a:pt x="104" y="88"/>
                      <a:pt x="104" y="88"/>
                    </a:cubicBezTo>
                    <a:cubicBezTo>
                      <a:pt x="104" y="87"/>
                      <a:pt x="104" y="87"/>
                      <a:pt x="103" y="86"/>
                    </a:cubicBezTo>
                    <a:cubicBezTo>
                      <a:pt x="102" y="84"/>
                      <a:pt x="101" y="83"/>
                      <a:pt x="100" y="81"/>
                    </a:cubicBezTo>
                    <a:cubicBezTo>
                      <a:pt x="99" y="80"/>
                      <a:pt x="99" y="80"/>
                      <a:pt x="99" y="80"/>
                    </a:cubicBezTo>
                    <a:cubicBezTo>
                      <a:pt x="98" y="78"/>
                      <a:pt x="97" y="76"/>
                      <a:pt x="95" y="75"/>
                    </a:cubicBezTo>
                    <a:cubicBezTo>
                      <a:pt x="97" y="75"/>
                      <a:pt x="97" y="75"/>
                      <a:pt x="97" y="75"/>
                    </a:cubicBezTo>
                    <a:cubicBezTo>
                      <a:pt x="97" y="74"/>
                      <a:pt x="97" y="74"/>
                      <a:pt x="97" y="74"/>
                    </a:cubicBezTo>
                    <a:cubicBezTo>
                      <a:pt x="98" y="74"/>
                      <a:pt x="98" y="75"/>
                      <a:pt x="98" y="75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99" y="76"/>
                      <a:pt x="99" y="76"/>
                      <a:pt x="99" y="76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6"/>
                      <a:pt x="100" y="76"/>
                      <a:pt x="100" y="76"/>
                    </a:cubicBezTo>
                    <a:cubicBezTo>
                      <a:pt x="100" y="77"/>
                      <a:pt x="100" y="77"/>
                      <a:pt x="100" y="77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101" y="78"/>
                      <a:pt x="101" y="78"/>
                      <a:pt x="101" y="78"/>
                    </a:cubicBezTo>
                    <a:cubicBezTo>
                      <a:pt x="101" y="78"/>
                      <a:pt x="101" y="79"/>
                      <a:pt x="101" y="79"/>
                    </a:cubicBezTo>
                    <a:cubicBezTo>
                      <a:pt x="101" y="82"/>
                      <a:pt x="101" y="82"/>
                      <a:pt x="101" y="82"/>
                    </a:cubicBezTo>
                    <a:cubicBezTo>
                      <a:pt x="102" y="82"/>
                      <a:pt x="102" y="82"/>
                      <a:pt x="102" y="82"/>
                    </a:cubicBezTo>
                    <a:cubicBezTo>
                      <a:pt x="103" y="82"/>
                      <a:pt x="103" y="82"/>
                      <a:pt x="103" y="82"/>
                    </a:cubicBezTo>
                    <a:cubicBezTo>
                      <a:pt x="103" y="82"/>
                      <a:pt x="103" y="82"/>
                      <a:pt x="103" y="82"/>
                    </a:cubicBezTo>
                    <a:cubicBezTo>
                      <a:pt x="103" y="82"/>
                      <a:pt x="103" y="82"/>
                      <a:pt x="103" y="82"/>
                    </a:cubicBezTo>
                    <a:cubicBezTo>
                      <a:pt x="103" y="83"/>
                      <a:pt x="103" y="83"/>
                      <a:pt x="103" y="83"/>
                    </a:cubicBezTo>
                    <a:cubicBezTo>
                      <a:pt x="103" y="85"/>
                      <a:pt x="104" y="85"/>
                      <a:pt x="105" y="85"/>
                    </a:cubicBezTo>
                    <a:cubicBezTo>
                      <a:pt x="105" y="85"/>
                      <a:pt x="105" y="85"/>
                      <a:pt x="105" y="85"/>
                    </a:cubicBezTo>
                    <a:cubicBezTo>
                      <a:pt x="106" y="85"/>
                      <a:pt x="106" y="86"/>
                      <a:pt x="107" y="86"/>
                    </a:cubicBezTo>
                    <a:cubicBezTo>
                      <a:pt x="107" y="87"/>
                      <a:pt x="107" y="87"/>
                      <a:pt x="107" y="88"/>
                    </a:cubicBezTo>
                    <a:cubicBezTo>
                      <a:pt x="107" y="88"/>
                      <a:pt x="107" y="89"/>
                      <a:pt x="108" y="89"/>
                    </a:cubicBezTo>
                    <a:cubicBezTo>
                      <a:pt x="108" y="89"/>
                      <a:pt x="108" y="89"/>
                      <a:pt x="108" y="89"/>
                    </a:cubicBezTo>
                    <a:cubicBezTo>
                      <a:pt x="108" y="90"/>
                      <a:pt x="108" y="90"/>
                      <a:pt x="108" y="90"/>
                    </a:cubicBezTo>
                    <a:cubicBezTo>
                      <a:pt x="108" y="90"/>
                      <a:pt x="108" y="92"/>
                      <a:pt x="110" y="92"/>
                    </a:cubicBezTo>
                    <a:cubicBezTo>
                      <a:pt x="110" y="92"/>
                      <a:pt x="110" y="92"/>
                      <a:pt x="110" y="92"/>
                    </a:cubicBezTo>
                    <a:cubicBezTo>
                      <a:pt x="110" y="92"/>
                      <a:pt x="110" y="92"/>
                      <a:pt x="110" y="92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110" y="93"/>
                      <a:pt x="110" y="93"/>
                      <a:pt x="110" y="93"/>
                    </a:cubicBezTo>
                    <a:cubicBezTo>
                      <a:pt x="110" y="94"/>
                      <a:pt x="110" y="95"/>
                      <a:pt x="111" y="95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11" y="95"/>
                      <a:pt x="111" y="95"/>
                      <a:pt x="111" y="95"/>
                    </a:cubicBezTo>
                    <a:cubicBezTo>
                      <a:pt x="111" y="96"/>
                      <a:pt x="111" y="96"/>
                      <a:pt x="111" y="96"/>
                    </a:cubicBezTo>
                    <a:cubicBezTo>
                      <a:pt x="112" y="97"/>
                      <a:pt x="112" y="97"/>
                      <a:pt x="112" y="98"/>
                    </a:cubicBezTo>
                    <a:cubicBezTo>
                      <a:pt x="113" y="98"/>
                      <a:pt x="113" y="98"/>
                      <a:pt x="113" y="98"/>
                    </a:cubicBezTo>
                    <a:cubicBezTo>
                      <a:pt x="113" y="99"/>
                      <a:pt x="114" y="99"/>
                      <a:pt x="114" y="99"/>
                    </a:cubicBezTo>
                    <a:cubicBezTo>
                      <a:pt x="114" y="99"/>
                      <a:pt x="114" y="99"/>
                      <a:pt x="114" y="99"/>
                    </a:cubicBezTo>
                    <a:cubicBezTo>
                      <a:pt x="114" y="100"/>
                      <a:pt x="114" y="100"/>
                      <a:pt x="114" y="100"/>
                    </a:cubicBezTo>
                    <a:cubicBezTo>
                      <a:pt x="114" y="101"/>
                      <a:pt x="114" y="102"/>
                      <a:pt x="115" y="102"/>
                    </a:cubicBezTo>
                    <a:cubicBezTo>
                      <a:pt x="116" y="102"/>
                      <a:pt x="116" y="102"/>
                      <a:pt x="116" y="102"/>
                    </a:cubicBezTo>
                    <a:cubicBezTo>
                      <a:pt x="116" y="102"/>
                      <a:pt x="116" y="102"/>
                      <a:pt x="116" y="102"/>
                    </a:cubicBezTo>
                    <a:cubicBezTo>
                      <a:pt x="116" y="103"/>
                      <a:pt x="116" y="103"/>
                      <a:pt x="116" y="103"/>
                    </a:cubicBezTo>
                    <a:cubicBezTo>
                      <a:pt x="116" y="105"/>
                      <a:pt x="116" y="105"/>
                      <a:pt x="116" y="105"/>
                    </a:cubicBezTo>
                    <a:cubicBezTo>
                      <a:pt x="116" y="106"/>
                      <a:pt x="116" y="106"/>
                      <a:pt x="117" y="106"/>
                    </a:cubicBezTo>
                    <a:cubicBezTo>
                      <a:pt x="117" y="106"/>
                      <a:pt x="117" y="106"/>
                      <a:pt x="117" y="106"/>
                    </a:cubicBezTo>
                    <a:cubicBezTo>
                      <a:pt x="117" y="107"/>
                      <a:pt x="117" y="108"/>
                      <a:pt x="118" y="108"/>
                    </a:cubicBezTo>
                    <a:cubicBezTo>
                      <a:pt x="118" y="109"/>
                      <a:pt x="119" y="110"/>
                      <a:pt x="120" y="110"/>
                    </a:cubicBezTo>
                    <a:cubicBezTo>
                      <a:pt x="122" y="111"/>
                      <a:pt x="122" y="111"/>
                      <a:pt x="122" y="111"/>
                    </a:cubicBezTo>
                    <a:cubicBezTo>
                      <a:pt x="122" y="109"/>
                      <a:pt x="122" y="109"/>
                      <a:pt x="122" y="109"/>
                    </a:cubicBezTo>
                    <a:cubicBezTo>
                      <a:pt x="121" y="106"/>
                      <a:pt x="120" y="102"/>
                      <a:pt x="119" y="97"/>
                    </a:cubicBezTo>
                    <a:cubicBezTo>
                      <a:pt x="118" y="95"/>
                      <a:pt x="118" y="93"/>
                      <a:pt x="118" y="91"/>
                    </a:cubicBezTo>
                    <a:cubicBezTo>
                      <a:pt x="118" y="90"/>
                      <a:pt x="118" y="90"/>
                      <a:pt x="118" y="89"/>
                    </a:cubicBezTo>
                    <a:cubicBezTo>
                      <a:pt x="119" y="88"/>
                      <a:pt x="119" y="88"/>
                      <a:pt x="119" y="88"/>
                    </a:cubicBezTo>
                    <a:cubicBezTo>
                      <a:pt x="119" y="87"/>
                      <a:pt x="119" y="87"/>
                      <a:pt x="119" y="86"/>
                    </a:cubicBezTo>
                    <a:cubicBezTo>
                      <a:pt x="119" y="86"/>
                      <a:pt x="119" y="86"/>
                      <a:pt x="119" y="86"/>
                    </a:cubicBezTo>
                    <a:cubicBezTo>
                      <a:pt x="119" y="86"/>
                      <a:pt x="119" y="85"/>
                      <a:pt x="119" y="85"/>
                    </a:cubicBezTo>
                    <a:cubicBezTo>
                      <a:pt x="119" y="85"/>
                      <a:pt x="118" y="84"/>
                      <a:pt x="118" y="84"/>
                    </a:cubicBezTo>
                    <a:cubicBezTo>
                      <a:pt x="118" y="84"/>
                      <a:pt x="118" y="84"/>
                      <a:pt x="118" y="84"/>
                    </a:cubicBezTo>
                    <a:cubicBezTo>
                      <a:pt x="118" y="84"/>
                      <a:pt x="118" y="84"/>
                      <a:pt x="118" y="84"/>
                    </a:cubicBezTo>
                    <a:cubicBezTo>
                      <a:pt x="117" y="84"/>
                      <a:pt x="118" y="84"/>
                      <a:pt x="118" y="83"/>
                    </a:cubicBezTo>
                    <a:cubicBezTo>
                      <a:pt x="118" y="82"/>
                      <a:pt x="118" y="82"/>
                      <a:pt x="118" y="82"/>
                    </a:cubicBezTo>
                    <a:cubicBezTo>
                      <a:pt x="117" y="81"/>
                      <a:pt x="117" y="81"/>
                      <a:pt x="117" y="81"/>
                    </a:cubicBezTo>
                    <a:cubicBezTo>
                      <a:pt x="117" y="81"/>
                      <a:pt x="117" y="81"/>
                      <a:pt x="117" y="81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16" y="81"/>
                      <a:pt x="116" y="81"/>
                      <a:pt x="116" y="81"/>
                    </a:cubicBezTo>
                    <a:cubicBezTo>
                      <a:pt x="116" y="79"/>
                      <a:pt x="116" y="79"/>
                      <a:pt x="116" y="79"/>
                    </a:cubicBezTo>
                    <a:cubicBezTo>
                      <a:pt x="115" y="79"/>
                      <a:pt x="115" y="79"/>
                      <a:pt x="115" y="79"/>
                    </a:cubicBezTo>
                    <a:cubicBezTo>
                      <a:pt x="115" y="78"/>
                      <a:pt x="115" y="78"/>
                      <a:pt x="115" y="78"/>
                    </a:cubicBezTo>
                    <a:cubicBezTo>
                      <a:pt x="115" y="77"/>
                      <a:pt x="115" y="77"/>
                      <a:pt x="115" y="77"/>
                    </a:cubicBezTo>
                    <a:cubicBezTo>
                      <a:pt x="115" y="77"/>
                      <a:pt x="115" y="77"/>
                      <a:pt x="115" y="77"/>
                    </a:cubicBezTo>
                    <a:cubicBezTo>
                      <a:pt x="115" y="76"/>
                      <a:pt x="115" y="76"/>
                      <a:pt x="115" y="76"/>
                    </a:cubicBezTo>
                    <a:cubicBezTo>
                      <a:pt x="114" y="76"/>
                      <a:pt x="114" y="76"/>
                      <a:pt x="114" y="76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3" y="76"/>
                      <a:pt x="113" y="76"/>
                      <a:pt x="113" y="76"/>
                    </a:cubicBezTo>
                    <a:cubicBezTo>
                      <a:pt x="113" y="75"/>
                      <a:pt x="113" y="75"/>
                      <a:pt x="113" y="75"/>
                    </a:cubicBezTo>
                    <a:cubicBezTo>
                      <a:pt x="113" y="75"/>
                      <a:pt x="113" y="75"/>
                      <a:pt x="113" y="75"/>
                    </a:cubicBezTo>
                    <a:cubicBezTo>
                      <a:pt x="113" y="74"/>
                      <a:pt x="113" y="74"/>
                      <a:pt x="113" y="74"/>
                    </a:cubicBezTo>
                    <a:cubicBezTo>
                      <a:pt x="113" y="73"/>
                      <a:pt x="113" y="73"/>
                      <a:pt x="112" y="73"/>
                    </a:cubicBezTo>
                    <a:cubicBezTo>
                      <a:pt x="112" y="73"/>
                      <a:pt x="112" y="73"/>
                      <a:pt x="112" y="73"/>
                    </a:cubicBezTo>
                    <a:cubicBezTo>
                      <a:pt x="112" y="73"/>
                      <a:pt x="112" y="73"/>
                      <a:pt x="112" y="73"/>
                    </a:cubicBezTo>
                    <a:cubicBezTo>
                      <a:pt x="112" y="72"/>
                      <a:pt x="112" y="72"/>
                      <a:pt x="112" y="72"/>
                    </a:cubicBezTo>
                    <a:cubicBezTo>
                      <a:pt x="112" y="72"/>
                      <a:pt x="112" y="72"/>
                      <a:pt x="112" y="71"/>
                    </a:cubicBezTo>
                    <a:cubicBezTo>
                      <a:pt x="111" y="71"/>
                      <a:pt x="111" y="70"/>
                      <a:pt x="111" y="70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10" y="69"/>
                      <a:pt x="110" y="69"/>
                      <a:pt x="110" y="69"/>
                    </a:cubicBezTo>
                    <a:cubicBezTo>
                      <a:pt x="109" y="69"/>
                      <a:pt x="109" y="69"/>
                      <a:pt x="109" y="69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8"/>
                      <a:pt x="109" y="68"/>
                      <a:pt x="109" y="68"/>
                    </a:cubicBezTo>
                    <a:cubicBezTo>
                      <a:pt x="109" y="66"/>
                      <a:pt x="109" y="66"/>
                      <a:pt x="109" y="66"/>
                    </a:cubicBezTo>
                    <a:cubicBezTo>
                      <a:pt x="108" y="66"/>
                      <a:pt x="108" y="66"/>
                      <a:pt x="108" y="66"/>
                    </a:cubicBezTo>
                    <a:cubicBezTo>
                      <a:pt x="108" y="66"/>
                      <a:pt x="108" y="66"/>
                      <a:pt x="108" y="66"/>
                    </a:cubicBezTo>
                    <a:cubicBezTo>
                      <a:pt x="108" y="66"/>
                      <a:pt x="108" y="66"/>
                      <a:pt x="108" y="66"/>
                    </a:cubicBezTo>
                    <a:cubicBezTo>
                      <a:pt x="107" y="65"/>
                      <a:pt x="107" y="65"/>
                      <a:pt x="107" y="65"/>
                    </a:cubicBezTo>
                    <a:cubicBezTo>
                      <a:pt x="107" y="65"/>
                      <a:pt x="107" y="64"/>
                      <a:pt x="107" y="64"/>
                    </a:cubicBezTo>
                    <a:cubicBezTo>
                      <a:pt x="107" y="63"/>
                      <a:pt x="107" y="63"/>
                      <a:pt x="107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2"/>
                      <a:pt x="106" y="62"/>
                      <a:pt x="106" y="62"/>
                    </a:cubicBezTo>
                    <a:cubicBezTo>
                      <a:pt x="106" y="62"/>
                      <a:pt x="106" y="61"/>
                      <a:pt x="105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1"/>
                      <a:pt x="105" y="61"/>
                      <a:pt x="105" y="61"/>
                    </a:cubicBezTo>
                    <a:cubicBezTo>
                      <a:pt x="105" y="60"/>
                      <a:pt x="105" y="60"/>
                      <a:pt x="105" y="60"/>
                    </a:cubicBezTo>
                    <a:cubicBezTo>
                      <a:pt x="104" y="59"/>
                      <a:pt x="104" y="59"/>
                      <a:pt x="104" y="59"/>
                    </a:cubicBezTo>
                    <a:cubicBezTo>
                      <a:pt x="103" y="58"/>
                      <a:pt x="103" y="58"/>
                      <a:pt x="103" y="58"/>
                    </a:cubicBezTo>
                    <a:cubicBezTo>
                      <a:pt x="103" y="57"/>
                      <a:pt x="102" y="57"/>
                      <a:pt x="102" y="57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01" y="56"/>
                      <a:pt x="101" y="56"/>
                      <a:pt x="101" y="56"/>
                    </a:cubicBezTo>
                    <a:cubicBezTo>
                      <a:pt x="100" y="56"/>
                      <a:pt x="100" y="55"/>
                      <a:pt x="100" y="55"/>
                    </a:cubicBezTo>
                    <a:cubicBezTo>
                      <a:pt x="100" y="54"/>
                      <a:pt x="100" y="54"/>
                      <a:pt x="100" y="53"/>
                    </a:cubicBezTo>
                    <a:cubicBezTo>
                      <a:pt x="99" y="53"/>
                      <a:pt x="99" y="53"/>
                      <a:pt x="99" y="53"/>
                    </a:cubicBezTo>
                    <a:cubicBezTo>
                      <a:pt x="99" y="52"/>
                      <a:pt x="99" y="52"/>
                      <a:pt x="99" y="52"/>
                    </a:cubicBezTo>
                    <a:cubicBezTo>
                      <a:pt x="99" y="52"/>
                      <a:pt x="99" y="52"/>
                      <a:pt x="99" y="52"/>
                    </a:cubicBezTo>
                    <a:cubicBezTo>
                      <a:pt x="99" y="52"/>
                      <a:pt x="99" y="51"/>
                      <a:pt x="98" y="51"/>
                    </a:cubicBezTo>
                    <a:cubicBezTo>
                      <a:pt x="97" y="51"/>
                      <a:pt x="97" y="51"/>
                      <a:pt x="97" y="51"/>
                    </a:cubicBezTo>
                    <a:cubicBezTo>
                      <a:pt x="96" y="50"/>
                      <a:pt x="96" y="50"/>
                      <a:pt x="95" y="49"/>
                    </a:cubicBezTo>
                    <a:cubicBezTo>
                      <a:pt x="95" y="49"/>
                      <a:pt x="95" y="48"/>
                      <a:pt x="95" y="48"/>
                    </a:cubicBezTo>
                    <a:cubicBezTo>
                      <a:pt x="95" y="47"/>
                      <a:pt x="94" y="47"/>
                      <a:pt x="94" y="46"/>
                    </a:cubicBezTo>
                    <a:cubicBezTo>
                      <a:pt x="94" y="45"/>
                      <a:pt x="93" y="45"/>
                      <a:pt x="92" y="44"/>
                    </a:cubicBezTo>
                    <a:cubicBezTo>
                      <a:pt x="91" y="44"/>
                      <a:pt x="91" y="43"/>
                      <a:pt x="91" y="43"/>
                    </a:cubicBezTo>
                    <a:cubicBezTo>
                      <a:pt x="90" y="43"/>
                      <a:pt x="90" y="43"/>
                      <a:pt x="90" y="43"/>
                    </a:cubicBezTo>
                    <a:cubicBezTo>
                      <a:pt x="90" y="42"/>
                      <a:pt x="90" y="42"/>
                      <a:pt x="90" y="41"/>
                    </a:cubicBezTo>
                    <a:cubicBezTo>
                      <a:pt x="89" y="41"/>
                      <a:pt x="89" y="41"/>
                      <a:pt x="88" y="40"/>
                    </a:cubicBezTo>
                    <a:cubicBezTo>
                      <a:pt x="87" y="39"/>
                      <a:pt x="86" y="38"/>
                      <a:pt x="85" y="38"/>
                    </a:cubicBezTo>
                    <a:cubicBezTo>
                      <a:pt x="83" y="36"/>
                      <a:pt x="82" y="34"/>
                      <a:pt x="80" y="32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80" y="31"/>
                      <a:pt x="80" y="31"/>
                      <a:pt x="80" y="31"/>
                    </a:cubicBezTo>
                    <a:cubicBezTo>
                      <a:pt x="78" y="31"/>
                      <a:pt x="77" y="30"/>
                      <a:pt x="76" y="29"/>
                    </a:cubicBezTo>
                    <a:cubicBezTo>
                      <a:pt x="76" y="28"/>
                      <a:pt x="76" y="28"/>
                      <a:pt x="76" y="28"/>
                    </a:cubicBezTo>
                    <a:cubicBezTo>
                      <a:pt x="75" y="27"/>
                      <a:pt x="75" y="26"/>
                      <a:pt x="73" y="26"/>
                    </a:cubicBezTo>
                    <a:cubicBezTo>
                      <a:pt x="73" y="26"/>
                      <a:pt x="73" y="26"/>
                      <a:pt x="72" y="25"/>
                    </a:cubicBezTo>
                    <a:cubicBezTo>
                      <a:pt x="72" y="25"/>
                      <a:pt x="71" y="25"/>
                      <a:pt x="71" y="25"/>
                    </a:cubicBezTo>
                    <a:cubicBezTo>
                      <a:pt x="70" y="24"/>
                      <a:pt x="69" y="23"/>
                      <a:pt x="69" y="22"/>
                    </a:cubicBezTo>
                    <a:cubicBezTo>
                      <a:pt x="69" y="22"/>
                      <a:pt x="69" y="22"/>
                      <a:pt x="69" y="22"/>
                    </a:cubicBezTo>
                    <a:cubicBezTo>
                      <a:pt x="69" y="21"/>
                      <a:pt x="69" y="21"/>
                      <a:pt x="69" y="21"/>
                    </a:cubicBezTo>
                    <a:cubicBezTo>
                      <a:pt x="67" y="21"/>
                      <a:pt x="67" y="21"/>
                      <a:pt x="67" y="21"/>
                    </a:cubicBezTo>
                    <a:cubicBezTo>
                      <a:pt x="66" y="21"/>
                      <a:pt x="66" y="21"/>
                      <a:pt x="65" y="21"/>
                    </a:cubicBezTo>
                    <a:cubicBezTo>
                      <a:pt x="65" y="20"/>
                      <a:pt x="64" y="19"/>
                      <a:pt x="64" y="19"/>
                    </a:cubicBezTo>
                    <a:cubicBezTo>
                      <a:pt x="63" y="18"/>
                      <a:pt x="63" y="18"/>
                      <a:pt x="63" y="17"/>
                    </a:cubicBezTo>
                    <a:cubicBezTo>
                      <a:pt x="63" y="17"/>
                      <a:pt x="63" y="17"/>
                      <a:pt x="63" y="17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1" y="17"/>
                      <a:pt x="61" y="17"/>
                      <a:pt x="60" y="17"/>
                    </a:cubicBezTo>
                    <a:cubicBezTo>
                      <a:pt x="60" y="16"/>
                      <a:pt x="59" y="16"/>
                      <a:pt x="59" y="15"/>
                    </a:cubicBezTo>
                    <a:cubicBezTo>
                      <a:pt x="59" y="15"/>
                      <a:pt x="59" y="15"/>
                      <a:pt x="59" y="15"/>
                    </a:cubicBezTo>
                    <a:cubicBezTo>
                      <a:pt x="59" y="14"/>
                      <a:pt x="58" y="14"/>
                      <a:pt x="57" y="14"/>
                    </a:cubicBezTo>
                    <a:cubicBezTo>
                      <a:pt x="57" y="14"/>
                      <a:pt x="57" y="14"/>
                      <a:pt x="57" y="14"/>
                    </a:cubicBezTo>
                    <a:cubicBezTo>
                      <a:pt x="56" y="14"/>
                      <a:pt x="56" y="13"/>
                      <a:pt x="56" y="13"/>
                    </a:cubicBezTo>
                    <a:cubicBezTo>
                      <a:pt x="54" y="11"/>
                      <a:pt x="52" y="10"/>
                      <a:pt x="49" y="8"/>
                    </a:cubicBezTo>
                    <a:cubicBezTo>
                      <a:pt x="47" y="7"/>
                      <a:pt x="44" y="6"/>
                      <a:pt x="42" y="4"/>
                    </a:cubicBezTo>
                    <a:cubicBezTo>
                      <a:pt x="40" y="3"/>
                      <a:pt x="38" y="2"/>
                      <a:pt x="36" y="1"/>
                    </a:cubicBezTo>
                    <a:cubicBezTo>
                      <a:pt x="34" y="0"/>
                      <a:pt x="34" y="0"/>
                      <a:pt x="34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7" name="Freeform 42"/>
              <p:cNvSpPr>
                <a:spLocks noEditPoints="1"/>
              </p:cNvSpPr>
              <p:nvPr/>
            </p:nvSpPr>
            <p:spPr bwMode="auto">
              <a:xfrm>
                <a:off x="3477" y="1838"/>
                <a:ext cx="322" cy="675"/>
              </a:xfrm>
              <a:custGeom>
                <a:avLst/>
                <a:gdLst>
                  <a:gd name="T0" fmla="*/ 3 w 135"/>
                  <a:gd name="T1" fmla="*/ 78 h 283"/>
                  <a:gd name="T2" fmla="*/ 0 w 135"/>
                  <a:gd name="T3" fmla="*/ 85 h 283"/>
                  <a:gd name="T4" fmla="*/ 9 w 135"/>
                  <a:gd name="T5" fmla="*/ 113 h 283"/>
                  <a:gd name="T6" fmla="*/ 14 w 135"/>
                  <a:gd name="T7" fmla="*/ 116 h 283"/>
                  <a:gd name="T8" fmla="*/ 18 w 135"/>
                  <a:gd name="T9" fmla="*/ 128 h 283"/>
                  <a:gd name="T10" fmla="*/ 25 w 135"/>
                  <a:gd name="T11" fmla="*/ 137 h 283"/>
                  <a:gd name="T12" fmla="*/ 22 w 135"/>
                  <a:gd name="T13" fmla="*/ 150 h 283"/>
                  <a:gd name="T14" fmla="*/ 20 w 135"/>
                  <a:gd name="T15" fmla="*/ 166 h 283"/>
                  <a:gd name="T16" fmla="*/ 29 w 135"/>
                  <a:gd name="T17" fmla="*/ 180 h 283"/>
                  <a:gd name="T18" fmla="*/ 32 w 135"/>
                  <a:gd name="T19" fmla="*/ 192 h 283"/>
                  <a:gd name="T20" fmla="*/ 42 w 135"/>
                  <a:gd name="T21" fmla="*/ 204 h 283"/>
                  <a:gd name="T22" fmla="*/ 48 w 135"/>
                  <a:gd name="T23" fmla="*/ 208 h 283"/>
                  <a:gd name="T24" fmla="*/ 51 w 135"/>
                  <a:gd name="T25" fmla="*/ 218 h 283"/>
                  <a:gd name="T26" fmla="*/ 54 w 135"/>
                  <a:gd name="T27" fmla="*/ 238 h 283"/>
                  <a:gd name="T28" fmla="*/ 57 w 135"/>
                  <a:gd name="T29" fmla="*/ 253 h 283"/>
                  <a:gd name="T30" fmla="*/ 66 w 135"/>
                  <a:gd name="T31" fmla="*/ 265 h 283"/>
                  <a:gd name="T32" fmla="*/ 74 w 135"/>
                  <a:gd name="T33" fmla="*/ 278 h 283"/>
                  <a:gd name="T34" fmla="*/ 80 w 135"/>
                  <a:gd name="T35" fmla="*/ 283 h 283"/>
                  <a:gd name="T36" fmla="*/ 84 w 135"/>
                  <a:gd name="T37" fmla="*/ 275 h 283"/>
                  <a:gd name="T38" fmla="*/ 79 w 135"/>
                  <a:gd name="T39" fmla="*/ 262 h 283"/>
                  <a:gd name="T40" fmla="*/ 85 w 135"/>
                  <a:gd name="T41" fmla="*/ 255 h 283"/>
                  <a:gd name="T42" fmla="*/ 90 w 135"/>
                  <a:gd name="T43" fmla="*/ 244 h 283"/>
                  <a:gd name="T44" fmla="*/ 98 w 135"/>
                  <a:gd name="T45" fmla="*/ 224 h 283"/>
                  <a:gd name="T46" fmla="*/ 111 w 135"/>
                  <a:gd name="T47" fmla="*/ 217 h 283"/>
                  <a:gd name="T48" fmla="*/ 119 w 135"/>
                  <a:gd name="T49" fmla="*/ 210 h 283"/>
                  <a:gd name="T50" fmla="*/ 124 w 135"/>
                  <a:gd name="T51" fmla="*/ 188 h 283"/>
                  <a:gd name="T52" fmla="*/ 134 w 135"/>
                  <a:gd name="T53" fmla="*/ 178 h 283"/>
                  <a:gd name="T54" fmla="*/ 133 w 135"/>
                  <a:gd name="T55" fmla="*/ 166 h 283"/>
                  <a:gd name="T56" fmla="*/ 120 w 135"/>
                  <a:gd name="T57" fmla="*/ 159 h 283"/>
                  <a:gd name="T58" fmla="*/ 104 w 135"/>
                  <a:gd name="T59" fmla="*/ 156 h 283"/>
                  <a:gd name="T60" fmla="*/ 91 w 135"/>
                  <a:gd name="T61" fmla="*/ 153 h 283"/>
                  <a:gd name="T62" fmla="*/ 95 w 135"/>
                  <a:gd name="T63" fmla="*/ 146 h 283"/>
                  <a:gd name="T64" fmla="*/ 85 w 135"/>
                  <a:gd name="T65" fmla="*/ 136 h 283"/>
                  <a:gd name="T66" fmla="*/ 70 w 135"/>
                  <a:gd name="T67" fmla="*/ 129 h 283"/>
                  <a:gd name="T68" fmla="*/ 60 w 135"/>
                  <a:gd name="T69" fmla="*/ 123 h 283"/>
                  <a:gd name="T70" fmla="*/ 44 w 135"/>
                  <a:gd name="T71" fmla="*/ 117 h 283"/>
                  <a:gd name="T72" fmla="*/ 32 w 135"/>
                  <a:gd name="T73" fmla="*/ 120 h 283"/>
                  <a:gd name="T74" fmla="*/ 29 w 135"/>
                  <a:gd name="T75" fmla="*/ 125 h 283"/>
                  <a:gd name="T76" fmla="*/ 20 w 135"/>
                  <a:gd name="T77" fmla="*/ 120 h 283"/>
                  <a:gd name="T78" fmla="*/ 19 w 135"/>
                  <a:gd name="T79" fmla="*/ 106 h 283"/>
                  <a:gd name="T80" fmla="*/ 18 w 135"/>
                  <a:gd name="T81" fmla="*/ 99 h 283"/>
                  <a:gd name="T82" fmla="*/ 14 w 135"/>
                  <a:gd name="T83" fmla="*/ 94 h 283"/>
                  <a:gd name="T84" fmla="*/ 7 w 135"/>
                  <a:gd name="T85" fmla="*/ 96 h 283"/>
                  <a:gd name="T86" fmla="*/ 10 w 135"/>
                  <a:gd name="T87" fmla="*/ 89 h 283"/>
                  <a:gd name="T88" fmla="*/ 15 w 135"/>
                  <a:gd name="T89" fmla="*/ 79 h 283"/>
                  <a:gd name="T90" fmla="*/ 27 w 135"/>
                  <a:gd name="T91" fmla="*/ 71 h 283"/>
                  <a:gd name="T92" fmla="*/ 32 w 135"/>
                  <a:gd name="T93" fmla="*/ 82 h 283"/>
                  <a:gd name="T94" fmla="*/ 39 w 135"/>
                  <a:gd name="T95" fmla="*/ 69 h 283"/>
                  <a:gd name="T96" fmla="*/ 43 w 135"/>
                  <a:gd name="T97" fmla="*/ 63 h 283"/>
                  <a:gd name="T98" fmla="*/ 56 w 135"/>
                  <a:gd name="T99" fmla="*/ 55 h 283"/>
                  <a:gd name="T100" fmla="*/ 68 w 135"/>
                  <a:gd name="T101" fmla="*/ 45 h 283"/>
                  <a:gd name="T102" fmla="*/ 74 w 135"/>
                  <a:gd name="T103" fmla="*/ 37 h 283"/>
                  <a:gd name="T104" fmla="*/ 83 w 135"/>
                  <a:gd name="T105" fmla="*/ 31 h 283"/>
                  <a:gd name="T106" fmla="*/ 80 w 135"/>
                  <a:gd name="T107" fmla="*/ 29 h 283"/>
                  <a:gd name="T108" fmla="*/ 96 w 135"/>
                  <a:gd name="T109" fmla="*/ 24 h 283"/>
                  <a:gd name="T110" fmla="*/ 102 w 135"/>
                  <a:gd name="T111" fmla="*/ 11 h 283"/>
                  <a:gd name="T112" fmla="*/ 96 w 135"/>
                  <a:gd name="T113" fmla="*/ 8 h 283"/>
                  <a:gd name="T114" fmla="*/ 80 w 135"/>
                  <a:gd name="T115" fmla="*/ 18 h 283"/>
                  <a:gd name="T116" fmla="*/ 72 w 135"/>
                  <a:gd name="T117" fmla="*/ 18 h 283"/>
                  <a:gd name="T118" fmla="*/ 76 w 135"/>
                  <a:gd name="T119" fmla="*/ 9 h 283"/>
                  <a:gd name="T120" fmla="*/ 86 w 135"/>
                  <a:gd name="T121" fmla="*/ 6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35" h="283">
                    <a:moveTo>
                      <a:pt x="71" y="39"/>
                    </a:moveTo>
                    <a:cubicBezTo>
                      <a:pt x="71" y="39"/>
                      <a:pt x="71" y="39"/>
                      <a:pt x="71" y="39"/>
                    </a:cubicBezTo>
                    <a:cubicBezTo>
                      <a:pt x="71" y="39"/>
                      <a:pt x="71" y="39"/>
                      <a:pt x="71" y="39"/>
                    </a:cubicBezTo>
                    <a:moveTo>
                      <a:pt x="96" y="12"/>
                    </a:moveTo>
                    <a:cubicBezTo>
                      <a:pt x="96" y="12"/>
                      <a:pt x="96" y="12"/>
                      <a:pt x="96" y="12"/>
                    </a:cubicBezTo>
                    <a:moveTo>
                      <a:pt x="86" y="0"/>
                    </a:moveTo>
                    <a:cubicBezTo>
                      <a:pt x="84" y="0"/>
                      <a:pt x="84" y="0"/>
                      <a:pt x="84" y="0"/>
                    </a:cubicBezTo>
                    <a:cubicBezTo>
                      <a:pt x="83" y="0"/>
                      <a:pt x="82" y="0"/>
                      <a:pt x="81" y="0"/>
                    </a:cubicBezTo>
                    <a:cubicBezTo>
                      <a:pt x="72" y="5"/>
                      <a:pt x="63" y="10"/>
                      <a:pt x="56" y="16"/>
                    </a:cubicBezTo>
                    <a:cubicBezTo>
                      <a:pt x="39" y="28"/>
                      <a:pt x="25" y="41"/>
                      <a:pt x="14" y="57"/>
                    </a:cubicBezTo>
                    <a:cubicBezTo>
                      <a:pt x="9" y="63"/>
                      <a:pt x="5" y="69"/>
                      <a:pt x="1" y="76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3" y="78"/>
                      <a:pt x="3" y="78"/>
                      <a:pt x="3" y="78"/>
                    </a:cubicBezTo>
                    <a:cubicBezTo>
                      <a:pt x="4" y="78"/>
                      <a:pt x="4" y="78"/>
                      <a:pt x="4" y="78"/>
                    </a:cubicBezTo>
                    <a:cubicBezTo>
                      <a:pt x="4" y="78"/>
                      <a:pt x="4" y="78"/>
                      <a:pt x="4" y="78"/>
                    </a:cubicBezTo>
                    <a:cubicBezTo>
                      <a:pt x="4" y="78"/>
                      <a:pt x="4" y="78"/>
                      <a:pt x="4" y="78"/>
                    </a:cubicBezTo>
                    <a:cubicBezTo>
                      <a:pt x="3" y="79"/>
                      <a:pt x="3" y="79"/>
                      <a:pt x="3" y="80"/>
                    </a:cubicBezTo>
                    <a:cubicBezTo>
                      <a:pt x="3" y="82"/>
                      <a:pt x="3" y="82"/>
                      <a:pt x="3" y="82"/>
                    </a:cubicBezTo>
                    <a:cubicBezTo>
                      <a:pt x="3" y="83"/>
                      <a:pt x="2" y="83"/>
                      <a:pt x="2" y="83"/>
                    </a:cubicBezTo>
                    <a:cubicBezTo>
                      <a:pt x="2" y="83"/>
                      <a:pt x="2" y="83"/>
                      <a:pt x="2" y="83"/>
                    </a:cubicBezTo>
                    <a:cubicBezTo>
                      <a:pt x="1" y="83"/>
                      <a:pt x="1" y="83"/>
                      <a:pt x="1" y="83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4"/>
                      <a:pt x="1" y="84"/>
                      <a:pt x="1" y="84"/>
                    </a:cubicBezTo>
                    <a:cubicBezTo>
                      <a:pt x="1" y="85"/>
                      <a:pt x="1" y="86"/>
                      <a:pt x="1" y="86"/>
                    </a:cubicBezTo>
                    <a:cubicBezTo>
                      <a:pt x="1" y="86"/>
                      <a:pt x="1" y="86"/>
                      <a:pt x="1" y="86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5"/>
                      <a:pt x="0" y="106"/>
                      <a:pt x="1" y="106"/>
                    </a:cubicBezTo>
                    <a:cubicBezTo>
                      <a:pt x="1" y="106"/>
                      <a:pt x="1" y="106"/>
                      <a:pt x="1" y="106"/>
                    </a:cubicBezTo>
                    <a:cubicBezTo>
                      <a:pt x="2" y="107"/>
                      <a:pt x="2" y="107"/>
                      <a:pt x="2" y="107"/>
                    </a:cubicBezTo>
                    <a:cubicBezTo>
                      <a:pt x="2" y="107"/>
                      <a:pt x="2" y="107"/>
                      <a:pt x="2" y="107"/>
                    </a:cubicBezTo>
                    <a:cubicBezTo>
                      <a:pt x="3" y="108"/>
                      <a:pt x="4" y="108"/>
                      <a:pt x="4" y="108"/>
                    </a:cubicBezTo>
                    <a:cubicBezTo>
                      <a:pt x="5" y="108"/>
                      <a:pt x="5" y="108"/>
                      <a:pt x="5" y="108"/>
                    </a:cubicBezTo>
                    <a:cubicBezTo>
                      <a:pt x="5" y="108"/>
                      <a:pt x="5" y="108"/>
                      <a:pt x="5" y="108"/>
                    </a:cubicBezTo>
                    <a:cubicBezTo>
                      <a:pt x="6" y="109"/>
                      <a:pt x="6" y="109"/>
                      <a:pt x="6" y="109"/>
                    </a:cubicBezTo>
                    <a:cubicBezTo>
                      <a:pt x="5" y="109"/>
                      <a:pt x="5" y="109"/>
                      <a:pt x="5" y="109"/>
                    </a:cubicBezTo>
                    <a:cubicBezTo>
                      <a:pt x="5" y="110"/>
                      <a:pt x="6" y="110"/>
                      <a:pt x="6" y="111"/>
                    </a:cubicBezTo>
                    <a:cubicBezTo>
                      <a:pt x="7" y="111"/>
                      <a:pt x="7" y="111"/>
                      <a:pt x="7" y="111"/>
                    </a:cubicBezTo>
                    <a:cubicBezTo>
                      <a:pt x="7" y="111"/>
                      <a:pt x="8" y="112"/>
                      <a:pt x="8" y="113"/>
                    </a:cubicBezTo>
                    <a:cubicBezTo>
                      <a:pt x="9" y="113"/>
                      <a:pt x="9" y="113"/>
                      <a:pt x="9" y="113"/>
                    </a:cubicBezTo>
                    <a:cubicBezTo>
                      <a:pt x="9" y="113"/>
                      <a:pt x="9" y="113"/>
                      <a:pt x="9" y="113"/>
                    </a:cubicBezTo>
                    <a:cubicBezTo>
                      <a:pt x="10" y="113"/>
                      <a:pt x="10" y="113"/>
                      <a:pt x="10" y="113"/>
                    </a:cubicBezTo>
                    <a:cubicBezTo>
                      <a:pt x="10" y="113"/>
                      <a:pt x="10" y="113"/>
                      <a:pt x="10" y="113"/>
                    </a:cubicBezTo>
                    <a:cubicBezTo>
                      <a:pt x="11" y="113"/>
                      <a:pt x="11" y="114"/>
                      <a:pt x="11" y="114"/>
                    </a:cubicBezTo>
                    <a:cubicBezTo>
                      <a:pt x="11" y="114"/>
                      <a:pt x="11" y="114"/>
                      <a:pt x="11" y="114"/>
                    </a:cubicBezTo>
                    <a:cubicBezTo>
                      <a:pt x="11" y="114"/>
                      <a:pt x="11" y="114"/>
                      <a:pt x="11" y="114"/>
                    </a:cubicBezTo>
                    <a:cubicBezTo>
                      <a:pt x="11" y="115"/>
                      <a:pt x="11" y="115"/>
                      <a:pt x="11" y="115"/>
                    </a:cubicBezTo>
                    <a:cubicBezTo>
                      <a:pt x="12" y="115"/>
                      <a:pt x="12" y="115"/>
                      <a:pt x="12" y="115"/>
                    </a:cubicBezTo>
                    <a:cubicBezTo>
                      <a:pt x="12" y="115"/>
                      <a:pt x="13" y="115"/>
                      <a:pt x="13" y="115"/>
                    </a:cubicBezTo>
                    <a:cubicBezTo>
                      <a:pt x="13" y="115"/>
                      <a:pt x="13" y="115"/>
                      <a:pt x="13" y="115"/>
                    </a:cubicBezTo>
                    <a:cubicBezTo>
                      <a:pt x="13" y="115"/>
                      <a:pt x="13" y="115"/>
                      <a:pt x="13" y="115"/>
                    </a:cubicBezTo>
                    <a:cubicBezTo>
                      <a:pt x="12" y="116"/>
                      <a:pt x="12" y="116"/>
                      <a:pt x="12" y="116"/>
                    </a:cubicBezTo>
                    <a:cubicBezTo>
                      <a:pt x="13" y="116"/>
                      <a:pt x="13" y="116"/>
                      <a:pt x="13" y="116"/>
                    </a:cubicBezTo>
                    <a:cubicBezTo>
                      <a:pt x="14" y="116"/>
                      <a:pt x="14" y="116"/>
                      <a:pt x="14" y="116"/>
                    </a:cubicBezTo>
                    <a:cubicBezTo>
                      <a:pt x="14" y="117"/>
                      <a:pt x="14" y="117"/>
                      <a:pt x="14" y="117"/>
                    </a:cubicBezTo>
                    <a:cubicBezTo>
                      <a:pt x="14" y="117"/>
                      <a:pt x="14" y="118"/>
                      <a:pt x="15" y="119"/>
                    </a:cubicBezTo>
                    <a:cubicBezTo>
                      <a:pt x="15" y="119"/>
                      <a:pt x="15" y="119"/>
                      <a:pt x="15" y="119"/>
                    </a:cubicBezTo>
                    <a:cubicBezTo>
                      <a:pt x="15" y="120"/>
                      <a:pt x="15" y="120"/>
                      <a:pt x="15" y="120"/>
                    </a:cubicBezTo>
                    <a:cubicBezTo>
                      <a:pt x="16" y="120"/>
                      <a:pt x="16" y="120"/>
                      <a:pt x="16" y="120"/>
                    </a:cubicBezTo>
                    <a:cubicBezTo>
                      <a:pt x="16" y="121"/>
                      <a:pt x="16" y="121"/>
                      <a:pt x="16" y="121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22"/>
                      <a:pt x="17" y="123"/>
                      <a:pt x="17" y="124"/>
                    </a:cubicBezTo>
                    <a:cubicBezTo>
                      <a:pt x="17" y="124"/>
                      <a:pt x="17" y="124"/>
                      <a:pt x="17" y="125"/>
                    </a:cubicBezTo>
                    <a:cubicBezTo>
                      <a:pt x="17" y="125"/>
                      <a:pt x="17" y="125"/>
                      <a:pt x="17" y="125"/>
                    </a:cubicBezTo>
                    <a:cubicBezTo>
                      <a:pt x="17" y="126"/>
                      <a:pt x="17" y="126"/>
                      <a:pt x="17" y="126"/>
                    </a:cubicBezTo>
                    <a:cubicBezTo>
                      <a:pt x="17" y="126"/>
                      <a:pt x="17" y="126"/>
                      <a:pt x="17" y="126"/>
                    </a:cubicBezTo>
                    <a:cubicBezTo>
                      <a:pt x="17" y="127"/>
                      <a:pt x="17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8"/>
                      <a:pt x="18" y="128"/>
                      <a:pt x="18" y="128"/>
                    </a:cubicBezTo>
                    <a:cubicBezTo>
                      <a:pt x="18" y="129"/>
                      <a:pt x="18" y="129"/>
                      <a:pt x="18" y="129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3" y="129"/>
                      <a:pt x="23" y="129"/>
                      <a:pt x="23" y="129"/>
                    </a:cubicBezTo>
                    <a:cubicBezTo>
                      <a:pt x="24" y="129"/>
                      <a:pt x="24" y="129"/>
                      <a:pt x="24" y="129"/>
                    </a:cubicBezTo>
                    <a:cubicBezTo>
                      <a:pt x="24" y="131"/>
                      <a:pt x="24" y="131"/>
                      <a:pt x="24" y="131"/>
                    </a:cubicBezTo>
                    <a:cubicBezTo>
                      <a:pt x="24" y="132"/>
                      <a:pt x="25" y="132"/>
                      <a:pt x="25" y="132"/>
                    </a:cubicBezTo>
                    <a:cubicBezTo>
                      <a:pt x="25" y="132"/>
                      <a:pt x="25" y="132"/>
                      <a:pt x="25" y="132"/>
                    </a:cubicBezTo>
                    <a:cubicBezTo>
                      <a:pt x="26" y="133"/>
                      <a:pt x="26" y="134"/>
                      <a:pt x="26" y="135"/>
                    </a:cubicBezTo>
                    <a:cubicBezTo>
                      <a:pt x="25" y="135"/>
                      <a:pt x="25" y="135"/>
                      <a:pt x="25" y="135"/>
                    </a:cubicBezTo>
                    <a:cubicBezTo>
                      <a:pt x="25" y="137"/>
                      <a:pt x="25" y="137"/>
                      <a:pt x="25" y="137"/>
                    </a:cubicBezTo>
                    <a:cubicBezTo>
                      <a:pt x="27" y="136"/>
                      <a:pt x="27" y="136"/>
                      <a:pt x="27" y="136"/>
                    </a:cubicBezTo>
                    <a:cubicBezTo>
                      <a:pt x="27" y="136"/>
                      <a:pt x="27" y="137"/>
                      <a:pt x="27" y="138"/>
                    </a:cubicBezTo>
                    <a:cubicBezTo>
                      <a:pt x="27" y="139"/>
                      <a:pt x="27" y="140"/>
                      <a:pt x="27" y="140"/>
                    </a:cubicBezTo>
                    <a:cubicBezTo>
                      <a:pt x="25" y="140"/>
                      <a:pt x="25" y="140"/>
                      <a:pt x="25" y="140"/>
                    </a:cubicBezTo>
                    <a:cubicBezTo>
                      <a:pt x="26" y="145"/>
                      <a:pt x="26" y="145"/>
                      <a:pt x="26" y="145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5" y="146"/>
                      <a:pt x="25" y="146"/>
                      <a:pt x="25" y="146"/>
                    </a:cubicBezTo>
                    <a:cubicBezTo>
                      <a:pt x="24" y="146"/>
                      <a:pt x="24" y="146"/>
                      <a:pt x="24" y="146"/>
                    </a:cubicBezTo>
                    <a:cubicBezTo>
                      <a:pt x="24" y="147"/>
                      <a:pt x="24" y="147"/>
                      <a:pt x="24" y="147"/>
                    </a:cubicBezTo>
                    <a:cubicBezTo>
                      <a:pt x="24" y="147"/>
                      <a:pt x="24" y="147"/>
                      <a:pt x="24" y="148"/>
                    </a:cubicBezTo>
                    <a:cubicBezTo>
                      <a:pt x="23" y="148"/>
                      <a:pt x="23" y="149"/>
                      <a:pt x="23" y="149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22" y="150"/>
                      <a:pt x="22" y="150"/>
                      <a:pt x="22" y="150"/>
                    </a:cubicBezTo>
                    <a:cubicBezTo>
                      <a:pt x="22" y="150"/>
                      <a:pt x="22" y="150"/>
                      <a:pt x="22" y="150"/>
                    </a:cubicBezTo>
                    <a:cubicBezTo>
                      <a:pt x="21" y="150"/>
                      <a:pt x="21" y="150"/>
                      <a:pt x="21" y="150"/>
                    </a:cubicBezTo>
                    <a:cubicBezTo>
                      <a:pt x="21" y="153"/>
                      <a:pt x="21" y="153"/>
                      <a:pt x="21" y="153"/>
                    </a:cubicBezTo>
                    <a:cubicBezTo>
                      <a:pt x="21" y="154"/>
                      <a:pt x="21" y="154"/>
                      <a:pt x="21" y="154"/>
                    </a:cubicBezTo>
                    <a:cubicBezTo>
                      <a:pt x="21" y="155"/>
                      <a:pt x="21" y="156"/>
                      <a:pt x="22" y="156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2" y="157"/>
                      <a:pt x="22" y="157"/>
                      <a:pt x="22" y="157"/>
                    </a:cubicBezTo>
                    <a:cubicBezTo>
                      <a:pt x="21" y="158"/>
                      <a:pt x="21" y="158"/>
                      <a:pt x="21" y="159"/>
                    </a:cubicBezTo>
                    <a:cubicBezTo>
                      <a:pt x="21" y="159"/>
                      <a:pt x="21" y="159"/>
                      <a:pt x="21" y="159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1" y="160"/>
                      <a:pt x="21" y="160"/>
                      <a:pt x="21" y="160"/>
                    </a:cubicBezTo>
                    <a:cubicBezTo>
                      <a:pt x="20" y="160"/>
                      <a:pt x="20" y="160"/>
                      <a:pt x="20" y="160"/>
                    </a:cubicBezTo>
                    <a:cubicBezTo>
                      <a:pt x="20" y="165"/>
                      <a:pt x="20" y="165"/>
                      <a:pt x="20" y="165"/>
                    </a:cubicBezTo>
                    <a:cubicBezTo>
                      <a:pt x="20" y="166"/>
                      <a:pt x="20" y="166"/>
                      <a:pt x="20" y="166"/>
                    </a:cubicBezTo>
                    <a:cubicBezTo>
                      <a:pt x="20" y="166"/>
                      <a:pt x="20" y="168"/>
                      <a:pt x="21" y="168"/>
                    </a:cubicBezTo>
                    <a:cubicBezTo>
                      <a:pt x="21" y="168"/>
                      <a:pt x="21" y="168"/>
                      <a:pt x="22" y="169"/>
                    </a:cubicBezTo>
                    <a:cubicBezTo>
                      <a:pt x="23" y="169"/>
                      <a:pt x="24" y="171"/>
                      <a:pt x="24" y="172"/>
                    </a:cubicBezTo>
                    <a:cubicBezTo>
                      <a:pt x="24" y="172"/>
                      <a:pt x="25" y="173"/>
                      <a:pt x="25" y="173"/>
                    </a:cubicBezTo>
                    <a:cubicBezTo>
                      <a:pt x="25" y="174"/>
                      <a:pt x="25" y="174"/>
                      <a:pt x="26" y="175"/>
                    </a:cubicBezTo>
                    <a:cubicBezTo>
                      <a:pt x="26" y="175"/>
                      <a:pt x="26" y="176"/>
                      <a:pt x="27" y="176"/>
                    </a:cubicBezTo>
                    <a:cubicBezTo>
                      <a:pt x="27" y="177"/>
                      <a:pt x="27" y="177"/>
                      <a:pt x="27" y="177"/>
                    </a:cubicBezTo>
                    <a:cubicBezTo>
                      <a:pt x="27" y="178"/>
                      <a:pt x="27" y="178"/>
                      <a:pt x="28" y="178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28" y="179"/>
                      <a:pt x="28" y="179"/>
                      <a:pt x="28" y="179"/>
                    </a:cubicBezTo>
                    <a:cubicBezTo>
                      <a:pt x="28" y="179"/>
                      <a:pt x="28" y="179"/>
                      <a:pt x="28" y="179"/>
                    </a:cubicBezTo>
                    <a:cubicBezTo>
                      <a:pt x="28" y="179"/>
                      <a:pt x="28" y="179"/>
                      <a:pt x="28" y="179"/>
                    </a:cubicBezTo>
                    <a:cubicBezTo>
                      <a:pt x="28" y="180"/>
                      <a:pt x="28" y="180"/>
                      <a:pt x="29" y="180"/>
                    </a:cubicBezTo>
                    <a:cubicBezTo>
                      <a:pt x="29" y="181"/>
                      <a:pt x="29" y="181"/>
                      <a:pt x="29" y="181"/>
                    </a:cubicBezTo>
                    <a:cubicBezTo>
                      <a:pt x="30" y="181"/>
                      <a:pt x="30" y="181"/>
                      <a:pt x="30" y="181"/>
                    </a:cubicBezTo>
                    <a:cubicBezTo>
                      <a:pt x="30" y="182"/>
                      <a:pt x="30" y="182"/>
                      <a:pt x="30" y="182"/>
                    </a:cubicBezTo>
                    <a:cubicBezTo>
                      <a:pt x="30" y="183"/>
                      <a:pt x="30" y="183"/>
                      <a:pt x="30" y="183"/>
                    </a:cubicBezTo>
                    <a:cubicBezTo>
                      <a:pt x="30" y="184"/>
                      <a:pt x="30" y="184"/>
                      <a:pt x="30" y="184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1" y="184"/>
                      <a:pt x="31" y="184"/>
                      <a:pt x="31" y="184"/>
                    </a:cubicBezTo>
                    <a:cubicBezTo>
                      <a:pt x="32" y="184"/>
                      <a:pt x="31" y="186"/>
                      <a:pt x="31" y="187"/>
                    </a:cubicBezTo>
                    <a:cubicBezTo>
                      <a:pt x="31" y="188"/>
                      <a:pt x="31" y="189"/>
                      <a:pt x="31" y="189"/>
                    </a:cubicBezTo>
                    <a:cubicBezTo>
                      <a:pt x="31" y="190"/>
                      <a:pt x="31" y="190"/>
                      <a:pt x="31" y="190"/>
                    </a:cubicBezTo>
                    <a:cubicBezTo>
                      <a:pt x="31" y="190"/>
                      <a:pt x="31" y="190"/>
                      <a:pt x="31" y="190"/>
                    </a:cubicBezTo>
                    <a:cubicBezTo>
                      <a:pt x="31" y="192"/>
                      <a:pt x="31" y="192"/>
                      <a:pt x="31" y="192"/>
                    </a:cubicBezTo>
                    <a:cubicBezTo>
                      <a:pt x="32" y="192"/>
                      <a:pt x="32" y="192"/>
                      <a:pt x="32" y="192"/>
                    </a:cubicBezTo>
                    <a:cubicBezTo>
                      <a:pt x="33" y="192"/>
                      <a:pt x="33" y="192"/>
                      <a:pt x="33" y="192"/>
                    </a:cubicBezTo>
                    <a:cubicBezTo>
                      <a:pt x="33" y="193"/>
                      <a:pt x="33" y="193"/>
                      <a:pt x="34" y="194"/>
                    </a:cubicBezTo>
                    <a:cubicBezTo>
                      <a:pt x="34" y="194"/>
                      <a:pt x="34" y="195"/>
                      <a:pt x="34" y="195"/>
                    </a:cubicBezTo>
                    <a:cubicBezTo>
                      <a:pt x="34" y="195"/>
                      <a:pt x="34" y="195"/>
                      <a:pt x="34" y="195"/>
                    </a:cubicBezTo>
                    <a:cubicBezTo>
                      <a:pt x="34" y="196"/>
                      <a:pt x="34" y="196"/>
                      <a:pt x="35" y="197"/>
                    </a:cubicBezTo>
                    <a:cubicBezTo>
                      <a:pt x="35" y="197"/>
                      <a:pt x="35" y="197"/>
                      <a:pt x="35" y="197"/>
                    </a:cubicBezTo>
                    <a:cubicBezTo>
                      <a:pt x="36" y="197"/>
                      <a:pt x="36" y="198"/>
                      <a:pt x="36" y="198"/>
                    </a:cubicBezTo>
                    <a:cubicBezTo>
                      <a:pt x="35" y="199"/>
                      <a:pt x="35" y="199"/>
                      <a:pt x="35" y="199"/>
                    </a:cubicBezTo>
                    <a:cubicBezTo>
                      <a:pt x="41" y="199"/>
                      <a:pt x="41" y="199"/>
                      <a:pt x="41" y="199"/>
                    </a:cubicBezTo>
                    <a:cubicBezTo>
                      <a:pt x="41" y="200"/>
                      <a:pt x="41" y="200"/>
                      <a:pt x="41" y="200"/>
                    </a:cubicBezTo>
                    <a:cubicBezTo>
                      <a:pt x="41" y="200"/>
                      <a:pt x="41" y="200"/>
                      <a:pt x="41" y="200"/>
                    </a:cubicBezTo>
                    <a:cubicBezTo>
                      <a:pt x="41" y="200"/>
                      <a:pt x="41" y="200"/>
                      <a:pt x="41" y="200"/>
                    </a:cubicBezTo>
                    <a:cubicBezTo>
                      <a:pt x="41" y="202"/>
                      <a:pt x="41" y="202"/>
                      <a:pt x="41" y="202"/>
                    </a:cubicBezTo>
                    <a:cubicBezTo>
                      <a:pt x="41" y="203"/>
                      <a:pt x="42" y="204"/>
                      <a:pt x="42" y="204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3" y="204"/>
                      <a:pt x="43" y="204"/>
                      <a:pt x="43" y="204"/>
                    </a:cubicBezTo>
                    <a:cubicBezTo>
                      <a:pt x="44" y="204"/>
                      <a:pt x="44" y="204"/>
                      <a:pt x="44" y="204"/>
                    </a:cubicBezTo>
                    <a:cubicBezTo>
                      <a:pt x="44" y="204"/>
                      <a:pt x="44" y="204"/>
                      <a:pt x="44" y="204"/>
                    </a:cubicBezTo>
                    <a:cubicBezTo>
                      <a:pt x="45" y="204"/>
                      <a:pt x="45" y="204"/>
                      <a:pt x="46" y="204"/>
                    </a:cubicBezTo>
                    <a:cubicBezTo>
                      <a:pt x="46" y="205"/>
                      <a:pt x="46" y="205"/>
                      <a:pt x="47" y="205"/>
                    </a:cubicBezTo>
                    <a:cubicBezTo>
                      <a:pt x="47" y="205"/>
                      <a:pt x="47" y="205"/>
                      <a:pt x="47" y="205"/>
                    </a:cubicBezTo>
                    <a:cubicBezTo>
                      <a:pt x="47" y="205"/>
                      <a:pt x="47" y="205"/>
                      <a:pt x="47" y="205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48" y="205"/>
                      <a:pt x="48" y="205"/>
                      <a:pt x="48" y="205"/>
                    </a:cubicBezTo>
                    <a:cubicBezTo>
                      <a:pt x="49" y="206"/>
                      <a:pt x="49" y="206"/>
                      <a:pt x="49" y="206"/>
                    </a:cubicBezTo>
                    <a:cubicBezTo>
                      <a:pt x="49" y="207"/>
                      <a:pt x="49" y="207"/>
                      <a:pt x="48" y="208"/>
                    </a:cubicBezTo>
                    <a:cubicBezTo>
                      <a:pt x="48" y="209"/>
                      <a:pt x="48" y="210"/>
                      <a:pt x="48" y="210"/>
                    </a:cubicBezTo>
                    <a:cubicBezTo>
                      <a:pt x="48" y="211"/>
                      <a:pt x="48" y="211"/>
                      <a:pt x="48" y="212"/>
                    </a:cubicBezTo>
                    <a:cubicBezTo>
                      <a:pt x="48" y="212"/>
                      <a:pt x="48" y="212"/>
                      <a:pt x="48" y="212"/>
                    </a:cubicBezTo>
                    <a:cubicBezTo>
                      <a:pt x="48" y="212"/>
                      <a:pt x="48" y="214"/>
                      <a:pt x="49" y="214"/>
                    </a:cubicBezTo>
                    <a:cubicBezTo>
                      <a:pt x="50" y="214"/>
                      <a:pt x="50" y="214"/>
                      <a:pt x="50" y="214"/>
                    </a:cubicBezTo>
                    <a:cubicBezTo>
                      <a:pt x="50" y="214"/>
                      <a:pt x="50" y="214"/>
                      <a:pt x="50" y="214"/>
                    </a:cubicBezTo>
                    <a:cubicBezTo>
                      <a:pt x="50" y="215"/>
                      <a:pt x="50" y="215"/>
                      <a:pt x="50" y="215"/>
                    </a:cubicBezTo>
                    <a:cubicBezTo>
                      <a:pt x="50" y="215"/>
                      <a:pt x="50" y="215"/>
                      <a:pt x="50" y="215"/>
                    </a:cubicBezTo>
                    <a:cubicBezTo>
                      <a:pt x="50" y="215"/>
                      <a:pt x="50" y="215"/>
                      <a:pt x="50" y="215"/>
                    </a:cubicBezTo>
                    <a:cubicBezTo>
                      <a:pt x="50" y="215"/>
                      <a:pt x="50" y="216"/>
                      <a:pt x="50" y="216"/>
                    </a:cubicBezTo>
                    <a:cubicBezTo>
                      <a:pt x="50" y="216"/>
                      <a:pt x="50" y="217"/>
                      <a:pt x="51" y="217"/>
                    </a:cubicBezTo>
                    <a:cubicBezTo>
                      <a:pt x="51" y="217"/>
                      <a:pt x="51" y="217"/>
                      <a:pt x="51" y="217"/>
                    </a:cubicBezTo>
                    <a:cubicBezTo>
                      <a:pt x="51" y="217"/>
                      <a:pt x="51" y="217"/>
                      <a:pt x="51" y="217"/>
                    </a:cubicBezTo>
                    <a:cubicBezTo>
                      <a:pt x="51" y="217"/>
                      <a:pt x="51" y="217"/>
                      <a:pt x="51" y="218"/>
                    </a:cubicBezTo>
                    <a:cubicBezTo>
                      <a:pt x="51" y="219"/>
                      <a:pt x="51" y="219"/>
                      <a:pt x="51" y="219"/>
                    </a:cubicBezTo>
                    <a:cubicBezTo>
                      <a:pt x="51" y="219"/>
                      <a:pt x="51" y="219"/>
                      <a:pt x="51" y="219"/>
                    </a:cubicBezTo>
                    <a:cubicBezTo>
                      <a:pt x="52" y="220"/>
                      <a:pt x="52" y="220"/>
                      <a:pt x="52" y="220"/>
                    </a:cubicBezTo>
                    <a:cubicBezTo>
                      <a:pt x="53" y="220"/>
                      <a:pt x="53" y="220"/>
                      <a:pt x="53" y="220"/>
                    </a:cubicBezTo>
                    <a:cubicBezTo>
                      <a:pt x="53" y="220"/>
                      <a:pt x="53" y="221"/>
                      <a:pt x="53" y="221"/>
                    </a:cubicBezTo>
                    <a:cubicBezTo>
                      <a:pt x="53" y="222"/>
                      <a:pt x="53" y="222"/>
                      <a:pt x="53" y="223"/>
                    </a:cubicBezTo>
                    <a:cubicBezTo>
                      <a:pt x="53" y="223"/>
                      <a:pt x="53" y="224"/>
                      <a:pt x="53" y="225"/>
                    </a:cubicBezTo>
                    <a:cubicBezTo>
                      <a:pt x="53" y="236"/>
                      <a:pt x="53" y="236"/>
                      <a:pt x="53" y="236"/>
                    </a:cubicBezTo>
                    <a:cubicBezTo>
                      <a:pt x="53" y="237"/>
                      <a:pt x="53" y="237"/>
                      <a:pt x="53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7"/>
                      <a:pt x="54" y="237"/>
                      <a:pt x="54" y="237"/>
                    </a:cubicBezTo>
                    <a:cubicBezTo>
                      <a:pt x="54" y="238"/>
                      <a:pt x="54" y="238"/>
                      <a:pt x="54" y="238"/>
                    </a:cubicBezTo>
                    <a:cubicBezTo>
                      <a:pt x="54" y="239"/>
                      <a:pt x="54" y="239"/>
                      <a:pt x="55" y="240"/>
                    </a:cubicBezTo>
                    <a:cubicBezTo>
                      <a:pt x="55" y="240"/>
                      <a:pt x="55" y="240"/>
                      <a:pt x="55" y="240"/>
                    </a:cubicBezTo>
                    <a:cubicBezTo>
                      <a:pt x="56" y="240"/>
                      <a:pt x="56" y="241"/>
                      <a:pt x="56" y="241"/>
                    </a:cubicBezTo>
                    <a:cubicBezTo>
                      <a:pt x="56" y="242"/>
                      <a:pt x="56" y="243"/>
                      <a:pt x="56" y="244"/>
                    </a:cubicBezTo>
                    <a:cubicBezTo>
                      <a:pt x="56" y="245"/>
                      <a:pt x="56" y="245"/>
                      <a:pt x="56" y="246"/>
                    </a:cubicBezTo>
                    <a:cubicBezTo>
                      <a:pt x="56" y="247"/>
                      <a:pt x="56" y="247"/>
                      <a:pt x="56" y="247"/>
                    </a:cubicBezTo>
                    <a:cubicBezTo>
                      <a:pt x="57" y="247"/>
                      <a:pt x="57" y="247"/>
                      <a:pt x="57" y="247"/>
                    </a:cubicBezTo>
                    <a:cubicBezTo>
                      <a:pt x="57" y="247"/>
                      <a:pt x="57" y="247"/>
                      <a:pt x="57" y="247"/>
                    </a:cubicBezTo>
                    <a:cubicBezTo>
                      <a:pt x="57" y="247"/>
                      <a:pt x="57" y="247"/>
                      <a:pt x="57" y="247"/>
                    </a:cubicBezTo>
                    <a:cubicBezTo>
                      <a:pt x="57" y="247"/>
                      <a:pt x="57" y="247"/>
                      <a:pt x="57" y="249"/>
                    </a:cubicBezTo>
                    <a:cubicBezTo>
                      <a:pt x="57" y="249"/>
                      <a:pt x="57" y="249"/>
                      <a:pt x="57" y="250"/>
                    </a:cubicBezTo>
                    <a:cubicBezTo>
                      <a:pt x="57" y="250"/>
                      <a:pt x="57" y="251"/>
                      <a:pt x="57" y="251"/>
                    </a:cubicBezTo>
                    <a:cubicBezTo>
                      <a:pt x="57" y="251"/>
                      <a:pt x="57" y="252"/>
                      <a:pt x="57" y="252"/>
                    </a:cubicBezTo>
                    <a:cubicBezTo>
                      <a:pt x="57" y="253"/>
                      <a:pt x="57" y="253"/>
                      <a:pt x="57" y="253"/>
                    </a:cubicBezTo>
                    <a:cubicBezTo>
                      <a:pt x="57" y="255"/>
                      <a:pt x="58" y="257"/>
                      <a:pt x="59" y="258"/>
                    </a:cubicBezTo>
                    <a:cubicBezTo>
                      <a:pt x="59" y="258"/>
                      <a:pt x="59" y="258"/>
                      <a:pt x="59" y="258"/>
                    </a:cubicBezTo>
                    <a:cubicBezTo>
                      <a:pt x="61" y="259"/>
                      <a:pt x="61" y="259"/>
                      <a:pt x="61" y="260"/>
                    </a:cubicBezTo>
                    <a:cubicBezTo>
                      <a:pt x="61" y="261"/>
                      <a:pt x="61" y="261"/>
                      <a:pt x="61" y="261"/>
                    </a:cubicBezTo>
                    <a:cubicBezTo>
                      <a:pt x="62" y="261"/>
                      <a:pt x="62" y="261"/>
                      <a:pt x="62" y="261"/>
                    </a:cubicBezTo>
                    <a:cubicBezTo>
                      <a:pt x="63" y="261"/>
                      <a:pt x="63" y="261"/>
                      <a:pt x="63" y="261"/>
                    </a:cubicBezTo>
                    <a:cubicBezTo>
                      <a:pt x="63" y="261"/>
                      <a:pt x="63" y="261"/>
                      <a:pt x="63" y="261"/>
                    </a:cubicBezTo>
                    <a:cubicBezTo>
                      <a:pt x="63" y="261"/>
                      <a:pt x="63" y="261"/>
                      <a:pt x="63" y="261"/>
                    </a:cubicBezTo>
                    <a:cubicBezTo>
                      <a:pt x="63" y="262"/>
                      <a:pt x="63" y="262"/>
                      <a:pt x="63" y="262"/>
                    </a:cubicBezTo>
                    <a:cubicBezTo>
                      <a:pt x="63" y="262"/>
                      <a:pt x="63" y="262"/>
                      <a:pt x="63" y="262"/>
                    </a:cubicBezTo>
                    <a:cubicBezTo>
                      <a:pt x="63" y="263"/>
                      <a:pt x="63" y="263"/>
                      <a:pt x="64" y="263"/>
                    </a:cubicBezTo>
                    <a:cubicBezTo>
                      <a:pt x="64" y="264"/>
                      <a:pt x="64" y="264"/>
                      <a:pt x="64" y="264"/>
                    </a:cubicBezTo>
                    <a:cubicBezTo>
                      <a:pt x="64" y="265"/>
                      <a:pt x="65" y="265"/>
                      <a:pt x="65" y="265"/>
                    </a:cubicBezTo>
                    <a:cubicBezTo>
                      <a:pt x="66" y="265"/>
                      <a:pt x="66" y="265"/>
                      <a:pt x="66" y="265"/>
                    </a:cubicBezTo>
                    <a:cubicBezTo>
                      <a:pt x="66" y="265"/>
                      <a:pt x="66" y="265"/>
                      <a:pt x="66" y="265"/>
                    </a:cubicBezTo>
                    <a:cubicBezTo>
                      <a:pt x="66" y="267"/>
                      <a:pt x="66" y="268"/>
                      <a:pt x="67" y="269"/>
                    </a:cubicBezTo>
                    <a:cubicBezTo>
                      <a:pt x="67" y="269"/>
                      <a:pt x="68" y="269"/>
                      <a:pt x="68" y="270"/>
                    </a:cubicBezTo>
                    <a:cubicBezTo>
                      <a:pt x="69" y="270"/>
                      <a:pt x="70" y="271"/>
                      <a:pt x="70" y="272"/>
                    </a:cubicBezTo>
                    <a:cubicBezTo>
                      <a:pt x="70" y="273"/>
                      <a:pt x="70" y="273"/>
                      <a:pt x="70" y="273"/>
                    </a:cubicBezTo>
                    <a:cubicBezTo>
                      <a:pt x="70" y="273"/>
                      <a:pt x="70" y="273"/>
                      <a:pt x="70" y="273"/>
                    </a:cubicBezTo>
                    <a:cubicBezTo>
                      <a:pt x="70" y="273"/>
                      <a:pt x="70" y="273"/>
                      <a:pt x="70" y="274"/>
                    </a:cubicBezTo>
                    <a:cubicBezTo>
                      <a:pt x="70" y="274"/>
                      <a:pt x="70" y="274"/>
                      <a:pt x="70" y="274"/>
                    </a:cubicBezTo>
                    <a:cubicBezTo>
                      <a:pt x="70" y="274"/>
                      <a:pt x="70" y="274"/>
                      <a:pt x="70" y="274"/>
                    </a:cubicBezTo>
                    <a:cubicBezTo>
                      <a:pt x="70" y="274"/>
                      <a:pt x="70" y="275"/>
                      <a:pt x="71" y="275"/>
                    </a:cubicBezTo>
                    <a:cubicBezTo>
                      <a:pt x="72" y="276"/>
                      <a:pt x="72" y="276"/>
                      <a:pt x="72" y="276"/>
                    </a:cubicBezTo>
                    <a:cubicBezTo>
                      <a:pt x="72" y="276"/>
                      <a:pt x="72" y="277"/>
                      <a:pt x="73" y="277"/>
                    </a:cubicBezTo>
                    <a:cubicBezTo>
                      <a:pt x="73" y="277"/>
                      <a:pt x="73" y="277"/>
                      <a:pt x="73" y="277"/>
                    </a:cubicBezTo>
                    <a:cubicBezTo>
                      <a:pt x="73" y="278"/>
                      <a:pt x="73" y="278"/>
                      <a:pt x="74" y="278"/>
                    </a:cubicBezTo>
                    <a:cubicBezTo>
                      <a:pt x="74" y="279"/>
                      <a:pt x="74" y="279"/>
                      <a:pt x="74" y="279"/>
                    </a:cubicBezTo>
                    <a:cubicBezTo>
                      <a:pt x="75" y="280"/>
                      <a:pt x="76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0"/>
                      <a:pt x="77" y="280"/>
                      <a:pt x="77" y="280"/>
                    </a:cubicBezTo>
                    <a:cubicBezTo>
                      <a:pt x="77" y="281"/>
                      <a:pt x="77" y="281"/>
                      <a:pt x="77" y="281"/>
                    </a:cubicBezTo>
                    <a:cubicBezTo>
                      <a:pt x="78" y="281"/>
                      <a:pt x="78" y="281"/>
                      <a:pt x="78" y="281"/>
                    </a:cubicBezTo>
                    <a:cubicBezTo>
                      <a:pt x="79" y="281"/>
                      <a:pt x="79" y="281"/>
                      <a:pt x="79" y="281"/>
                    </a:cubicBezTo>
                    <a:cubicBezTo>
                      <a:pt x="79" y="281"/>
                      <a:pt x="79" y="281"/>
                      <a:pt x="79" y="281"/>
                    </a:cubicBezTo>
                    <a:cubicBezTo>
                      <a:pt x="80" y="281"/>
                      <a:pt x="80" y="281"/>
                      <a:pt x="80" y="281"/>
                    </a:cubicBezTo>
                    <a:cubicBezTo>
                      <a:pt x="80" y="281"/>
                      <a:pt x="80" y="281"/>
                      <a:pt x="80" y="281"/>
                    </a:cubicBezTo>
                    <a:cubicBezTo>
                      <a:pt x="80" y="281"/>
                      <a:pt x="80" y="281"/>
                      <a:pt x="80" y="281"/>
                    </a:cubicBezTo>
                    <a:cubicBezTo>
                      <a:pt x="80" y="283"/>
                      <a:pt x="80" y="283"/>
                      <a:pt x="80" y="283"/>
                    </a:cubicBezTo>
                    <a:cubicBezTo>
                      <a:pt x="81" y="283"/>
                      <a:pt x="81" y="283"/>
                      <a:pt x="81" y="283"/>
                    </a:cubicBezTo>
                    <a:cubicBezTo>
                      <a:pt x="81" y="283"/>
                      <a:pt x="81" y="283"/>
                      <a:pt x="81" y="283"/>
                    </a:cubicBezTo>
                    <a:cubicBezTo>
                      <a:pt x="81" y="283"/>
                      <a:pt x="82" y="283"/>
                      <a:pt x="82" y="283"/>
                    </a:cubicBezTo>
                    <a:cubicBezTo>
                      <a:pt x="83" y="283"/>
                      <a:pt x="84" y="283"/>
                      <a:pt x="84" y="282"/>
                    </a:cubicBezTo>
                    <a:cubicBezTo>
                      <a:pt x="85" y="282"/>
                      <a:pt x="85" y="281"/>
                      <a:pt x="85" y="281"/>
                    </a:cubicBezTo>
                    <a:cubicBezTo>
                      <a:pt x="84" y="280"/>
                      <a:pt x="84" y="280"/>
                      <a:pt x="84" y="279"/>
                    </a:cubicBezTo>
                    <a:cubicBezTo>
                      <a:pt x="83" y="278"/>
                      <a:pt x="83" y="278"/>
                      <a:pt x="83" y="278"/>
                    </a:cubicBezTo>
                    <a:cubicBezTo>
                      <a:pt x="83" y="278"/>
                      <a:pt x="83" y="278"/>
                      <a:pt x="83" y="278"/>
                    </a:cubicBezTo>
                    <a:cubicBezTo>
                      <a:pt x="83" y="278"/>
                      <a:pt x="83" y="278"/>
                      <a:pt x="83" y="278"/>
                    </a:cubicBezTo>
                    <a:cubicBezTo>
                      <a:pt x="84" y="278"/>
                      <a:pt x="84" y="278"/>
                      <a:pt x="84" y="278"/>
                    </a:cubicBezTo>
                    <a:cubicBezTo>
                      <a:pt x="85" y="278"/>
                      <a:pt x="85" y="278"/>
                      <a:pt x="85" y="278"/>
                    </a:cubicBezTo>
                    <a:cubicBezTo>
                      <a:pt x="85" y="278"/>
                      <a:pt x="85" y="278"/>
                      <a:pt x="85" y="278"/>
                    </a:cubicBezTo>
                    <a:cubicBezTo>
                      <a:pt x="85" y="277"/>
                      <a:pt x="85" y="277"/>
                      <a:pt x="85" y="276"/>
                    </a:cubicBezTo>
                    <a:cubicBezTo>
                      <a:pt x="85" y="276"/>
                      <a:pt x="85" y="275"/>
                      <a:pt x="84" y="275"/>
                    </a:cubicBezTo>
                    <a:cubicBezTo>
                      <a:pt x="84" y="274"/>
                      <a:pt x="83" y="274"/>
                      <a:pt x="82" y="274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3"/>
                      <a:pt x="82" y="273"/>
                      <a:pt x="82" y="273"/>
                    </a:cubicBezTo>
                    <a:cubicBezTo>
                      <a:pt x="82" y="271"/>
                      <a:pt x="82" y="271"/>
                      <a:pt x="82" y="271"/>
                    </a:cubicBezTo>
                    <a:cubicBezTo>
                      <a:pt x="82" y="271"/>
                      <a:pt x="82" y="271"/>
                      <a:pt x="82" y="271"/>
                    </a:cubicBezTo>
                    <a:cubicBezTo>
                      <a:pt x="82" y="271"/>
                      <a:pt x="82" y="270"/>
                      <a:pt x="82" y="270"/>
                    </a:cubicBezTo>
                    <a:cubicBezTo>
                      <a:pt x="82" y="270"/>
                      <a:pt x="81" y="269"/>
                      <a:pt x="81" y="269"/>
                    </a:cubicBezTo>
                    <a:cubicBezTo>
                      <a:pt x="80" y="269"/>
                      <a:pt x="80" y="269"/>
                      <a:pt x="80" y="269"/>
                    </a:cubicBezTo>
                    <a:cubicBezTo>
                      <a:pt x="80" y="268"/>
                      <a:pt x="80" y="267"/>
                      <a:pt x="80" y="266"/>
                    </a:cubicBezTo>
                    <a:cubicBezTo>
                      <a:pt x="80" y="266"/>
                      <a:pt x="80" y="265"/>
                      <a:pt x="80" y="265"/>
                    </a:cubicBezTo>
                    <a:cubicBezTo>
                      <a:pt x="80" y="264"/>
                      <a:pt x="80" y="263"/>
                      <a:pt x="80" y="263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9" y="261"/>
                      <a:pt x="79" y="261"/>
                      <a:pt x="79" y="261"/>
                    </a:cubicBezTo>
                    <a:cubicBezTo>
                      <a:pt x="78" y="261"/>
                      <a:pt x="78" y="261"/>
                      <a:pt x="78" y="261"/>
                    </a:cubicBezTo>
                    <a:cubicBezTo>
                      <a:pt x="78" y="261"/>
                      <a:pt x="78" y="261"/>
                      <a:pt x="78" y="261"/>
                    </a:cubicBezTo>
                    <a:cubicBezTo>
                      <a:pt x="78" y="260"/>
                      <a:pt x="78" y="260"/>
                      <a:pt x="78" y="260"/>
                    </a:cubicBezTo>
                    <a:cubicBezTo>
                      <a:pt x="78" y="260"/>
                      <a:pt x="78" y="260"/>
                      <a:pt x="78" y="260"/>
                    </a:cubicBezTo>
                    <a:cubicBezTo>
                      <a:pt x="78" y="260"/>
                      <a:pt x="78" y="260"/>
                      <a:pt x="78" y="260"/>
                    </a:cubicBezTo>
                    <a:cubicBezTo>
                      <a:pt x="79" y="260"/>
                      <a:pt x="79" y="260"/>
                      <a:pt x="79" y="260"/>
                    </a:cubicBezTo>
                    <a:cubicBezTo>
                      <a:pt x="80" y="259"/>
                      <a:pt x="80" y="258"/>
                      <a:pt x="81" y="257"/>
                    </a:cubicBezTo>
                    <a:cubicBezTo>
                      <a:pt x="81" y="256"/>
                      <a:pt x="81" y="256"/>
                      <a:pt x="81" y="256"/>
                    </a:cubicBezTo>
                    <a:cubicBezTo>
                      <a:pt x="81" y="256"/>
                      <a:pt x="81" y="255"/>
                      <a:pt x="81" y="255"/>
                    </a:cubicBezTo>
                    <a:cubicBezTo>
                      <a:pt x="82" y="255"/>
                      <a:pt x="82" y="255"/>
                      <a:pt x="82" y="255"/>
                    </a:cubicBezTo>
                    <a:cubicBezTo>
                      <a:pt x="82" y="255"/>
                      <a:pt x="83" y="255"/>
                      <a:pt x="83" y="255"/>
                    </a:cubicBezTo>
                    <a:cubicBezTo>
                      <a:pt x="85" y="256"/>
                      <a:pt x="85" y="256"/>
                      <a:pt x="85" y="256"/>
                    </a:cubicBezTo>
                    <a:cubicBezTo>
                      <a:pt x="85" y="255"/>
                      <a:pt x="85" y="255"/>
                      <a:pt x="85" y="255"/>
                    </a:cubicBezTo>
                    <a:cubicBezTo>
                      <a:pt x="85" y="254"/>
                      <a:pt x="85" y="254"/>
                      <a:pt x="85" y="254"/>
                    </a:cubicBezTo>
                    <a:cubicBezTo>
                      <a:pt x="85" y="254"/>
                      <a:pt x="85" y="254"/>
                      <a:pt x="85" y="254"/>
                    </a:cubicBezTo>
                    <a:cubicBezTo>
                      <a:pt x="85" y="254"/>
                      <a:pt x="85" y="254"/>
                      <a:pt x="85" y="254"/>
                    </a:cubicBezTo>
                    <a:cubicBezTo>
                      <a:pt x="86" y="254"/>
                      <a:pt x="86" y="254"/>
                      <a:pt x="86" y="254"/>
                    </a:cubicBezTo>
                    <a:cubicBezTo>
                      <a:pt x="87" y="254"/>
                      <a:pt x="88" y="253"/>
                      <a:pt x="89" y="252"/>
                    </a:cubicBezTo>
                    <a:cubicBezTo>
                      <a:pt x="90" y="251"/>
                      <a:pt x="89" y="250"/>
                      <a:pt x="88" y="249"/>
                    </a:cubicBezTo>
                    <a:cubicBezTo>
                      <a:pt x="88" y="248"/>
                      <a:pt x="88" y="248"/>
                      <a:pt x="88" y="247"/>
                    </a:cubicBezTo>
                    <a:cubicBezTo>
                      <a:pt x="88" y="246"/>
                      <a:pt x="88" y="246"/>
                      <a:pt x="88" y="246"/>
                    </a:cubicBezTo>
                    <a:cubicBezTo>
                      <a:pt x="87" y="246"/>
                      <a:pt x="87" y="246"/>
                      <a:pt x="87" y="246"/>
                    </a:cubicBezTo>
                    <a:cubicBezTo>
                      <a:pt x="86" y="246"/>
                      <a:pt x="86" y="246"/>
                      <a:pt x="86" y="246"/>
                    </a:cubicBezTo>
                    <a:cubicBezTo>
                      <a:pt x="85" y="246"/>
                      <a:pt x="85" y="246"/>
                      <a:pt x="85" y="246"/>
                    </a:cubicBezTo>
                    <a:cubicBezTo>
                      <a:pt x="85" y="245"/>
                      <a:pt x="85" y="245"/>
                      <a:pt x="85" y="245"/>
                    </a:cubicBezTo>
                    <a:cubicBezTo>
                      <a:pt x="90" y="245"/>
                      <a:pt x="90" y="245"/>
                      <a:pt x="90" y="245"/>
                    </a:cubicBezTo>
                    <a:cubicBezTo>
                      <a:pt x="90" y="244"/>
                      <a:pt x="90" y="244"/>
                      <a:pt x="90" y="244"/>
                    </a:cubicBezTo>
                    <a:cubicBezTo>
                      <a:pt x="91" y="244"/>
                      <a:pt x="91" y="244"/>
                      <a:pt x="91" y="244"/>
                    </a:cubicBezTo>
                    <a:cubicBezTo>
                      <a:pt x="91" y="244"/>
                      <a:pt x="91" y="244"/>
                      <a:pt x="91" y="244"/>
                    </a:cubicBezTo>
                    <a:cubicBezTo>
                      <a:pt x="92" y="244"/>
                      <a:pt x="92" y="244"/>
                      <a:pt x="92" y="244"/>
                    </a:cubicBezTo>
                    <a:cubicBezTo>
                      <a:pt x="92" y="243"/>
                      <a:pt x="92" y="243"/>
                      <a:pt x="92" y="243"/>
                    </a:cubicBezTo>
                    <a:cubicBezTo>
                      <a:pt x="92" y="242"/>
                      <a:pt x="92" y="242"/>
                      <a:pt x="92" y="242"/>
                    </a:cubicBezTo>
                    <a:cubicBezTo>
                      <a:pt x="92" y="241"/>
                      <a:pt x="92" y="240"/>
                      <a:pt x="92" y="240"/>
                    </a:cubicBezTo>
                    <a:cubicBezTo>
                      <a:pt x="92" y="240"/>
                      <a:pt x="92" y="240"/>
                      <a:pt x="92" y="240"/>
                    </a:cubicBezTo>
                    <a:cubicBezTo>
                      <a:pt x="92" y="240"/>
                      <a:pt x="92" y="240"/>
                      <a:pt x="92" y="240"/>
                    </a:cubicBezTo>
                    <a:cubicBezTo>
                      <a:pt x="92" y="240"/>
                      <a:pt x="93" y="240"/>
                      <a:pt x="93" y="239"/>
                    </a:cubicBezTo>
                    <a:cubicBezTo>
                      <a:pt x="94" y="239"/>
                      <a:pt x="94" y="239"/>
                      <a:pt x="94" y="239"/>
                    </a:cubicBezTo>
                    <a:cubicBezTo>
                      <a:pt x="95" y="238"/>
                      <a:pt x="96" y="237"/>
                      <a:pt x="97" y="236"/>
                    </a:cubicBezTo>
                    <a:cubicBezTo>
                      <a:pt x="98" y="235"/>
                      <a:pt x="98" y="234"/>
                      <a:pt x="98" y="233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8" y="224"/>
                      <a:pt x="98" y="224"/>
                      <a:pt x="98" y="224"/>
                    </a:cubicBezTo>
                    <a:cubicBezTo>
                      <a:pt x="99" y="224"/>
                      <a:pt x="99" y="224"/>
                      <a:pt x="99" y="224"/>
                    </a:cubicBezTo>
                    <a:cubicBezTo>
                      <a:pt x="99" y="223"/>
                      <a:pt x="99" y="223"/>
                      <a:pt x="99" y="223"/>
                    </a:cubicBezTo>
                    <a:cubicBezTo>
                      <a:pt x="99" y="223"/>
                      <a:pt x="99" y="222"/>
                      <a:pt x="100" y="222"/>
                    </a:cubicBezTo>
                    <a:cubicBezTo>
                      <a:pt x="100" y="221"/>
                      <a:pt x="100" y="221"/>
                      <a:pt x="101" y="220"/>
                    </a:cubicBezTo>
                    <a:cubicBezTo>
                      <a:pt x="101" y="220"/>
                      <a:pt x="101" y="220"/>
                      <a:pt x="101" y="220"/>
                    </a:cubicBezTo>
                    <a:cubicBezTo>
                      <a:pt x="101" y="219"/>
                      <a:pt x="101" y="219"/>
                      <a:pt x="103" y="218"/>
                    </a:cubicBezTo>
                    <a:cubicBezTo>
                      <a:pt x="103" y="218"/>
                      <a:pt x="104" y="218"/>
                      <a:pt x="105" y="218"/>
                    </a:cubicBezTo>
                    <a:cubicBezTo>
                      <a:pt x="105" y="218"/>
                      <a:pt x="106" y="218"/>
                      <a:pt x="106" y="218"/>
                    </a:cubicBezTo>
                    <a:cubicBezTo>
                      <a:pt x="107" y="218"/>
                      <a:pt x="107" y="218"/>
                      <a:pt x="108" y="218"/>
                    </a:cubicBezTo>
                    <a:cubicBezTo>
                      <a:pt x="109" y="218"/>
                      <a:pt x="109" y="218"/>
                      <a:pt x="109" y="218"/>
                    </a:cubicBezTo>
                    <a:cubicBezTo>
                      <a:pt x="110" y="218"/>
                      <a:pt x="111" y="218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1" y="217"/>
                      <a:pt x="111" y="217"/>
                      <a:pt x="111" y="217"/>
                    </a:cubicBezTo>
                    <a:cubicBezTo>
                      <a:pt x="112" y="217"/>
                      <a:pt x="112" y="217"/>
                      <a:pt x="112" y="217"/>
                    </a:cubicBezTo>
                    <a:cubicBezTo>
                      <a:pt x="112" y="216"/>
                      <a:pt x="112" y="216"/>
                      <a:pt x="112" y="216"/>
                    </a:cubicBezTo>
                    <a:cubicBezTo>
                      <a:pt x="112" y="215"/>
                      <a:pt x="112" y="215"/>
                      <a:pt x="112" y="215"/>
                    </a:cubicBezTo>
                    <a:cubicBezTo>
                      <a:pt x="112" y="215"/>
                      <a:pt x="112" y="214"/>
                      <a:pt x="112" y="214"/>
                    </a:cubicBezTo>
                    <a:cubicBezTo>
                      <a:pt x="113" y="214"/>
                      <a:pt x="113" y="214"/>
                      <a:pt x="113" y="214"/>
                    </a:cubicBezTo>
                    <a:cubicBezTo>
                      <a:pt x="113" y="214"/>
                      <a:pt x="113" y="214"/>
                      <a:pt x="114" y="213"/>
                    </a:cubicBezTo>
                    <a:cubicBezTo>
                      <a:pt x="114" y="213"/>
                      <a:pt x="115" y="213"/>
                      <a:pt x="115" y="213"/>
                    </a:cubicBezTo>
                    <a:cubicBezTo>
                      <a:pt x="115" y="212"/>
                      <a:pt x="115" y="212"/>
                      <a:pt x="115" y="212"/>
                    </a:cubicBezTo>
                    <a:cubicBezTo>
                      <a:pt x="116" y="212"/>
                      <a:pt x="116" y="212"/>
                      <a:pt x="116" y="212"/>
                    </a:cubicBezTo>
                    <a:cubicBezTo>
                      <a:pt x="116" y="212"/>
                      <a:pt x="116" y="212"/>
                      <a:pt x="116" y="212"/>
                    </a:cubicBezTo>
                    <a:cubicBezTo>
                      <a:pt x="117" y="212"/>
                      <a:pt x="118" y="212"/>
                      <a:pt x="118" y="211"/>
                    </a:cubicBezTo>
                    <a:cubicBezTo>
                      <a:pt x="118" y="211"/>
                      <a:pt x="119" y="210"/>
                      <a:pt x="119" y="210"/>
                    </a:cubicBezTo>
                    <a:cubicBezTo>
                      <a:pt x="119" y="209"/>
                      <a:pt x="119" y="208"/>
                      <a:pt x="120" y="207"/>
                    </a:cubicBezTo>
                    <a:cubicBezTo>
                      <a:pt x="120" y="207"/>
                      <a:pt x="121" y="207"/>
                      <a:pt x="121" y="207"/>
                    </a:cubicBezTo>
                    <a:cubicBezTo>
                      <a:pt x="123" y="206"/>
                      <a:pt x="124" y="205"/>
                      <a:pt x="124" y="204"/>
                    </a:cubicBezTo>
                    <a:cubicBezTo>
                      <a:pt x="123" y="203"/>
                      <a:pt x="123" y="201"/>
                      <a:pt x="123" y="199"/>
                    </a:cubicBezTo>
                    <a:cubicBezTo>
                      <a:pt x="123" y="199"/>
                      <a:pt x="123" y="198"/>
                      <a:pt x="123" y="197"/>
                    </a:cubicBezTo>
                    <a:cubicBezTo>
                      <a:pt x="123" y="191"/>
                      <a:pt x="123" y="191"/>
                      <a:pt x="123" y="191"/>
                    </a:cubicBezTo>
                    <a:cubicBezTo>
                      <a:pt x="123" y="190"/>
                      <a:pt x="123" y="190"/>
                      <a:pt x="123" y="190"/>
                    </a:cubicBezTo>
                    <a:cubicBezTo>
                      <a:pt x="123" y="190"/>
                      <a:pt x="123" y="190"/>
                      <a:pt x="123" y="190"/>
                    </a:cubicBezTo>
                    <a:cubicBezTo>
                      <a:pt x="122" y="190"/>
                      <a:pt x="122" y="190"/>
                      <a:pt x="122" y="190"/>
                    </a:cubicBezTo>
                    <a:cubicBezTo>
                      <a:pt x="122" y="189"/>
                      <a:pt x="122" y="189"/>
                      <a:pt x="122" y="189"/>
                    </a:cubicBezTo>
                    <a:cubicBezTo>
                      <a:pt x="122" y="188"/>
                      <a:pt x="122" y="188"/>
                      <a:pt x="122" y="188"/>
                    </a:cubicBezTo>
                    <a:cubicBezTo>
                      <a:pt x="122" y="188"/>
                      <a:pt x="122" y="188"/>
                      <a:pt x="122" y="188"/>
                    </a:cubicBezTo>
                    <a:cubicBezTo>
                      <a:pt x="124" y="188"/>
                      <a:pt x="124" y="188"/>
                      <a:pt x="124" y="188"/>
                    </a:cubicBezTo>
                    <a:cubicBezTo>
                      <a:pt x="124" y="188"/>
                      <a:pt x="124" y="188"/>
                      <a:pt x="124" y="188"/>
                    </a:cubicBezTo>
                    <a:cubicBezTo>
                      <a:pt x="125" y="188"/>
                      <a:pt x="125" y="188"/>
                      <a:pt x="125" y="188"/>
                    </a:cubicBezTo>
                    <a:cubicBezTo>
                      <a:pt x="126" y="188"/>
                      <a:pt x="126" y="187"/>
                      <a:pt x="126" y="187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7" y="186"/>
                      <a:pt x="127" y="186"/>
                      <a:pt x="127" y="186"/>
                    </a:cubicBezTo>
                    <a:cubicBezTo>
                      <a:pt x="127" y="185"/>
                      <a:pt x="127" y="185"/>
                      <a:pt x="127" y="185"/>
                    </a:cubicBezTo>
                    <a:cubicBezTo>
                      <a:pt x="128" y="185"/>
                      <a:pt x="128" y="185"/>
                      <a:pt x="128" y="185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8" y="184"/>
                      <a:pt x="128" y="184"/>
                    </a:cubicBezTo>
                    <a:cubicBezTo>
                      <a:pt x="128" y="184"/>
                      <a:pt x="129" y="184"/>
                      <a:pt x="129" y="183"/>
                    </a:cubicBezTo>
                    <a:cubicBezTo>
                      <a:pt x="129" y="183"/>
                      <a:pt x="130" y="182"/>
                      <a:pt x="130" y="182"/>
                    </a:cubicBezTo>
                    <a:cubicBezTo>
                      <a:pt x="131" y="180"/>
                      <a:pt x="132" y="179"/>
                      <a:pt x="133" y="179"/>
                    </a:cubicBezTo>
                    <a:cubicBezTo>
                      <a:pt x="134" y="178"/>
                      <a:pt x="134" y="178"/>
                      <a:pt x="134" y="178"/>
                    </a:cubicBezTo>
                    <a:cubicBezTo>
                      <a:pt x="135" y="177"/>
                      <a:pt x="135" y="176"/>
                      <a:pt x="135" y="176"/>
                    </a:cubicBezTo>
                    <a:cubicBezTo>
                      <a:pt x="135" y="176"/>
                      <a:pt x="135" y="176"/>
                      <a:pt x="135" y="176"/>
                    </a:cubicBezTo>
                    <a:cubicBezTo>
                      <a:pt x="135" y="175"/>
                      <a:pt x="135" y="175"/>
                      <a:pt x="135" y="175"/>
                    </a:cubicBezTo>
                    <a:cubicBezTo>
                      <a:pt x="134" y="175"/>
                      <a:pt x="134" y="175"/>
                      <a:pt x="134" y="175"/>
                    </a:cubicBezTo>
                    <a:cubicBezTo>
                      <a:pt x="133" y="175"/>
                      <a:pt x="133" y="175"/>
                      <a:pt x="133" y="175"/>
                    </a:cubicBezTo>
                    <a:cubicBezTo>
                      <a:pt x="133" y="174"/>
                      <a:pt x="133" y="174"/>
                      <a:pt x="134" y="172"/>
                    </a:cubicBezTo>
                    <a:cubicBezTo>
                      <a:pt x="134" y="172"/>
                      <a:pt x="134" y="172"/>
                      <a:pt x="134" y="172"/>
                    </a:cubicBezTo>
                    <a:cubicBezTo>
                      <a:pt x="134" y="172"/>
                      <a:pt x="134" y="172"/>
                      <a:pt x="134" y="172"/>
                    </a:cubicBezTo>
                    <a:cubicBezTo>
                      <a:pt x="135" y="172"/>
                      <a:pt x="135" y="172"/>
                      <a:pt x="135" y="172"/>
                    </a:cubicBezTo>
                    <a:cubicBezTo>
                      <a:pt x="135" y="166"/>
                      <a:pt x="135" y="166"/>
                      <a:pt x="135" y="166"/>
                    </a:cubicBezTo>
                    <a:cubicBezTo>
                      <a:pt x="134" y="166"/>
                      <a:pt x="134" y="166"/>
                      <a:pt x="134" y="166"/>
                    </a:cubicBezTo>
                    <a:cubicBezTo>
                      <a:pt x="134" y="166"/>
                      <a:pt x="134" y="166"/>
                      <a:pt x="133" y="166"/>
                    </a:cubicBezTo>
                    <a:cubicBezTo>
                      <a:pt x="133" y="166"/>
                      <a:pt x="133" y="166"/>
                      <a:pt x="133" y="166"/>
                    </a:cubicBezTo>
                    <a:cubicBezTo>
                      <a:pt x="133" y="166"/>
                      <a:pt x="133" y="166"/>
                      <a:pt x="133" y="166"/>
                    </a:cubicBezTo>
                    <a:cubicBezTo>
                      <a:pt x="134" y="165"/>
                      <a:pt x="134" y="165"/>
                      <a:pt x="134" y="165"/>
                    </a:cubicBezTo>
                    <a:cubicBezTo>
                      <a:pt x="133" y="165"/>
                      <a:pt x="133" y="165"/>
                      <a:pt x="133" y="165"/>
                    </a:cubicBezTo>
                    <a:cubicBezTo>
                      <a:pt x="132" y="165"/>
                      <a:pt x="132" y="165"/>
                      <a:pt x="131" y="165"/>
                    </a:cubicBezTo>
                    <a:cubicBezTo>
                      <a:pt x="131" y="165"/>
                      <a:pt x="131" y="165"/>
                      <a:pt x="130" y="165"/>
                    </a:cubicBezTo>
                    <a:cubicBezTo>
                      <a:pt x="128" y="165"/>
                      <a:pt x="128" y="164"/>
                      <a:pt x="127" y="164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3"/>
                      <a:pt x="126" y="163"/>
                      <a:pt x="126" y="163"/>
                    </a:cubicBezTo>
                    <a:cubicBezTo>
                      <a:pt x="126" y="162"/>
                      <a:pt x="125" y="162"/>
                      <a:pt x="125" y="162"/>
                    </a:cubicBezTo>
                    <a:cubicBezTo>
                      <a:pt x="124" y="162"/>
                      <a:pt x="124" y="162"/>
                      <a:pt x="124" y="162"/>
                    </a:cubicBezTo>
                    <a:cubicBezTo>
                      <a:pt x="123" y="161"/>
                      <a:pt x="123" y="161"/>
                      <a:pt x="122" y="160"/>
                    </a:cubicBezTo>
                    <a:cubicBezTo>
                      <a:pt x="122" y="160"/>
                      <a:pt x="122" y="160"/>
                      <a:pt x="122" y="160"/>
                    </a:cubicBezTo>
                    <a:cubicBezTo>
                      <a:pt x="122" y="159"/>
                      <a:pt x="121" y="159"/>
                      <a:pt x="121" y="159"/>
                    </a:cubicBezTo>
                    <a:cubicBezTo>
                      <a:pt x="121" y="159"/>
                      <a:pt x="121" y="159"/>
                      <a:pt x="121" y="159"/>
                    </a:cubicBezTo>
                    <a:cubicBezTo>
                      <a:pt x="120" y="159"/>
                      <a:pt x="120" y="159"/>
                      <a:pt x="120" y="159"/>
                    </a:cubicBezTo>
                    <a:cubicBezTo>
                      <a:pt x="119" y="159"/>
                      <a:pt x="119" y="159"/>
                      <a:pt x="119" y="159"/>
                    </a:cubicBezTo>
                    <a:cubicBezTo>
                      <a:pt x="119" y="159"/>
                      <a:pt x="119" y="159"/>
                      <a:pt x="119" y="159"/>
                    </a:cubicBezTo>
                    <a:cubicBezTo>
                      <a:pt x="118" y="159"/>
                      <a:pt x="118" y="159"/>
                      <a:pt x="118" y="159"/>
                    </a:cubicBezTo>
                    <a:cubicBezTo>
                      <a:pt x="117" y="159"/>
                      <a:pt x="117" y="159"/>
                      <a:pt x="117" y="159"/>
                    </a:cubicBezTo>
                    <a:cubicBezTo>
                      <a:pt x="117" y="159"/>
                      <a:pt x="116" y="159"/>
                      <a:pt x="116" y="159"/>
                    </a:cubicBezTo>
                    <a:cubicBezTo>
                      <a:pt x="115" y="159"/>
                      <a:pt x="115" y="158"/>
                      <a:pt x="115" y="158"/>
                    </a:cubicBezTo>
                    <a:cubicBezTo>
                      <a:pt x="115" y="157"/>
                      <a:pt x="114" y="157"/>
                      <a:pt x="112" y="157"/>
                    </a:cubicBezTo>
                    <a:cubicBezTo>
                      <a:pt x="112" y="157"/>
                      <a:pt x="111" y="157"/>
                      <a:pt x="110" y="157"/>
                    </a:cubicBezTo>
                    <a:cubicBezTo>
                      <a:pt x="110" y="157"/>
                      <a:pt x="110" y="157"/>
                      <a:pt x="110" y="157"/>
                    </a:cubicBezTo>
                    <a:cubicBezTo>
                      <a:pt x="108" y="157"/>
                      <a:pt x="108" y="157"/>
                      <a:pt x="108" y="157"/>
                    </a:cubicBezTo>
                    <a:cubicBezTo>
                      <a:pt x="108" y="158"/>
                      <a:pt x="108" y="158"/>
                      <a:pt x="108" y="158"/>
                    </a:cubicBezTo>
                    <a:cubicBezTo>
                      <a:pt x="108" y="157"/>
                      <a:pt x="108" y="156"/>
                      <a:pt x="107" y="156"/>
                    </a:cubicBezTo>
                    <a:cubicBezTo>
                      <a:pt x="106" y="156"/>
                      <a:pt x="106" y="156"/>
                      <a:pt x="105" y="156"/>
                    </a:cubicBezTo>
                    <a:cubicBezTo>
                      <a:pt x="105" y="156"/>
                      <a:pt x="104" y="156"/>
                      <a:pt x="104" y="156"/>
                    </a:cubicBezTo>
                    <a:cubicBezTo>
                      <a:pt x="103" y="156"/>
                      <a:pt x="103" y="156"/>
                      <a:pt x="103" y="156"/>
                    </a:cubicBezTo>
                    <a:cubicBezTo>
                      <a:pt x="103" y="155"/>
                      <a:pt x="103" y="155"/>
                      <a:pt x="103" y="155"/>
                    </a:cubicBezTo>
                    <a:cubicBezTo>
                      <a:pt x="103" y="155"/>
                      <a:pt x="103" y="155"/>
                      <a:pt x="102" y="155"/>
                    </a:cubicBezTo>
                    <a:cubicBezTo>
                      <a:pt x="102" y="155"/>
                      <a:pt x="102" y="155"/>
                      <a:pt x="102" y="155"/>
                    </a:cubicBezTo>
                    <a:cubicBezTo>
                      <a:pt x="102" y="155"/>
                      <a:pt x="102" y="155"/>
                      <a:pt x="102" y="155"/>
                    </a:cubicBez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4"/>
                      <a:pt x="101" y="153"/>
                      <a:pt x="101" y="153"/>
                    </a:cubicBezTo>
                    <a:cubicBezTo>
                      <a:pt x="100" y="153"/>
                      <a:pt x="100" y="153"/>
                      <a:pt x="100" y="153"/>
                    </a:cubicBezTo>
                    <a:cubicBezTo>
                      <a:pt x="100" y="153"/>
                      <a:pt x="100" y="153"/>
                      <a:pt x="100" y="153"/>
                    </a:cubicBezTo>
                    <a:cubicBezTo>
                      <a:pt x="96" y="153"/>
                      <a:pt x="96" y="153"/>
                      <a:pt x="96" y="153"/>
                    </a:cubicBezTo>
                    <a:cubicBezTo>
                      <a:pt x="94" y="153"/>
                      <a:pt x="94" y="153"/>
                      <a:pt x="94" y="153"/>
                    </a:cubicBezTo>
                    <a:cubicBezTo>
                      <a:pt x="93" y="153"/>
                      <a:pt x="93" y="153"/>
                      <a:pt x="92" y="153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1" y="153"/>
                      <a:pt x="91" y="153"/>
                      <a:pt x="91" y="153"/>
                    </a:cubicBezTo>
                    <a:cubicBezTo>
                      <a:pt x="90" y="153"/>
                      <a:pt x="90" y="153"/>
                      <a:pt x="90" y="153"/>
                    </a:cubicBezTo>
                    <a:cubicBezTo>
                      <a:pt x="89" y="153"/>
                      <a:pt x="89" y="153"/>
                      <a:pt x="89" y="153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1" y="152"/>
                      <a:pt x="92" y="151"/>
                    </a:cubicBezTo>
                    <a:cubicBezTo>
                      <a:pt x="92" y="151"/>
                      <a:pt x="92" y="151"/>
                      <a:pt x="92" y="151"/>
                    </a:cubicBezTo>
                    <a:cubicBezTo>
                      <a:pt x="95" y="151"/>
                      <a:pt x="95" y="151"/>
                      <a:pt x="95" y="151"/>
                    </a:cubicBezTo>
                    <a:cubicBezTo>
                      <a:pt x="95" y="151"/>
                      <a:pt x="95" y="151"/>
                      <a:pt x="95" y="151"/>
                    </a:cubicBezTo>
                    <a:cubicBezTo>
                      <a:pt x="96" y="150"/>
                      <a:pt x="96" y="150"/>
                      <a:pt x="96" y="150"/>
                    </a:cubicBezTo>
                    <a:cubicBezTo>
                      <a:pt x="96" y="150"/>
                      <a:pt x="96" y="150"/>
                      <a:pt x="96" y="149"/>
                    </a:cubicBezTo>
                    <a:cubicBezTo>
                      <a:pt x="96" y="149"/>
                      <a:pt x="96" y="149"/>
                      <a:pt x="96" y="149"/>
                    </a:cubicBezTo>
                    <a:cubicBezTo>
                      <a:pt x="96" y="148"/>
                      <a:pt x="96" y="147"/>
                      <a:pt x="95" y="146"/>
                    </a:cubicBezTo>
                    <a:cubicBezTo>
                      <a:pt x="94" y="145"/>
                      <a:pt x="93" y="144"/>
                      <a:pt x="92" y="144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1" y="143"/>
                      <a:pt x="91" y="143"/>
                      <a:pt x="91" y="143"/>
                    </a:cubicBezTo>
                    <a:cubicBezTo>
                      <a:pt x="90" y="143"/>
                      <a:pt x="90" y="143"/>
                      <a:pt x="90" y="143"/>
                    </a:cubicBezTo>
                    <a:cubicBezTo>
                      <a:pt x="90" y="142"/>
                      <a:pt x="90" y="142"/>
                      <a:pt x="90" y="142"/>
                    </a:cubicBezTo>
                    <a:cubicBezTo>
                      <a:pt x="89" y="141"/>
                      <a:pt x="88" y="141"/>
                      <a:pt x="88" y="140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40"/>
                      <a:pt x="88" y="140"/>
                      <a:pt x="88" y="140"/>
                    </a:cubicBezTo>
                    <a:cubicBezTo>
                      <a:pt x="88" y="139"/>
                      <a:pt x="88" y="139"/>
                      <a:pt x="88" y="139"/>
                    </a:cubicBezTo>
                    <a:cubicBezTo>
                      <a:pt x="87" y="139"/>
                      <a:pt x="87" y="139"/>
                      <a:pt x="87" y="138"/>
                    </a:cubicBezTo>
                    <a:cubicBezTo>
                      <a:pt x="86" y="137"/>
                      <a:pt x="86" y="137"/>
                      <a:pt x="85" y="136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4" y="135"/>
                      <a:pt x="83" y="135"/>
                      <a:pt x="83" y="135"/>
                    </a:cubicBezTo>
                    <a:cubicBezTo>
                      <a:pt x="83" y="134"/>
                      <a:pt x="83" y="134"/>
                      <a:pt x="83" y="134"/>
                    </a:cubicBezTo>
                    <a:cubicBezTo>
                      <a:pt x="82" y="134"/>
                      <a:pt x="81" y="133"/>
                      <a:pt x="81" y="133"/>
                    </a:cubicBezTo>
                    <a:cubicBezTo>
                      <a:pt x="80" y="133"/>
                      <a:pt x="80" y="133"/>
                      <a:pt x="80" y="133"/>
                    </a:cubicBezTo>
                    <a:cubicBezTo>
                      <a:pt x="78" y="133"/>
                      <a:pt x="78" y="133"/>
                      <a:pt x="78" y="133"/>
                    </a:cubicBezTo>
                    <a:cubicBezTo>
                      <a:pt x="78" y="131"/>
                      <a:pt x="78" y="131"/>
                      <a:pt x="78" y="131"/>
                    </a:cubicBezTo>
                    <a:cubicBezTo>
                      <a:pt x="77" y="132"/>
                      <a:pt x="77" y="132"/>
                      <a:pt x="77" y="132"/>
                    </a:cubicBezTo>
                    <a:cubicBezTo>
                      <a:pt x="76" y="132"/>
                      <a:pt x="75" y="132"/>
                      <a:pt x="75" y="132"/>
                    </a:cubicBezTo>
                    <a:cubicBezTo>
                      <a:pt x="74" y="132"/>
                      <a:pt x="74" y="132"/>
                      <a:pt x="73" y="131"/>
                    </a:cubicBezTo>
                    <a:cubicBezTo>
                      <a:pt x="72" y="131"/>
                      <a:pt x="72" y="131"/>
                      <a:pt x="72" y="131"/>
                    </a:cubicBezTo>
                    <a:cubicBezTo>
                      <a:pt x="72" y="130"/>
                      <a:pt x="72" y="130"/>
                      <a:pt x="72" y="130"/>
                    </a:cubicBezTo>
                    <a:cubicBezTo>
                      <a:pt x="72" y="130"/>
                      <a:pt x="72" y="129"/>
                      <a:pt x="71" y="129"/>
                    </a:cubicBezTo>
                    <a:cubicBezTo>
                      <a:pt x="70" y="129"/>
                      <a:pt x="70" y="129"/>
                      <a:pt x="70" y="129"/>
                    </a:cubicBezTo>
                    <a:cubicBezTo>
                      <a:pt x="70" y="128"/>
                      <a:pt x="70" y="128"/>
                      <a:pt x="70" y="128"/>
                    </a:cubicBezTo>
                    <a:cubicBezTo>
                      <a:pt x="70" y="128"/>
                      <a:pt x="70" y="128"/>
                      <a:pt x="70" y="127"/>
                    </a:cubicBezTo>
                    <a:cubicBezTo>
                      <a:pt x="69" y="126"/>
                      <a:pt x="68" y="126"/>
                      <a:pt x="68" y="126"/>
                    </a:cubicBezTo>
                    <a:cubicBezTo>
                      <a:pt x="67" y="126"/>
                      <a:pt x="66" y="126"/>
                      <a:pt x="66" y="126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4" y="126"/>
                      <a:pt x="64" y="126"/>
                      <a:pt x="63" y="126"/>
                    </a:cubicBezTo>
                    <a:cubicBezTo>
                      <a:pt x="64" y="125"/>
                      <a:pt x="64" y="125"/>
                      <a:pt x="64" y="125"/>
                    </a:cubicBezTo>
                    <a:cubicBezTo>
                      <a:pt x="66" y="123"/>
                      <a:pt x="66" y="123"/>
                      <a:pt x="66" y="123"/>
                    </a:cubicBezTo>
                    <a:cubicBezTo>
                      <a:pt x="64" y="123"/>
                      <a:pt x="64" y="123"/>
                      <a:pt x="64" y="123"/>
                    </a:cubicBezTo>
                    <a:cubicBezTo>
                      <a:pt x="63" y="123"/>
                      <a:pt x="63" y="123"/>
                      <a:pt x="63" y="123"/>
                    </a:cubicBezTo>
                    <a:cubicBezTo>
                      <a:pt x="63" y="123"/>
                      <a:pt x="63" y="123"/>
                      <a:pt x="63" y="123"/>
                    </a:cubicBezTo>
                    <a:cubicBezTo>
                      <a:pt x="63" y="122"/>
                      <a:pt x="63" y="122"/>
                      <a:pt x="63" y="122"/>
                    </a:cubicBezTo>
                    <a:cubicBezTo>
                      <a:pt x="61" y="122"/>
                      <a:pt x="61" y="122"/>
                      <a:pt x="61" y="122"/>
                    </a:cubicBezTo>
                    <a:cubicBezTo>
                      <a:pt x="60" y="122"/>
                      <a:pt x="60" y="122"/>
                      <a:pt x="60" y="123"/>
                    </a:cubicBezTo>
                    <a:cubicBezTo>
                      <a:pt x="60" y="123"/>
                      <a:pt x="60" y="123"/>
                      <a:pt x="60" y="123"/>
                    </a:cubicBezTo>
                    <a:cubicBezTo>
                      <a:pt x="60" y="123"/>
                      <a:pt x="60" y="123"/>
                      <a:pt x="60" y="123"/>
                    </a:cubicBezTo>
                    <a:cubicBezTo>
                      <a:pt x="60" y="123"/>
                      <a:pt x="60" y="123"/>
                      <a:pt x="60" y="123"/>
                    </a:cubicBezTo>
                    <a:cubicBezTo>
                      <a:pt x="59" y="123"/>
                      <a:pt x="59" y="123"/>
                      <a:pt x="59" y="123"/>
                    </a:cubicBezTo>
                    <a:cubicBezTo>
                      <a:pt x="58" y="123"/>
                      <a:pt x="57" y="122"/>
                      <a:pt x="57" y="121"/>
                    </a:cubicBezTo>
                    <a:cubicBezTo>
                      <a:pt x="58" y="120"/>
                      <a:pt x="58" y="120"/>
                      <a:pt x="58" y="120"/>
                    </a:cubicBezTo>
                    <a:cubicBezTo>
                      <a:pt x="56" y="120"/>
                      <a:pt x="56" y="120"/>
                      <a:pt x="56" y="120"/>
                    </a:cubicBezTo>
                    <a:cubicBezTo>
                      <a:pt x="55" y="120"/>
                      <a:pt x="55" y="121"/>
                      <a:pt x="54" y="121"/>
                    </a:cubicBezTo>
                    <a:cubicBezTo>
                      <a:pt x="53" y="121"/>
                      <a:pt x="52" y="120"/>
                      <a:pt x="52" y="120"/>
                    </a:cubicBezTo>
                    <a:cubicBezTo>
                      <a:pt x="51" y="120"/>
                      <a:pt x="50" y="119"/>
                      <a:pt x="50" y="119"/>
                    </a:cubicBezTo>
                    <a:cubicBezTo>
                      <a:pt x="49" y="119"/>
                      <a:pt x="49" y="118"/>
                      <a:pt x="48" y="118"/>
                    </a:cubicBezTo>
                    <a:cubicBezTo>
                      <a:pt x="47" y="118"/>
                      <a:pt x="46" y="117"/>
                      <a:pt x="46" y="117"/>
                    </a:cubicBezTo>
                    <a:cubicBezTo>
                      <a:pt x="45" y="117"/>
                      <a:pt x="45" y="117"/>
                      <a:pt x="45" y="117"/>
                    </a:cubicBezTo>
                    <a:cubicBezTo>
                      <a:pt x="44" y="117"/>
                      <a:pt x="44" y="117"/>
                      <a:pt x="44" y="117"/>
                    </a:cubicBezTo>
                    <a:cubicBezTo>
                      <a:pt x="44" y="117"/>
                      <a:pt x="44" y="117"/>
                      <a:pt x="44" y="117"/>
                    </a:cubicBezTo>
                    <a:cubicBezTo>
                      <a:pt x="43" y="117"/>
                      <a:pt x="43" y="118"/>
                      <a:pt x="43" y="118"/>
                    </a:cubicBezTo>
                    <a:cubicBezTo>
                      <a:pt x="43" y="118"/>
                      <a:pt x="43" y="118"/>
                      <a:pt x="43" y="118"/>
                    </a:cubicBezTo>
                    <a:cubicBezTo>
                      <a:pt x="42" y="117"/>
                      <a:pt x="40" y="117"/>
                      <a:pt x="39" y="117"/>
                    </a:cubicBezTo>
                    <a:cubicBezTo>
                      <a:pt x="38" y="117"/>
                      <a:pt x="38" y="117"/>
                      <a:pt x="38" y="117"/>
                    </a:cubicBezTo>
                    <a:cubicBezTo>
                      <a:pt x="38" y="118"/>
                      <a:pt x="38" y="118"/>
                      <a:pt x="38" y="118"/>
                    </a:cubicBezTo>
                    <a:cubicBezTo>
                      <a:pt x="38" y="119"/>
                      <a:pt x="38" y="119"/>
                      <a:pt x="38" y="119"/>
                    </a:cubicBezTo>
                    <a:cubicBezTo>
                      <a:pt x="38" y="119"/>
                      <a:pt x="38" y="119"/>
                      <a:pt x="38" y="119"/>
                    </a:cubicBezTo>
                    <a:cubicBezTo>
                      <a:pt x="38" y="119"/>
                      <a:pt x="38" y="119"/>
                      <a:pt x="38" y="119"/>
                    </a:cubicBezTo>
                    <a:cubicBezTo>
                      <a:pt x="37" y="119"/>
                      <a:pt x="37" y="119"/>
                      <a:pt x="37" y="119"/>
                    </a:cubicBezTo>
                    <a:cubicBezTo>
                      <a:pt x="37" y="119"/>
                      <a:pt x="36" y="119"/>
                      <a:pt x="35" y="120"/>
                    </a:cubicBezTo>
                    <a:cubicBezTo>
                      <a:pt x="35" y="120"/>
                      <a:pt x="35" y="120"/>
                      <a:pt x="34" y="120"/>
                    </a:cubicBezTo>
                    <a:cubicBezTo>
                      <a:pt x="33" y="120"/>
                      <a:pt x="33" y="120"/>
                      <a:pt x="33" y="120"/>
                    </a:cubicBezTo>
                    <a:cubicBezTo>
                      <a:pt x="32" y="120"/>
                      <a:pt x="32" y="120"/>
                      <a:pt x="32" y="120"/>
                    </a:cubicBez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1"/>
                      <a:pt x="31" y="121"/>
                      <a:pt x="31" y="121"/>
                    </a:cubicBezTo>
                    <a:cubicBezTo>
                      <a:pt x="31" y="122"/>
                      <a:pt x="32" y="122"/>
                      <a:pt x="32" y="123"/>
                    </a:cubicBezTo>
                    <a:cubicBezTo>
                      <a:pt x="33" y="124"/>
                      <a:pt x="33" y="124"/>
                      <a:pt x="33" y="124"/>
                    </a:cubicBezTo>
                    <a:cubicBezTo>
                      <a:pt x="33" y="124"/>
                      <a:pt x="33" y="124"/>
                      <a:pt x="33" y="124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33" y="125"/>
                      <a:pt x="33" y="125"/>
                      <a:pt x="33" y="125"/>
                    </a:cubicBezTo>
                    <a:cubicBezTo>
                      <a:pt x="33" y="125"/>
                      <a:pt x="33" y="126"/>
                      <a:pt x="32" y="126"/>
                    </a:cubicBezTo>
                    <a:cubicBezTo>
                      <a:pt x="32" y="126"/>
                      <a:pt x="32" y="126"/>
                      <a:pt x="32" y="126"/>
                    </a:cubicBezTo>
                    <a:cubicBezTo>
                      <a:pt x="31" y="126"/>
                      <a:pt x="31" y="126"/>
                      <a:pt x="31" y="126"/>
                    </a:cubicBezTo>
                    <a:cubicBezTo>
                      <a:pt x="30" y="126"/>
                      <a:pt x="30" y="126"/>
                      <a:pt x="30" y="126"/>
                    </a:cubicBezTo>
                    <a:cubicBezTo>
                      <a:pt x="30" y="126"/>
                      <a:pt x="30" y="126"/>
                      <a:pt x="30" y="126"/>
                    </a:cubicBezTo>
                    <a:cubicBezTo>
                      <a:pt x="30" y="125"/>
                      <a:pt x="30" y="125"/>
                      <a:pt x="30" y="125"/>
                    </a:cubicBezTo>
                    <a:cubicBezTo>
                      <a:pt x="30" y="125"/>
                      <a:pt x="30" y="125"/>
                      <a:pt x="29" y="125"/>
                    </a:cubicBezTo>
                    <a:cubicBezTo>
                      <a:pt x="29" y="124"/>
                      <a:pt x="29" y="124"/>
                      <a:pt x="29" y="124"/>
                    </a:cubicBezTo>
                    <a:cubicBezTo>
                      <a:pt x="29" y="124"/>
                      <a:pt x="29" y="124"/>
                      <a:pt x="29" y="124"/>
                    </a:cubicBezTo>
                    <a:cubicBezTo>
                      <a:pt x="29" y="123"/>
                      <a:pt x="29" y="123"/>
                      <a:pt x="29" y="123"/>
                    </a:cubicBezTo>
                    <a:cubicBezTo>
                      <a:pt x="28" y="122"/>
                      <a:pt x="27" y="122"/>
                      <a:pt x="27" y="122"/>
                    </a:cubicBezTo>
                    <a:cubicBezTo>
                      <a:pt x="26" y="122"/>
                      <a:pt x="26" y="122"/>
                      <a:pt x="25" y="122"/>
                    </a:cubicBezTo>
                    <a:cubicBezTo>
                      <a:pt x="25" y="122"/>
                      <a:pt x="25" y="122"/>
                      <a:pt x="25" y="122"/>
                    </a:cubicBezTo>
                    <a:cubicBezTo>
                      <a:pt x="24" y="123"/>
                      <a:pt x="23" y="123"/>
                      <a:pt x="23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3"/>
                      <a:pt x="22" y="123"/>
                      <a:pt x="22" y="123"/>
                    </a:cubicBezTo>
                    <a:cubicBezTo>
                      <a:pt x="22" y="122"/>
                      <a:pt x="21" y="122"/>
                      <a:pt x="20" y="122"/>
                    </a:cubicBezTo>
                    <a:cubicBezTo>
                      <a:pt x="20" y="121"/>
                      <a:pt x="20" y="121"/>
                      <a:pt x="20" y="121"/>
                    </a:cubicBezTo>
                    <a:cubicBezTo>
                      <a:pt x="20" y="121"/>
                      <a:pt x="20" y="120"/>
                      <a:pt x="20" y="120"/>
                    </a:cubicBezTo>
                    <a:cubicBezTo>
                      <a:pt x="19" y="120"/>
                      <a:pt x="19" y="120"/>
                      <a:pt x="19" y="120"/>
                    </a:cubicBezTo>
                    <a:cubicBezTo>
                      <a:pt x="19" y="119"/>
                      <a:pt x="19" y="119"/>
                      <a:pt x="19" y="118"/>
                    </a:cubicBezTo>
                    <a:cubicBezTo>
                      <a:pt x="19" y="118"/>
                      <a:pt x="19" y="118"/>
                      <a:pt x="19" y="117"/>
                    </a:cubicBezTo>
                    <a:cubicBezTo>
                      <a:pt x="19" y="117"/>
                      <a:pt x="19" y="117"/>
                      <a:pt x="19" y="117"/>
                    </a:cubicBezTo>
                    <a:cubicBezTo>
                      <a:pt x="19" y="117"/>
                      <a:pt x="20" y="117"/>
                      <a:pt x="20" y="117"/>
                    </a:cubicBezTo>
                    <a:cubicBezTo>
                      <a:pt x="21" y="117"/>
                      <a:pt x="22" y="116"/>
                      <a:pt x="23" y="115"/>
                    </a:cubicBezTo>
                    <a:cubicBezTo>
                      <a:pt x="24" y="114"/>
                      <a:pt x="23" y="113"/>
                      <a:pt x="23" y="112"/>
                    </a:cubicBezTo>
                    <a:cubicBezTo>
                      <a:pt x="23" y="112"/>
                      <a:pt x="23" y="112"/>
                      <a:pt x="23" y="112"/>
                    </a:cubicBezTo>
                    <a:cubicBezTo>
                      <a:pt x="22" y="112"/>
                      <a:pt x="22" y="112"/>
                      <a:pt x="22" y="112"/>
                    </a:cubicBezTo>
                    <a:cubicBezTo>
                      <a:pt x="22" y="112"/>
                      <a:pt x="22" y="111"/>
                      <a:pt x="22" y="111"/>
                    </a:cubicBezTo>
                    <a:cubicBezTo>
                      <a:pt x="22" y="110"/>
                      <a:pt x="22" y="109"/>
                      <a:pt x="22" y="109"/>
                    </a:cubicBezTo>
                    <a:cubicBezTo>
                      <a:pt x="22" y="108"/>
                      <a:pt x="22" y="107"/>
                      <a:pt x="22" y="107"/>
                    </a:cubicBezTo>
                    <a:cubicBezTo>
                      <a:pt x="22" y="107"/>
                      <a:pt x="21" y="106"/>
                      <a:pt x="20" y="106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9" y="106"/>
                      <a:pt x="19" y="106"/>
                      <a:pt x="19" y="106"/>
                    </a:cubicBezTo>
                    <a:cubicBezTo>
                      <a:pt x="18" y="106"/>
                      <a:pt x="18" y="106"/>
                      <a:pt x="18" y="106"/>
                    </a:cubicBezTo>
                    <a:cubicBezTo>
                      <a:pt x="17" y="106"/>
                      <a:pt x="17" y="106"/>
                      <a:pt x="17" y="106"/>
                    </a:cubicBezTo>
                    <a:cubicBezTo>
                      <a:pt x="16" y="106"/>
                      <a:pt x="16" y="105"/>
                      <a:pt x="16" y="105"/>
                    </a:cubicBezTo>
                    <a:cubicBezTo>
                      <a:pt x="16" y="105"/>
                      <a:pt x="16" y="105"/>
                      <a:pt x="16" y="105"/>
                    </a:cubicBezTo>
                    <a:cubicBezTo>
                      <a:pt x="16" y="105"/>
                      <a:pt x="16" y="104"/>
                      <a:pt x="16" y="103"/>
                    </a:cubicBezTo>
                    <a:cubicBezTo>
                      <a:pt x="16" y="103"/>
                      <a:pt x="16" y="103"/>
                      <a:pt x="16" y="103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7" y="102"/>
                      <a:pt x="17" y="102"/>
                      <a:pt x="17" y="102"/>
                    </a:cubicBezTo>
                    <a:cubicBezTo>
                      <a:pt x="17" y="101"/>
                      <a:pt x="17" y="101"/>
                      <a:pt x="17" y="101"/>
                    </a:cubicBezTo>
                    <a:cubicBezTo>
                      <a:pt x="17" y="101"/>
                      <a:pt x="17" y="100"/>
                      <a:pt x="17" y="99"/>
                    </a:cubicBezTo>
                    <a:cubicBezTo>
                      <a:pt x="17" y="99"/>
                      <a:pt x="17" y="99"/>
                      <a:pt x="17" y="99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8" y="99"/>
                      <a:pt x="18" y="99"/>
                      <a:pt x="18" y="99"/>
                    </a:cubicBezTo>
                    <a:cubicBezTo>
                      <a:pt x="19" y="99"/>
                      <a:pt x="19" y="99"/>
                      <a:pt x="19" y="99"/>
                    </a:cubicBezTo>
                    <a:cubicBezTo>
                      <a:pt x="20" y="99"/>
                      <a:pt x="21" y="99"/>
                      <a:pt x="22" y="96"/>
                    </a:cubicBezTo>
                    <a:cubicBezTo>
                      <a:pt x="22" y="95"/>
                      <a:pt x="22" y="94"/>
                      <a:pt x="22" y="93"/>
                    </a:cubicBezTo>
                    <a:cubicBezTo>
                      <a:pt x="22" y="92"/>
                      <a:pt x="22" y="92"/>
                      <a:pt x="22" y="92"/>
                    </a:cubicBezTo>
                    <a:cubicBezTo>
                      <a:pt x="22" y="92"/>
                      <a:pt x="22" y="92"/>
                      <a:pt x="22" y="92"/>
                    </a:cubicBezTo>
                    <a:cubicBezTo>
                      <a:pt x="20" y="91"/>
                      <a:pt x="20" y="91"/>
                      <a:pt x="20" y="91"/>
                    </a:cubicBezTo>
                    <a:cubicBezTo>
                      <a:pt x="20" y="91"/>
                      <a:pt x="20" y="91"/>
                      <a:pt x="19" y="91"/>
                    </a:cubicBezTo>
                    <a:cubicBezTo>
                      <a:pt x="19" y="91"/>
                      <a:pt x="18" y="91"/>
                      <a:pt x="18" y="92"/>
                    </a:cubicBezTo>
                    <a:cubicBezTo>
                      <a:pt x="16" y="92"/>
                      <a:pt x="16" y="93"/>
                      <a:pt x="15" y="94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4" y="94"/>
                      <a:pt x="14" y="94"/>
                      <a:pt x="14" y="94"/>
                    </a:cubicBezTo>
                    <a:cubicBezTo>
                      <a:pt x="14" y="95"/>
                      <a:pt x="14" y="95"/>
                      <a:pt x="14" y="95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4" y="96"/>
                      <a:pt x="14" y="96"/>
                      <a:pt x="14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96"/>
                      <a:pt x="12" y="97"/>
                      <a:pt x="12" y="97"/>
                    </a:cubicBezTo>
                    <a:cubicBezTo>
                      <a:pt x="11" y="97"/>
                      <a:pt x="11" y="97"/>
                      <a:pt x="11" y="97"/>
                    </a:cubicBezTo>
                    <a:cubicBezTo>
                      <a:pt x="11" y="98"/>
                      <a:pt x="11" y="98"/>
                      <a:pt x="11" y="98"/>
                    </a:cubicBezTo>
                    <a:cubicBezTo>
                      <a:pt x="10" y="98"/>
                      <a:pt x="9" y="99"/>
                      <a:pt x="9" y="100"/>
                    </a:cubicBezTo>
                    <a:cubicBezTo>
                      <a:pt x="9" y="99"/>
                      <a:pt x="9" y="99"/>
                      <a:pt x="9" y="99"/>
                    </a:cubicBezTo>
                    <a:cubicBezTo>
                      <a:pt x="9" y="98"/>
                      <a:pt x="9" y="98"/>
                      <a:pt x="9" y="98"/>
                    </a:cubicBezTo>
                    <a:cubicBezTo>
                      <a:pt x="9" y="97"/>
                      <a:pt x="9" y="97"/>
                      <a:pt x="9" y="97"/>
                    </a:cubicBezTo>
                    <a:cubicBezTo>
                      <a:pt x="9" y="96"/>
                      <a:pt x="8" y="96"/>
                      <a:pt x="8" y="9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6"/>
                      <a:pt x="7" y="96"/>
                      <a:pt x="7" y="96"/>
                    </a:cubicBezTo>
                    <a:cubicBezTo>
                      <a:pt x="7" y="95"/>
                      <a:pt x="7" y="95"/>
                      <a:pt x="7" y="95"/>
                    </a:cubicBezTo>
                    <a:cubicBezTo>
                      <a:pt x="7" y="94"/>
                      <a:pt x="7" y="94"/>
                      <a:pt x="7" y="94"/>
                    </a:cubicBezTo>
                    <a:cubicBezTo>
                      <a:pt x="7" y="93"/>
                      <a:pt x="7" y="93"/>
                      <a:pt x="7" y="93"/>
                    </a:cubicBezTo>
                    <a:cubicBezTo>
                      <a:pt x="8" y="93"/>
                      <a:pt x="8" y="93"/>
                      <a:pt x="8" y="93"/>
                    </a:cubicBezTo>
                    <a:cubicBezTo>
                      <a:pt x="9" y="94"/>
                      <a:pt x="9" y="94"/>
                      <a:pt x="9" y="94"/>
                    </a:cubicBezTo>
                    <a:cubicBezTo>
                      <a:pt x="9" y="92"/>
                      <a:pt x="9" y="92"/>
                      <a:pt x="9" y="92"/>
                    </a:cubicBezTo>
                    <a:cubicBezTo>
                      <a:pt x="9" y="92"/>
                      <a:pt x="9" y="92"/>
                      <a:pt x="9" y="92"/>
                    </a:cubicBezTo>
                    <a:cubicBezTo>
                      <a:pt x="9" y="92"/>
                      <a:pt x="9" y="92"/>
                      <a:pt x="9" y="92"/>
                    </a:cubicBezTo>
                    <a:cubicBezTo>
                      <a:pt x="10" y="92"/>
                      <a:pt x="10" y="92"/>
                      <a:pt x="10" y="92"/>
                    </a:cubicBezTo>
                    <a:cubicBezTo>
                      <a:pt x="10" y="91"/>
                      <a:pt x="10" y="91"/>
                      <a:pt x="10" y="91"/>
                    </a:cubicBezTo>
                    <a:cubicBezTo>
                      <a:pt x="10" y="91"/>
                      <a:pt x="10" y="91"/>
                      <a:pt x="10" y="91"/>
                    </a:cubicBezTo>
                    <a:cubicBezTo>
                      <a:pt x="10" y="90"/>
                      <a:pt x="10" y="89"/>
                      <a:pt x="10" y="89"/>
                    </a:cubicBezTo>
                    <a:cubicBezTo>
                      <a:pt x="10" y="89"/>
                      <a:pt x="10" y="89"/>
                      <a:pt x="10" y="89"/>
                    </a:cubicBezTo>
                    <a:cubicBezTo>
                      <a:pt x="12" y="89"/>
                      <a:pt x="12" y="89"/>
                      <a:pt x="12" y="89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2" y="87"/>
                      <a:pt x="12" y="87"/>
                      <a:pt x="12" y="87"/>
                    </a:cubicBezTo>
                    <a:cubicBezTo>
                      <a:pt x="11" y="86"/>
                      <a:pt x="12" y="85"/>
                      <a:pt x="12" y="85"/>
                    </a:cubicBezTo>
                    <a:cubicBezTo>
                      <a:pt x="12" y="85"/>
                      <a:pt x="12" y="85"/>
                      <a:pt x="12" y="85"/>
                    </a:cubicBezTo>
                    <a:cubicBezTo>
                      <a:pt x="13" y="85"/>
                      <a:pt x="13" y="85"/>
                      <a:pt x="13" y="85"/>
                    </a:cubicBezTo>
                    <a:cubicBezTo>
                      <a:pt x="13" y="84"/>
                      <a:pt x="13" y="84"/>
                      <a:pt x="13" y="84"/>
                    </a:cubicBezTo>
                    <a:cubicBezTo>
                      <a:pt x="13" y="83"/>
                      <a:pt x="13" y="83"/>
                      <a:pt x="13" y="83"/>
                    </a:cubicBezTo>
                    <a:cubicBezTo>
                      <a:pt x="13" y="83"/>
                      <a:pt x="13" y="82"/>
                      <a:pt x="13" y="82"/>
                    </a:cubicBezTo>
                    <a:cubicBezTo>
                      <a:pt x="13" y="82"/>
                      <a:pt x="13" y="82"/>
                      <a:pt x="13" y="82"/>
                    </a:cubicBezTo>
                    <a:cubicBezTo>
                      <a:pt x="14" y="82"/>
                      <a:pt x="14" y="82"/>
                      <a:pt x="14" y="82"/>
                    </a:cubicBezTo>
                    <a:cubicBezTo>
                      <a:pt x="14" y="81"/>
                      <a:pt x="14" y="81"/>
                      <a:pt x="14" y="81"/>
                    </a:cubicBezTo>
                    <a:cubicBezTo>
                      <a:pt x="14" y="80"/>
                      <a:pt x="14" y="80"/>
                      <a:pt x="14" y="80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79"/>
                      <a:pt x="15" y="79"/>
                      <a:pt x="15" y="79"/>
                    </a:cubicBezTo>
                    <a:cubicBezTo>
                      <a:pt x="15" y="79"/>
                      <a:pt x="16" y="79"/>
                      <a:pt x="16" y="78"/>
                    </a:cubicBezTo>
                    <a:cubicBezTo>
                      <a:pt x="16" y="77"/>
                      <a:pt x="16" y="77"/>
                      <a:pt x="16" y="77"/>
                    </a:cubicBezTo>
                    <a:cubicBezTo>
                      <a:pt x="17" y="77"/>
                      <a:pt x="17" y="76"/>
                      <a:pt x="18" y="76"/>
                    </a:cubicBezTo>
                    <a:cubicBezTo>
                      <a:pt x="19" y="75"/>
                      <a:pt x="20" y="74"/>
                      <a:pt x="20" y="73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0" y="72"/>
                      <a:pt x="20" y="72"/>
                      <a:pt x="20" y="72"/>
                    </a:cubicBezTo>
                    <a:cubicBezTo>
                      <a:pt x="21" y="72"/>
                      <a:pt x="21" y="72"/>
                      <a:pt x="21" y="72"/>
                    </a:cubicBezTo>
                    <a:cubicBezTo>
                      <a:pt x="22" y="72"/>
                      <a:pt x="22" y="72"/>
                      <a:pt x="22" y="72"/>
                    </a:cubicBezTo>
                    <a:cubicBezTo>
                      <a:pt x="22" y="73"/>
                      <a:pt x="23" y="73"/>
                      <a:pt x="23" y="73"/>
                    </a:cubicBezTo>
                    <a:cubicBezTo>
                      <a:pt x="24" y="73"/>
                      <a:pt x="24" y="73"/>
                      <a:pt x="24" y="73"/>
                    </a:cubicBezTo>
                    <a:cubicBezTo>
                      <a:pt x="25" y="73"/>
                      <a:pt x="26" y="72"/>
                      <a:pt x="27" y="72"/>
                    </a:cubicBezTo>
                    <a:cubicBezTo>
                      <a:pt x="27" y="71"/>
                      <a:pt x="27" y="71"/>
                      <a:pt x="27" y="71"/>
                    </a:cubicBezTo>
                    <a:cubicBezTo>
                      <a:pt x="28" y="71"/>
                      <a:pt x="29" y="70"/>
                      <a:pt x="30" y="70"/>
                    </a:cubicBezTo>
                    <a:cubicBezTo>
                      <a:pt x="30" y="70"/>
                      <a:pt x="30" y="70"/>
                      <a:pt x="30" y="70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1" y="70"/>
                      <a:pt x="31" y="70"/>
                      <a:pt x="31" y="70"/>
                    </a:cubicBezTo>
                    <a:cubicBezTo>
                      <a:pt x="32" y="71"/>
                      <a:pt x="33" y="72"/>
                      <a:pt x="33" y="73"/>
                    </a:cubicBezTo>
                    <a:cubicBezTo>
                      <a:pt x="33" y="75"/>
                      <a:pt x="33" y="76"/>
                      <a:pt x="33" y="77"/>
                    </a:cubicBezTo>
                    <a:cubicBezTo>
                      <a:pt x="32" y="77"/>
                      <a:pt x="32" y="77"/>
                      <a:pt x="32" y="77"/>
                    </a:cubicBezTo>
                    <a:cubicBezTo>
                      <a:pt x="31" y="77"/>
                      <a:pt x="31" y="77"/>
                      <a:pt x="31" y="77"/>
                    </a:cubicBezTo>
                    <a:cubicBezTo>
                      <a:pt x="31" y="79"/>
                      <a:pt x="31" y="79"/>
                      <a:pt x="31" y="79"/>
                    </a:cubicBezTo>
                    <a:cubicBezTo>
                      <a:pt x="31" y="80"/>
                      <a:pt x="32" y="80"/>
                      <a:pt x="32" y="80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2" y="82"/>
                      <a:pt x="32" y="82"/>
                      <a:pt x="32" y="82"/>
                    </a:cubicBezTo>
                    <a:cubicBezTo>
                      <a:pt x="34" y="82"/>
                      <a:pt x="34" y="82"/>
                      <a:pt x="34" y="82"/>
                    </a:cubicBezTo>
                    <a:cubicBezTo>
                      <a:pt x="36" y="82"/>
                      <a:pt x="36" y="79"/>
                      <a:pt x="36" y="78"/>
                    </a:cubicBezTo>
                    <a:cubicBezTo>
                      <a:pt x="36" y="77"/>
                      <a:pt x="36" y="76"/>
                      <a:pt x="36" y="76"/>
                    </a:cubicBezTo>
                    <a:cubicBezTo>
                      <a:pt x="36" y="76"/>
                      <a:pt x="36" y="76"/>
                      <a:pt x="36" y="76"/>
                    </a:cubicBezTo>
                    <a:cubicBezTo>
                      <a:pt x="37" y="76"/>
                      <a:pt x="37" y="76"/>
                      <a:pt x="37" y="76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37" y="75"/>
                      <a:pt x="37" y="75"/>
                      <a:pt x="37" y="75"/>
                    </a:cubicBezTo>
                    <a:cubicBezTo>
                      <a:pt x="37" y="74"/>
                      <a:pt x="37" y="73"/>
                      <a:pt x="38" y="73"/>
                    </a:cubicBezTo>
                    <a:cubicBezTo>
                      <a:pt x="38" y="73"/>
                      <a:pt x="38" y="73"/>
                      <a:pt x="38" y="73"/>
                    </a:cubicBezTo>
                    <a:cubicBezTo>
                      <a:pt x="39" y="73"/>
                      <a:pt x="39" y="73"/>
                      <a:pt x="39" y="73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2"/>
                      <a:pt x="39" y="72"/>
                      <a:pt x="39" y="72"/>
                    </a:cubicBezTo>
                    <a:cubicBezTo>
                      <a:pt x="39" y="70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39" y="69"/>
                      <a:pt x="39" y="69"/>
                      <a:pt x="39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40" y="69"/>
                      <a:pt x="40" y="69"/>
                      <a:pt x="40" y="69"/>
                    </a:cubicBezTo>
                    <a:cubicBezTo>
                      <a:pt x="41" y="69"/>
                      <a:pt x="42" y="69"/>
                      <a:pt x="42" y="68"/>
                    </a:cubicBezTo>
                    <a:cubicBezTo>
                      <a:pt x="42" y="68"/>
                      <a:pt x="42" y="68"/>
                      <a:pt x="42" y="68"/>
                    </a:cubicBezTo>
                    <a:cubicBezTo>
                      <a:pt x="42" y="68"/>
                      <a:pt x="43" y="67"/>
                      <a:pt x="43" y="67"/>
                    </a:cubicBezTo>
                    <a:cubicBezTo>
                      <a:pt x="44" y="68"/>
                      <a:pt x="44" y="68"/>
                      <a:pt x="44" y="68"/>
                    </a:cubicBezTo>
                    <a:cubicBezTo>
                      <a:pt x="45" y="68"/>
                      <a:pt x="45" y="68"/>
                      <a:pt x="45" y="68"/>
                    </a:cubicBezTo>
                    <a:cubicBezTo>
                      <a:pt x="45" y="67"/>
                      <a:pt x="45" y="67"/>
                      <a:pt x="45" y="67"/>
                    </a:cubicBezTo>
                    <a:cubicBezTo>
                      <a:pt x="45" y="66"/>
                      <a:pt x="45" y="66"/>
                      <a:pt x="45" y="66"/>
                    </a:cubicBezTo>
                    <a:cubicBezTo>
                      <a:pt x="45" y="66"/>
                      <a:pt x="45" y="65"/>
                      <a:pt x="44" y="64"/>
                    </a:cubicBezTo>
                    <a:cubicBezTo>
                      <a:pt x="43" y="64"/>
                      <a:pt x="43" y="64"/>
                      <a:pt x="43" y="64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3" y="63"/>
                      <a:pt x="43" y="63"/>
                      <a:pt x="43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5" y="63"/>
                      <a:pt x="45" y="63"/>
                      <a:pt x="45" y="63"/>
                    </a:cubicBezTo>
                    <a:cubicBezTo>
                      <a:pt x="46" y="63"/>
                      <a:pt x="46" y="63"/>
                      <a:pt x="46" y="63"/>
                    </a:cubicBezTo>
                    <a:cubicBezTo>
                      <a:pt x="47" y="63"/>
                      <a:pt x="47" y="63"/>
                      <a:pt x="47" y="62"/>
                    </a:cubicBezTo>
                    <a:cubicBezTo>
                      <a:pt x="48" y="62"/>
                      <a:pt x="48" y="61"/>
                      <a:pt x="49" y="60"/>
                    </a:cubicBezTo>
                    <a:cubicBezTo>
                      <a:pt x="50" y="60"/>
                      <a:pt x="50" y="59"/>
                      <a:pt x="51" y="59"/>
                    </a:cubicBezTo>
                    <a:cubicBezTo>
                      <a:pt x="52" y="59"/>
                      <a:pt x="52" y="59"/>
                      <a:pt x="52" y="59"/>
                    </a:cubicBezTo>
                    <a:cubicBezTo>
                      <a:pt x="52" y="59"/>
                      <a:pt x="53" y="59"/>
                      <a:pt x="53" y="58"/>
                    </a:cubicBezTo>
                    <a:cubicBezTo>
                      <a:pt x="53" y="58"/>
                      <a:pt x="53" y="58"/>
                      <a:pt x="53" y="58"/>
                    </a:cubicBezTo>
                    <a:cubicBezTo>
                      <a:pt x="54" y="58"/>
                      <a:pt x="54" y="57"/>
                      <a:pt x="54" y="57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5" y="56"/>
                      <a:pt x="55" y="56"/>
                      <a:pt x="55" y="56"/>
                    </a:cubicBezTo>
                    <a:cubicBezTo>
                      <a:pt x="56" y="56"/>
                      <a:pt x="56" y="56"/>
                      <a:pt x="56" y="55"/>
                    </a:cubicBezTo>
                    <a:cubicBezTo>
                      <a:pt x="56" y="54"/>
                      <a:pt x="56" y="54"/>
                      <a:pt x="56" y="54"/>
                    </a:cubicBezTo>
                    <a:cubicBezTo>
                      <a:pt x="56" y="52"/>
                      <a:pt x="56" y="52"/>
                      <a:pt x="56" y="52"/>
                    </a:cubicBezTo>
                    <a:cubicBezTo>
                      <a:pt x="56" y="52"/>
                      <a:pt x="57" y="52"/>
                      <a:pt x="57" y="51"/>
                    </a:cubicBezTo>
                    <a:cubicBezTo>
                      <a:pt x="58" y="50"/>
                      <a:pt x="59" y="48"/>
                      <a:pt x="61" y="47"/>
                    </a:cubicBezTo>
                    <a:cubicBezTo>
                      <a:pt x="61" y="47"/>
                      <a:pt x="61" y="47"/>
                      <a:pt x="61" y="47"/>
                    </a:cubicBezTo>
                    <a:cubicBezTo>
                      <a:pt x="62" y="47"/>
                      <a:pt x="62" y="47"/>
                      <a:pt x="62" y="47"/>
                    </a:cubicBezTo>
                    <a:cubicBezTo>
                      <a:pt x="63" y="47"/>
                      <a:pt x="63" y="47"/>
                      <a:pt x="63" y="46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3" y="46"/>
                      <a:pt x="63" y="46"/>
                      <a:pt x="63" y="46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4" y="46"/>
                      <a:pt x="64" y="46"/>
                      <a:pt x="64" y="46"/>
                    </a:cubicBezTo>
                    <a:cubicBezTo>
                      <a:pt x="66" y="46"/>
                      <a:pt x="66" y="46"/>
                      <a:pt x="66" y="46"/>
                    </a:cubicBezTo>
                    <a:cubicBezTo>
                      <a:pt x="67" y="46"/>
                      <a:pt x="68" y="45"/>
                      <a:pt x="68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69" y="44"/>
                      <a:pt x="69" y="44"/>
                      <a:pt x="69" y="44"/>
                    </a:cubicBezTo>
                    <a:cubicBezTo>
                      <a:pt x="69" y="43"/>
                      <a:pt x="69" y="42"/>
                      <a:pt x="69" y="42"/>
                    </a:cubicBezTo>
                    <a:cubicBezTo>
                      <a:pt x="69" y="41"/>
                      <a:pt x="69" y="41"/>
                      <a:pt x="69" y="41"/>
                    </a:cubicBezTo>
                    <a:cubicBezTo>
                      <a:pt x="69" y="40"/>
                      <a:pt x="69" y="40"/>
                      <a:pt x="69" y="40"/>
                    </a:cubicBezTo>
                    <a:cubicBezTo>
                      <a:pt x="70" y="40"/>
                      <a:pt x="70" y="40"/>
                      <a:pt x="70" y="40"/>
                    </a:cubicBezTo>
                    <a:cubicBezTo>
                      <a:pt x="70" y="39"/>
                      <a:pt x="70" y="39"/>
                      <a:pt x="70" y="39"/>
                    </a:cubicBezTo>
                    <a:cubicBezTo>
                      <a:pt x="70" y="39"/>
                      <a:pt x="71" y="39"/>
                      <a:pt x="71" y="39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2" y="39"/>
                      <a:pt x="72" y="39"/>
                      <a:pt x="72" y="39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3" y="37"/>
                      <a:pt x="73" y="37"/>
                      <a:pt x="73" y="37"/>
                    </a:cubicBezTo>
                    <a:cubicBezTo>
                      <a:pt x="74" y="37"/>
                      <a:pt x="74" y="37"/>
                      <a:pt x="74" y="37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7" y="36"/>
                      <a:pt x="78" y="35"/>
                      <a:pt x="78" y="35"/>
                    </a:cubicBezTo>
                    <a:cubicBezTo>
                      <a:pt x="78" y="34"/>
                      <a:pt x="78" y="34"/>
                      <a:pt x="78" y="34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78" y="35"/>
                      <a:pt x="78" y="35"/>
                      <a:pt x="78" y="35"/>
                    </a:cubicBezTo>
                    <a:cubicBezTo>
                      <a:pt x="80" y="35"/>
                      <a:pt x="80" y="35"/>
                      <a:pt x="80" y="35"/>
                    </a:cubicBezTo>
                    <a:cubicBezTo>
                      <a:pt x="81" y="35"/>
                      <a:pt x="81" y="35"/>
                      <a:pt x="81" y="35"/>
                    </a:cubicBezTo>
                    <a:cubicBezTo>
                      <a:pt x="81" y="35"/>
                      <a:pt x="82" y="34"/>
                      <a:pt x="82" y="34"/>
                    </a:cubicBezTo>
                    <a:cubicBezTo>
                      <a:pt x="82" y="33"/>
                      <a:pt x="82" y="33"/>
                      <a:pt x="82" y="33"/>
                    </a:cubicBezTo>
                    <a:cubicBezTo>
                      <a:pt x="83" y="33"/>
                      <a:pt x="83" y="32"/>
                      <a:pt x="83" y="31"/>
                    </a:cubicBezTo>
                    <a:cubicBezTo>
                      <a:pt x="83" y="30"/>
                      <a:pt x="83" y="30"/>
                      <a:pt x="83" y="30"/>
                    </a:cubicBezTo>
                    <a:cubicBezTo>
                      <a:pt x="80" y="30"/>
                      <a:pt x="80" y="30"/>
                      <a:pt x="80" y="30"/>
                    </a:cubicBezTo>
                    <a:cubicBezTo>
                      <a:pt x="79" y="30"/>
                      <a:pt x="79" y="30"/>
                      <a:pt x="79" y="31"/>
                    </a:cubicBezTo>
                    <a:cubicBezTo>
                      <a:pt x="78" y="31"/>
                      <a:pt x="78" y="31"/>
                      <a:pt x="78" y="31"/>
                    </a:cubicBezTo>
                    <a:cubicBezTo>
                      <a:pt x="78" y="31"/>
                      <a:pt x="78" y="31"/>
                      <a:pt x="78" y="31"/>
                    </a:cubicBezTo>
                    <a:cubicBezTo>
                      <a:pt x="77" y="31"/>
                      <a:pt x="77" y="31"/>
                      <a:pt x="77" y="31"/>
                    </a:cubicBezTo>
                    <a:cubicBezTo>
                      <a:pt x="76" y="30"/>
                      <a:pt x="76" y="30"/>
                      <a:pt x="76" y="30"/>
                    </a:cubicBezTo>
                    <a:cubicBezTo>
                      <a:pt x="76" y="30"/>
                      <a:pt x="76" y="30"/>
                      <a:pt x="76" y="30"/>
                    </a:cubicBezTo>
                    <a:cubicBezTo>
                      <a:pt x="77" y="30"/>
                      <a:pt x="77" y="30"/>
                      <a:pt x="77" y="30"/>
                    </a:cubicBezTo>
                    <a:cubicBezTo>
                      <a:pt x="78" y="30"/>
                      <a:pt x="78" y="30"/>
                      <a:pt x="78" y="30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78" y="29"/>
                      <a:pt x="78" y="29"/>
                      <a:pt x="78" y="29"/>
                    </a:cubicBezTo>
                    <a:cubicBezTo>
                      <a:pt x="79" y="29"/>
                      <a:pt x="79" y="29"/>
                      <a:pt x="79" y="29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82" y="27"/>
                      <a:pt x="82" y="27"/>
                      <a:pt x="82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7"/>
                      <a:pt x="93" y="27"/>
                      <a:pt x="93" y="27"/>
                    </a:cubicBezTo>
                    <a:cubicBezTo>
                      <a:pt x="93" y="26"/>
                      <a:pt x="93" y="26"/>
                      <a:pt x="93" y="26"/>
                    </a:cubicBezTo>
                    <a:cubicBezTo>
                      <a:pt x="94" y="26"/>
                      <a:pt x="94" y="26"/>
                      <a:pt x="94" y="26"/>
                    </a:cubicBezTo>
                    <a:cubicBezTo>
                      <a:pt x="95" y="26"/>
                      <a:pt x="95" y="26"/>
                      <a:pt x="95" y="26"/>
                    </a:cubicBezTo>
                    <a:cubicBezTo>
                      <a:pt x="95" y="25"/>
                      <a:pt x="95" y="25"/>
                      <a:pt x="95" y="25"/>
                    </a:cubicBezTo>
                    <a:cubicBezTo>
                      <a:pt x="95" y="25"/>
                      <a:pt x="95" y="25"/>
                      <a:pt x="95" y="25"/>
                    </a:cubicBezTo>
                    <a:cubicBezTo>
                      <a:pt x="95" y="25"/>
                      <a:pt x="95" y="25"/>
                      <a:pt x="95" y="25"/>
                    </a:cubicBezTo>
                    <a:cubicBezTo>
                      <a:pt x="96" y="24"/>
                      <a:pt x="96" y="24"/>
                      <a:pt x="96" y="24"/>
                    </a:cubicBezTo>
                    <a:cubicBezTo>
                      <a:pt x="96" y="23"/>
                      <a:pt x="96" y="23"/>
                      <a:pt x="96" y="23"/>
                    </a:cubicBezTo>
                    <a:cubicBezTo>
                      <a:pt x="97" y="23"/>
                      <a:pt x="97" y="23"/>
                      <a:pt x="97" y="23"/>
                    </a:cubicBezTo>
                    <a:cubicBezTo>
                      <a:pt x="97" y="23"/>
                      <a:pt x="97" y="23"/>
                      <a:pt x="98" y="23"/>
                    </a:cubicBezTo>
                    <a:cubicBezTo>
                      <a:pt x="98" y="23"/>
                      <a:pt x="99" y="23"/>
                      <a:pt x="99" y="23"/>
                    </a:cubicBezTo>
                    <a:cubicBezTo>
                      <a:pt x="100" y="23"/>
                      <a:pt x="100" y="23"/>
                      <a:pt x="101" y="23"/>
                    </a:cubicBezTo>
                    <a:cubicBezTo>
                      <a:pt x="101" y="23"/>
                      <a:pt x="101" y="23"/>
                      <a:pt x="101" y="23"/>
                    </a:cubicBezTo>
                    <a:cubicBezTo>
                      <a:pt x="101" y="23"/>
                      <a:pt x="101" y="23"/>
                      <a:pt x="101" y="23"/>
                    </a:cubicBezTo>
                    <a:cubicBezTo>
                      <a:pt x="102" y="23"/>
                      <a:pt x="102" y="23"/>
                      <a:pt x="102" y="23"/>
                    </a:cubicBezTo>
                    <a:cubicBezTo>
                      <a:pt x="103" y="23"/>
                      <a:pt x="103" y="22"/>
                      <a:pt x="103" y="22"/>
                    </a:cubicBezTo>
                    <a:cubicBezTo>
                      <a:pt x="104" y="21"/>
                      <a:pt x="104" y="21"/>
                      <a:pt x="104" y="20"/>
                    </a:cubicBezTo>
                    <a:cubicBezTo>
                      <a:pt x="103" y="19"/>
                      <a:pt x="103" y="18"/>
                      <a:pt x="103" y="18"/>
                    </a:cubicBezTo>
                    <a:cubicBezTo>
                      <a:pt x="103" y="18"/>
                      <a:pt x="103" y="18"/>
                      <a:pt x="103" y="18"/>
                    </a:cubicBezTo>
                    <a:cubicBezTo>
                      <a:pt x="102" y="17"/>
                      <a:pt x="102" y="17"/>
                      <a:pt x="102" y="16"/>
                    </a:cubicBezTo>
                    <a:cubicBezTo>
                      <a:pt x="102" y="11"/>
                      <a:pt x="102" y="11"/>
                      <a:pt x="102" y="11"/>
                    </a:cubicBezTo>
                    <a:cubicBezTo>
                      <a:pt x="101" y="11"/>
                      <a:pt x="101" y="11"/>
                      <a:pt x="101" y="11"/>
                    </a:cubicBezTo>
                    <a:cubicBezTo>
                      <a:pt x="100" y="11"/>
                      <a:pt x="100" y="12"/>
                      <a:pt x="99" y="12"/>
                    </a:cubicBezTo>
                    <a:cubicBezTo>
                      <a:pt x="99" y="12"/>
                      <a:pt x="99" y="12"/>
                      <a:pt x="99" y="12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6" y="12"/>
                      <a:pt x="96" y="12"/>
                      <a:pt x="96" y="12"/>
                    </a:cubicBezTo>
                    <a:cubicBezTo>
                      <a:pt x="97" y="12"/>
                      <a:pt x="97" y="12"/>
                      <a:pt x="97" y="12"/>
                    </a:cubicBezTo>
                    <a:cubicBezTo>
                      <a:pt x="98" y="12"/>
                      <a:pt x="98" y="12"/>
                      <a:pt x="98" y="12"/>
                    </a:cubicBezTo>
                    <a:cubicBezTo>
                      <a:pt x="98" y="10"/>
                      <a:pt x="98" y="10"/>
                      <a:pt x="98" y="10"/>
                    </a:cubicBezTo>
                    <a:cubicBezTo>
                      <a:pt x="98" y="9"/>
                      <a:pt x="97" y="8"/>
                      <a:pt x="96" y="8"/>
                    </a:cubicBezTo>
                    <a:cubicBezTo>
                      <a:pt x="96" y="8"/>
                      <a:pt x="96" y="8"/>
                      <a:pt x="96" y="8"/>
                    </a:cubicBezTo>
                    <a:cubicBezTo>
                      <a:pt x="96" y="8"/>
                      <a:pt x="96" y="8"/>
                      <a:pt x="96" y="8"/>
                    </a:cubicBezTo>
                    <a:cubicBezTo>
                      <a:pt x="90" y="8"/>
                      <a:pt x="90" y="8"/>
                      <a:pt x="90" y="8"/>
                    </a:cubicBezTo>
                    <a:cubicBezTo>
                      <a:pt x="89" y="8"/>
                      <a:pt x="89" y="9"/>
                      <a:pt x="88" y="9"/>
                    </a:cubicBezTo>
                    <a:cubicBezTo>
                      <a:pt x="88" y="10"/>
                      <a:pt x="88" y="11"/>
                      <a:pt x="87" y="11"/>
                    </a:cubicBezTo>
                    <a:cubicBezTo>
                      <a:pt x="87" y="11"/>
                      <a:pt x="86" y="11"/>
                      <a:pt x="86" y="11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5" y="11"/>
                      <a:pt x="85" y="11"/>
                      <a:pt x="85" y="11"/>
                    </a:cubicBezTo>
                    <a:cubicBezTo>
                      <a:pt x="81" y="11"/>
                      <a:pt x="81" y="11"/>
                      <a:pt x="81" y="11"/>
                    </a:cubicBezTo>
                    <a:cubicBezTo>
                      <a:pt x="81" y="12"/>
                      <a:pt x="81" y="12"/>
                      <a:pt x="81" y="12"/>
                    </a:cubicBezTo>
                    <a:cubicBezTo>
                      <a:pt x="81" y="13"/>
                      <a:pt x="81" y="13"/>
                      <a:pt x="81" y="13"/>
                    </a:cubicBezTo>
                    <a:cubicBezTo>
                      <a:pt x="82" y="14"/>
                      <a:pt x="82" y="15"/>
                      <a:pt x="81" y="15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80" y="16"/>
                      <a:pt x="80" y="16"/>
                      <a:pt x="80" y="17"/>
                    </a:cubicBezTo>
                    <a:cubicBezTo>
                      <a:pt x="80" y="17"/>
                      <a:pt x="80" y="17"/>
                      <a:pt x="80" y="17"/>
                    </a:cubicBezTo>
                    <a:cubicBezTo>
                      <a:pt x="80" y="18"/>
                      <a:pt x="80" y="18"/>
                      <a:pt x="80" y="18"/>
                    </a:cubicBezTo>
                    <a:cubicBezTo>
                      <a:pt x="79" y="18"/>
                      <a:pt x="79" y="18"/>
                      <a:pt x="79" y="18"/>
                    </a:cubicBezTo>
                    <a:cubicBezTo>
                      <a:pt x="79" y="18"/>
                      <a:pt x="79" y="18"/>
                      <a:pt x="79" y="18"/>
                    </a:cubicBezTo>
                    <a:cubicBezTo>
                      <a:pt x="78" y="18"/>
                      <a:pt x="77" y="19"/>
                      <a:pt x="76" y="19"/>
                    </a:cubicBezTo>
                    <a:cubicBezTo>
                      <a:pt x="75" y="20"/>
                      <a:pt x="75" y="20"/>
                      <a:pt x="75" y="20"/>
                    </a:cubicBezTo>
                    <a:cubicBezTo>
                      <a:pt x="75" y="21"/>
                      <a:pt x="74" y="21"/>
                      <a:pt x="74" y="21"/>
                    </a:cubicBezTo>
                    <a:cubicBezTo>
                      <a:pt x="73" y="21"/>
                      <a:pt x="73" y="22"/>
                      <a:pt x="73" y="23"/>
                    </a:cubicBezTo>
                    <a:cubicBezTo>
                      <a:pt x="73" y="23"/>
                      <a:pt x="73" y="23"/>
                      <a:pt x="73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3"/>
                      <a:pt x="72" y="23"/>
                      <a:pt x="72" y="23"/>
                    </a:cubicBezTo>
                    <a:cubicBezTo>
                      <a:pt x="72" y="22"/>
                      <a:pt x="72" y="22"/>
                      <a:pt x="72" y="22"/>
                    </a:cubicBezTo>
                    <a:cubicBezTo>
                      <a:pt x="72" y="22"/>
                      <a:pt x="73" y="22"/>
                      <a:pt x="73" y="21"/>
                    </a:cubicBezTo>
                    <a:cubicBezTo>
                      <a:pt x="73" y="20"/>
                      <a:pt x="73" y="19"/>
                      <a:pt x="72" y="18"/>
                    </a:cubicBezTo>
                    <a:cubicBezTo>
                      <a:pt x="72" y="18"/>
                      <a:pt x="72" y="18"/>
                      <a:pt x="72" y="18"/>
                    </a:cubicBezTo>
                    <a:cubicBezTo>
                      <a:pt x="72" y="17"/>
                      <a:pt x="72" y="17"/>
                      <a:pt x="72" y="17"/>
                    </a:cubicBezTo>
                    <a:cubicBezTo>
                      <a:pt x="72" y="17"/>
                      <a:pt x="72" y="16"/>
                      <a:pt x="72" y="16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3" y="14"/>
                      <a:pt x="73" y="14"/>
                      <a:pt x="73" y="14"/>
                    </a:cubicBezTo>
                    <a:cubicBezTo>
                      <a:pt x="74" y="14"/>
                      <a:pt x="74" y="14"/>
                      <a:pt x="74" y="14"/>
                    </a:cubicBezTo>
                    <a:cubicBezTo>
                      <a:pt x="75" y="14"/>
                      <a:pt x="75" y="13"/>
                      <a:pt x="75" y="13"/>
                    </a:cubicBezTo>
                    <a:cubicBezTo>
                      <a:pt x="75" y="13"/>
                      <a:pt x="75" y="13"/>
                      <a:pt x="75" y="13"/>
                    </a:cubicBezTo>
                    <a:cubicBezTo>
                      <a:pt x="75" y="11"/>
                      <a:pt x="75" y="11"/>
                      <a:pt x="75" y="11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5" y="10"/>
                      <a:pt x="75" y="10"/>
                      <a:pt x="75" y="10"/>
                    </a:cubicBezTo>
                    <a:cubicBezTo>
                      <a:pt x="76" y="10"/>
                      <a:pt x="76" y="10"/>
                      <a:pt x="76" y="10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6" y="9"/>
                      <a:pt x="76" y="9"/>
                      <a:pt x="76" y="9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80" y="9"/>
                      <a:pt x="80" y="9"/>
                      <a:pt x="80" y="9"/>
                    </a:cubicBezTo>
                    <a:cubicBezTo>
                      <a:pt x="81" y="9"/>
                      <a:pt x="82" y="8"/>
                      <a:pt x="82" y="8"/>
                    </a:cubicBezTo>
                    <a:cubicBezTo>
                      <a:pt x="82" y="7"/>
                      <a:pt x="82" y="7"/>
                      <a:pt x="82" y="7"/>
                    </a:cubicBezTo>
                    <a:cubicBezTo>
                      <a:pt x="83" y="7"/>
                      <a:pt x="83" y="7"/>
                      <a:pt x="83" y="7"/>
                    </a:cubicBezTo>
                    <a:cubicBezTo>
                      <a:pt x="85" y="7"/>
                      <a:pt x="85" y="7"/>
                      <a:pt x="85" y="7"/>
                    </a:cubicBezTo>
                    <a:cubicBezTo>
                      <a:pt x="86" y="7"/>
                      <a:pt x="86" y="7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6" y="6"/>
                      <a:pt x="86" y="6"/>
                      <a:pt x="86" y="6"/>
                    </a:cubicBezTo>
                    <a:cubicBezTo>
                      <a:pt x="87" y="6"/>
                      <a:pt x="87" y="6"/>
                      <a:pt x="87" y="6"/>
                    </a:cubicBezTo>
                    <a:cubicBezTo>
                      <a:pt x="87" y="6"/>
                      <a:pt x="87" y="6"/>
                      <a:pt x="87" y="6"/>
                    </a:cubicBezTo>
                    <a:cubicBezTo>
                      <a:pt x="88" y="5"/>
                      <a:pt x="88" y="5"/>
                      <a:pt x="88" y="4"/>
                    </a:cubicBezTo>
                    <a:cubicBezTo>
                      <a:pt x="89" y="3"/>
                      <a:pt x="89" y="2"/>
                      <a:pt x="89" y="2"/>
                    </a:cubicBezTo>
                    <a:cubicBezTo>
                      <a:pt x="88" y="0"/>
                      <a:pt x="87" y="0"/>
                      <a:pt x="86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8" name="Freeform 43"/>
              <p:cNvSpPr>
                <a:spLocks noEditPoints="1"/>
              </p:cNvSpPr>
              <p:nvPr/>
            </p:nvSpPr>
            <p:spPr bwMode="auto">
              <a:xfrm>
                <a:off x="4164" y="2301"/>
                <a:ext cx="31" cy="55"/>
              </a:xfrm>
              <a:custGeom>
                <a:avLst/>
                <a:gdLst>
                  <a:gd name="T0" fmla="*/ 12 w 13"/>
                  <a:gd name="T1" fmla="*/ 0 h 23"/>
                  <a:gd name="T2" fmla="*/ 12 w 13"/>
                  <a:gd name="T3" fmla="*/ 0 h 23"/>
                  <a:gd name="T4" fmla="*/ 12 w 13"/>
                  <a:gd name="T5" fmla="*/ 0 h 23"/>
                  <a:gd name="T6" fmla="*/ 12 w 13"/>
                  <a:gd name="T7" fmla="*/ 0 h 23"/>
                  <a:gd name="T8" fmla="*/ 9 w 13"/>
                  <a:gd name="T9" fmla="*/ 0 h 23"/>
                  <a:gd name="T10" fmla="*/ 7 w 13"/>
                  <a:gd name="T11" fmla="*/ 2 h 23"/>
                  <a:gd name="T12" fmla="*/ 6 w 13"/>
                  <a:gd name="T13" fmla="*/ 4 h 23"/>
                  <a:gd name="T14" fmla="*/ 5 w 13"/>
                  <a:gd name="T15" fmla="*/ 6 h 23"/>
                  <a:gd name="T16" fmla="*/ 5 w 13"/>
                  <a:gd name="T17" fmla="*/ 6 h 23"/>
                  <a:gd name="T18" fmla="*/ 4 w 13"/>
                  <a:gd name="T19" fmla="*/ 7 h 23"/>
                  <a:gd name="T20" fmla="*/ 3 w 13"/>
                  <a:gd name="T21" fmla="*/ 9 h 23"/>
                  <a:gd name="T22" fmla="*/ 3 w 13"/>
                  <a:gd name="T23" fmla="*/ 9 h 23"/>
                  <a:gd name="T24" fmla="*/ 3 w 13"/>
                  <a:gd name="T25" fmla="*/ 10 h 23"/>
                  <a:gd name="T26" fmla="*/ 2 w 13"/>
                  <a:gd name="T27" fmla="*/ 14 h 23"/>
                  <a:gd name="T28" fmla="*/ 2 w 13"/>
                  <a:gd name="T29" fmla="*/ 14 h 23"/>
                  <a:gd name="T30" fmla="*/ 1 w 13"/>
                  <a:gd name="T31" fmla="*/ 14 h 23"/>
                  <a:gd name="T32" fmla="*/ 0 w 13"/>
                  <a:gd name="T33" fmla="*/ 19 h 23"/>
                  <a:gd name="T34" fmla="*/ 1 w 13"/>
                  <a:gd name="T35" fmla="*/ 21 h 23"/>
                  <a:gd name="T36" fmla="*/ 0 w 13"/>
                  <a:gd name="T37" fmla="*/ 22 h 23"/>
                  <a:gd name="T38" fmla="*/ 1 w 13"/>
                  <a:gd name="T39" fmla="*/ 23 h 23"/>
                  <a:gd name="T40" fmla="*/ 2 w 13"/>
                  <a:gd name="T41" fmla="*/ 23 h 23"/>
                  <a:gd name="T42" fmla="*/ 6 w 13"/>
                  <a:gd name="T43" fmla="*/ 19 h 23"/>
                  <a:gd name="T44" fmla="*/ 6 w 13"/>
                  <a:gd name="T45" fmla="*/ 18 h 23"/>
                  <a:gd name="T46" fmla="*/ 7 w 13"/>
                  <a:gd name="T47" fmla="*/ 18 h 23"/>
                  <a:gd name="T48" fmla="*/ 7 w 13"/>
                  <a:gd name="T49" fmla="*/ 16 h 23"/>
                  <a:gd name="T50" fmla="*/ 7 w 13"/>
                  <a:gd name="T51" fmla="*/ 14 h 23"/>
                  <a:gd name="T52" fmla="*/ 7 w 13"/>
                  <a:gd name="T53" fmla="*/ 14 h 23"/>
                  <a:gd name="T54" fmla="*/ 7 w 13"/>
                  <a:gd name="T55" fmla="*/ 13 h 23"/>
                  <a:gd name="T56" fmla="*/ 7 w 13"/>
                  <a:gd name="T57" fmla="*/ 12 h 23"/>
                  <a:gd name="T58" fmla="*/ 7 w 13"/>
                  <a:gd name="T59" fmla="*/ 12 h 23"/>
                  <a:gd name="T60" fmla="*/ 8 w 13"/>
                  <a:gd name="T61" fmla="*/ 10 h 23"/>
                  <a:gd name="T62" fmla="*/ 8 w 13"/>
                  <a:gd name="T63" fmla="*/ 10 h 23"/>
                  <a:gd name="T64" fmla="*/ 8 w 13"/>
                  <a:gd name="T65" fmla="*/ 9 h 23"/>
                  <a:gd name="T66" fmla="*/ 8 w 13"/>
                  <a:gd name="T67" fmla="*/ 9 h 23"/>
                  <a:gd name="T68" fmla="*/ 9 w 13"/>
                  <a:gd name="T69" fmla="*/ 9 h 23"/>
                  <a:gd name="T70" fmla="*/ 12 w 13"/>
                  <a:gd name="T71" fmla="*/ 2 h 23"/>
                  <a:gd name="T72" fmla="*/ 12 w 13"/>
                  <a:gd name="T73" fmla="*/ 3 h 23"/>
                  <a:gd name="T74" fmla="*/ 11 w 13"/>
                  <a:gd name="T75" fmla="*/ 3 h 23"/>
                  <a:gd name="T76" fmla="*/ 11 w 13"/>
                  <a:gd name="T77" fmla="*/ 2 h 23"/>
                  <a:gd name="T78" fmla="*/ 10 w 13"/>
                  <a:gd name="T79" fmla="*/ 1 h 23"/>
                  <a:gd name="T80" fmla="*/ 10 w 13"/>
                  <a:gd name="T81" fmla="*/ 0 h 23"/>
                  <a:gd name="T82" fmla="*/ 9 w 13"/>
                  <a:gd name="T83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3" h="23">
                    <a:moveTo>
                      <a:pt x="12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0"/>
                      <a:pt x="12" y="0"/>
                      <a:pt x="12" y="0"/>
                    </a:cubicBezTo>
                    <a:moveTo>
                      <a:pt x="9" y="0"/>
                    </a:moveTo>
                    <a:cubicBezTo>
                      <a:pt x="9" y="1"/>
                      <a:pt x="8" y="1"/>
                      <a:pt x="7" y="2"/>
                    </a:cubicBezTo>
                    <a:cubicBezTo>
                      <a:pt x="7" y="3"/>
                      <a:pt x="6" y="3"/>
                      <a:pt x="6" y="4"/>
                    </a:cubicBezTo>
                    <a:cubicBezTo>
                      <a:pt x="5" y="4"/>
                      <a:pt x="5" y="5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3" y="7"/>
                      <a:pt x="3" y="8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2" y="11"/>
                      <a:pt x="2" y="12"/>
                      <a:pt x="2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15"/>
                      <a:pt x="0" y="17"/>
                      <a:pt x="0" y="19"/>
                    </a:cubicBezTo>
                    <a:cubicBezTo>
                      <a:pt x="1" y="20"/>
                      <a:pt x="1" y="21"/>
                      <a:pt x="1" y="21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2" y="23"/>
                      <a:pt x="2" y="23"/>
                      <a:pt x="2" y="23"/>
                    </a:cubicBezTo>
                    <a:cubicBezTo>
                      <a:pt x="5" y="23"/>
                      <a:pt x="5" y="20"/>
                      <a:pt x="6" y="19"/>
                    </a:cubicBezTo>
                    <a:cubicBezTo>
                      <a:pt x="6" y="18"/>
                      <a:pt x="6" y="18"/>
                      <a:pt x="6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7"/>
                      <a:pt x="7" y="16"/>
                      <a:pt x="7" y="16"/>
                    </a:cubicBezTo>
                    <a:cubicBezTo>
                      <a:pt x="7" y="15"/>
                      <a:pt x="7" y="15"/>
                      <a:pt x="7" y="14"/>
                    </a:cubicBezTo>
                    <a:cubicBezTo>
                      <a:pt x="7" y="14"/>
                      <a:pt x="7" y="14"/>
                      <a:pt x="7" y="14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7" y="12"/>
                      <a:pt x="7" y="12"/>
                      <a:pt x="7" y="12"/>
                    </a:cubicBezTo>
                    <a:cubicBezTo>
                      <a:pt x="8" y="12"/>
                      <a:pt x="8" y="11"/>
                      <a:pt x="8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11" y="8"/>
                      <a:pt x="13" y="5"/>
                      <a:pt x="12" y="2"/>
                    </a:cubicBezTo>
                    <a:cubicBezTo>
                      <a:pt x="12" y="2"/>
                      <a:pt x="12" y="2"/>
                      <a:pt x="12" y="3"/>
                    </a:cubicBezTo>
                    <a:cubicBezTo>
                      <a:pt x="11" y="3"/>
                      <a:pt x="11" y="3"/>
                      <a:pt x="11" y="3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0" y="2"/>
                      <a:pt x="10" y="1"/>
                      <a:pt x="10" y="1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9" y="0"/>
                      <a:pt x="9" y="0"/>
                      <a:pt x="9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2" name="Freeform 44"/>
              <p:cNvSpPr/>
              <p:nvPr/>
            </p:nvSpPr>
            <p:spPr bwMode="auto">
              <a:xfrm>
                <a:off x="4188" y="2298"/>
                <a:ext cx="7" cy="10"/>
              </a:xfrm>
              <a:custGeom>
                <a:avLst/>
                <a:gdLst>
                  <a:gd name="T0" fmla="*/ 1 w 3"/>
                  <a:gd name="T1" fmla="*/ 0 h 4"/>
                  <a:gd name="T2" fmla="*/ 0 w 3"/>
                  <a:gd name="T3" fmla="*/ 1 h 4"/>
                  <a:gd name="T4" fmla="*/ 0 w 3"/>
                  <a:gd name="T5" fmla="*/ 2 h 4"/>
                  <a:gd name="T6" fmla="*/ 1 w 3"/>
                  <a:gd name="T7" fmla="*/ 3 h 4"/>
                  <a:gd name="T8" fmla="*/ 1 w 3"/>
                  <a:gd name="T9" fmla="*/ 4 h 4"/>
                  <a:gd name="T10" fmla="*/ 2 w 3"/>
                  <a:gd name="T11" fmla="*/ 4 h 4"/>
                  <a:gd name="T12" fmla="*/ 2 w 3"/>
                  <a:gd name="T13" fmla="*/ 3 h 4"/>
                  <a:gd name="T14" fmla="*/ 3 w 3"/>
                  <a:gd name="T15" fmla="*/ 2 h 4"/>
                  <a:gd name="T16" fmla="*/ 2 w 3"/>
                  <a:gd name="T17" fmla="*/ 1 h 4"/>
                  <a:gd name="T18" fmla="*/ 2 w 3"/>
                  <a:gd name="T19" fmla="*/ 1 h 4"/>
                  <a:gd name="T20" fmla="*/ 1 w 3"/>
                  <a:gd name="T2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" h="4">
                    <a:moveTo>
                      <a:pt x="1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3"/>
                      <a:pt x="3" y="2"/>
                    </a:cubicBezTo>
                    <a:cubicBezTo>
                      <a:pt x="3" y="2"/>
                      <a:pt x="2" y="2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</a:path>
                </a:pathLst>
              </a:custGeom>
              <a:grpFill/>
              <a:ln w="12700">
                <a:solidFill>
                  <a:schemeClr val="bg1">
                    <a:lumMod val="65000"/>
                  </a:schemeClr>
                </a:solidFill>
                <a:round/>
              </a:ln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zh-CN" altLang="en-US" sz="11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p:grpSp>
      </p:grpSp>
      <p:grpSp>
        <p:nvGrpSpPr>
          <p:cNvPr id="33" name="组合 2"/>
          <p:cNvGrpSpPr/>
          <p:nvPr/>
        </p:nvGrpSpPr>
        <p:grpSpPr>
          <a:xfrm rot="10800000">
            <a:off x="5052705" y="3934199"/>
            <a:ext cx="2279286" cy="1613729"/>
            <a:chOff x="9306036" y="1610557"/>
            <a:chExt cx="2349681" cy="1827508"/>
          </a:xfrm>
        </p:grpSpPr>
        <p:cxnSp>
          <p:nvCxnSpPr>
            <p:cNvPr id="34" name="直接连接符 3"/>
            <p:cNvCxnSpPr/>
            <p:nvPr/>
          </p:nvCxnSpPr>
          <p:spPr>
            <a:xfrm rot="10800000" flipH="1" flipV="1">
              <a:off x="9328798" y="1610557"/>
              <a:ext cx="2326919" cy="1044902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4"/>
            <p:cNvCxnSpPr/>
            <p:nvPr/>
          </p:nvCxnSpPr>
          <p:spPr>
            <a:xfrm flipV="1">
              <a:off x="9306036" y="2386165"/>
              <a:ext cx="2219300" cy="1051900"/>
            </a:xfrm>
            <a:prstGeom prst="line">
              <a:avLst/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组合 11"/>
          <p:cNvGrpSpPr/>
          <p:nvPr/>
        </p:nvGrpSpPr>
        <p:grpSpPr>
          <a:xfrm>
            <a:off x="6405647" y="4767421"/>
            <a:ext cx="1406713" cy="1262309"/>
            <a:chOff x="7317678" y="2062952"/>
            <a:chExt cx="1437344" cy="1437343"/>
          </a:xfrm>
        </p:grpSpPr>
        <p:sp>
          <p:nvSpPr>
            <p:cNvPr id="43" name="椭圆 42"/>
            <p:cNvSpPr/>
            <p:nvPr/>
          </p:nvSpPr>
          <p:spPr>
            <a:xfrm>
              <a:off x="7317678" y="2062952"/>
              <a:ext cx="1437344" cy="1437343"/>
            </a:xfrm>
            <a:prstGeom prst="ellipse">
              <a:avLst/>
            </a:prstGeom>
            <a:gradFill>
              <a:gsLst>
                <a:gs pos="0">
                  <a:srgbClr val="A572BA"/>
                </a:gs>
                <a:gs pos="100000">
                  <a:srgbClr val="663A77"/>
                </a:gs>
              </a:gsLst>
              <a:lin ang="2700000" scaled="1"/>
            </a:gradFill>
            <a:ln>
              <a:noFill/>
            </a:ln>
            <a:effectLst>
              <a:outerShdw blurRad="2540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432833" y="2178107"/>
              <a:ext cx="1207034" cy="1207033"/>
            </a:xfrm>
            <a:prstGeom prst="ellipse">
              <a:avLst/>
            </a:prstGeom>
            <a:blipFill>
              <a:blip r:embed="rId3" cstate="screen"/>
              <a:stretch>
                <a:fillRect/>
              </a:stretch>
            </a:blipFill>
            <a:ln w="88900">
              <a:gradFill flip="none" rotWithShape="1">
                <a:gsLst>
                  <a:gs pos="0">
                    <a:srgbClr val="663A77"/>
                  </a:gs>
                  <a:gs pos="100000">
                    <a:srgbClr val="A572BA"/>
                  </a:gs>
                </a:gsLst>
                <a:lin ang="2700000" scaled="1"/>
                <a:tileRect/>
              </a:gradFill>
            </a:ln>
            <a:effectLst>
              <a:innerShdw blurRad="2540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</p:grpSp>
      <p:grpSp>
        <p:nvGrpSpPr>
          <p:cNvPr id="48" name="组合 17"/>
          <p:cNvGrpSpPr/>
          <p:nvPr/>
        </p:nvGrpSpPr>
        <p:grpSpPr>
          <a:xfrm>
            <a:off x="5098869" y="4186001"/>
            <a:ext cx="1497972" cy="1357565"/>
            <a:chOff x="5377873" y="4872771"/>
            <a:chExt cx="1437344" cy="1437343"/>
          </a:xfrm>
        </p:grpSpPr>
        <p:sp>
          <p:nvSpPr>
            <p:cNvPr id="49" name="椭圆 48"/>
            <p:cNvSpPr/>
            <p:nvPr/>
          </p:nvSpPr>
          <p:spPr>
            <a:xfrm>
              <a:off x="5377873" y="4872771"/>
              <a:ext cx="1437344" cy="1437343"/>
            </a:xfrm>
            <a:prstGeom prst="ellipse">
              <a:avLst/>
            </a:prstGeom>
            <a:gradFill>
              <a:gsLst>
                <a:gs pos="0">
                  <a:srgbClr val="00FAD0"/>
                </a:gs>
                <a:gs pos="100000">
                  <a:srgbClr val="00AF92"/>
                </a:gs>
              </a:gsLst>
              <a:lin ang="2700000" scaled="1"/>
            </a:gradFill>
            <a:ln>
              <a:noFill/>
            </a:ln>
            <a:effectLst>
              <a:outerShdw blurRad="2540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5493028" y="4987926"/>
              <a:ext cx="1207034" cy="1207033"/>
            </a:xfrm>
            <a:prstGeom prst="ellipse">
              <a:avLst/>
            </a:prstGeom>
            <a:blipFill>
              <a:blip r:embed="rId4" cstate="screen"/>
              <a:stretch>
                <a:fillRect/>
              </a:stretch>
            </a:blipFill>
            <a:ln w="88900">
              <a:gradFill flip="none" rotWithShape="1">
                <a:gsLst>
                  <a:gs pos="0">
                    <a:srgbClr val="00AF92"/>
                  </a:gs>
                  <a:gs pos="100000">
                    <a:srgbClr val="00FAD0"/>
                  </a:gs>
                </a:gsLst>
                <a:lin ang="2700000" scaled="1"/>
                <a:tileRect/>
              </a:gradFill>
            </a:ln>
            <a:effectLst>
              <a:innerShdw blurRad="2540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</p:grpSp>
      <p:grpSp>
        <p:nvGrpSpPr>
          <p:cNvPr id="63" name="组合 32"/>
          <p:cNvGrpSpPr/>
          <p:nvPr/>
        </p:nvGrpSpPr>
        <p:grpSpPr>
          <a:xfrm>
            <a:off x="6291124" y="3263435"/>
            <a:ext cx="1412479" cy="1274851"/>
            <a:chOff x="9266374" y="2928667"/>
            <a:chExt cx="1437344" cy="1437343"/>
          </a:xfrm>
        </p:grpSpPr>
        <p:sp>
          <p:nvSpPr>
            <p:cNvPr id="64" name="椭圆 63"/>
            <p:cNvSpPr/>
            <p:nvPr/>
          </p:nvSpPr>
          <p:spPr>
            <a:xfrm>
              <a:off x="9266374" y="2928667"/>
              <a:ext cx="1437344" cy="1437343"/>
            </a:xfrm>
            <a:prstGeom prst="ellipse">
              <a:avLst/>
            </a:prstGeom>
            <a:gradFill>
              <a:gsLst>
                <a:gs pos="0">
                  <a:srgbClr val="1EE9FE"/>
                </a:gs>
                <a:gs pos="100000">
                  <a:srgbClr val="01ACBE"/>
                </a:gs>
              </a:gsLst>
              <a:lin ang="2700000" scaled="1"/>
            </a:gradFill>
            <a:ln>
              <a:noFill/>
            </a:ln>
            <a:effectLst>
              <a:outerShdw blurRad="254000" dist="1143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  <p:sp>
          <p:nvSpPr>
            <p:cNvPr id="65" name="椭圆 64"/>
            <p:cNvSpPr/>
            <p:nvPr/>
          </p:nvSpPr>
          <p:spPr>
            <a:xfrm>
              <a:off x="9381529" y="3043822"/>
              <a:ext cx="1207034" cy="1207033"/>
            </a:xfrm>
            <a:prstGeom prst="ellipse">
              <a:avLst/>
            </a:prstGeom>
            <a:blipFill>
              <a:blip r:embed="rId5" cstate="screen"/>
              <a:stretch>
                <a:fillRect/>
              </a:stretch>
            </a:blipFill>
            <a:ln w="88900">
              <a:gradFill flip="none" rotWithShape="1">
                <a:gsLst>
                  <a:gs pos="0">
                    <a:srgbClr val="01ACBE"/>
                  </a:gs>
                  <a:gs pos="100000">
                    <a:srgbClr val="1EE9FE"/>
                  </a:gs>
                </a:gsLst>
                <a:lin ang="2700000" scaled="1"/>
                <a:tileRect/>
              </a:gradFill>
            </a:ln>
            <a:effectLst>
              <a:innerShdw blurRad="254000" dist="889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prstClr val="white"/>
                </a:solidFill>
              </a:endParaRPr>
            </a:p>
          </p:txBody>
        </p:sp>
      </p:grpSp>
      <p:sp>
        <p:nvSpPr>
          <p:cNvPr id="13" name="虚尾箭头 12"/>
          <p:cNvSpPr/>
          <p:nvPr/>
        </p:nvSpPr>
        <p:spPr>
          <a:xfrm rot="19275078">
            <a:off x="2481524" y="3410583"/>
            <a:ext cx="986808" cy="58818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93" name="文本框 92"/>
          <p:cNvSpPr txBox="1"/>
          <p:nvPr/>
        </p:nvSpPr>
        <p:spPr>
          <a:xfrm>
            <a:off x="1817861" y="3219626"/>
            <a:ext cx="1176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/>
              <a:t>认知</a:t>
            </a:r>
            <a:endParaRPr kumimoji="1" lang="zh-CN" altLang="en-US" sz="2400" b="1" dirty="0"/>
          </a:p>
        </p:txBody>
      </p:sp>
      <p:sp>
        <p:nvSpPr>
          <p:cNvPr id="94" name="虚尾箭头 93"/>
          <p:cNvSpPr/>
          <p:nvPr/>
        </p:nvSpPr>
        <p:spPr>
          <a:xfrm rot="1998896">
            <a:off x="4989904" y="3265700"/>
            <a:ext cx="1099739" cy="603271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/>
          </a:p>
        </p:txBody>
      </p:sp>
      <p:sp>
        <p:nvSpPr>
          <p:cNvPr id="95" name="文本框 94"/>
          <p:cNvSpPr txBox="1"/>
          <p:nvPr/>
        </p:nvSpPr>
        <p:spPr>
          <a:xfrm>
            <a:off x="4769984" y="2636545"/>
            <a:ext cx="2535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/>
              <a:t>模仿，实践</a:t>
            </a:r>
            <a:endParaRPr kumimoji="1" lang="zh-CN" altLang="en-US" sz="2400" b="1" dirty="0"/>
          </a:p>
        </p:txBody>
      </p:sp>
      <p:sp>
        <p:nvSpPr>
          <p:cNvPr id="96" name="上弧形箭头 95"/>
          <p:cNvSpPr/>
          <p:nvPr/>
        </p:nvSpPr>
        <p:spPr>
          <a:xfrm rot="1997934" flipH="1">
            <a:off x="2966022" y="4523823"/>
            <a:ext cx="2798854" cy="958191"/>
          </a:xfrm>
          <a:prstGeom prst="curvedUpArrow">
            <a:avLst>
              <a:gd name="adj1" fmla="val 25000"/>
              <a:gd name="adj2" fmla="val 50000"/>
              <a:gd name="adj3" fmla="val 312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800">
              <a:solidFill>
                <a:schemeClr val="tx1"/>
              </a:solidFill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4157588" y="4866309"/>
            <a:ext cx="1176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/>
              <a:t>反馈</a:t>
            </a:r>
            <a:endParaRPr kumimoji="1" lang="zh-CN" altLang="en-US" sz="2400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2542948" y="4076621"/>
            <a:ext cx="1629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 smtClean="0"/>
              <a:t>再认知</a:t>
            </a:r>
            <a:endParaRPr kumimoji="1"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171414358"/>
      </p:ext>
    </p:extLst>
  </p:cSld>
  <p:clrMapOvr>
    <a:masterClrMapping/>
  </p:clrMapOvr>
  <p:transition advTm="0">
    <p:wedg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4" accel="70000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22" dur="10" fill="hold"/>
                                            <p:tgtEl>
                                              <p:spTgt spid="48"/>
                                            </p:tgtEl>
                                          </p:cBhvr>
                                          <p:by x="100000" y="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3" presetID="6" presetClass="emph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24" dur="500" fill="hold"/>
                                            <p:tgtEl>
                                              <p:spTgt spid="48"/>
                                            </p:tgtEl>
                                          </p:cBhvr>
                                          <p:by x="100000" y="500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0" dur="10" fill="hold"/>
                                            <p:tgtEl>
                                              <p:spTgt spid="42"/>
                                            </p:tgtEl>
                                          </p:cBhvr>
                                          <p:by x="100000" y="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00" fill="hold"/>
                                            <p:tgtEl>
                                              <p:spTgt spid="42"/>
                                            </p:tgtEl>
                                          </p:cBhvr>
                                          <p:by x="100000" y="500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10" fill="hold"/>
                                            <p:tgtEl>
                                              <p:spTgt spid="63"/>
                                            </p:tgtEl>
                                          </p:cBhvr>
                                          <p:by x="100000" y="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9" presetID="6" presetClass="emph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40" dur="500" fill="hold"/>
                                            <p:tgtEl>
                                              <p:spTgt spid="63"/>
                                            </p:tgtEl>
                                          </p:cBhvr>
                                          <p:by x="100000" y="50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decel="10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4" accel="70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4" presetID="16" presetClass="entr" presetSubtype="2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16" dur="5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22" dur="10" fill="hold"/>
                                            <p:tgtEl>
                                              <p:spTgt spid="48"/>
                                            </p:tgtEl>
                                          </p:cBhvr>
                                          <p:by x="100000" y="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3" presetID="6" presetClass="emph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24" dur="500" fill="hold"/>
                                            <p:tgtEl>
                                              <p:spTgt spid="48"/>
                                            </p:tgtEl>
                                          </p:cBhvr>
                                          <p:by x="100000" y="500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0" dur="10" fill="hold"/>
                                            <p:tgtEl>
                                              <p:spTgt spid="42"/>
                                            </p:tgtEl>
                                          </p:cBhvr>
                                          <p:by x="100000" y="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1" presetID="6" presetClass="emph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32" dur="500" fill="hold"/>
                                            <p:tgtEl>
                                              <p:spTgt spid="42"/>
                                            </p:tgtEl>
                                          </p:cBhvr>
                                          <p:by x="100000" y="500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38" dur="10" fill="hold"/>
                                            <p:tgtEl>
                                              <p:spTgt spid="63"/>
                                            </p:tgtEl>
                                          </p:cBhvr>
                                          <p:by x="100000" y="2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39" presetID="6" presetClass="emph" presetSubtype="0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animScale>
                                          <p:cBhvr>
                                            <p:cTn id="40" dur="500" fill="hold"/>
                                            <p:tgtEl>
                                              <p:spTgt spid="63"/>
                                            </p:tgtEl>
                                          </p:cBhvr>
                                          <p:by x="100000" y="5000000"/>
                                        </p:animScale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5"/>
          <p:cNvSpPr>
            <a:spLocks noEditPoints="1"/>
          </p:cNvSpPr>
          <p:nvPr/>
        </p:nvSpPr>
        <p:spPr bwMode="auto">
          <a:xfrm>
            <a:off x="2985287" y="932723"/>
            <a:ext cx="3177001" cy="4400901"/>
          </a:xfrm>
          <a:custGeom>
            <a:avLst/>
            <a:gdLst>
              <a:gd name="T0" fmla="*/ 2614 w 3520"/>
              <a:gd name="T1" fmla="*/ 0 h 3078"/>
              <a:gd name="T2" fmla="*/ 3520 w 3520"/>
              <a:gd name="T3" fmla="*/ 1539 h 3078"/>
              <a:gd name="T4" fmla="*/ 2614 w 3520"/>
              <a:gd name="T5" fmla="*/ 3078 h 3078"/>
              <a:gd name="T6" fmla="*/ 906 w 3520"/>
              <a:gd name="T7" fmla="*/ 3078 h 3078"/>
              <a:gd name="T8" fmla="*/ 0 w 3520"/>
              <a:gd name="T9" fmla="*/ 1539 h 3078"/>
              <a:gd name="T10" fmla="*/ 906 w 3520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20" h="3078">
                <a:moveTo>
                  <a:pt x="2614" y="0"/>
                </a:moveTo>
                <a:cubicBezTo>
                  <a:pt x="3154" y="300"/>
                  <a:pt x="3520" y="877"/>
                  <a:pt x="3520" y="1539"/>
                </a:cubicBezTo>
                <a:cubicBezTo>
                  <a:pt x="3520" y="2201"/>
                  <a:pt x="3154" y="2778"/>
                  <a:pt x="2614" y="3078"/>
                </a:cubicBezTo>
                <a:moveTo>
                  <a:pt x="906" y="3078"/>
                </a:moveTo>
                <a:cubicBezTo>
                  <a:pt x="365" y="2778"/>
                  <a:pt x="0" y="2201"/>
                  <a:pt x="0" y="1539"/>
                </a:cubicBezTo>
                <a:cubicBezTo>
                  <a:pt x="0" y="877"/>
                  <a:pt x="365" y="300"/>
                  <a:pt x="90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3" name="Freeform 26"/>
          <p:cNvSpPr>
            <a:spLocks noEditPoints="1"/>
          </p:cNvSpPr>
          <p:nvPr/>
        </p:nvSpPr>
        <p:spPr bwMode="auto">
          <a:xfrm>
            <a:off x="2689972" y="932723"/>
            <a:ext cx="3767628" cy="4400901"/>
          </a:xfrm>
          <a:custGeom>
            <a:avLst/>
            <a:gdLst>
              <a:gd name="T0" fmla="*/ 3496 w 4174"/>
              <a:gd name="T1" fmla="*/ 0 h 3078"/>
              <a:gd name="T2" fmla="*/ 4174 w 4174"/>
              <a:gd name="T3" fmla="*/ 1539 h 3078"/>
              <a:gd name="T4" fmla="*/ 3496 w 4174"/>
              <a:gd name="T5" fmla="*/ 3078 h 3078"/>
              <a:gd name="T6" fmla="*/ 677 w 4174"/>
              <a:gd name="T7" fmla="*/ 3078 h 3078"/>
              <a:gd name="T8" fmla="*/ 0 w 4174"/>
              <a:gd name="T9" fmla="*/ 1539 h 3078"/>
              <a:gd name="T10" fmla="*/ 677 w 4174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74" h="3078">
                <a:moveTo>
                  <a:pt x="3496" y="0"/>
                </a:moveTo>
                <a:cubicBezTo>
                  <a:pt x="3912" y="381"/>
                  <a:pt x="4174" y="930"/>
                  <a:pt x="4174" y="1539"/>
                </a:cubicBezTo>
                <a:cubicBezTo>
                  <a:pt x="4174" y="2148"/>
                  <a:pt x="3912" y="2697"/>
                  <a:pt x="3496" y="3078"/>
                </a:cubicBezTo>
                <a:moveTo>
                  <a:pt x="677" y="3078"/>
                </a:moveTo>
                <a:cubicBezTo>
                  <a:pt x="261" y="2697"/>
                  <a:pt x="0" y="2148"/>
                  <a:pt x="0" y="1539"/>
                </a:cubicBezTo>
                <a:cubicBezTo>
                  <a:pt x="0" y="930"/>
                  <a:pt x="261" y="381"/>
                  <a:pt x="67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4" name="Freeform 27"/>
          <p:cNvSpPr>
            <a:spLocks noEditPoints="1"/>
          </p:cNvSpPr>
          <p:nvPr/>
        </p:nvSpPr>
        <p:spPr bwMode="auto">
          <a:xfrm>
            <a:off x="2338693" y="932723"/>
            <a:ext cx="4467807" cy="4400901"/>
          </a:xfrm>
          <a:custGeom>
            <a:avLst/>
            <a:gdLst>
              <a:gd name="T0" fmla="*/ 4412 w 4949"/>
              <a:gd name="T1" fmla="*/ 0 h 3078"/>
              <a:gd name="T2" fmla="*/ 4949 w 4949"/>
              <a:gd name="T3" fmla="*/ 1539 h 3078"/>
              <a:gd name="T4" fmla="*/ 4412 w 4949"/>
              <a:gd name="T5" fmla="*/ 3078 h 3078"/>
              <a:gd name="T6" fmla="*/ 537 w 4949"/>
              <a:gd name="T7" fmla="*/ 3078 h 3078"/>
              <a:gd name="T8" fmla="*/ 0 w 4949"/>
              <a:gd name="T9" fmla="*/ 1539 h 3078"/>
              <a:gd name="T10" fmla="*/ 537 w 494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49" h="3078">
                <a:moveTo>
                  <a:pt x="4412" y="0"/>
                </a:moveTo>
                <a:cubicBezTo>
                  <a:pt x="4748" y="422"/>
                  <a:pt x="4949" y="957"/>
                  <a:pt x="4949" y="1539"/>
                </a:cubicBezTo>
                <a:cubicBezTo>
                  <a:pt x="4949" y="2121"/>
                  <a:pt x="4748" y="2656"/>
                  <a:pt x="4412" y="3078"/>
                </a:cubicBezTo>
                <a:moveTo>
                  <a:pt x="537" y="3078"/>
                </a:moveTo>
                <a:cubicBezTo>
                  <a:pt x="201" y="2656"/>
                  <a:pt x="0" y="2121"/>
                  <a:pt x="0" y="1539"/>
                </a:cubicBezTo>
                <a:cubicBezTo>
                  <a:pt x="0" y="957"/>
                  <a:pt x="201" y="422"/>
                  <a:pt x="53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" name="Freeform 28"/>
          <p:cNvSpPr>
            <a:spLocks noEditPoints="1"/>
          </p:cNvSpPr>
          <p:nvPr/>
        </p:nvSpPr>
        <p:spPr bwMode="auto">
          <a:xfrm>
            <a:off x="1924301" y="932723"/>
            <a:ext cx="5297781" cy="4400901"/>
          </a:xfrm>
          <a:custGeom>
            <a:avLst/>
            <a:gdLst>
              <a:gd name="T0" fmla="*/ 5433 w 5869"/>
              <a:gd name="T1" fmla="*/ 0 h 3078"/>
              <a:gd name="T2" fmla="*/ 5869 w 5869"/>
              <a:gd name="T3" fmla="*/ 1539 h 3078"/>
              <a:gd name="T4" fmla="*/ 5433 w 5869"/>
              <a:gd name="T5" fmla="*/ 3078 h 3078"/>
              <a:gd name="T6" fmla="*/ 436 w 5869"/>
              <a:gd name="T7" fmla="*/ 3078 h 3078"/>
              <a:gd name="T8" fmla="*/ 0 w 5869"/>
              <a:gd name="T9" fmla="*/ 1539 h 3078"/>
              <a:gd name="T10" fmla="*/ 436 w 586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69" h="3078">
                <a:moveTo>
                  <a:pt x="5433" y="0"/>
                </a:moveTo>
                <a:cubicBezTo>
                  <a:pt x="5709" y="447"/>
                  <a:pt x="5869" y="974"/>
                  <a:pt x="5869" y="1539"/>
                </a:cubicBezTo>
                <a:cubicBezTo>
                  <a:pt x="5869" y="2103"/>
                  <a:pt x="5709" y="2631"/>
                  <a:pt x="5433" y="3078"/>
                </a:cubicBezTo>
                <a:moveTo>
                  <a:pt x="436" y="3078"/>
                </a:moveTo>
                <a:cubicBezTo>
                  <a:pt x="160" y="2631"/>
                  <a:pt x="0" y="2103"/>
                  <a:pt x="0" y="1539"/>
                </a:cubicBezTo>
                <a:cubicBezTo>
                  <a:pt x="0" y="974"/>
                  <a:pt x="160" y="447"/>
                  <a:pt x="436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6" name="Freeform 29"/>
          <p:cNvSpPr>
            <a:spLocks noEditPoints="1"/>
          </p:cNvSpPr>
          <p:nvPr/>
        </p:nvSpPr>
        <p:spPr bwMode="auto">
          <a:xfrm>
            <a:off x="1406812" y="1017170"/>
            <a:ext cx="6281365" cy="4400901"/>
          </a:xfrm>
          <a:custGeom>
            <a:avLst/>
            <a:gdLst>
              <a:gd name="T0" fmla="*/ 6600 w 6959"/>
              <a:gd name="T1" fmla="*/ 0 h 3078"/>
              <a:gd name="T2" fmla="*/ 6959 w 6959"/>
              <a:gd name="T3" fmla="*/ 1539 h 3078"/>
              <a:gd name="T4" fmla="*/ 6600 w 6959"/>
              <a:gd name="T5" fmla="*/ 3078 h 3078"/>
              <a:gd name="T6" fmla="*/ 359 w 6959"/>
              <a:gd name="T7" fmla="*/ 3078 h 3078"/>
              <a:gd name="T8" fmla="*/ 0 w 6959"/>
              <a:gd name="T9" fmla="*/ 1539 h 3078"/>
              <a:gd name="T10" fmla="*/ 359 w 6959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959" h="3078">
                <a:moveTo>
                  <a:pt x="6600" y="0"/>
                </a:moveTo>
                <a:cubicBezTo>
                  <a:pt x="6830" y="464"/>
                  <a:pt x="6959" y="986"/>
                  <a:pt x="6959" y="1539"/>
                </a:cubicBezTo>
                <a:cubicBezTo>
                  <a:pt x="6959" y="2092"/>
                  <a:pt x="6830" y="2614"/>
                  <a:pt x="6600" y="3078"/>
                </a:cubicBezTo>
                <a:moveTo>
                  <a:pt x="359" y="3078"/>
                </a:moveTo>
                <a:cubicBezTo>
                  <a:pt x="129" y="2614"/>
                  <a:pt x="0" y="2092"/>
                  <a:pt x="0" y="1539"/>
                </a:cubicBezTo>
                <a:cubicBezTo>
                  <a:pt x="0" y="986"/>
                  <a:pt x="129" y="464"/>
                  <a:pt x="359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7" name="Freeform 30"/>
          <p:cNvSpPr>
            <a:spLocks noEditPoints="1"/>
          </p:cNvSpPr>
          <p:nvPr/>
        </p:nvSpPr>
        <p:spPr bwMode="auto">
          <a:xfrm>
            <a:off x="849028" y="932723"/>
            <a:ext cx="7448329" cy="4400901"/>
          </a:xfrm>
          <a:custGeom>
            <a:avLst/>
            <a:gdLst>
              <a:gd name="T0" fmla="*/ 7954 w 8251"/>
              <a:gd name="T1" fmla="*/ 0 h 3078"/>
              <a:gd name="T2" fmla="*/ 8251 w 8251"/>
              <a:gd name="T3" fmla="*/ 1539 h 3078"/>
              <a:gd name="T4" fmla="*/ 7954 w 8251"/>
              <a:gd name="T5" fmla="*/ 3078 h 3078"/>
              <a:gd name="T6" fmla="*/ 297 w 8251"/>
              <a:gd name="T7" fmla="*/ 3078 h 3078"/>
              <a:gd name="T8" fmla="*/ 0 w 8251"/>
              <a:gd name="T9" fmla="*/ 1539 h 3078"/>
              <a:gd name="T10" fmla="*/ 297 w 8251"/>
              <a:gd name="T11" fmla="*/ 0 h 30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251" h="3078">
                <a:moveTo>
                  <a:pt x="7954" y="0"/>
                </a:moveTo>
                <a:cubicBezTo>
                  <a:pt x="8146" y="475"/>
                  <a:pt x="8251" y="995"/>
                  <a:pt x="8251" y="1539"/>
                </a:cubicBezTo>
                <a:cubicBezTo>
                  <a:pt x="8251" y="2083"/>
                  <a:pt x="8146" y="2602"/>
                  <a:pt x="7954" y="3078"/>
                </a:cubicBezTo>
                <a:moveTo>
                  <a:pt x="297" y="3078"/>
                </a:moveTo>
                <a:cubicBezTo>
                  <a:pt x="106" y="2602"/>
                  <a:pt x="0" y="2083"/>
                  <a:pt x="0" y="1539"/>
                </a:cubicBezTo>
                <a:cubicBezTo>
                  <a:pt x="0" y="995"/>
                  <a:pt x="106" y="475"/>
                  <a:pt x="297" y="0"/>
                </a:cubicBezTo>
              </a:path>
            </a:pathLst>
          </a:custGeom>
          <a:noFill/>
          <a:ln w="9525" cap="flat">
            <a:gradFill>
              <a:gsLst>
                <a:gs pos="60000">
                  <a:schemeClr val="bg1">
                    <a:lumMod val="65000"/>
                  </a:schemeClr>
                </a:gs>
                <a:gs pos="40000">
                  <a:schemeClr val="bg1">
                    <a:lumMod val="65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0"/>
            </a:gra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defTabSz="685800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3573781" y="1551094"/>
            <a:ext cx="1995805" cy="2732193"/>
          </a:xfrm>
          <a:prstGeom prst="ellipse">
            <a:avLst/>
          </a:prstGeom>
          <a:gradFill flip="none" rotWithShape="1">
            <a:gsLst>
              <a:gs pos="100000">
                <a:schemeClr val="bg1">
                  <a:lumMod val="85000"/>
                </a:schemeClr>
              </a:gs>
              <a:gs pos="0">
                <a:schemeClr val="bg1"/>
              </a:gs>
            </a:gsLst>
            <a:path path="circle">
              <a:fillToRect l="100000" b="100000"/>
            </a:path>
            <a:tileRect t="-100000" r="-100000"/>
          </a:gradFill>
          <a:ln w="12700">
            <a:noFill/>
          </a:ln>
          <a:effectLst>
            <a:outerShdw blurRad="635000" dist="762000" dir="7800000" sx="88000" sy="88000" algn="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zh-CN" altLang="en-US" sz="1400">
              <a:solidFill>
                <a:prstClr val="white"/>
              </a:solidFill>
            </a:endParaRPr>
          </a:p>
        </p:txBody>
      </p:sp>
      <p:sp>
        <p:nvSpPr>
          <p:cNvPr id="11" name="Freeform 16"/>
          <p:cNvSpPr/>
          <p:nvPr/>
        </p:nvSpPr>
        <p:spPr bwMode="auto">
          <a:xfrm>
            <a:off x="66481" y="3184837"/>
            <a:ext cx="2129255" cy="3446393"/>
          </a:xfrm>
          <a:custGeom>
            <a:avLst/>
            <a:gdLst>
              <a:gd name="T0" fmla="*/ 22 w 338"/>
              <a:gd name="T1" fmla="*/ 184 h 411"/>
              <a:gd name="T2" fmla="*/ 20 w 338"/>
              <a:gd name="T3" fmla="*/ 77 h 411"/>
              <a:gd name="T4" fmla="*/ 150 w 338"/>
              <a:gd name="T5" fmla="*/ 0 h 411"/>
              <a:gd name="T6" fmla="*/ 288 w 338"/>
              <a:gd name="T7" fmla="*/ 84 h 411"/>
              <a:gd name="T8" fmla="*/ 303 w 338"/>
              <a:gd name="T9" fmla="*/ 143 h 411"/>
              <a:gd name="T10" fmla="*/ 302 w 338"/>
              <a:gd name="T11" fmla="*/ 169 h 411"/>
              <a:gd name="T12" fmla="*/ 334 w 338"/>
              <a:gd name="T13" fmla="*/ 211 h 411"/>
              <a:gd name="T14" fmla="*/ 330 w 338"/>
              <a:gd name="T15" fmla="*/ 222 h 411"/>
              <a:gd name="T16" fmla="*/ 312 w 338"/>
              <a:gd name="T17" fmla="*/ 230 h 411"/>
              <a:gd name="T18" fmla="*/ 312 w 338"/>
              <a:gd name="T19" fmla="*/ 242 h 411"/>
              <a:gd name="T20" fmla="*/ 311 w 338"/>
              <a:gd name="T21" fmla="*/ 257 h 411"/>
              <a:gd name="T22" fmla="*/ 305 w 338"/>
              <a:gd name="T23" fmla="*/ 261 h 411"/>
              <a:gd name="T24" fmla="*/ 306 w 338"/>
              <a:gd name="T25" fmla="*/ 274 h 411"/>
              <a:gd name="T26" fmla="*/ 300 w 338"/>
              <a:gd name="T27" fmla="*/ 289 h 411"/>
              <a:gd name="T28" fmla="*/ 302 w 338"/>
              <a:gd name="T29" fmla="*/ 307 h 411"/>
              <a:gd name="T30" fmla="*/ 279 w 338"/>
              <a:gd name="T31" fmla="*/ 320 h 411"/>
              <a:gd name="T32" fmla="*/ 236 w 338"/>
              <a:gd name="T33" fmla="*/ 320 h 411"/>
              <a:gd name="T34" fmla="*/ 228 w 338"/>
              <a:gd name="T35" fmla="*/ 321 h 411"/>
              <a:gd name="T36" fmla="*/ 214 w 338"/>
              <a:gd name="T37" fmla="*/ 345 h 411"/>
              <a:gd name="T38" fmla="*/ 210 w 338"/>
              <a:gd name="T39" fmla="*/ 371 h 411"/>
              <a:gd name="T40" fmla="*/ 251 w 338"/>
              <a:gd name="T41" fmla="*/ 411 h 411"/>
              <a:gd name="T42" fmla="*/ 28 w 338"/>
              <a:gd name="T43" fmla="*/ 411 h 411"/>
              <a:gd name="T44" fmla="*/ 75 w 338"/>
              <a:gd name="T45" fmla="*/ 317 h 411"/>
              <a:gd name="T46" fmla="*/ 79 w 338"/>
              <a:gd name="T47" fmla="*/ 280 h 411"/>
              <a:gd name="T48" fmla="*/ 65 w 338"/>
              <a:gd name="T49" fmla="*/ 249 h 411"/>
              <a:gd name="T50" fmla="*/ 25 w 338"/>
              <a:gd name="T51" fmla="*/ 190 h 411"/>
              <a:gd name="T52" fmla="*/ 22 w 338"/>
              <a:gd name="T53" fmla="*/ 184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338" h="411">
                <a:moveTo>
                  <a:pt x="22" y="184"/>
                </a:moveTo>
                <a:cubicBezTo>
                  <a:pt x="22" y="184"/>
                  <a:pt x="0" y="132"/>
                  <a:pt x="20" y="77"/>
                </a:cubicBezTo>
                <a:cubicBezTo>
                  <a:pt x="40" y="22"/>
                  <a:pt x="105" y="0"/>
                  <a:pt x="150" y="0"/>
                </a:cubicBezTo>
                <a:cubicBezTo>
                  <a:pt x="195" y="0"/>
                  <a:pt x="255" y="15"/>
                  <a:pt x="288" y="84"/>
                </a:cubicBezTo>
                <a:cubicBezTo>
                  <a:pt x="288" y="84"/>
                  <a:pt x="305" y="123"/>
                  <a:pt x="303" y="143"/>
                </a:cubicBezTo>
                <a:cubicBezTo>
                  <a:pt x="303" y="143"/>
                  <a:pt x="289" y="155"/>
                  <a:pt x="302" y="169"/>
                </a:cubicBezTo>
                <a:cubicBezTo>
                  <a:pt x="314" y="182"/>
                  <a:pt x="334" y="211"/>
                  <a:pt x="334" y="211"/>
                </a:cubicBezTo>
                <a:cubicBezTo>
                  <a:pt x="334" y="211"/>
                  <a:pt x="338" y="219"/>
                  <a:pt x="330" y="222"/>
                </a:cubicBezTo>
                <a:cubicBezTo>
                  <a:pt x="323" y="226"/>
                  <a:pt x="317" y="226"/>
                  <a:pt x="312" y="230"/>
                </a:cubicBezTo>
                <a:cubicBezTo>
                  <a:pt x="307" y="234"/>
                  <a:pt x="306" y="237"/>
                  <a:pt x="312" y="242"/>
                </a:cubicBezTo>
                <a:cubicBezTo>
                  <a:pt x="317" y="247"/>
                  <a:pt x="315" y="254"/>
                  <a:pt x="311" y="257"/>
                </a:cubicBezTo>
                <a:cubicBezTo>
                  <a:pt x="307" y="260"/>
                  <a:pt x="305" y="261"/>
                  <a:pt x="305" y="261"/>
                </a:cubicBezTo>
                <a:cubicBezTo>
                  <a:pt x="305" y="261"/>
                  <a:pt x="314" y="267"/>
                  <a:pt x="306" y="274"/>
                </a:cubicBezTo>
                <a:cubicBezTo>
                  <a:pt x="298" y="281"/>
                  <a:pt x="300" y="285"/>
                  <a:pt x="300" y="289"/>
                </a:cubicBezTo>
                <a:cubicBezTo>
                  <a:pt x="301" y="294"/>
                  <a:pt x="305" y="301"/>
                  <a:pt x="302" y="307"/>
                </a:cubicBezTo>
                <a:cubicBezTo>
                  <a:pt x="299" y="313"/>
                  <a:pt x="294" y="318"/>
                  <a:pt x="279" y="320"/>
                </a:cubicBezTo>
                <a:cubicBezTo>
                  <a:pt x="279" y="320"/>
                  <a:pt x="245" y="318"/>
                  <a:pt x="236" y="320"/>
                </a:cubicBezTo>
                <a:cubicBezTo>
                  <a:pt x="229" y="321"/>
                  <a:pt x="228" y="321"/>
                  <a:pt x="228" y="321"/>
                </a:cubicBezTo>
                <a:cubicBezTo>
                  <a:pt x="228" y="321"/>
                  <a:pt x="217" y="327"/>
                  <a:pt x="214" y="345"/>
                </a:cubicBezTo>
                <a:cubicBezTo>
                  <a:pt x="211" y="363"/>
                  <a:pt x="210" y="371"/>
                  <a:pt x="210" y="371"/>
                </a:cubicBezTo>
                <a:cubicBezTo>
                  <a:pt x="210" y="371"/>
                  <a:pt x="210" y="388"/>
                  <a:pt x="251" y="411"/>
                </a:cubicBezTo>
                <a:cubicBezTo>
                  <a:pt x="28" y="411"/>
                  <a:pt x="28" y="411"/>
                  <a:pt x="28" y="411"/>
                </a:cubicBezTo>
                <a:cubicBezTo>
                  <a:pt x="28" y="411"/>
                  <a:pt x="67" y="359"/>
                  <a:pt x="75" y="317"/>
                </a:cubicBezTo>
                <a:cubicBezTo>
                  <a:pt x="75" y="317"/>
                  <a:pt x="81" y="291"/>
                  <a:pt x="79" y="280"/>
                </a:cubicBezTo>
                <a:cubicBezTo>
                  <a:pt x="77" y="270"/>
                  <a:pt x="78" y="268"/>
                  <a:pt x="65" y="249"/>
                </a:cubicBezTo>
                <a:cubicBezTo>
                  <a:pt x="51" y="231"/>
                  <a:pt x="28" y="199"/>
                  <a:pt x="25" y="190"/>
                </a:cubicBezTo>
                <a:cubicBezTo>
                  <a:pt x="24" y="189"/>
                  <a:pt x="22" y="184"/>
                  <a:pt x="22" y="184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EEEEEE"/>
              </a:gs>
            </a:gsLst>
            <a:lin ang="0" scaled="0"/>
            <a:tileRect/>
          </a:gradFill>
          <a:ln w="22225"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  <a:effectLst>
            <a:outerShdw blurRad="520700" dist="203200" dir="8100000" algn="tr" rotWithShape="0">
              <a:prstClr val="black">
                <a:alpha val="14000"/>
              </a:prstClr>
            </a:out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 sz="1015"/>
          </a:p>
        </p:txBody>
      </p:sp>
      <p:grpSp>
        <p:nvGrpSpPr>
          <p:cNvPr id="13" name="组合 12"/>
          <p:cNvGrpSpPr/>
          <p:nvPr/>
        </p:nvGrpSpPr>
        <p:grpSpPr>
          <a:xfrm>
            <a:off x="384265" y="4032008"/>
            <a:ext cx="1697693" cy="1244028"/>
            <a:chOff x="2402680" y="2725738"/>
            <a:chExt cx="2657475" cy="1460501"/>
          </a:xfrm>
          <a:solidFill>
            <a:schemeClr val="bg1">
              <a:lumMod val="85000"/>
              <a:alpha val="80000"/>
            </a:schemeClr>
          </a:solidFill>
        </p:grpSpPr>
        <p:sp>
          <p:nvSpPr>
            <p:cNvPr id="14" name="Freeform 20"/>
            <p:cNvSpPr/>
            <p:nvPr/>
          </p:nvSpPr>
          <p:spPr bwMode="auto">
            <a:xfrm>
              <a:off x="3110705" y="2746376"/>
              <a:ext cx="33338" cy="14288"/>
            </a:xfrm>
            <a:custGeom>
              <a:avLst/>
              <a:gdLst>
                <a:gd name="T0" fmla="*/ 5 w 5"/>
                <a:gd name="T1" fmla="*/ 0 h 2"/>
                <a:gd name="T2" fmla="*/ 0 w 5"/>
                <a:gd name="T3" fmla="*/ 1 h 2"/>
                <a:gd name="T4" fmla="*/ 3 w 5"/>
                <a:gd name="T5" fmla="*/ 2 h 2"/>
                <a:gd name="T6" fmla="*/ 5 w 5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3" y="1"/>
                    <a:pt x="1" y="0"/>
                    <a:pt x="0" y="1"/>
                  </a:cubicBezTo>
                  <a:cubicBezTo>
                    <a:pt x="0" y="2"/>
                    <a:pt x="2" y="2"/>
                    <a:pt x="3" y="2"/>
                  </a:cubicBezTo>
                  <a:cubicBezTo>
                    <a:pt x="4" y="2"/>
                    <a:pt x="5" y="2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2" name="Freeform 21"/>
            <p:cNvSpPr/>
            <p:nvPr/>
          </p:nvSpPr>
          <p:spPr bwMode="auto">
            <a:xfrm>
              <a:off x="4682330" y="2994026"/>
              <a:ext cx="14288" cy="28575"/>
            </a:xfrm>
            <a:custGeom>
              <a:avLst/>
              <a:gdLst>
                <a:gd name="T0" fmla="*/ 0 w 2"/>
                <a:gd name="T1" fmla="*/ 0 h 4"/>
                <a:gd name="T2" fmla="*/ 2 w 2"/>
                <a:gd name="T3" fmla="*/ 4 h 4"/>
                <a:gd name="T4" fmla="*/ 2 w 2"/>
                <a:gd name="T5" fmla="*/ 3 h 4"/>
                <a:gd name="T6" fmla="*/ 0 w 2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1"/>
                    <a:pt x="1" y="4"/>
                    <a:pt x="2" y="4"/>
                  </a:cubicBezTo>
                  <a:cubicBezTo>
                    <a:pt x="2" y="4"/>
                    <a:pt x="2" y="4"/>
                    <a:pt x="2" y="3"/>
                  </a:cubicBezTo>
                  <a:cubicBezTo>
                    <a:pt x="2" y="3"/>
                    <a:pt x="2" y="0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7" name="Freeform 22"/>
            <p:cNvSpPr>
              <a:spLocks noEditPoints="1"/>
            </p:cNvSpPr>
            <p:nvPr/>
          </p:nvSpPr>
          <p:spPr bwMode="auto">
            <a:xfrm>
              <a:off x="3494880" y="2767013"/>
              <a:ext cx="1366838" cy="668338"/>
            </a:xfrm>
            <a:custGeom>
              <a:avLst/>
              <a:gdLst>
                <a:gd name="T0" fmla="*/ 80 w 199"/>
                <a:gd name="T1" fmla="*/ 43 h 97"/>
                <a:gd name="T2" fmla="*/ 64 w 199"/>
                <a:gd name="T3" fmla="*/ 36 h 97"/>
                <a:gd name="T4" fmla="*/ 76 w 199"/>
                <a:gd name="T5" fmla="*/ 47 h 97"/>
                <a:gd name="T6" fmla="*/ 69 w 199"/>
                <a:gd name="T7" fmla="*/ 50 h 97"/>
                <a:gd name="T8" fmla="*/ 128 w 199"/>
                <a:gd name="T9" fmla="*/ 33 h 97"/>
                <a:gd name="T10" fmla="*/ 88 w 199"/>
                <a:gd name="T11" fmla="*/ 4 h 97"/>
                <a:gd name="T12" fmla="*/ 90 w 199"/>
                <a:gd name="T13" fmla="*/ 11 h 97"/>
                <a:gd name="T14" fmla="*/ 83 w 199"/>
                <a:gd name="T15" fmla="*/ 13 h 97"/>
                <a:gd name="T16" fmla="*/ 76 w 199"/>
                <a:gd name="T17" fmla="*/ 6 h 97"/>
                <a:gd name="T18" fmla="*/ 45 w 199"/>
                <a:gd name="T19" fmla="*/ 11 h 97"/>
                <a:gd name="T20" fmla="*/ 40 w 199"/>
                <a:gd name="T21" fmla="*/ 10 h 97"/>
                <a:gd name="T22" fmla="*/ 34 w 199"/>
                <a:gd name="T23" fmla="*/ 8 h 97"/>
                <a:gd name="T24" fmla="*/ 26 w 199"/>
                <a:gd name="T25" fmla="*/ 16 h 97"/>
                <a:gd name="T26" fmla="*/ 23 w 199"/>
                <a:gd name="T27" fmla="*/ 17 h 97"/>
                <a:gd name="T28" fmla="*/ 26 w 199"/>
                <a:gd name="T29" fmla="*/ 19 h 97"/>
                <a:gd name="T30" fmla="*/ 39 w 199"/>
                <a:gd name="T31" fmla="*/ 15 h 97"/>
                <a:gd name="T32" fmla="*/ 46 w 199"/>
                <a:gd name="T33" fmla="*/ 28 h 97"/>
                <a:gd name="T34" fmla="*/ 42 w 199"/>
                <a:gd name="T35" fmla="*/ 26 h 97"/>
                <a:gd name="T36" fmla="*/ 36 w 199"/>
                <a:gd name="T37" fmla="*/ 27 h 97"/>
                <a:gd name="T38" fmla="*/ 25 w 199"/>
                <a:gd name="T39" fmla="*/ 29 h 97"/>
                <a:gd name="T40" fmla="*/ 9 w 199"/>
                <a:gd name="T41" fmla="*/ 45 h 97"/>
                <a:gd name="T42" fmla="*/ 5 w 199"/>
                <a:gd name="T43" fmla="*/ 55 h 97"/>
                <a:gd name="T44" fmla="*/ 20 w 199"/>
                <a:gd name="T45" fmla="*/ 42 h 97"/>
                <a:gd name="T46" fmla="*/ 25 w 199"/>
                <a:gd name="T47" fmla="*/ 44 h 97"/>
                <a:gd name="T48" fmla="*/ 32 w 199"/>
                <a:gd name="T49" fmla="*/ 36 h 97"/>
                <a:gd name="T50" fmla="*/ 35 w 199"/>
                <a:gd name="T51" fmla="*/ 38 h 97"/>
                <a:gd name="T52" fmla="*/ 28 w 199"/>
                <a:gd name="T53" fmla="*/ 42 h 97"/>
                <a:gd name="T54" fmla="*/ 35 w 199"/>
                <a:gd name="T55" fmla="*/ 41 h 97"/>
                <a:gd name="T56" fmla="*/ 39 w 199"/>
                <a:gd name="T57" fmla="*/ 49 h 97"/>
                <a:gd name="T58" fmla="*/ 42 w 199"/>
                <a:gd name="T59" fmla="*/ 44 h 97"/>
                <a:gd name="T60" fmla="*/ 45 w 199"/>
                <a:gd name="T61" fmla="*/ 42 h 97"/>
                <a:gd name="T62" fmla="*/ 56 w 199"/>
                <a:gd name="T63" fmla="*/ 36 h 97"/>
                <a:gd name="T64" fmla="*/ 60 w 199"/>
                <a:gd name="T65" fmla="*/ 45 h 97"/>
                <a:gd name="T66" fmla="*/ 51 w 199"/>
                <a:gd name="T67" fmla="*/ 47 h 97"/>
                <a:gd name="T68" fmla="*/ 55 w 199"/>
                <a:gd name="T69" fmla="*/ 59 h 97"/>
                <a:gd name="T70" fmla="*/ 57 w 199"/>
                <a:gd name="T71" fmla="*/ 65 h 97"/>
                <a:gd name="T72" fmla="*/ 82 w 199"/>
                <a:gd name="T73" fmla="*/ 72 h 97"/>
                <a:gd name="T74" fmla="*/ 70 w 199"/>
                <a:gd name="T75" fmla="*/ 65 h 97"/>
                <a:gd name="T76" fmla="*/ 84 w 199"/>
                <a:gd name="T77" fmla="*/ 71 h 97"/>
                <a:gd name="T78" fmla="*/ 95 w 199"/>
                <a:gd name="T79" fmla="*/ 71 h 97"/>
                <a:gd name="T80" fmla="*/ 101 w 199"/>
                <a:gd name="T81" fmla="*/ 74 h 97"/>
                <a:gd name="T82" fmla="*/ 104 w 199"/>
                <a:gd name="T83" fmla="*/ 76 h 97"/>
                <a:gd name="T84" fmla="*/ 125 w 199"/>
                <a:gd name="T85" fmla="*/ 76 h 97"/>
                <a:gd name="T86" fmla="*/ 130 w 199"/>
                <a:gd name="T87" fmla="*/ 74 h 97"/>
                <a:gd name="T88" fmla="*/ 139 w 199"/>
                <a:gd name="T89" fmla="*/ 90 h 97"/>
                <a:gd name="T90" fmla="*/ 144 w 199"/>
                <a:gd name="T91" fmla="*/ 89 h 97"/>
                <a:gd name="T92" fmla="*/ 146 w 199"/>
                <a:gd name="T93" fmla="*/ 80 h 97"/>
                <a:gd name="T94" fmla="*/ 150 w 199"/>
                <a:gd name="T95" fmla="*/ 77 h 97"/>
                <a:gd name="T96" fmla="*/ 156 w 199"/>
                <a:gd name="T97" fmla="*/ 49 h 97"/>
                <a:gd name="T98" fmla="*/ 165 w 199"/>
                <a:gd name="T99" fmla="*/ 52 h 97"/>
                <a:gd name="T100" fmla="*/ 167 w 199"/>
                <a:gd name="T101" fmla="*/ 46 h 97"/>
                <a:gd name="T102" fmla="*/ 166 w 199"/>
                <a:gd name="T103" fmla="*/ 29 h 97"/>
                <a:gd name="T104" fmla="*/ 174 w 199"/>
                <a:gd name="T105" fmla="*/ 21 h 97"/>
                <a:gd name="T106" fmla="*/ 184 w 199"/>
                <a:gd name="T107" fmla="*/ 20 h 97"/>
                <a:gd name="T108" fmla="*/ 192 w 199"/>
                <a:gd name="T109" fmla="*/ 13 h 97"/>
                <a:gd name="T110" fmla="*/ 199 w 199"/>
                <a:gd name="T111" fmla="*/ 13 h 97"/>
                <a:gd name="T112" fmla="*/ 127 w 199"/>
                <a:gd name="T113" fmla="*/ 3 h 97"/>
                <a:gd name="T114" fmla="*/ 113 w 199"/>
                <a:gd name="T115" fmla="*/ 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9" h="97">
                  <a:moveTo>
                    <a:pt x="77" y="44"/>
                  </a:moveTo>
                  <a:cubicBezTo>
                    <a:pt x="76" y="42"/>
                    <a:pt x="80" y="40"/>
                    <a:pt x="82" y="40"/>
                  </a:cubicBezTo>
                  <a:cubicBezTo>
                    <a:pt x="83" y="40"/>
                    <a:pt x="83" y="40"/>
                    <a:pt x="83" y="40"/>
                  </a:cubicBezTo>
                  <a:cubicBezTo>
                    <a:pt x="83" y="40"/>
                    <a:pt x="82" y="40"/>
                    <a:pt x="82" y="40"/>
                  </a:cubicBezTo>
                  <a:cubicBezTo>
                    <a:pt x="82" y="42"/>
                    <a:pt x="84" y="43"/>
                    <a:pt x="83" y="44"/>
                  </a:cubicBezTo>
                  <a:cubicBezTo>
                    <a:pt x="82" y="44"/>
                    <a:pt x="82" y="44"/>
                    <a:pt x="82" y="44"/>
                  </a:cubicBezTo>
                  <a:cubicBezTo>
                    <a:pt x="81" y="44"/>
                    <a:pt x="80" y="43"/>
                    <a:pt x="80" y="43"/>
                  </a:cubicBezTo>
                  <a:cubicBezTo>
                    <a:pt x="79" y="42"/>
                    <a:pt x="79" y="42"/>
                    <a:pt x="78" y="42"/>
                  </a:cubicBezTo>
                  <a:cubicBezTo>
                    <a:pt x="78" y="42"/>
                    <a:pt x="77" y="42"/>
                    <a:pt x="77" y="44"/>
                  </a:cubicBezTo>
                  <a:moveTo>
                    <a:pt x="68" y="48"/>
                  </a:moveTo>
                  <a:cubicBezTo>
                    <a:pt x="68" y="47"/>
                    <a:pt x="68" y="47"/>
                    <a:pt x="68" y="47"/>
                  </a:cubicBezTo>
                  <a:cubicBezTo>
                    <a:pt x="67" y="46"/>
                    <a:pt x="67" y="43"/>
                    <a:pt x="66" y="42"/>
                  </a:cubicBezTo>
                  <a:cubicBezTo>
                    <a:pt x="66" y="41"/>
                    <a:pt x="67" y="41"/>
                    <a:pt x="68" y="40"/>
                  </a:cubicBezTo>
                  <a:cubicBezTo>
                    <a:pt x="67" y="38"/>
                    <a:pt x="64" y="38"/>
                    <a:pt x="64" y="36"/>
                  </a:cubicBezTo>
                  <a:cubicBezTo>
                    <a:pt x="66" y="37"/>
                    <a:pt x="67" y="39"/>
                    <a:pt x="69" y="40"/>
                  </a:cubicBezTo>
                  <a:cubicBezTo>
                    <a:pt x="69" y="39"/>
                    <a:pt x="70" y="39"/>
                    <a:pt x="71" y="39"/>
                  </a:cubicBezTo>
                  <a:cubicBezTo>
                    <a:pt x="72" y="39"/>
                    <a:pt x="72" y="39"/>
                    <a:pt x="73" y="40"/>
                  </a:cubicBezTo>
                  <a:cubicBezTo>
                    <a:pt x="73" y="43"/>
                    <a:pt x="72" y="42"/>
                    <a:pt x="72" y="45"/>
                  </a:cubicBezTo>
                  <a:cubicBezTo>
                    <a:pt x="72" y="45"/>
                    <a:pt x="72" y="45"/>
                    <a:pt x="72" y="45"/>
                  </a:cubicBezTo>
                  <a:cubicBezTo>
                    <a:pt x="73" y="45"/>
                    <a:pt x="73" y="45"/>
                    <a:pt x="74" y="45"/>
                  </a:cubicBezTo>
                  <a:cubicBezTo>
                    <a:pt x="74" y="47"/>
                    <a:pt x="75" y="47"/>
                    <a:pt x="76" y="47"/>
                  </a:cubicBezTo>
                  <a:cubicBezTo>
                    <a:pt x="76" y="48"/>
                    <a:pt x="76" y="48"/>
                    <a:pt x="76" y="49"/>
                  </a:cubicBezTo>
                  <a:cubicBezTo>
                    <a:pt x="75" y="49"/>
                    <a:pt x="74" y="49"/>
                    <a:pt x="74" y="49"/>
                  </a:cubicBezTo>
                  <a:cubicBezTo>
                    <a:pt x="74" y="49"/>
                    <a:pt x="74" y="49"/>
                    <a:pt x="74" y="49"/>
                  </a:cubicBezTo>
                  <a:cubicBezTo>
                    <a:pt x="77" y="49"/>
                    <a:pt x="76" y="52"/>
                    <a:pt x="76" y="53"/>
                  </a:cubicBezTo>
                  <a:cubicBezTo>
                    <a:pt x="76" y="54"/>
                    <a:pt x="75" y="54"/>
                    <a:pt x="75" y="55"/>
                  </a:cubicBezTo>
                  <a:cubicBezTo>
                    <a:pt x="72" y="54"/>
                    <a:pt x="69" y="53"/>
                    <a:pt x="68" y="50"/>
                  </a:cubicBezTo>
                  <a:cubicBezTo>
                    <a:pt x="68" y="50"/>
                    <a:pt x="69" y="50"/>
                    <a:pt x="69" y="50"/>
                  </a:cubicBezTo>
                  <a:cubicBezTo>
                    <a:pt x="69" y="50"/>
                    <a:pt x="69" y="50"/>
                    <a:pt x="70" y="50"/>
                  </a:cubicBezTo>
                  <a:cubicBezTo>
                    <a:pt x="70" y="50"/>
                    <a:pt x="70" y="50"/>
                    <a:pt x="70" y="50"/>
                  </a:cubicBezTo>
                  <a:cubicBezTo>
                    <a:pt x="70" y="50"/>
                    <a:pt x="70" y="50"/>
                    <a:pt x="70" y="49"/>
                  </a:cubicBezTo>
                  <a:cubicBezTo>
                    <a:pt x="70" y="48"/>
                    <a:pt x="70" y="48"/>
                    <a:pt x="68" y="48"/>
                  </a:cubicBezTo>
                  <a:cubicBezTo>
                    <a:pt x="68" y="48"/>
                    <a:pt x="68" y="48"/>
                    <a:pt x="68" y="48"/>
                  </a:cubicBezTo>
                  <a:moveTo>
                    <a:pt x="129" y="33"/>
                  </a:moveTo>
                  <a:cubicBezTo>
                    <a:pt x="129" y="33"/>
                    <a:pt x="128" y="33"/>
                    <a:pt x="128" y="33"/>
                  </a:cubicBezTo>
                  <a:cubicBezTo>
                    <a:pt x="131" y="32"/>
                    <a:pt x="130" y="27"/>
                    <a:pt x="132" y="26"/>
                  </a:cubicBezTo>
                  <a:cubicBezTo>
                    <a:pt x="132" y="28"/>
                    <a:pt x="133" y="29"/>
                    <a:pt x="133" y="31"/>
                  </a:cubicBezTo>
                  <a:cubicBezTo>
                    <a:pt x="131" y="32"/>
                    <a:pt x="131" y="33"/>
                    <a:pt x="129" y="33"/>
                  </a:cubicBezTo>
                  <a:moveTo>
                    <a:pt x="106" y="0"/>
                  </a:moveTo>
                  <a:cubicBezTo>
                    <a:pt x="102" y="0"/>
                    <a:pt x="98" y="1"/>
                    <a:pt x="92" y="1"/>
                  </a:cubicBezTo>
                  <a:cubicBezTo>
                    <a:pt x="93" y="5"/>
                    <a:pt x="88" y="2"/>
                    <a:pt x="87" y="5"/>
                  </a:cubicBezTo>
                  <a:cubicBezTo>
                    <a:pt x="88" y="5"/>
                    <a:pt x="88" y="4"/>
                    <a:pt x="88" y="4"/>
                  </a:cubicBezTo>
                  <a:cubicBezTo>
                    <a:pt x="89" y="4"/>
                    <a:pt x="90" y="5"/>
                    <a:pt x="90" y="6"/>
                  </a:cubicBezTo>
                  <a:cubicBezTo>
                    <a:pt x="90" y="6"/>
                    <a:pt x="90" y="6"/>
                    <a:pt x="89" y="6"/>
                  </a:cubicBezTo>
                  <a:cubicBezTo>
                    <a:pt x="89" y="6"/>
                    <a:pt x="88" y="6"/>
                    <a:pt x="88" y="6"/>
                  </a:cubicBezTo>
                  <a:cubicBezTo>
                    <a:pt x="87" y="6"/>
                    <a:pt x="87" y="5"/>
                    <a:pt x="87" y="5"/>
                  </a:cubicBezTo>
                  <a:cubicBezTo>
                    <a:pt x="86" y="5"/>
                    <a:pt x="87" y="6"/>
                    <a:pt x="87" y="7"/>
                  </a:cubicBezTo>
                  <a:cubicBezTo>
                    <a:pt x="85" y="7"/>
                    <a:pt x="83" y="6"/>
                    <a:pt x="82" y="5"/>
                  </a:cubicBezTo>
                  <a:cubicBezTo>
                    <a:pt x="82" y="10"/>
                    <a:pt x="89" y="8"/>
                    <a:pt x="90" y="11"/>
                  </a:cubicBezTo>
                  <a:cubicBezTo>
                    <a:pt x="90" y="11"/>
                    <a:pt x="89" y="11"/>
                    <a:pt x="89" y="11"/>
                  </a:cubicBezTo>
                  <a:cubicBezTo>
                    <a:pt x="88" y="11"/>
                    <a:pt x="88" y="11"/>
                    <a:pt x="87" y="10"/>
                  </a:cubicBezTo>
                  <a:cubicBezTo>
                    <a:pt x="87" y="10"/>
                    <a:pt x="87" y="9"/>
                    <a:pt x="86" y="9"/>
                  </a:cubicBezTo>
                  <a:cubicBezTo>
                    <a:pt x="86" y="9"/>
                    <a:pt x="86" y="10"/>
                    <a:pt x="85" y="10"/>
                  </a:cubicBezTo>
                  <a:cubicBezTo>
                    <a:pt x="87" y="10"/>
                    <a:pt x="85" y="13"/>
                    <a:pt x="84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4" y="13"/>
                    <a:pt x="83" y="13"/>
                    <a:pt x="83" y="13"/>
                  </a:cubicBezTo>
                  <a:cubicBezTo>
                    <a:pt x="83" y="13"/>
                    <a:pt x="83" y="13"/>
                    <a:pt x="82" y="13"/>
                  </a:cubicBezTo>
                  <a:cubicBezTo>
                    <a:pt x="81" y="13"/>
                    <a:pt x="80" y="13"/>
                    <a:pt x="80" y="11"/>
                  </a:cubicBezTo>
                  <a:cubicBezTo>
                    <a:pt x="80" y="11"/>
                    <a:pt x="81" y="11"/>
                    <a:pt x="81" y="11"/>
                  </a:cubicBezTo>
                  <a:cubicBezTo>
                    <a:pt x="82" y="11"/>
                    <a:pt x="83" y="11"/>
                    <a:pt x="83" y="10"/>
                  </a:cubicBezTo>
                  <a:cubicBezTo>
                    <a:pt x="82" y="8"/>
                    <a:pt x="80" y="7"/>
                    <a:pt x="80" y="5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8" y="4"/>
                    <a:pt x="77" y="5"/>
                    <a:pt x="76" y="6"/>
                  </a:cubicBezTo>
                  <a:cubicBezTo>
                    <a:pt x="76" y="9"/>
                    <a:pt x="80" y="7"/>
                    <a:pt x="80" y="10"/>
                  </a:cubicBezTo>
                  <a:cubicBezTo>
                    <a:pt x="78" y="10"/>
                    <a:pt x="75" y="9"/>
                    <a:pt x="72" y="9"/>
                  </a:cubicBezTo>
                  <a:cubicBezTo>
                    <a:pt x="67" y="9"/>
                    <a:pt x="61" y="10"/>
                    <a:pt x="57" y="11"/>
                  </a:cubicBezTo>
                  <a:cubicBezTo>
                    <a:pt x="56" y="11"/>
                    <a:pt x="56" y="13"/>
                    <a:pt x="55" y="13"/>
                  </a:cubicBezTo>
                  <a:cubicBezTo>
                    <a:pt x="54" y="13"/>
                    <a:pt x="54" y="13"/>
                    <a:pt x="53" y="13"/>
                  </a:cubicBezTo>
                  <a:cubicBezTo>
                    <a:pt x="53" y="15"/>
                    <a:pt x="52" y="14"/>
                    <a:pt x="51" y="16"/>
                  </a:cubicBezTo>
                  <a:cubicBezTo>
                    <a:pt x="47" y="16"/>
                    <a:pt x="46" y="13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6" y="11"/>
                    <a:pt x="47" y="12"/>
                    <a:pt x="48" y="12"/>
                  </a:cubicBezTo>
                  <a:cubicBezTo>
                    <a:pt x="49" y="12"/>
                    <a:pt x="50" y="13"/>
                    <a:pt x="51" y="13"/>
                  </a:cubicBezTo>
                  <a:cubicBezTo>
                    <a:pt x="52" y="13"/>
                    <a:pt x="53" y="12"/>
                    <a:pt x="53" y="11"/>
                  </a:cubicBezTo>
                  <a:cubicBezTo>
                    <a:pt x="50" y="11"/>
                    <a:pt x="47" y="9"/>
                    <a:pt x="44" y="9"/>
                  </a:cubicBezTo>
                  <a:cubicBezTo>
                    <a:pt x="43" y="9"/>
                    <a:pt x="42" y="9"/>
                    <a:pt x="41" y="10"/>
                  </a:cubicBezTo>
                  <a:cubicBezTo>
                    <a:pt x="41" y="10"/>
                    <a:pt x="40" y="10"/>
                    <a:pt x="40" y="10"/>
                  </a:cubicBezTo>
                  <a:cubicBezTo>
                    <a:pt x="40" y="9"/>
                    <a:pt x="40" y="8"/>
                    <a:pt x="39" y="8"/>
                  </a:cubicBezTo>
                  <a:cubicBezTo>
                    <a:pt x="39" y="7"/>
                    <a:pt x="40" y="7"/>
                    <a:pt x="40" y="7"/>
                  </a:cubicBezTo>
                  <a:cubicBezTo>
                    <a:pt x="40" y="7"/>
                    <a:pt x="40" y="7"/>
                    <a:pt x="40" y="7"/>
                  </a:cubicBezTo>
                  <a:cubicBezTo>
                    <a:pt x="39" y="7"/>
                    <a:pt x="38" y="8"/>
                    <a:pt x="38" y="8"/>
                  </a:cubicBezTo>
                  <a:cubicBezTo>
                    <a:pt x="38" y="7"/>
                    <a:pt x="37" y="7"/>
                    <a:pt x="37" y="7"/>
                  </a:cubicBezTo>
                  <a:cubicBezTo>
                    <a:pt x="36" y="7"/>
                    <a:pt x="35" y="7"/>
                    <a:pt x="35" y="8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5" y="8"/>
                    <a:pt x="34" y="9"/>
                    <a:pt x="35" y="9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4" y="10"/>
                    <a:pt x="34" y="10"/>
                  </a:cubicBezTo>
                  <a:cubicBezTo>
                    <a:pt x="29" y="10"/>
                    <a:pt x="29" y="13"/>
                    <a:pt x="27" y="13"/>
                  </a:cubicBezTo>
                  <a:cubicBezTo>
                    <a:pt x="28" y="13"/>
                    <a:pt x="27" y="16"/>
                    <a:pt x="26" y="16"/>
                  </a:cubicBezTo>
                  <a:cubicBezTo>
                    <a:pt x="25" y="14"/>
                    <a:pt x="28" y="13"/>
                    <a:pt x="26" y="13"/>
                  </a:cubicBezTo>
                  <a:cubicBezTo>
                    <a:pt x="26" y="14"/>
                    <a:pt x="24" y="15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4" y="16"/>
                    <a:pt x="24" y="16"/>
                  </a:cubicBezTo>
                  <a:cubicBezTo>
                    <a:pt x="25" y="16"/>
                    <a:pt x="25" y="16"/>
                    <a:pt x="24" y="15"/>
                  </a:cubicBezTo>
                  <a:cubicBezTo>
                    <a:pt x="24" y="16"/>
                    <a:pt x="24" y="16"/>
                    <a:pt x="24" y="17"/>
                  </a:cubicBezTo>
                  <a:cubicBezTo>
                    <a:pt x="24" y="17"/>
                    <a:pt x="24" y="17"/>
                    <a:pt x="23" y="17"/>
                  </a:cubicBezTo>
                  <a:cubicBezTo>
                    <a:pt x="21" y="17"/>
                    <a:pt x="20" y="17"/>
                    <a:pt x="20" y="19"/>
                  </a:cubicBezTo>
                  <a:cubicBezTo>
                    <a:pt x="23" y="19"/>
                    <a:pt x="17" y="22"/>
                    <a:pt x="20" y="24"/>
                  </a:cubicBezTo>
                  <a:cubicBezTo>
                    <a:pt x="22" y="23"/>
                    <a:pt x="23" y="21"/>
                    <a:pt x="25" y="21"/>
                  </a:cubicBezTo>
                  <a:cubicBezTo>
                    <a:pt x="25" y="21"/>
                    <a:pt x="25" y="21"/>
                    <a:pt x="25" y="21"/>
                  </a:cubicBezTo>
                  <a:cubicBezTo>
                    <a:pt x="25" y="20"/>
                    <a:pt x="25" y="19"/>
                    <a:pt x="25" y="19"/>
                  </a:cubicBezTo>
                  <a:cubicBezTo>
                    <a:pt x="25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6" y="19"/>
                    <a:pt x="26" y="19"/>
                    <a:pt x="26" y="19"/>
                  </a:cubicBezTo>
                  <a:cubicBezTo>
                    <a:pt x="24" y="21"/>
                    <a:pt x="25" y="25"/>
                    <a:pt x="27" y="27"/>
                  </a:cubicBezTo>
                  <a:cubicBezTo>
                    <a:pt x="30" y="25"/>
                    <a:pt x="29" y="23"/>
                    <a:pt x="31" y="20"/>
                  </a:cubicBezTo>
                  <a:cubicBezTo>
                    <a:pt x="27" y="16"/>
                    <a:pt x="34" y="16"/>
                    <a:pt x="36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7" y="12"/>
                    <a:pt x="37" y="12"/>
                    <a:pt x="37" y="12"/>
                  </a:cubicBezTo>
                  <a:cubicBezTo>
                    <a:pt x="36" y="14"/>
                    <a:pt x="39" y="13"/>
                    <a:pt x="39" y="15"/>
                  </a:cubicBezTo>
                  <a:cubicBezTo>
                    <a:pt x="36" y="15"/>
                    <a:pt x="36" y="17"/>
                    <a:pt x="34" y="18"/>
                  </a:cubicBezTo>
                  <a:cubicBezTo>
                    <a:pt x="35" y="18"/>
                    <a:pt x="35" y="19"/>
                    <a:pt x="35" y="19"/>
                  </a:cubicBezTo>
                  <a:cubicBezTo>
                    <a:pt x="36" y="20"/>
                    <a:pt x="37" y="20"/>
                    <a:pt x="38" y="20"/>
                  </a:cubicBezTo>
                  <a:cubicBezTo>
                    <a:pt x="41" y="20"/>
                    <a:pt x="44" y="18"/>
                    <a:pt x="44" y="16"/>
                  </a:cubicBezTo>
                  <a:cubicBezTo>
                    <a:pt x="45" y="17"/>
                    <a:pt x="44" y="21"/>
                    <a:pt x="42" y="21"/>
                  </a:cubicBezTo>
                  <a:cubicBezTo>
                    <a:pt x="42" y="23"/>
                    <a:pt x="42" y="24"/>
                    <a:pt x="42" y="26"/>
                  </a:cubicBezTo>
                  <a:cubicBezTo>
                    <a:pt x="44" y="26"/>
                    <a:pt x="46" y="26"/>
                    <a:pt x="46" y="28"/>
                  </a:cubicBezTo>
                  <a:cubicBezTo>
                    <a:pt x="45" y="28"/>
                    <a:pt x="45" y="28"/>
                    <a:pt x="45" y="28"/>
                  </a:cubicBezTo>
                  <a:cubicBezTo>
                    <a:pt x="46" y="27"/>
                    <a:pt x="45" y="27"/>
                    <a:pt x="44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6"/>
                    <a:pt x="42" y="26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1" y="25"/>
                    <a:pt x="40" y="25"/>
                    <a:pt x="39" y="25"/>
                  </a:cubicBezTo>
                  <a:cubicBezTo>
                    <a:pt x="39" y="25"/>
                    <a:pt x="39" y="25"/>
                    <a:pt x="38" y="25"/>
                  </a:cubicBezTo>
                  <a:cubicBezTo>
                    <a:pt x="38" y="25"/>
                    <a:pt x="38" y="25"/>
                    <a:pt x="37" y="25"/>
                  </a:cubicBezTo>
                  <a:cubicBezTo>
                    <a:pt x="37" y="25"/>
                    <a:pt x="36" y="25"/>
                    <a:pt x="35" y="24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4" y="25"/>
                    <a:pt x="35" y="26"/>
                    <a:pt x="35" y="26"/>
                  </a:cubicBezTo>
                  <a:cubicBezTo>
                    <a:pt x="35" y="27"/>
                    <a:pt x="35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8"/>
                    <a:pt x="35" y="28"/>
                    <a:pt x="34" y="29"/>
                  </a:cubicBezTo>
                  <a:cubicBezTo>
                    <a:pt x="33" y="29"/>
                    <a:pt x="32" y="29"/>
                    <a:pt x="32" y="29"/>
                  </a:cubicBezTo>
                  <a:cubicBezTo>
                    <a:pt x="30" y="29"/>
                    <a:pt x="28" y="29"/>
                    <a:pt x="27" y="31"/>
                  </a:cubicBezTo>
                  <a:cubicBezTo>
                    <a:pt x="27" y="30"/>
                    <a:pt x="26" y="29"/>
                    <a:pt x="25" y="29"/>
                  </a:cubicBezTo>
                  <a:cubicBezTo>
                    <a:pt x="23" y="29"/>
                    <a:pt x="21" y="30"/>
                    <a:pt x="20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16" y="31"/>
                    <a:pt x="15" y="34"/>
                    <a:pt x="17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5" y="35"/>
                    <a:pt x="15" y="34"/>
                    <a:pt x="13" y="34"/>
                  </a:cubicBezTo>
                  <a:cubicBezTo>
                    <a:pt x="13" y="37"/>
                    <a:pt x="9" y="36"/>
                    <a:pt x="7" y="38"/>
                  </a:cubicBezTo>
                  <a:cubicBezTo>
                    <a:pt x="11" y="38"/>
                    <a:pt x="11" y="44"/>
                    <a:pt x="9" y="45"/>
                  </a:cubicBezTo>
                  <a:cubicBezTo>
                    <a:pt x="9" y="45"/>
                    <a:pt x="7" y="44"/>
                    <a:pt x="6" y="44"/>
                  </a:cubicBezTo>
                  <a:cubicBezTo>
                    <a:pt x="5" y="44"/>
                    <a:pt x="5" y="44"/>
                    <a:pt x="4" y="45"/>
                  </a:cubicBezTo>
                  <a:cubicBezTo>
                    <a:pt x="3" y="45"/>
                    <a:pt x="3" y="45"/>
                    <a:pt x="2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0" y="47"/>
                    <a:pt x="3" y="46"/>
                    <a:pt x="3" y="48"/>
                  </a:cubicBezTo>
                  <a:cubicBezTo>
                    <a:pt x="2" y="50"/>
                    <a:pt x="3" y="52"/>
                    <a:pt x="2" y="54"/>
                  </a:cubicBezTo>
                  <a:cubicBezTo>
                    <a:pt x="3" y="54"/>
                    <a:pt x="4" y="55"/>
                    <a:pt x="5" y="55"/>
                  </a:cubicBezTo>
                  <a:cubicBezTo>
                    <a:pt x="9" y="55"/>
                    <a:pt x="10" y="49"/>
                    <a:pt x="13" y="47"/>
                  </a:cubicBezTo>
                  <a:cubicBezTo>
                    <a:pt x="14" y="47"/>
                    <a:pt x="14" y="46"/>
                    <a:pt x="14" y="45"/>
                  </a:cubicBezTo>
                  <a:cubicBezTo>
                    <a:pt x="15" y="44"/>
                    <a:pt x="15" y="44"/>
                    <a:pt x="16" y="44"/>
                  </a:cubicBezTo>
                  <a:cubicBezTo>
                    <a:pt x="16" y="44"/>
                    <a:pt x="17" y="44"/>
                    <a:pt x="17" y="44"/>
                  </a:cubicBezTo>
                  <a:cubicBezTo>
                    <a:pt x="17" y="44"/>
                    <a:pt x="18" y="44"/>
                    <a:pt x="18" y="44"/>
                  </a:cubicBezTo>
                  <a:cubicBezTo>
                    <a:pt x="19" y="44"/>
                    <a:pt x="19" y="44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2" y="43"/>
                    <a:pt x="22" y="43"/>
                    <a:pt x="22" y="43"/>
                  </a:cubicBezTo>
                  <a:cubicBezTo>
                    <a:pt x="23" y="43"/>
                    <a:pt x="23" y="43"/>
                    <a:pt x="23" y="43"/>
                  </a:cubicBezTo>
                  <a:cubicBezTo>
                    <a:pt x="24" y="47"/>
                    <a:pt x="28" y="47"/>
                    <a:pt x="30" y="50"/>
                  </a:cubicBezTo>
                  <a:cubicBezTo>
                    <a:pt x="32" y="46"/>
                    <a:pt x="27" y="46"/>
                    <a:pt x="25" y="44"/>
                  </a:cubicBezTo>
                  <a:cubicBezTo>
                    <a:pt x="24" y="42"/>
                    <a:pt x="26" y="41"/>
                    <a:pt x="26" y="40"/>
                  </a:cubicBezTo>
                  <a:cubicBezTo>
                    <a:pt x="27" y="41"/>
                    <a:pt x="27" y="41"/>
                    <a:pt x="28" y="41"/>
                  </a:cubicBezTo>
                  <a:cubicBezTo>
                    <a:pt x="29" y="41"/>
                    <a:pt x="30" y="41"/>
                    <a:pt x="30" y="40"/>
                  </a:cubicBezTo>
                  <a:cubicBezTo>
                    <a:pt x="29" y="40"/>
                    <a:pt x="29" y="40"/>
                    <a:pt x="29" y="39"/>
                  </a:cubicBezTo>
                  <a:cubicBezTo>
                    <a:pt x="31" y="38"/>
                    <a:pt x="30" y="37"/>
                    <a:pt x="29" y="36"/>
                  </a:cubicBezTo>
                  <a:cubicBezTo>
                    <a:pt x="30" y="36"/>
                    <a:pt x="30" y="36"/>
                    <a:pt x="31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2" y="37"/>
                    <a:pt x="31" y="37"/>
                    <a:pt x="31" y="38"/>
                  </a:cubicBezTo>
                  <a:cubicBezTo>
                    <a:pt x="31" y="38"/>
                    <a:pt x="32" y="38"/>
                    <a:pt x="32" y="38"/>
                  </a:cubicBezTo>
                  <a:cubicBezTo>
                    <a:pt x="32" y="38"/>
                    <a:pt x="33" y="38"/>
                    <a:pt x="33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5" y="37"/>
                    <a:pt x="35" y="37"/>
                    <a:pt x="35" y="38"/>
                  </a:cubicBezTo>
                  <a:cubicBezTo>
                    <a:pt x="35" y="38"/>
                    <a:pt x="35" y="38"/>
                    <a:pt x="35" y="38"/>
                  </a:cubicBezTo>
                  <a:cubicBezTo>
                    <a:pt x="34" y="38"/>
                    <a:pt x="33" y="38"/>
                    <a:pt x="33" y="38"/>
                  </a:cubicBezTo>
                  <a:cubicBezTo>
                    <a:pt x="32" y="38"/>
                    <a:pt x="32" y="39"/>
                    <a:pt x="31" y="39"/>
                  </a:cubicBezTo>
                  <a:cubicBezTo>
                    <a:pt x="31" y="39"/>
                    <a:pt x="31" y="38"/>
                    <a:pt x="30" y="38"/>
                  </a:cubicBezTo>
                  <a:cubicBezTo>
                    <a:pt x="30" y="39"/>
                    <a:pt x="31" y="40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29" y="40"/>
                    <a:pt x="29" y="42"/>
                    <a:pt x="28" y="42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31" y="43"/>
                    <a:pt x="34" y="42"/>
                    <a:pt x="32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3" y="40"/>
                    <a:pt x="33" y="40"/>
                  </a:cubicBezTo>
                  <a:cubicBezTo>
                    <a:pt x="33" y="40"/>
                    <a:pt x="34" y="40"/>
                    <a:pt x="34" y="40"/>
                  </a:cubicBezTo>
                  <a:cubicBezTo>
                    <a:pt x="34" y="40"/>
                    <a:pt x="35" y="41"/>
                    <a:pt x="35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3" y="41"/>
                    <a:pt x="34" y="43"/>
                    <a:pt x="34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3" y="46"/>
                    <a:pt x="34" y="49"/>
                    <a:pt x="36" y="50"/>
                  </a:cubicBezTo>
                  <a:cubicBezTo>
                    <a:pt x="36" y="51"/>
                    <a:pt x="37" y="51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48"/>
                    <a:pt x="39" y="48"/>
                  </a:cubicBezTo>
                  <a:cubicBezTo>
                    <a:pt x="39" y="48"/>
                    <a:pt x="39" y="48"/>
                    <a:pt x="39" y="49"/>
                  </a:cubicBezTo>
                  <a:cubicBezTo>
                    <a:pt x="40" y="48"/>
                    <a:pt x="40" y="48"/>
                    <a:pt x="41" y="47"/>
                  </a:cubicBezTo>
                  <a:cubicBezTo>
                    <a:pt x="41" y="47"/>
                    <a:pt x="41" y="47"/>
                    <a:pt x="42" y="47"/>
                  </a:cubicBezTo>
                  <a:cubicBezTo>
                    <a:pt x="43" y="47"/>
                    <a:pt x="42" y="48"/>
                    <a:pt x="42" y="49"/>
                  </a:cubicBezTo>
                  <a:cubicBezTo>
                    <a:pt x="43" y="48"/>
                    <a:pt x="45" y="48"/>
                    <a:pt x="45" y="47"/>
                  </a:cubicBezTo>
                  <a:cubicBezTo>
                    <a:pt x="44" y="47"/>
                    <a:pt x="44" y="46"/>
                    <a:pt x="44" y="45"/>
                  </a:cubicBezTo>
                  <a:cubicBezTo>
                    <a:pt x="44" y="44"/>
                    <a:pt x="44" y="44"/>
                    <a:pt x="43" y="44"/>
                  </a:cubicBezTo>
                  <a:cubicBezTo>
                    <a:pt x="43" y="44"/>
                    <a:pt x="42" y="44"/>
                    <a:pt x="42" y="44"/>
                  </a:cubicBezTo>
                  <a:cubicBezTo>
                    <a:pt x="41" y="44"/>
                    <a:pt x="41" y="45"/>
                    <a:pt x="40" y="45"/>
                  </a:cubicBezTo>
                  <a:cubicBezTo>
                    <a:pt x="40" y="45"/>
                    <a:pt x="39" y="45"/>
                    <a:pt x="39" y="45"/>
                  </a:cubicBezTo>
                  <a:cubicBezTo>
                    <a:pt x="39" y="44"/>
                    <a:pt x="40" y="44"/>
                    <a:pt x="40" y="44"/>
                  </a:cubicBezTo>
                  <a:cubicBezTo>
                    <a:pt x="40" y="44"/>
                    <a:pt x="40" y="44"/>
                    <a:pt x="41" y="44"/>
                  </a:cubicBezTo>
                  <a:cubicBezTo>
                    <a:pt x="41" y="43"/>
                    <a:pt x="42" y="43"/>
                    <a:pt x="43" y="43"/>
                  </a:cubicBezTo>
                  <a:cubicBezTo>
                    <a:pt x="44" y="43"/>
                    <a:pt x="44" y="43"/>
                    <a:pt x="45" y="43"/>
                  </a:cubicBezTo>
                  <a:cubicBezTo>
                    <a:pt x="45" y="43"/>
                    <a:pt x="45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5" y="42"/>
                    <a:pt x="46" y="42"/>
                    <a:pt x="46" y="42"/>
                  </a:cubicBezTo>
                  <a:cubicBezTo>
                    <a:pt x="46" y="42"/>
                    <a:pt x="46" y="42"/>
                    <a:pt x="46" y="42"/>
                  </a:cubicBezTo>
                  <a:cubicBezTo>
                    <a:pt x="44" y="41"/>
                    <a:pt x="47" y="40"/>
                    <a:pt x="47" y="39"/>
                  </a:cubicBezTo>
                  <a:cubicBezTo>
                    <a:pt x="48" y="40"/>
                    <a:pt x="49" y="40"/>
                    <a:pt x="51" y="40"/>
                  </a:cubicBezTo>
                  <a:cubicBezTo>
                    <a:pt x="53" y="40"/>
                    <a:pt x="56" y="39"/>
                    <a:pt x="56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60" y="36"/>
                    <a:pt x="55" y="41"/>
                    <a:pt x="55" y="42"/>
                  </a:cubicBezTo>
                  <a:cubicBezTo>
                    <a:pt x="57" y="43"/>
                    <a:pt x="60" y="44"/>
                    <a:pt x="59" y="45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9" y="45"/>
                    <a:pt x="60" y="45"/>
                    <a:pt x="60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4"/>
                    <a:pt x="63" y="45"/>
                    <a:pt x="63" y="45"/>
                  </a:cubicBezTo>
                  <a:cubicBezTo>
                    <a:pt x="63" y="46"/>
                    <a:pt x="63" y="46"/>
                    <a:pt x="63" y="46"/>
                  </a:cubicBezTo>
                  <a:cubicBezTo>
                    <a:pt x="63" y="45"/>
                    <a:pt x="62" y="45"/>
                    <a:pt x="61" y="45"/>
                  </a:cubicBezTo>
                  <a:cubicBezTo>
                    <a:pt x="60" y="45"/>
                    <a:pt x="60" y="46"/>
                    <a:pt x="61" y="47"/>
                  </a:cubicBezTo>
                  <a:cubicBezTo>
                    <a:pt x="61" y="47"/>
                    <a:pt x="60" y="47"/>
                    <a:pt x="60" y="48"/>
                  </a:cubicBezTo>
                  <a:cubicBezTo>
                    <a:pt x="57" y="48"/>
                    <a:pt x="54" y="47"/>
                    <a:pt x="51" y="47"/>
                  </a:cubicBezTo>
                  <a:cubicBezTo>
                    <a:pt x="48" y="47"/>
                    <a:pt x="46" y="48"/>
                    <a:pt x="43" y="50"/>
                  </a:cubicBezTo>
                  <a:cubicBezTo>
                    <a:pt x="44" y="54"/>
                    <a:pt x="47" y="54"/>
                    <a:pt x="50" y="54"/>
                  </a:cubicBezTo>
                  <a:cubicBezTo>
                    <a:pt x="52" y="54"/>
                    <a:pt x="54" y="54"/>
                    <a:pt x="57" y="54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6" y="55"/>
                    <a:pt x="55" y="56"/>
                    <a:pt x="55" y="57"/>
                  </a:cubicBezTo>
                  <a:cubicBezTo>
                    <a:pt x="55" y="57"/>
                    <a:pt x="55" y="57"/>
                    <a:pt x="55" y="57"/>
                  </a:cubicBezTo>
                  <a:cubicBezTo>
                    <a:pt x="57" y="57"/>
                    <a:pt x="56" y="59"/>
                    <a:pt x="55" y="59"/>
                  </a:cubicBezTo>
                  <a:cubicBezTo>
                    <a:pt x="55" y="59"/>
                    <a:pt x="55" y="59"/>
                    <a:pt x="54" y="59"/>
                  </a:cubicBezTo>
                  <a:cubicBezTo>
                    <a:pt x="54" y="59"/>
                    <a:pt x="56" y="61"/>
                    <a:pt x="56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2"/>
                    <a:pt x="55" y="63"/>
                    <a:pt x="55" y="65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5"/>
                    <a:pt x="57" y="64"/>
                    <a:pt x="57" y="63"/>
                  </a:cubicBezTo>
                  <a:cubicBezTo>
                    <a:pt x="58" y="64"/>
                    <a:pt x="57" y="64"/>
                    <a:pt x="57" y="65"/>
                  </a:cubicBezTo>
                  <a:cubicBezTo>
                    <a:pt x="56" y="65"/>
                    <a:pt x="56" y="66"/>
                    <a:pt x="55" y="66"/>
                  </a:cubicBezTo>
                  <a:cubicBezTo>
                    <a:pt x="55" y="66"/>
                    <a:pt x="54" y="66"/>
                    <a:pt x="54" y="66"/>
                  </a:cubicBezTo>
                  <a:cubicBezTo>
                    <a:pt x="58" y="71"/>
                    <a:pt x="61" y="81"/>
                    <a:pt x="66" y="83"/>
                  </a:cubicBezTo>
                  <a:cubicBezTo>
                    <a:pt x="65" y="85"/>
                    <a:pt x="66" y="87"/>
                    <a:pt x="66" y="90"/>
                  </a:cubicBezTo>
                  <a:cubicBezTo>
                    <a:pt x="71" y="89"/>
                    <a:pt x="75" y="87"/>
                    <a:pt x="78" y="84"/>
                  </a:cubicBezTo>
                  <a:cubicBezTo>
                    <a:pt x="78" y="84"/>
                    <a:pt x="79" y="84"/>
                    <a:pt x="79" y="84"/>
                  </a:cubicBezTo>
                  <a:cubicBezTo>
                    <a:pt x="84" y="82"/>
                    <a:pt x="90" y="74"/>
                    <a:pt x="82" y="72"/>
                  </a:cubicBezTo>
                  <a:cubicBezTo>
                    <a:pt x="81" y="74"/>
                    <a:pt x="81" y="75"/>
                    <a:pt x="82" y="77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81" y="76"/>
                    <a:pt x="80" y="76"/>
                    <a:pt x="80" y="75"/>
                  </a:cubicBezTo>
                  <a:cubicBezTo>
                    <a:pt x="81" y="74"/>
                    <a:pt x="81" y="72"/>
                    <a:pt x="82" y="71"/>
                  </a:cubicBezTo>
                  <a:cubicBezTo>
                    <a:pt x="80" y="72"/>
                    <a:pt x="79" y="74"/>
                    <a:pt x="76" y="74"/>
                  </a:cubicBezTo>
                  <a:cubicBezTo>
                    <a:pt x="73" y="72"/>
                    <a:pt x="73" y="67"/>
                    <a:pt x="68" y="66"/>
                  </a:cubicBezTo>
                  <a:cubicBezTo>
                    <a:pt x="69" y="65"/>
                    <a:pt x="69" y="65"/>
                    <a:pt x="70" y="65"/>
                  </a:cubicBezTo>
                  <a:cubicBezTo>
                    <a:pt x="70" y="65"/>
                    <a:pt x="70" y="65"/>
                    <a:pt x="70" y="65"/>
                  </a:cubicBezTo>
                  <a:cubicBezTo>
                    <a:pt x="70" y="64"/>
                    <a:pt x="70" y="63"/>
                    <a:pt x="70" y="63"/>
                  </a:cubicBezTo>
                  <a:cubicBezTo>
                    <a:pt x="71" y="63"/>
                    <a:pt x="71" y="63"/>
                    <a:pt x="71" y="63"/>
                  </a:cubicBezTo>
                  <a:cubicBezTo>
                    <a:pt x="72" y="63"/>
                    <a:pt x="73" y="63"/>
                    <a:pt x="74" y="63"/>
                  </a:cubicBezTo>
                  <a:cubicBezTo>
                    <a:pt x="74" y="67"/>
                    <a:pt x="77" y="69"/>
                    <a:pt x="80" y="69"/>
                  </a:cubicBezTo>
                  <a:cubicBezTo>
                    <a:pt x="81" y="69"/>
                    <a:pt x="82" y="69"/>
                    <a:pt x="83" y="68"/>
                  </a:cubicBezTo>
                  <a:cubicBezTo>
                    <a:pt x="83" y="69"/>
                    <a:pt x="84" y="70"/>
                    <a:pt x="84" y="71"/>
                  </a:cubicBezTo>
                  <a:cubicBezTo>
                    <a:pt x="85" y="71"/>
                    <a:pt x="87" y="71"/>
                    <a:pt x="88" y="71"/>
                  </a:cubicBezTo>
                  <a:cubicBezTo>
                    <a:pt x="88" y="71"/>
                    <a:pt x="88" y="71"/>
                    <a:pt x="88" y="71"/>
                  </a:cubicBezTo>
                  <a:cubicBezTo>
                    <a:pt x="89" y="71"/>
                    <a:pt x="89" y="71"/>
                    <a:pt x="89" y="71"/>
                  </a:cubicBezTo>
                  <a:cubicBezTo>
                    <a:pt x="89" y="71"/>
                    <a:pt x="90" y="71"/>
                    <a:pt x="90" y="71"/>
                  </a:cubicBezTo>
                  <a:cubicBezTo>
                    <a:pt x="90" y="71"/>
                    <a:pt x="90" y="71"/>
                    <a:pt x="90" y="71"/>
                  </a:cubicBezTo>
                  <a:cubicBezTo>
                    <a:pt x="91" y="71"/>
                    <a:pt x="92" y="70"/>
                    <a:pt x="93" y="70"/>
                  </a:cubicBezTo>
                  <a:cubicBezTo>
                    <a:pt x="94" y="70"/>
                    <a:pt x="95" y="71"/>
                    <a:pt x="95" y="71"/>
                  </a:cubicBezTo>
                  <a:cubicBezTo>
                    <a:pt x="96" y="72"/>
                    <a:pt x="97" y="72"/>
                    <a:pt x="98" y="72"/>
                  </a:cubicBezTo>
                  <a:cubicBezTo>
                    <a:pt x="98" y="72"/>
                    <a:pt x="98" y="72"/>
                    <a:pt x="99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9" y="72"/>
                    <a:pt x="99" y="72"/>
                    <a:pt x="99" y="72"/>
                  </a:cubicBezTo>
                  <a:cubicBezTo>
                    <a:pt x="98" y="73"/>
                    <a:pt x="98" y="74"/>
                    <a:pt x="100" y="74"/>
                  </a:cubicBezTo>
                  <a:cubicBezTo>
                    <a:pt x="100" y="74"/>
                    <a:pt x="100" y="74"/>
                    <a:pt x="101" y="74"/>
                  </a:cubicBezTo>
                  <a:cubicBezTo>
                    <a:pt x="101" y="74"/>
                    <a:pt x="101" y="74"/>
                    <a:pt x="101" y="74"/>
                  </a:cubicBezTo>
                  <a:cubicBezTo>
                    <a:pt x="101" y="74"/>
                    <a:pt x="101" y="74"/>
                    <a:pt x="101" y="74"/>
                  </a:cubicBezTo>
                  <a:cubicBezTo>
                    <a:pt x="100" y="75"/>
                    <a:pt x="99" y="78"/>
                    <a:pt x="101" y="78"/>
                  </a:cubicBezTo>
                  <a:cubicBezTo>
                    <a:pt x="101" y="78"/>
                    <a:pt x="101" y="78"/>
                    <a:pt x="102" y="78"/>
                  </a:cubicBezTo>
                  <a:cubicBezTo>
                    <a:pt x="102" y="78"/>
                    <a:pt x="102" y="78"/>
                    <a:pt x="102" y="78"/>
                  </a:cubicBezTo>
                  <a:cubicBezTo>
                    <a:pt x="102" y="78"/>
                    <a:pt x="102" y="77"/>
                    <a:pt x="102" y="77"/>
                  </a:cubicBezTo>
                  <a:cubicBezTo>
                    <a:pt x="102" y="76"/>
                    <a:pt x="102" y="75"/>
                    <a:pt x="103" y="75"/>
                  </a:cubicBezTo>
                  <a:cubicBezTo>
                    <a:pt x="103" y="75"/>
                    <a:pt x="103" y="76"/>
                    <a:pt x="104" y="76"/>
                  </a:cubicBezTo>
                  <a:cubicBezTo>
                    <a:pt x="103" y="83"/>
                    <a:pt x="108" y="90"/>
                    <a:pt x="110" y="97"/>
                  </a:cubicBezTo>
                  <a:cubicBezTo>
                    <a:pt x="114" y="95"/>
                    <a:pt x="114" y="90"/>
                    <a:pt x="114" y="85"/>
                  </a:cubicBezTo>
                  <a:cubicBezTo>
                    <a:pt x="119" y="84"/>
                    <a:pt x="121" y="76"/>
                    <a:pt x="124" y="76"/>
                  </a:cubicBezTo>
                  <a:cubicBezTo>
                    <a:pt x="124" y="74"/>
                    <a:pt x="123" y="74"/>
                    <a:pt x="123" y="72"/>
                  </a:cubicBezTo>
                  <a:cubicBezTo>
                    <a:pt x="123" y="72"/>
                    <a:pt x="123" y="72"/>
                    <a:pt x="123" y="72"/>
                  </a:cubicBezTo>
                  <a:cubicBezTo>
                    <a:pt x="123" y="72"/>
                    <a:pt x="123" y="73"/>
                    <a:pt x="124" y="73"/>
                  </a:cubicBezTo>
                  <a:cubicBezTo>
                    <a:pt x="124" y="74"/>
                    <a:pt x="124" y="75"/>
                    <a:pt x="125" y="76"/>
                  </a:cubicBezTo>
                  <a:cubicBezTo>
                    <a:pt x="125" y="73"/>
                    <a:pt x="127" y="72"/>
                    <a:pt x="129" y="72"/>
                  </a:cubicBezTo>
                  <a:cubicBezTo>
                    <a:pt x="129" y="73"/>
                    <a:pt x="125" y="74"/>
                    <a:pt x="127" y="74"/>
                  </a:cubicBezTo>
                  <a:cubicBezTo>
                    <a:pt x="128" y="74"/>
                    <a:pt x="128" y="74"/>
                    <a:pt x="128" y="74"/>
                  </a:cubicBezTo>
                  <a:cubicBezTo>
                    <a:pt x="128" y="74"/>
                    <a:pt x="128" y="74"/>
                    <a:pt x="129" y="75"/>
                  </a:cubicBezTo>
                  <a:cubicBezTo>
                    <a:pt x="129" y="75"/>
                    <a:pt x="129" y="76"/>
                    <a:pt x="129" y="76"/>
                  </a:cubicBezTo>
                  <a:cubicBezTo>
                    <a:pt x="129" y="76"/>
                    <a:pt x="129" y="75"/>
                    <a:pt x="129" y="74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30" y="74"/>
                    <a:pt x="130" y="74"/>
                    <a:pt x="130" y="74"/>
                  </a:cubicBezTo>
                  <a:cubicBezTo>
                    <a:pt x="128" y="79"/>
                    <a:pt x="133" y="79"/>
                    <a:pt x="133" y="84"/>
                  </a:cubicBezTo>
                  <a:cubicBezTo>
                    <a:pt x="135" y="83"/>
                    <a:pt x="135" y="83"/>
                    <a:pt x="136" y="83"/>
                  </a:cubicBezTo>
                  <a:cubicBezTo>
                    <a:pt x="136" y="83"/>
                    <a:pt x="136" y="83"/>
                    <a:pt x="137" y="83"/>
                  </a:cubicBezTo>
                  <a:cubicBezTo>
                    <a:pt x="136" y="83"/>
                    <a:pt x="136" y="82"/>
                    <a:pt x="135" y="81"/>
                  </a:cubicBezTo>
                  <a:cubicBezTo>
                    <a:pt x="136" y="81"/>
                    <a:pt x="136" y="81"/>
                    <a:pt x="137" y="81"/>
                  </a:cubicBezTo>
                  <a:cubicBezTo>
                    <a:pt x="138" y="84"/>
                    <a:pt x="138" y="88"/>
                    <a:pt x="139" y="90"/>
                  </a:cubicBezTo>
                  <a:cubicBezTo>
                    <a:pt x="139" y="89"/>
                    <a:pt x="139" y="89"/>
                    <a:pt x="139" y="89"/>
                  </a:cubicBezTo>
                  <a:cubicBezTo>
                    <a:pt x="139" y="89"/>
                    <a:pt x="140" y="90"/>
                    <a:pt x="140" y="90"/>
                  </a:cubicBezTo>
                  <a:cubicBezTo>
                    <a:pt x="140" y="89"/>
                    <a:pt x="140" y="89"/>
                    <a:pt x="141" y="89"/>
                  </a:cubicBezTo>
                  <a:cubicBezTo>
                    <a:pt x="142" y="89"/>
                    <a:pt x="141" y="90"/>
                    <a:pt x="142" y="90"/>
                  </a:cubicBezTo>
                  <a:cubicBezTo>
                    <a:pt x="143" y="90"/>
                    <a:pt x="143" y="90"/>
                    <a:pt x="143" y="90"/>
                  </a:cubicBezTo>
                  <a:cubicBezTo>
                    <a:pt x="143" y="89"/>
                    <a:pt x="143" y="89"/>
                    <a:pt x="143" y="89"/>
                  </a:cubicBezTo>
                  <a:cubicBezTo>
                    <a:pt x="144" y="89"/>
                    <a:pt x="144" y="89"/>
                    <a:pt x="144" y="89"/>
                  </a:cubicBezTo>
                  <a:cubicBezTo>
                    <a:pt x="144" y="91"/>
                    <a:pt x="144" y="93"/>
                    <a:pt x="147" y="93"/>
                  </a:cubicBezTo>
                  <a:cubicBezTo>
                    <a:pt x="148" y="92"/>
                    <a:pt x="148" y="91"/>
                    <a:pt x="149" y="91"/>
                  </a:cubicBezTo>
                  <a:cubicBezTo>
                    <a:pt x="149" y="91"/>
                    <a:pt x="150" y="91"/>
                    <a:pt x="150" y="91"/>
                  </a:cubicBezTo>
                  <a:cubicBezTo>
                    <a:pt x="150" y="91"/>
                    <a:pt x="149" y="92"/>
                    <a:pt x="149" y="93"/>
                  </a:cubicBezTo>
                  <a:cubicBezTo>
                    <a:pt x="149" y="93"/>
                    <a:pt x="150" y="93"/>
                    <a:pt x="150" y="93"/>
                  </a:cubicBezTo>
                  <a:cubicBezTo>
                    <a:pt x="153" y="93"/>
                    <a:pt x="152" y="87"/>
                    <a:pt x="150" y="86"/>
                  </a:cubicBezTo>
                  <a:cubicBezTo>
                    <a:pt x="150" y="85"/>
                    <a:pt x="142" y="82"/>
                    <a:pt x="146" y="80"/>
                  </a:cubicBezTo>
                  <a:cubicBezTo>
                    <a:pt x="147" y="78"/>
                    <a:pt x="147" y="75"/>
                    <a:pt x="145" y="74"/>
                  </a:cubicBezTo>
                  <a:cubicBezTo>
                    <a:pt x="145" y="75"/>
                    <a:pt x="145" y="76"/>
                    <a:pt x="144" y="76"/>
                  </a:cubicBezTo>
                  <a:cubicBezTo>
                    <a:pt x="144" y="75"/>
                    <a:pt x="144" y="75"/>
                    <a:pt x="143" y="75"/>
                  </a:cubicBezTo>
                  <a:cubicBezTo>
                    <a:pt x="143" y="75"/>
                    <a:pt x="143" y="75"/>
                    <a:pt x="143" y="75"/>
                  </a:cubicBezTo>
                  <a:cubicBezTo>
                    <a:pt x="143" y="74"/>
                    <a:pt x="145" y="75"/>
                    <a:pt x="146" y="74"/>
                  </a:cubicBezTo>
                  <a:cubicBezTo>
                    <a:pt x="146" y="75"/>
                    <a:pt x="147" y="75"/>
                    <a:pt x="148" y="76"/>
                  </a:cubicBezTo>
                  <a:cubicBezTo>
                    <a:pt x="148" y="77"/>
                    <a:pt x="149" y="77"/>
                    <a:pt x="150" y="77"/>
                  </a:cubicBezTo>
                  <a:cubicBezTo>
                    <a:pt x="158" y="77"/>
                    <a:pt x="165" y="69"/>
                    <a:pt x="163" y="62"/>
                  </a:cubicBezTo>
                  <a:cubicBezTo>
                    <a:pt x="159" y="62"/>
                    <a:pt x="160" y="61"/>
                    <a:pt x="161" y="59"/>
                  </a:cubicBezTo>
                  <a:cubicBezTo>
                    <a:pt x="158" y="59"/>
                    <a:pt x="157" y="56"/>
                    <a:pt x="159" y="53"/>
                  </a:cubicBezTo>
                  <a:cubicBezTo>
                    <a:pt x="159" y="54"/>
                    <a:pt x="158" y="54"/>
                    <a:pt x="157" y="54"/>
                  </a:cubicBezTo>
                  <a:cubicBezTo>
                    <a:pt x="156" y="54"/>
                    <a:pt x="154" y="53"/>
                    <a:pt x="154" y="51"/>
                  </a:cubicBezTo>
                  <a:cubicBezTo>
                    <a:pt x="154" y="51"/>
                    <a:pt x="154" y="51"/>
                    <a:pt x="154" y="51"/>
                  </a:cubicBezTo>
                  <a:cubicBezTo>
                    <a:pt x="155" y="51"/>
                    <a:pt x="155" y="50"/>
                    <a:pt x="156" y="49"/>
                  </a:cubicBezTo>
                  <a:cubicBezTo>
                    <a:pt x="156" y="49"/>
                    <a:pt x="156" y="48"/>
                    <a:pt x="157" y="48"/>
                  </a:cubicBezTo>
                  <a:cubicBezTo>
                    <a:pt x="157" y="48"/>
                    <a:pt x="158" y="48"/>
                    <a:pt x="158" y="48"/>
                  </a:cubicBezTo>
                  <a:cubicBezTo>
                    <a:pt x="159" y="48"/>
                    <a:pt x="158" y="51"/>
                    <a:pt x="159" y="51"/>
                  </a:cubicBezTo>
                  <a:cubicBezTo>
                    <a:pt x="160" y="49"/>
                    <a:pt x="162" y="49"/>
                    <a:pt x="163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3" y="48"/>
                    <a:pt x="163" y="48"/>
                    <a:pt x="163" y="48"/>
                  </a:cubicBezTo>
                  <a:cubicBezTo>
                    <a:pt x="162" y="49"/>
                    <a:pt x="163" y="52"/>
                    <a:pt x="165" y="52"/>
                  </a:cubicBezTo>
                  <a:cubicBezTo>
                    <a:pt x="166" y="52"/>
                    <a:pt x="166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7" y="52"/>
                    <a:pt x="167" y="52"/>
                    <a:pt x="167" y="52"/>
                  </a:cubicBezTo>
                  <a:cubicBezTo>
                    <a:pt x="165" y="54"/>
                    <a:pt x="168" y="54"/>
                    <a:pt x="167" y="57"/>
                  </a:cubicBezTo>
                  <a:cubicBezTo>
                    <a:pt x="168" y="57"/>
                    <a:pt x="169" y="57"/>
                    <a:pt x="170" y="57"/>
                  </a:cubicBezTo>
                  <a:cubicBezTo>
                    <a:pt x="170" y="53"/>
                    <a:pt x="167" y="52"/>
                    <a:pt x="165" y="51"/>
                  </a:cubicBezTo>
                  <a:cubicBezTo>
                    <a:pt x="166" y="48"/>
                    <a:pt x="166" y="48"/>
                    <a:pt x="167" y="46"/>
                  </a:cubicBezTo>
                  <a:cubicBezTo>
                    <a:pt x="166" y="46"/>
                    <a:pt x="166" y="46"/>
                    <a:pt x="166" y="46"/>
                  </a:cubicBezTo>
                  <a:cubicBezTo>
                    <a:pt x="165" y="46"/>
                    <a:pt x="165" y="48"/>
                    <a:pt x="164" y="48"/>
                  </a:cubicBezTo>
                  <a:cubicBezTo>
                    <a:pt x="164" y="47"/>
                    <a:pt x="163" y="47"/>
                    <a:pt x="163" y="47"/>
                  </a:cubicBezTo>
                  <a:cubicBezTo>
                    <a:pt x="165" y="46"/>
                    <a:pt x="166" y="45"/>
                    <a:pt x="168" y="45"/>
                  </a:cubicBezTo>
                  <a:cubicBezTo>
                    <a:pt x="168" y="45"/>
                    <a:pt x="169" y="45"/>
                    <a:pt x="171" y="45"/>
                  </a:cubicBezTo>
                  <a:cubicBezTo>
                    <a:pt x="174" y="39"/>
                    <a:pt x="171" y="32"/>
                    <a:pt x="167" y="29"/>
                  </a:cubicBezTo>
                  <a:cubicBezTo>
                    <a:pt x="166" y="29"/>
                    <a:pt x="166" y="29"/>
                    <a:pt x="166" y="29"/>
                  </a:cubicBezTo>
                  <a:cubicBezTo>
                    <a:pt x="165" y="29"/>
                    <a:pt x="165" y="30"/>
                    <a:pt x="164" y="30"/>
                  </a:cubicBezTo>
                  <a:cubicBezTo>
                    <a:pt x="163" y="29"/>
                    <a:pt x="161" y="29"/>
                    <a:pt x="160" y="28"/>
                  </a:cubicBezTo>
                  <a:cubicBezTo>
                    <a:pt x="162" y="26"/>
                    <a:pt x="161" y="22"/>
                    <a:pt x="163" y="21"/>
                  </a:cubicBezTo>
                  <a:cubicBezTo>
                    <a:pt x="163" y="21"/>
                    <a:pt x="163" y="21"/>
                    <a:pt x="164" y="21"/>
                  </a:cubicBezTo>
                  <a:cubicBezTo>
                    <a:pt x="165" y="21"/>
                    <a:pt x="166" y="21"/>
                    <a:pt x="167" y="21"/>
                  </a:cubicBezTo>
                  <a:cubicBezTo>
                    <a:pt x="168" y="21"/>
                    <a:pt x="169" y="21"/>
                    <a:pt x="171" y="21"/>
                  </a:cubicBezTo>
                  <a:cubicBezTo>
                    <a:pt x="172" y="21"/>
                    <a:pt x="173" y="21"/>
                    <a:pt x="174" y="21"/>
                  </a:cubicBezTo>
                  <a:cubicBezTo>
                    <a:pt x="174" y="18"/>
                    <a:pt x="175" y="18"/>
                    <a:pt x="177" y="18"/>
                  </a:cubicBezTo>
                  <a:cubicBezTo>
                    <a:pt x="177" y="18"/>
                    <a:pt x="177" y="18"/>
                    <a:pt x="178" y="18"/>
                  </a:cubicBezTo>
                  <a:cubicBezTo>
                    <a:pt x="178" y="18"/>
                    <a:pt x="178" y="18"/>
                    <a:pt x="178" y="18"/>
                  </a:cubicBezTo>
                  <a:cubicBezTo>
                    <a:pt x="180" y="18"/>
                    <a:pt x="181" y="18"/>
                    <a:pt x="182" y="17"/>
                  </a:cubicBezTo>
                  <a:cubicBezTo>
                    <a:pt x="184" y="19"/>
                    <a:pt x="181" y="22"/>
                    <a:pt x="181" y="26"/>
                  </a:cubicBezTo>
                  <a:cubicBezTo>
                    <a:pt x="183" y="29"/>
                    <a:pt x="186" y="30"/>
                    <a:pt x="189" y="33"/>
                  </a:cubicBezTo>
                  <a:cubicBezTo>
                    <a:pt x="189" y="28"/>
                    <a:pt x="187" y="26"/>
                    <a:pt x="184" y="20"/>
                  </a:cubicBezTo>
                  <a:cubicBezTo>
                    <a:pt x="186" y="20"/>
                    <a:pt x="188" y="20"/>
                    <a:pt x="190" y="20"/>
                  </a:cubicBezTo>
                  <a:cubicBezTo>
                    <a:pt x="190" y="17"/>
                    <a:pt x="193" y="18"/>
                    <a:pt x="193" y="16"/>
                  </a:cubicBezTo>
                  <a:cubicBezTo>
                    <a:pt x="192" y="15"/>
                    <a:pt x="188" y="16"/>
                    <a:pt x="188" y="13"/>
                  </a:cubicBezTo>
                  <a:cubicBezTo>
                    <a:pt x="188" y="13"/>
                    <a:pt x="188" y="13"/>
                    <a:pt x="189" y="13"/>
                  </a:cubicBezTo>
                  <a:cubicBezTo>
                    <a:pt x="189" y="13"/>
                    <a:pt x="189" y="14"/>
                    <a:pt x="190" y="14"/>
                  </a:cubicBezTo>
                  <a:cubicBezTo>
                    <a:pt x="190" y="14"/>
                    <a:pt x="191" y="14"/>
                    <a:pt x="191" y="14"/>
                  </a:cubicBezTo>
                  <a:cubicBezTo>
                    <a:pt x="191" y="14"/>
                    <a:pt x="192" y="14"/>
                    <a:pt x="192" y="13"/>
                  </a:cubicBezTo>
                  <a:cubicBezTo>
                    <a:pt x="191" y="13"/>
                    <a:pt x="190" y="13"/>
                    <a:pt x="190" y="12"/>
                  </a:cubicBezTo>
                  <a:cubicBezTo>
                    <a:pt x="190" y="12"/>
                    <a:pt x="190" y="12"/>
                    <a:pt x="191" y="12"/>
                  </a:cubicBezTo>
                  <a:cubicBezTo>
                    <a:pt x="192" y="12"/>
                    <a:pt x="192" y="13"/>
                    <a:pt x="194" y="13"/>
                  </a:cubicBezTo>
                  <a:cubicBezTo>
                    <a:pt x="194" y="13"/>
                    <a:pt x="194" y="13"/>
                    <a:pt x="194" y="13"/>
                  </a:cubicBezTo>
                  <a:cubicBezTo>
                    <a:pt x="194" y="13"/>
                    <a:pt x="195" y="14"/>
                    <a:pt x="196" y="14"/>
                  </a:cubicBezTo>
                  <a:cubicBezTo>
                    <a:pt x="196" y="14"/>
                    <a:pt x="197" y="14"/>
                    <a:pt x="198" y="14"/>
                  </a:cubicBezTo>
                  <a:cubicBezTo>
                    <a:pt x="198" y="14"/>
                    <a:pt x="199" y="14"/>
                    <a:pt x="199" y="13"/>
                  </a:cubicBezTo>
                  <a:cubicBezTo>
                    <a:pt x="198" y="13"/>
                    <a:pt x="199" y="11"/>
                    <a:pt x="198" y="11"/>
                  </a:cubicBezTo>
                  <a:cubicBezTo>
                    <a:pt x="197" y="12"/>
                    <a:pt x="196" y="13"/>
                    <a:pt x="195" y="13"/>
                  </a:cubicBezTo>
                  <a:cubicBezTo>
                    <a:pt x="195" y="13"/>
                    <a:pt x="194" y="12"/>
                    <a:pt x="194" y="12"/>
                  </a:cubicBezTo>
                  <a:cubicBezTo>
                    <a:pt x="178" y="7"/>
                    <a:pt x="157" y="9"/>
                    <a:pt x="144" y="5"/>
                  </a:cubicBezTo>
                  <a:cubicBezTo>
                    <a:pt x="142" y="6"/>
                    <a:pt x="140" y="7"/>
                    <a:pt x="138" y="7"/>
                  </a:cubicBezTo>
                  <a:cubicBezTo>
                    <a:pt x="135" y="7"/>
                    <a:pt x="131" y="5"/>
                    <a:pt x="127" y="4"/>
                  </a:cubicBezTo>
                  <a:cubicBezTo>
                    <a:pt x="127" y="3"/>
                    <a:pt x="127" y="3"/>
                    <a:pt x="127" y="3"/>
                  </a:cubicBezTo>
                  <a:cubicBezTo>
                    <a:pt x="125" y="3"/>
                    <a:pt x="124" y="4"/>
                    <a:pt x="122" y="4"/>
                  </a:cubicBezTo>
                  <a:cubicBezTo>
                    <a:pt x="122" y="4"/>
                    <a:pt x="122" y="4"/>
                    <a:pt x="121" y="4"/>
                  </a:cubicBezTo>
                  <a:cubicBezTo>
                    <a:pt x="120" y="4"/>
                    <a:pt x="120" y="4"/>
                    <a:pt x="119" y="4"/>
                  </a:cubicBezTo>
                  <a:cubicBezTo>
                    <a:pt x="118" y="4"/>
                    <a:pt x="116" y="4"/>
                    <a:pt x="115" y="4"/>
                  </a:cubicBezTo>
                  <a:cubicBezTo>
                    <a:pt x="113" y="4"/>
                    <a:pt x="112" y="4"/>
                    <a:pt x="111" y="4"/>
                  </a:cubicBezTo>
                  <a:cubicBezTo>
                    <a:pt x="110" y="4"/>
                    <a:pt x="109" y="4"/>
                    <a:pt x="109" y="4"/>
                  </a:cubicBezTo>
                  <a:cubicBezTo>
                    <a:pt x="111" y="3"/>
                    <a:pt x="112" y="2"/>
                    <a:pt x="113" y="1"/>
                  </a:cubicBezTo>
                  <a:cubicBezTo>
                    <a:pt x="110" y="0"/>
                    <a:pt x="108" y="0"/>
                    <a:pt x="10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8" name="Freeform 23"/>
            <p:cNvSpPr>
              <a:spLocks noEditPoints="1"/>
            </p:cNvSpPr>
            <p:nvPr/>
          </p:nvSpPr>
          <p:spPr bwMode="auto">
            <a:xfrm>
              <a:off x="2402680" y="2794001"/>
              <a:ext cx="741363" cy="614363"/>
            </a:xfrm>
            <a:custGeom>
              <a:avLst/>
              <a:gdLst>
                <a:gd name="T0" fmla="*/ 72 w 108"/>
                <a:gd name="T1" fmla="*/ 32 h 89"/>
                <a:gd name="T2" fmla="*/ 80 w 108"/>
                <a:gd name="T3" fmla="*/ 39 h 89"/>
                <a:gd name="T4" fmla="*/ 72 w 108"/>
                <a:gd name="T5" fmla="*/ 38 h 89"/>
                <a:gd name="T6" fmla="*/ 68 w 108"/>
                <a:gd name="T7" fmla="*/ 36 h 89"/>
                <a:gd name="T8" fmla="*/ 60 w 108"/>
                <a:gd name="T9" fmla="*/ 30 h 89"/>
                <a:gd name="T10" fmla="*/ 60 w 108"/>
                <a:gd name="T11" fmla="*/ 30 h 89"/>
                <a:gd name="T12" fmla="*/ 61 w 108"/>
                <a:gd name="T13" fmla="*/ 13 h 89"/>
                <a:gd name="T14" fmla="*/ 50 w 108"/>
                <a:gd name="T15" fmla="*/ 8 h 89"/>
                <a:gd name="T16" fmla="*/ 48 w 108"/>
                <a:gd name="T17" fmla="*/ 11 h 89"/>
                <a:gd name="T18" fmla="*/ 97 w 108"/>
                <a:gd name="T19" fmla="*/ 0 h 89"/>
                <a:gd name="T20" fmla="*/ 93 w 108"/>
                <a:gd name="T21" fmla="*/ 0 h 89"/>
                <a:gd name="T22" fmla="*/ 90 w 108"/>
                <a:gd name="T23" fmla="*/ 3 h 89"/>
                <a:gd name="T24" fmla="*/ 86 w 108"/>
                <a:gd name="T25" fmla="*/ 6 h 89"/>
                <a:gd name="T26" fmla="*/ 78 w 108"/>
                <a:gd name="T27" fmla="*/ 9 h 89"/>
                <a:gd name="T28" fmla="*/ 61 w 108"/>
                <a:gd name="T29" fmla="*/ 7 h 89"/>
                <a:gd name="T30" fmla="*/ 42 w 108"/>
                <a:gd name="T31" fmla="*/ 6 h 89"/>
                <a:gd name="T32" fmla="*/ 29 w 108"/>
                <a:gd name="T33" fmla="*/ 3 h 89"/>
                <a:gd name="T34" fmla="*/ 10 w 108"/>
                <a:gd name="T35" fmla="*/ 9 h 89"/>
                <a:gd name="T36" fmla="*/ 9 w 108"/>
                <a:gd name="T37" fmla="*/ 10 h 89"/>
                <a:gd name="T38" fmla="*/ 1 w 108"/>
                <a:gd name="T39" fmla="*/ 15 h 89"/>
                <a:gd name="T40" fmla="*/ 4 w 108"/>
                <a:gd name="T41" fmla="*/ 20 h 89"/>
                <a:gd name="T42" fmla="*/ 14 w 108"/>
                <a:gd name="T43" fmla="*/ 17 h 89"/>
                <a:gd name="T44" fmla="*/ 23 w 108"/>
                <a:gd name="T45" fmla="*/ 17 h 89"/>
                <a:gd name="T46" fmla="*/ 26 w 108"/>
                <a:gd name="T47" fmla="*/ 17 h 89"/>
                <a:gd name="T48" fmla="*/ 30 w 108"/>
                <a:gd name="T49" fmla="*/ 32 h 89"/>
                <a:gd name="T50" fmla="*/ 20 w 108"/>
                <a:gd name="T51" fmla="*/ 53 h 89"/>
                <a:gd name="T52" fmla="*/ 29 w 108"/>
                <a:gd name="T53" fmla="*/ 57 h 89"/>
                <a:gd name="T54" fmla="*/ 51 w 108"/>
                <a:gd name="T55" fmla="*/ 79 h 89"/>
                <a:gd name="T56" fmla="*/ 53 w 108"/>
                <a:gd name="T57" fmla="*/ 85 h 89"/>
                <a:gd name="T58" fmla="*/ 59 w 108"/>
                <a:gd name="T59" fmla="*/ 89 h 89"/>
                <a:gd name="T60" fmla="*/ 58 w 108"/>
                <a:gd name="T61" fmla="*/ 82 h 89"/>
                <a:gd name="T62" fmla="*/ 54 w 108"/>
                <a:gd name="T63" fmla="*/ 82 h 89"/>
                <a:gd name="T64" fmla="*/ 52 w 108"/>
                <a:gd name="T65" fmla="*/ 78 h 89"/>
                <a:gd name="T66" fmla="*/ 53 w 108"/>
                <a:gd name="T67" fmla="*/ 74 h 89"/>
                <a:gd name="T68" fmla="*/ 46 w 108"/>
                <a:gd name="T69" fmla="*/ 78 h 89"/>
                <a:gd name="T70" fmla="*/ 51 w 108"/>
                <a:gd name="T71" fmla="*/ 61 h 89"/>
                <a:gd name="T72" fmla="*/ 75 w 108"/>
                <a:gd name="T73" fmla="*/ 52 h 89"/>
                <a:gd name="T74" fmla="*/ 90 w 108"/>
                <a:gd name="T75" fmla="*/ 38 h 89"/>
                <a:gd name="T76" fmla="*/ 95 w 108"/>
                <a:gd name="T77" fmla="*/ 32 h 89"/>
                <a:gd name="T78" fmla="*/ 89 w 108"/>
                <a:gd name="T79" fmla="*/ 34 h 89"/>
                <a:gd name="T80" fmla="*/ 107 w 108"/>
                <a:gd name="T81" fmla="*/ 26 h 89"/>
                <a:gd name="T82" fmla="*/ 106 w 108"/>
                <a:gd name="T83" fmla="*/ 24 h 89"/>
                <a:gd name="T84" fmla="*/ 98 w 108"/>
                <a:gd name="T85" fmla="*/ 15 h 89"/>
                <a:gd name="T86" fmla="*/ 78 w 108"/>
                <a:gd name="T87" fmla="*/ 30 h 89"/>
                <a:gd name="T88" fmla="*/ 72 w 108"/>
                <a:gd name="T89" fmla="*/ 21 h 89"/>
                <a:gd name="T90" fmla="*/ 77 w 108"/>
                <a:gd name="T91" fmla="*/ 11 h 89"/>
                <a:gd name="T92" fmla="*/ 81 w 108"/>
                <a:gd name="T93" fmla="*/ 9 h 89"/>
                <a:gd name="T94" fmla="*/ 97 w 108"/>
                <a:gd name="T95" fmla="*/ 4 h 89"/>
                <a:gd name="T96" fmla="*/ 108 w 108"/>
                <a:gd name="T97" fmla="*/ 8 h 89"/>
                <a:gd name="T98" fmla="*/ 99 w 108"/>
                <a:gd name="T9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8" h="89">
                  <a:moveTo>
                    <a:pt x="64" y="36"/>
                  </a:moveTo>
                  <a:cubicBezTo>
                    <a:pt x="63" y="36"/>
                    <a:pt x="63" y="36"/>
                    <a:pt x="63" y="36"/>
                  </a:cubicBezTo>
                  <a:cubicBezTo>
                    <a:pt x="63" y="33"/>
                    <a:pt x="66" y="32"/>
                    <a:pt x="70" y="32"/>
                  </a:cubicBezTo>
                  <a:cubicBezTo>
                    <a:pt x="70" y="32"/>
                    <a:pt x="71" y="32"/>
                    <a:pt x="72" y="32"/>
                  </a:cubicBezTo>
                  <a:cubicBezTo>
                    <a:pt x="72" y="35"/>
                    <a:pt x="72" y="37"/>
                    <a:pt x="75" y="37"/>
                  </a:cubicBezTo>
                  <a:cubicBezTo>
                    <a:pt x="75" y="37"/>
                    <a:pt x="76" y="37"/>
                    <a:pt x="76" y="36"/>
                  </a:cubicBezTo>
                  <a:cubicBezTo>
                    <a:pt x="77" y="40"/>
                    <a:pt x="72" y="38"/>
                    <a:pt x="72" y="41"/>
                  </a:cubicBezTo>
                  <a:cubicBezTo>
                    <a:pt x="74" y="40"/>
                    <a:pt x="77" y="40"/>
                    <a:pt x="80" y="39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76" y="41"/>
                    <a:pt x="74" y="43"/>
                    <a:pt x="69" y="44"/>
                  </a:cubicBezTo>
                  <a:cubicBezTo>
                    <a:pt x="70" y="42"/>
                    <a:pt x="71" y="42"/>
                    <a:pt x="72" y="41"/>
                  </a:cubicBezTo>
                  <a:cubicBezTo>
                    <a:pt x="71" y="40"/>
                    <a:pt x="70" y="39"/>
                    <a:pt x="72" y="38"/>
                  </a:cubicBezTo>
                  <a:cubicBezTo>
                    <a:pt x="70" y="38"/>
                    <a:pt x="69" y="39"/>
                    <a:pt x="67" y="39"/>
                  </a:cubicBezTo>
                  <a:cubicBezTo>
                    <a:pt x="68" y="42"/>
                    <a:pt x="67" y="43"/>
                    <a:pt x="65" y="43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65" y="41"/>
                    <a:pt x="66" y="38"/>
                    <a:pt x="68" y="36"/>
                  </a:cubicBezTo>
                  <a:cubicBezTo>
                    <a:pt x="68" y="36"/>
                    <a:pt x="67" y="36"/>
                    <a:pt x="66" y="36"/>
                  </a:cubicBezTo>
                  <a:cubicBezTo>
                    <a:pt x="66" y="36"/>
                    <a:pt x="65" y="36"/>
                    <a:pt x="65" y="36"/>
                  </a:cubicBezTo>
                  <a:cubicBezTo>
                    <a:pt x="64" y="36"/>
                    <a:pt x="64" y="36"/>
                    <a:pt x="64" y="36"/>
                  </a:cubicBezTo>
                  <a:moveTo>
                    <a:pt x="60" y="30"/>
                  </a:moveTo>
                  <a:cubicBezTo>
                    <a:pt x="60" y="30"/>
                    <a:pt x="60" y="30"/>
                    <a:pt x="60" y="30"/>
                  </a:cubicBezTo>
                  <a:cubicBezTo>
                    <a:pt x="60" y="28"/>
                    <a:pt x="59" y="25"/>
                    <a:pt x="62" y="25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6"/>
                    <a:pt x="63" y="30"/>
                    <a:pt x="60" y="30"/>
                  </a:cubicBezTo>
                  <a:moveTo>
                    <a:pt x="55" y="14"/>
                  </a:moveTo>
                  <a:cubicBezTo>
                    <a:pt x="56" y="14"/>
                    <a:pt x="56" y="13"/>
                    <a:pt x="57" y="13"/>
                  </a:cubicBezTo>
                  <a:cubicBezTo>
                    <a:pt x="58" y="13"/>
                    <a:pt x="59" y="13"/>
                    <a:pt x="60" y="13"/>
                  </a:cubicBezTo>
                  <a:cubicBezTo>
                    <a:pt x="60" y="13"/>
                    <a:pt x="60" y="13"/>
                    <a:pt x="61" y="13"/>
                  </a:cubicBezTo>
                  <a:cubicBezTo>
                    <a:pt x="58" y="15"/>
                    <a:pt x="54" y="16"/>
                    <a:pt x="49" y="16"/>
                  </a:cubicBezTo>
                  <a:cubicBezTo>
                    <a:pt x="49" y="13"/>
                    <a:pt x="54" y="16"/>
                    <a:pt x="53" y="13"/>
                  </a:cubicBezTo>
                  <a:cubicBezTo>
                    <a:pt x="53" y="13"/>
                    <a:pt x="54" y="14"/>
                    <a:pt x="55" y="14"/>
                  </a:cubicBezTo>
                  <a:moveTo>
                    <a:pt x="50" y="8"/>
                  </a:moveTo>
                  <a:cubicBezTo>
                    <a:pt x="51" y="8"/>
                    <a:pt x="51" y="8"/>
                    <a:pt x="52" y="8"/>
                  </a:cubicBezTo>
                  <a:cubicBezTo>
                    <a:pt x="53" y="7"/>
                    <a:pt x="54" y="7"/>
                    <a:pt x="55" y="7"/>
                  </a:cubicBezTo>
                  <a:cubicBezTo>
                    <a:pt x="55" y="7"/>
                    <a:pt x="56" y="7"/>
                    <a:pt x="57" y="8"/>
                  </a:cubicBezTo>
                  <a:cubicBezTo>
                    <a:pt x="55" y="10"/>
                    <a:pt x="52" y="11"/>
                    <a:pt x="48" y="11"/>
                  </a:cubicBezTo>
                  <a:cubicBezTo>
                    <a:pt x="48" y="10"/>
                    <a:pt x="48" y="9"/>
                    <a:pt x="48" y="8"/>
                  </a:cubicBezTo>
                  <a:cubicBezTo>
                    <a:pt x="49" y="8"/>
                    <a:pt x="49" y="8"/>
                    <a:pt x="50" y="8"/>
                  </a:cubicBezTo>
                  <a:moveTo>
                    <a:pt x="98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6" y="0"/>
                    <a:pt x="96" y="1"/>
                    <a:pt x="96" y="1"/>
                  </a:cubicBezTo>
                  <a:cubicBezTo>
                    <a:pt x="95" y="1"/>
                    <a:pt x="95" y="1"/>
                    <a:pt x="95" y="1"/>
                  </a:cubicBezTo>
                  <a:cubicBezTo>
                    <a:pt x="95" y="1"/>
                    <a:pt x="94" y="1"/>
                    <a:pt x="94" y="1"/>
                  </a:cubicBezTo>
                  <a:cubicBezTo>
                    <a:pt x="94" y="1"/>
                    <a:pt x="93" y="0"/>
                    <a:pt x="93" y="0"/>
                  </a:cubicBezTo>
                  <a:cubicBezTo>
                    <a:pt x="92" y="0"/>
                    <a:pt x="92" y="1"/>
                    <a:pt x="91" y="1"/>
                  </a:cubicBezTo>
                  <a:cubicBezTo>
                    <a:pt x="91" y="1"/>
                    <a:pt x="91" y="1"/>
                    <a:pt x="90" y="1"/>
                  </a:cubicBezTo>
                  <a:cubicBezTo>
                    <a:pt x="90" y="2"/>
                    <a:pt x="91" y="2"/>
                    <a:pt x="89" y="3"/>
                  </a:cubicBezTo>
                  <a:cubicBezTo>
                    <a:pt x="89" y="3"/>
                    <a:pt x="90" y="3"/>
                    <a:pt x="90" y="3"/>
                  </a:cubicBezTo>
                  <a:cubicBezTo>
                    <a:pt x="91" y="3"/>
                    <a:pt x="91" y="4"/>
                    <a:pt x="91" y="5"/>
                  </a:cubicBezTo>
                  <a:cubicBezTo>
                    <a:pt x="90" y="6"/>
                    <a:pt x="88" y="7"/>
                    <a:pt x="86" y="7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6" y="6"/>
                    <a:pt x="86" y="6"/>
                    <a:pt x="86" y="6"/>
                  </a:cubicBezTo>
                  <a:cubicBezTo>
                    <a:pt x="85" y="7"/>
                    <a:pt x="85" y="7"/>
                    <a:pt x="85" y="7"/>
                  </a:cubicBezTo>
                  <a:cubicBezTo>
                    <a:pt x="85" y="7"/>
                    <a:pt x="85" y="7"/>
                    <a:pt x="84" y="7"/>
                  </a:cubicBezTo>
                  <a:cubicBezTo>
                    <a:pt x="84" y="6"/>
                    <a:pt x="85" y="5"/>
                    <a:pt x="85" y="5"/>
                  </a:cubicBezTo>
                  <a:cubicBezTo>
                    <a:pt x="82" y="6"/>
                    <a:pt x="80" y="7"/>
                    <a:pt x="78" y="9"/>
                  </a:cubicBezTo>
                  <a:cubicBezTo>
                    <a:pt x="77" y="7"/>
                    <a:pt x="74" y="6"/>
                    <a:pt x="72" y="6"/>
                  </a:cubicBezTo>
                  <a:cubicBezTo>
                    <a:pt x="69" y="6"/>
                    <a:pt x="67" y="7"/>
                    <a:pt x="66" y="9"/>
                  </a:cubicBezTo>
                  <a:cubicBezTo>
                    <a:pt x="66" y="7"/>
                    <a:pt x="65" y="7"/>
                    <a:pt x="63" y="7"/>
                  </a:cubicBezTo>
                  <a:cubicBezTo>
                    <a:pt x="62" y="7"/>
                    <a:pt x="62" y="7"/>
                    <a:pt x="61" y="7"/>
                  </a:cubicBezTo>
                  <a:cubicBezTo>
                    <a:pt x="61" y="7"/>
                    <a:pt x="61" y="7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60" y="5"/>
                    <a:pt x="58" y="4"/>
                    <a:pt x="56" y="4"/>
                  </a:cubicBezTo>
                  <a:cubicBezTo>
                    <a:pt x="52" y="4"/>
                    <a:pt x="46" y="6"/>
                    <a:pt x="42" y="6"/>
                  </a:cubicBezTo>
                  <a:cubicBezTo>
                    <a:pt x="41" y="6"/>
                    <a:pt x="39" y="5"/>
                    <a:pt x="38" y="5"/>
                  </a:cubicBezTo>
                  <a:cubicBezTo>
                    <a:pt x="37" y="5"/>
                    <a:pt x="36" y="6"/>
                    <a:pt x="36" y="7"/>
                  </a:cubicBezTo>
                  <a:cubicBezTo>
                    <a:pt x="36" y="5"/>
                    <a:pt x="37" y="5"/>
                    <a:pt x="38" y="4"/>
                  </a:cubicBezTo>
                  <a:cubicBezTo>
                    <a:pt x="34" y="3"/>
                    <a:pt x="32" y="3"/>
                    <a:pt x="29" y="3"/>
                  </a:cubicBezTo>
                  <a:cubicBezTo>
                    <a:pt x="24" y="3"/>
                    <a:pt x="19" y="4"/>
                    <a:pt x="13" y="5"/>
                  </a:cubicBezTo>
                  <a:cubicBezTo>
                    <a:pt x="12" y="7"/>
                    <a:pt x="16" y="8"/>
                    <a:pt x="14" y="9"/>
                  </a:cubicBezTo>
                  <a:cubicBezTo>
                    <a:pt x="13" y="9"/>
                    <a:pt x="13" y="9"/>
                    <a:pt x="12" y="9"/>
                  </a:cubicBezTo>
                  <a:cubicBezTo>
                    <a:pt x="11" y="9"/>
                    <a:pt x="11" y="9"/>
                    <a:pt x="10" y="9"/>
                  </a:cubicBezTo>
                  <a:cubicBezTo>
                    <a:pt x="10" y="9"/>
                    <a:pt x="9" y="9"/>
                    <a:pt x="9" y="9"/>
                  </a:cubicBezTo>
                  <a:cubicBezTo>
                    <a:pt x="8" y="9"/>
                    <a:pt x="7" y="9"/>
                    <a:pt x="6" y="11"/>
                  </a:cubicBezTo>
                  <a:cubicBezTo>
                    <a:pt x="6" y="11"/>
                    <a:pt x="6" y="11"/>
                    <a:pt x="7" y="11"/>
                  </a:cubicBezTo>
                  <a:cubicBezTo>
                    <a:pt x="7" y="11"/>
                    <a:pt x="8" y="11"/>
                    <a:pt x="9" y="10"/>
                  </a:cubicBezTo>
                  <a:cubicBezTo>
                    <a:pt x="9" y="10"/>
                    <a:pt x="10" y="10"/>
                    <a:pt x="10" y="10"/>
                  </a:cubicBezTo>
                  <a:cubicBezTo>
                    <a:pt x="11" y="10"/>
                    <a:pt x="11" y="10"/>
                    <a:pt x="11" y="11"/>
                  </a:cubicBezTo>
                  <a:cubicBezTo>
                    <a:pt x="9" y="13"/>
                    <a:pt x="0" y="13"/>
                    <a:pt x="1" y="15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2" y="15"/>
                    <a:pt x="3" y="16"/>
                    <a:pt x="3" y="16"/>
                  </a:cubicBezTo>
                  <a:cubicBezTo>
                    <a:pt x="2" y="17"/>
                    <a:pt x="1" y="17"/>
                    <a:pt x="0" y="18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5" y="18"/>
                    <a:pt x="5" y="18"/>
                    <a:pt x="4" y="20"/>
                  </a:cubicBezTo>
                  <a:cubicBezTo>
                    <a:pt x="7" y="19"/>
                    <a:pt x="9" y="16"/>
                    <a:pt x="13" y="16"/>
                  </a:cubicBezTo>
                  <a:cubicBezTo>
                    <a:pt x="13" y="16"/>
                    <a:pt x="14" y="16"/>
                    <a:pt x="15" y="16"/>
                  </a:cubicBezTo>
                  <a:cubicBezTo>
                    <a:pt x="14" y="16"/>
                    <a:pt x="13" y="16"/>
                    <a:pt x="13" y="17"/>
                  </a:cubicBezTo>
                  <a:cubicBezTo>
                    <a:pt x="13" y="17"/>
                    <a:pt x="14" y="17"/>
                    <a:pt x="14" y="17"/>
                  </a:cubicBezTo>
                  <a:cubicBezTo>
                    <a:pt x="16" y="17"/>
                    <a:pt x="16" y="16"/>
                    <a:pt x="15" y="15"/>
                  </a:cubicBezTo>
                  <a:cubicBezTo>
                    <a:pt x="15" y="15"/>
                    <a:pt x="16" y="14"/>
                    <a:pt x="17" y="14"/>
                  </a:cubicBezTo>
                  <a:cubicBezTo>
                    <a:pt x="18" y="14"/>
                    <a:pt x="19" y="15"/>
                    <a:pt x="20" y="16"/>
                  </a:cubicBezTo>
                  <a:cubicBezTo>
                    <a:pt x="21" y="16"/>
                    <a:pt x="22" y="17"/>
                    <a:pt x="23" y="17"/>
                  </a:cubicBezTo>
                  <a:cubicBezTo>
                    <a:pt x="23" y="17"/>
                    <a:pt x="24" y="16"/>
                    <a:pt x="25" y="15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9" y="17"/>
                    <a:pt x="29" y="17"/>
                  </a:cubicBezTo>
                  <a:cubicBezTo>
                    <a:pt x="30" y="24"/>
                    <a:pt x="27" y="27"/>
                    <a:pt x="30" y="32"/>
                  </a:cubicBezTo>
                  <a:cubicBezTo>
                    <a:pt x="30" y="32"/>
                    <a:pt x="29" y="32"/>
                    <a:pt x="29" y="33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5"/>
                    <a:pt x="27" y="34"/>
                    <a:pt x="26" y="34"/>
                  </a:cubicBezTo>
                  <a:cubicBezTo>
                    <a:pt x="23" y="41"/>
                    <a:pt x="18" y="44"/>
                    <a:pt x="20" y="53"/>
                  </a:cubicBezTo>
                  <a:cubicBezTo>
                    <a:pt x="22" y="54"/>
                    <a:pt x="23" y="56"/>
                    <a:pt x="26" y="57"/>
                  </a:cubicBezTo>
                  <a:cubicBezTo>
                    <a:pt x="20" y="58"/>
                    <a:pt x="27" y="68"/>
                    <a:pt x="28" y="70"/>
                  </a:cubicBezTo>
                  <a:cubicBezTo>
                    <a:pt x="27" y="66"/>
                    <a:pt x="21" y="57"/>
                    <a:pt x="27" y="57"/>
                  </a:cubicBezTo>
                  <a:cubicBezTo>
                    <a:pt x="28" y="57"/>
                    <a:pt x="28" y="57"/>
                    <a:pt x="29" y="57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24" y="64"/>
                    <a:pt x="36" y="69"/>
                    <a:pt x="33" y="76"/>
                  </a:cubicBezTo>
                  <a:cubicBezTo>
                    <a:pt x="37" y="80"/>
                    <a:pt x="43" y="81"/>
                    <a:pt x="48" y="82"/>
                  </a:cubicBezTo>
                  <a:cubicBezTo>
                    <a:pt x="49" y="80"/>
                    <a:pt x="50" y="79"/>
                    <a:pt x="51" y="79"/>
                  </a:cubicBezTo>
                  <a:cubicBezTo>
                    <a:pt x="53" y="82"/>
                    <a:pt x="49" y="80"/>
                    <a:pt x="49" y="84"/>
                  </a:cubicBezTo>
                  <a:cubicBezTo>
                    <a:pt x="50" y="84"/>
                    <a:pt x="51" y="84"/>
                    <a:pt x="51" y="84"/>
                  </a:cubicBezTo>
                  <a:cubicBezTo>
                    <a:pt x="51" y="85"/>
                    <a:pt x="51" y="85"/>
                    <a:pt x="51" y="85"/>
                  </a:cubicBezTo>
                  <a:cubicBezTo>
                    <a:pt x="52" y="85"/>
                    <a:pt x="52" y="85"/>
                    <a:pt x="53" y="8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4" y="85"/>
                    <a:pt x="54" y="85"/>
                    <a:pt x="54" y="85"/>
                  </a:cubicBezTo>
                  <a:cubicBezTo>
                    <a:pt x="55" y="85"/>
                    <a:pt x="55" y="85"/>
                    <a:pt x="55" y="86"/>
                  </a:cubicBezTo>
                  <a:cubicBezTo>
                    <a:pt x="54" y="87"/>
                    <a:pt x="59" y="87"/>
                    <a:pt x="59" y="89"/>
                  </a:cubicBezTo>
                  <a:cubicBezTo>
                    <a:pt x="59" y="87"/>
                    <a:pt x="59" y="84"/>
                    <a:pt x="60" y="83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59" y="83"/>
                    <a:pt x="59" y="83"/>
                    <a:pt x="59" y="83"/>
                  </a:cubicBezTo>
                  <a:cubicBezTo>
                    <a:pt x="59" y="82"/>
                    <a:pt x="58" y="82"/>
                    <a:pt x="58" y="82"/>
                  </a:cubicBezTo>
                  <a:cubicBezTo>
                    <a:pt x="57" y="82"/>
                    <a:pt x="57" y="82"/>
                    <a:pt x="56" y="82"/>
                  </a:cubicBezTo>
                  <a:cubicBezTo>
                    <a:pt x="56" y="82"/>
                    <a:pt x="55" y="82"/>
                    <a:pt x="55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3" y="82"/>
                    <a:pt x="53" y="81"/>
                    <a:pt x="53" y="81"/>
                  </a:cubicBezTo>
                  <a:cubicBezTo>
                    <a:pt x="53" y="80"/>
                    <a:pt x="54" y="81"/>
                    <a:pt x="54" y="79"/>
                  </a:cubicBezTo>
                  <a:cubicBezTo>
                    <a:pt x="53" y="79"/>
                    <a:pt x="53" y="78"/>
                    <a:pt x="52" y="78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4" y="77"/>
                    <a:pt x="56" y="76"/>
                    <a:pt x="57" y="73"/>
                  </a:cubicBezTo>
                  <a:cubicBezTo>
                    <a:pt x="56" y="73"/>
                    <a:pt x="56" y="73"/>
                    <a:pt x="56" y="73"/>
                  </a:cubicBezTo>
                  <a:cubicBezTo>
                    <a:pt x="55" y="73"/>
                    <a:pt x="55" y="73"/>
                    <a:pt x="55" y="73"/>
                  </a:cubicBezTo>
                  <a:cubicBezTo>
                    <a:pt x="54" y="74"/>
                    <a:pt x="54" y="74"/>
                    <a:pt x="53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7"/>
                    <a:pt x="51" y="78"/>
                    <a:pt x="49" y="78"/>
                  </a:cubicBezTo>
                  <a:cubicBezTo>
                    <a:pt x="48" y="78"/>
                    <a:pt x="48" y="78"/>
                    <a:pt x="47" y="78"/>
                  </a:cubicBezTo>
                  <a:cubicBezTo>
                    <a:pt x="47" y="78"/>
                    <a:pt x="47" y="78"/>
                    <a:pt x="46" y="78"/>
                  </a:cubicBezTo>
                  <a:cubicBezTo>
                    <a:pt x="46" y="78"/>
                    <a:pt x="45" y="78"/>
                    <a:pt x="44" y="78"/>
                  </a:cubicBezTo>
                  <a:cubicBezTo>
                    <a:pt x="43" y="75"/>
                    <a:pt x="43" y="70"/>
                    <a:pt x="44" y="66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5" y="63"/>
                    <a:pt x="48" y="61"/>
                    <a:pt x="51" y="61"/>
                  </a:cubicBezTo>
                  <a:cubicBezTo>
                    <a:pt x="52" y="61"/>
                    <a:pt x="54" y="61"/>
                    <a:pt x="55" y="62"/>
                  </a:cubicBezTo>
                  <a:cubicBezTo>
                    <a:pt x="56" y="60"/>
                    <a:pt x="57" y="59"/>
                    <a:pt x="59" y="59"/>
                  </a:cubicBezTo>
                  <a:cubicBezTo>
                    <a:pt x="62" y="59"/>
                    <a:pt x="65" y="62"/>
                    <a:pt x="66" y="65"/>
                  </a:cubicBezTo>
                  <a:cubicBezTo>
                    <a:pt x="66" y="59"/>
                    <a:pt x="69" y="54"/>
                    <a:pt x="75" y="52"/>
                  </a:cubicBezTo>
                  <a:cubicBezTo>
                    <a:pt x="74" y="49"/>
                    <a:pt x="76" y="46"/>
                    <a:pt x="78" y="46"/>
                  </a:cubicBezTo>
                  <a:cubicBezTo>
                    <a:pt x="79" y="46"/>
                    <a:pt x="79" y="46"/>
                    <a:pt x="80" y="46"/>
                  </a:cubicBezTo>
                  <a:cubicBezTo>
                    <a:pt x="82" y="43"/>
                    <a:pt x="86" y="40"/>
                    <a:pt x="90" y="38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2" y="38"/>
                    <a:pt x="92" y="37"/>
                    <a:pt x="93" y="37"/>
                  </a:cubicBezTo>
                  <a:cubicBezTo>
                    <a:pt x="93" y="37"/>
                    <a:pt x="94" y="37"/>
                    <a:pt x="94" y="37"/>
                  </a:cubicBezTo>
                  <a:cubicBezTo>
                    <a:pt x="92" y="33"/>
                    <a:pt x="95" y="33"/>
                    <a:pt x="95" y="32"/>
                  </a:cubicBezTo>
                  <a:cubicBezTo>
                    <a:pt x="95" y="32"/>
                    <a:pt x="95" y="32"/>
                    <a:pt x="94" y="32"/>
                  </a:cubicBezTo>
                  <a:cubicBezTo>
                    <a:pt x="93" y="32"/>
                    <a:pt x="92" y="33"/>
                    <a:pt x="90" y="34"/>
                  </a:cubicBezTo>
                  <a:cubicBezTo>
                    <a:pt x="90" y="34"/>
                    <a:pt x="90" y="34"/>
                    <a:pt x="90" y="34"/>
                  </a:cubicBezTo>
                  <a:cubicBezTo>
                    <a:pt x="90" y="34"/>
                    <a:pt x="90" y="34"/>
                    <a:pt x="89" y="34"/>
                  </a:cubicBezTo>
                  <a:cubicBezTo>
                    <a:pt x="89" y="35"/>
                    <a:pt x="89" y="35"/>
                    <a:pt x="89" y="35"/>
                  </a:cubicBezTo>
                  <a:cubicBezTo>
                    <a:pt x="89" y="35"/>
                    <a:pt x="89" y="35"/>
                    <a:pt x="88" y="34"/>
                  </a:cubicBezTo>
                  <a:cubicBezTo>
                    <a:pt x="90" y="29"/>
                    <a:pt x="104" y="32"/>
                    <a:pt x="107" y="27"/>
                  </a:cubicBezTo>
                  <a:cubicBezTo>
                    <a:pt x="107" y="26"/>
                    <a:pt x="107" y="26"/>
                    <a:pt x="107" y="26"/>
                  </a:cubicBezTo>
                  <a:cubicBezTo>
                    <a:pt x="106" y="26"/>
                    <a:pt x="106" y="26"/>
                    <a:pt x="105" y="26"/>
                  </a:cubicBezTo>
                  <a:cubicBezTo>
                    <a:pt x="105" y="26"/>
                    <a:pt x="105" y="26"/>
                    <a:pt x="104" y="26"/>
                  </a:cubicBezTo>
                  <a:cubicBezTo>
                    <a:pt x="104" y="26"/>
                    <a:pt x="104" y="26"/>
                    <a:pt x="103" y="26"/>
                  </a:cubicBezTo>
                  <a:cubicBezTo>
                    <a:pt x="104" y="25"/>
                    <a:pt x="106" y="26"/>
                    <a:pt x="106" y="24"/>
                  </a:cubicBezTo>
                  <a:cubicBezTo>
                    <a:pt x="102" y="24"/>
                    <a:pt x="104" y="20"/>
                    <a:pt x="103" y="17"/>
                  </a:cubicBezTo>
                  <a:cubicBezTo>
                    <a:pt x="102" y="19"/>
                    <a:pt x="101" y="20"/>
                    <a:pt x="99" y="20"/>
                  </a:cubicBezTo>
                  <a:cubicBezTo>
                    <a:pt x="99" y="20"/>
                    <a:pt x="98" y="20"/>
                    <a:pt x="98" y="20"/>
                  </a:cubicBezTo>
                  <a:cubicBezTo>
                    <a:pt x="97" y="19"/>
                    <a:pt x="97" y="16"/>
                    <a:pt x="98" y="15"/>
                  </a:cubicBezTo>
                  <a:cubicBezTo>
                    <a:pt x="96" y="15"/>
                    <a:pt x="94" y="14"/>
                    <a:pt x="92" y="13"/>
                  </a:cubicBezTo>
                  <a:cubicBezTo>
                    <a:pt x="91" y="18"/>
                    <a:pt x="88" y="18"/>
                    <a:pt x="88" y="22"/>
                  </a:cubicBezTo>
                  <a:cubicBezTo>
                    <a:pt x="84" y="23"/>
                    <a:pt x="83" y="27"/>
                    <a:pt x="81" y="30"/>
                  </a:cubicBezTo>
                  <a:cubicBezTo>
                    <a:pt x="80" y="30"/>
                    <a:pt x="79" y="30"/>
                    <a:pt x="78" y="30"/>
                  </a:cubicBezTo>
                  <a:cubicBezTo>
                    <a:pt x="78" y="28"/>
                    <a:pt x="79" y="26"/>
                    <a:pt x="80" y="24"/>
                  </a:cubicBezTo>
                  <a:cubicBezTo>
                    <a:pt x="80" y="24"/>
                    <a:pt x="79" y="24"/>
                    <a:pt x="79" y="24"/>
                  </a:cubicBezTo>
                  <a:cubicBezTo>
                    <a:pt x="77" y="24"/>
                    <a:pt x="76" y="23"/>
                    <a:pt x="75" y="22"/>
                  </a:cubicBezTo>
                  <a:cubicBezTo>
                    <a:pt x="75" y="22"/>
                    <a:pt x="74" y="21"/>
                    <a:pt x="72" y="21"/>
                  </a:cubicBezTo>
                  <a:cubicBezTo>
                    <a:pt x="72" y="21"/>
                    <a:pt x="71" y="21"/>
                    <a:pt x="70" y="22"/>
                  </a:cubicBezTo>
                  <a:cubicBezTo>
                    <a:pt x="72" y="20"/>
                    <a:pt x="71" y="19"/>
                    <a:pt x="70" y="17"/>
                  </a:cubicBezTo>
                  <a:cubicBezTo>
                    <a:pt x="72" y="15"/>
                    <a:pt x="81" y="13"/>
                    <a:pt x="77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8" y="11"/>
                    <a:pt x="78" y="11"/>
                    <a:pt x="79" y="11"/>
                  </a:cubicBezTo>
                  <a:cubicBezTo>
                    <a:pt x="81" y="11"/>
                    <a:pt x="83" y="11"/>
                    <a:pt x="84" y="10"/>
                  </a:cubicBezTo>
                  <a:cubicBezTo>
                    <a:pt x="82" y="10"/>
                    <a:pt x="81" y="10"/>
                    <a:pt x="81" y="9"/>
                  </a:cubicBezTo>
                  <a:cubicBezTo>
                    <a:pt x="86" y="9"/>
                    <a:pt x="91" y="9"/>
                    <a:pt x="93" y="5"/>
                  </a:cubicBezTo>
                  <a:cubicBezTo>
                    <a:pt x="93" y="4"/>
                    <a:pt x="94" y="4"/>
                    <a:pt x="95" y="4"/>
                  </a:cubicBezTo>
                  <a:cubicBezTo>
                    <a:pt x="95" y="4"/>
                    <a:pt x="96" y="4"/>
                    <a:pt x="96" y="4"/>
                  </a:cubicBezTo>
                  <a:cubicBezTo>
                    <a:pt x="96" y="4"/>
                    <a:pt x="97" y="4"/>
                    <a:pt x="97" y="4"/>
                  </a:cubicBezTo>
                  <a:cubicBezTo>
                    <a:pt x="98" y="4"/>
                    <a:pt x="98" y="4"/>
                    <a:pt x="99" y="3"/>
                  </a:cubicBezTo>
                  <a:cubicBezTo>
                    <a:pt x="101" y="4"/>
                    <a:pt x="102" y="5"/>
                    <a:pt x="102" y="7"/>
                  </a:cubicBezTo>
                  <a:cubicBezTo>
                    <a:pt x="103" y="8"/>
                    <a:pt x="105" y="8"/>
                    <a:pt x="107" y="8"/>
                  </a:cubicBezTo>
                  <a:cubicBezTo>
                    <a:pt x="107" y="8"/>
                    <a:pt x="108" y="8"/>
                    <a:pt x="108" y="8"/>
                  </a:cubicBezTo>
                  <a:cubicBezTo>
                    <a:pt x="108" y="4"/>
                    <a:pt x="101" y="4"/>
                    <a:pt x="103" y="1"/>
                  </a:cubicBezTo>
                  <a:cubicBezTo>
                    <a:pt x="101" y="1"/>
                    <a:pt x="100" y="2"/>
                    <a:pt x="99" y="2"/>
                  </a:cubicBezTo>
                  <a:cubicBezTo>
                    <a:pt x="98" y="2"/>
                    <a:pt x="98" y="2"/>
                    <a:pt x="97" y="1"/>
                  </a:cubicBezTo>
                  <a:cubicBezTo>
                    <a:pt x="97" y="0"/>
                    <a:pt x="98" y="1"/>
                    <a:pt x="99" y="0"/>
                  </a:cubicBezTo>
                  <a:cubicBezTo>
                    <a:pt x="98" y="0"/>
                    <a:pt x="98" y="0"/>
                    <a:pt x="9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9" name="Freeform 24"/>
            <p:cNvSpPr/>
            <p:nvPr/>
          </p:nvSpPr>
          <p:spPr bwMode="auto">
            <a:xfrm>
              <a:off x="3082130" y="2843213"/>
              <a:ext cx="49213" cy="47625"/>
            </a:xfrm>
            <a:custGeom>
              <a:avLst/>
              <a:gdLst>
                <a:gd name="T0" fmla="*/ 2 w 7"/>
                <a:gd name="T1" fmla="*/ 0 h 7"/>
                <a:gd name="T2" fmla="*/ 0 w 7"/>
                <a:gd name="T3" fmla="*/ 4 h 7"/>
                <a:gd name="T4" fmla="*/ 0 w 7"/>
                <a:gd name="T5" fmla="*/ 4 h 7"/>
                <a:gd name="T6" fmla="*/ 1 w 7"/>
                <a:gd name="T7" fmla="*/ 5 h 7"/>
                <a:gd name="T8" fmla="*/ 2 w 7"/>
                <a:gd name="T9" fmla="*/ 7 h 7"/>
                <a:gd name="T10" fmla="*/ 3 w 7"/>
                <a:gd name="T11" fmla="*/ 6 h 7"/>
                <a:gd name="T12" fmla="*/ 3 w 7"/>
                <a:gd name="T13" fmla="*/ 4 h 7"/>
                <a:gd name="T14" fmla="*/ 5 w 7"/>
                <a:gd name="T15" fmla="*/ 5 h 7"/>
                <a:gd name="T16" fmla="*/ 6 w 7"/>
                <a:gd name="T17" fmla="*/ 5 h 7"/>
                <a:gd name="T18" fmla="*/ 6 w 7"/>
                <a:gd name="T19" fmla="*/ 5 h 7"/>
                <a:gd name="T20" fmla="*/ 2 w 7"/>
                <a:gd name="T21" fmla="*/ 1 h 7"/>
                <a:gd name="T22" fmla="*/ 2 w 7"/>
                <a:gd name="T23" fmla="*/ 1 h 7"/>
                <a:gd name="T24" fmla="*/ 2 w 7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1" y="5"/>
                    <a:pt x="1" y="5"/>
                  </a:cubicBezTo>
                  <a:cubicBezTo>
                    <a:pt x="1" y="6"/>
                    <a:pt x="2" y="7"/>
                    <a:pt x="2" y="7"/>
                  </a:cubicBezTo>
                  <a:cubicBezTo>
                    <a:pt x="3" y="7"/>
                    <a:pt x="3" y="6"/>
                    <a:pt x="3" y="6"/>
                  </a:cubicBezTo>
                  <a:cubicBezTo>
                    <a:pt x="2" y="5"/>
                    <a:pt x="2" y="4"/>
                    <a:pt x="3" y="4"/>
                  </a:cubicBezTo>
                  <a:cubicBezTo>
                    <a:pt x="3" y="4"/>
                    <a:pt x="4" y="5"/>
                    <a:pt x="5" y="5"/>
                  </a:cubicBezTo>
                  <a:cubicBezTo>
                    <a:pt x="5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7" y="2"/>
                    <a:pt x="4" y="2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0" name="Freeform 25"/>
            <p:cNvSpPr/>
            <p:nvPr/>
          </p:nvSpPr>
          <p:spPr bwMode="auto">
            <a:xfrm>
              <a:off x="2801143" y="2781301"/>
              <a:ext cx="123825" cy="47625"/>
            </a:xfrm>
            <a:custGeom>
              <a:avLst/>
              <a:gdLst>
                <a:gd name="T0" fmla="*/ 5 w 18"/>
                <a:gd name="T1" fmla="*/ 0 h 7"/>
                <a:gd name="T2" fmla="*/ 3 w 18"/>
                <a:gd name="T3" fmla="*/ 1 h 7"/>
                <a:gd name="T4" fmla="*/ 0 w 18"/>
                <a:gd name="T5" fmla="*/ 4 h 7"/>
                <a:gd name="T6" fmla="*/ 1 w 18"/>
                <a:gd name="T7" fmla="*/ 4 h 7"/>
                <a:gd name="T8" fmla="*/ 4 w 18"/>
                <a:gd name="T9" fmla="*/ 3 h 7"/>
                <a:gd name="T10" fmla="*/ 7 w 18"/>
                <a:gd name="T11" fmla="*/ 2 h 7"/>
                <a:gd name="T12" fmla="*/ 9 w 18"/>
                <a:gd name="T13" fmla="*/ 3 h 7"/>
                <a:gd name="T14" fmla="*/ 7 w 18"/>
                <a:gd name="T15" fmla="*/ 3 h 7"/>
                <a:gd name="T16" fmla="*/ 7 w 18"/>
                <a:gd name="T17" fmla="*/ 5 h 7"/>
                <a:gd name="T18" fmla="*/ 5 w 18"/>
                <a:gd name="T19" fmla="*/ 5 h 7"/>
                <a:gd name="T20" fmla="*/ 5 w 18"/>
                <a:gd name="T21" fmla="*/ 6 h 7"/>
                <a:gd name="T22" fmla="*/ 8 w 18"/>
                <a:gd name="T23" fmla="*/ 7 h 7"/>
                <a:gd name="T24" fmla="*/ 18 w 18"/>
                <a:gd name="T25" fmla="*/ 5 h 7"/>
                <a:gd name="T26" fmla="*/ 18 w 18"/>
                <a:gd name="T27" fmla="*/ 5 h 7"/>
                <a:gd name="T28" fmla="*/ 18 w 18"/>
                <a:gd name="T29" fmla="*/ 2 h 7"/>
                <a:gd name="T30" fmla="*/ 14 w 18"/>
                <a:gd name="T31" fmla="*/ 3 h 7"/>
                <a:gd name="T32" fmla="*/ 10 w 18"/>
                <a:gd name="T33" fmla="*/ 3 h 7"/>
                <a:gd name="T34" fmla="*/ 10 w 18"/>
                <a:gd name="T35" fmla="*/ 1 h 7"/>
                <a:gd name="T36" fmla="*/ 8 w 18"/>
                <a:gd name="T37" fmla="*/ 1 h 7"/>
                <a:gd name="T38" fmla="*/ 7 w 18"/>
                <a:gd name="T39" fmla="*/ 1 h 7"/>
                <a:gd name="T40" fmla="*/ 5 w 18"/>
                <a:gd name="T4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" h="7">
                  <a:moveTo>
                    <a:pt x="5" y="0"/>
                  </a:moveTo>
                  <a:cubicBezTo>
                    <a:pt x="4" y="0"/>
                    <a:pt x="4" y="0"/>
                    <a:pt x="3" y="1"/>
                  </a:cubicBezTo>
                  <a:cubicBezTo>
                    <a:pt x="3" y="3"/>
                    <a:pt x="0" y="2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3"/>
                    <a:pt x="4" y="3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8" y="2"/>
                    <a:pt x="8" y="2"/>
                    <a:pt x="9" y="3"/>
                  </a:cubicBezTo>
                  <a:cubicBezTo>
                    <a:pt x="8" y="3"/>
                    <a:pt x="7" y="2"/>
                    <a:pt x="7" y="3"/>
                  </a:cubicBezTo>
                  <a:cubicBezTo>
                    <a:pt x="4" y="4"/>
                    <a:pt x="9" y="3"/>
                    <a:pt x="7" y="5"/>
                  </a:cubicBezTo>
                  <a:cubicBezTo>
                    <a:pt x="7" y="5"/>
                    <a:pt x="6" y="5"/>
                    <a:pt x="5" y="5"/>
                  </a:cubicBezTo>
                  <a:cubicBezTo>
                    <a:pt x="4" y="5"/>
                    <a:pt x="4" y="5"/>
                    <a:pt x="5" y="6"/>
                  </a:cubicBezTo>
                  <a:cubicBezTo>
                    <a:pt x="5" y="7"/>
                    <a:pt x="7" y="7"/>
                    <a:pt x="8" y="7"/>
                  </a:cubicBezTo>
                  <a:cubicBezTo>
                    <a:pt x="12" y="7"/>
                    <a:pt x="16" y="6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5" y="5"/>
                    <a:pt x="18" y="4"/>
                    <a:pt x="18" y="2"/>
                  </a:cubicBezTo>
                  <a:cubicBezTo>
                    <a:pt x="16" y="3"/>
                    <a:pt x="15" y="3"/>
                    <a:pt x="14" y="3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10" y="1"/>
                    <a:pt x="9" y="2"/>
                    <a:pt x="10" y="1"/>
                  </a:cubicBezTo>
                  <a:cubicBezTo>
                    <a:pt x="9" y="1"/>
                    <a:pt x="9" y="1"/>
                    <a:pt x="8" y="1"/>
                  </a:cubicBezTo>
                  <a:cubicBezTo>
                    <a:pt x="8" y="1"/>
                    <a:pt x="7" y="1"/>
                    <a:pt x="7" y="1"/>
                  </a:cubicBezTo>
                  <a:cubicBezTo>
                    <a:pt x="6" y="1"/>
                    <a:pt x="5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1" name="Rectangle 26"/>
            <p:cNvSpPr>
              <a:spLocks noChangeArrowheads="1"/>
            </p:cNvSpPr>
            <p:nvPr/>
          </p:nvSpPr>
          <p:spPr bwMode="auto">
            <a:xfrm>
              <a:off x="2896393" y="3076576"/>
              <a:ext cx="1588" cy="1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2" name="Freeform 27"/>
            <p:cNvSpPr/>
            <p:nvPr/>
          </p:nvSpPr>
          <p:spPr bwMode="auto">
            <a:xfrm>
              <a:off x="2896393" y="307657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3" name="Freeform 28"/>
            <p:cNvSpPr/>
            <p:nvPr/>
          </p:nvSpPr>
          <p:spPr bwMode="auto">
            <a:xfrm>
              <a:off x="2855118" y="3243263"/>
              <a:ext cx="0" cy="12700"/>
            </a:xfrm>
            <a:custGeom>
              <a:avLst/>
              <a:gdLst>
                <a:gd name="T0" fmla="*/ 0 h 2"/>
                <a:gd name="T1" fmla="*/ 2 h 2"/>
                <a:gd name="T2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cubicBezTo>
                    <a:pt x="0" y="1"/>
                    <a:pt x="0" y="1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4" name="Freeform 29"/>
            <p:cNvSpPr/>
            <p:nvPr/>
          </p:nvSpPr>
          <p:spPr bwMode="auto">
            <a:xfrm>
              <a:off x="2986880" y="2863851"/>
              <a:ext cx="20638" cy="14288"/>
            </a:xfrm>
            <a:custGeom>
              <a:avLst/>
              <a:gdLst>
                <a:gd name="T0" fmla="*/ 2 w 3"/>
                <a:gd name="T1" fmla="*/ 0 h 2"/>
                <a:gd name="T2" fmla="*/ 0 w 3"/>
                <a:gd name="T3" fmla="*/ 2 h 2"/>
                <a:gd name="T4" fmla="*/ 3 w 3"/>
                <a:gd name="T5" fmla="*/ 0 h 2"/>
                <a:gd name="T6" fmla="*/ 2 w 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cubicBezTo>
                    <a:pt x="1" y="0"/>
                    <a:pt x="0" y="0"/>
                    <a:pt x="0" y="2"/>
                  </a:cubicBezTo>
                  <a:cubicBezTo>
                    <a:pt x="2" y="2"/>
                    <a:pt x="2" y="1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5" name="Freeform 30"/>
            <p:cNvSpPr/>
            <p:nvPr/>
          </p:nvSpPr>
          <p:spPr bwMode="auto">
            <a:xfrm>
              <a:off x="3536155" y="2932113"/>
              <a:ext cx="47625" cy="69850"/>
            </a:xfrm>
            <a:custGeom>
              <a:avLst/>
              <a:gdLst>
                <a:gd name="T0" fmla="*/ 3 w 7"/>
                <a:gd name="T1" fmla="*/ 0 h 10"/>
                <a:gd name="T2" fmla="*/ 1 w 7"/>
                <a:gd name="T3" fmla="*/ 0 h 10"/>
                <a:gd name="T4" fmla="*/ 1 w 7"/>
                <a:gd name="T5" fmla="*/ 4 h 10"/>
                <a:gd name="T6" fmla="*/ 3 w 7"/>
                <a:gd name="T7" fmla="*/ 4 h 10"/>
                <a:gd name="T8" fmla="*/ 1 w 7"/>
                <a:gd name="T9" fmla="*/ 8 h 10"/>
                <a:gd name="T10" fmla="*/ 3 w 7"/>
                <a:gd name="T11" fmla="*/ 9 h 10"/>
                <a:gd name="T12" fmla="*/ 2 w 7"/>
                <a:gd name="T13" fmla="*/ 10 h 10"/>
                <a:gd name="T14" fmla="*/ 3 w 7"/>
                <a:gd name="T15" fmla="*/ 10 h 10"/>
                <a:gd name="T16" fmla="*/ 4 w 7"/>
                <a:gd name="T17" fmla="*/ 10 h 10"/>
                <a:gd name="T18" fmla="*/ 5 w 7"/>
                <a:gd name="T19" fmla="*/ 10 h 10"/>
                <a:gd name="T20" fmla="*/ 6 w 7"/>
                <a:gd name="T21" fmla="*/ 9 h 10"/>
                <a:gd name="T22" fmla="*/ 7 w 7"/>
                <a:gd name="T23" fmla="*/ 7 h 10"/>
                <a:gd name="T24" fmla="*/ 3 w 7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" h="10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0" y="2"/>
                    <a:pt x="2" y="2"/>
                    <a:pt x="1" y="4"/>
                  </a:cubicBezTo>
                  <a:cubicBezTo>
                    <a:pt x="1" y="4"/>
                    <a:pt x="3" y="3"/>
                    <a:pt x="3" y="4"/>
                  </a:cubicBezTo>
                  <a:cubicBezTo>
                    <a:pt x="3" y="7"/>
                    <a:pt x="1" y="6"/>
                    <a:pt x="1" y="8"/>
                  </a:cubicBezTo>
                  <a:cubicBezTo>
                    <a:pt x="1" y="8"/>
                    <a:pt x="3" y="8"/>
                    <a:pt x="3" y="9"/>
                  </a:cubicBezTo>
                  <a:cubicBezTo>
                    <a:pt x="2" y="9"/>
                    <a:pt x="2" y="9"/>
                    <a:pt x="2" y="10"/>
                  </a:cubicBezTo>
                  <a:cubicBezTo>
                    <a:pt x="2" y="10"/>
                    <a:pt x="2" y="10"/>
                    <a:pt x="3" y="10"/>
                  </a:cubicBezTo>
                  <a:cubicBezTo>
                    <a:pt x="3" y="10"/>
                    <a:pt x="3" y="10"/>
                    <a:pt x="4" y="10"/>
                  </a:cubicBezTo>
                  <a:cubicBezTo>
                    <a:pt x="4" y="10"/>
                    <a:pt x="5" y="10"/>
                    <a:pt x="5" y="10"/>
                  </a:cubicBezTo>
                  <a:cubicBezTo>
                    <a:pt x="6" y="10"/>
                    <a:pt x="6" y="10"/>
                    <a:pt x="6" y="9"/>
                  </a:cubicBezTo>
                  <a:cubicBezTo>
                    <a:pt x="4" y="9"/>
                    <a:pt x="7" y="8"/>
                    <a:pt x="7" y="7"/>
                  </a:cubicBezTo>
                  <a:cubicBezTo>
                    <a:pt x="5" y="4"/>
                    <a:pt x="1" y="3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6" name="Freeform 31"/>
            <p:cNvSpPr/>
            <p:nvPr/>
          </p:nvSpPr>
          <p:spPr bwMode="auto">
            <a:xfrm>
              <a:off x="3110705" y="3001963"/>
              <a:ext cx="33338" cy="26988"/>
            </a:xfrm>
            <a:custGeom>
              <a:avLst/>
              <a:gdLst>
                <a:gd name="T0" fmla="*/ 2 w 5"/>
                <a:gd name="T1" fmla="*/ 0 h 4"/>
                <a:gd name="T2" fmla="*/ 0 w 5"/>
                <a:gd name="T3" fmla="*/ 4 h 4"/>
                <a:gd name="T4" fmla="*/ 4 w 5"/>
                <a:gd name="T5" fmla="*/ 4 h 4"/>
                <a:gd name="T6" fmla="*/ 2 w 5"/>
                <a:gd name="T7" fmla="*/ 0 h 4"/>
                <a:gd name="T8" fmla="*/ 2 w 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4">
                  <a:moveTo>
                    <a:pt x="2" y="0"/>
                  </a:moveTo>
                  <a:cubicBezTo>
                    <a:pt x="2" y="1"/>
                    <a:pt x="1" y="2"/>
                    <a:pt x="0" y="4"/>
                  </a:cubicBezTo>
                  <a:cubicBezTo>
                    <a:pt x="1" y="4"/>
                    <a:pt x="3" y="4"/>
                    <a:pt x="4" y="4"/>
                  </a:cubicBezTo>
                  <a:cubicBezTo>
                    <a:pt x="5" y="1"/>
                    <a:pt x="2" y="3"/>
                    <a:pt x="2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7" name="Freeform 32"/>
            <p:cNvSpPr/>
            <p:nvPr/>
          </p:nvSpPr>
          <p:spPr bwMode="auto">
            <a:xfrm>
              <a:off x="4688680" y="3105151"/>
              <a:ext cx="69850" cy="61913"/>
            </a:xfrm>
            <a:custGeom>
              <a:avLst/>
              <a:gdLst>
                <a:gd name="T0" fmla="*/ 6 w 10"/>
                <a:gd name="T1" fmla="*/ 0 h 9"/>
                <a:gd name="T2" fmla="*/ 7 w 10"/>
                <a:gd name="T3" fmla="*/ 4 h 9"/>
                <a:gd name="T4" fmla="*/ 5 w 10"/>
                <a:gd name="T5" fmla="*/ 6 h 9"/>
                <a:gd name="T6" fmla="*/ 4 w 10"/>
                <a:gd name="T7" fmla="*/ 7 h 9"/>
                <a:gd name="T8" fmla="*/ 4 w 10"/>
                <a:gd name="T9" fmla="*/ 7 h 9"/>
                <a:gd name="T10" fmla="*/ 3 w 10"/>
                <a:gd name="T11" fmla="*/ 7 h 9"/>
                <a:gd name="T12" fmla="*/ 2 w 10"/>
                <a:gd name="T13" fmla="*/ 7 h 9"/>
                <a:gd name="T14" fmla="*/ 0 w 10"/>
                <a:gd name="T15" fmla="*/ 8 h 9"/>
                <a:gd name="T16" fmla="*/ 1 w 10"/>
                <a:gd name="T17" fmla="*/ 8 h 9"/>
                <a:gd name="T18" fmla="*/ 2 w 10"/>
                <a:gd name="T19" fmla="*/ 8 h 9"/>
                <a:gd name="T20" fmla="*/ 3 w 10"/>
                <a:gd name="T21" fmla="*/ 8 h 9"/>
                <a:gd name="T22" fmla="*/ 5 w 10"/>
                <a:gd name="T23" fmla="*/ 8 h 9"/>
                <a:gd name="T24" fmla="*/ 5 w 10"/>
                <a:gd name="T25" fmla="*/ 9 h 9"/>
                <a:gd name="T26" fmla="*/ 9 w 10"/>
                <a:gd name="T27" fmla="*/ 7 h 9"/>
                <a:gd name="T28" fmla="*/ 6 w 10"/>
                <a:gd name="T2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" h="9">
                  <a:moveTo>
                    <a:pt x="6" y="0"/>
                  </a:moveTo>
                  <a:cubicBezTo>
                    <a:pt x="6" y="1"/>
                    <a:pt x="7" y="2"/>
                    <a:pt x="7" y="4"/>
                  </a:cubicBezTo>
                  <a:cubicBezTo>
                    <a:pt x="6" y="4"/>
                    <a:pt x="6" y="5"/>
                    <a:pt x="5" y="6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3" y="7"/>
                  </a:cubicBezTo>
                  <a:cubicBezTo>
                    <a:pt x="3" y="7"/>
                    <a:pt x="3" y="7"/>
                    <a:pt x="2" y="7"/>
                  </a:cubicBezTo>
                  <a:cubicBezTo>
                    <a:pt x="1" y="7"/>
                    <a:pt x="0" y="7"/>
                    <a:pt x="0" y="8"/>
                  </a:cubicBezTo>
                  <a:cubicBezTo>
                    <a:pt x="0" y="8"/>
                    <a:pt x="0" y="8"/>
                    <a:pt x="1" y="8"/>
                  </a:cubicBezTo>
                  <a:cubicBezTo>
                    <a:pt x="1" y="8"/>
                    <a:pt x="2" y="8"/>
                    <a:pt x="2" y="8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4" y="8"/>
                    <a:pt x="4" y="8"/>
                    <a:pt x="5" y="8"/>
                  </a:cubicBezTo>
                  <a:cubicBezTo>
                    <a:pt x="5" y="9"/>
                    <a:pt x="5" y="9"/>
                    <a:pt x="5" y="9"/>
                  </a:cubicBezTo>
                  <a:cubicBezTo>
                    <a:pt x="6" y="9"/>
                    <a:pt x="7" y="7"/>
                    <a:pt x="9" y="7"/>
                  </a:cubicBezTo>
                  <a:cubicBezTo>
                    <a:pt x="8" y="3"/>
                    <a:pt x="10" y="1"/>
                    <a:pt x="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8" name="Freeform 33"/>
            <p:cNvSpPr>
              <a:spLocks noEditPoints="1"/>
            </p:cNvSpPr>
            <p:nvPr/>
          </p:nvSpPr>
          <p:spPr bwMode="auto">
            <a:xfrm>
              <a:off x="3405980" y="3140076"/>
              <a:ext cx="611188" cy="730250"/>
            </a:xfrm>
            <a:custGeom>
              <a:avLst/>
              <a:gdLst>
                <a:gd name="T0" fmla="*/ 54 w 89"/>
                <a:gd name="T1" fmla="*/ 73 h 106"/>
                <a:gd name="T2" fmla="*/ 56 w 89"/>
                <a:gd name="T3" fmla="*/ 71 h 106"/>
                <a:gd name="T4" fmla="*/ 58 w 89"/>
                <a:gd name="T5" fmla="*/ 72 h 106"/>
                <a:gd name="T6" fmla="*/ 54 w 89"/>
                <a:gd name="T7" fmla="*/ 73 h 106"/>
                <a:gd name="T8" fmla="*/ 41 w 89"/>
                <a:gd name="T9" fmla="*/ 64 h 106"/>
                <a:gd name="T10" fmla="*/ 42 w 89"/>
                <a:gd name="T11" fmla="*/ 64 h 106"/>
                <a:gd name="T12" fmla="*/ 41 w 89"/>
                <a:gd name="T13" fmla="*/ 64 h 106"/>
                <a:gd name="T14" fmla="*/ 42 w 89"/>
                <a:gd name="T15" fmla="*/ 64 h 106"/>
                <a:gd name="T16" fmla="*/ 40 w 89"/>
                <a:gd name="T17" fmla="*/ 64 h 106"/>
                <a:gd name="T18" fmla="*/ 40 w 89"/>
                <a:gd name="T19" fmla="*/ 64 h 106"/>
                <a:gd name="T20" fmla="*/ 42 w 89"/>
                <a:gd name="T21" fmla="*/ 64 h 106"/>
                <a:gd name="T22" fmla="*/ 42 w 89"/>
                <a:gd name="T23" fmla="*/ 63 h 106"/>
                <a:gd name="T24" fmla="*/ 63 w 89"/>
                <a:gd name="T25" fmla="*/ 58 h 106"/>
                <a:gd name="T26" fmla="*/ 65 w 89"/>
                <a:gd name="T27" fmla="*/ 69 h 106"/>
                <a:gd name="T28" fmla="*/ 60 w 89"/>
                <a:gd name="T29" fmla="*/ 58 h 106"/>
                <a:gd name="T30" fmla="*/ 68 w 89"/>
                <a:gd name="T31" fmla="*/ 49 h 106"/>
                <a:gd name="T32" fmla="*/ 64 w 89"/>
                <a:gd name="T33" fmla="*/ 56 h 106"/>
                <a:gd name="T34" fmla="*/ 66 w 89"/>
                <a:gd name="T35" fmla="*/ 49 h 106"/>
                <a:gd name="T36" fmla="*/ 33 w 89"/>
                <a:gd name="T37" fmla="*/ 4 h 106"/>
                <a:gd name="T38" fmla="*/ 22 w 89"/>
                <a:gd name="T39" fmla="*/ 3 h 106"/>
                <a:gd name="T40" fmla="*/ 8 w 89"/>
                <a:gd name="T41" fmla="*/ 13 h 106"/>
                <a:gd name="T42" fmla="*/ 5 w 89"/>
                <a:gd name="T43" fmla="*/ 23 h 106"/>
                <a:gd name="T44" fmla="*/ 4 w 89"/>
                <a:gd name="T45" fmla="*/ 24 h 106"/>
                <a:gd name="T46" fmla="*/ 3 w 89"/>
                <a:gd name="T47" fmla="*/ 30 h 106"/>
                <a:gd name="T48" fmla="*/ 1 w 89"/>
                <a:gd name="T49" fmla="*/ 30 h 106"/>
                <a:gd name="T50" fmla="*/ 2 w 89"/>
                <a:gd name="T51" fmla="*/ 36 h 106"/>
                <a:gd name="T52" fmla="*/ 5 w 89"/>
                <a:gd name="T53" fmla="*/ 37 h 106"/>
                <a:gd name="T54" fmla="*/ 6 w 89"/>
                <a:gd name="T55" fmla="*/ 40 h 106"/>
                <a:gd name="T56" fmla="*/ 8 w 89"/>
                <a:gd name="T57" fmla="*/ 45 h 106"/>
                <a:gd name="T58" fmla="*/ 19 w 89"/>
                <a:gd name="T59" fmla="*/ 46 h 106"/>
                <a:gd name="T60" fmla="*/ 22 w 89"/>
                <a:gd name="T61" fmla="*/ 47 h 106"/>
                <a:gd name="T62" fmla="*/ 26 w 89"/>
                <a:gd name="T63" fmla="*/ 43 h 106"/>
                <a:gd name="T64" fmla="*/ 35 w 89"/>
                <a:gd name="T65" fmla="*/ 46 h 106"/>
                <a:gd name="T66" fmla="*/ 37 w 89"/>
                <a:gd name="T67" fmla="*/ 52 h 106"/>
                <a:gd name="T68" fmla="*/ 37 w 89"/>
                <a:gd name="T69" fmla="*/ 54 h 106"/>
                <a:gd name="T70" fmla="*/ 39 w 89"/>
                <a:gd name="T71" fmla="*/ 80 h 106"/>
                <a:gd name="T72" fmla="*/ 45 w 89"/>
                <a:gd name="T73" fmla="*/ 97 h 106"/>
                <a:gd name="T74" fmla="*/ 63 w 89"/>
                <a:gd name="T75" fmla="*/ 95 h 106"/>
                <a:gd name="T76" fmla="*/ 65 w 89"/>
                <a:gd name="T77" fmla="*/ 93 h 106"/>
                <a:gd name="T78" fmla="*/ 75 w 89"/>
                <a:gd name="T79" fmla="*/ 72 h 106"/>
                <a:gd name="T80" fmla="*/ 73 w 89"/>
                <a:gd name="T81" fmla="*/ 72 h 106"/>
                <a:gd name="T82" fmla="*/ 77 w 89"/>
                <a:gd name="T83" fmla="*/ 56 h 106"/>
                <a:gd name="T84" fmla="*/ 81 w 89"/>
                <a:gd name="T85" fmla="*/ 40 h 106"/>
                <a:gd name="T86" fmla="*/ 79 w 89"/>
                <a:gd name="T87" fmla="*/ 37 h 106"/>
                <a:gd name="T88" fmla="*/ 74 w 89"/>
                <a:gd name="T89" fmla="*/ 32 h 106"/>
                <a:gd name="T90" fmla="*/ 71 w 89"/>
                <a:gd name="T91" fmla="*/ 30 h 106"/>
                <a:gd name="T92" fmla="*/ 65 w 89"/>
                <a:gd name="T93" fmla="*/ 12 h 106"/>
                <a:gd name="T94" fmla="*/ 63 w 89"/>
                <a:gd name="T95" fmla="*/ 9 h 106"/>
                <a:gd name="T96" fmla="*/ 54 w 89"/>
                <a:gd name="T97" fmla="*/ 8 h 106"/>
                <a:gd name="T98" fmla="*/ 50 w 89"/>
                <a:gd name="T99" fmla="*/ 6 h 106"/>
                <a:gd name="T100" fmla="*/ 37 w 89"/>
                <a:gd name="T101" fmla="*/ 0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106">
                  <a:moveTo>
                    <a:pt x="64" y="95"/>
                  </a:moveTo>
                  <a:cubicBezTo>
                    <a:pt x="64" y="95"/>
                    <a:pt x="64" y="95"/>
                    <a:pt x="64" y="95"/>
                  </a:cubicBezTo>
                  <a:cubicBezTo>
                    <a:pt x="64" y="95"/>
                    <a:pt x="64" y="95"/>
                    <a:pt x="64" y="95"/>
                  </a:cubicBezTo>
                  <a:moveTo>
                    <a:pt x="54" y="73"/>
                  </a:moveTo>
                  <a:cubicBezTo>
                    <a:pt x="54" y="73"/>
                    <a:pt x="54" y="72"/>
                    <a:pt x="54" y="72"/>
                  </a:cubicBezTo>
                  <a:cubicBezTo>
                    <a:pt x="54" y="71"/>
                    <a:pt x="54" y="71"/>
                    <a:pt x="54" y="70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55" y="70"/>
                    <a:pt x="55" y="71"/>
                    <a:pt x="56" y="71"/>
                  </a:cubicBezTo>
                  <a:cubicBezTo>
                    <a:pt x="56" y="72"/>
                    <a:pt x="57" y="72"/>
                    <a:pt x="57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2"/>
                    <a:pt x="58" y="72"/>
                  </a:cubicBezTo>
                  <a:cubicBezTo>
                    <a:pt x="58" y="72"/>
                    <a:pt x="58" y="73"/>
                    <a:pt x="58" y="73"/>
                  </a:cubicBezTo>
                  <a:cubicBezTo>
                    <a:pt x="57" y="73"/>
                    <a:pt x="56" y="72"/>
                    <a:pt x="55" y="72"/>
                  </a:cubicBezTo>
                  <a:cubicBezTo>
                    <a:pt x="54" y="72"/>
                    <a:pt x="54" y="72"/>
                    <a:pt x="54" y="73"/>
                  </a:cubicBezTo>
                  <a:cubicBezTo>
                    <a:pt x="54" y="73"/>
                    <a:pt x="54" y="73"/>
                    <a:pt x="54" y="73"/>
                  </a:cubicBezTo>
                  <a:moveTo>
                    <a:pt x="41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1" y="64"/>
                  </a:moveTo>
                  <a:cubicBezTo>
                    <a:pt x="41" y="64"/>
                    <a:pt x="41" y="64"/>
                    <a:pt x="41" y="64"/>
                  </a:cubicBezTo>
                  <a:cubicBezTo>
                    <a:pt x="41" y="64"/>
                    <a:pt x="41" y="64"/>
                    <a:pt x="41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0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0" y="64"/>
                    <a:pt x="40" y="64"/>
                    <a:pt x="40" y="64"/>
                  </a:cubicBezTo>
                  <a:moveTo>
                    <a:pt x="42" y="64"/>
                  </a:moveTo>
                  <a:cubicBezTo>
                    <a:pt x="42" y="64"/>
                    <a:pt x="42" y="64"/>
                    <a:pt x="42" y="64"/>
                  </a:cubicBezTo>
                  <a:cubicBezTo>
                    <a:pt x="42" y="64"/>
                    <a:pt x="42" y="64"/>
                    <a:pt x="42" y="64"/>
                  </a:cubicBezTo>
                  <a:moveTo>
                    <a:pt x="42" y="63"/>
                  </a:moveTo>
                  <a:cubicBezTo>
                    <a:pt x="42" y="63"/>
                    <a:pt x="42" y="63"/>
                    <a:pt x="42" y="63"/>
                  </a:cubicBezTo>
                  <a:cubicBezTo>
                    <a:pt x="42" y="63"/>
                    <a:pt x="42" y="63"/>
                    <a:pt x="42" y="63"/>
                  </a:cubicBezTo>
                  <a:moveTo>
                    <a:pt x="61" y="59"/>
                  </a:moveTo>
                  <a:cubicBezTo>
                    <a:pt x="61" y="59"/>
                    <a:pt x="62" y="59"/>
                    <a:pt x="62" y="59"/>
                  </a:cubicBezTo>
                  <a:cubicBezTo>
                    <a:pt x="62" y="58"/>
                    <a:pt x="62" y="58"/>
                    <a:pt x="63" y="58"/>
                  </a:cubicBezTo>
                  <a:cubicBezTo>
                    <a:pt x="63" y="58"/>
                    <a:pt x="63" y="58"/>
                    <a:pt x="63" y="58"/>
                  </a:cubicBezTo>
                  <a:cubicBezTo>
                    <a:pt x="63" y="59"/>
                    <a:pt x="63" y="59"/>
                    <a:pt x="64" y="60"/>
                  </a:cubicBezTo>
                  <a:cubicBezTo>
                    <a:pt x="60" y="62"/>
                    <a:pt x="62" y="67"/>
                    <a:pt x="65" y="68"/>
                  </a:cubicBezTo>
                  <a:cubicBezTo>
                    <a:pt x="65" y="69"/>
                    <a:pt x="65" y="69"/>
                    <a:pt x="65" y="69"/>
                  </a:cubicBezTo>
                  <a:cubicBezTo>
                    <a:pt x="64" y="69"/>
                    <a:pt x="63" y="68"/>
                    <a:pt x="61" y="68"/>
                  </a:cubicBezTo>
                  <a:cubicBezTo>
                    <a:pt x="61" y="68"/>
                    <a:pt x="61" y="68"/>
                    <a:pt x="61" y="68"/>
                  </a:cubicBezTo>
                  <a:cubicBezTo>
                    <a:pt x="60" y="68"/>
                    <a:pt x="60" y="67"/>
                    <a:pt x="60" y="67"/>
                  </a:cubicBezTo>
                  <a:cubicBezTo>
                    <a:pt x="63" y="66"/>
                    <a:pt x="59" y="62"/>
                    <a:pt x="60" y="58"/>
                  </a:cubicBezTo>
                  <a:cubicBezTo>
                    <a:pt x="61" y="59"/>
                    <a:pt x="61" y="59"/>
                    <a:pt x="61" y="59"/>
                  </a:cubicBezTo>
                  <a:moveTo>
                    <a:pt x="66" y="49"/>
                  </a:moveTo>
                  <a:cubicBezTo>
                    <a:pt x="67" y="49"/>
                    <a:pt x="67" y="48"/>
                    <a:pt x="68" y="48"/>
                  </a:cubicBezTo>
                  <a:cubicBezTo>
                    <a:pt x="68" y="49"/>
                    <a:pt x="68" y="49"/>
                    <a:pt x="68" y="49"/>
                  </a:cubicBezTo>
                  <a:cubicBezTo>
                    <a:pt x="70" y="53"/>
                    <a:pt x="66" y="54"/>
                    <a:pt x="69" y="57"/>
                  </a:cubicBezTo>
                  <a:cubicBezTo>
                    <a:pt x="68" y="58"/>
                    <a:pt x="66" y="58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5" y="59"/>
                    <a:pt x="64" y="58"/>
                    <a:pt x="64" y="56"/>
                  </a:cubicBezTo>
                  <a:cubicBezTo>
                    <a:pt x="65" y="54"/>
                    <a:pt x="67" y="54"/>
                    <a:pt x="68" y="53"/>
                  </a:cubicBezTo>
                  <a:cubicBezTo>
                    <a:pt x="68" y="51"/>
                    <a:pt x="68" y="50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cubicBezTo>
                    <a:pt x="66" y="49"/>
                    <a:pt x="66" y="49"/>
                    <a:pt x="66" y="49"/>
                  </a:cubicBezTo>
                  <a:moveTo>
                    <a:pt x="37" y="0"/>
                  </a:moveTo>
                  <a:cubicBezTo>
                    <a:pt x="36" y="0"/>
                    <a:pt x="35" y="0"/>
                    <a:pt x="34" y="0"/>
                  </a:cubicBezTo>
                  <a:cubicBezTo>
                    <a:pt x="34" y="1"/>
                    <a:pt x="35" y="4"/>
                    <a:pt x="33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3"/>
                    <a:pt x="33" y="2"/>
                    <a:pt x="33" y="1"/>
                  </a:cubicBezTo>
                  <a:cubicBezTo>
                    <a:pt x="32" y="0"/>
                    <a:pt x="31" y="0"/>
                    <a:pt x="30" y="0"/>
                  </a:cubicBezTo>
                  <a:cubicBezTo>
                    <a:pt x="27" y="0"/>
                    <a:pt x="23" y="1"/>
                    <a:pt x="22" y="3"/>
                  </a:cubicBezTo>
                  <a:cubicBezTo>
                    <a:pt x="21" y="3"/>
                    <a:pt x="21" y="3"/>
                    <a:pt x="20" y="3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7" y="3"/>
                    <a:pt x="16" y="2"/>
                  </a:cubicBezTo>
                  <a:cubicBezTo>
                    <a:pt x="13" y="5"/>
                    <a:pt x="12" y="10"/>
                    <a:pt x="8" y="13"/>
                  </a:cubicBezTo>
                  <a:cubicBezTo>
                    <a:pt x="8" y="13"/>
                    <a:pt x="7" y="13"/>
                    <a:pt x="7" y="14"/>
                  </a:cubicBezTo>
                  <a:cubicBezTo>
                    <a:pt x="7" y="14"/>
                    <a:pt x="7" y="14"/>
                    <a:pt x="6" y="14"/>
                  </a:cubicBezTo>
                  <a:cubicBezTo>
                    <a:pt x="5" y="17"/>
                    <a:pt x="3" y="20"/>
                    <a:pt x="1" y="23"/>
                  </a:cubicBezTo>
                  <a:cubicBezTo>
                    <a:pt x="3" y="23"/>
                    <a:pt x="4" y="23"/>
                    <a:pt x="5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4"/>
                    <a:pt x="6" y="24"/>
                    <a:pt x="5" y="24"/>
                  </a:cubicBezTo>
                  <a:cubicBezTo>
                    <a:pt x="5" y="24"/>
                    <a:pt x="4" y="24"/>
                    <a:pt x="4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6"/>
                    <a:pt x="2" y="28"/>
                    <a:pt x="2" y="30"/>
                  </a:cubicBezTo>
                  <a:cubicBezTo>
                    <a:pt x="2" y="30"/>
                    <a:pt x="3" y="30"/>
                    <a:pt x="3" y="30"/>
                  </a:cubicBezTo>
                  <a:cubicBezTo>
                    <a:pt x="5" y="30"/>
                    <a:pt x="6" y="31"/>
                    <a:pt x="6" y="32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1"/>
                    <a:pt x="4" y="30"/>
                    <a:pt x="2" y="30"/>
                  </a:cubicBezTo>
                  <a:cubicBezTo>
                    <a:pt x="2" y="30"/>
                    <a:pt x="2" y="30"/>
                    <a:pt x="1" y="30"/>
                  </a:cubicBezTo>
                  <a:cubicBezTo>
                    <a:pt x="2" y="32"/>
                    <a:pt x="0" y="32"/>
                    <a:pt x="1" y="34"/>
                  </a:cubicBezTo>
                  <a:cubicBezTo>
                    <a:pt x="1" y="34"/>
                    <a:pt x="2" y="35"/>
                    <a:pt x="2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4" y="35"/>
                    <a:pt x="2" y="35"/>
                    <a:pt x="2" y="36"/>
                  </a:cubicBezTo>
                  <a:cubicBezTo>
                    <a:pt x="3" y="36"/>
                    <a:pt x="3" y="36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4" y="37"/>
                    <a:pt x="4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8"/>
                    <a:pt x="4" y="38"/>
                  </a:cubicBezTo>
                  <a:cubicBezTo>
                    <a:pt x="4" y="38"/>
                    <a:pt x="4" y="38"/>
                    <a:pt x="3" y="38"/>
                  </a:cubicBezTo>
                  <a:cubicBezTo>
                    <a:pt x="4" y="40"/>
                    <a:pt x="4" y="40"/>
                    <a:pt x="6" y="40"/>
                  </a:cubicBezTo>
                  <a:cubicBezTo>
                    <a:pt x="6" y="40"/>
                    <a:pt x="7" y="40"/>
                    <a:pt x="8" y="40"/>
                  </a:cubicBezTo>
                  <a:cubicBezTo>
                    <a:pt x="8" y="41"/>
                    <a:pt x="10" y="41"/>
                    <a:pt x="10" y="43"/>
                  </a:cubicBezTo>
                  <a:cubicBezTo>
                    <a:pt x="10" y="43"/>
                    <a:pt x="10" y="43"/>
                    <a:pt x="10" y="43"/>
                  </a:cubicBezTo>
                  <a:cubicBezTo>
                    <a:pt x="8" y="43"/>
                    <a:pt x="8" y="44"/>
                    <a:pt x="8" y="45"/>
                  </a:cubicBezTo>
                  <a:cubicBezTo>
                    <a:pt x="10" y="47"/>
                    <a:pt x="12" y="48"/>
                    <a:pt x="13" y="48"/>
                  </a:cubicBezTo>
                  <a:cubicBezTo>
                    <a:pt x="15" y="48"/>
                    <a:pt x="16" y="47"/>
                    <a:pt x="18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6"/>
                    <a:pt x="19" y="46"/>
                    <a:pt x="19" y="46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20" y="47"/>
                    <a:pt x="20" y="47"/>
                    <a:pt x="20" y="47"/>
                  </a:cubicBezTo>
                  <a:cubicBezTo>
                    <a:pt x="21" y="47"/>
                    <a:pt x="21" y="47"/>
                    <a:pt x="22" y="47"/>
                  </a:cubicBezTo>
                  <a:cubicBezTo>
                    <a:pt x="22" y="47"/>
                    <a:pt x="22" y="47"/>
                    <a:pt x="22" y="47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23" y="46"/>
                    <a:pt x="25" y="46"/>
                    <a:pt x="25" y="45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6" y="45"/>
                    <a:pt x="26" y="44"/>
                    <a:pt x="26" y="43"/>
                  </a:cubicBezTo>
                  <a:cubicBezTo>
                    <a:pt x="26" y="42"/>
                    <a:pt x="26" y="41"/>
                    <a:pt x="26" y="41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6"/>
                    <a:pt x="31" y="44"/>
                    <a:pt x="30" y="48"/>
                  </a:cubicBezTo>
                  <a:cubicBezTo>
                    <a:pt x="32" y="48"/>
                    <a:pt x="34" y="48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9"/>
                    <a:pt x="37" y="48"/>
                    <a:pt x="36" y="52"/>
                  </a:cubicBezTo>
                  <a:cubicBezTo>
                    <a:pt x="36" y="52"/>
                    <a:pt x="37" y="52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52"/>
                    <a:pt x="37" y="52"/>
                    <a:pt x="37" y="52"/>
                  </a:cubicBezTo>
                  <a:cubicBezTo>
                    <a:pt x="37" y="52"/>
                    <a:pt x="36" y="52"/>
                    <a:pt x="36" y="53"/>
                  </a:cubicBezTo>
                  <a:cubicBezTo>
                    <a:pt x="36" y="53"/>
                    <a:pt x="37" y="53"/>
                    <a:pt x="37" y="54"/>
                  </a:cubicBezTo>
                  <a:cubicBezTo>
                    <a:pt x="33" y="54"/>
                    <a:pt x="35" y="59"/>
                    <a:pt x="37" y="60"/>
                  </a:cubicBezTo>
                  <a:cubicBezTo>
                    <a:pt x="38" y="62"/>
                    <a:pt x="39" y="63"/>
                    <a:pt x="39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2" y="69"/>
                    <a:pt x="40" y="74"/>
                    <a:pt x="39" y="80"/>
                  </a:cubicBezTo>
                  <a:cubicBezTo>
                    <a:pt x="39" y="80"/>
                    <a:pt x="40" y="80"/>
                    <a:pt x="41" y="80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0" y="81"/>
                    <a:pt x="39" y="81"/>
                    <a:pt x="38" y="81"/>
                  </a:cubicBezTo>
                  <a:cubicBezTo>
                    <a:pt x="42" y="84"/>
                    <a:pt x="41" y="95"/>
                    <a:pt x="45" y="97"/>
                  </a:cubicBezTo>
                  <a:cubicBezTo>
                    <a:pt x="44" y="97"/>
                    <a:pt x="44" y="98"/>
                    <a:pt x="45" y="98"/>
                  </a:cubicBezTo>
                  <a:cubicBezTo>
                    <a:pt x="46" y="101"/>
                    <a:pt x="45" y="105"/>
                    <a:pt x="48" y="106"/>
                  </a:cubicBezTo>
                  <a:cubicBezTo>
                    <a:pt x="55" y="106"/>
                    <a:pt x="63" y="102"/>
                    <a:pt x="64" y="95"/>
                  </a:cubicBezTo>
                  <a:cubicBezTo>
                    <a:pt x="64" y="95"/>
                    <a:pt x="63" y="95"/>
                    <a:pt x="63" y="95"/>
                  </a:cubicBezTo>
                  <a:cubicBezTo>
                    <a:pt x="63" y="95"/>
                    <a:pt x="62" y="95"/>
                    <a:pt x="62" y="95"/>
                  </a:cubicBezTo>
                  <a:cubicBezTo>
                    <a:pt x="63" y="95"/>
                    <a:pt x="64" y="95"/>
                    <a:pt x="64" y="94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5" y="92"/>
                    <a:pt x="64" y="93"/>
                    <a:pt x="65" y="93"/>
                  </a:cubicBezTo>
                  <a:cubicBezTo>
                    <a:pt x="66" y="92"/>
                    <a:pt x="67" y="92"/>
                    <a:pt x="68" y="91"/>
                  </a:cubicBezTo>
                  <a:cubicBezTo>
                    <a:pt x="68" y="88"/>
                    <a:pt x="68" y="86"/>
                    <a:pt x="67" y="84"/>
                  </a:cubicBezTo>
                  <a:cubicBezTo>
                    <a:pt x="70" y="83"/>
                    <a:pt x="72" y="80"/>
                    <a:pt x="75" y="79"/>
                  </a:cubicBezTo>
                  <a:cubicBezTo>
                    <a:pt x="75" y="76"/>
                    <a:pt x="75" y="74"/>
                    <a:pt x="75" y="72"/>
                  </a:cubicBezTo>
                  <a:cubicBezTo>
                    <a:pt x="75" y="72"/>
                    <a:pt x="75" y="72"/>
                    <a:pt x="75" y="72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3" y="72"/>
                    <a:pt x="73" y="72"/>
                    <a:pt x="73" y="72"/>
                  </a:cubicBezTo>
                  <a:cubicBezTo>
                    <a:pt x="76" y="71"/>
                    <a:pt x="73" y="66"/>
                    <a:pt x="73" y="63"/>
                  </a:cubicBezTo>
                  <a:cubicBezTo>
                    <a:pt x="74" y="63"/>
                    <a:pt x="74" y="62"/>
                    <a:pt x="75" y="60"/>
                  </a:cubicBezTo>
                  <a:cubicBezTo>
                    <a:pt x="75" y="59"/>
                    <a:pt x="75" y="58"/>
                    <a:pt x="77" y="57"/>
                  </a:cubicBezTo>
                  <a:cubicBezTo>
                    <a:pt x="77" y="57"/>
                    <a:pt x="77" y="57"/>
                    <a:pt x="77" y="56"/>
                  </a:cubicBezTo>
                  <a:cubicBezTo>
                    <a:pt x="82" y="51"/>
                    <a:pt x="88" y="47"/>
                    <a:pt x="89" y="38"/>
                  </a:cubicBezTo>
                  <a:cubicBezTo>
                    <a:pt x="89" y="38"/>
                    <a:pt x="89" y="38"/>
                    <a:pt x="89" y="38"/>
                  </a:cubicBezTo>
                  <a:cubicBezTo>
                    <a:pt x="87" y="38"/>
                    <a:pt x="86" y="38"/>
                    <a:pt x="85" y="39"/>
                  </a:cubicBezTo>
                  <a:cubicBezTo>
                    <a:pt x="83" y="39"/>
                    <a:pt x="82" y="40"/>
                    <a:pt x="81" y="40"/>
                  </a:cubicBezTo>
                  <a:cubicBezTo>
                    <a:pt x="81" y="40"/>
                    <a:pt x="80" y="40"/>
                    <a:pt x="79" y="39"/>
                  </a:cubicBezTo>
                  <a:cubicBezTo>
                    <a:pt x="79" y="39"/>
                    <a:pt x="79" y="39"/>
                    <a:pt x="79" y="40"/>
                  </a:cubicBezTo>
                  <a:cubicBezTo>
                    <a:pt x="78" y="40"/>
                    <a:pt x="78" y="39"/>
                    <a:pt x="77" y="39"/>
                  </a:cubicBezTo>
                  <a:cubicBezTo>
                    <a:pt x="78" y="38"/>
                    <a:pt x="79" y="38"/>
                    <a:pt x="79" y="37"/>
                  </a:cubicBezTo>
                  <a:cubicBezTo>
                    <a:pt x="79" y="37"/>
                    <a:pt x="78" y="37"/>
                    <a:pt x="78" y="37"/>
                  </a:cubicBezTo>
                  <a:cubicBezTo>
                    <a:pt x="77" y="37"/>
                    <a:pt x="77" y="36"/>
                    <a:pt x="77" y="35"/>
                  </a:cubicBezTo>
                  <a:cubicBezTo>
                    <a:pt x="77" y="35"/>
                    <a:pt x="77" y="35"/>
                    <a:pt x="77" y="35"/>
                  </a:cubicBezTo>
                  <a:cubicBezTo>
                    <a:pt x="77" y="33"/>
                    <a:pt x="75" y="33"/>
                    <a:pt x="74" y="32"/>
                  </a:cubicBezTo>
                  <a:cubicBezTo>
                    <a:pt x="74" y="31"/>
                    <a:pt x="73" y="31"/>
                    <a:pt x="73" y="29"/>
                  </a:cubicBezTo>
                  <a:cubicBezTo>
                    <a:pt x="73" y="29"/>
                    <a:pt x="73" y="29"/>
                    <a:pt x="73" y="29"/>
                  </a:cubicBezTo>
                  <a:cubicBezTo>
                    <a:pt x="72" y="29"/>
                    <a:pt x="72" y="29"/>
                    <a:pt x="72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1" y="30"/>
                    <a:pt x="71" y="30"/>
                    <a:pt x="71" y="30"/>
                  </a:cubicBezTo>
                  <a:cubicBezTo>
                    <a:pt x="73" y="24"/>
                    <a:pt x="65" y="17"/>
                    <a:pt x="64" y="10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5" y="10"/>
                    <a:pt x="65" y="11"/>
                    <a:pt x="65" y="12"/>
                  </a:cubicBezTo>
                  <a:cubicBezTo>
                    <a:pt x="65" y="12"/>
                    <a:pt x="65" y="13"/>
                    <a:pt x="66" y="13"/>
                  </a:cubicBezTo>
                  <a:cubicBezTo>
                    <a:pt x="66" y="13"/>
                    <a:pt x="66" y="13"/>
                    <a:pt x="66" y="13"/>
                  </a:cubicBezTo>
                  <a:cubicBezTo>
                    <a:pt x="66" y="12"/>
                    <a:pt x="66" y="11"/>
                    <a:pt x="66" y="9"/>
                  </a:cubicBezTo>
                  <a:cubicBezTo>
                    <a:pt x="65" y="9"/>
                    <a:pt x="64" y="9"/>
                    <a:pt x="63" y="9"/>
                  </a:cubicBezTo>
                  <a:cubicBezTo>
                    <a:pt x="62" y="9"/>
                    <a:pt x="62" y="9"/>
                    <a:pt x="61" y="9"/>
                  </a:cubicBezTo>
                  <a:cubicBezTo>
                    <a:pt x="60" y="9"/>
                    <a:pt x="59" y="9"/>
                    <a:pt x="59" y="9"/>
                  </a:cubicBezTo>
                  <a:cubicBezTo>
                    <a:pt x="57" y="9"/>
                    <a:pt x="56" y="9"/>
                    <a:pt x="55" y="8"/>
                  </a:cubicBezTo>
                  <a:cubicBezTo>
                    <a:pt x="54" y="8"/>
                    <a:pt x="54" y="8"/>
                    <a:pt x="54" y="8"/>
                  </a:cubicBezTo>
                  <a:cubicBezTo>
                    <a:pt x="54" y="7"/>
                    <a:pt x="54" y="7"/>
                    <a:pt x="54" y="7"/>
                  </a:cubicBezTo>
                  <a:cubicBezTo>
                    <a:pt x="54" y="8"/>
                    <a:pt x="53" y="8"/>
                    <a:pt x="53" y="8"/>
                  </a:cubicBezTo>
                  <a:cubicBezTo>
                    <a:pt x="52" y="8"/>
                    <a:pt x="52" y="7"/>
                    <a:pt x="52" y="7"/>
                  </a:cubicBezTo>
                  <a:cubicBezTo>
                    <a:pt x="51" y="6"/>
                    <a:pt x="51" y="6"/>
                    <a:pt x="50" y="6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48" y="6"/>
                    <a:pt x="50" y="10"/>
                    <a:pt x="47" y="10"/>
                  </a:cubicBezTo>
                  <a:cubicBezTo>
                    <a:pt x="43" y="7"/>
                    <a:pt x="38" y="7"/>
                    <a:pt x="35" y="4"/>
                  </a:cubicBezTo>
                  <a:cubicBezTo>
                    <a:pt x="38" y="4"/>
                    <a:pt x="35" y="1"/>
                    <a:pt x="3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9" name="Freeform 34"/>
            <p:cNvSpPr/>
            <p:nvPr/>
          </p:nvSpPr>
          <p:spPr bwMode="auto">
            <a:xfrm>
              <a:off x="4469605" y="3463926"/>
              <a:ext cx="26988" cy="33338"/>
            </a:xfrm>
            <a:custGeom>
              <a:avLst/>
              <a:gdLst>
                <a:gd name="T0" fmla="*/ 3 w 4"/>
                <a:gd name="T1" fmla="*/ 0 h 5"/>
                <a:gd name="T2" fmla="*/ 0 w 4"/>
                <a:gd name="T3" fmla="*/ 0 h 5"/>
                <a:gd name="T4" fmla="*/ 4 w 4"/>
                <a:gd name="T5" fmla="*/ 5 h 5"/>
                <a:gd name="T6" fmla="*/ 3 w 4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3" y="0"/>
                  </a:moveTo>
                  <a:cubicBezTo>
                    <a:pt x="2" y="0"/>
                    <a:pt x="1" y="0"/>
                    <a:pt x="0" y="0"/>
                  </a:cubicBezTo>
                  <a:cubicBezTo>
                    <a:pt x="0" y="2"/>
                    <a:pt x="1" y="4"/>
                    <a:pt x="4" y="5"/>
                  </a:cubicBezTo>
                  <a:cubicBezTo>
                    <a:pt x="3" y="4"/>
                    <a:pt x="3" y="2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0" name="Freeform 35"/>
            <p:cNvSpPr/>
            <p:nvPr/>
          </p:nvSpPr>
          <p:spPr bwMode="auto">
            <a:xfrm>
              <a:off x="2821780" y="3400426"/>
              <a:ext cx="419100" cy="641350"/>
            </a:xfrm>
            <a:custGeom>
              <a:avLst/>
              <a:gdLst>
                <a:gd name="T0" fmla="*/ 14 w 61"/>
                <a:gd name="T1" fmla="*/ 3 h 93"/>
                <a:gd name="T2" fmla="*/ 12 w 61"/>
                <a:gd name="T3" fmla="*/ 4 h 93"/>
                <a:gd name="T4" fmla="*/ 9 w 61"/>
                <a:gd name="T5" fmla="*/ 1 h 93"/>
                <a:gd name="T6" fmla="*/ 4 w 61"/>
                <a:gd name="T7" fmla="*/ 14 h 93"/>
                <a:gd name="T8" fmla="*/ 2 w 61"/>
                <a:gd name="T9" fmla="*/ 23 h 93"/>
                <a:gd name="T10" fmla="*/ 5 w 61"/>
                <a:gd name="T11" fmla="*/ 23 h 93"/>
                <a:gd name="T12" fmla="*/ 4 w 61"/>
                <a:gd name="T13" fmla="*/ 25 h 93"/>
                <a:gd name="T14" fmla="*/ 16 w 61"/>
                <a:gd name="T15" fmla="*/ 43 h 93"/>
                <a:gd name="T16" fmla="*/ 19 w 61"/>
                <a:gd name="T17" fmla="*/ 64 h 93"/>
                <a:gd name="T18" fmla="*/ 19 w 61"/>
                <a:gd name="T19" fmla="*/ 65 h 93"/>
                <a:gd name="T20" fmla="*/ 19 w 61"/>
                <a:gd name="T21" fmla="*/ 65 h 93"/>
                <a:gd name="T22" fmla="*/ 20 w 61"/>
                <a:gd name="T23" fmla="*/ 79 h 93"/>
                <a:gd name="T24" fmla="*/ 23 w 61"/>
                <a:gd name="T25" fmla="*/ 78 h 93"/>
                <a:gd name="T26" fmla="*/ 25 w 61"/>
                <a:gd name="T27" fmla="*/ 85 h 93"/>
                <a:gd name="T28" fmla="*/ 24 w 61"/>
                <a:gd name="T29" fmla="*/ 89 h 93"/>
                <a:gd name="T30" fmla="*/ 26 w 61"/>
                <a:gd name="T31" fmla="*/ 88 h 93"/>
                <a:gd name="T32" fmla="*/ 33 w 61"/>
                <a:gd name="T33" fmla="*/ 88 h 93"/>
                <a:gd name="T34" fmla="*/ 30 w 61"/>
                <a:gd name="T35" fmla="*/ 78 h 93"/>
                <a:gd name="T36" fmla="*/ 33 w 61"/>
                <a:gd name="T37" fmla="*/ 74 h 93"/>
                <a:gd name="T38" fmla="*/ 35 w 61"/>
                <a:gd name="T39" fmla="*/ 68 h 93"/>
                <a:gd name="T40" fmla="*/ 36 w 61"/>
                <a:gd name="T41" fmla="*/ 67 h 93"/>
                <a:gd name="T42" fmla="*/ 42 w 61"/>
                <a:gd name="T43" fmla="*/ 68 h 93"/>
                <a:gd name="T44" fmla="*/ 41 w 61"/>
                <a:gd name="T45" fmla="*/ 65 h 93"/>
                <a:gd name="T46" fmla="*/ 44 w 61"/>
                <a:gd name="T47" fmla="*/ 61 h 93"/>
                <a:gd name="T48" fmla="*/ 53 w 61"/>
                <a:gd name="T49" fmla="*/ 51 h 93"/>
                <a:gd name="T50" fmla="*/ 61 w 61"/>
                <a:gd name="T51" fmla="*/ 31 h 93"/>
                <a:gd name="T52" fmla="*/ 52 w 61"/>
                <a:gd name="T53" fmla="*/ 21 h 93"/>
                <a:gd name="T54" fmla="*/ 44 w 61"/>
                <a:gd name="T55" fmla="*/ 18 h 93"/>
                <a:gd name="T56" fmla="*/ 40 w 61"/>
                <a:gd name="T57" fmla="*/ 19 h 93"/>
                <a:gd name="T58" fmla="*/ 42 w 61"/>
                <a:gd name="T59" fmla="*/ 14 h 93"/>
                <a:gd name="T60" fmla="*/ 40 w 61"/>
                <a:gd name="T61" fmla="*/ 12 h 93"/>
                <a:gd name="T62" fmla="*/ 33 w 61"/>
                <a:gd name="T63" fmla="*/ 9 h 93"/>
                <a:gd name="T64" fmla="*/ 32 w 61"/>
                <a:gd name="T65" fmla="*/ 11 h 93"/>
                <a:gd name="T66" fmla="*/ 27 w 61"/>
                <a:gd name="T67" fmla="*/ 7 h 93"/>
                <a:gd name="T68" fmla="*/ 27 w 61"/>
                <a:gd name="T69" fmla="*/ 3 h 93"/>
                <a:gd name="T70" fmla="*/ 16 w 61"/>
                <a:gd name="T71" fmla="*/ 0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1" h="93">
                  <a:moveTo>
                    <a:pt x="16" y="0"/>
                  </a:moveTo>
                  <a:cubicBezTo>
                    <a:pt x="14" y="0"/>
                    <a:pt x="15" y="2"/>
                    <a:pt x="14" y="3"/>
                  </a:cubicBezTo>
                  <a:cubicBezTo>
                    <a:pt x="13" y="3"/>
                    <a:pt x="14" y="1"/>
                    <a:pt x="13" y="1"/>
                  </a:cubicBezTo>
                  <a:cubicBezTo>
                    <a:pt x="12" y="2"/>
                    <a:pt x="13" y="4"/>
                    <a:pt x="12" y="4"/>
                  </a:cubicBezTo>
                  <a:cubicBezTo>
                    <a:pt x="11" y="3"/>
                    <a:pt x="12" y="3"/>
                    <a:pt x="12" y="1"/>
                  </a:cubicBezTo>
                  <a:cubicBezTo>
                    <a:pt x="11" y="1"/>
                    <a:pt x="10" y="1"/>
                    <a:pt x="9" y="1"/>
                  </a:cubicBezTo>
                  <a:cubicBezTo>
                    <a:pt x="10" y="4"/>
                    <a:pt x="6" y="4"/>
                    <a:pt x="6" y="7"/>
                  </a:cubicBezTo>
                  <a:cubicBezTo>
                    <a:pt x="7" y="9"/>
                    <a:pt x="6" y="14"/>
                    <a:pt x="4" y="14"/>
                  </a:cubicBezTo>
                  <a:cubicBezTo>
                    <a:pt x="4" y="14"/>
                    <a:pt x="4" y="15"/>
                    <a:pt x="4" y="16"/>
                  </a:cubicBezTo>
                  <a:cubicBezTo>
                    <a:pt x="0" y="19"/>
                    <a:pt x="4" y="19"/>
                    <a:pt x="2" y="23"/>
                  </a:cubicBezTo>
                  <a:cubicBezTo>
                    <a:pt x="3" y="23"/>
                    <a:pt x="4" y="23"/>
                    <a:pt x="4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4"/>
                    <a:pt x="4" y="25"/>
                    <a:pt x="4" y="25"/>
                  </a:cubicBezTo>
                  <a:cubicBezTo>
                    <a:pt x="3" y="24"/>
                    <a:pt x="2" y="23"/>
                    <a:pt x="1" y="23"/>
                  </a:cubicBezTo>
                  <a:cubicBezTo>
                    <a:pt x="5" y="30"/>
                    <a:pt x="8" y="40"/>
                    <a:pt x="16" y="43"/>
                  </a:cubicBezTo>
                  <a:cubicBezTo>
                    <a:pt x="17" y="44"/>
                    <a:pt x="16" y="46"/>
                    <a:pt x="17" y="46"/>
                  </a:cubicBezTo>
                  <a:cubicBezTo>
                    <a:pt x="19" y="52"/>
                    <a:pt x="17" y="61"/>
                    <a:pt x="19" y="64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18" y="70"/>
                    <a:pt x="19" y="74"/>
                    <a:pt x="20" y="79"/>
                  </a:cubicBezTo>
                  <a:cubicBezTo>
                    <a:pt x="20" y="79"/>
                    <a:pt x="20" y="79"/>
                    <a:pt x="20" y="79"/>
                  </a:cubicBezTo>
                  <a:cubicBezTo>
                    <a:pt x="21" y="79"/>
                    <a:pt x="21" y="78"/>
                    <a:pt x="21" y="78"/>
                  </a:cubicBezTo>
                  <a:cubicBezTo>
                    <a:pt x="22" y="78"/>
                    <a:pt x="22" y="78"/>
                    <a:pt x="23" y="78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3" y="81"/>
                    <a:pt x="26" y="82"/>
                    <a:pt x="25" y="85"/>
                  </a:cubicBezTo>
                  <a:cubicBezTo>
                    <a:pt x="24" y="85"/>
                    <a:pt x="25" y="83"/>
                    <a:pt x="23" y="83"/>
                  </a:cubicBezTo>
                  <a:cubicBezTo>
                    <a:pt x="22" y="86"/>
                    <a:pt x="25" y="88"/>
                    <a:pt x="24" y="89"/>
                  </a:cubicBezTo>
                  <a:cubicBezTo>
                    <a:pt x="24" y="89"/>
                    <a:pt x="24" y="89"/>
                    <a:pt x="24" y="89"/>
                  </a:cubicBezTo>
                  <a:cubicBezTo>
                    <a:pt x="25" y="89"/>
                    <a:pt x="25" y="88"/>
                    <a:pt x="26" y="88"/>
                  </a:cubicBezTo>
                  <a:cubicBezTo>
                    <a:pt x="26" y="93"/>
                    <a:pt x="25" y="92"/>
                    <a:pt x="31" y="93"/>
                  </a:cubicBezTo>
                  <a:cubicBezTo>
                    <a:pt x="30" y="90"/>
                    <a:pt x="31" y="90"/>
                    <a:pt x="33" y="88"/>
                  </a:cubicBezTo>
                  <a:cubicBezTo>
                    <a:pt x="32" y="86"/>
                    <a:pt x="30" y="87"/>
                    <a:pt x="29" y="85"/>
                  </a:cubicBezTo>
                  <a:cubicBezTo>
                    <a:pt x="32" y="84"/>
                    <a:pt x="32" y="81"/>
                    <a:pt x="30" y="78"/>
                  </a:cubicBezTo>
                  <a:cubicBezTo>
                    <a:pt x="31" y="78"/>
                    <a:pt x="31" y="78"/>
                    <a:pt x="32" y="78"/>
                  </a:cubicBezTo>
                  <a:cubicBezTo>
                    <a:pt x="34" y="78"/>
                    <a:pt x="32" y="75"/>
                    <a:pt x="33" y="74"/>
                  </a:cubicBezTo>
                  <a:cubicBezTo>
                    <a:pt x="34" y="75"/>
                    <a:pt x="34" y="75"/>
                    <a:pt x="35" y="75"/>
                  </a:cubicBezTo>
                  <a:cubicBezTo>
                    <a:pt x="40" y="75"/>
                    <a:pt x="39" y="68"/>
                    <a:pt x="35" y="68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36" y="68"/>
                    <a:pt x="38" y="68"/>
                    <a:pt x="40" y="68"/>
                  </a:cubicBezTo>
                  <a:cubicBezTo>
                    <a:pt x="40" y="68"/>
                    <a:pt x="41" y="68"/>
                    <a:pt x="42" y="68"/>
                  </a:cubicBezTo>
                  <a:cubicBezTo>
                    <a:pt x="42" y="66"/>
                    <a:pt x="41" y="66"/>
                    <a:pt x="40" y="64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3" y="65"/>
                    <a:pt x="43" y="63"/>
                    <a:pt x="43" y="61"/>
                  </a:cubicBezTo>
                  <a:cubicBezTo>
                    <a:pt x="43" y="61"/>
                    <a:pt x="44" y="61"/>
                    <a:pt x="44" y="61"/>
                  </a:cubicBezTo>
                  <a:cubicBezTo>
                    <a:pt x="46" y="61"/>
                    <a:pt x="46" y="57"/>
                    <a:pt x="46" y="54"/>
                  </a:cubicBezTo>
                  <a:cubicBezTo>
                    <a:pt x="48" y="53"/>
                    <a:pt x="49" y="51"/>
                    <a:pt x="53" y="51"/>
                  </a:cubicBezTo>
                  <a:cubicBezTo>
                    <a:pt x="53" y="51"/>
                    <a:pt x="53" y="51"/>
                    <a:pt x="54" y="51"/>
                  </a:cubicBezTo>
                  <a:cubicBezTo>
                    <a:pt x="58" y="46"/>
                    <a:pt x="55" y="33"/>
                    <a:pt x="61" y="31"/>
                  </a:cubicBezTo>
                  <a:cubicBezTo>
                    <a:pt x="61" y="29"/>
                    <a:pt x="61" y="27"/>
                    <a:pt x="61" y="25"/>
                  </a:cubicBezTo>
                  <a:cubicBezTo>
                    <a:pt x="58" y="25"/>
                    <a:pt x="55" y="21"/>
                    <a:pt x="52" y="21"/>
                  </a:cubicBezTo>
                  <a:cubicBezTo>
                    <a:pt x="51" y="21"/>
                    <a:pt x="50" y="21"/>
                    <a:pt x="48" y="22"/>
                  </a:cubicBezTo>
                  <a:cubicBezTo>
                    <a:pt x="49" y="19"/>
                    <a:pt x="46" y="19"/>
                    <a:pt x="44" y="18"/>
                  </a:cubicBezTo>
                  <a:cubicBezTo>
                    <a:pt x="45" y="20"/>
                    <a:pt x="43" y="20"/>
                    <a:pt x="42" y="21"/>
                  </a:cubicBezTo>
                  <a:cubicBezTo>
                    <a:pt x="41" y="20"/>
                    <a:pt x="41" y="19"/>
                    <a:pt x="40" y="19"/>
                  </a:cubicBezTo>
                  <a:cubicBezTo>
                    <a:pt x="39" y="19"/>
                    <a:pt x="39" y="19"/>
                    <a:pt x="38" y="20"/>
                  </a:cubicBezTo>
                  <a:cubicBezTo>
                    <a:pt x="39" y="18"/>
                    <a:pt x="41" y="17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0" y="14"/>
                    <a:pt x="40" y="13"/>
                    <a:pt x="40" y="12"/>
                  </a:cubicBezTo>
                  <a:cubicBezTo>
                    <a:pt x="40" y="11"/>
                    <a:pt x="40" y="11"/>
                    <a:pt x="39" y="11"/>
                  </a:cubicBezTo>
                  <a:cubicBezTo>
                    <a:pt x="38" y="8"/>
                    <a:pt x="37" y="9"/>
                    <a:pt x="33" y="9"/>
                  </a:cubicBezTo>
                  <a:cubicBezTo>
                    <a:pt x="33" y="10"/>
                    <a:pt x="32" y="10"/>
                    <a:pt x="32" y="11"/>
                  </a:cubicBezTo>
                  <a:cubicBezTo>
                    <a:pt x="32" y="11"/>
                    <a:pt x="32" y="11"/>
                    <a:pt x="32" y="11"/>
                  </a:cubicBezTo>
                  <a:cubicBezTo>
                    <a:pt x="31" y="8"/>
                    <a:pt x="34" y="7"/>
                    <a:pt x="29" y="5"/>
                  </a:cubicBezTo>
                  <a:cubicBezTo>
                    <a:pt x="28" y="6"/>
                    <a:pt x="29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9" y="5"/>
                    <a:pt x="26" y="5"/>
                    <a:pt x="27" y="3"/>
                  </a:cubicBezTo>
                  <a:cubicBezTo>
                    <a:pt x="23" y="2"/>
                    <a:pt x="20" y="2"/>
                    <a:pt x="17" y="0"/>
                  </a:cubicBezTo>
                  <a:cubicBezTo>
                    <a:pt x="17" y="0"/>
                    <a:pt x="16" y="0"/>
                    <a:pt x="16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1" name="Freeform 36"/>
            <p:cNvSpPr/>
            <p:nvPr/>
          </p:nvSpPr>
          <p:spPr bwMode="auto">
            <a:xfrm>
              <a:off x="4634705" y="3525838"/>
              <a:ext cx="26988" cy="41275"/>
            </a:xfrm>
            <a:custGeom>
              <a:avLst/>
              <a:gdLst>
                <a:gd name="T0" fmla="*/ 1 w 4"/>
                <a:gd name="T1" fmla="*/ 0 h 6"/>
                <a:gd name="T2" fmla="*/ 1 w 4"/>
                <a:gd name="T3" fmla="*/ 6 h 6"/>
                <a:gd name="T4" fmla="*/ 1 w 4"/>
                <a:gd name="T5" fmla="*/ 6 h 6"/>
                <a:gd name="T6" fmla="*/ 3 w 4"/>
                <a:gd name="T7" fmla="*/ 2 h 6"/>
                <a:gd name="T8" fmla="*/ 4 w 4"/>
                <a:gd name="T9" fmla="*/ 6 h 6"/>
                <a:gd name="T10" fmla="*/ 1 w 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1" y="0"/>
                  </a:moveTo>
                  <a:cubicBezTo>
                    <a:pt x="0" y="2"/>
                    <a:pt x="0" y="6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5"/>
                    <a:pt x="1" y="2"/>
                    <a:pt x="3" y="2"/>
                  </a:cubicBezTo>
                  <a:cubicBezTo>
                    <a:pt x="3" y="4"/>
                    <a:pt x="3" y="5"/>
                    <a:pt x="4" y="6"/>
                  </a:cubicBezTo>
                  <a:cubicBezTo>
                    <a:pt x="4" y="2"/>
                    <a:pt x="2" y="2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2" name="Freeform 37"/>
            <p:cNvSpPr/>
            <p:nvPr/>
          </p:nvSpPr>
          <p:spPr bwMode="auto">
            <a:xfrm>
              <a:off x="4779168" y="3538538"/>
              <a:ext cx="123825" cy="82550"/>
            </a:xfrm>
            <a:custGeom>
              <a:avLst/>
              <a:gdLst>
                <a:gd name="T0" fmla="*/ 4 w 18"/>
                <a:gd name="T1" fmla="*/ 0 h 12"/>
                <a:gd name="T2" fmla="*/ 0 w 18"/>
                <a:gd name="T3" fmla="*/ 4 h 12"/>
                <a:gd name="T4" fmla="*/ 1 w 18"/>
                <a:gd name="T5" fmla="*/ 4 h 12"/>
                <a:gd name="T6" fmla="*/ 7 w 18"/>
                <a:gd name="T7" fmla="*/ 10 h 12"/>
                <a:gd name="T8" fmla="*/ 7 w 18"/>
                <a:gd name="T9" fmla="*/ 8 h 12"/>
                <a:gd name="T10" fmla="*/ 7 w 18"/>
                <a:gd name="T11" fmla="*/ 8 h 12"/>
                <a:gd name="T12" fmla="*/ 8 w 18"/>
                <a:gd name="T13" fmla="*/ 10 h 12"/>
                <a:gd name="T14" fmla="*/ 9 w 18"/>
                <a:gd name="T15" fmla="*/ 10 h 12"/>
                <a:gd name="T16" fmla="*/ 12 w 18"/>
                <a:gd name="T17" fmla="*/ 8 h 12"/>
                <a:gd name="T18" fmla="*/ 12 w 18"/>
                <a:gd name="T19" fmla="*/ 8 h 12"/>
                <a:gd name="T20" fmla="*/ 15 w 18"/>
                <a:gd name="T21" fmla="*/ 10 h 12"/>
                <a:gd name="T22" fmla="*/ 17 w 18"/>
                <a:gd name="T23" fmla="*/ 12 h 12"/>
                <a:gd name="T24" fmla="*/ 18 w 18"/>
                <a:gd name="T25" fmla="*/ 11 h 12"/>
                <a:gd name="T26" fmla="*/ 8 w 18"/>
                <a:gd name="T27" fmla="*/ 2 h 12"/>
                <a:gd name="T28" fmla="*/ 8 w 18"/>
                <a:gd name="T29" fmla="*/ 2 h 12"/>
                <a:gd name="T30" fmla="*/ 8 w 18"/>
                <a:gd name="T31" fmla="*/ 4 h 12"/>
                <a:gd name="T32" fmla="*/ 7 w 18"/>
                <a:gd name="T33" fmla="*/ 4 h 12"/>
                <a:gd name="T34" fmla="*/ 7 w 18"/>
                <a:gd name="T35" fmla="*/ 1 h 12"/>
                <a:gd name="T36" fmla="*/ 4 w 18"/>
                <a:gd name="T3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" h="12">
                  <a:moveTo>
                    <a:pt x="4" y="0"/>
                  </a:moveTo>
                  <a:cubicBezTo>
                    <a:pt x="2" y="0"/>
                    <a:pt x="0" y="1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5" y="4"/>
                    <a:pt x="5" y="8"/>
                    <a:pt x="7" y="10"/>
                  </a:cubicBezTo>
                  <a:cubicBezTo>
                    <a:pt x="7" y="9"/>
                    <a:pt x="7" y="8"/>
                    <a:pt x="7" y="8"/>
                  </a:cubicBezTo>
                  <a:cubicBezTo>
                    <a:pt x="7" y="8"/>
                    <a:pt x="8" y="8"/>
                    <a:pt x="7" y="8"/>
                  </a:cubicBezTo>
                  <a:cubicBezTo>
                    <a:pt x="7" y="9"/>
                    <a:pt x="7" y="10"/>
                    <a:pt x="8" y="10"/>
                  </a:cubicBezTo>
                  <a:cubicBezTo>
                    <a:pt x="8" y="10"/>
                    <a:pt x="9" y="10"/>
                    <a:pt x="9" y="10"/>
                  </a:cubicBezTo>
                  <a:cubicBezTo>
                    <a:pt x="9" y="10"/>
                    <a:pt x="10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3" y="8"/>
                    <a:pt x="14" y="9"/>
                    <a:pt x="15" y="10"/>
                  </a:cubicBezTo>
                  <a:cubicBezTo>
                    <a:pt x="15" y="11"/>
                    <a:pt x="16" y="12"/>
                    <a:pt x="17" y="12"/>
                  </a:cubicBezTo>
                  <a:cubicBezTo>
                    <a:pt x="17" y="12"/>
                    <a:pt x="18" y="12"/>
                    <a:pt x="18" y="11"/>
                  </a:cubicBezTo>
                  <a:cubicBezTo>
                    <a:pt x="14" y="9"/>
                    <a:pt x="15" y="2"/>
                    <a:pt x="8" y="2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3"/>
                    <a:pt x="8" y="3"/>
                    <a:pt x="8" y="4"/>
                  </a:cubicBezTo>
                  <a:cubicBezTo>
                    <a:pt x="8" y="4"/>
                    <a:pt x="7" y="4"/>
                    <a:pt x="7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6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3" name="Freeform 38"/>
            <p:cNvSpPr/>
            <p:nvPr/>
          </p:nvSpPr>
          <p:spPr bwMode="auto">
            <a:xfrm>
              <a:off x="4510880" y="3579813"/>
              <a:ext cx="76200" cy="28575"/>
            </a:xfrm>
            <a:custGeom>
              <a:avLst/>
              <a:gdLst>
                <a:gd name="T0" fmla="*/ 2 w 11"/>
                <a:gd name="T1" fmla="*/ 0 h 4"/>
                <a:gd name="T2" fmla="*/ 0 w 11"/>
                <a:gd name="T3" fmla="*/ 1 h 4"/>
                <a:gd name="T4" fmla="*/ 0 w 11"/>
                <a:gd name="T5" fmla="*/ 1 h 4"/>
                <a:gd name="T6" fmla="*/ 2 w 11"/>
                <a:gd name="T7" fmla="*/ 2 h 4"/>
                <a:gd name="T8" fmla="*/ 4 w 11"/>
                <a:gd name="T9" fmla="*/ 2 h 4"/>
                <a:gd name="T10" fmla="*/ 5 w 11"/>
                <a:gd name="T11" fmla="*/ 2 h 4"/>
                <a:gd name="T12" fmla="*/ 11 w 11"/>
                <a:gd name="T13" fmla="*/ 4 h 4"/>
                <a:gd name="T14" fmla="*/ 7 w 11"/>
                <a:gd name="T15" fmla="*/ 1 h 4"/>
                <a:gd name="T16" fmla="*/ 6 w 11"/>
                <a:gd name="T17" fmla="*/ 2 h 4"/>
                <a:gd name="T18" fmla="*/ 2 w 11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4">
                  <a:moveTo>
                    <a:pt x="2" y="0"/>
                  </a:moveTo>
                  <a:cubicBezTo>
                    <a:pt x="1" y="0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2" y="1"/>
                    <a:pt x="2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7" y="3"/>
                    <a:pt x="10" y="3"/>
                    <a:pt x="11" y="4"/>
                  </a:cubicBezTo>
                  <a:cubicBezTo>
                    <a:pt x="11" y="2"/>
                    <a:pt x="9" y="1"/>
                    <a:pt x="7" y="1"/>
                  </a:cubicBezTo>
                  <a:cubicBezTo>
                    <a:pt x="7" y="1"/>
                    <a:pt x="6" y="1"/>
                    <a:pt x="6" y="2"/>
                  </a:cubicBezTo>
                  <a:cubicBezTo>
                    <a:pt x="5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4" name="Freeform 39"/>
            <p:cNvSpPr/>
            <p:nvPr/>
          </p:nvSpPr>
          <p:spPr bwMode="auto">
            <a:xfrm>
              <a:off x="4552155" y="3635376"/>
              <a:ext cx="357188" cy="276225"/>
            </a:xfrm>
            <a:custGeom>
              <a:avLst/>
              <a:gdLst>
                <a:gd name="T0" fmla="*/ 41 w 52"/>
                <a:gd name="T1" fmla="*/ 0 h 40"/>
                <a:gd name="T2" fmla="*/ 38 w 52"/>
                <a:gd name="T3" fmla="*/ 9 h 40"/>
                <a:gd name="T4" fmla="*/ 32 w 52"/>
                <a:gd name="T5" fmla="*/ 1 h 40"/>
                <a:gd name="T6" fmla="*/ 30 w 52"/>
                <a:gd name="T7" fmla="*/ 1 h 40"/>
                <a:gd name="T8" fmla="*/ 25 w 52"/>
                <a:gd name="T9" fmla="*/ 2 h 40"/>
                <a:gd name="T10" fmla="*/ 24 w 52"/>
                <a:gd name="T11" fmla="*/ 6 h 40"/>
                <a:gd name="T12" fmla="*/ 23 w 52"/>
                <a:gd name="T13" fmla="*/ 6 h 40"/>
                <a:gd name="T14" fmla="*/ 21 w 52"/>
                <a:gd name="T15" fmla="*/ 4 h 40"/>
                <a:gd name="T16" fmla="*/ 1 w 52"/>
                <a:gd name="T17" fmla="*/ 19 h 40"/>
                <a:gd name="T18" fmla="*/ 0 w 52"/>
                <a:gd name="T19" fmla="*/ 35 h 40"/>
                <a:gd name="T20" fmla="*/ 20 w 52"/>
                <a:gd name="T21" fmla="*/ 30 h 40"/>
                <a:gd name="T22" fmla="*/ 24 w 52"/>
                <a:gd name="T23" fmla="*/ 30 h 40"/>
                <a:gd name="T24" fmla="*/ 25 w 52"/>
                <a:gd name="T25" fmla="*/ 34 h 40"/>
                <a:gd name="T26" fmla="*/ 25 w 52"/>
                <a:gd name="T27" fmla="*/ 34 h 40"/>
                <a:gd name="T28" fmla="*/ 27 w 52"/>
                <a:gd name="T29" fmla="*/ 33 h 40"/>
                <a:gd name="T30" fmla="*/ 28 w 52"/>
                <a:gd name="T31" fmla="*/ 31 h 40"/>
                <a:gd name="T32" fmla="*/ 29 w 52"/>
                <a:gd name="T33" fmla="*/ 32 h 40"/>
                <a:gd name="T34" fmla="*/ 28 w 52"/>
                <a:gd name="T35" fmla="*/ 39 h 40"/>
                <a:gd name="T36" fmla="*/ 31 w 52"/>
                <a:gd name="T37" fmla="*/ 40 h 40"/>
                <a:gd name="T38" fmla="*/ 35 w 52"/>
                <a:gd name="T39" fmla="*/ 39 h 40"/>
                <a:gd name="T40" fmla="*/ 39 w 52"/>
                <a:gd name="T41" fmla="*/ 39 h 40"/>
                <a:gd name="T42" fmla="*/ 40 w 52"/>
                <a:gd name="T43" fmla="*/ 39 h 40"/>
                <a:gd name="T44" fmla="*/ 51 w 52"/>
                <a:gd name="T45" fmla="*/ 26 h 40"/>
                <a:gd name="T46" fmla="*/ 44 w 52"/>
                <a:gd name="T47" fmla="*/ 11 h 40"/>
                <a:gd name="T48" fmla="*/ 41 w 52"/>
                <a:gd name="T4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2" h="40">
                  <a:moveTo>
                    <a:pt x="41" y="0"/>
                  </a:moveTo>
                  <a:cubicBezTo>
                    <a:pt x="41" y="4"/>
                    <a:pt x="40" y="8"/>
                    <a:pt x="38" y="9"/>
                  </a:cubicBezTo>
                  <a:cubicBezTo>
                    <a:pt x="33" y="8"/>
                    <a:pt x="31" y="5"/>
                    <a:pt x="32" y="1"/>
                  </a:cubicBezTo>
                  <a:cubicBezTo>
                    <a:pt x="31" y="1"/>
                    <a:pt x="31" y="1"/>
                    <a:pt x="30" y="1"/>
                  </a:cubicBezTo>
                  <a:cubicBezTo>
                    <a:pt x="28" y="1"/>
                    <a:pt x="28" y="2"/>
                    <a:pt x="25" y="2"/>
                  </a:cubicBezTo>
                  <a:cubicBezTo>
                    <a:pt x="25" y="3"/>
                    <a:pt x="25" y="5"/>
                    <a:pt x="24" y="6"/>
                  </a:cubicBezTo>
                  <a:cubicBezTo>
                    <a:pt x="24" y="6"/>
                    <a:pt x="23" y="6"/>
                    <a:pt x="23" y="6"/>
                  </a:cubicBezTo>
                  <a:cubicBezTo>
                    <a:pt x="21" y="6"/>
                    <a:pt x="23" y="4"/>
                    <a:pt x="21" y="4"/>
                  </a:cubicBezTo>
                  <a:cubicBezTo>
                    <a:pt x="17" y="11"/>
                    <a:pt x="7" y="12"/>
                    <a:pt x="1" y="19"/>
                  </a:cubicBezTo>
                  <a:cubicBezTo>
                    <a:pt x="2" y="24"/>
                    <a:pt x="0" y="31"/>
                    <a:pt x="0" y="35"/>
                  </a:cubicBezTo>
                  <a:cubicBezTo>
                    <a:pt x="7" y="34"/>
                    <a:pt x="13" y="30"/>
                    <a:pt x="20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4" y="32"/>
                    <a:pt x="25" y="32"/>
                    <a:pt x="25" y="34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26" y="34"/>
                    <a:pt x="27" y="33"/>
                    <a:pt x="27" y="33"/>
                  </a:cubicBezTo>
                  <a:cubicBezTo>
                    <a:pt x="28" y="32"/>
                    <a:pt x="28" y="31"/>
                    <a:pt x="28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7" y="34"/>
                    <a:pt x="30" y="37"/>
                    <a:pt x="28" y="39"/>
                  </a:cubicBezTo>
                  <a:cubicBezTo>
                    <a:pt x="29" y="40"/>
                    <a:pt x="30" y="40"/>
                    <a:pt x="31" y="40"/>
                  </a:cubicBezTo>
                  <a:cubicBezTo>
                    <a:pt x="32" y="40"/>
                    <a:pt x="33" y="40"/>
                    <a:pt x="35" y="39"/>
                  </a:cubicBezTo>
                  <a:cubicBezTo>
                    <a:pt x="36" y="39"/>
                    <a:pt x="37" y="39"/>
                    <a:pt x="39" y="39"/>
                  </a:cubicBezTo>
                  <a:cubicBezTo>
                    <a:pt x="39" y="39"/>
                    <a:pt x="39" y="39"/>
                    <a:pt x="40" y="39"/>
                  </a:cubicBezTo>
                  <a:cubicBezTo>
                    <a:pt x="41" y="34"/>
                    <a:pt x="49" y="31"/>
                    <a:pt x="51" y="26"/>
                  </a:cubicBezTo>
                  <a:cubicBezTo>
                    <a:pt x="52" y="19"/>
                    <a:pt x="48" y="15"/>
                    <a:pt x="44" y="11"/>
                  </a:cubicBezTo>
                  <a:cubicBezTo>
                    <a:pt x="45" y="5"/>
                    <a:pt x="43" y="3"/>
                    <a:pt x="4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5" name="Freeform 40"/>
            <p:cNvSpPr/>
            <p:nvPr/>
          </p:nvSpPr>
          <p:spPr bwMode="auto">
            <a:xfrm>
              <a:off x="5012530" y="3897313"/>
              <a:ext cx="47625" cy="41275"/>
            </a:xfrm>
            <a:custGeom>
              <a:avLst/>
              <a:gdLst>
                <a:gd name="T0" fmla="*/ 4 w 7"/>
                <a:gd name="T1" fmla="*/ 0 h 6"/>
                <a:gd name="T2" fmla="*/ 1 w 7"/>
                <a:gd name="T3" fmla="*/ 4 h 6"/>
                <a:gd name="T4" fmla="*/ 2 w 7"/>
                <a:gd name="T5" fmla="*/ 6 h 6"/>
                <a:gd name="T6" fmla="*/ 2 w 7"/>
                <a:gd name="T7" fmla="*/ 6 h 6"/>
                <a:gd name="T8" fmla="*/ 7 w 7"/>
                <a:gd name="T9" fmla="*/ 2 h 6"/>
                <a:gd name="T10" fmla="*/ 6 w 7"/>
                <a:gd name="T11" fmla="*/ 2 h 6"/>
                <a:gd name="T12" fmla="*/ 4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4" y="0"/>
                  </a:moveTo>
                  <a:cubicBezTo>
                    <a:pt x="4" y="3"/>
                    <a:pt x="1" y="2"/>
                    <a:pt x="1" y="4"/>
                  </a:cubicBezTo>
                  <a:cubicBezTo>
                    <a:pt x="3" y="4"/>
                    <a:pt x="0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3"/>
                    <a:pt x="6" y="4"/>
                    <a:pt x="7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5" y="2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6" name="Freeform 41"/>
            <p:cNvSpPr/>
            <p:nvPr/>
          </p:nvSpPr>
          <p:spPr bwMode="auto">
            <a:xfrm>
              <a:off x="4758530" y="3938588"/>
              <a:ext cx="33338" cy="20638"/>
            </a:xfrm>
            <a:custGeom>
              <a:avLst/>
              <a:gdLst>
                <a:gd name="T0" fmla="*/ 5 w 5"/>
                <a:gd name="T1" fmla="*/ 0 h 3"/>
                <a:gd name="T2" fmla="*/ 3 w 5"/>
                <a:gd name="T3" fmla="*/ 0 h 3"/>
                <a:gd name="T4" fmla="*/ 1 w 5"/>
                <a:gd name="T5" fmla="*/ 0 h 3"/>
                <a:gd name="T6" fmla="*/ 1 w 5"/>
                <a:gd name="T7" fmla="*/ 3 h 3"/>
                <a:gd name="T8" fmla="*/ 2 w 5"/>
                <a:gd name="T9" fmla="*/ 3 h 3"/>
                <a:gd name="T10" fmla="*/ 5 w 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2" y="0"/>
                    <a:pt x="2" y="0"/>
                    <a:pt x="1" y="0"/>
                  </a:cubicBezTo>
                  <a:cubicBezTo>
                    <a:pt x="1" y="1"/>
                    <a:pt x="0" y="3"/>
                    <a:pt x="1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2" y="1"/>
                    <a:pt x="5" y="2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7" name="Freeform 42"/>
            <p:cNvSpPr/>
            <p:nvPr/>
          </p:nvSpPr>
          <p:spPr bwMode="auto">
            <a:xfrm>
              <a:off x="4909343" y="3944938"/>
              <a:ext cx="88900" cy="49213"/>
            </a:xfrm>
            <a:custGeom>
              <a:avLst/>
              <a:gdLst>
                <a:gd name="T0" fmla="*/ 13 w 13"/>
                <a:gd name="T1" fmla="*/ 0 h 7"/>
                <a:gd name="T2" fmla="*/ 3 w 13"/>
                <a:gd name="T3" fmla="*/ 7 h 7"/>
                <a:gd name="T4" fmla="*/ 13 w 13"/>
                <a:gd name="T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7">
                  <a:moveTo>
                    <a:pt x="13" y="0"/>
                  </a:moveTo>
                  <a:cubicBezTo>
                    <a:pt x="11" y="0"/>
                    <a:pt x="0" y="4"/>
                    <a:pt x="3" y="7"/>
                  </a:cubicBezTo>
                  <a:cubicBezTo>
                    <a:pt x="6" y="4"/>
                    <a:pt x="10" y="2"/>
                    <a:pt x="1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8" name="Freeform 43"/>
            <p:cNvSpPr/>
            <p:nvPr/>
          </p:nvSpPr>
          <p:spPr bwMode="auto">
            <a:xfrm>
              <a:off x="3137693" y="4159251"/>
              <a:ext cx="33338" cy="26988"/>
            </a:xfrm>
            <a:custGeom>
              <a:avLst/>
              <a:gdLst>
                <a:gd name="T0" fmla="*/ 4 w 5"/>
                <a:gd name="T1" fmla="*/ 0 h 4"/>
                <a:gd name="T2" fmla="*/ 1 w 5"/>
                <a:gd name="T3" fmla="*/ 4 h 4"/>
                <a:gd name="T4" fmla="*/ 4 w 5"/>
                <a:gd name="T5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3" y="1"/>
                    <a:pt x="0" y="3"/>
                    <a:pt x="1" y="4"/>
                  </a:cubicBezTo>
                  <a:cubicBezTo>
                    <a:pt x="2" y="3"/>
                    <a:pt x="5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39" name="Freeform 44"/>
            <p:cNvSpPr/>
            <p:nvPr/>
          </p:nvSpPr>
          <p:spPr bwMode="auto">
            <a:xfrm>
              <a:off x="3171030" y="2725738"/>
              <a:ext cx="55563" cy="14288"/>
            </a:xfrm>
            <a:custGeom>
              <a:avLst/>
              <a:gdLst>
                <a:gd name="T0" fmla="*/ 7 w 8"/>
                <a:gd name="T1" fmla="*/ 0 h 2"/>
                <a:gd name="T2" fmla="*/ 4 w 8"/>
                <a:gd name="T3" fmla="*/ 0 h 2"/>
                <a:gd name="T4" fmla="*/ 2 w 8"/>
                <a:gd name="T5" fmla="*/ 0 h 2"/>
                <a:gd name="T6" fmla="*/ 1 w 8"/>
                <a:gd name="T7" fmla="*/ 0 h 2"/>
                <a:gd name="T8" fmla="*/ 1 w 8"/>
                <a:gd name="T9" fmla="*/ 1 h 2"/>
                <a:gd name="T10" fmla="*/ 0 w 8"/>
                <a:gd name="T11" fmla="*/ 2 h 2"/>
                <a:gd name="T12" fmla="*/ 2 w 8"/>
                <a:gd name="T13" fmla="*/ 2 h 2"/>
                <a:gd name="T14" fmla="*/ 8 w 8"/>
                <a:gd name="T15" fmla="*/ 0 h 2"/>
                <a:gd name="T16" fmla="*/ 7 w 8"/>
                <a:gd name="T1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2">
                  <a:moveTo>
                    <a:pt x="7" y="0"/>
                  </a:moveTo>
                  <a:cubicBezTo>
                    <a:pt x="6" y="0"/>
                    <a:pt x="5" y="0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1" y="0"/>
                    <a:pt x="1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1" y="2"/>
                    <a:pt x="1" y="2"/>
                    <a:pt x="2" y="2"/>
                  </a:cubicBezTo>
                  <a:cubicBezTo>
                    <a:pt x="4" y="2"/>
                    <a:pt x="7" y="1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0" name="Freeform 45"/>
            <p:cNvSpPr/>
            <p:nvPr/>
          </p:nvSpPr>
          <p:spPr bwMode="auto">
            <a:xfrm>
              <a:off x="3069430" y="2732088"/>
              <a:ext cx="26988" cy="20638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1 h 3"/>
                <a:gd name="T4" fmla="*/ 2 w 4"/>
                <a:gd name="T5" fmla="*/ 3 h 3"/>
                <a:gd name="T6" fmla="*/ 4 w 4"/>
                <a:gd name="T7" fmla="*/ 1 h 3"/>
                <a:gd name="T8" fmla="*/ 2 w 4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1" y="1"/>
                    <a:pt x="2" y="2"/>
                    <a:pt x="2" y="3"/>
                  </a:cubicBezTo>
                  <a:cubicBezTo>
                    <a:pt x="3" y="3"/>
                    <a:pt x="4" y="2"/>
                    <a:pt x="4" y="1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1" name="Freeform 46"/>
            <p:cNvSpPr/>
            <p:nvPr/>
          </p:nvSpPr>
          <p:spPr bwMode="auto">
            <a:xfrm>
              <a:off x="2951955" y="2787651"/>
              <a:ext cx="34925" cy="20638"/>
            </a:xfrm>
            <a:custGeom>
              <a:avLst/>
              <a:gdLst>
                <a:gd name="T0" fmla="*/ 4 w 5"/>
                <a:gd name="T1" fmla="*/ 0 h 3"/>
                <a:gd name="T2" fmla="*/ 0 w 5"/>
                <a:gd name="T3" fmla="*/ 2 h 3"/>
                <a:gd name="T4" fmla="*/ 1 w 5"/>
                <a:gd name="T5" fmla="*/ 3 h 3"/>
                <a:gd name="T6" fmla="*/ 4 w 5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3">
                  <a:moveTo>
                    <a:pt x="4" y="0"/>
                  </a:moveTo>
                  <a:cubicBezTo>
                    <a:pt x="3" y="1"/>
                    <a:pt x="1" y="1"/>
                    <a:pt x="0" y="2"/>
                  </a:cubicBezTo>
                  <a:cubicBezTo>
                    <a:pt x="0" y="3"/>
                    <a:pt x="0" y="3"/>
                    <a:pt x="1" y="3"/>
                  </a:cubicBezTo>
                  <a:cubicBezTo>
                    <a:pt x="2" y="3"/>
                    <a:pt x="5" y="1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2" name="Freeform 47"/>
            <p:cNvSpPr/>
            <p:nvPr/>
          </p:nvSpPr>
          <p:spPr bwMode="auto">
            <a:xfrm>
              <a:off x="2966243" y="2808288"/>
              <a:ext cx="26988" cy="14288"/>
            </a:xfrm>
            <a:custGeom>
              <a:avLst/>
              <a:gdLst>
                <a:gd name="T0" fmla="*/ 3 w 4"/>
                <a:gd name="T1" fmla="*/ 0 h 2"/>
                <a:gd name="T2" fmla="*/ 0 w 4"/>
                <a:gd name="T3" fmla="*/ 2 h 2"/>
                <a:gd name="T4" fmla="*/ 1 w 4"/>
                <a:gd name="T5" fmla="*/ 2 h 2"/>
                <a:gd name="T6" fmla="*/ 4 w 4"/>
                <a:gd name="T7" fmla="*/ 0 h 2"/>
                <a:gd name="T8" fmla="*/ 3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1" y="2"/>
                  </a:cubicBezTo>
                  <a:cubicBezTo>
                    <a:pt x="2" y="2"/>
                    <a:pt x="3" y="1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3" name="Freeform 48"/>
            <p:cNvSpPr/>
            <p:nvPr/>
          </p:nvSpPr>
          <p:spPr bwMode="auto">
            <a:xfrm>
              <a:off x="3748880" y="2911476"/>
              <a:ext cx="33338" cy="20638"/>
            </a:xfrm>
            <a:custGeom>
              <a:avLst/>
              <a:gdLst>
                <a:gd name="T0" fmla="*/ 3 w 5"/>
                <a:gd name="T1" fmla="*/ 0 h 3"/>
                <a:gd name="T2" fmla="*/ 2 w 5"/>
                <a:gd name="T3" fmla="*/ 0 h 3"/>
                <a:gd name="T4" fmla="*/ 1 w 5"/>
                <a:gd name="T5" fmla="*/ 1 h 3"/>
                <a:gd name="T6" fmla="*/ 1 w 5"/>
                <a:gd name="T7" fmla="*/ 0 h 3"/>
                <a:gd name="T8" fmla="*/ 3 w 5"/>
                <a:gd name="T9" fmla="*/ 3 h 3"/>
                <a:gd name="T10" fmla="*/ 4 w 5"/>
                <a:gd name="T11" fmla="*/ 1 h 3"/>
                <a:gd name="T12" fmla="*/ 3 w 5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1"/>
                    <a:pt x="1" y="1"/>
                    <a:pt x="1" y="0"/>
                  </a:cubicBezTo>
                  <a:cubicBezTo>
                    <a:pt x="0" y="2"/>
                    <a:pt x="1" y="3"/>
                    <a:pt x="3" y="3"/>
                  </a:cubicBezTo>
                  <a:cubicBezTo>
                    <a:pt x="4" y="3"/>
                    <a:pt x="5" y="2"/>
                    <a:pt x="4" y="1"/>
                  </a:cubicBezTo>
                  <a:cubicBezTo>
                    <a:pt x="4" y="1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4" name="Freeform 49"/>
            <p:cNvSpPr/>
            <p:nvPr/>
          </p:nvSpPr>
          <p:spPr bwMode="auto">
            <a:xfrm>
              <a:off x="3494880" y="2967038"/>
              <a:ext cx="33338" cy="20638"/>
            </a:xfrm>
            <a:custGeom>
              <a:avLst/>
              <a:gdLst>
                <a:gd name="T0" fmla="*/ 2 w 5"/>
                <a:gd name="T1" fmla="*/ 0 h 3"/>
                <a:gd name="T2" fmla="*/ 1 w 5"/>
                <a:gd name="T3" fmla="*/ 0 h 3"/>
                <a:gd name="T4" fmla="*/ 2 w 5"/>
                <a:gd name="T5" fmla="*/ 3 h 3"/>
                <a:gd name="T6" fmla="*/ 5 w 5"/>
                <a:gd name="T7" fmla="*/ 1 h 3"/>
                <a:gd name="T8" fmla="*/ 4 w 5"/>
                <a:gd name="T9" fmla="*/ 1 h 3"/>
                <a:gd name="T10" fmla="*/ 3 w 5"/>
                <a:gd name="T11" fmla="*/ 0 h 3"/>
                <a:gd name="T12" fmla="*/ 2 w 5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2" y="2"/>
                    <a:pt x="0" y="2"/>
                    <a:pt x="2" y="3"/>
                  </a:cubicBezTo>
                  <a:cubicBezTo>
                    <a:pt x="2" y="2"/>
                    <a:pt x="5" y="3"/>
                    <a:pt x="5" y="1"/>
                  </a:cubicBezTo>
                  <a:cubicBezTo>
                    <a:pt x="5" y="1"/>
                    <a:pt x="4" y="1"/>
                    <a:pt x="4" y="1"/>
                  </a:cubicBezTo>
                  <a:cubicBezTo>
                    <a:pt x="4" y="1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5" name="Freeform 50"/>
            <p:cNvSpPr/>
            <p:nvPr/>
          </p:nvSpPr>
          <p:spPr bwMode="auto">
            <a:xfrm>
              <a:off x="4717255" y="3063876"/>
              <a:ext cx="41275" cy="26988"/>
            </a:xfrm>
            <a:custGeom>
              <a:avLst/>
              <a:gdLst>
                <a:gd name="T0" fmla="*/ 1 w 6"/>
                <a:gd name="T1" fmla="*/ 0 h 4"/>
                <a:gd name="T2" fmla="*/ 0 w 6"/>
                <a:gd name="T3" fmla="*/ 0 h 4"/>
                <a:gd name="T4" fmla="*/ 4 w 6"/>
                <a:gd name="T5" fmla="*/ 4 h 4"/>
                <a:gd name="T6" fmla="*/ 6 w 6"/>
                <a:gd name="T7" fmla="*/ 2 h 4"/>
                <a:gd name="T8" fmla="*/ 1 w 6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4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2"/>
                    <a:pt x="3" y="3"/>
                    <a:pt x="4" y="4"/>
                  </a:cubicBezTo>
                  <a:cubicBezTo>
                    <a:pt x="4" y="2"/>
                    <a:pt x="5" y="2"/>
                    <a:pt x="6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6" name="Freeform 51"/>
            <p:cNvSpPr/>
            <p:nvPr/>
          </p:nvSpPr>
          <p:spPr bwMode="auto">
            <a:xfrm>
              <a:off x="3486943" y="3090863"/>
              <a:ext cx="28575" cy="41275"/>
            </a:xfrm>
            <a:custGeom>
              <a:avLst/>
              <a:gdLst>
                <a:gd name="T0" fmla="*/ 3 w 4"/>
                <a:gd name="T1" fmla="*/ 0 h 6"/>
                <a:gd name="T2" fmla="*/ 2 w 4"/>
                <a:gd name="T3" fmla="*/ 6 h 6"/>
                <a:gd name="T4" fmla="*/ 4 w 4"/>
                <a:gd name="T5" fmla="*/ 0 h 6"/>
                <a:gd name="T6" fmla="*/ 3 w 4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0" y="0"/>
                    <a:pt x="0" y="5"/>
                    <a:pt x="2" y="6"/>
                  </a:cubicBezTo>
                  <a:cubicBezTo>
                    <a:pt x="3" y="5"/>
                    <a:pt x="2" y="2"/>
                    <a:pt x="4" y="0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7" name="Freeform 52"/>
            <p:cNvSpPr/>
            <p:nvPr/>
          </p:nvSpPr>
          <p:spPr bwMode="auto">
            <a:xfrm>
              <a:off x="2842418" y="3284538"/>
              <a:ext cx="61913" cy="26988"/>
            </a:xfrm>
            <a:custGeom>
              <a:avLst/>
              <a:gdLst>
                <a:gd name="T0" fmla="*/ 2 w 9"/>
                <a:gd name="T1" fmla="*/ 0 h 4"/>
                <a:gd name="T2" fmla="*/ 0 w 9"/>
                <a:gd name="T3" fmla="*/ 1 h 4"/>
                <a:gd name="T4" fmla="*/ 1 w 9"/>
                <a:gd name="T5" fmla="*/ 1 h 4"/>
                <a:gd name="T6" fmla="*/ 4 w 9"/>
                <a:gd name="T7" fmla="*/ 2 h 4"/>
                <a:gd name="T8" fmla="*/ 7 w 9"/>
                <a:gd name="T9" fmla="*/ 4 h 4"/>
                <a:gd name="T10" fmla="*/ 9 w 9"/>
                <a:gd name="T11" fmla="*/ 3 h 4"/>
                <a:gd name="T12" fmla="*/ 9 w 9"/>
                <a:gd name="T13" fmla="*/ 3 h 4"/>
                <a:gd name="T14" fmla="*/ 5 w 9"/>
                <a:gd name="T15" fmla="*/ 2 h 4"/>
                <a:gd name="T16" fmla="*/ 2 w 9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4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3" y="1"/>
                    <a:pt x="4" y="2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4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7" y="3"/>
                    <a:pt x="6" y="3"/>
                    <a:pt x="5" y="2"/>
                  </a:cubicBezTo>
                  <a:cubicBezTo>
                    <a:pt x="4" y="1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8" name="Freeform 53"/>
            <p:cNvSpPr/>
            <p:nvPr/>
          </p:nvSpPr>
          <p:spPr bwMode="auto">
            <a:xfrm>
              <a:off x="2910680" y="3317876"/>
              <a:ext cx="26988" cy="14288"/>
            </a:xfrm>
            <a:custGeom>
              <a:avLst/>
              <a:gdLst>
                <a:gd name="T0" fmla="*/ 3 w 4"/>
                <a:gd name="T1" fmla="*/ 0 h 2"/>
                <a:gd name="T2" fmla="*/ 2 w 4"/>
                <a:gd name="T3" fmla="*/ 1 h 2"/>
                <a:gd name="T4" fmla="*/ 2 w 4"/>
                <a:gd name="T5" fmla="*/ 1 h 2"/>
                <a:gd name="T6" fmla="*/ 3 w 4"/>
                <a:gd name="T7" fmla="*/ 1 h 2"/>
                <a:gd name="T8" fmla="*/ 4 w 4"/>
                <a:gd name="T9" fmla="*/ 2 h 2"/>
                <a:gd name="T10" fmla="*/ 4 w 4"/>
                <a:gd name="T11" fmla="*/ 2 h 2"/>
                <a:gd name="T12" fmla="*/ 4 w 4"/>
                <a:gd name="T13" fmla="*/ 0 h 2"/>
                <a:gd name="T14" fmla="*/ 3 w 4"/>
                <a:gd name="T1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2" y="0"/>
                    <a:pt x="0" y="0"/>
                    <a:pt x="2" y="1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3" y="1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4" y="0"/>
                    <a:pt x="3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49" name="Freeform 54"/>
            <p:cNvSpPr/>
            <p:nvPr/>
          </p:nvSpPr>
          <p:spPr bwMode="auto">
            <a:xfrm>
              <a:off x="4628355" y="3332163"/>
              <a:ext cx="33338" cy="41275"/>
            </a:xfrm>
            <a:custGeom>
              <a:avLst/>
              <a:gdLst>
                <a:gd name="T0" fmla="*/ 2 w 5"/>
                <a:gd name="T1" fmla="*/ 0 h 6"/>
                <a:gd name="T2" fmla="*/ 3 w 5"/>
                <a:gd name="T3" fmla="*/ 6 h 6"/>
                <a:gd name="T4" fmla="*/ 2 w 5"/>
                <a:gd name="T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0" y="1"/>
                    <a:pt x="1" y="6"/>
                    <a:pt x="3" y="6"/>
                  </a:cubicBezTo>
                  <a:cubicBezTo>
                    <a:pt x="1" y="4"/>
                    <a:pt x="5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50" name="Freeform 55"/>
            <p:cNvSpPr/>
            <p:nvPr/>
          </p:nvSpPr>
          <p:spPr bwMode="auto">
            <a:xfrm>
              <a:off x="4277518" y="3422651"/>
              <a:ext cx="20638" cy="33338"/>
            </a:xfrm>
            <a:custGeom>
              <a:avLst/>
              <a:gdLst>
                <a:gd name="T0" fmla="*/ 1 w 3"/>
                <a:gd name="T1" fmla="*/ 0 h 5"/>
                <a:gd name="T2" fmla="*/ 0 w 3"/>
                <a:gd name="T3" fmla="*/ 3 h 5"/>
                <a:gd name="T4" fmla="*/ 2 w 3"/>
                <a:gd name="T5" fmla="*/ 5 h 5"/>
                <a:gd name="T6" fmla="*/ 2 w 3"/>
                <a:gd name="T7" fmla="*/ 5 h 5"/>
                <a:gd name="T8" fmla="*/ 2 w 3"/>
                <a:gd name="T9" fmla="*/ 0 h 5"/>
                <a:gd name="T10" fmla="*/ 1 w 3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0" y="0"/>
                    <a:pt x="0" y="1"/>
                    <a:pt x="0" y="3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2" y="2"/>
                    <a:pt x="2" y="0"/>
                  </a:cubicBezTo>
                  <a:cubicBezTo>
                    <a:pt x="2" y="0"/>
                    <a:pt x="2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51" name="Freeform 56"/>
            <p:cNvSpPr/>
            <p:nvPr/>
          </p:nvSpPr>
          <p:spPr bwMode="auto">
            <a:xfrm>
              <a:off x="4675980" y="3429001"/>
              <a:ext cx="20638" cy="20638"/>
            </a:xfrm>
            <a:custGeom>
              <a:avLst/>
              <a:gdLst>
                <a:gd name="T0" fmla="*/ 2 w 3"/>
                <a:gd name="T1" fmla="*/ 0 h 3"/>
                <a:gd name="T2" fmla="*/ 0 w 3"/>
                <a:gd name="T3" fmla="*/ 1 h 3"/>
                <a:gd name="T4" fmla="*/ 1 w 3"/>
                <a:gd name="T5" fmla="*/ 3 h 3"/>
                <a:gd name="T6" fmla="*/ 3 w 3"/>
                <a:gd name="T7" fmla="*/ 1 h 3"/>
                <a:gd name="T8" fmla="*/ 2 w 3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1" y="2"/>
                    <a:pt x="3" y="3"/>
                    <a:pt x="3" y="1"/>
                  </a:cubicBezTo>
                  <a:cubicBezTo>
                    <a:pt x="2" y="1"/>
                    <a:pt x="2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52" name="Freeform 57"/>
            <p:cNvSpPr/>
            <p:nvPr/>
          </p:nvSpPr>
          <p:spPr bwMode="auto">
            <a:xfrm>
              <a:off x="4599780" y="3449638"/>
              <a:ext cx="28575" cy="20638"/>
            </a:xfrm>
            <a:custGeom>
              <a:avLst/>
              <a:gdLst>
                <a:gd name="T0" fmla="*/ 2 w 4"/>
                <a:gd name="T1" fmla="*/ 0 h 3"/>
                <a:gd name="T2" fmla="*/ 0 w 4"/>
                <a:gd name="T3" fmla="*/ 3 h 3"/>
                <a:gd name="T4" fmla="*/ 0 w 4"/>
                <a:gd name="T5" fmla="*/ 3 h 3"/>
                <a:gd name="T6" fmla="*/ 1 w 4"/>
                <a:gd name="T7" fmla="*/ 3 h 3"/>
                <a:gd name="T8" fmla="*/ 2 w 4"/>
                <a:gd name="T9" fmla="*/ 3 h 3"/>
                <a:gd name="T10" fmla="*/ 4 w 4"/>
                <a:gd name="T11" fmla="*/ 2 h 3"/>
                <a:gd name="T12" fmla="*/ 3 w 4"/>
                <a:gd name="T13" fmla="*/ 2 h 3"/>
                <a:gd name="T14" fmla="*/ 2 w 4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cubicBezTo>
                    <a:pt x="2" y="2"/>
                    <a:pt x="0" y="1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ubicBezTo>
                    <a:pt x="1" y="3"/>
                    <a:pt x="2" y="3"/>
                    <a:pt x="2" y="3"/>
                  </a:cubicBezTo>
                  <a:cubicBezTo>
                    <a:pt x="3" y="3"/>
                    <a:pt x="4" y="3"/>
                    <a:pt x="4" y="2"/>
                  </a:cubicBezTo>
                  <a:cubicBezTo>
                    <a:pt x="4" y="2"/>
                    <a:pt x="4" y="2"/>
                    <a:pt x="3" y="2"/>
                  </a:cubicBezTo>
                  <a:cubicBezTo>
                    <a:pt x="2" y="2"/>
                    <a:pt x="2" y="1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53" name="Freeform 58"/>
            <p:cNvSpPr/>
            <p:nvPr/>
          </p:nvSpPr>
          <p:spPr bwMode="auto">
            <a:xfrm>
              <a:off x="4421980" y="3463926"/>
              <a:ext cx="88900" cy="109538"/>
            </a:xfrm>
            <a:custGeom>
              <a:avLst/>
              <a:gdLst>
                <a:gd name="T0" fmla="*/ 0 w 13"/>
                <a:gd name="T1" fmla="*/ 0 h 16"/>
                <a:gd name="T2" fmla="*/ 13 w 13"/>
                <a:gd name="T3" fmla="*/ 16 h 16"/>
                <a:gd name="T4" fmla="*/ 0 w 13"/>
                <a:gd name="T5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cubicBezTo>
                    <a:pt x="5" y="4"/>
                    <a:pt x="6" y="14"/>
                    <a:pt x="13" y="16"/>
                  </a:cubicBezTo>
                  <a:cubicBezTo>
                    <a:pt x="12" y="8"/>
                    <a:pt x="6" y="4"/>
                    <a:pt x="0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54" name="Freeform 59"/>
            <p:cNvSpPr/>
            <p:nvPr/>
          </p:nvSpPr>
          <p:spPr bwMode="auto">
            <a:xfrm>
              <a:off x="4744243" y="3525838"/>
              <a:ext cx="26988" cy="12700"/>
            </a:xfrm>
            <a:custGeom>
              <a:avLst/>
              <a:gdLst>
                <a:gd name="T0" fmla="*/ 2 w 4"/>
                <a:gd name="T1" fmla="*/ 0 h 2"/>
                <a:gd name="T2" fmla="*/ 0 w 4"/>
                <a:gd name="T3" fmla="*/ 1 h 2"/>
                <a:gd name="T4" fmla="*/ 3 w 4"/>
                <a:gd name="T5" fmla="*/ 2 h 2"/>
                <a:gd name="T6" fmla="*/ 4 w 4"/>
                <a:gd name="T7" fmla="*/ 2 h 2"/>
                <a:gd name="T8" fmla="*/ 2 w 4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cubicBezTo>
                    <a:pt x="1" y="0"/>
                    <a:pt x="1" y="0"/>
                    <a:pt x="0" y="1"/>
                  </a:cubicBezTo>
                  <a:cubicBezTo>
                    <a:pt x="1" y="1"/>
                    <a:pt x="2" y="2"/>
                    <a:pt x="3" y="2"/>
                  </a:cubicBezTo>
                  <a:cubicBezTo>
                    <a:pt x="3" y="2"/>
                    <a:pt x="3" y="2"/>
                    <a:pt x="4" y="2"/>
                  </a:cubicBezTo>
                  <a:cubicBezTo>
                    <a:pt x="4" y="0"/>
                    <a:pt x="3" y="0"/>
                    <a:pt x="2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02" name="Freeform 60"/>
            <p:cNvSpPr/>
            <p:nvPr/>
          </p:nvSpPr>
          <p:spPr bwMode="auto">
            <a:xfrm>
              <a:off x="4188618" y="4186238"/>
              <a:ext cx="47625" cy="0"/>
            </a:xfrm>
            <a:custGeom>
              <a:avLst/>
              <a:gdLst>
                <a:gd name="T0" fmla="*/ 4 w 7"/>
                <a:gd name="T1" fmla="*/ 0 w 7"/>
                <a:gd name="T2" fmla="*/ 7 w 7"/>
                <a:gd name="T3" fmla="*/ 4 w 7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7">
                  <a:moveTo>
                    <a:pt x="4" y="0"/>
                  </a:moveTo>
                  <a:cubicBezTo>
                    <a:pt x="2" y="0"/>
                    <a:pt x="0" y="0"/>
                    <a:pt x="0" y="0"/>
                  </a:cubicBezTo>
                  <a:cubicBezTo>
                    <a:pt x="2" y="0"/>
                    <a:pt x="5" y="0"/>
                    <a:pt x="7" y="0"/>
                  </a:cubicBezTo>
                  <a:cubicBezTo>
                    <a:pt x="7" y="0"/>
                    <a:pt x="5" y="0"/>
                    <a:pt x="4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03" name="Freeform 62"/>
            <p:cNvSpPr/>
            <p:nvPr/>
          </p:nvSpPr>
          <p:spPr bwMode="auto">
            <a:xfrm>
              <a:off x="3191668" y="2725738"/>
              <a:ext cx="282575" cy="173038"/>
            </a:xfrm>
            <a:custGeom>
              <a:avLst/>
              <a:gdLst>
                <a:gd name="T0" fmla="*/ 37 w 41"/>
                <a:gd name="T1" fmla="*/ 0 h 25"/>
                <a:gd name="T2" fmla="*/ 34 w 41"/>
                <a:gd name="T3" fmla="*/ 1 h 25"/>
                <a:gd name="T4" fmla="*/ 24 w 41"/>
                <a:gd name="T5" fmla="*/ 0 h 25"/>
                <a:gd name="T6" fmla="*/ 0 w 41"/>
                <a:gd name="T7" fmla="*/ 4 h 25"/>
                <a:gd name="T8" fmla="*/ 1 w 41"/>
                <a:gd name="T9" fmla="*/ 4 h 25"/>
                <a:gd name="T10" fmla="*/ 2 w 41"/>
                <a:gd name="T11" fmla="*/ 6 h 25"/>
                <a:gd name="T12" fmla="*/ 3 w 41"/>
                <a:gd name="T13" fmla="*/ 6 h 25"/>
                <a:gd name="T14" fmla="*/ 5 w 41"/>
                <a:gd name="T15" fmla="*/ 6 h 25"/>
                <a:gd name="T16" fmla="*/ 7 w 41"/>
                <a:gd name="T17" fmla="*/ 6 h 25"/>
                <a:gd name="T18" fmla="*/ 7 w 41"/>
                <a:gd name="T19" fmla="*/ 6 h 25"/>
                <a:gd name="T20" fmla="*/ 6 w 41"/>
                <a:gd name="T21" fmla="*/ 19 h 25"/>
                <a:gd name="T22" fmla="*/ 8 w 41"/>
                <a:gd name="T23" fmla="*/ 25 h 25"/>
                <a:gd name="T24" fmla="*/ 9 w 41"/>
                <a:gd name="T25" fmla="*/ 25 h 25"/>
                <a:gd name="T26" fmla="*/ 11 w 41"/>
                <a:gd name="T27" fmla="*/ 25 h 25"/>
                <a:gd name="T28" fmla="*/ 33 w 41"/>
                <a:gd name="T29" fmla="*/ 14 h 25"/>
                <a:gd name="T30" fmla="*/ 33 w 41"/>
                <a:gd name="T31" fmla="*/ 14 h 25"/>
                <a:gd name="T32" fmla="*/ 32 w 41"/>
                <a:gd name="T33" fmla="*/ 14 h 25"/>
                <a:gd name="T34" fmla="*/ 31 w 41"/>
                <a:gd name="T35" fmla="*/ 14 h 25"/>
                <a:gd name="T36" fmla="*/ 30 w 41"/>
                <a:gd name="T37" fmla="*/ 13 h 25"/>
                <a:gd name="T38" fmla="*/ 32 w 41"/>
                <a:gd name="T39" fmla="*/ 11 h 25"/>
                <a:gd name="T40" fmla="*/ 36 w 41"/>
                <a:gd name="T41" fmla="*/ 13 h 25"/>
                <a:gd name="T42" fmla="*/ 32 w 41"/>
                <a:gd name="T43" fmla="*/ 9 h 25"/>
                <a:gd name="T44" fmla="*/ 35 w 41"/>
                <a:gd name="T45" fmla="*/ 9 h 25"/>
                <a:gd name="T46" fmla="*/ 37 w 41"/>
                <a:gd name="T47" fmla="*/ 9 h 25"/>
                <a:gd name="T48" fmla="*/ 41 w 41"/>
                <a:gd name="T49" fmla="*/ 2 h 25"/>
                <a:gd name="T50" fmla="*/ 41 w 41"/>
                <a:gd name="T51" fmla="*/ 2 h 25"/>
                <a:gd name="T52" fmla="*/ 37 w 41"/>
                <a:gd name="T5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" h="25">
                  <a:moveTo>
                    <a:pt x="37" y="0"/>
                  </a:moveTo>
                  <a:cubicBezTo>
                    <a:pt x="35" y="0"/>
                    <a:pt x="33" y="0"/>
                    <a:pt x="34" y="1"/>
                  </a:cubicBezTo>
                  <a:cubicBezTo>
                    <a:pt x="31" y="1"/>
                    <a:pt x="28" y="0"/>
                    <a:pt x="24" y="0"/>
                  </a:cubicBezTo>
                  <a:cubicBezTo>
                    <a:pt x="16" y="0"/>
                    <a:pt x="6" y="2"/>
                    <a:pt x="0" y="4"/>
                  </a:cubicBezTo>
                  <a:cubicBezTo>
                    <a:pt x="0" y="4"/>
                    <a:pt x="1" y="4"/>
                    <a:pt x="1" y="4"/>
                  </a:cubicBezTo>
                  <a:cubicBezTo>
                    <a:pt x="2" y="4"/>
                    <a:pt x="3" y="5"/>
                    <a:pt x="2" y="6"/>
                  </a:cubicBezTo>
                  <a:cubicBezTo>
                    <a:pt x="2" y="6"/>
                    <a:pt x="3" y="6"/>
                    <a:pt x="3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6" y="6"/>
                    <a:pt x="6" y="6"/>
                    <a:pt x="7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9" y="11"/>
                    <a:pt x="12" y="16"/>
                    <a:pt x="6" y="19"/>
                  </a:cubicBezTo>
                  <a:cubicBezTo>
                    <a:pt x="9" y="20"/>
                    <a:pt x="4" y="24"/>
                    <a:pt x="8" y="25"/>
                  </a:cubicBezTo>
                  <a:cubicBezTo>
                    <a:pt x="8" y="25"/>
                    <a:pt x="8" y="25"/>
                    <a:pt x="9" y="25"/>
                  </a:cubicBezTo>
                  <a:cubicBezTo>
                    <a:pt x="9" y="25"/>
                    <a:pt x="10" y="25"/>
                    <a:pt x="11" y="25"/>
                  </a:cubicBezTo>
                  <a:cubicBezTo>
                    <a:pt x="16" y="17"/>
                    <a:pt x="25" y="18"/>
                    <a:pt x="33" y="14"/>
                  </a:cubicBezTo>
                  <a:cubicBezTo>
                    <a:pt x="33" y="14"/>
                    <a:pt x="33" y="14"/>
                    <a:pt x="33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0" y="14"/>
                    <a:pt x="30" y="14"/>
                    <a:pt x="30" y="13"/>
                  </a:cubicBezTo>
                  <a:cubicBezTo>
                    <a:pt x="31" y="13"/>
                    <a:pt x="31" y="11"/>
                    <a:pt x="32" y="11"/>
                  </a:cubicBezTo>
                  <a:cubicBezTo>
                    <a:pt x="33" y="11"/>
                    <a:pt x="34" y="12"/>
                    <a:pt x="36" y="13"/>
                  </a:cubicBezTo>
                  <a:cubicBezTo>
                    <a:pt x="36" y="10"/>
                    <a:pt x="32" y="12"/>
                    <a:pt x="32" y="9"/>
                  </a:cubicBezTo>
                  <a:cubicBezTo>
                    <a:pt x="34" y="9"/>
                    <a:pt x="34" y="9"/>
                    <a:pt x="35" y="9"/>
                  </a:cubicBezTo>
                  <a:cubicBezTo>
                    <a:pt x="35" y="9"/>
                    <a:pt x="36" y="9"/>
                    <a:pt x="37" y="9"/>
                  </a:cubicBezTo>
                  <a:cubicBezTo>
                    <a:pt x="38" y="6"/>
                    <a:pt x="40" y="4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0"/>
                    <a:pt x="39" y="0"/>
                    <a:pt x="37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04" name="Freeform 63"/>
            <p:cNvSpPr/>
            <p:nvPr/>
          </p:nvSpPr>
          <p:spPr bwMode="auto">
            <a:xfrm>
              <a:off x="3432968" y="2857501"/>
              <a:ext cx="53975" cy="20638"/>
            </a:xfrm>
            <a:custGeom>
              <a:avLst/>
              <a:gdLst>
                <a:gd name="T0" fmla="*/ 5 w 8"/>
                <a:gd name="T1" fmla="*/ 0 h 3"/>
                <a:gd name="T2" fmla="*/ 0 w 8"/>
                <a:gd name="T3" fmla="*/ 2 h 3"/>
                <a:gd name="T4" fmla="*/ 2 w 8"/>
                <a:gd name="T5" fmla="*/ 3 h 3"/>
                <a:gd name="T6" fmla="*/ 8 w 8"/>
                <a:gd name="T7" fmla="*/ 2 h 3"/>
                <a:gd name="T8" fmla="*/ 5 w 8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3">
                  <a:moveTo>
                    <a:pt x="5" y="0"/>
                  </a:moveTo>
                  <a:cubicBezTo>
                    <a:pt x="3" y="0"/>
                    <a:pt x="0" y="1"/>
                    <a:pt x="0" y="2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4" y="3"/>
                    <a:pt x="5" y="2"/>
                    <a:pt x="8" y="2"/>
                  </a:cubicBezTo>
                  <a:cubicBezTo>
                    <a:pt x="8" y="0"/>
                    <a:pt x="7" y="0"/>
                    <a:pt x="5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05" name="Freeform 64"/>
            <p:cNvSpPr/>
            <p:nvPr/>
          </p:nvSpPr>
          <p:spPr bwMode="auto">
            <a:xfrm>
              <a:off x="3447255" y="3414713"/>
              <a:ext cx="19050" cy="28575"/>
            </a:xfrm>
            <a:custGeom>
              <a:avLst/>
              <a:gdLst>
                <a:gd name="T0" fmla="*/ 1 w 3"/>
                <a:gd name="T1" fmla="*/ 0 h 4"/>
                <a:gd name="T2" fmla="*/ 0 w 3"/>
                <a:gd name="T3" fmla="*/ 1 h 4"/>
                <a:gd name="T4" fmla="*/ 1 w 3"/>
                <a:gd name="T5" fmla="*/ 4 h 4"/>
                <a:gd name="T6" fmla="*/ 1 w 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0" y="3"/>
                    <a:pt x="1" y="4"/>
                  </a:cubicBezTo>
                  <a:cubicBezTo>
                    <a:pt x="2" y="3"/>
                    <a:pt x="3" y="0"/>
                    <a:pt x="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18" name="Freeform 65"/>
            <p:cNvSpPr/>
            <p:nvPr/>
          </p:nvSpPr>
          <p:spPr bwMode="auto">
            <a:xfrm>
              <a:off x="4537868" y="3476626"/>
              <a:ext cx="90488" cy="76200"/>
            </a:xfrm>
            <a:custGeom>
              <a:avLst/>
              <a:gdLst>
                <a:gd name="T0" fmla="*/ 8 w 13"/>
                <a:gd name="T1" fmla="*/ 0 h 11"/>
                <a:gd name="T2" fmla="*/ 5 w 13"/>
                <a:gd name="T3" fmla="*/ 2 h 11"/>
                <a:gd name="T4" fmla="*/ 2 w 13"/>
                <a:gd name="T5" fmla="*/ 5 h 11"/>
                <a:gd name="T6" fmla="*/ 1 w 13"/>
                <a:gd name="T7" fmla="*/ 4 h 11"/>
                <a:gd name="T8" fmla="*/ 2 w 13"/>
                <a:gd name="T9" fmla="*/ 10 h 11"/>
                <a:gd name="T10" fmla="*/ 10 w 13"/>
                <a:gd name="T11" fmla="*/ 11 h 11"/>
                <a:gd name="T12" fmla="*/ 13 w 13"/>
                <a:gd name="T13" fmla="*/ 4 h 11"/>
                <a:gd name="T14" fmla="*/ 11 w 13"/>
                <a:gd name="T15" fmla="*/ 0 h 11"/>
                <a:gd name="T16" fmla="*/ 11 w 13"/>
                <a:gd name="T17" fmla="*/ 0 h 11"/>
                <a:gd name="T18" fmla="*/ 9 w 13"/>
                <a:gd name="T19" fmla="*/ 3 h 11"/>
                <a:gd name="T20" fmla="*/ 9 w 13"/>
                <a:gd name="T21" fmla="*/ 0 h 11"/>
                <a:gd name="T22" fmla="*/ 8 w 13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11">
                  <a:moveTo>
                    <a:pt x="8" y="0"/>
                  </a:moveTo>
                  <a:cubicBezTo>
                    <a:pt x="7" y="0"/>
                    <a:pt x="6" y="1"/>
                    <a:pt x="5" y="2"/>
                  </a:cubicBezTo>
                  <a:cubicBezTo>
                    <a:pt x="4" y="3"/>
                    <a:pt x="3" y="5"/>
                    <a:pt x="2" y="5"/>
                  </a:cubicBezTo>
                  <a:cubicBezTo>
                    <a:pt x="2" y="5"/>
                    <a:pt x="2" y="4"/>
                    <a:pt x="1" y="4"/>
                  </a:cubicBezTo>
                  <a:cubicBezTo>
                    <a:pt x="0" y="7"/>
                    <a:pt x="3" y="7"/>
                    <a:pt x="2" y="10"/>
                  </a:cubicBezTo>
                  <a:cubicBezTo>
                    <a:pt x="6" y="10"/>
                    <a:pt x="7" y="10"/>
                    <a:pt x="10" y="11"/>
                  </a:cubicBezTo>
                  <a:cubicBezTo>
                    <a:pt x="9" y="7"/>
                    <a:pt x="12" y="6"/>
                    <a:pt x="13" y="4"/>
                  </a:cubicBezTo>
                  <a:cubicBezTo>
                    <a:pt x="12" y="3"/>
                    <a:pt x="12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9" y="0"/>
                    <a:pt x="10" y="2"/>
                    <a:pt x="9" y="3"/>
                  </a:cubicBezTo>
                  <a:cubicBezTo>
                    <a:pt x="8" y="1"/>
                    <a:pt x="11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19" name="Freeform 66"/>
            <p:cNvSpPr/>
            <p:nvPr/>
          </p:nvSpPr>
          <p:spPr bwMode="auto">
            <a:xfrm>
              <a:off x="3940968" y="3656013"/>
              <a:ext cx="68263" cy="123825"/>
            </a:xfrm>
            <a:custGeom>
              <a:avLst/>
              <a:gdLst>
                <a:gd name="T0" fmla="*/ 9 w 10"/>
                <a:gd name="T1" fmla="*/ 0 h 18"/>
                <a:gd name="T2" fmla="*/ 4 w 10"/>
                <a:gd name="T3" fmla="*/ 4 h 18"/>
                <a:gd name="T4" fmla="*/ 3 w 10"/>
                <a:gd name="T5" fmla="*/ 4 h 18"/>
                <a:gd name="T6" fmla="*/ 1 w 10"/>
                <a:gd name="T7" fmla="*/ 17 h 18"/>
                <a:gd name="T8" fmla="*/ 1 w 10"/>
                <a:gd name="T9" fmla="*/ 17 h 18"/>
                <a:gd name="T10" fmla="*/ 3 w 10"/>
                <a:gd name="T11" fmla="*/ 18 h 18"/>
                <a:gd name="T12" fmla="*/ 10 w 10"/>
                <a:gd name="T13" fmla="*/ 2 h 18"/>
                <a:gd name="T14" fmla="*/ 9 w 10"/>
                <a:gd name="T1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8">
                  <a:moveTo>
                    <a:pt x="9" y="0"/>
                  </a:moveTo>
                  <a:cubicBezTo>
                    <a:pt x="7" y="1"/>
                    <a:pt x="6" y="4"/>
                    <a:pt x="4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9"/>
                    <a:pt x="0" y="12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2" y="17"/>
                    <a:pt x="3" y="17"/>
                    <a:pt x="3" y="18"/>
                  </a:cubicBezTo>
                  <a:cubicBezTo>
                    <a:pt x="7" y="14"/>
                    <a:pt x="7" y="7"/>
                    <a:pt x="10" y="2"/>
                  </a:cubicBezTo>
                  <a:cubicBezTo>
                    <a:pt x="10" y="1"/>
                    <a:pt x="9" y="1"/>
                    <a:pt x="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429745" y="4148055"/>
            <a:ext cx="212519" cy="283359"/>
            <a:chOff x="2387600" y="2311381"/>
            <a:chExt cx="1219603" cy="1219603"/>
          </a:xfrm>
        </p:grpSpPr>
        <p:sp>
          <p:nvSpPr>
            <p:cNvPr id="121" name="泪滴形 120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122" name="椭圆 121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FFD597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713567" y="3790288"/>
            <a:ext cx="212519" cy="283359"/>
            <a:chOff x="2387600" y="2311381"/>
            <a:chExt cx="1219603" cy="1219603"/>
          </a:xfrm>
        </p:grpSpPr>
        <p:sp>
          <p:nvSpPr>
            <p:cNvPr id="124" name="泪滴形 123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125" name="椭圆 124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01ACBE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1382248" y="4060423"/>
            <a:ext cx="212519" cy="283359"/>
            <a:chOff x="2387600" y="2311381"/>
            <a:chExt cx="1219603" cy="1219603"/>
          </a:xfrm>
        </p:grpSpPr>
        <p:sp>
          <p:nvSpPr>
            <p:cNvPr id="127" name="泪滴形 126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128" name="椭圆 127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E87071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1664738" y="4792578"/>
            <a:ext cx="212519" cy="283359"/>
            <a:chOff x="2387600" y="2311381"/>
            <a:chExt cx="1219603" cy="1219603"/>
          </a:xfrm>
        </p:grpSpPr>
        <p:sp>
          <p:nvSpPr>
            <p:cNvPr id="130" name="泪滴形 129"/>
            <p:cNvSpPr/>
            <p:nvPr/>
          </p:nvSpPr>
          <p:spPr>
            <a:xfrm rot="18900000" flipH="1" flipV="1">
              <a:off x="2387600" y="2311381"/>
              <a:ext cx="1219603" cy="1219603"/>
            </a:xfrm>
            <a:prstGeom prst="teardrop">
              <a:avLst/>
            </a:prstGeom>
            <a:gradFill flip="none" rotWithShape="0"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ln w="1270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80000"/>
                    </a:schemeClr>
                  </a:gs>
                </a:gsLst>
                <a:lin ang="13500000" scaled="0"/>
                <a:tileRect/>
              </a:gradFill>
            </a:ln>
            <a:effectLst>
              <a:outerShdw blurRad="101600" dist="50800" dir="8100000" algn="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131" name="椭圆 130"/>
            <p:cNvSpPr/>
            <p:nvPr/>
          </p:nvSpPr>
          <p:spPr>
            <a:xfrm>
              <a:off x="2565783" y="2489564"/>
              <a:ext cx="863236" cy="863236"/>
            </a:xfrm>
            <a:prstGeom prst="ellipse">
              <a:avLst/>
            </a:prstGeom>
            <a:solidFill>
              <a:srgbClr val="663A77"/>
            </a:solidFill>
            <a:ln w="9525">
              <a:gradFill flip="none" rotWithShape="1">
                <a:gsLst>
                  <a:gs pos="0">
                    <a:schemeClr val="bg1">
                      <a:lumMod val="70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132" name="文本框 131"/>
          <p:cNvSpPr txBox="1"/>
          <p:nvPr/>
        </p:nvSpPr>
        <p:spPr>
          <a:xfrm>
            <a:off x="859253" y="4255558"/>
            <a:ext cx="88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>
                <a:solidFill>
                  <a:srgbClr val="F45159"/>
                </a:solidFill>
              </a:rPr>
              <a:t>？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323528" y="1124744"/>
            <a:ext cx="8430260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0" dirty="0" smtClean="0">
                <a:latin typeface="Microsoft YaHei" charset="-122"/>
                <a:ea typeface="Microsoft YaHei" charset="-122"/>
                <a:cs typeface="Microsoft YaHei" charset="-122"/>
              </a:rPr>
              <a:t>机器学习</a:t>
            </a:r>
            <a:r>
              <a:rPr lang="zh-CN" altLang="en-US" sz="2400" b="0" dirty="0">
                <a:latin typeface="Microsoft YaHei" charset="-122"/>
                <a:ea typeface="Microsoft YaHei" charset="-122"/>
                <a:cs typeface="Microsoft YaHei" charset="-122"/>
              </a:rPr>
              <a:t>就是让计算机从大量的数据中学习到相关的规律和逻辑，然后利用学习来的规律</a:t>
            </a:r>
            <a:r>
              <a:rPr lang="zh-CN" altLang="en-US" sz="2400" b="0" dirty="0" smtClean="0">
                <a:latin typeface="Microsoft YaHei" charset="-122"/>
                <a:ea typeface="Microsoft YaHei" charset="-122"/>
                <a:cs typeface="Microsoft YaHei" charset="-122"/>
              </a:rPr>
              <a:t>来进行决策，推理和识别等。</a:t>
            </a:r>
            <a:endParaRPr lang="en-US" altLang="zh-CN" sz="2400" b="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437813" y="286392"/>
            <a:ext cx="3877985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/>
              <a:t>什么是机器学习？</a:t>
            </a:r>
          </a:p>
        </p:txBody>
      </p:sp>
      <p:sp>
        <p:nvSpPr>
          <p:cNvPr id="95" name="流程图: 数据 5"/>
          <p:cNvSpPr/>
          <p:nvPr/>
        </p:nvSpPr>
        <p:spPr>
          <a:xfrm>
            <a:off x="1635802" y="5582991"/>
            <a:ext cx="1439732" cy="64319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FF"/>
                </a:solidFill>
                <a:latin typeface="Calibri" charset="0"/>
              </a:rPr>
              <a:t>测试数据</a:t>
            </a:r>
          </a:p>
        </p:txBody>
      </p:sp>
      <p:sp>
        <p:nvSpPr>
          <p:cNvPr id="96" name="流程图: 过程 6"/>
          <p:cNvSpPr/>
          <p:nvPr/>
        </p:nvSpPr>
        <p:spPr>
          <a:xfrm>
            <a:off x="3885409" y="2576897"/>
            <a:ext cx="1189866" cy="737765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FF"/>
                </a:solidFill>
                <a:latin typeface="Calibri" charset="0"/>
              </a:rPr>
              <a:t>发现规律</a:t>
            </a:r>
          </a:p>
        </p:txBody>
      </p:sp>
      <p:sp>
        <p:nvSpPr>
          <p:cNvPr id="97" name="流程图: 过程 7"/>
          <p:cNvSpPr/>
          <p:nvPr/>
        </p:nvSpPr>
        <p:spPr>
          <a:xfrm>
            <a:off x="3811325" y="5467032"/>
            <a:ext cx="1296987" cy="863600"/>
          </a:xfrm>
          <a:prstGeom prst="flowChartProcess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/>
              <a:t>测试</a:t>
            </a:r>
            <a:endParaRPr lang="zh-CN" altLang="en-US" dirty="0"/>
          </a:p>
        </p:txBody>
      </p:sp>
      <p:sp>
        <p:nvSpPr>
          <p:cNvPr id="98" name="流程图: 终止 8"/>
          <p:cNvSpPr/>
          <p:nvPr/>
        </p:nvSpPr>
        <p:spPr>
          <a:xfrm>
            <a:off x="6107471" y="5490993"/>
            <a:ext cx="1512888" cy="768349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solidFill>
                  <a:srgbClr val="FFFFFF"/>
                </a:solidFill>
                <a:latin typeface="Calibri" charset="0"/>
              </a:rPr>
              <a:t>结果评估</a:t>
            </a:r>
            <a:endParaRPr lang="zh-CN" altLang="en-US" dirty="0">
              <a:solidFill>
                <a:srgbClr val="FFFFFF"/>
              </a:solidFill>
              <a:latin typeface="Calibri" charset="0"/>
            </a:endParaRPr>
          </a:p>
        </p:txBody>
      </p:sp>
      <p:sp>
        <p:nvSpPr>
          <p:cNvPr id="99" name="流程图: 数据 9"/>
          <p:cNvSpPr/>
          <p:nvPr/>
        </p:nvSpPr>
        <p:spPr>
          <a:xfrm>
            <a:off x="3717932" y="4021194"/>
            <a:ext cx="1458915" cy="789836"/>
          </a:xfrm>
          <a:prstGeom prst="flowChartInputOutpu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/>
              <a:t>规则</a:t>
            </a:r>
          </a:p>
        </p:txBody>
      </p:sp>
      <p:sp>
        <p:nvSpPr>
          <p:cNvPr id="100" name="下箭头 99"/>
          <p:cNvSpPr/>
          <p:nvPr/>
        </p:nvSpPr>
        <p:spPr>
          <a:xfrm>
            <a:off x="4279636" y="3380061"/>
            <a:ext cx="360363" cy="5757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1" name="下箭头 100"/>
          <p:cNvSpPr/>
          <p:nvPr/>
        </p:nvSpPr>
        <p:spPr>
          <a:xfrm>
            <a:off x="4279638" y="4848747"/>
            <a:ext cx="360363" cy="57573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6" name="右箭头 105"/>
          <p:cNvSpPr/>
          <p:nvPr/>
        </p:nvSpPr>
        <p:spPr>
          <a:xfrm>
            <a:off x="3214695" y="2620644"/>
            <a:ext cx="503237" cy="4804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7" name="右箭头 106"/>
          <p:cNvSpPr/>
          <p:nvPr/>
        </p:nvSpPr>
        <p:spPr>
          <a:xfrm>
            <a:off x="3156184" y="5655216"/>
            <a:ext cx="503237" cy="4804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8" name="右箭头 107"/>
          <p:cNvSpPr/>
          <p:nvPr/>
        </p:nvSpPr>
        <p:spPr>
          <a:xfrm>
            <a:off x="5346203" y="5641140"/>
            <a:ext cx="503238" cy="4804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9" name="TextBox 20"/>
          <p:cNvSpPr txBox="1">
            <a:spLocks noChangeArrowheads="1"/>
          </p:cNvSpPr>
          <p:nvPr/>
        </p:nvSpPr>
        <p:spPr bwMode="auto">
          <a:xfrm>
            <a:off x="1963492" y="6242535"/>
            <a:ext cx="8835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b="1">
                <a:latin typeface="Calibri" charset="0"/>
              </a:rPr>
              <a:t>邮件</a:t>
            </a:r>
            <a:r>
              <a:rPr lang="en-US" altLang="zh-CN" b="1" dirty="0">
                <a:latin typeface="Calibri" charset="0"/>
              </a:rPr>
              <a:t>X</a:t>
            </a:r>
            <a:r>
              <a:rPr lang="en-US" altLang="zh-CN" b="1" baseline="-25000" dirty="0">
                <a:latin typeface="Calibri" charset="0"/>
              </a:rPr>
              <a:t>i</a:t>
            </a:r>
            <a:endParaRPr lang="en-US" altLang="zh-CN" b="1" dirty="0">
              <a:latin typeface="Calibri" charset="0"/>
            </a:endParaRPr>
          </a:p>
        </p:txBody>
      </p:sp>
      <p:sp>
        <p:nvSpPr>
          <p:cNvPr id="110" name="TextBox 21"/>
          <p:cNvSpPr txBox="1">
            <a:spLocks noChangeArrowheads="1"/>
          </p:cNvSpPr>
          <p:nvPr/>
        </p:nvSpPr>
        <p:spPr bwMode="auto">
          <a:xfrm>
            <a:off x="6232871" y="6269250"/>
            <a:ext cx="18751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Calibri" charset="0"/>
              </a:rPr>
              <a:t>Y</a:t>
            </a:r>
            <a:r>
              <a:rPr lang="en-US" altLang="zh-CN" b="1" baseline="-25000" dirty="0">
                <a:latin typeface="Calibri" charset="0"/>
              </a:rPr>
              <a:t>i</a:t>
            </a:r>
            <a:r>
              <a:rPr lang="zh-CN" altLang="en-US" b="1" dirty="0">
                <a:latin typeface="Calibri" charset="0"/>
              </a:rPr>
              <a:t>：垃圾</a:t>
            </a:r>
            <a:r>
              <a:rPr lang="en-US" altLang="zh-CN" b="1" dirty="0">
                <a:latin typeface="Calibri" charset="0"/>
              </a:rPr>
              <a:t>or</a:t>
            </a:r>
            <a:r>
              <a:rPr lang="zh-CN" altLang="en-US" b="1" dirty="0">
                <a:latin typeface="Calibri" charset="0"/>
              </a:rPr>
              <a:t>正常</a:t>
            </a:r>
            <a:endParaRPr lang="en-US" altLang="zh-CN" b="1" dirty="0">
              <a:latin typeface="Calibri" charset="0"/>
            </a:endParaRPr>
          </a:p>
        </p:txBody>
      </p:sp>
      <p:pic>
        <p:nvPicPr>
          <p:cNvPr id="111" name="Picture 2" descr="C:\Program Files\Microsoft Office\MEDIA\CAGCAT10\j0195812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023" y="2234472"/>
            <a:ext cx="918529" cy="12578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" name="矩形标注 111"/>
          <p:cNvSpPr/>
          <p:nvPr/>
        </p:nvSpPr>
        <p:spPr>
          <a:xfrm>
            <a:off x="6333619" y="2448945"/>
            <a:ext cx="1982797" cy="1556723"/>
          </a:xfrm>
          <a:prstGeom prst="wedgeRectCallout">
            <a:avLst>
              <a:gd name="adj1" fmla="val -116458"/>
              <a:gd name="adj2" fmla="val 839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Calibri" charset="0"/>
              <a:buAutoNum type="arabicPeriod"/>
            </a:pPr>
            <a:r>
              <a:rPr lang="zh-CN" altLang="en-US" sz="1400">
                <a:solidFill>
                  <a:srgbClr val="FFFFFF"/>
                </a:solidFill>
                <a:latin typeface="Calibri" charset="0"/>
              </a:rPr>
              <a:t>发件人邮件地址异常；</a:t>
            </a:r>
            <a:endParaRPr lang="en-US" altLang="zh-CN" sz="1400">
              <a:solidFill>
                <a:srgbClr val="FFFFFF"/>
              </a:solidFill>
              <a:latin typeface="Calibri" charset="0"/>
            </a:endParaRPr>
          </a:p>
          <a:p>
            <a:pPr eaLnBrk="1" hangingPunct="1">
              <a:buFont typeface="Calibri" charset="0"/>
              <a:buAutoNum type="arabicPeriod"/>
            </a:pPr>
            <a:r>
              <a:rPr lang="zh-CN" altLang="en-US" sz="1400">
                <a:solidFill>
                  <a:srgbClr val="FFFFFF"/>
                </a:solidFill>
                <a:latin typeface="Calibri" charset="0"/>
              </a:rPr>
              <a:t>标题含有“低价促销”</a:t>
            </a:r>
            <a:endParaRPr lang="en-US" altLang="zh-CN" sz="1400">
              <a:solidFill>
                <a:srgbClr val="FFFFFF"/>
              </a:solidFill>
              <a:latin typeface="Calibri" charset="0"/>
            </a:endParaRPr>
          </a:p>
          <a:p>
            <a:pPr eaLnBrk="1" hangingPunct="1">
              <a:buFont typeface="Calibri" charset="0"/>
              <a:buAutoNum type="arabicPeriod"/>
            </a:pPr>
            <a:r>
              <a:rPr lang="en-US" altLang="zh-CN" sz="1400">
                <a:solidFill>
                  <a:srgbClr val="FFFFFF"/>
                </a:solidFill>
                <a:latin typeface="Calibri" charset="0"/>
              </a:rPr>
              <a:t>…</a:t>
            </a:r>
            <a:endParaRPr lang="zh-CN" altLang="en-US" sz="1400">
              <a:solidFill>
                <a:srgbClr val="FFFFFF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707488"/>
      </p:ext>
    </p:extLst>
  </p:cSld>
  <p:clrMapOvr>
    <a:masterClrMapping/>
  </p:clrMapOvr>
  <p:transition advTm="0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5" grpId="0" bldLvl="0" animBg="1"/>
      <p:bldP spid="6" grpId="0" bldLvl="0" animBg="1"/>
      <p:bldP spid="7" grpId="0" bldLvl="0" animBg="1"/>
      <p:bldP spid="11" grpId="0" bldLvl="0" animBg="1"/>
      <p:bldP spid="109" grpId="0"/>
      <p:bldP spid="110" grpId="0"/>
      <p:bldP spid="1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 </a:t>
            </a:r>
            <a:r>
              <a:rPr lang="en-US" altLang="zh-CN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vs. </a:t>
            </a: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人类学习</a:t>
            </a:r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345882"/>
            <a:ext cx="8568952" cy="4752528"/>
          </a:xfrm>
          <a:prstGeom prst="rect">
            <a:avLst/>
          </a:prstGeom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41504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934" descr="说明: http://img.mp.sohu.com/upload/20170620/206e7ab31b934ef18d78b639a875b81d_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47505"/>
            <a:ext cx="7560840" cy="5767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机器学习分类</a:t>
            </a:r>
          </a:p>
        </p:txBody>
      </p:sp>
    </p:spTree>
    <p:extLst>
      <p:ext uri="{BB962C8B-B14F-4D97-AF65-F5344CB8AC3E}">
        <p14:creationId xmlns:p14="http://schemas.microsoft.com/office/powerpoint/2010/main" val="110554651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pc="43" dirty="0"/>
              <a:t>监督学习</a:t>
            </a:r>
          </a:p>
        </p:txBody>
      </p:sp>
      <p:sp>
        <p:nvSpPr>
          <p:cNvPr id="3" name="object 3"/>
          <p:cNvSpPr/>
          <p:nvPr/>
        </p:nvSpPr>
        <p:spPr>
          <a:xfrm>
            <a:off x="558088" y="1628800"/>
            <a:ext cx="8027824" cy="37745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</p:spTree>
    <p:extLst>
      <p:ext uri="{BB962C8B-B14F-4D97-AF65-F5344CB8AC3E}">
        <p14:creationId xmlns:p14="http://schemas.microsoft.com/office/powerpoint/2010/main" val="3584793261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半监督学习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/>
              <a:t>1. </a:t>
            </a:r>
            <a:r>
              <a:rPr lang="zh-CN" altLang="en-US" sz="2400" dirty="0" smtClean="0"/>
              <a:t>有</a:t>
            </a:r>
            <a:r>
              <a:rPr lang="zh-CN" altLang="en-US" sz="2400" dirty="0"/>
              <a:t>标记样本难以获取</a:t>
            </a:r>
            <a:r>
              <a:rPr lang="en-US" altLang="zh-CN" sz="2400" dirty="0"/>
              <a:t>.</a:t>
            </a:r>
          </a:p>
          <a:p>
            <a:pPr lvl="1"/>
            <a:r>
              <a:rPr lang="zh-CN" altLang="en-US" sz="2400" dirty="0"/>
              <a:t>需要专门的人员</a:t>
            </a:r>
            <a:r>
              <a:rPr lang="en-US" altLang="zh-CN" sz="2400" dirty="0"/>
              <a:t>,</a:t>
            </a:r>
            <a:r>
              <a:rPr lang="zh-CN" altLang="en-US" sz="2400" dirty="0"/>
              <a:t>特别的设备</a:t>
            </a:r>
            <a:r>
              <a:rPr lang="en-US" altLang="zh-CN" sz="2400" dirty="0"/>
              <a:t>,</a:t>
            </a:r>
            <a:r>
              <a:rPr lang="zh-CN" altLang="en-US" sz="2400" dirty="0"/>
              <a:t>额外的开销等等</a:t>
            </a:r>
            <a:r>
              <a:rPr lang="en-US" altLang="zh-CN" sz="2400" dirty="0"/>
              <a:t>.</a:t>
            </a:r>
          </a:p>
          <a:p>
            <a:r>
              <a:rPr lang="en-US" altLang="zh-CN" sz="2400" dirty="0"/>
              <a:t>2</a:t>
            </a:r>
            <a:r>
              <a:rPr lang="en-US" altLang="zh-CN" sz="2400" dirty="0" smtClean="0"/>
              <a:t>. </a:t>
            </a:r>
            <a:r>
              <a:rPr lang="zh-CN" altLang="en-US" sz="2400" dirty="0" smtClean="0"/>
              <a:t>无</a:t>
            </a:r>
            <a:r>
              <a:rPr lang="zh-CN" altLang="en-US" sz="2400" dirty="0"/>
              <a:t>标记的样本相对而言是很廉价的</a:t>
            </a:r>
            <a:r>
              <a:rPr lang="en-US" altLang="zh-CN" sz="2400" dirty="0"/>
              <a:t>.</a:t>
            </a:r>
          </a:p>
          <a:p>
            <a:endParaRPr lang="zh-CN" altLang="en-US" sz="2400" dirty="0"/>
          </a:p>
        </p:txBody>
      </p:sp>
      <p:pic>
        <p:nvPicPr>
          <p:cNvPr id="2050" name="Picture 2" descr="https://img-blog.csdn.net/20131031170511078?watermark/2/text/aHR0cDovL2Jsb2cuY3Nkbi5uZXQvaWNlMTEwOTU2/font/5a6L5L2T/fontsize/400/fill/I0JBQkFCMA==/dissolve/70/gravity/SouthEa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747306"/>
            <a:ext cx="7848872" cy="410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17990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678" y="200253"/>
            <a:ext cx="7709538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sz="3200" b="0" spc="43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无监督学习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4294967295"/>
          </p:nvPr>
        </p:nvSpPr>
        <p:spPr>
          <a:xfrm>
            <a:off x="6970713" y="6092825"/>
            <a:ext cx="2173287" cy="334643"/>
          </a:xfrm>
          <a:prstGeom prst="rect">
            <a:avLst/>
          </a:prstGeom>
        </p:spPr>
        <p:txBody>
          <a:bodyPr vert="horz" wrap="square" lIns="0" tIns="26607" rIns="0" bIns="0" rtlCol="0">
            <a:spAutoFit/>
          </a:bodyPr>
          <a:lstStyle/>
          <a:p>
            <a:pPr marL="10860">
              <a:spcBef>
                <a:spcPts val="209"/>
              </a:spcBef>
            </a:pPr>
            <a:r>
              <a:rPr lang="zh-CN" altLang="en-US" spc="-4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 </a:t>
            </a:r>
            <a:endParaRPr spc="-4" dirty="0">
              <a:latin typeface="微软雅黑" panose="020B0503020204020204" pitchFamily="34" charset="-122"/>
              <a:ea typeface="微软雅黑" panose="020B0503020204020204" pitchFamily="34" charset="-122"/>
              <a:hlinkClick r:id="rId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82250" y="3131302"/>
            <a:ext cx="110770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密度估计</a:t>
            </a:r>
            <a:endParaRPr sz="2052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71076" y="3142166"/>
            <a:ext cx="110770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异常检测</a:t>
            </a:r>
            <a:endParaRPr sz="2052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42571" y="5655151"/>
            <a:ext cx="56471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降维</a:t>
            </a:r>
            <a:endParaRPr sz="2052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7492" y="1335353"/>
            <a:ext cx="3372282" cy="1802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7" name="object 7"/>
          <p:cNvSpPr/>
          <p:nvPr/>
        </p:nvSpPr>
        <p:spPr>
          <a:xfrm>
            <a:off x="4195752" y="1194991"/>
            <a:ext cx="3868903" cy="196420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/>
          </a:p>
        </p:txBody>
      </p:sp>
      <p:sp>
        <p:nvSpPr>
          <p:cNvPr id="8" name="object 8"/>
          <p:cNvSpPr/>
          <p:nvPr/>
        </p:nvSpPr>
        <p:spPr>
          <a:xfrm>
            <a:off x="1115616" y="3873750"/>
            <a:ext cx="2505472" cy="207385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276" y="5655150"/>
            <a:ext cx="564713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>
              <a:lnSpc>
                <a:spcPts val="2428"/>
              </a:lnSpc>
            </a:pPr>
            <a:r>
              <a:rPr sz="2052" b="1" spc="77" dirty="0"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聚类</a:t>
            </a:r>
            <a:endParaRPr sz="2052" dirty="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59571" y="3903766"/>
            <a:ext cx="4045297" cy="16053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49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218659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79926" y="190381"/>
            <a:ext cx="5688632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 smtClean="0"/>
              <a:t>（有监督）机器学习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372950" y="1124744"/>
            <a:ext cx="5449109" cy="5407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2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、对语言、文字的认知与识别</a:t>
            </a:r>
          </a:p>
          <a:p>
            <a:pPr>
              <a:lnSpc>
                <a:spcPct val="200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、对图像、场景、自然物体的认知与识别</a:t>
            </a:r>
          </a:p>
          <a:p>
            <a:pPr>
              <a:lnSpc>
                <a:spcPct val="200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、对规则的学习与掌握</a:t>
            </a:r>
          </a:p>
          <a:p>
            <a:pPr>
              <a:lnSpc>
                <a:spcPct val="200000"/>
              </a:lnSpc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例如：下雨天要带伞，生病要吃药，天冷了要穿厚衣服等</a:t>
            </a:r>
          </a:p>
          <a:p>
            <a:pPr>
              <a:lnSpc>
                <a:spcPct val="200000"/>
              </a:lnSpc>
            </a:pPr>
            <a:r>
              <a:rPr lang="en-US" altLang="zh-CN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、对复杂事物的推理与判断能力</a:t>
            </a:r>
          </a:p>
          <a:p>
            <a:pPr>
              <a:lnSpc>
                <a:spcPct val="200000"/>
              </a:lnSpc>
            </a:pPr>
            <a:r>
              <a:rPr lang="zh-CN" altLang="en-US" sz="2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例如：好人与坏人的辨别能力，事物的正误的判断</a:t>
            </a:r>
            <a:r>
              <a:rPr lang="zh-CN" altLang="en-US" sz="22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endParaRPr lang="zh-CN" altLang="en-US" sz="2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1340768"/>
            <a:ext cx="2856812" cy="187220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152" y="4221088"/>
            <a:ext cx="2856812" cy="189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49479"/>
      </p:ext>
    </p:extLst>
  </p:cSld>
  <p:clrMapOvr>
    <a:masterClrMapping/>
  </p:clrMapOvr>
  <p:transition advTm="0">
    <p:wedg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机器学习基本过程</a:t>
            </a:r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/>
          </p:nvPr>
        </p:nvGraphicFramePr>
        <p:xfrm>
          <a:off x="251520" y="1381918"/>
          <a:ext cx="8712968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1582" y="5854699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792762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例子：天气预报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>
          <a:xfrm>
            <a:off x="395536" y="1124744"/>
            <a:ext cx="8229600" cy="525621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目标：</a:t>
            </a:r>
            <a:r>
              <a:rPr lang="zh-CN" altLang="en-US" sz="2400" dirty="0" smtClean="0"/>
              <a:t>预测明天</a:t>
            </a:r>
            <a:r>
              <a:rPr lang="zh-CN" altLang="en-US" sz="2400" dirty="0"/>
              <a:t>北京</a:t>
            </a:r>
            <a:r>
              <a:rPr lang="zh-CN" altLang="en-US" sz="2400" dirty="0" smtClean="0"/>
              <a:t>会不会下雨</a:t>
            </a:r>
            <a:endParaRPr lang="en-US" altLang="zh-CN" sz="2400" dirty="0" smtClean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数据：</a:t>
            </a:r>
            <a:r>
              <a:rPr lang="zh-CN" altLang="en-US" sz="2400" dirty="0" smtClean="0"/>
              <a:t>过去</a:t>
            </a:r>
            <a:r>
              <a:rPr lang="en-US" altLang="zh-CN" sz="2400" dirty="0" smtClean="0"/>
              <a:t>10</a:t>
            </a:r>
            <a:r>
              <a:rPr lang="zh-CN" altLang="en-US" sz="2400" dirty="0" smtClean="0"/>
              <a:t>年</a:t>
            </a:r>
            <a:r>
              <a:rPr lang="zh-CN" altLang="en-US" sz="2400" dirty="0"/>
              <a:t>北京</a:t>
            </a:r>
            <a:r>
              <a:rPr lang="zh-CN" altLang="en-US" sz="2400" dirty="0" smtClean="0"/>
              <a:t>每一天的天气数据</a:t>
            </a:r>
            <a:endParaRPr lang="en-US" altLang="zh-CN" sz="2400" dirty="0" smtClean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 smtClean="0"/>
              <a:t>那天是否下雨：是</a:t>
            </a:r>
            <a:r>
              <a:rPr lang="en-US" altLang="zh-CN" sz="2000" dirty="0" smtClean="0"/>
              <a:t>/</a:t>
            </a:r>
            <a:r>
              <a:rPr lang="zh-CN" altLang="en-US" sz="2000" dirty="0" smtClean="0"/>
              <a:t>否</a:t>
            </a:r>
            <a:endParaRPr lang="en-US" altLang="zh-CN" sz="2000" dirty="0" smtClean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 smtClean="0"/>
              <a:t>那天的前一天傍晚</a:t>
            </a:r>
            <a:r>
              <a:rPr lang="en-US" altLang="zh-CN" sz="2000" dirty="0" smtClean="0"/>
              <a:t>18</a:t>
            </a:r>
            <a:r>
              <a:rPr lang="zh-CN" altLang="en-US" sz="2000" dirty="0" smtClean="0"/>
              <a:t>点的气温、相对湿度、风向、风速、气压等</a:t>
            </a:r>
            <a:r>
              <a:rPr lang="en-US" altLang="zh-CN" sz="2000" dirty="0" smtClean="0"/>
              <a:t>(</a:t>
            </a:r>
            <a:r>
              <a:rPr lang="zh-CN" altLang="en-US" sz="2000" dirty="0" smtClean="0"/>
              <a:t>特征</a:t>
            </a:r>
            <a:r>
              <a:rPr lang="en-US" altLang="zh-CN" sz="2000" dirty="0" smtClean="0"/>
              <a:t>)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dirty="0"/>
              <a:t>某</a:t>
            </a:r>
            <a:r>
              <a:rPr lang="zh-CN" altLang="en-US" sz="2000" dirty="0" smtClean="0"/>
              <a:t>条数据</a:t>
            </a:r>
            <a:r>
              <a:rPr lang="en-US" altLang="zh-CN" sz="2000" dirty="0" smtClean="0"/>
              <a:t>:  &lt;18, 20, </a:t>
            </a:r>
            <a:r>
              <a:rPr lang="zh-CN" altLang="en-US" sz="2000" dirty="0" smtClean="0"/>
              <a:t>东</a:t>
            </a:r>
            <a:r>
              <a:rPr lang="en-US" altLang="zh-CN" sz="2000" dirty="0" smtClean="0"/>
              <a:t>, 15, 80, </a:t>
            </a:r>
            <a:r>
              <a:rPr lang="zh-CN" altLang="en-US" sz="2000" dirty="0" smtClean="0"/>
              <a:t>是</a:t>
            </a:r>
            <a:r>
              <a:rPr lang="en-US" altLang="zh-CN" sz="2000" dirty="0" smtClean="0"/>
              <a:t>&gt;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训练：</a:t>
            </a:r>
            <a:r>
              <a:rPr lang="zh-CN" altLang="en-US" sz="2400" dirty="0" smtClean="0"/>
              <a:t>学习得到规律（模型）</a:t>
            </a:r>
            <a:endParaRPr lang="en-US" altLang="zh-CN" sz="2400" dirty="0" smtClean="0"/>
          </a:p>
          <a:p>
            <a:pPr eaLnBrk="1" hangingPunct="1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0000"/>
                </a:solidFill>
              </a:rPr>
              <a:t>预测：</a:t>
            </a:r>
            <a:r>
              <a:rPr lang="zh-CN" altLang="en-US" sz="2400" dirty="0" smtClean="0"/>
              <a:t>给定今天傍晚</a:t>
            </a:r>
            <a:r>
              <a:rPr lang="en-US" altLang="zh-CN" sz="2400" dirty="0" smtClean="0"/>
              <a:t>18</a:t>
            </a:r>
            <a:r>
              <a:rPr lang="zh-CN" altLang="en-US" sz="2400" dirty="0" smtClean="0"/>
              <a:t>点的气温、相对湿度、风向、风速、气压等、根据模型预测明天是否下雨</a:t>
            </a:r>
            <a:endParaRPr lang="en-US" altLang="zh-CN" sz="2400" dirty="0" smtClean="0"/>
          </a:p>
          <a:p>
            <a:pPr lvl="1" eaLnBrk="1" hangingPunct="1">
              <a:lnSpc>
                <a:spcPct val="150000"/>
              </a:lnSpc>
            </a:pPr>
            <a:endParaRPr lang="zh-CN" altLang="en-US" sz="2000" dirty="0" smtClean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408422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0" y="64380"/>
            <a:ext cx="9144000" cy="936104"/>
          </a:xfr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机器学习的关键问题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>
          <a:xfrm>
            <a:off x="323528" y="1052736"/>
            <a:ext cx="8136904" cy="3174078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表示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r>
              <a:rPr lang="zh-CN" altLang="en-US" dirty="0" smtClean="0"/>
              <a:t>如何表示数据样本？</a:t>
            </a:r>
            <a:endParaRPr lang="en-US" altLang="zh-CN" dirty="0" smtClean="0"/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 smtClean="0"/>
              <a:t>通常用一个向量来表示一个样本，向量中选用哪些特征是关键</a:t>
            </a:r>
            <a:endParaRPr lang="en-US" altLang="zh-CN" dirty="0" smtClean="0"/>
          </a:p>
          <a:p>
            <a:pPr eaLnBrk="1" hangingPunct="1">
              <a:lnSpc>
                <a:spcPct val="20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 smtClean="0">
                <a:solidFill>
                  <a:srgbClr val="FF0000"/>
                </a:solidFill>
              </a:rPr>
              <a:t>训练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r>
              <a:rPr lang="zh-CN" altLang="en-US" dirty="0" smtClean="0"/>
              <a:t>如何找出规律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模型</a:t>
            </a:r>
            <a:r>
              <a:rPr lang="en-US" altLang="zh-CN" dirty="0" smtClean="0"/>
              <a:t>+</a:t>
            </a:r>
            <a:r>
              <a:rPr lang="zh-CN" altLang="en-US" dirty="0" smtClean="0"/>
              <a:t>策略</a:t>
            </a:r>
            <a:r>
              <a:rPr lang="en-US" altLang="zh-CN" dirty="0" smtClean="0"/>
              <a:t>+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】</a:t>
            </a:r>
            <a:r>
              <a:rPr lang="zh-CN" altLang="en-US" dirty="0" smtClean="0"/>
              <a:t>*</a:t>
            </a:r>
            <a:endParaRPr lang="en-US" altLang="zh-CN" dirty="0" smtClean="0"/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 smtClean="0"/>
              <a:t>通常变成一个选择题，给你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个候选的模型让你选。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模型</a:t>
            </a:r>
            <a:r>
              <a:rPr lang="en-US" altLang="zh-CN" dirty="0" smtClean="0"/>
              <a:t>】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 smtClean="0"/>
              <a:t>确定选择的标准（什么样的模型才叫好模型）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策略</a:t>
            </a:r>
            <a:r>
              <a:rPr lang="en-US" altLang="zh-CN" dirty="0" smtClean="0"/>
              <a:t>】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 smtClean="0"/>
              <a:t>如何快速地从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个模型中选出最好的</a:t>
            </a:r>
            <a:r>
              <a:rPr lang="en-US" altLang="zh-CN" dirty="0" smtClean="0"/>
              <a:t>【</a:t>
            </a:r>
            <a:r>
              <a:rPr lang="zh-CN" altLang="en-US" dirty="0" smtClean="0"/>
              <a:t>算法</a:t>
            </a:r>
            <a:r>
              <a:rPr lang="en-US" altLang="zh-CN" dirty="0" smtClean="0"/>
              <a:t>】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【</a:t>
            </a:r>
            <a:r>
              <a:rPr lang="zh-CN" altLang="en-US" dirty="0">
                <a:solidFill>
                  <a:srgbClr val="FF0000"/>
                </a:solidFill>
              </a:rPr>
              <a:t>测试</a:t>
            </a:r>
            <a:r>
              <a:rPr lang="en-US" altLang="zh-CN" dirty="0" smtClean="0">
                <a:solidFill>
                  <a:srgbClr val="FF0000"/>
                </a:solidFill>
              </a:rPr>
              <a:t>】</a:t>
            </a:r>
            <a:r>
              <a:rPr lang="zh-CN" altLang="en-US" dirty="0" smtClean="0"/>
              <a:t>如何根据找到的规律进行预测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118173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 smtClean="0"/>
              <a:t>机器学习任务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l="38981" t="39633" r="39363" b="25164"/>
          <a:stretch/>
        </p:blipFill>
        <p:spPr>
          <a:xfrm>
            <a:off x="2195735" y="3429000"/>
            <a:ext cx="4937293" cy="3282799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 bwMode="auto">
          <a:xfrm>
            <a:off x="4385636" y="2043377"/>
            <a:ext cx="2520280" cy="578882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统计分类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2629610" y="2045159"/>
            <a:ext cx="1224133" cy="57888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肘形连接符 7"/>
          <p:cNvCxnSpPr>
            <a:stCxn id="7" idx="3"/>
            <a:endCxn id="6" idx="1"/>
          </p:cNvCxnSpPr>
          <p:nvPr/>
        </p:nvCxnSpPr>
        <p:spPr bwMode="auto">
          <a:xfrm flipV="1">
            <a:off x="3853743" y="2332818"/>
            <a:ext cx="531893" cy="1782"/>
          </a:xfrm>
          <a:prstGeom prst="bent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 bwMode="auto">
          <a:xfrm>
            <a:off x="755576" y="2045159"/>
            <a:ext cx="1224133" cy="57888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924437" y="2043377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……</a:t>
            </a:r>
            <a:endParaRPr lang="zh-CN" altLang="en-US" sz="2400" dirty="0"/>
          </a:p>
        </p:txBody>
      </p:sp>
      <p:sp>
        <p:nvSpPr>
          <p:cNvPr id="13" name="圆角矩形 12"/>
          <p:cNvSpPr/>
          <p:nvPr/>
        </p:nvSpPr>
        <p:spPr bwMode="auto">
          <a:xfrm>
            <a:off x="7438064" y="2076899"/>
            <a:ext cx="1229070" cy="510778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离散值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肘形连接符 13"/>
          <p:cNvCxnSpPr>
            <a:stCxn id="6" idx="3"/>
            <a:endCxn id="13" idx="1"/>
          </p:cNvCxnSpPr>
          <p:nvPr/>
        </p:nvCxnSpPr>
        <p:spPr bwMode="auto">
          <a:xfrm flipV="1">
            <a:off x="6905916" y="2332288"/>
            <a:ext cx="532148" cy="530"/>
          </a:xfrm>
          <a:prstGeom prst="bent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 bwMode="auto">
          <a:xfrm>
            <a:off x="4385636" y="2779146"/>
            <a:ext cx="2520280" cy="578882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回归分析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 bwMode="auto">
          <a:xfrm>
            <a:off x="2629610" y="2780928"/>
            <a:ext cx="1224133" cy="57888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肘形连接符 16"/>
          <p:cNvCxnSpPr>
            <a:stCxn id="16" idx="3"/>
            <a:endCxn id="15" idx="1"/>
          </p:cNvCxnSpPr>
          <p:nvPr/>
        </p:nvCxnSpPr>
        <p:spPr bwMode="auto">
          <a:xfrm flipV="1">
            <a:off x="3853743" y="3068587"/>
            <a:ext cx="531893" cy="1782"/>
          </a:xfrm>
          <a:prstGeom prst="bent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 bwMode="auto">
          <a:xfrm>
            <a:off x="755576" y="2780928"/>
            <a:ext cx="1224133" cy="578882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924437" y="277914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……</a:t>
            </a:r>
            <a:endParaRPr lang="zh-CN" altLang="en-US" sz="2400" dirty="0"/>
          </a:p>
        </p:txBody>
      </p:sp>
      <p:sp>
        <p:nvSpPr>
          <p:cNvPr id="20" name="圆角矩形 19"/>
          <p:cNvSpPr/>
          <p:nvPr/>
        </p:nvSpPr>
        <p:spPr bwMode="auto">
          <a:xfrm>
            <a:off x="7438064" y="2809399"/>
            <a:ext cx="1229070" cy="510778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连续值</a:t>
            </a:r>
            <a:endParaRPr kumimoji="0" lang="zh-CN" alt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肘形连接符 20"/>
          <p:cNvCxnSpPr>
            <a:stCxn id="15" idx="3"/>
            <a:endCxn id="20" idx="1"/>
          </p:cNvCxnSpPr>
          <p:nvPr/>
        </p:nvCxnSpPr>
        <p:spPr bwMode="auto">
          <a:xfrm flipV="1">
            <a:off x="6905916" y="3064788"/>
            <a:ext cx="532148" cy="3799"/>
          </a:xfrm>
          <a:prstGeom prst="bentConnector3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715603" y="1152015"/>
            <a:ext cx="34563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/>
              <a:t>y=f(x)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23842710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452554" y="1074097"/>
          <a:ext cx="8280924" cy="5688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077">
                  <a:extLst>
                    <a:ext uri="{9D8B030D-6E8A-4147-A177-3AD203B41FA5}">
                      <a16:colId xmlns:a16="http://schemas.microsoft.com/office/drawing/2014/main" val="210428111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2821570698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40565386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98006328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255675933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46163333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651433617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4256746619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386747695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10259104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883089577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5444583"/>
                    </a:ext>
                  </a:extLst>
                </a:gridCol>
              </a:tblGrid>
              <a:tr h="437587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X1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X2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X3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X4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X8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X9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X10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650806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365954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42163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720242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524409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33067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P6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644876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311955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P8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432061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P9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739063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P10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5794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…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49541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New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64703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 bwMode="auto">
          <a:xfrm>
            <a:off x="452554" y="6309320"/>
            <a:ext cx="828092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8026457" y="1054341"/>
            <a:ext cx="0" cy="568863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>
            <a:off x="465617" y="1499774"/>
            <a:ext cx="828092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机器学习（预测）问题范式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8912756"/>
      </p:ext>
    </p:extLst>
  </p:cSld>
  <p:clrMapOvr>
    <a:masterClrMapping/>
  </p:clrMapOvr>
  <p:transition spd="slow">
    <p:circl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类别型特征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92720" y="1242126"/>
            <a:ext cx="875856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序号编码</a:t>
            </a:r>
            <a:endParaRPr lang="zh-CN" altLang="zh-CN" sz="24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序号编码通常用于处理类别间具有大小关系的数据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。对 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类别型特征赋予一个数值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ID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，例如高表示为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3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、中表示为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2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、低表示为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，。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2"/>
              <a:tabLst>
                <a:tab pos="457200" algn="l"/>
              </a:tabLs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独热编码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(one-hot)</a:t>
            </a:r>
            <a:endParaRPr lang="zh-CN" altLang="zh-CN" sz="24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独热编码通常用于处理类别间不具有大小关系的特征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。如血型有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4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个 取值（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B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AB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O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型血），独热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编码</a:t>
            </a:r>
            <a:r>
              <a:rPr lang="en-US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型血表示为（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1, 0, 0, 0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），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B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型血表示为（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0, 1, 0, </a:t>
            </a:r>
            <a:r>
              <a:rPr lang="en-US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0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二进制编码</a:t>
            </a:r>
            <a:endParaRPr lang="zh-CN" altLang="zh-CN" sz="24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二进制编码主要分为两步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，给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每个类别赋予一个类别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ID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，将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类别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ID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对应的二进制编码作为结果。以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B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AB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、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O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血型为例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</a:t>
            </a:r>
            <a:r>
              <a:rPr lang="en-US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A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型血的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ID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1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，二进制表示为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001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；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B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型血的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ID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2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，二进制表示为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 </a:t>
            </a:r>
            <a:r>
              <a:rPr lang="en-US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010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</a:t>
            </a:r>
            <a:endParaRPr lang="zh-CN" altLang="zh-CN" sz="2400" b="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 descr="http://wx1.sinaimg.cn/mw690/00630Defly1g5cdqz4zruj30lf07d74g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86" y="4720000"/>
            <a:ext cx="8725294" cy="213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469129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文本表示模型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6716" y="1124744"/>
            <a:ext cx="8830568" cy="44758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400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词袋模型和</a:t>
            </a:r>
            <a:r>
              <a:rPr lang="en-US" altLang="zh-CN" sz="2400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N-gram</a:t>
            </a:r>
            <a:r>
              <a:rPr lang="zh-CN" altLang="zh-CN" sz="2400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模型</a:t>
            </a:r>
            <a:endParaRPr lang="zh-CN" altLang="zh-CN" sz="28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最基础的文本表示模型是词袋模型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</a:t>
            </a:r>
            <a:endParaRPr lang="en-US" altLang="zh-CN" b="0" kern="0" dirty="0" smtClean="0">
              <a:solidFill>
                <a:srgbClr val="333333"/>
              </a:solidFill>
              <a:latin typeface="等线" panose="02010600030101010101" pitchFamily="2" charset="-122"/>
              <a:ea typeface="微软雅黑" panose="020B0503020204020204" pitchFamily="34" charset="-122"/>
              <a:cs typeface="Helvetica" panose="020B0604020202020204" pitchFamily="34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就是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将每篇文章看成一袋子 词，并忽略每个词出现的顺序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 startAt="2"/>
              <a:tabLst>
                <a:tab pos="457200" algn="l"/>
              </a:tabLst>
            </a:pPr>
            <a:r>
              <a:rPr lang="zh-CN" altLang="zh-CN" sz="2400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主题模型</a:t>
            </a:r>
            <a:endParaRPr lang="zh-CN" altLang="zh-CN" sz="28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主题模型用于从文本库中发现有代表性的主题（得到每个主题上面词的分布 特性），并且能够计算出每篇文章的主题分布。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Font typeface="+mj-lt"/>
              <a:buAutoNum type="arabicPeriod" startAt="3"/>
              <a:tabLst>
                <a:tab pos="457200" algn="l"/>
              </a:tabLst>
            </a:pPr>
            <a:r>
              <a:rPr lang="zh-CN" altLang="zh-CN" sz="2400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词嵌入与深度学习模型</a:t>
            </a:r>
            <a:endParaRPr lang="zh-CN" altLang="zh-CN" sz="28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50000"/>
              </a:lnSpc>
              <a:spcAft>
                <a:spcPts val="0"/>
              </a:spcAft>
            </a:pP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词嵌入是一类将词向量化的模型的统称，核心思想是将每个词都映射成低维 空间（通常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K=50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～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300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维）上的一个稠密向量（</a:t>
            </a:r>
            <a:r>
              <a:rPr lang="en-US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Dense Vector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）</a:t>
            </a:r>
            <a:r>
              <a:rPr lang="zh-CN" altLang="zh-CN" b="0" kern="0" dirty="0" smtClean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。</a:t>
            </a:r>
            <a:endParaRPr lang="zh-CN" altLang="zh-CN" sz="2400" b="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52503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文本框 201"/>
          <p:cNvSpPr txBox="1"/>
          <p:nvPr/>
        </p:nvSpPr>
        <p:spPr>
          <a:xfrm>
            <a:off x="1966923" y="5373216"/>
            <a:ext cx="55707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噪声太多导致算法过拟合怎么办？</a:t>
            </a:r>
            <a:endParaRPr lang="en-US" altLang="zh-CN" sz="28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ctr"/>
            <a:r>
              <a:rPr lang="en-US" altLang="zh-CN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--</a:t>
            </a:r>
            <a:r>
              <a:rPr lang="zh-CN" altLang="en-US" sz="28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预处理，过滤噪声</a:t>
            </a:r>
            <a:endParaRPr lang="zh-CN" altLang="en-US" sz="28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759108" y="1512168"/>
          <a:ext cx="5760640" cy="3429000"/>
        </p:xfrm>
        <a:graphic>
          <a:graphicData uri="http://schemas.openxmlformats.org/drawingml/2006/table">
            <a:tbl>
              <a:tblPr/>
              <a:tblGrid>
                <a:gridCol w="1121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35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0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年龄</a:t>
                      </a:r>
                      <a:endParaRPr lang="zh-CN" altLang="en-US" sz="2000" b="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肝脏大小</a:t>
                      </a:r>
                      <a:endParaRPr lang="zh-CN" altLang="en-US" sz="2000" b="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体重</a:t>
                      </a:r>
                      <a:endParaRPr lang="zh-CN" altLang="en-US" sz="2000" b="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肝硬化</a:t>
                      </a:r>
                      <a:endParaRPr lang="zh-CN" altLang="en-US" sz="2000" b="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23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60kg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78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65kg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36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55kg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34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13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80kg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13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43kg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46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11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75kg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是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22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63kg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29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59kg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505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58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10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71kg</a:t>
                      </a:r>
                      <a:endParaRPr lang="zh-CN" altLang="en-US" sz="2000" dirty="0"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 smtClean="0">
                          <a:solidFill>
                            <a:srgbClr val="333333"/>
                          </a:solidFill>
                          <a:effectLst/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否</a:t>
                      </a:r>
                      <a:endParaRPr lang="en-US" altLang="zh-CN" sz="2000" dirty="0">
                        <a:solidFill>
                          <a:srgbClr val="333333"/>
                        </a:solidFill>
                        <a:effectLst/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marL="95250" marR="95250" marT="19050" marB="19050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样本问题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532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圆角矩形 37"/>
          <p:cNvSpPr/>
          <p:nvPr/>
        </p:nvSpPr>
        <p:spPr bwMode="auto">
          <a:xfrm>
            <a:off x="531540" y="2453339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1383483" y="2446823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 bwMode="auto">
          <a:xfrm>
            <a:off x="1848708" y="2453339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 bwMode="auto">
          <a:xfrm>
            <a:off x="3696889" y="3203865"/>
            <a:ext cx="534755" cy="96797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sp>
        <p:nvSpPr>
          <p:cNvPr id="35" name="圆角矩形 34"/>
          <p:cNvSpPr/>
          <p:nvPr/>
        </p:nvSpPr>
        <p:spPr bwMode="auto">
          <a:xfrm>
            <a:off x="521898" y="2104112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特征样本集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右箭头 119"/>
          <p:cNvSpPr/>
          <p:nvPr/>
        </p:nvSpPr>
        <p:spPr bwMode="auto">
          <a:xfrm>
            <a:off x="3000741" y="3535899"/>
            <a:ext cx="499535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7" name="圆角矩形 156"/>
          <p:cNvSpPr/>
          <p:nvPr/>
        </p:nvSpPr>
        <p:spPr bwMode="auto">
          <a:xfrm>
            <a:off x="2147247" y="2477568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圆角矩形 164"/>
          <p:cNvSpPr/>
          <p:nvPr/>
        </p:nvSpPr>
        <p:spPr bwMode="auto">
          <a:xfrm>
            <a:off x="523266" y="2809380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圆角矩形 165"/>
          <p:cNvSpPr/>
          <p:nvPr/>
        </p:nvSpPr>
        <p:spPr bwMode="auto">
          <a:xfrm>
            <a:off x="1375209" y="2802864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圆角矩形 166"/>
          <p:cNvSpPr/>
          <p:nvPr/>
        </p:nvSpPr>
        <p:spPr bwMode="auto">
          <a:xfrm>
            <a:off x="1840434" y="2809380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圆角矩形 167"/>
          <p:cNvSpPr/>
          <p:nvPr/>
        </p:nvSpPr>
        <p:spPr bwMode="auto">
          <a:xfrm>
            <a:off x="2138973" y="2833609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圆角矩形 168"/>
          <p:cNvSpPr/>
          <p:nvPr/>
        </p:nvSpPr>
        <p:spPr bwMode="auto">
          <a:xfrm>
            <a:off x="523266" y="316789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圆角矩形 169"/>
          <p:cNvSpPr/>
          <p:nvPr/>
        </p:nvSpPr>
        <p:spPr bwMode="auto">
          <a:xfrm>
            <a:off x="1375209" y="316137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圆角矩形 170"/>
          <p:cNvSpPr/>
          <p:nvPr/>
        </p:nvSpPr>
        <p:spPr bwMode="auto">
          <a:xfrm>
            <a:off x="1840434" y="316789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圆角矩形 171"/>
          <p:cNvSpPr/>
          <p:nvPr/>
        </p:nvSpPr>
        <p:spPr bwMode="auto">
          <a:xfrm>
            <a:off x="2138973" y="3192121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圆角矩形 172"/>
          <p:cNvSpPr/>
          <p:nvPr/>
        </p:nvSpPr>
        <p:spPr bwMode="auto">
          <a:xfrm>
            <a:off x="6349903" y="2677883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圆角矩形 173"/>
          <p:cNvSpPr/>
          <p:nvPr/>
        </p:nvSpPr>
        <p:spPr bwMode="auto">
          <a:xfrm>
            <a:off x="7201846" y="2671367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圆角矩形 174"/>
          <p:cNvSpPr/>
          <p:nvPr/>
        </p:nvSpPr>
        <p:spPr bwMode="auto">
          <a:xfrm>
            <a:off x="7667071" y="2677883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圆角矩形 175"/>
          <p:cNvSpPr/>
          <p:nvPr/>
        </p:nvSpPr>
        <p:spPr bwMode="auto">
          <a:xfrm>
            <a:off x="6340261" y="2328656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圆角矩形 176"/>
          <p:cNvSpPr/>
          <p:nvPr/>
        </p:nvSpPr>
        <p:spPr bwMode="auto">
          <a:xfrm>
            <a:off x="7965610" y="2702112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圆角矩形 177"/>
          <p:cNvSpPr/>
          <p:nvPr/>
        </p:nvSpPr>
        <p:spPr bwMode="auto">
          <a:xfrm>
            <a:off x="6341629" y="3033924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圆角矩形 178"/>
          <p:cNvSpPr/>
          <p:nvPr/>
        </p:nvSpPr>
        <p:spPr bwMode="auto">
          <a:xfrm>
            <a:off x="7193572" y="3027408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圆角矩形 179"/>
          <p:cNvSpPr/>
          <p:nvPr/>
        </p:nvSpPr>
        <p:spPr bwMode="auto">
          <a:xfrm>
            <a:off x="7658797" y="3033924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圆角矩形 180"/>
          <p:cNvSpPr/>
          <p:nvPr/>
        </p:nvSpPr>
        <p:spPr bwMode="auto">
          <a:xfrm>
            <a:off x="7957336" y="3058153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圆角矩形 181"/>
          <p:cNvSpPr/>
          <p:nvPr/>
        </p:nvSpPr>
        <p:spPr bwMode="auto">
          <a:xfrm>
            <a:off x="6341629" y="3392436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圆角矩形 182"/>
          <p:cNvSpPr/>
          <p:nvPr/>
        </p:nvSpPr>
        <p:spPr bwMode="auto">
          <a:xfrm>
            <a:off x="7193572" y="3385920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圆角矩形 183"/>
          <p:cNvSpPr/>
          <p:nvPr/>
        </p:nvSpPr>
        <p:spPr bwMode="auto">
          <a:xfrm>
            <a:off x="7658797" y="3392436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圆角矩形 184"/>
          <p:cNvSpPr/>
          <p:nvPr/>
        </p:nvSpPr>
        <p:spPr bwMode="auto">
          <a:xfrm>
            <a:off x="7957336" y="3416665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圆角矩形 185"/>
          <p:cNvSpPr/>
          <p:nvPr/>
        </p:nvSpPr>
        <p:spPr bwMode="auto">
          <a:xfrm>
            <a:off x="6329558" y="4190051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圆角矩形 186"/>
          <p:cNvSpPr/>
          <p:nvPr/>
        </p:nvSpPr>
        <p:spPr bwMode="auto">
          <a:xfrm>
            <a:off x="7181501" y="4183535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" name="圆角矩形 187"/>
          <p:cNvSpPr/>
          <p:nvPr/>
        </p:nvSpPr>
        <p:spPr bwMode="auto">
          <a:xfrm>
            <a:off x="7646726" y="4190051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圆角矩形 188"/>
          <p:cNvSpPr/>
          <p:nvPr/>
        </p:nvSpPr>
        <p:spPr bwMode="auto">
          <a:xfrm>
            <a:off x="6319916" y="3840824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圆角矩形 189"/>
          <p:cNvSpPr/>
          <p:nvPr/>
        </p:nvSpPr>
        <p:spPr bwMode="auto">
          <a:xfrm>
            <a:off x="7945265" y="4214280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圆角矩形 190"/>
          <p:cNvSpPr/>
          <p:nvPr/>
        </p:nvSpPr>
        <p:spPr bwMode="auto">
          <a:xfrm>
            <a:off x="6321284" y="454609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圆角矩形 191"/>
          <p:cNvSpPr/>
          <p:nvPr/>
        </p:nvSpPr>
        <p:spPr bwMode="auto">
          <a:xfrm>
            <a:off x="7173227" y="453957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圆角矩形 192"/>
          <p:cNvSpPr/>
          <p:nvPr/>
        </p:nvSpPr>
        <p:spPr bwMode="auto">
          <a:xfrm>
            <a:off x="7638452" y="454609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圆角矩形 193"/>
          <p:cNvSpPr/>
          <p:nvPr/>
        </p:nvSpPr>
        <p:spPr bwMode="auto">
          <a:xfrm>
            <a:off x="7936991" y="4570321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圆角矩形 66"/>
          <p:cNvSpPr/>
          <p:nvPr/>
        </p:nvSpPr>
        <p:spPr bwMode="auto">
          <a:xfrm>
            <a:off x="4452573" y="3767007"/>
            <a:ext cx="1172744" cy="408623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过滤采样</a:t>
            </a:r>
          </a:p>
        </p:txBody>
      </p:sp>
      <p:sp>
        <p:nvSpPr>
          <p:cNvPr id="68" name="圆角矩形 67"/>
          <p:cNvSpPr/>
          <p:nvPr/>
        </p:nvSpPr>
        <p:spPr bwMode="auto">
          <a:xfrm>
            <a:off x="4452789" y="3193259"/>
            <a:ext cx="1172744" cy="408623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划分集合</a:t>
            </a:r>
          </a:p>
        </p:txBody>
      </p:sp>
      <p:cxnSp>
        <p:nvCxnSpPr>
          <p:cNvPr id="69" name="肘形连接符 68"/>
          <p:cNvCxnSpPr>
            <a:stCxn id="62" idx="3"/>
            <a:endCxn id="67" idx="1"/>
          </p:cNvCxnSpPr>
          <p:nvPr/>
        </p:nvCxnSpPr>
        <p:spPr bwMode="auto">
          <a:xfrm>
            <a:off x="4231644" y="3687854"/>
            <a:ext cx="220929" cy="283465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肘形连接符 71"/>
          <p:cNvCxnSpPr>
            <a:stCxn id="62" idx="3"/>
            <a:endCxn id="68" idx="1"/>
          </p:cNvCxnSpPr>
          <p:nvPr/>
        </p:nvCxnSpPr>
        <p:spPr bwMode="auto">
          <a:xfrm flipV="1">
            <a:off x="4231644" y="3397571"/>
            <a:ext cx="221145" cy="29028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右箭头 74"/>
          <p:cNvSpPr/>
          <p:nvPr/>
        </p:nvSpPr>
        <p:spPr bwMode="auto">
          <a:xfrm>
            <a:off x="5745739" y="3535898"/>
            <a:ext cx="499535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0" name="圆角矩形 79"/>
          <p:cNvSpPr/>
          <p:nvPr/>
        </p:nvSpPr>
        <p:spPr bwMode="auto">
          <a:xfrm>
            <a:off x="523050" y="3511718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圆角矩形 80"/>
          <p:cNvSpPr/>
          <p:nvPr/>
        </p:nvSpPr>
        <p:spPr bwMode="auto">
          <a:xfrm>
            <a:off x="1374993" y="3505202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圆角矩形 81"/>
          <p:cNvSpPr/>
          <p:nvPr/>
        </p:nvSpPr>
        <p:spPr bwMode="auto">
          <a:xfrm>
            <a:off x="1840218" y="3511718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圆角矩形 82"/>
          <p:cNvSpPr/>
          <p:nvPr/>
        </p:nvSpPr>
        <p:spPr bwMode="auto">
          <a:xfrm>
            <a:off x="2138757" y="3535947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圆角矩形 83"/>
          <p:cNvSpPr/>
          <p:nvPr/>
        </p:nvSpPr>
        <p:spPr bwMode="auto">
          <a:xfrm>
            <a:off x="514776" y="3867759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圆角矩形 84"/>
          <p:cNvSpPr/>
          <p:nvPr/>
        </p:nvSpPr>
        <p:spPr bwMode="auto">
          <a:xfrm>
            <a:off x="1366719" y="3861243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圆角矩形 85"/>
          <p:cNvSpPr/>
          <p:nvPr/>
        </p:nvSpPr>
        <p:spPr bwMode="auto">
          <a:xfrm>
            <a:off x="1831944" y="3867759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圆角矩形 86"/>
          <p:cNvSpPr/>
          <p:nvPr/>
        </p:nvSpPr>
        <p:spPr bwMode="auto">
          <a:xfrm>
            <a:off x="2130483" y="3891988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圆角矩形 87"/>
          <p:cNvSpPr/>
          <p:nvPr/>
        </p:nvSpPr>
        <p:spPr bwMode="auto">
          <a:xfrm>
            <a:off x="514776" y="4226271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圆角矩形 88"/>
          <p:cNvSpPr/>
          <p:nvPr/>
        </p:nvSpPr>
        <p:spPr bwMode="auto">
          <a:xfrm>
            <a:off x="1366719" y="4219755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圆角矩形 89"/>
          <p:cNvSpPr/>
          <p:nvPr/>
        </p:nvSpPr>
        <p:spPr bwMode="auto">
          <a:xfrm>
            <a:off x="1831944" y="4226271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圆角矩形 90"/>
          <p:cNvSpPr/>
          <p:nvPr/>
        </p:nvSpPr>
        <p:spPr bwMode="auto">
          <a:xfrm>
            <a:off x="2130483" y="4250500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圆角矩形 91"/>
          <p:cNvSpPr/>
          <p:nvPr/>
        </p:nvSpPr>
        <p:spPr bwMode="auto">
          <a:xfrm>
            <a:off x="514776" y="4558314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圆角矩形 92"/>
          <p:cNvSpPr/>
          <p:nvPr/>
        </p:nvSpPr>
        <p:spPr bwMode="auto">
          <a:xfrm>
            <a:off x="1366719" y="4551798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圆角矩形 93"/>
          <p:cNvSpPr/>
          <p:nvPr/>
        </p:nvSpPr>
        <p:spPr bwMode="auto">
          <a:xfrm>
            <a:off x="1831944" y="4558314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圆角矩形 94"/>
          <p:cNvSpPr/>
          <p:nvPr/>
        </p:nvSpPr>
        <p:spPr bwMode="auto">
          <a:xfrm>
            <a:off x="2130483" y="4582543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95"/>
          <p:cNvSpPr/>
          <p:nvPr/>
        </p:nvSpPr>
        <p:spPr bwMode="auto">
          <a:xfrm>
            <a:off x="514776" y="4916826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圆角矩形 96"/>
          <p:cNvSpPr/>
          <p:nvPr/>
        </p:nvSpPr>
        <p:spPr bwMode="auto">
          <a:xfrm>
            <a:off x="1366719" y="4910310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97"/>
          <p:cNvSpPr/>
          <p:nvPr/>
        </p:nvSpPr>
        <p:spPr bwMode="auto">
          <a:xfrm>
            <a:off x="1831944" y="4916826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圆角矩形 98"/>
          <p:cNvSpPr/>
          <p:nvPr/>
        </p:nvSpPr>
        <p:spPr bwMode="auto">
          <a:xfrm>
            <a:off x="2130483" y="4941055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样本</a:t>
            </a:r>
            <a:r>
              <a:rPr lang="zh-CN" altLang="en-US" dirty="0" smtClean="0"/>
              <a:t>预处理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3328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右箭头 125"/>
          <p:cNvSpPr/>
          <p:nvPr/>
        </p:nvSpPr>
        <p:spPr bwMode="auto">
          <a:xfrm>
            <a:off x="2827614" y="1556792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训练</a:t>
            </a:r>
          </a:p>
        </p:txBody>
      </p:sp>
      <p:sp>
        <p:nvSpPr>
          <p:cNvPr id="173" name="圆角矩形 172"/>
          <p:cNvSpPr/>
          <p:nvPr/>
        </p:nvSpPr>
        <p:spPr bwMode="auto">
          <a:xfrm>
            <a:off x="424773" y="1473971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圆角矩形 173"/>
          <p:cNvSpPr/>
          <p:nvPr/>
        </p:nvSpPr>
        <p:spPr bwMode="auto">
          <a:xfrm>
            <a:off x="1276716" y="1467455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圆角矩形 174"/>
          <p:cNvSpPr/>
          <p:nvPr/>
        </p:nvSpPr>
        <p:spPr bwMode="auto">
          <a:xfrm>
            <a:off x="1741941" y="1473971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圆角矩形 175"/>
          <p:cNvSpPr/>
          <p:nvPr/>
        </p:nvSpPr>
        <p:spPr bwMode="auto">
          <a:xfrm>
            <a:off x="415131" y="1124744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圆角矩形 176"/>
          <p:cNvSpPr/>
          <p:nvPr/>
        </p:nvSpPr>
        <p:spPr bwMode="auto">
          <a:xfrm>
            <a:off x="2040480" y="1498200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圆角矩形 177"/>
          <p:cNvSpPr/>
          <p:nvPr/>
        </p:nvSpPr>
        <p:spPr bwMode="auto">
          <a:xfrm>
            <a:off x="416499" y="183001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圆角矩形 178"/>
          <p:cNvSpPr/>
          <p:nvPr/>
        </p:nvSpPr>
        <p:spPr bwMode="auto">
          <a:xfrm>
            <a:off x="1268442" y="182349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圆角矩形 179"/>
          <p:cNvSpPr/>
          <p:nvPr/>
        </p:nvSpPr>
        <p:spPr bwMode="auto">
          <a:xfrm>
            <a:off x="1733667" y="183001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圆角矩形 180"/>
          <p:cNvSpPr/>
          <p:nvPr/>
        </p:nvSpPr>
        <p:spPr bwMode="auto">
          <a:xfrm>
            <a:off x="2032206" y="1854241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圆角矩形 181"/>
          <p:cNvSpPr/>
          <p:nvPr/>
        </p:nvSpPr>
        <p:spPr bwMode="auto">
          <a:xfrm>
            <a:off x="416499" y="2188524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圆角矩形 182"/>
          <p:cNvSpPr/>
          <p:nvPr/>
        </p:nvSpPr>
        <p:spPr bwMode="auto">
          <a:xfrm>
            <a:off x="1268442" y="2182008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圆角矩形 183"/>
          <p:cNvSpPr/>
          <p:nvPr/>
        </p:nvSpPr>
        <p:spPr bwMode="auto">
          <a:xfrm>
            <a:off x="1733667" y="2188524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圆角矩形 184"/>
          <p:cNvSpPr/>
          <p:nvPr/>
        </p:nvSpPr>
        <p:spPr bwMode="auto">
          <a:xfrm>
            <a:off x="2032206" y="2212753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圆角矩形 55"/>
          <p:cNvSpPr/>
          <p:nvPr/>
        </p:nvSpPr>
        <p:spPr bwMode="auto">
          <a:xfrm>
            <a:off x="415966" y="304488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圆角矩形 56"/>
          <p:cNvSpPr/>
          <p:nvPr/>
        </p:nvSpPr>
        <p:spPr bwMode="auto">
          <a:xfrm>
            <a:off x="1267909" y="303836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圆角矩形 57"/>
          <p:cNvSpPr/>
          <p:nvPr/>
        </p:nvSpPr>
        <p:spPr bwMode="auto">
          <a:xfrm>
            <a:off x="1733134" y="304488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圆角矩形 58"/>
          <p:cNvSpPr/>
          <p:nvPr/>
        </p:nvSpPr>
        <p:spPr bwMode="auto">
          <a:xfrm>
            <a:off x="406324" y="2695655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圆角矩形 59"/>
          <p:cNvSpPr/>
          <p:nvPr/>
        </p:nvSpPr>
        <p:spPr bwMode="auto">
          <a:xfrm>
            <a:off x="2031673" y="3069111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圆角矩形 60"/>
          <p:cNvSpPr/>
          <p:nvPr/>
        </p:nvSpPr>
        <p:spPr bwMode="auto">
          <a:xfrm>
            <a:off x="407692" y="3400923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 bwMode="auto">
          <a:xfrm>
            <a:off x="1259635" y="3394407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圆角矩形 62"/>
          <p:cNvSpPr/>
          <p:nvPr/>
        </p:nvSpPr>
        <p:spPr bwMode="auto">
          <a:xfrm>
            <a:off x="1724860" y="3400923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圆角矩形 63"/>
          <p:cNvSpPr/>
          <p:nvPr/>
        </p:nvSpPr>
        <p:spPr bwMode="auto">
          <a:xfrm>
            <a:off x="2023399" y="3425152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圆角矩形 64"/>
          <p:cNvSpPr/>
          <p:nvPr/>
        </p:nvSpPr>
        <p:spPr bwMode="auto">
          <a:xfrm>
            <a:off x="407692" y="3759435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圆角矩形 65"/>
          <p:cNvSpPr/>
          <p:nvPr/>
        </p:nvSpPr>
        <p:spPr bwMode="auto">
          <a:xfrm>
            <a:off x="1259635" y="3752919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 bwMode="auto">
          <a:xfrm>
            <a:off x="1724860" y="3759435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圆角矩形 71"/>
          <p:cNvSpPr/>
          <p:nvPr/>
        </p:nvSpPr>
        <p:spPr bwMode="auto">
          <a:xfrm>
            <a:off x="2023399" y="3783664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圆角矩形 73"/>
          <p:cNvSpPr/>
          <p:nvPr/>
        </p:nvSpPr>
        <p:spPr bwMode="auto">
          <a:xfrm>
            <a:off x="3811600" y="1242170"/>
            <a:ext cx="751174" cy="3168670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机器学习算法</a:t>
            </a:r>
            <a:endParaRPr kumimoji="0" lang="en-US" altLang="zh-CN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右箭头 74"/>
          <p:cNvSpPr/>
          <p:nvPr/>
        </p:nvSpPr>
        <p:spPr bwMode="auto">
          <a:xfrm>
            <a:off x="2802950" y="3042798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预测</a:t>
            </a:r>
          </a:p>
        </p:txBody>
      </p:sp>
      <p:sp>
        <p:nvSpPr>
          <p:cNvPr id="76" name="圆角矩形 75"/>
          <p:cNvSpPr/>
          <p:nvPr/>
        </p:nvSpPr>
        <p:spPr bwMode="auto">
          <a:xfrm>
            <a:off x="5727769" y="304265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圆角矩形 77"/>
          <p:cNvSpPr/>
          <p:nvPr/>
        </p:nvSpPr>
        <p:spPr bwMode="auto">
          <a:xfrm>
            <a:off x="6579712" y="303613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圆角矩形 78"/>
          <p:cNvSpPr/>
          <p:nvPr/>
        </p:nvSpPr>
        <p:spPr bwMode="auto">
          <a:xfrm>
            <a:off x="7044937" y="304265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圆角矩形 80"/>
          <p:cNvSpPr/>
          <p:nvPr/>
        </p:nvSpPr>
        <p:spPr bwMode="auto">
          <a:xfrm>
            <a:off x="5718127" y="2693425"/>
            <a:ext cx="3244868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圆角矩形 81"/>
          <p:cNvSpPr/>
          <p:nvPr/>
        </p:nvSpPr>
        <p:spPr bwMode="auto">
          <a:xfrm>
            <a:off x="7343476" y="3066881"/>
            <a:ext cx="98667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圆角矩形 82"/>
          <p:cNvSpPr/>
          <p:nvPr/>
        </p:nvSpPr>
        <p:spPr bwMode="auto">
          <a:xfrm>
            <a:off x="5719495" y="3398693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圆角矩形 83"/>
          <p:cNvSpPr/>
          <p:nvPr/>
        </p:nvSpPr>
        <p:spPr bwMode="auto">
          <a:xfrm>
            <a:off x="6571438" y="3392177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圆角矩形 84"/>
          <p:cNvSpPr/>
          <p:nvPr/>
        </p:nvSpPr>
        <p:spPr bwMode="auto">
          <a:xfrm>
            <a:off x="7036663" y="3398693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圆角矩形 85"/>
          <p:cNvSpPr/>
          <p:nvPr/>
        </p:nvSpPr>
        <p:spPr bwMode="auto">
          <a:xfrm>
            <a:off x="7335202" y="3422922"/>
            <a:ext cx="98667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圆角矩形 86"/>
          <p:cNvSpPr/>
          <p:nvPr/>
        </p:nvSpPr>
        <p:spPr bwMode="auto">
          <a:xfrm>
            <a:off x="5719495" y="3757205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圆角矩形 87"/>
          <p:cNvSpPr/>
          <p:nvPr/>
        </p:nvSpPr>
        <p:spPr bwMode="auto">
          <a:xfrm>
            <a:off x="6571438" y="3750689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圆角矩形 88"/>
          <p:cNvSpPr/>
          <p:nvPr/>
        </p:nvSpPr>
        <p:spPr bwMode="auto">
          <a:xfrm>
            <a:off x="7036663" y="3757205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圆角矩形 89"/>
          <p:cNvSpPr/>
          <p:nvPr/>
        </p:nvSpPr>
        <p:spPr bwMode="auto">
          <a:xfrm>
            <a:off x="7335202" y="3781434"/>
            <a:ext cx="98667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圆角矩形 93"/>
          <p:cNvSpPr/>
          <p:nvPr/>
        </p:nvSpPr>
        <p:spPr bwMode="auto">
          <a:xfrm>
            <a:off x="8329896" y="3075199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圆角矩形 94"/>
          <p:cNvSpPr/>
          <p:nvPr/>
        </p:nvSpPr>
        <p:spPr bwMode="auto">
          <a:xfrm>
            <a:off x="8331640" y="3422922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95"/>
          <p:cNvSpPr/>
          <p:nvPr/>
        </p:nvSpPr>
        <p:spPr bwMode="auto">
          <a:xfrm>
            <a:off x="8330147" y="3781434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右箭头 96"/>
          <p:cNvSpPr/>
          <p:nvPr/>
        </p:nvSpPr>
        <p:spPr bwMode="auto">
          <a:xfrm>
            <a:off x="4623661" y="3076314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输出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机器学习</a:t>
            </a:r>
            <a:r>
              <a:rPr lang="en-US" altLang="zh-CN" dirty="0"/>
              <a:t>-</a:t>
            </a:r>
            <a:r>
              <a:rPr lang="zh-CN" altLang="en-US" dirty="0" smtClean="0"/>
              <a:t>算法问题</a:t>
            </a:r>
            <a:endParaRPr lang="zh-CN" altLang="en-US" dirty="0"/>
          </a:p>
        </p:txBody>
      </p:sp>
      <p:sp>
        <p:nvSpPr>
          <p:cNvPr id="54" name="圆角矩形 53"/>
          <p:cNvSpPr/>
          <p:nvPr/>
        </p:nvSpPr>
        <p:spPr bwMode="auto">
          <a:xfrm>
            <a:off x="5004740" y="4871309"/>
            <a:ext cx="751174" cy="1269980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机器学习算法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圆角矩形 54"/>
          <p:cNvSpPr/>
          <p:nvPr/>
        </p:nvSpPr>
        <p:spPr bwMode="auto">
          <a:xfrm>
            <a:off x="541099" y="5061988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圆角矩形 66"/>
          <p:cNvSpPr/>
          <p:nvPr/>
        </p:nvSpPr>
        <p:spPr bwMode="auto">
          <a:xfrm>
            <a:off x="1393042" y="5055472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圆角矩形 67"/>
          <p:cNvSpPr/>
          <p:nvPr/>
        </p:nvSpPr>
        <p:spPr bwMode="auto">
          <a:xfrm>
            <a:off x="1858267" y="5061988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圆角矩形 68"/>
          <p:cNvSpPr/>
          <p:nvPr/>
        </p:nvSpPr>
        <p:spPr bwMode="auto">
          <a:xfrm>
            <a:off x="531457" y="4712761"/>
            <a:ext cx="3244868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圆角矩形 69"/>
          <p:cNvSpPr/>
          <p:nvPr/>
        </p:nvSpPr>
        <p:spPr bwMode="auto">
          <a:xfrm>
            <a:off x="2156806" y="5086217"/>
            <a:ext cx="98667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圆角矩形 72"/>
          <p:cNvSpPr/>
          <p:nvPr/>
        </p:nvSpPr>
        <p:spPr bwMode="auto">
          <a:xfrm>
            <a:off x="532825" y="5418029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圆角矩形 76"/>
          <p:cNvSpPr/>
          <p:nvPr/>
        </p:nvSpPr>
        <p:spPr bwMode="auto">
          <a:xfrm>
            <a:off x="1384768" y="5411513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圆角矩形 79"/>
          <p:cNvSpPr/>
          <p:nvPr/>
        </p:nvSpPr>
        <p:spPr bwMode="auto">
          <a:xfrm>
            <a:off x="1849993" y="5418029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圆角矩形 90"/>
          <p:cNvSpPr/>
          <p:nvPr/>
        </p:nvSpPr>
        <p:spPr bwMode="auto">
          <a:xfrm>
            <a:off x="2148532" y="5442258"/>
            <a:ext cx="98667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圆角矩形 91"/>
          <p:cNvSpPr/>
          <p:nvPr/>
        </p:nvSpPr>
        <p:spPr bwMode="auto">
          <a:xfrm>
            <a:off x="532825" y="5776541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圆角矩形 92"/>
          <p:cNvSpPr/>
          <p:nvPr/>
        </p:nvSpPr>
        <p:spPr bwMode="auto">
          <a:xfrm>
            <a:off x="1384768" y="5770025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圆角矩形 97"/>
          <p:cNvSpPr/>
          <p:nvPr/>
        </p:nvSpPr>
        <p:spPr bwMode="auto">
          <a:xfrm>
            <a:off x="1849993" y="5776541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圆角矩形 98"/>
          <p:cNvSpPr/>
          <p:nvPr/>
        </p:nvSpPr>
        <p:spPr bwMode="auto">
          <a:xfrm>
            <a:off x="2148532" y="5800770"/>
            <a:ext cx="98667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圆角矩形 99"/>
          <p:cNvSpPr/>
          <p:nvPr/>
        </p:nvSpPr>
        <p:spPr bwMode="auto">
          <a:xfrm>
            <a:off x="3143226" y="5094535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圆角矩形 100"/>
          <p:cNvSpPr/>
          <p:nvPr/>
        </p:nvSpPr>
        <p:spPr bwMode="auto">
          <a:xfrm>
            <a:off x="3144970" y="5442258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圆角矩形 101"/>
          <p:cNvSpPr/>
          <p:nvPr/>
        </p:nvSpPr>
        <p:spPr bwMode="auto">
          <a:xfrm>
            <a:off x="3143477" y="5800770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右箭头 102"/>
          <p:cNvSpPr/>
          <p:nvPr/>
        </p:nvSpPr>
        <p:spPr bwMode="auto">
          <a:xfrm>
            <a:off x="3941169" y="5094535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训练</a:t>
            </a:r>
          </a:p>
        </p:txBody>
      </p:sp>
    </p:spTree>
    <p:extLst>
      <p:ext uri="{BB962C8B-B14F-4D97-AF65-F5344CB8AC3E}">
        <p14:creationId xmlns:p14="http://schemas.microsoft.com/office/powerpoint/2010/main" val="27631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圆角矩形 117"/>
          <p:cNvSpPr/>
          <p:nvPr/>
        </p:nvSpPr>
        <p:spPr bwMode="auto">
          <a:xfrm>
            <a:off x="4847366" y="3040292"/>
            <a:ext cx="1449757" cy="442674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右箭头 125"/>
          <p:cNvSpPr/>
          <p:nvPr/>
        </p:nvSpPr>
        <p:spPr bwMode="auto">
          <a:xfrm>
            <a:off x="3707904" y="2581564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训练</a:t>
            </a:r>
          </a:p>
        </p:txBody>
      </p:sp>
      <p:sp>
        <p:nvSpPr>
          <p:cNvPr id="67" name="圆角矩形 66"/>
          <p:cNvSpPr/>
          <p:nvPr/>
        </p:nvSpPr>
        <p:spPr bwMode="auto">
          <a:xfrm>
            <a:off x="4847365" y="3694889"/>
            <a:ext cx="1449757" cy="442674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圆角矩形 67"/>
          <p:cNvSpPr/>
          <p:nvPr/>
        </p:nvSpPr>
        <p:spPr bwMode="auto">
          <a:xfrm>
            <a:off x="4847366" y="4317238"/>
            <a:ext cx="1449757" cy="442674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圆角矩形 68"/>
          <p:cNvSpPr/>
          <p:nvPr/>
        </p:nvSpPr>
        <p:spPr bwMode="auto">
          <a:xfrm>
            <a:off x="6847950" y="4321694"/>
            <a:ext cx="1445181" cy="442674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肘形连接符 2"/>
          <p:cNvCxnSpPr>
            <a:stCxn id="118" idx="3"/>
            <a:endCxn id="69" idx="0"/>
          </p:cNvCxnSpPr>
          <p:nvPr/>
        </p:nvCxnSpPr>
        <p:spPr bwMode="auto">
          <a:xfrm>
            <a:off x="6297123" y="3261629"/>
            <a:ext cx="1273418" cy="1060065"/>
          </a:xfrm>
          <a:prstGeom prst="bentConnector2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肘形连接符 72"/>
          <p:cNvCxnSpPr>
            <a:stCxn id="67" idx="3"/>
            <a:endCxn id="69" idx="0"/>
          </p:cNvCxnSpPr>
          <p:nvPr/>
        </p:nvCxnSpPr>
        <p:spPr bwMode="auto">
          <a:xfrm>
            <a:off x="6297122" y="3916226"/>
            <a:ext cx="1273419" cy="405468"/>
          </a:xfrm>
          <a:prstGeom prst="bentConnector2">
            <a:avLst/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肘形连接符 76"/>
          <p:cNvCxnSpPr>
            <a:stCxn id="68" idx="3"/>
            <a:endCxn id="69" idx="1"/>
          </p:cNvCxnSpPr>
          <p:nvPr/>
        </p:nvCxnSpPr>
        <p:spPr bwMode="auto">
          <a:xfrm>
            <a:off x="6297123" y="4538575"/>
            <a:ext cx="550827" cy="4456"/>
          </a:xfrm>
          <a:prstGeom prst="bentConnector3">
            <a:avLst>
              <a:gd name="adj1" fmla="val 50000"/>
            </a:avLst>
          </a:prstGeom>
          <a:ln w="38100"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3" name="圆角矩形 152"/>
          <p:cNvSpPr/>
          <p:nvPr/>
        </p:nvSpPr>
        <p:spPr bwMode="auto">
          <a:xfrm>
            <a:off x="1062933" y="4852351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8" name="圆角矩形 157"/>
          <p:cNvSpPr/>
          <p:nvPr/>
        </p:nvSpPr>
        <p:spPr bwMode="auto">
          <a:xfrm>
            <a:off x="1914876" y="4845835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圆角矩形 158"/>
          <p:cNvSpPr/>
          <p:nvPr/>
        </p:nvSpPr>
        <p:spPr bwMode="auto">
          <a:xfrm>
            <a:off x="2380101" y="4852351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圆角矩形 159"/>
          <p:cNvSpPr/>
          <p:nvPr/>
        </p:nvSpPr>
        <p:spPr bwMode="auto">
          <a:xfrm>
            <a:off x="1053291" y="4503124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圆角矩形 160"/>
          <p:cNvSpPr/>
          <p:nvPr/>
        </p:nvSpPr>
        <p:spPr bwMode="auto">
          <a:xfrm>
            <a:off x="2678640" y="4876580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圆角矩形 161"/>
          <p:cNvSpPr/>
          <p:nvPr/>
        </p:nvSpPr>
        <p:spPr bwMode="auto">
          <a:xfrm>
            <a:off x="1054659" y="520839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圆角矩形 162"/>
          <p:cNvSpPr/>
          <p:nvPr/>
        </p:nvSpPr>
        <p:spPr bwMode="auto">
          <a:xfrm>
            <a:off x="1906602" y="520187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圆角矩形 163"/>
          <p:cNvSpPr/>
          <p:nvPr/>
        </p:nvSpPr>
        <p:spPr bwMode="auto">
          <a:xfrm>
            <a:off x="2371827" y="520839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圆角矩形 203"/>
          <p:cNvSpPr/>
          <p:nvPr/>
        </p:nvSpPr>
        <p:spPr bwMode="auto">
          <a:xfrm>
            <a:off x="2670366" y="5232621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圆角矩形 204"/>
          <p:cNvSpPr/>
          <p:nvPr/>
        </p:nvSpPr>
        <p:spPr bwMode="auto">
          <a:xfrm>
            <a:off x="1054659" y="5566904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圆角矩形 205"/>
          <p:cNvSpPr/>
          <p:nvPr/>
        </p:nvSpPr>
        <p:spPr bwMode="auto">
          <a:xfrm>
            <a:off x="1906602" y="5560388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圆角矩形 206"/>
          <p:cNvSpPr/>
          <p:nvPr/>
        </p:nvSpPr>
        <p:spPr bwMode="auto">
          <a:xfrm>
            <a:off x="2371827" y="5566904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圆角矩形 207"/>
          <p:cNvSpPr/>
          <p:nvPr/>
        </p:nvSpPr>
        <p:spPr bwMode="auto">
          <a:xfrm>
            <a:off x="2670366" y="5591133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圆角矩形 214"/>
          <p:cNvSpPr/>
          <p:nvPr/>
        </p:nvSpPr>
        <p:spPr bwMode="auto">
          <a:xfrm>
            <a:off x="1102283" y="1762003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圆角矩形 215"/>
          <p:cNvSpPr/>
          <p:nvPr/>
        </p:nvSpPr>
        <p:spPr bwMode="auto">
          <a:xfrm>
            <a:off x="1954226" y="1755487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圆角矩形 216"/>
          <p:cNvSpPr/>
          <p:nvPr/>
        </p:nvSpPr>
        <p:spPr bwMode="auto">
          <a:xfrm>
            <a:off x="2419451" y="1762003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圆角矩形 217"/>
          <p:cNvSpPr/>
          <p:nvPr/>
        </p:nvSpPr>
        <p:spPr bwMode="auto">
          <a:xfrm>
            <a:off x="1092641" y="1412776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圆角矩形 218"/>
          <p:cNvSpPr/>
          <p:nvPr/>
        </p:nvSpPr>
        <p:spPr bwMode="auto">
          <a:xfrm>
            <a:off x="2717990" y="1786232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" name="圆角矩形 219"/>
          <p:cNvSpPr/>
          <p:nvPr/>
        </p:nvSpPr>
        <p:spPr bwMode="auto">
          <a:xfrm>
            <a:off x="1094009" y="2118044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" name="圆角矩形 220"/>
          <p:cNvSpPr/>
          <p:nvPr/>
        </p:nvSpPr>
        <p:spPr bwMode="auto">
          <a:xfrm>
            <a:off x="1945952" y="2111528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2" name="圆角矩形 221"/>
          <p:cNvSpPr/>
          <p:nvPr/>
        </p:nvSpPr>
        <p:spPr bwMode="auto">
          <a:xfrm>
            <a:off x="2411177" y="2118044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3" name="圆角矩形 222"/>
          <p:cNvSpPr/>
          <p:nvPr/>
        </p:nvSpPr>
        <p:spPr bwMode="auto">
          <a:xfrm>
            <a:off x="2709716" y="2142273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圆角矩形 223"/>
          <p:cNvSpPr/>
          <p:nvPr/>
        </p:nvSpPr>
        <p:spPr bwMode="auto">
          <a:xfrm>
            <a:off x="1094009" y="2476556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" name="圆角矩形 224"/>
          <p:cNvSpPr/>
          <p:nvPr/>
        </p:nvSpPr>
        <p:spPr bwMode="auto">
          <a:xfrm>
            <a:off x="1945952" y="2470040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6" name="圆角矩形 225"/>
          <p:cNvSpPr/>
          <p:nvPr/>
        </p:nvSpPr>
        <p:spPr bwMode="auto">
          <a:xfrm>
            <a:off x="2411177" y="2476556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7" name="圆角矩形 226"/>
          <p:cNvSpPr/>
          <p:nvPr/>
        </p:nvSpPr>
        <p:spPr bwMode="auto">
          <a:xfrm>
            <a:off x="2709716" y="2500785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8" name="圆角矩形 227"/>
          <p:cNvSpPr/>
          <p:nvPr/>
        </p:nvSpPr>
        <p:spPr bwMode="auto">
          <a:xfrm>
            <a:off x="1093476" y="3332914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9" name="圆角矩形 228"/>
          <p:cNvSpPr/>
          <p:nvPr/>
        </p:nvSpPr>
        <p:spPr bwMode="auto">
          <a:xfrm>
            <a:off x="1945419" y="3326398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0" name="圆角矩形 229"/>
          <p:cNvSpPr/>
          <p:nvPr/>
        </p:nvSpPr>
        <p:spPr bwMode="auto">
          <a:xfrm>
            <a:off x="2410644" y="3332914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1" name="圆角矩形 230"/>
          <p:cNvSpPr/>
          <p:nvPr/>
        </p:nvSpPr>
        <p:spPr bwMode="auto">
          <a:xfrm>
            <a:off x="1083834" y="2983687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" name="圆角矩形 231"/>
          <p:cNvSpPr/>
          <p:nvPr/>
        </p:nvSpPr>
        <p:spPr bwMode="auto">
          <a:xfrm>
            <a:off x="2709183" y="3357143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3" name="圆角矩形 232"/>
          <p:cNvSpPr/>
          <p:nvPr/>
        </p:nvSpPr>
        <p:spPr bwMode="auto">
          <a:xfrm>
            <a:off x="1085202" y="3688955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4" name="圆角矩形 233"/>
          <p:cNvSpPr/>
          <p:nvPr/>
        </p:nvSpPr>
        <p:spPr bwMode="auto">
          <a:xfrm>
            <a:off x="1937145" y="3682439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圆角矩形 234"/>
          <p:cNvSpPr/>
          <p:nvPr/>
        </p:nvSpPr>
        <p:spPr bwMode="auto">
          <a:xfrm>
            <a:off x="2402370" y="3688955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圆角矩形 235"/>
          <p:cNvSpPr/>
          <p:nvPr/>
        </p:nvSpPr>
        <p:spPr bwMode="auto">
          <a:xfrm>
            <a:off x="2700909" y="3713184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7" name="圆角矩形 236"/>
          <p:cNvSpPr/>
          <p:nvPr/>
        </p:nvSpPr>
        <p:spPr bwMode="auto">
          <a:xfrm>
            <a:off x="1085202" y="4047467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圆角矩形 237"/>
          <p:cNvSpPr/>
          <p:nvPr/>
        </p:nvSpPr>
        <p:spPr bwMode="auto">
          <a:xfrm>
            <a:off x="1937145" y="4040951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圆角矩形 238"/>
          <p:cNvSpPr/>
          <p:nvPr/>
        </p:nvSpPr>
        <p:spPr bwMode="auto">
          <a:xfrm>
            <a:off x="2402370" y="4047467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圆角矩形 239"/>
          <p:cNvSpPr/>
          <p:nvPr/>
        </p:nvSpPr>
        <p:spPr bwMode="auto">
          <a:xfrm>
            <a:off x="2700909" y="4071696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右箭头 240"/>
          <p:cNvSpPr/>
          <p:nvPr/>
        </p:nvSpPr>
        <p:spPr bwMode="auto">
          <a:xfrm>
            <a:off x="3688253" y="4476979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chemeClr val="tx1"/>
                </a:solidFill>
                <a:latin typeface="Arial" pitchFamily="34" charset="0"/>
                <a:ea typeface="宋体" pitchFamily="2" charset="-122"/>
              </a:rPr>
              <a:t>预测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算法融合</a:t>
            </a:r>
          </a:p>
        </p:txBody>
      </p:sp>
    </p:spTree>
    <p:extLst>
      <p:ext uri="{BB962C8B-B14F-4D97-AF65-F5344CB8AC3E}">
        <p14:creationId xmlns:p14="http://schemas.microsoft.com/office/powerpoint/2010/main" val="1453084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/>
          <p:cNvSpPr/>
          <p:nvPr/>
        </p:nvSpPr>
        <p:spPr bwMode="auto">
          <a:xfrm>
            <a:off x="2704223" y="1468959"/>
            <a:ext cx="534755" cy="1246763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/>
        </p:nvSpPr>
        <p:spPr bwMode="auto">
          <a:xfrm>
            <a:off x="4000509" y="1689995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 bwMode="auto">
          <a:xfrm>
            <a:off x="615993" y="1723901"/>
            <a:ext cx="133119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样本数据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圆角矩形 30"/>
          <p:cNvSpPr/>
          <p:nvPr/>
        </p:nvSpPr>
        <p:spPr bwMode="auto">
          <a:xfrm>
            <a:off x="615992" y="2083941"/>
            <a:ext cx="133119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样本数据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 bwMode="auto">
          <a:xfrm>
            <a:off x="615991" y="2443981"/>
            <a:ext cx="133119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样本数据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4852452" y="1683479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圆角矩形 46"/>
          <p:cNvSpPr/>
          <p:nvPr/>
        </p:nvSpPr>
        <p:spPr bwMode="auto">
          <a:xfrm>
            <a:off x="5317677" y="1689995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圆角矩形 61"/>
          <p:cNvSpPr/>
          <p:nvPr/>
        </p:nvSpPr>
        <p:spPr bwMode="auto">
          <a:xfrm>
            <a:off x="7140356" y="1596926"/>
            <a:ext cx="534755" cy="967978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预处理</a:t>
            </a:r>
          </a:p>
        </p:txBody>
      </p:sp>
      <p:sp>
        <p:nvSpPr>
          <p:cNvPr id="35" name="圆角矩形 34"/>
          <p:cNvSpPr/>
          <p:nvPr/>
        </p:nvSpPr>
        <p:spPr bwMode="auto">
          <a:xfrm>
            <a:off x="3990867" y="1340768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特征样本集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圆角矩形 25"/>
          <p:cNvSpPr/>
          <p:nvPr/>
        </p:nvSpPr>
        <p:spPr bwMode="auto">
          <a:xfrm>
            <a:off x="615995" y="1340794"/>
            <a:ext cx="1331192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原始样本集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8" name="圆角矩形 117"/>
          <p:cNvSpPr/>
          <p:nvPr/>
        </p:nvSpPr>
        <p:spPr bwMode="auto">
          <a:xfrm>
            <a:off x="4083984" y="3211881"/>
            <a:ext cx="751174" cy="2729448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机器学习算法</a:t>
            </a:r>
          </a:p>
        </p:txBody>
      </p:sp>
      <p:sp>
        <p:nvSpPr>
          <p:cNvPr id="6" name="右箭头 5"/>
          <p:cNvSpPr/>
          <p:nvPr/>
        </p:nvSpPr>
        <p:spPr bwMode="auto">
          <a:xfrm>
            <a:off x="2051720" y="1937173"/>
            <a:ext cx="499535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9" name="右箭头 118"/>
          <p:cNvSpPr/>
          <p:nvPr/>
        </p:nvSpPr>
        <p:spPr bwMode="auto">
          <a:xfrm>
            <a:off x="3347864" y="1928961"/>
            <a:ext cx="499535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0" name="右箭头 119"/>
          <p:cNvSpPr/>
          <p:nvPr/>
        </p:nvSpPr>
        <p:spPr bwMode="auto">
          <a:xfrm>
            <a:off x="6444208" y="1928960"/>
            <a:ext cx="499535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1" name="右箭头 120"/>
          <p:cNvSpPr/>
          <p:nvPr/>
        </p:nvSpPr>
        <p:spPr bwMode="auto">
          <a:xfrm>
            <a:off x="134222" y="4237095"/>
            <a:ext cx="404968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2" name="右箭头 121"/>
          <p:cNvSpPr/>
          <p:nvPr/>
        </p:nvSpPr>
        <p:spPr bwMode="auto">
          <a:xfrm>
            <a:off x="7798685" y="1920303"/>
            <a:ext cx="499535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6" name="右箭头 125"/>
          <p:cNvSpPr/>
          <p:nvPr/>
        </p:nvSpPr>
        <p:spPr bwMode="auto">
          <a:xfrm>
            <a:off x="3018836" y="3429000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训练</a:t>
            </a:r>
          </a:p>
        </p:txBody>
      </p:sp>
      <p:sp>
        <p:nvSpPr>
          <p:cNvPr id="127" name="右箭头 126"/>
          <p:cNvSpPr/>
          <p:nvPr/>
        </p:nvSpPr>
        <p:spPr bwMode="auto">
          <a:xfrm>
            <a:off x="3006780" y="4941168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预测</a:t>
            </a:r>
          </a:p>
        </p:txBody>
      </p:sp>
      <p:sp>
        <p:nvSpPr>
          <p:cNvPr id="128" name="右箭头 127"/>
          <p:cNvSpPr/>
          <p:nvPr/>
        </p:nvSpPr>
        <p:spPr bwMode="auto">
          <a:xfrm>
            <a:off x="4978555" y="4938860"/>
            <a:ext cx="933807" cy="73366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宋体" pitchFamily="2" charset="-122"/>
              </a:rPr>
              <a:t>输出</a:t>
            </a:r>
          </a:p>
        </p:txBody>
      </p:sp>
      <p:sp>
        <p:nvSpPr>
          <p:cNvPr id="154" name="圆角矩形 153"/>
          <p:cNvSpPr/>
          <p:nvPr/>
        </p:nvSpPr>
        <p:spPr bwMode="auto">
          <a:xfrm>
            <a:off x="6058723" y="4503574"/>
            <a:ext cx="1036092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圆角矩形 154"/>
          <p:cNvSpPr/>
          <p:nvPr/>
        </p:nvSpPr>
        <p:spPr bwMode="auto">
          <a:xfrm>
            <a:off x="7804066" y="4959828"/>
            <a:ext cx="534755" cy="696337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评价</a:t>
            </a:r>
          </a:p>
        </p:txBody>
      </p:sp>
      <p:sp>
        <p:nvSpPr>
          <p:cNvPr id="156" name="右箭头 155"/>
          <p:cNvSpPr/>
          <p:nvPr/>
        </p:nvSpPr>
        <p:spPr bwMode="auto">
          <a:xfrm>
            <a:off x="7183802" y="5145079"/>
            <a:ext cx="491309" cy="32122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57" name="圆角矩形 156"/>
          <p:cNvSpPr/>
          <p:nvPr/>
        </p:nvSpPr>
        <p:spPr bwMode="auto">
          <a:xfrm>
            <a:off x="5616216" y="1714224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圆角矩形 164"/>
          <p:cNvSpPr/>
          <p:nvPr/>
        </p:nvSpPr>
        <p:spPr bwMode="auto">
          <a:xfrm>
            <a:off x="3992235" y="2046036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圆角矩形 165"/>
          <p:cNvSpPr/>
          <p:nvPr/>
        </p:nvSpPr>
        <p:spPr bwMode="auto">
          <a:xfrm>
            <a:off x="4844178" y="2039520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圆角矩形 166"/>
          <p:cNvSpPr/>
          <p:nvPr/>
        </p:nvSpPr>
        <p:spPr bwMode="auto">
          <a:xfrm>
            <a:off x="5309403" y="2046036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圆角矩形 167"/>
          <p:cNvSpPr/>
          <p:nvPr/>
        </p:nvSpPr>
        <p:spPr bwMode="auto">
          <a:xfrm>
            <a:off x="5607942" y="2070265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圆角矩形 168"/>
          <p:cNvSpPr/>
          <p:nvPr/>
        </p:nvSpPr>
        <p:spPr bwMode="auto">
          <a:xfrm>
            <a:off x="3992235" y="2404548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圆角矩形 169"/>
          <p:cNvSpPr/>
          <p:nvPr/>
        </p:nvSpPr>
        <p:spPr bwMode="auto">
          <a:xfrm>
            <a:off x="4844178" y="2398032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圆角矩形 170"/>
          <p:cNvSpPr/>
          <p:nvPr/>
        </p:nvSpPr>
        <p:spPr bwMode="auto">
          <a:xfrm>
            <a:off x="5309403" y="2404548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2" name="圆角矩形 171"/>
          <p:cNvSpPr/>
          <p:nvPr/>
        </p:nvSpPr>
        <p:spPr bwMode="auto">
          <a:xfrm>
            <a:off x="5607942" y="2428777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圆角矩形 172"/>
          <p:cNvSpPr/>
          <p:nvPr/>
        </p:nvSpPr>
        <p:spPr bwMode="auto">
          <a:xfrm>
            <a:off x="615995" y="3346179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圆角矩形 173"/>
          <p:cNvSpPr/>
          <p:nvPr/>
        </p:nvSpPr>
        <p:spPr bwMode="auto">
          <a:xfrm>
            <a:off x="1467938" y="3339663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圆角矩形 174"/>
          <p:cNvSpPr/>
          <p:nvPr/>
        </p:nvSpPr>
        <p:spPr bwMode="auto">
          <a:xfrm>
            <a:off x="1933163" y="3346179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6" name="圆角矩形 175"/>
          <p:cNvSpPr/>
          <p:nvPr/>
        </p:nvSpPr>
        <p:spPr bwMode="auto">
          <a:xfrm>
            <a:off x="606353" y="2996952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训练集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7" name="圆角矩形 176"/>
          <p:cNvSpPr/>
          <p:nvPr/>
        </p:nvSpPr>
        <p:spPr bwMode="auto">
          <a:xfrm>
            <a:off x="2231702" y="3370408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8" name="圆角矩形 177"/>
          <p:cNvSpPr/>
          <p:nvPr/>
        </p:nvSpPr>
        <p:spPr bwMode="auto">
          <a:xfrm>
            <a:off x="607721" y="3702220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圆角矩形 178"/>
          <p:cNvSpPr/>
          <p:nvPr/>
        </p:nvSpPr>
        <p:spPr bwMode="auto">
          <a:xfrm>
            <a:off x="1459664" y="3695704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圆角矩形 179"/>
          <p:cNvSpPr/>
          <p:nvPr/>
        </p:nvSpPr>
        <p:spPr bwMode="auto">
          <a:xfrm>
            <a:off x="1924889" y="3702220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" name="圆角矩形 180"/>
          <p:cNvSpPr/>
          <p:nvPr/>
        </p:nvSpPr>
        <p:spPr bwMode="auto">
          <a:xfrm>
            <a:off x="2223428" y="3726449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2" name="圆角矩形 181"/>
          <p:cNvSpPr/>
          <p:nvPr/>
        </p:nvSpPr>
        <p:spPr bwMode="auto">
          <a:xfrm>
            <a:off x="607721" y="4060732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3" name="圆角矩形 182"/>
          <p:cNvSpPr/>
          <p:nvPr/>
        </p:nvSpPr>
        <p:spPr bwMode="auto">
          <a:xfrm>
            <a:off x="1459664" y="4054216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" name="圆角矩形 183"/>
          <p:cNvSpPr/>
          <p:nvPr/>
        </p:nvSpPr>
        <p:spPr bwMode="auto">
          <a:xfrm>
            <a:off x="1924889" y="4060732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圆角矩形 184"/>
          <p:cNvSpPr/>
          <p:nvPr/>
        </p:nvSpPr>
        <p:spPr bwMode="auto">
          <a:xfrm>
            <a:off x="2223428" y="4084961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圆角矩形 185"/>
          <p:cNvSpPr/>
          <p:nvPr/>
        </p:nvSpPr>
        <p:spPr bwMode="auto">
          <a:xfrm>
            <a:off x="595650" y="4858347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圆角矩形 186"/>
          <p:cNvSpPr/>
          <p:nvPr/>
        </p:nvSpPr>
        <p:spPr bwMode="auto">
          <a:xfrm>
            <a:off x="1447593" y="4851831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8" name="圆角矩形 187"/>
          <p:cNvSpPr/>
          <p:nvPr/>
        </p:nvSpPr>
        <p:spPr bwMode="auto">
          <a:xfrm>
            <a:off x="1912818" y="4858347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圆角矩形 188"/>
          <p:cNvSpPr/>
          <p:nvPr/>
        </p:nvSpPr>
        <p:spPr bwMode="auto">
          <a:xfrm>
            <a:off x="586008" y="4509120"/>
            <a:ext cx="2258197" cy="374571"/>
          </a:xfrm>
          <a:prstGeom prst="roundRect">
            <a:avLst/>
          </a:prstGeom>
          <a:solidFill>
            <a:srgbClr val="FF5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验证集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0" name="圆角矩形 189"/>
          <p:cNvSpPr/>
          <p:nvPr/>
        </p:nvSpPr>
        <p:spPr bwMode="auto">
          <a:xfrm>
            <a:off x="2211357" y="4882576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圆角矩形 190"/>
          <p:cNvSpPr/>
          <p:nvPr/>
        </p:nvSpPr>
        <p:spPr bwMode="auto">
          <a:xfrm>
            <a:off x="587376" y="5214388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圆角矩形 191"/>
          <p:cNvSpPr/>
          <p:nvPr/>
        </p:nvSpPr>
        <p:spPr bwMode="auto">
          <a:xfrm>
            <a:off x="1439319" y="5207872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圆角矩形 192"/>
          <p:cNvSpPr/>
          <p:nvPr/>
        </p:nvSpPr>
        <p:spPr bwMode="auto">
          <a:xfrm>
            <a:off x="1904544" y="5214388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圆角矩形 193"/>
          <p:cNvSpPr/>
          <p:nvPr/>
        </p:nvSpPr>
        <p:spPr bwMode="auto">
          <a:xfrm>
            <a:off x="2203083" y="5238617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圆角矩形 194"/>
          <p:cNvSpPr/>
          <p:nvPr/>
        </p:nvSpPr>
        <p:spPr bwMode="auto">
          <a:xfrm>
            <a:off x="587376" y="5572900"/>
            <a:ext cx="843669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圆角矩形 195"/>
          <p:cNvSpPr/>
          <p:nvPr/>
        </p:nvSpPr>
        <p:spPr bwMode="auto">
          <a:xfrm>
            <a:off x="1439319" y="5566384"/>
            <a:ext cx="433113" cy="374571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圆角矩形 196"/>
          <p:cNvSpPr/>
          <p:nvPr/>
        </p:nvSpPr>
        <p:spPr bwMode="auto">
          <a:xfrm>
            <a:off x="1904544" y="5572900"/>
            <a:ext cx="290265" cy="364748"/>
          </a:xfrm>
          <a:prstGeom prst="roundRect">
            <a:avLst/>
          </a:prstGeom>
          <a:solidFill>
            <a:srgbClr val="FFC00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6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圆角矩形 197"/>
          <p:cNvSpPr/>
          <p:nvPr/>
        </p:nvSpPr>
        <p:spPr bwMode="auto">
          <a:xfrm>
            <a:off x="2203083" y="5597129"/>
            <a:ext cx="632848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圆角矩形 198"/>
          <p:cNvSpPr/>
          <p:nvPr/>
        </p:nvSpPr>
        <p:spPr bwMode="auto">
          <a:xfrm>
            <a:off x="6074383" y="4882535"/>
            <a:ext cx="102043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圆角矩形 199"/>
          <p:cNvSpPr/>
          <p:nvPr/>
        </p:nvSpPr>
        <p:spPr bwMode="auto">
          <a:xfrm>
            <a:off x="6066109" y="5238576"/>
            <a:ext cx="102043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圆角矩形 200"/>
          <p:cNvSpPr/>
          <p:nvPr/>
        </p:nvSpPr>
        <p:spPr bwMode="auto">
          <a:xfrm>
            <a:off x="6066109" y="5597088"/>
            <a:ext cx="1020432" cy="340519"/>
          </a:xfrm>
          <a:prstGeom prst="roundRect">
            <a:avLst/>
          </a:prstGeom>
          <a:solidFill>
            <a:srgbClr val="92D05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预测目标</a:t>
            </a:r>
            <a:endParaRPr kumimoji="0" lang="zh-CN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圆角矩形 202"/>
          <p:cNvSpPr/>
          <p:nvPr/>
        </p:nvSpPr>
        <p:spPr bwMode="auto">
          <a:xfrm>
            <a:off x="8357725" y="4959827"/>
            <a:ext cx="534755" cy="696337"/>
          </a:xfrm>
          <a:prstGeom prst="roundRect">
            <a:avLst/>
          </a:prstGeom>
          <a:solidFill>
            <a:srgbClr val="0070C0"/>
          </a:solidFill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改进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</a:t>
            </a:r>
            <a:r>
              <a:rPr lang="en-US" altLang="zh-CN" dirty="0" smtClean="0"/>
              <a:t>-</a:t>
            </a:r>
            <a:r>
              <a:rPr lang="zh-CN" altLang="en-US" dirty="0" smtClean="0"/>
              <a:t>实施过程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5589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  <a:r>
              <a:rPr lang="zh-CN" altLang="en-US" sz="5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83993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107497" y="164288"/>
            <a:ext cx="6697289" cy="701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>
            <a:defPPr>
              <a:defRPr lang="zh-CN"/>
            </a:defPPr>
            <a:lvl1pPr>
              <a:defRPr sz="4400">
                <a:latin typeface="+mj-ea"/>
                <a:ea typeface="+mj-ea"/>
              </a:defRPr>
            </a:lvl1pPr>
          </a:lstStyle>
          <a:p>
            <a: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zh-CN" sz="32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K-means(</a:t>
            </a:r>
            <a:r>
              <a:rPr lang="zh-CN" altLang="en-US" sz="32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均值聚类</a:t>
            </a:r>
            <a:r>
              <a:rPr lang="en-US" altLang="zh-CN" sz="32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)</a:t>
            </a:r>
            <a:endParaRPr lang="de-DE" sz="32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520" y="1279788"/>
            <a:ext cx="8208912" cy="409342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初始化。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输入对象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集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，输入指定聚类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类数</a:t>
            </a: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并在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中随机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选取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对象作为初始聚类中心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进行迭代。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根据相似度准则将数据对象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分配到最接近的聚类</a:t>
            </a:r>
            <a:r>
              <a:rPr lang="zh-CN" altLang="en-US" sz="2400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更新聚类中心。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然后以每一类的平均向量作为新的聚类中心，重新分配数据对象。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反复执行第二步和第三步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直至满足中止条件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b="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迭代</a:t>
            </a:r>
            <a:r>
              <a:rPr lang="zh-CN" altLang="en-US" sz="2400" b="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中止条件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，比如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最大循环次数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</a:t>
            </a:r>
            <a:r>
              <a:rPr lang="zh-CN" altLang="en-US" sz="2400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聚类中心收敛误差容限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25488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zh-CN" dirty="0">
                <a:cs typeface="Arial Unicode MS" panose="020B0604020202020204" pitchFamily="34" charset="-122"/>
              </a:rPr>
              <a:t>K-means(</a:t>
            </a:r>
            <a:r>
              <a:rPr lang="zh-CN" altLang="en-US" dirty="0">
                <a:cs typeface="Arial Unicode MS" panose="020B0604020202020204" pitchFamily="34" charset="-122"/>
              </a:rPr>
              <a:t>均值聚类</a:t>
            </a:r>
            <a:r>
              <a:rPr lang="en-US" altLang="zh-CN" dirty="0">
                <a:cs typeface="Arial Unicode MS" panose="020B0604020202020204" pitchFamily="34" charset="-122"/>
              </a:rPr>
              <a:t>)</a:t>
            </a:r>
            <a:endParaRPr lang="de-DE" altLang="zh-CN" dirty="0">
              <a:cs typeface="Arial Unicode MS" panose="020B0604020202020204" pitchFamily="34" charset="-122"/>
            </a:endParaRPr>
          </a:p>
        </p:txBody>
      </p:sp>
      <p:pic>
        <p:nvPicPr>
          <p:cNvPr id="75780" name="Picture 4" descr="http://pic002.cnblogs.com/images/2011/333250/2011102410120585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49" b="14527"/>
          <a:stretch/>
        </p:blipFill>
        <p:spPr bwMode="auto">
          <a:xfrm>
            <a:off x="55050" y="1500550"/>
            <a:ext cx="2825269" cy="2698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1" name="Picture 5" descr="http://pic002.cnblogs.com/images/2011/333250/2011102410130028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35" b="4908"/>
          <a:stretch/>
        </p:blipFill>
        <p:spPr bwMode="auto">
          <a:xfrm>
            <a:off x="3024336" y="1551552"/>
            <a:ext cx="2870645" cy="274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2" name="Picture 6" descr="http://pic002.cnblogs.com/images/2011/333250/2011102410133527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03" b="6024"/>
          <a:stretch/>
        </p:blipFill>
        <p:spPr bwMode="auto">
          <a:xfrm>
            <a:off x="5894980" y="1484784"/>
            <a:ext cx="3141515" cy="277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3" name="Picture 7" descr="http://pic002.cnblogs.com/images/2011/333250/2011102410250813.jpg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0" b="4519"/>
          <a:stretch/>
        </p:blipFill>
        <p:spPr bwMode="auto">
          <a:xfrm>
            <a:off x="55050" y="4059866"/>
            <a:ext cx="2825269" cy="280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4" name="Picture 8" descr="http://pic002.cnblogs.com/images/2011/333250/2011102410254621.jpg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19" b="10877"/>
          <a:stretch/>
        </p:blipFill>
        <p:spPr bwMode="auto">
          <a:xfrm>
            <a:off x="3039737" y="4091398"/>
            <a:ext cx="2908039" cy="2699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785" name="Picture 9" descr="http://pic002.cnblogs.com/images/2011/333250/2011102410262976.jpg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57" b="12865"/>
          <a:stretch/>
        </p:blipFill>
        <p:spPr bwMode="auto">
          <a:xfrm>
            <a:off x="5927136" y="4038860"/>
            <a:ext cx="3109360" cy="2689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636178" y="1196752"/>
            <a:ext cx="60676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x1=(2,1),x2=(1,3),x3=(6,7),x4=(4,7)</a:t>
            </a:r>
            <a:endParaRPr lang="zh-CN" altLang="en-US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56530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823" descr="说明: 图解十大经典的机器学习算法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9278" y="135571"/>
            <a:ext cx="4246234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图片 822" descr="说明: 图解十大经典的机器学习算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708920"/>
            <a:ext cx="7272300" cy="3880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图片 182" descr="说明: 图解十大经典的机器学习算法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64" y="116632"/>
            <a:ext cx="4572000" cy="2342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4146084"/>
      </p:ext>
    </p:extLst>
  </p:cSld>
  <p:clrMapOvr>
    <a:masterClrMapping/>
  </p:clrMapOvr>
  <p:transition spd="slow">
    <p:circl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95537" y="1196752"/>
            <a:ext cx="7976400" cy="532593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层次聚类是通过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自顶向下或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自底向上</a:t>
            </a:r>
            <a:r>
              <a:rPr lang="zh-CN" altLang="en-US" sz="2400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层次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凝聚式</a:t>
            </a:r>
            <a:r>
              <a:rPr lang="zh-CN" altLang="en-US" sz="2400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  <a:endParaRPr lang="de-DE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层次聚类</a:t>
            </a:r>
            <a:endParaRPr lang="zh-CN" altLang="en-US" dirty="0"/>
          </a:p>
        </p:txBody>
      </p:sp>
      <p:pic>
        <p:nvPicPr>
          <p:cNvPr id="8" name="Picture 6" descr="17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619672" y="1719955"/>
            <a:ext cx="6408712" cy="480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854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分类预测</a:t>
            </a:r>
            <a:endParaRPr lang="zh-CN" altLang="en-US" sz="5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36143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425326" y="168884"/>
            <a:ext cx="6171010" cy="701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pPr algn="ct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zh-CN" altLang="en-US" sz="3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分类</a:t>
            </a:r>
            <a:r>
              <a:rPr lang="de-DE" sz="3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vs. </a:t>
            </a:r>
            <a:r>
              <a:rPr lang="zh-CN" altLang="en-US" sz="32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聚类</a:t>
            </a:r>
            <a:endParaRPr lang="de-DE" sz="32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95536" y="1196752"/>
            <a:ext cx="8640959" cy="433841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r>
              <a:rPr lang="de-DE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有监督的学习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  <a:r>
              <a:rPr lang="de-DE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监督的学习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分类：类别事先人工定义好，并且是学习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算法输入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的一部分</a:t>
            </a:r>
            <a:endParaRPr 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簇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在没有人工输入的情况下从数据中推理而得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但是，很多因素会影响聚类的输出结果：簇的个数、相似度计算方法、文档的表示方式，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16903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77443"/>
            <a:ext cx="9144000" cy="6516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860"/>
            <a:r>
              <a:rPr lang="zh-CN" altLang="en-US" spc="43" dirty="0" smtClean="0"/>
              <a:t>分类学习问题</a:t>
            </a:r>
            <a:endParaRPr spc="43" dirty="0"/>
          </a:p>
        </p:txBody>
      </p:sp>
      <p:sp>
        <p:nvSpPr>
          <p:cNvPr id="4" name="object 4"/>
          <p:cNvSpPr txBox="1"/>
          <p:nvPr/>
        </p:nvSpPr>
        <p:spPr>
          <a:xfrm>
            <a:off x="5645257" y="3311508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客户分类</a:t>
            </a:r>
            <a:endParaRPr dirty="0"/>
          </a:p>
        </p:txBody>
      </p:sp>
      <p:sp>
        <p:nvSpPr>
          <p:cNvPr id="7" name="object 9"/>
          <p:cNvSpPr txBox="1"/>
          <p:nvPr/>
        </p:nvSpPr>
        <p:spPr>
          <a:xfrm>
            <a:off x="1535352" y="622486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手写识别</a:t>
            </a:r>
            <a:endParaRPr dirty="0"/>
          </a:p>
        </p:txBody>
      </p:sp>
      <p:sp>
        <p:nvSpPr>
          <p:cNvPr id="9" name="object 7"/>
          <p:cNvSpPr txBox="1"/>
          <p:nvPr/>
        </p:nvSpPr>
        <p:spPr>
          <a:xfrm>
            <a:off x="5953034" y="6128150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人</a:t>
            </a:r>
            <a:r>
              <a:rPr dirty="0" smtClean="0"/>
              <a:t>脸</a:t>
            </a:r>
            <a:r>
              <a:rPr lang="zh-CN" altLang="en-US" dirty="0" smtClean="0"/>
              <a:t>识别</a:t>
            </a:r>
            <a:endParaRPr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95" y="1277850"/>
            <a:ext cx="3101886" cy="2130211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524121" y="3406105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欺诈发现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74" y="4160524"/>
            <a:ext cx="3090687" cy="2068248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395" y="4141060"/>
            <a:ext cx="3079989" cy="19870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395" y="1263102"/>
            <a:ext cx="3137982" cy="198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58176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6057" y="3733055"/>
            <a:ext cx="8491884" cy="23801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20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折交叉验证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(k-cross validation</a:t>
            </a:r>
            <a:r>
              <a:rPr lang="en-US" altLang="zh-CN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b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20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一法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(leave-one-out</a:t>
            </a:r>
            <a:r>
              <a:rPr lang="en-US" altLang="zh-CN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指标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：正确率、召回率、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F1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值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分类算法评价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332375"/>
            <a:ext cx="6006455" cy="2251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7406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032061" y="75072"/>
            <a:ext cx="7018760" cy="92541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en-US" sz="3200" dirty="0"/>
              <a:t>   </a:t>
            </a:r>
            <a:r>
              <a:rPr lang="zh-CN" altLang="en-US" sz="3200" dirty="0" smtClean="0"/>
              <a:t>准确率</a:t>
            </a:r>
            <a:r>
              <a:rPr lang="en-US" sz="3200" dirty="0"/>
              <a:t>P </a:t>
            </a:r>
            <a:r>
              <a:rPr lang="zh-CN" altLang="en-US" sz="3200" dirty="0"/>
              <a:t>及召回率</a:t>
            </a:r>
            <a:r>
              <a:rPr lang="en-US" sz="3200" dirty="0"/>
              <a:t>R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-900608" y="3501008"/>
            <a:ext cx="10044608" cy="199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</a:pPr>
            <a:r>
              <a:rPr lang="zh-CN" alt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正确率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TP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(TP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FP)</a:t>
            </a:r>
          </a:p>
          <a:p>
            <a:pPr lvl="4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</a:pPr>
            <a:r>
              <a:rPr lang="zh-CN" altLang="en-US" sz="2800" dirty="0">
                <a:latin typeface="+mj-ea"/>
                <a:ea typeface="+mj-ea"/>
              </a:rPr>
              <a:t>召回</a:t>
            </a:r>
            <a:r>
              <a:rPr lang="zh-CN" altLang="en-US" sz="2800" dirty="0" smtClean="0">
                <a:latin typeface="+mj-ea"/>
                <a:ea typeface="+mj-ea"/>
              </a:rPr>
              <a:t>率</a:t>
            </a:r>
            <a:r>
              <a:rPr lang="zh-CN" alt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 = TP</a:t>
            </a:r>
            <a:r>
              <a:rPr lang="en-US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 (TP + FN)</a:t>
            </a:r>
          </a:p>
          <a:p>
            <a:pPr lvl="4">
              <a:spcBef>
                <a:spcPts val="700"/>
              </a:spcBef>
              <a:buClr>
                <a:srgbClr val="336699"/>
              </a:buClr>
            </a:pPr>
            <a:endParaRPr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8" name="Picture 7" descr="1355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3528" y="1556792"/>
            <a:ext cx="8460795" cy="1390961"/>
          </a:xfrm>
          <a:prstGeom prst="rect">
            <a:avLst/>
          </a:prstGeom>
        </p:spPr>
      </p:pic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Picture 7" descr="1356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31486" y="5229200"/>
            <a:ext cx="3780420" cy="105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4398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51317"/>
            <a:ext cx="9144000" cy="936104"/>
          </a:xfr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一个计算的例子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/>
          </p:nvPr>
        </p:nvGraphicFramePr>
        <p:xfrm>
          <a:off x="628650" y="1340768"/>
          <a:ext cx="7886700" cy="2808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873"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 the class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Not in the class</a:t>
                      </a:r>
                      <a:endParaRPr lang="zh-CN" altLang="en-US" sz="2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</a:t>
                      </a:r>
                      <a:r>
                        <a:rPr lang="en-US" altLang="zh-CN" sz="2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to be in the class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269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2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Predicted</a:t>
                      </a:r>
                      <a:r>
                        <a:rPr lang="en-US" altLang="zh-CN" sz="2200" baseline="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to not be in the class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 smtClean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</a:t>
                      </a:r>
                      <a:endParaRPr lang="zh-CN" altLang="en-US" sz="24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-900608" y="4501242"/>
            <a:ext cx="9721080" cy="1043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>
              <a:spcBef>
                <a:spcPts val="700"/>
              </a:spcBef>
              <a:buClr>
                <a:srgbClr val="336699"/>
              </a:buClr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正确率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50)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4">
              <a:spcBef>
                <a:spcPts val="700"/>
              </a:spcBef>
              <a:buClr>
                <a:srgbClr val="336699"/>
              </a:buClr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召回率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(100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40)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662670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/>
          </p:nvPr>
        </p:nvGraphicFramePr>
        <p:xfrm>
          <a:off x="452554" y="1074097"/>
          <a:ext cx="8280924" cy="56886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0077">
                  <a:extLst>
                    <a:ext uri="{9D8B030D-6E8A-4147-A177-3AD203B41FA5}">
                      <a16:colId xmlns:a16="http://schemas.microsoft.com/office/drawing/2014/main" val="210428111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2821570698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40565386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98006328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255675933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46163333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1651433617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4256746619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386747695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102591041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883089577"/>
                    </a:ext>
                  </a:extLst>
                </a:gridCol>
                <a:gridCol w="690077">
                  <a:extLst>
                    <a:ext uri="{9D8B030D-6E8A-4147-A177-3AD203B41FA5}">
                      <a16:colId xmlns:a16="http://schemas.microsoft.com/office/drawing/2014/main" val="35444583"/>
                    </a:ext>
                  </a:extLst>
                </a:gridCol>
              </a:tblGrid>
              <a:tr h="437587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X1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X2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X3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X4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X5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X6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X8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X9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X10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y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0650806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6365954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642163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9720242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3524409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933067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P6</a:t>
                      </a:r>
                      <a:endParaRPr lang="zh-CN" alt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4644876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P7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7311955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P8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4432061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P9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739063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P10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55794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宋体"/>
                          <a:cs typeface="+mn-cs"/>
                        </a:rPr>
                        <a:t>…</a:t>
                      </a:r>
                      <a:endParaRPr kumimoji="0" lang="zh-CN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ea typeface="宋体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649541"/>
                  </a:ext>
                </a:extLst>
              </a:tr>
              <a:tr h="43758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New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4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7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8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9</a:t>
                      </a:r>
                      <a:endParaRPr lang="zh-CN" altLang="en-US" dirty="0"/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  <a:endParaRPr lang="zh-CN" altLang="en-US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64703"/>
                  </a:ext>
                </a:extLst>
              </a:tr>
            </a:tbl>
          </a:graphicData>
        </a:graphic>
      </p:graphicFrame>
      <p:cxnSp>
        <p:nvCxnSpPr>
          <p:cNvPr id="5" name="直接连接符 4"/>
          <p:cNvCxnSpPr/>
          <p:nvPr/>
        </p:nvCxnSpPr>
        <p:spPr bwMode="auto">
          <a:xfrm>
            <a:off x="452554" y="6309320"/>
            <a:ext cx="828092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 bwMode="auto">
          <a:xfrm>
            <a:off x="8026457" y="1054341"/>
            <a:ext cx="0" cy="568863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连接符 7"/>
          <p:cNvCxnSpPr/>
          <p:nvPr/>
        </p:nvCxnSpPr>
        <p:spPr bwMode="auto">
          <a:xfrm>
            <a:off x="465617" y="1499774"/>
            <a:ext cx="8280920" cy="0"/>
          </a:xfrm>
          <a:prstGeom prst="line">
            <a:avLst/>
          </a:prstGeom>
          <a:ln w="38100">
            <a:solidFill>
              <a:srgbClr val="FF0000"/>
            </a:solidFill>
            <a:prstDash val="solid"/>
            <a:headEnd type="none" w="med" len="med"/>
            <a:tailEnd type="none" w="med" len="med"/>
          </a:ln>
          <a:ex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分类机器学习（预测）问题范式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5248804"/>
      </p:ext>
    </p:extLst>
  </p:cSld>
  <p:clrMapOvr>
    <a:masterClrMapping/>
  </p:clrMapOvr>
  <p:transition spd="slow">
    <p:circl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传统分类算法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 bwMode="auto">
          <a:xfrm>
            <a:off x="1538833" y="1804147"/>
            <a:ext cx="2664296" cy="1656184"/>
          </a:xfrm>
          <a:prstGeom prst="roundRect">
            <a:avLst/>
          </a:prstGeom>
          <a:solidFill>
            <a:srgbClr val="FFFF00">
              <a:alpha val="16000"/>
            </a:srgbClr>
          </a:solidFill>
          <a:ln w="3175" cap="flat" cmpd="sng" algn="ctr">
            <a:solidFill>
              <a:schemeClr val="tx1">
                <a:alpha val="3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/>
              <a:t>近邻法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KNN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5" name="圆角矩形 4"/>
          <p:cNvSpPr/>
          <p:nvPr/>
        </p:nvSpPr>
        <p:spPr bwMode="auto">
          <a:xfrm>
            <a:off x="4792838" y="1804147"/>
            <a:ext cx="2664296" cy="1656184"/>
          </a:xfrm>
          <a:prstGeom prst="roundRect">
            <a:avLst/>
          </a:prstGeom>
          <a:solidFill>
            <a:srgbClr val="FFFF00">
              <a:alpha val="16000"/>
            </a:srgbClr>
          </a:solidFill>
          <a:ln w="3175" cap="flat" cmpd="sng" algn="ctr">
            <a:solidFill>
              <a:schemeClr val="tx1">
                <a:alpha val="3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 smtClean="0"/>
              <a:t>决策树</a:t>
            </a:r>
            <a:endParaRPr lang="en-US" altLang="zh-CN" sz="2800" dirty="0" smtClean="0"/>
          </a:p>
          <a:p>
            <a:pPr algn="ctr"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/>
              <a:t>DT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538833" y="4072987"/>
            <a:ext cx="2664296" cy="1656184"/>
          </a:xfrm>
          <a:prstGeom prst="roundRect">
            <a:avLst/>
          </a:prstGeom>
          <a:solidFill>
            <a:srgbClr val="FFFF00">
              <a:alpha val="16000"/>
            </a:srgbClr>
          </a:solidFill>
          <a:ln w="3175" cap="flat" cmpd="sng" algn="ctr">
            <a:solidFill>
              <a:schemeClr val="tx1">
                <a:alpha val="3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/>
              <a:t>朴素贝叶斯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N</a:t>
            </a:r>
            <a:r>
              <a:rPr lang="en-US" altLang="zh-CN" sz="2400" dirty="0"/>
              <a:t>aive</a:t>
            </a:r>
            <a:r>
              <a:rPr lang="en-US" altLang="zh-CN" sz="2800" dirty="0"/>
              <a:t> B</a:t>
            </a:r>
            <a:r>
              <a:rPr lang="en-US" altLang="zh-CN" sz="2400" dirty="0"/>
              <a:t>ayesian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endParaRPr lang="zh-CN" altLang="en-US" sz="2800" dirty="0"/>
          </a:p>
        </p:txBody>
      </p:sp>
      <p:sp>
        <p:nvSpPr>
          <p:cNvPr id="7" name="圆角矩形 6"/>
          <p:cNvSpPr/>
          <p:nvPr/>
        </p:nvSpPr>
        <p:spPr bwMode="auto">
          <a:xfrm>
            <a:off x="4788024" y="4077072"/>
            <a:ext cx="2664296" cy="1656184"/>
          </a:xfrm>
          <a:prstGeom prst="roundRect">
            <a:avLst/>
          </a:prstGeom>
          <a:solidFill>
            <a:srgbClr val="FFFF00">
              <a:alpha val="16000"/>
            </a:srgbClr>
          </a:solidFill>
          <a:ln w="3175" cap="flat" cmpd="sng" algn="ctr">
            <a:solidFill>
              <a:schemeClr val="tx1">
                <a:alpha val="3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dirty="0"/>
              <a:t>支持向量机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SVM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algn="ctr">
              <a:lnSpc>
                <a:spcPct val="150000"/>
              </a:lnSpc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4769092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257353" y="62929"/>
            <a:ext cx="6482999" cy="8457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de-DE" altLang="zh-CN" sz="3200" dirty="0" smtClean="0"/>
              <a:t>1. </a:t>
            </a:r>
            <a:r>
              <a:rPr lang="zh-CN" altLang="en-US" sz="3200" dirty="0" smtClean="0"/>
              <a:t>近邻法（</a:t>
            </a:r>
            <a:r>
              <a:rPr lang="en-US" altLang="zh-CN" sz="3200" dirty="0" smtClean="0"/>
              <a:t>KNN</a:t>
            </a:r>
            <a:r>
              <a:rPr lang="zh-CN" altLang="en-US" sz="3200" dirty="0" smtClean="0"/>
              <a:t>）</a:t>
            </a:r>
            <a:endParaRPr lang="en-US" altLang="zh-CN" sz="3200" dirty="0"/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323528" y="1109662"/>
            <a:ext cx="8496943" cy="545271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KNN </a:t>
            </a:r>
            <a:r>
              <a:rPr lang="de-DE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de-DE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nearest neighbors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近邻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altLang="zh-CN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KNN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的基本原理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邻近性假设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离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它最近的</a:t>
            </a:r>
            <a:r>
              <a:rPr lang="en-US" altLang="zh-CN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篇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r>
              <a:rPr lang="zh-CN" altLang="en-US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所属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类别中最多的那个</a:t>
            </a:r>
            <a:r>
              <a:rPr lang="zh-CN" altLang="en-US" sz="2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类别</a:t>
            </a:r>
            <a:endParaRPr lang="de-DE" sz="2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-1" y="6412418"/>
            <a:ext cx="9144001" cy="457200"/>
          </a:xfrm>
          <a:prstGeom prst="rect">
            <a:avLst/>
          </a:prstGeom>
          <a:solidFill>
            <a:schemeClr val="bg1">
              <a:alpha val="0"/>
            </a:schemeClr>
          </a:solidFill>
          <a:ln w="9525" algn="ctr">
            <a:solidFill>
              <a:schemeClr val="bg1"/>
            </a:solidFill>
            <a:round/>
            <a:headEnd/>
            <a:tailEnd/>
          </a:ln>
        </p:spPr>
        <p:txBody>
          <a:bodyPr/>
          <a:lstStyle/>
          <a:p>
            <a:pPr algn="ctr"/>
            <a:endParaRPr lang="zh-CN" altLang="en-US" b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5" descr="143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3312903"/>
            <a:ext cx="3660043" cy="3098484"/>
          </a:xfrm>
          <a:prstGeom prst="rect">
            <a:avLst/>
          </a:prstGeom>
        </p:spPr>
      </p:pic>
      <p:pic>
        <p:nvPicPr>
          <p:cNvPr id="7" name="Picture 2" descr="KNN算法的决策过程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043" y="3356992"/>
            <a:ext cx="3669964" cy="316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3024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 </a:t>
            </a:r>
            <a:r>
              <a:rPr lang="zh-CN" altLang="zh-CN" dirty="0" smtClean="0"/>
              <a:t>决策树</a:t>
            </a:r>
            <a:r>
              <a:rPr lang="zh-CN" altLang="en-US" dirty="0" smtClean="0"/>
              <a:t>（</a:t>
            </a:r>
            <a:r>
              <a:rPr lang="en-US" altLang="zh-CN" dirty="0" smtClean="0"/>
              <a:t>Decision Tree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953" y="4077072"/>
            <a:ext cx="4662630" cy="258869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052736"/>
            <a:ext cx="8491055" cy="28803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5" y="4382688"/>
            <a:ext cx="3816424" cy="2155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4426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关键问题：分裂</a:t>
            </a:r>
            <a:r>
              <a:rPr lang="zh-CN" altLang="en-US" dirty="0"/>
              <a:t>标准</a:t>
            </a:r>
          </a:p>
        </p:txBody>
      </p:sp>
      <p:sp>
        <p:nvSpPr>
          <p:cNvPr id="5" name="矩形 4"/>
          <p:cNvSpPr/>
          <p:nvPr/>
        </p:nvSpPr>
        <p:spPr>
          <a:xfrm>
            <a:off x="2483768" y="1200965"/>
            <a:ext cx="489654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54000">
              <a:lnSpc>
                <a:spcPct val="150000"/>
              </a:lnSpc>
              <a:spcAft>
                <a:spcPts val="0"/>
              </a:spcAft>
            </a:pPr>
            <a:r>
              <a:rPr lang="zh-CN" altLang="en-US" sz="2800" kern="0" dirty="0" smtClean="0">
                <a:solidFill>
                  <a:srgbClr val="4D4D4D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如何区别男生女生？</a:t>
            </a:r>
            <a:endParaRPr lang="en-US" altLang="zh-CN" sz="2800" kern="0" dirty="0" smtClean="0">
              <a:solidFill>
                <a:srgbClr val="4D4D4D"/>
              </a:solidFill>
              <a:latin typeface="等线" panose="02010600030101010101" pitchFamily="2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“头发长短”</a:t>
            </a:r>
            <a:r>
              <a:rPr lang="zh-CN" altLang="en-US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？</a:t>
            </a:r>
            <a:r>
              <a:rPr lang="zh-CN" altLang="zh-CN" sz="2400" b="0" kern="0" dirty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endParaRPr lang="en-US" altLang="zh-CN" sz="2400" b="0" kern="0" dirty="0" smtClean="0">
              <a:solidFill>
                <a:srgbClr val="0000FF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zh-CN" altLang="zh-CN" sz="2400" b="0" kern="0" dirty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穿的鞋子是否是高跟鞋</a:t>
            </a:r>
            <a:r>
              <a:rPr lang="zh-CN" altLang="zh-CN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”</a:t>
            </a:r>
            <a:r>
              <a:rPr lang="zh-CN" altLang="en-US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？</a:t>
            </a:r>
            <a:endParaRPr lang="en-US" altLang="zh-CN" sz="2400" b="0" kern="0" dirty="0" smtClean="0">
              <a:solidFill>
                <a:srgbClr val="0000FF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“有没有喉结”</a:t>
            </a:r>
            <a:r>
              <a:rPr lang="zh-CN" altLang="en-US" sz="2400" b="0" kern="0" dirty="0" smtClean="0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？</a:t>
            </a:r>
            <a:endParaRPr lang="zh-CN" altLang="zh-CN" sz="28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5536" y="3789040"/>
            <a:ext cx="85689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Helvetica" panose="020B0604020202020204" pitchFamily="34" charset="0"/>
              </a:rPr>
              <a:t>ID3</a:t>
            </a:r>
            <a:r>
              <a:rPr lang="zh-CN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Helvetica" panose="020B0604020202020204" pitchFamily="34" charset="0"/>
              </a:rPr>
              <a:t>：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取值多的属性，更容易使数据更纯，其</a:t>
            </a: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信息增益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更大。</a:t>
            </a:r>
            <a:endParaRPr lang="zh-CN" altLang="zh-CN" sz="24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0" dirty="0" smtClean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Helvetica" panose="020B0604020202020204" pitchFamily="34" charset="0"/>
              </a:rPr>
              <a:t>C4.5</a:t>
            </a:r>
            <a:r>
              <a:rPr lang="zh-CN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Helvetica" panose="020B0604020202020204" pitchFamily="34" charset="0"/>
              </a:rPr>
              <a:t>：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采用</a:t>
            </a: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信息增益率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替代信息增益。</a:t>
            </a:r>
            <a:endParaRPr lang="zh-CN" altLang="zh-CN" sz="2400" b="0" kern="100" dirty="0">
              <a:solidFill>
                <a:srgbClr val="3333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Helvetica" panose="020B0604020202020204" pitchFamily="34" charset="0"/>
              </a:rPr>
              <a:t>CART</a:t>
            </a:r>
            <a:r>
              <a:rPr lang="zh-CN" altLang="zh-CN" sz="2400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Helvetica" panose="020B0604020202020204" pitchFamily="34" charset="0"/>
              </a:rPr>
              <a:t>：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以</a:t>
            </a: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基尼系数</a:t>
            </a:r>
            <a:r>
              <a:rPr lang="zh-CN" altLang="zh-CN" b="0" kern="0" dirty="0">
                <a:solidFill>
                  <a:srgbClr val="333333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Helvetica" panose="020B0604020202020204" pitchFamily="34" charset="0"/>
              </a:rPr>
              <a:t>替代熵，最小化不纯度，而不是最大化信息增益。</a:t>
            </a:r>
            <a:endParaRPr lang="zh-CN" altLang="zh-CN" sz="2400" b="0" kern="100" dirty="0">
              <a:solidFill>
                <a:srgbClr val="333333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56162"/>
      </p:ext>
    </p:extLst>
  </p:cSld>
  <p:clrMapOvr>
    <a:masterClrMapping/>
  </p:clrMapOvr>
  <p:transition spd="slow">
    <p:circl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等线" panose="02010600030101010101" pitchFamily="2" charset="-122"/>
                <a:cs typeface="Arial" panose="020B0604020202020204" pitchFamily="34" charset="0"/>
              </a:rPr>
              <a:t>熵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67544" y="1916832"/>
            <a:ext cx="8496944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举例来说，假设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是一个关于布尔概念的有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14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个样例的集合，它包括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个正例和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个反例（我们采用记号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[9+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5-]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来概括这样的数据样例），那么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相对于这个布尔样例的熵为：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0" kern="0" dirty="0">
                <a:solidFill>
                  <a:srgbClr val="4F4F4F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Entropy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[9+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5-]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=-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9/14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log2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9/14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5/14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log2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5/14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=0.940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b="0" kern="0" dirty="0">
                <a:solidFill>
                  <a:srgbClr val="4F4F4F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So</a:t>
            </a:r>
            <a:r>
              <a:rPr lang="zh-CN" altLang="zh-CN" b="0" kern="0" dirty="0">
                <a:solidFill>
                  <a:srgbClr val="4F4F4F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，根据上述这个公式，我们可以得到：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如果</a:t>
            </a:r>
            <a:r>
              <a:rPr lang="en-US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的所有成员属于同一类，则</a:t>
            </a:r>
            <a:r>
              <a:rPr lang="en-US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Entropy(S)=0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如果</a:t>
            </a:r>
            <a:r>
              <a:rPr lang="en-US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的正反样例数量相等，则</a:t>
            </a:r>
            <a:r>
              <a:rPr lang="en-US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Entropy(S)=1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lang="zh-CN" altLang="zh-CN" sz="2400" b="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如果</a:t>
            </a:r>
            <a:r>
              <a:rPr lang="en-US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S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的正反样例数量不等，则熵介于</a:t>
            </a:r>
            <a:r>
              <a:rPr lang="en-US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之间</a:t>
            </a:r>
            <a:endParaRPr lang="zh-CN" altLang="zh-CN" sz="2400" b="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 descr="https://imgconvert.csdnimg.cn/aHR0cDovL2hpLmNzZG4ubmV0L2F0dGFjaG1lbnQvMjAxMjAxLzgvMF8xMzI2MDE3NjE0V3ZWVS5naWY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432794"/>
            <a:ext cx="4680520" cy="4120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1757544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034" name="矩形 2"/>
          <p:cNvSpPr>
            <a:spLocks noGrp="1" noChangeArrowheads="1"/>
          </p:cNvSpPr>
          <p:nvPr>
            <p:ph type="title"/>
          </p:nvPr>
        </p:nvSpPr>
        <p:spPr>
          <a:xfrm>
            <a:off x="755650" y="187325"/>
            <a:ext cx="7654925" cy="7207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ID3 - </a:t>
            </a:r>
            <a:r>
              <a:rPr lang="zh-CN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信息</a:t>
            </a:r>
            <a:r>
              <a:rPr lang="zh-CN" altLang="zh-CN" dirty="0">
                <a:latin typeface="等线" panose="02010600030101010101" pitchFamily="2" charset="-122"/>
                <a:cs typeface="Helvetica" panose="020B0604020202020204" pitchFamily="34" charset="0"/>
              </a:rPr>
              <a:t>增益</a:t>
            </a:r>
            <a:endParaRPr lang="it-IT" dirty="0"/>
          </a:p>
        </p:txBody>
      </p:sp>
      <p:sp>
        <p:nvSpPr>
          <p:cNvPr id="125956" name="矩形 3"/>
          <p:cNvSpPr>
            <a:spLocks noGrp="1" noChangeArrowheads="1"/>
          </p:cNvSpPr>
          <p:nvPr>
            <p:ph type="body" sz="half" idx="1"/>
          </p:nvPr>
        </p:nvSpPr>
        <p:spPr>
          <a:xfrm>
            <a:off x="334962" y="1241425"/>
            <a:ext cx="8496300" cy="5616575"/>
          </a:xfrm>
        </p:spPr>
        <p:txBody>
          <a:bodyPr/>
          <a:lstStyle/>
          <a:p>
            <a:pPr eaLnBrk="1" hangingPunct="1"/>
            <a:r>
              <a:rPr lang="zh-CN" altLang="en-US" sz="2000" dirty="0" smtClean="0"/>
              <a:t>信息增益：</a:t>
            </a:r>
            <a:r>
              <a:rPr lang="en-US" altLang="zh-CN" sz="2000" dirty="0" smtClean="0"/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G(S,W) =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sz="2000" dirty="0" smtClean="0">
                <a:solidFill>
                  <a:srgbClr val="FF0000"/>
                </a:solidFill>
              </a:rPr>
              <a:t>    E(S) </a:t>
            </a:r>
            <a:r>
              <a:rPr lang="en-US" altLang="zh-CN" sz="2000" dirty="0" smtClean="0">
                <a:solidFill>
                  <a:srgbClr val="FF0000"/>
                </a:solidFill>
                <a:latin typeface="Verdana" pitchFamily="34" charset="0"/>
              </a:rPr>
              <a:t>–</a:t>
            </a:r>
            <a:r>
              <a:rPr lang="en-US" altLang="zh-CN" sz="2000" dirty="0" smtClean="0">
                <a:solidFill>
                  <a:srgbClr val="FF0000"/>
                </a:solidFill>
              </a:rPr>
              <a:t>[</a:t>
            </a:r>
            <a:r>
              <a:rPr lang="en-US" altLang="zh-CN" sz="2000" dirty="0" smtClean="0">
                <a:solidFill>
                  <a:srgbClr val="0000FF"/>
                </a:solidFill>
              </a:rPr>
              <a:t>P((W is present)*E(S</a:t>
            </a:r>
            <a:r>
              <a:rPr lang="en-US" altLang="zh-CN" sz="2000" baseline="-25000" dirty="0" smtClean="0">
                <a:solidFill>
                  <a:srgbClr val="0000FF"/>
                </a:solidFill>
              </a:rPr>
              <a:t>W is present</a:t>
            </a:r>
            <a:r>
              <a:rPr lang="en-US" altLang="zh-CN" sz="2000" dirty="0" smtClean="0">
                <a:solidFill>
                  <a:srgbClr val="0000FF"/>
                </a:solidFill>
              </a:rPr>
              <a:t>) + P(W is absent)*E(S</a:t>
            </a:r>
            <a:r>
              <a:rPr lang="en-US" altLang="zh-CN" sz="2000" baseline="-25000" dirty="0" smtClean="0">
                <a:solidFill>
                  <a:srgbClr val="0000FF"/>
                </a:solidFill>
              </a:rPr>
              <a:t>W is absent</a:t>
            </a:r>
            <a:r>
              <a:rPr lang="en-US" altLang="zh-CN" sz="2000" dirty="0" smtClean="0">
                <a:solidFill>
                  <a:srgbClr val="0000FF"/>
                </a:solidFill>
              </a:rPr>
              <a:t>)</a:t>
            </a:r>
            <a:r>
              <a:rPr lang="en-US" altLang="zh-CN" sz="2000" dirty="0" smtClean="0">
                <a:solidFill>
                  <a:srgbClr val="FF0000"/>
                </a:solidFill>
              </a:rPr>
              <a:t>]</a:t>
            </a:r>
          </a:p>
          <a:p>
            <a:pPr eaLnBrk="1" hangingPunct="1"/>
            <a:endParaRPr lang="en-US" altLang="zh-CN" sz="2000" dirty="0" smtClean="0"/>
          </a:p>
          <a:p>
            <a:pPr eaLnBrk="1" hangingPunct="1"/>
            <a:endParaRPr lang="en-US" altLang="zh-CN" sz="2000" dirty="0" smtClean="0"/>
          </a:p>
          <a:p>
            <a:pPr eaLnBrk="1" hangingPunct="1"/>
            <a:endParaRPr lang="en-US" altLang="zh-CN" sz="1600" dirty="0" smtClean="0"/>
          </a:p>
        </p:txBody>
      </p:sp>
      <p:graphicFrame>
        <p:nvGraphicFramePr>
          <p:cNvPr id="125957" name="对象 4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2203500" y="2708920"/>
          <a:ext cx="4759223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Equation" r:id="rId4" imgW="2043813" imgH="355446" progId="Equation.3">
                  <p:embed/>
                </p:oleObj>
              </mc:Choice>
              <mc:Fallback>
                <p:oleObj name="Equation" r:id="rId4" imgW="2043813" imgH="355446" progId="Equation.3">
                  <p:embed/>
                  <p:pic>
                    <p:nvPicPr>
                      <p:cNvPr id="125957" name="对象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500" y="2708920"/>
                        <a:ext cx="4759223" cy="86409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1619672" y="4049712"/>
            <a:ext cx="65748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等线" panose="02010600030101010101" pitchFamily="2" charset="-122"/>
                <a:cs typeface="Arial" panose="020B0604020202020204" pitchFamily="34" charset="0"/>
              </a:rPr>
              <a:t>Entropy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[9+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5-]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=-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9/14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log2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9/14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5/14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log2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5/14</a:t>
            </a:r>
            <a:r>
              <a:rPr lang="zh-CN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en-US" altLang="zh-CN" sz="2400" b="0" kern="0" dirty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en-US" altLang="zh-CN" sz="2400" b="0" kern="0" dirty="0" smtClean="0">
                <a:solidFill>
                  <a:srgbClr val="4F4F4F"/>
                </a:solidFill>
                <a:latin typeface="+mj-lt"/>
                <a:ea typeface="微软雅黑" panose="020B0503020204020204" pitchFamily="34" charset="-122"/>
                <a:cs typeface="Arial" panose="020B0604020202020204" pitchFamily="34" charset="0"/>
              </a:rPr>
              <a:t>0.940</a:t>
            </a:r>
            <a:endParaRPr lang="zh-CN" altLang="zh-CN" sz="2800" b="0" kern="100" dirty="0">
              <a:latin typeface="+mj-lt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928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258" name="矩形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例子</a:t>
            </a:r>
            <a:endParaRPr lang="it-IT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20518" name="组合 26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039376"/>
              </p:ext>
            </p:extLst>
          </p:nvPr>
        </p:nvGraphicFramePr>
        <p:xfrm>
          <a:off x="684213" y="1160207"/>
          <a:ext cx="7920037" cy="5252213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9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56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outlook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temperature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humidity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windy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Play/CLASS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sunny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85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sunny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80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STRONG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overcast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83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rainy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70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rainy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68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rainy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65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STRONG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overcast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64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STRONG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sunny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72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sunny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69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rainy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75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sunny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75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STRONG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overcast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72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2D7693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STRONG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overcast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81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NORMAL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WEAK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yes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518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rainy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71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HIGH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STRONG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宋体" pitchFamily="2" charset="-122"/>
                          <a:cs typeface="Arial" charset="0"/>
                        </a:rPr>
                        <a:t>no</a:t>
                      </a:r>
                    </a:p>
                  </a:txBody>
                  <a:tcPr marT="45697" marB="45697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914904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05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670" y="1700400"/>
            <a:ext cx="8000206" cy="4248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9298" name="矩形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基于信息增益的特征选择</a:t>
            </a:r>
            <a:endParaRPr lang="it-IT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006" name="文本框 6"/>
          <p:cNvSpPr txBox="1">
            <a:spLocks noChangeArrowheads="1"/>
          </p:cNvSpPr>
          <p:nvPr/>
        </p:nvSpPr>
        <p:spPr bwMode="auto">
          <a:xfrm>
            <a:off x="3837013" y="2084405"/>
            <a:ext cx="17287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 Antiqua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Arial" charset="0"/>
              </a:rPr>
              <a:t>Humidity </a:t>
            </a:r>
            <a:r>
              <a:rPr lang="zh-CN" altLang="en-US" b="1" dirty="0">
                <a:solidFill>
                  <a:srgbClr val="FF0000"/>
                </a:solidFill>
                <a:latin typeface="Arial" charset="0"/>
              </a:rPr>
              <a:t>重要</a:t>
            </a:r>
            <a:r>
              <a:rPr lang="en-US" altLang="zh-CN" b="1" dirty="0">
                <a:solidFill>
                  <a:srgbClr val="FF0000"/>
                </a:solidFill>
                <a:latin typeface="Arial" charset="0"/>
              </a:rPr>
              <a:t>!</a:t>
            </a:r>
          </a:p>
        </p:txBody>
      </p:sp>
      <p:sp>
        <p:nvSpPr>
          <p:cNvPr id="128007" name="椭圆​​ 1"/>
          <p:cNvSpPr>
            <a:spLocks noChangeArrowheads="1"/>
          </p:cNvSpPr>
          <p:nvPr/>
        </p:nvSpPr>
        <p:spPr bwMode="auto">
          <a:xfrm>
            <a:off x="2051720" y="2010983"/>
            <a:ext cx="1152525" cy="395288"/>
          </a:xfrm>
          <a:prstGeom prst="ellipse">
            <a:avLst/>
          </a:prstGeom>
          <a:noFill/>
          <a:ln w="317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8008" name="椭圆​​ 7"/>
          <p:cNvSpPr>
            <a:spLocks noChangeArrowheads="1"/>
          </p:cNvSpPr>
          <p:nvPr/>
        </p:nvSpPr>
        <p:spPr bwMode="auto">
          <a:xfrm>
            <a:off x="6228184" y="2010984"/>
            <a:ext cx="1150938" cy="395287"/>
          </a:xfrm>
          <a:prstGeom prst="ellipse">
            <a:avLst/>
          </a:prstGeom>
          <a:noFill/>
          <a:ln w="317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84587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b="1" dirty="0"/>
              <a:t>C4.5 - </a:t>
            </a:r>
            <a:r>
              <a:rPr lang="zh-CN" altLang="zh-CN" sz="2400" b="1" dirty="0">
                <a:cs typeface="Helvetica" panose="020B0604020202020204" pitchFamily="34" charset="0"/>
              </a:rPr>
              <a:t>信息增益</a:t>
            </a:r>
            <a:r>
              <a:rPr lang="zh-CN" altLang="zh-CN" sz="2400" b="1" dirty="0" smtClean="0">
                <a:cs typeface="Helvetica" panose="020B0604020202020204" pitchFamily="34" charset="0"/>
              </a:rPr>
              <a:t>率</a:t>
            </a:r>
            <a:endParaRPr lang="en-US" altLang="zh-CN" sz="2400" b="1" dirty="0" smtClean="0">
              <a:cs typeface="Helvetica" panose="020B0604020202020204" pitchFamily="34" charset="0"/>
            </a:endParaRPr>
          </a:p>
          <a:p>
            <a:endParaRPr lang="en-US" altLang="zh-CN" dirty="0">
              <a:cs typeface="Helvetica" panose="020B0604020202020204" pitchFamily="34" charset="0"/>
            </a:endParaRPr>
          </a:p>
          <a:p>
            <a:endParaRPr lang="en-US" altLang="zh-CN" dirty="0" smtClean="0">
              <a:cs typeface="Helvetica" panose="020B0604020202020204" pitchFamily="34" charset="0"/>
            </a:endParaRPr>
          </a:p>
          <a:p>
            <a:endParaRPr lang="en-US" altLang="zh-CN" sz="2400" b="1" dirty="0" smtClean="0"/>
          </a:p>
          <a:p>
            <a:endParaRPr lang="en-US" altLang="zh-CN" sz="2400" b="1" dirty="0" smtClean="0"/>
          </a:p>
          <a:p>
            <a:r>
              <a:rPr lang="en-US" altLang="zh-CN" sz="2400" b="1" dirty="0" smtClean="0"/>
              <a:t>CART </a:t>
            </a:r>
            <a:r>
              <a:rPr lang="en-US" altLang="zh-CN" sz="2400" b="1" dirty="0"/>
              <a:t>- </a:t>
            </a:r>
            <a:r>
              <a:rPr lang="zh-CN" altLang="zh-CN" sz="2400" b="1" dirty="0">
                <a:latin typeface="等线" panose="02010600030101010101" pitchFamily="2" charset="-122"/>
                <a:cs typeface="Helvetica" panose="020B0604020202020204" pitchFamily="34" charset="0"/>
              </a:rPr>
              <a:t>基尼</a:t>
            </a:r>
            <a:r>
              <a:rPr lang="zh-CN" altLang="zh-CN" sz="2400" b="1" dirty="0" smtClean="0">
                <a:latin typeface="等线" panose="02010600030101010101" pitchFamily="2" charset="-122"/>
                <a:cs typeface="Helvetica" panose="020B0604020202020204" pitchFamily="34" charset="0"/>
              </a:rPr>
              <a:t>系数</a:t>
            </a:r>
            <a:endParaRPr lang="en-US" altLang="zh-CN" sz="2400" b="1" dirty="0" smtClean="0"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r>
              <a:rPr lang="zh-CN" altLang="zh-CN" dirty="0" smtClean="0">
                <a:latin typeface="等线" panose="02010600030101010101" pitchFamily="2" charset="-122"/>
                <a:cs typeface="Helvetica" panose="020B0604020202020204" pitchFamily="34" charset="0"/>
              </a:rPr>
              <a:t>集合</a:t>
            </a:r>
            <a:r>
              <a:rPr lang="zh-CN" altLang="zh-CN" dirty="0">
                <a:latin typeface="等线" panose="02010600030101010101" pitchFamily="2" charset="-122"/>
                <a:cs typeface="Helvetica" panose="020B0604020202020204" pitchFamily="34" charset="0"/>
              </a:rPr>
              <a:t>中一个随机选中的样本被分错的概率。</a:t>
            </a:r>
            <a:endParaRPr lang="en-US" altLang="zh-CN" dirty="0"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endParaRPr lang="en-US" altLang="zh-CN" dirty="0">
              <a:solidFill>
                <a:srgbClr val="333333"/>
              </a:solidFill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>
              <a:lnSpc>
                <a:spcPct val="200000"/>
              </a:lnSpc>
              <a:spcAft>
                <a:spcPts val="0"/>
              </a:spcAft>
            </a:pPr>
            <a:endParaRPr lang="en-US" altLang="zh-CN" dirty="0">
              <a:solidFill>
                <a:srgbClr val="333333"/>
              </a:solidFill>
              <a:latin typeface="等线" panose="02010600030101010101" pitchFamily="2" charset="-122"/>
              <a:cs typeface="Helvetica" panose="020B0604020202020204" pitchFamily="34" charset="0"/>
            </a:endParaRPr>
          </a:p>
          <a:p>
            <a:pPr lvl="1"/>
            <a:endParaRPr lang="en-US" altLang="zh-CN" dirty="0" smtClean="0">
              <a:cs typeface="Helvetica" panose="020B0604020202020204" pitchFamily="34" charset="0"/>
            </a:endParaRPr>
          </a:p>
          <a:p>
            <a:endParaRPr lang="en-US" altLang="zh-CN" dirty="0">
              <a:cs typeface="Helvetica" panose="020B0604020202020204" pitchFamily="34" charset="0"/>
            </a:endParaRPr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其他指标</a:t>
            </a:r>
            <a:endParaRPr lang="zh-CN" altLang="en-US" dirty="0"/>
          </a:p>
        </p:txBody>
      </p:sp>
      <p:pic>
        <p:nvPicPr>
          <p:cNvPr id="5" name="图片 4" descr="image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5301208"/>
            <a:ext cx="5913335" cy="504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l="31320" t="36521" r="47655" b="55651"/>
          <a:stretch/>
        </p:blipFill>
        <p:spPr>
          <a:xfrm>
            <a:off x="2253973" y="1934704"/>
            <a:ext cx="3924650" cy="8215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4"/>
          <a:srcRect l="31320" t="58617" r="47655" b="31070"/>
          <a:stretch/>
        </p:blipFill>
        <p:spPr>
          <a:xfrm>
            <a:off x="2496247" y="2865536"/>
            <a:ext cx="3440103" cy="94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63097"/>
      </p:ext>
    </p:extLst>
  </p:cSld>
  <p:clrMapOvr>
    <a:masterClrMapping/>
  </p:clrMapOvr>
  <p:transition spd="slow">
    <p:circl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 </a:t>
            </a:r>
            <a:r>
              <a:rPr lang="zh-CN" altLang="zh-CN" dirty="0" smtClean="0"/>
              <a:t>朴素</a:t>
            </a:r>
            <a:r>
              <a:rPr lang="zh-CN" altLang="zh-CN" dirty="0"/>
              <a:t>贝叶</a:t>
            </a:r>
            <a:r>
              <a:rPr lang="zh-CN" altLang="zh-CN" dirty="0" smtClean="0"/>
              <a:t>斯</a:t>
            </a:r>
            <a:r>
              <a:rPr lang="zh-CN" altLang="en-US" dirty="0"/>
              <a:t>（</a:t>
            </a:r>
            <a:r>
              <a:rPr lang="en-US" altLang="zh-CN" dirty="0"/>
              <a:t> Naive Bayesian </a:t>
            </a:r>
            <a:r>
              <a:rPr lang="zh-CN" altLang="en-US" dirty="0"/>
              <a:t>）</a:t>
            </a:r>
          </a:p>
        </p:txBody>
      </p:sp>
      <p:pic>
        <p:nvPicPr>
          <p:cNvPr id="6" name="图片 5" descr="http://wx2.sinaimg.cn/mw690/00630Defly1g4xzs3aydjj30nb0c4gm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03327"/>
            <a:ext cx="8496944" cy="4993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http://wx2.sinaimg.cn/mw690/00630Defly1g4y1ayvvndj30io01qgll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644" y="6117689"/>
            <a:ext cx="6408712" cy="648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533347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（三）</a:t>
            </a:r>
            <a:r>
              <a:rPr lang="zh-CN" altLang="zh-CN" dirty="0" smtClean="0"/>
              <a:t>贝叶斯</a:t>
            </a:r>
            <a:r>
              <a:rPr lang="zh-CN" altLang="en-US" dirty="0" smtClean="0"/>
              <a:t>分类（</a:t>
            </a:r>
            <a:r>
              <a:rPr lang="en-US" altLang="zh-CN" dirty="0" smtClean="0"/>
              <a:t>Bayesian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010400" y="6338888"/>
            <a:ext cx="2133600" cy="4064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6F6011E-1193-4492-BE94-6CC4B753765E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pic>
        <p:nvPicPr>
          <p:cNvPr id="5" name="图片 4" descr="http://wx2.sinaimg.cn/mw690/00630Defly1g4xzs3aydjj30nb0c4gmq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03327"/>
            <a:ext cx="8496944" cy="4993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http://wx2.sinaimg.cn/mw690/00630Defly1g4y1ayvvndj30io01qgll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7644" y="6117689"/>
            <a:ext cx="6408712" cy="648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3988853"/>
      </p:ext>
    </p:extLst>
  </p:cSld>
  <p:clrMapOvr>
    <a:masterClrMapping/>
  </p:clrMapOvr>
  <p:transition spd="slow">
    <p:circl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115071" y="78042"/>
            <a:ext cx="6697289" cy="84374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 smtClean="0"/>
              <a:t>朴素</a:t>
            </a:r>
            <a:r>
              <a:rPr lang="zh-CN" altLang="en-US" sz="3200" dirty="0"/>
              <a:t>贝叶斯分类器</a:t>
            </a:r>
            <a:endParaRPr lang="en-US" sz="3200" dirty="0"/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dirty="0">
              <a:latin typeface="Times New Roman" pitchFamily="18" charset="0"/>
              <a:ea typeface="黑体" pitchFamily="49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5536" y="1196752"/>
            <a:ext cx="8424936" cy="423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朴素贝叶斯是一个概率分类器</a:t>
            </a:r>
            <a:endParaRPr 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  <a:r>
              <a:rPr 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2400" b="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属于类别</a:t>
            </a:r>
            <a:r>
              <a:rPr 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de-DE" sz="2400" b="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de-DE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的概率计算</a:t>
            </a: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如下：</a:t>
            </a:r>
            <a:r>
              <a:rPr lang="de-DE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0050" lvl="2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</a:pPr>
            <a:r>
              <a:rPr lang="de-DE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</a:p>
          <a:p>
            <a:pPr marL="685800" lvl="2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endParaRPr lang="en-US" b="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b="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b="0" i="1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是文档的长度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词的个数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b="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b="0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en-US" b="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是词项</a:t>
            </a:r>
            <a:r>
              <a:rPr lang="en-US" b="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b="0" i="1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出现在类别</a:t>
            </a:r>
            <a:r>
              <a:rPr lang="de-DE" b="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中文档的概率</a:t>
            </a:r>
            <a:endParaRPr lang="de-DE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85800" lvl="2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en-US" b="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b="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是类别</a:t>
            </a:r>
            <a:r>
              <a:rPr lang="en-US" b="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先验概率</a:t>
            </a:r>
            <a:endParaRPr lang="en-US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323529" y="2996952"/>
          <a:ext cx="8136903" cy="761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4" imgW="3898800" imgH="368280" progId="Equation.DSMT4">
                  <p:embed/>
                </p:oleObj>
              </mc:Choice>
              <mc:Fallback>
                <p:oleObj name="Equation" r:id="rId4" imgW="3898800" imgH="3682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9" y="2996952"/>
                        <a:ext cx="8136903" cy="7610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636330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856421" y="67112"/>
            <a:ext cx="7018760" cy="9506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/>
              <a:t>一个例子</a:t>
            </a:r>
            <a:endParaRPr lang="en-US" sz="3200" dirty="0"/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dirty="0"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8" name="Picture 7" descr="1335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9552" y="1484784"/>
            <a:ext cx="8287579" cy="211379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51091" y="4077072"/>
            <a:ext cx="6429420" cy="12632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估计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朴素贝叶斯分类器的参数</a:t>
            </a:r>
            <a:endParaRPr lang="en-US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28600" lvl="1" indent="-228600">
              <a:lnSpc>
                <a:spcPct val="150000"/>
              </a:lnSpc>
              <a:spcBef>
                <a:spcPts val="1000"/>
              </a:spcBef>
              <a:buClr>
                <a:srgbClr val="336699"/>
              </a:buClr>
              <a:buFont typeface="Arial" panose="020B0604020202020204" pitchFamily="34" charset="0"/>
              <a:buChar char="•"/>
            </a:pP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对测试文档进行分类</a:t>
            </a:r>
            <a:endParaRPr lang="de-DE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26409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115616" y="231205"/>
            <a:ext cx="7018760" cy="6775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 smtClean="0"/>
              <a:t>计算过程</a:t>
            </a:r>
            <a:endParaRPr lang="en-US" sz="3200" dirty="0"/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6873479" y="-33338"/>
            <a:ext cx="694134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 dirty="0">
              <a:latin typeface="Times New Roman" pitchFamily="18" charset="0"/>
              <a:ea typeface="黑体" pitchFamily="49" charset="-122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2247" y="1556792"/>
            <a:ext cx="7580985" cy="2277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0" descr="133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31639" y="4725144"/>
            <a:ext cx="6402202" cy="99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7626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b="1" dirty="0"/>
              <a:t>多项式模型（</a:t>
            </a:r>
            <a:r>
              <a:rPr lang="en-US" altLang="zh-CN" b="1" dirty="0" err="1"/>
              <a:t>MultinomialNB</a:t>
            </a:r>
            <a:r>
              <a:rPr lang="zh-CN" altLang="zh-CN" b="1" dirty="0" smtClean="0"/>
              <a:t>）</a:t>
            </a:r>
            <a:endParaRPr lang="en-US" altLang="zh-CN" b="1" dirty="0" smtClean="0"/>
          </a:p>
          <a:p>
            <a:endParaRPr lang="en-US" altLang="zh-CN" sz="4000" b="1" dirty="0"/>
          </a:p>
          <a:p>
            <a:endParaRPr lang="en-US" altLang="zh-CN" sz="2000" b="1" dirty="0" smtClean="0"/>
          </a:p>
          <a:p>
            <a:r>
              <a:rPr lang="zh-CN" altLang="zh-CN" b="1" dirty="0"/>
              <a:t>高斯模型（</a:t>
            </a:r>
            <a:r>
              <a:rPr lang="en-US" altLang="zh-CN" b="1" dirty="0" err="1"/>
              <a:t>GaussianNB</a:t>
            </a:r>
            <a:r>
              <a:rPr lang="zh-CN" altLang="zh-CN" b="1" dirty="0" smtClean="0"/>
              <a:t>）</a:t>
            </a:r>
            <a:endParaRPr lang="en-US" altLang="zh-CN" b="1" dirty="0" smtClean="0"/>
          </a:p>
          <a:p>
            <a:endParaRPr lang="en-US" altLang="zh-CN" sz="1800" b="1" dirty="0"/>
          </a:p>
          <a:p>
            <a:endParaRPr lang="en-US" altLang="zh-CN" b="1" dirty="0" smtClean="0"/>
          </a:p>
          <a:p>
            <a:endParaRPr lang="en-US" altLang="zh-CN" b="1" dirty="0"/>
          </a:p>
          <a:p>
            <a:r>
              <a:rPr lang="zh-CN" altLang="zh-CN" b="1" dirty="0"/>
              <a:t>伯努利模型（</a:t>
            </a:r>
            <a:r>
              <a:rPr lang="en-US" altLang="zh-CN" b="1" dirty="0" err="1"/>
              <a:t>BernoulliNB</a:t>
            </a:r>
            <a:r>
              <a:rPr lang="zh-CN" altLang="zh-CN" b="1" dirty="0"/>
              <a:t>）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常见</a:t>
            </a:r>
            <a:r>
              <a:rPr lang="zh-CN" altLang="zh-CN" dirty="0"/>
              <a:t>的贝叶斯模型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1426396" y="1885004"/>
            <a:ext cx="5283096" cy="1008112"/>
            <a:chOff x="1377136" y="2509141"/>
            <a:chExt cx="5283096" cy="1008112"/>
          </a:xfrm>
        </p:grpSpPr>
        <p:pic>
          <p:nvPicPr>
            <p:cNvPr id="5" name="图片 4" descr="https://img2018.cnblogs.com/blog/1226410/201905/1226410-20190516145950482-852007976.png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77136" y="2597396"/>
              <a:ext cx="2114743" cy="8316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图片 5" descr="https://img2018.cnblogs.com/blog/1226410/201905/1226410-20190516150126462-9088688.png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39952" y="2509141"/>
              <a:ext cx="2520280" cy="100811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" name="图片 8" descr="https://img2018.cnblogs.com/blog/1226410/201905/1226410-20190518151142416-735157426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798966"/>
            <a:ext cx="4752528" cy="93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 descr="https://img2018.cnblogs.com/blog/1226410/201905/1226410-20190516152025108-557949798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768043"/>
            <a:ext cx="5292444" cy="6381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5047976"/>
      </p:ext>
    </p:extLst>
  </p:cSld>
  <p:clrMapOvr>
    <a:masterClrMapping/>
  </p:clrMapOvr>
  <p:transition spd="slow">
    <p:circl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支持向量机（</a:t>
            </a:r>
            <a:r>
              <a:rPr lang="en-US" altLang="zh-CN" dirty="0"/>
              <a:t>SVM</a:t>
            </a:r>
            <a:r>
              <a:rPr lang="zh-CN" altLang="en-US" dirty="0"/>
              <a:t>）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331640" y="1484784"/>
            <a:ext cx="6552728" cy="1944216"/>
            <a:chOff x="971600" y="3424471"/>
            <a:chExt cx="6552728" cy="1944216"/>
          </a:xfrm>
        </p:grpSpPr>
        <p:pic>
          <p:nvPicPr>
            <p:cNvPr id="5" name="图片 4" descr="http://wx4.sinaimg.cn/mw690/00630Defgy1g4vn6ow8vtj30i40ddgpt.jpg"/>
            <p:cNvPicPr/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1600" y="3444637"/>
              <a:ext cx="2608580" cy="1924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图片 6" descr="http://wx4.sinaimg.cn/mw690/00630Defgy1g4vn9xl3pcj30iy0dswgr.jpg"/>
            <p:cNvPicPr/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3424471"/>
              <a:ext cx="2952328" cy="194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" name="图片 7" descr="http://wx2.sinaimg.cn/mw690/00630Defgy1g4vnbaltf7j30mo0ar77n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89040"/>
            <a:ext cx="5298819" cy="2712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2688915"/>
      </p:ext>
    </p:extLst>
  </p:cSld>
  <p:clrMapOvr>
    <a:masterClrMapping/>
  </p:clrMapOvr>
  <p:transition spd="slow">
    <p:circl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基本思想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51520" y="1124744"/>
            <a:ext cx="8424936" cy="1884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支持向量机，因其英文名为</a:t>
            </a:r>
            <a:r>
              <a:rPr lang="en-US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support vector machine</a:t>
            </a:r>
            <a:r>
              <a:rPr lang="zh-CN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，故一般简称</a:t>
            </a:r>
            <a:r>
              <a:rPr lang="en-US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SVM</a:t>
            </a:r>
            <a:r>
              <a:rPr lang="zh-CN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，通俗来讲，它是一种</a:t>
            </a:r>
            <a:r>
              <a:rPr lang="zh-CN" altLang="zh-CN" b="0" kern="0" dirty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二类分类模型</a:t>
            </a:r>
            <a:r>
              <a:rPr lang="zh-CN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，其基本模型定义为</a:t>
            </a:r>
            <a:r>
              <a:rPr lang="zh-CN" altLang="zh-CN" b="0" kern="0" dirty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特征空间上的间隔最大的线性分类器</a:t>
            </a:r>
            <a:r>
              <a:rPr lang="zh-CN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，其</a:t>
            </a:r>
            <a:r>
              <a:rPr lang="zh-CN" altLang="zh-CN" b="0" u="sng" kern="0" dirty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学习策略便是间隔最大化，最终可转化为一个凸二次规划问题的求解</a:t>
            </a:r>
            <a:r>
              <a:rPr lang="zh-CN" altLang="zh-CN" b="0" kern="0" dirty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。</a:t>
            </a:r>
            <a:endParaRPr lang="zh-CN" altLang="en-US" b="0" dirty="0"/>
          </a:p>
        </p:txBody>
      </p:sp>
      <p:pic>
        <p:nvPicPr>
          <p:cNvPr id="6" name="图片 5" descr="http://wx4.sinaimg.cn/mw690/00630Defly1g4w7q9cnymj30dt09mglu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660" y="3789040"/>
            <a:ext cx="4021559" cy="266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http://wx2.sinaimg.cn/mw690/00630Defly1g4w7r9zvunj30o60hdaar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3254880"/>
            <a:ext cx="4122683" cy="31683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2352857"/>
      </p:ext>
    </p:extLst>
  </p:cSld>
  <p:clrMapOvr>
    <a:masterClrMapping/>
  </p:clrMapOvr>
  <p:transition spd="slow">
    <p:circl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空间映射</a:t>
            </a:r>
            <a:endParaRPr lang="zh-CN" altLang="en-US" dirty="0"/>
          </a:p>
        </p:txBody>
      </p:sp>
      <p:pic>
        <p:nvPicPr>
          <p:cNvPr id="5" name="图片 4" descr="http://wx3.sinaimg.cn/mw690/00630Defly1g4w7t050xfj30nl0bajrv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282" y="1340768"/>
            <a:ext cx="4937125" cy="2357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https://julyedu-img.oss-cn-beijing.aliyuncs.com/quesbase6415311358438441728.gif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5" y="3542631"/>
            <a:ext cx="3870330" cy="31804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36370929"/>
      </p:ext>
    </p:extLst>
  </p:cSld>
  <p:clrMapOvr>
    <a:masterClrMapping/>
  </p:clrMapOvr>
  <p:transition spd="slow">
    <p:circl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/>
          </p:cNvSpPr>
          <p:nvPr/>
        </p:nvSpPr>
        <p:spPr>
          <a:xfrm>
            <a:off x="563952" y="116632"/>
            <a:ext cx="7886700" cy="86409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lang="zh-CN" altLang="en-US" sz="3600" b="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  <a:lvl2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2pPr>
            <a:lvl3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3pPr>
            <a:lvl4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4pPr>
            <a:lvl5pPr algn="ctr" eaLnBrk="0" hangingPunct="0"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  <a:ea typeface="黑体" pitchFamily="49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Book Antiqua" pitchFamily="18" charset="0"/>
                <a:ea typeface="宋体" pitchFamily="2" charset="-122"/>
              </a:defRPr>
            </a:lvl9pPr>
          </a:lstStyle>
          <a:p>
            <a:r>
              <a:rPr lang="zh-CN" altLang="en-US" sz="3200" dirty="0"/>
              <a:t>最优超平面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293056" y="1499755"/>
            <a:ext cx="3526646" cy="2303876"/>
            <a:chOff x="325679" y="2565284"/>
            <a:chExt cx="3526646" cy="2303876"/>
          </a:xfrm>
        </p:grpSpPr>
        <p:sp>
          <p:nvSpPr>
            <p:cNvPr id="3" name="矩形 2"/>
            <p:cNvSpPr/>
            <p:nvPr/>
          </p:nvSpPr>
          <p:spPr bwMode="auto">
            <a:xfrm>
              <a:off x="325679" y="2565284"/>
              <a:ext cx="3526241" cy="2303876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/>
                <p:nvPr/>
              </p:nvSpPr>
              <p:spPr>
                <a:xfrm>
                  <a:off x="722014" y="2800371"/>
                  <a:ext cx="2733569" cy="91666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2400" b="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"/>
                                <m:ctrlP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zh-CN" altLang="en-US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zh-CN" altLang="en-US" sz="2400" b="0" i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zh-CN" altLang="en-US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𝒘</m:t>
                                    </m:r>
                                  </m:e>
                                  <m:sup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zh-CN" altLang="en-US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zh-CN" altLang="en-US" sz="2400" b="0" i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num>
                          <m:den>
                            <m:r>
                              <a:rPr lang="zh-CN" altLang="en-US" sz="2400" b="0" i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d>
                            <m:r>
                              <a:rPr lang="zh-CN" altLang="en-US" sz="2400" b="0" i="0"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014" y="2800371"/>
                  <a:ext cx="2733569" cy="91666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/>
                <p:cNvSpPr/>
                <p:nvPr/>
              </p:nvSpPr>
              <p:spPr>
                <a:xfrm>
                  <a:off x="325679" y="3933056"/>
                  <a:ext cx="3526646" cy="82246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zh-CN" altLang="en-US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</m:func>
                        <m:r>
                          <a:rPr lang="zh-CN" altLang="en-US" sz="2400" b="0" i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CN" altLang="en-US" sz="2400" b="0" i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400" b="0" i="0">
                            <a:latin typeface="Cambria Math" panose="02040503050406030204" pitchFamily="18" charset="0"/>
                          </a:rPr>
                          <m:t>.     </m:t>
                        </m:r>
                        <m:sSub>
                          <m:sSubPr>
                            <m:ctrlPr>
                              <a:rPr lang="zh-CN" alt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2400" b="0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zh-CN" altLang="en-US" sz="2400" b="0" i="0">
                            <a:latin typeface="Cambria Math" panose="02040503050406030204" pitchFamily="18" charset="0"/>
                          </a:rPr>
                          <m:t>,     </m:t>
                        </m:r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CN" altLang="en-US" sz="2400" b="0" i="0">
                            <a:latin typeface="Cambria Math" panose="02040503050406030204" pitchFamily="18" charset="0"/>
                          </a:rPr>
                          <m:t>=1,2,…,</m:t>
                        </m:r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679" y="3933056"/>
                  <a:ext cx="3526646" cy="8224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5436096" y="4187206"/>
                <a:ext cx="3240567" cy="5992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e>
                            <m:lim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d>
                            <m:dPr>
                              <m:ctrlPr>
                                <a:rPr lang="zh-CN" altLang="en-US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en-US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zh-CN" altLang="en-US" sz="2400" b="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d>
                          <m:r>
                            <a:rPr lang="zh-CN" altLang="en-US" sz="2400" b="0" i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187206"/>
                <a:ext cx="3240567" cy="599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117744" y="5445224"/>
                <a:ext cx="6805994" cy="8484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4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40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lang="zh-CN" alt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zh-CN" altLang="en-US" sz="2400" b="0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den>
                          </m:f>
                        </m:e>
                      </m:func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sSub>
                        <m:sSubPr>
                          <m:ctrlP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zh-CN" altLang="en-US" sz="24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)≥1, </m:t>
                      </m:r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400" b="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zh-CN" altLang="en-US" sz="2400" b="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7744" y="5445224"/>
                <a:ext cx="6805994" cy="8484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6" descr="http://img.blog.csdn.net/2013120715222895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235044"/>
            <a:ext cx="4464498" cy="295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http://s11.sinaimg.cn/middle/4298002etbb940783ac1a&amp;69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236614"/>
            <a:ext cx="3340797" cy="862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780936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核函数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87524" y="2276872"/>
                <a:ext cx="8568952" cy="44107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b="0" kern="100" dirty="0"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假设在二维空间中有两个向量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𝜉</m:t>
                        </m:r>
                      </m:e>
                      <m:sub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0" kern="100" dirty="0"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zh-CN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b="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zh-CN" b="0" i="1" kern="100"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kern="100"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b="0" kern="100" dirty="0"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，那么它们经过映射之后在五维空间的内积表示为</a:t>
                </a: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𝜑</m:t>
                      </m:r>
                      <m:d>
                        <m:d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&gt; = </m:t>
                      </m:r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b="0" kern="100" dirty="0"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我们注意到</a:t>
                </a: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b="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(&lt;</m:t>
                          </m:r>
                          <m:sSub>
                            <m:sSubPr>
                              <m:ctrlPr>
                                <a:rPr lang="zh-CN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&gt;+1)</m:t>
                          </m:r>
                        </m:e>
                        <m:sup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+1</m:t>
                      </m:r>
                    </m:oMath>
                  </m:oMathPara>
                </a14:m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zh-CN" b="0" kern="100" dirty="0">
                    <a:latin typeface="等线" panose="02010600030101010101" pitchFamily="2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对之前的映射稍作修改</a:t>
                </a:r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zh-CN" altLang="zh-CN" sz="2400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=(</m:t>
                      </m:r>
                      <m:rad>
                        <m:radPr>
                          <m:degHide m:val="on"/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CN" sz="2400" b="0" i="1" kern="1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zh-CN" altLang="zh-CN" sz="2400" b="0" i="1" kern="1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2400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400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𝜑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′</m:t>
                      </m:r>
                      <m:d>
                        <m:d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b="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b="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en-US" altLang="zh-CN" b="0" i="1" kern="10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=(</m:t>
                      </m:r>
                      <m:rad>
                        <m:radPr>
                          <m:degHide m:val="on"/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zh-CN" b="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b="0" i="1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zh-CN" b="0" kern="100"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b="0" kern="100" dirty="0"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zh-CN" b="0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就有</a:t>
                </a:r>
                <a14:m>
                  <m:oMath xmlns:m="http://schemas.openxmlformats.org/officeDocument/2006/math">
                    <m:r>
                      <a:rPr lang="en-US" altLang="zh-CN" sz="24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zh-C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zh-CN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𝜑</m:t>
                    </m:r>
                    <m:r>
                      <a:rPr lang="en-US" altLang="zh-C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′</m:t>
                    </m:r>
                    <m:d>
                      <m:dPr>
                        <m:ctrlPr>
                          <a:rPr lang="zh-CN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b="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&gt; = </m:t>
                    </m:r>
                    <m:sSup>
                      <m:sSupPr>
                        <m:ctrlPr>
                          <a:rPr lang="zh-CN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(&lt;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&gt;+</m:t>
                        </m:r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sz="2400" b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24" y="2276872"/>
                <a:ext cx="8568952" cy="4410759"/>
              </a:xfrm>
              <a:prstGeom prst="rect">
                <a:avLst/>
              </a:prstGeom>
              <a:blipFill>
                <a:blip r:embed="rId2"/>
                <a:stretch>
                  <a:fillRect l="-711" r="-782" b="-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00458" y="1268760"/>
                <a:ext cx="5382344" cy="4042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Sup>
                        <m:sSubSup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kern="10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Times New Roman" panose="020206030504050203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58" y="1268760"/>
                <a:ext cx="5382344" cy="404213"/>
              </a:xfrm>
              <a:prstGeom prst="rect">
                <a:avLst/>
              </a:prstGeom>
              <a:blipFill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 descr="http://blog.pluskid.org/wp-content/uploads/2010/09/two_circles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626" y="1052736"/>
            <a:ext cx="1906905" cy="130780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006952" y="1844824"/>
                <a:ext cx="3576813" cy="40421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zh-CN" altLang="en-US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kern="10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  <a:cs typeface="Times New Roman" panose="02020603050405020304" pitchFamily="18" charset="0"/>
                                    </a:rPr>
                                    <m:t>𝜉</m:t>
                                  </m:r>
                                </m:e>
                                <m:sub>
                                  <m:r>
                                    <a:rPr lang="zh-CN" altLang="en-US" i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=(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zh-CN" altLang="en-US" i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kern="1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  <a:cs typeface="Times New Roman" panose="020206030504050203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zh-CN" altLang="en-US" i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952" y="1844824"/>
                <a:ext cx="3576813" cy="404213"/>
              </a:xfrm>
              <a:prstGeom prst="rect">
                <a:avLst/>
              </a:prstGeom>
              <a:blipFill>
                <a:blip r:embed="rId5"/>
                <a:stretch>
                  <a:fillRect t="-122727" r="-16184" b="-192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000420"/>
      </p:ext>
    </p:extLst>
  </p:cSld>
  <p:clrMapOvr>
    <a:masterClrMapping/>
  </p:clrMapOvr>
  <p:transition spd="slow">
    <p:circl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https://img2020.cnblogs.com/blog/1226410/202006/1226410-20200601093432216-29556964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097509"/>
            <a:ext cx="7056784" cy="2808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https://img2020.cnblogs.com/blog/1226410/202006/1226410-20200601093541104-879945689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335" y="4105876"/>
            <a:ext cx="6243346" cy="255206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2972048" y="6457890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 dirty="0">
                <a:solidFill>
                  <a:srgbClr val="444444"/>
                </a:solidFill>
                <a:ea typeface="微软雅黑" panose="020B0503020204020204" pitchFamily="34" charset="-122"/>
                <a:cs typeface="Tahoma" panose="020B0604030504040204" pitchFamily="34" charset="0"/>
              </a:rPr>
              <a:t>二维空间向三维空间的映射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843808" y="3505711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0" dirty="0">
                <a:solidFill>
                  <a:srgbClr val="444444"/>
                </a:solidFill>
                <a:ea typeface="微软雅黑" panose="020B0503020204020204" pitchFamily="34" charset="-122"/>
                <a:cs typeface="Tahoma" panose="020B0604030504040204" pitchFamily="34" charset="0"/>
              </a:rPr>
              <a:t>二维空间向二维特征空间映射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核映射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1617998"/>
      </p:ext>
    </p:extLst>
  </p:cSld>
  <p:clrMapOvr>
    <a:masterClrMapping/>
  </p:clrMapOvr>
  <p:transition spd="slow">
    <p:circl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683568" y="2937718"/>
            <a:ext cx="76328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 sz="5400" b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集成学习</a:t>
            </a:r>
            <a:endParaRPr lang="zh-CN" altLang="en-US" sz="54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B602F2C2-90ED-4AB6-9B44-1F7F2F037278}"/>
              </a:ext>
            </a:extLst>
          </p:cNvPr>
          <p:cNvSpPr/>
          <p:nvPr/>
        </p:nvSpPr>
        <p:spPr>
          <a:xfrm>
            <a:off x="4053105" y="1407496"/>
            <a:ext cx="1108861" cy="1039289"/>
          </a:xfrm>
          <a:custGeom>
            <a:avLst/>
            <a:gdLst>
              <a:gd name="connsiteX0" fmla="*/ 388426 w 607282"/>
              <a:gd name="connsiteY0" fmla="*/ 385710 h 569180"/>
              <a:gd name="connsiteX1" fmla="*/ 431276 w 607282"/>
              <a:gd name="connsiteY1" fmla="*/ 385710 h 569180"/>
              <a:gd name="connsiteX2" fmla="*/ 431276 w 607282"/>
              <a:gd name="connsiteY2" fmla="*/ 438433 h 569180"/>
              <a:gd name="connsiteX3" fmla="*/ 522771 w 607282"/>
              <a:gd name="connsiteY3" fmla="*/ 529738 h 569180"/>
              <a:gd name="connsiteX4" fmla="*/ 522771 w 607282"/>
              <a:gd name="connsiteY4" fmla="*/ 559964 h 569180"/>
              <a:gd name="connsiteX5" fmla="*/ 492483 w 607282"/>
              <a:gd name="connsiteY5" fmla="*/ 559964 h 569180"/>
              <a:gd name="connsiteX6" fmla="*/ 431276 w 607282"/>
              <a:gd name="connsiteY6" fmla="*/ 498941 h 569180"/>
              <a:gd name="connsiteX7" fmla="*/ 431276 w 607282"/>
              <a:gd name="connsiteY7" fmla="*/ 547771 h 569180"/>
              <a:gd name="connsiteX8" fmla="*/ 409822 w 607282"/>
              <a:gd name="connsiteY8" fmla="*/ 569180 h 569180"/>
              <a:gd name="connsiteX9" fmla="*/ 388426 w 607282"/>
              <a:gd name="connsiteY9" fmla="*/ 547771 h 569180"/>
              <a:gd name="connsiteX10" fmla="*/ 388426 w 607282"/>
              <a:gd name="connsiteY10" fmla="*/ 498941 h 569180"/>
              <a:gd name="connsiteX11" fmla="*/ 327276 w 607282"/>
              <a:gd name="connsiteY11" fmla="*/ 559964 h 569180"/>
              <a:gd name="connsiteX12" fmla="*/ 296988 w 607282"/>
              <a:gd name="connsiteY12" fmla="*/ 559964 h 569180"/>
              <a:gd name="connsiteX13" fmla="*/ 296988 w 607282"/>
              <a:gd name="connsiteY13" fmla="*/ 529738 h 569180"/>
              <a:gd name="connsiteX14" fmla="*/ 296931 w 607282"/>
              <a:gd name="connsiteY14" fmla="*/ 529738 h 569180"/>
              <a:gd name="connsiteX15" fmla="*/ 388426 w 607282"/>
              <a:gd name="connsiteY15" fmla="*/ 438433 h 569180"/>
              <a:gd name="connsiteX16" fmla="*/ 388426 w 607282"/>
              <a:gd name="connsiteY16" fmla="*/ 434597 h 569180"/>
              <a:gd name="connsiteX17" fmla="*/ 38140 w 607282"/>
              <a:gd name="connsiteY17" fmla="*/ 145929 h 569180"/>
              <a:gd name="connsiteX18" fmla="*/ 38255 w 607282"/>
              <a:gd name="connsiteY18" fmla="*/ 145929 h 569180"/>
              <a:gd name="connsiteX19" fmla="*/ 66358 w 607282"/>
              <a:gd name="connsiteY19" fmla="*/ 145929 h 569180"/>
              <a:gd name="connsiteX20" fmla="*/ 68767 w 607282"/>
              <a:gd name="connsiteY20" fmla="*/ 161160 h 569180"/>
              <a:gd name="connsiteX21" fmla="*/ 76453 w 607282"/>
              <a:gd name="connsiteY21" fmla="*/ 208857 h 569180"/>
              <a:gd name="connsiteX22" fmla="*/ 82589 w 607282"/>
              <a:gd name="connsiteY22" fmla="*/ 246763 h 569180"/>
              <a:gd name="connsiteX23" fmla="*/ 92684 w 607282"/>
              <a:gd name="connsiteY23" fmla="*/ 246763 h 569180"/>
              <a:gd name="connsiteX24" fmla="*/ 99222 w 607282"/>
              <a:gd name="connsiteY24" fmla="*/ 172898 h 569180"/>
              <a:gd name="connsiteX25" fmla="*/ 91594 w 607282"/>
              <a:gd name="connsiteY25" fmla="*/ 145929 h 569180"/>
              <a:gd name="connsiteX26" fmla="*/ 136502 w 607282"/>
              <a:gd name="connsiteY26" fmla="*/ 145929 h 569180"/>
              <a:gd name="connsiteX27" fmla="*/ 128874 w 607282"/>
              <a:gd name="connsiteY27" fmla="*/ 172898 h 569180"/>
              <a:gd name="connsiteX28" fmla="*/ 135355 w 607282"/>
              <a:gd name="connsiteY28" fmla="*/ 246763 h 569180"/>
              <a:gd name="connsiteX29" fmla="*/ 145507 w 607282"/>
              <a:gd name="connsiteY29" fmla="*/ 246763 h 569180"/>
              <a:gd name="connsiteX30" fmla="*/ 153192 w 607282"/>
              <a:gd name="connsiteY30" fmla="*/ 198780 h 569180"/>
              <a:gd name="connsiteX31" fmla="*/ 161738 w 607282"/>
              <a:gd name="connsiteY31" fmla="*/ 145929 h 569180"/>
              <a:gd name="connsiteX32" fmla="*/ 336094 w 607282"/>
              <a:gd name="connsiteY32" fmla="*/ 145929 h 569180"/>
              <a:gd name="connsiteX33" fmla="*/ 374349 w 607282"/>
              <a:gd name="connsiteY33" fmla="*/ 184121 h 569180"/>
              <a:gd name="connsiteX34" fmla="*/ 336094 w 607282"/>
              <a:gd name="connsiteY34" fmla="*/ 222256 h 569180"/>
              <a:gd name="connsiteX35" fmla="*/ 189841 w 607282"/>
              <a:gd name="connsiteY35" fmla="*/ 222256 h 569180"/>
              <a:gd name="connsiteX36" fmla="*/ 189841 w 607282"/>
              <a:gd name="connsiteY36" fmla="*/ 298011 h 569180"/>
              <a:gd name="connsiteX37" fmla="*/ 189841 w 607282"/>
              <a:gd name="connsiteY37" fmla="*/ 365807 h 569180"/>
              <a:gd name="connsiteX38" fmla="*/ 189841 w 607282"/>
              <a:gd name="connsiteY38" fmla="*/ 528081 h 569180"/>
              <a:gd name="connsiteX39" fmla="*/ 151586 w 607282"/>
              <a:gd name="connsiteY39" fmla="*/ 566216 h 569180"/>
              <a:gd name="connsiteX40" fmla="*/ 114019 w 607282"/>
              <a:gd name="connsiteY40" fmla="*/ 535239 h 569180"/>
              <a:gd name="connsiteX41" fmla="*/ 76453 w 607282"/>
              <a:gd name="connsiteY41" fmla="*/ 566216 h 569180"/>
              <a:gd name="connsiteX42" fmla="*/ 38255 w 607282"/>
              <a:gd name="connsiteY42" fmla="*/ 528081 h 569180"/>
              <a:gd name="connsiteX43" fmla="*/ 38255 w 607282"/>
              <a:gd name="connsiteY43" fmla="*/ 384874 h 569180"/>
              <a:gd name="connsiteX44" fmla="*/ 0 w 607282"/>
              <a:gd name="connsiteY44" fmla="*/ 346739 h 569180"/>
              <a:gd name="connsiteX45" fmla="*/ 0 w 607282"/>
              <a:gd name="connsiteY45" fmla="*/ 184121 h 569180"/>
              <a:gd name="connsiteX46" fmla="*/ 38140 w 607282"/>
              <a:gd name="connsiteY46" fmla="*/ 145929 h 569180"/>
              <a:gd name="connsiteX47" fmla="*/ 545532 w 607282"/>
              <a:gd name="connsiteY47" fmla="*/ 89195 h 569180"/>
              <a:gd name="connsiteX48" fmla="*/ 587343 w 607282"/>
              <a:gd name="connsiteY48" fmla="*/ 89195 h 569180"/>
              <a:gd name="connsiteX49" fmla="*/ 587343 w 607282"/>
              <a:gd name="connsiteY49" fmla="*/ 124061 h 569180"/>
              <a:gd name="connsiteX50" fmla="*/ 587228 w 607282"/>
              <a:gd name="connsiteY50" fmla="*/ 124061 h 569180"/>
              <a:gd name="connsiteX51" fmla="*/ 587343 w 607282"/>
              <a:gd name="connsiteY51" fmla="*/ 324787 h 569180"/>
              <a:gd name="connsiteX52" fmla="*/ 541403 w 607282"/>
              <a:gd name="connsiteY52" fmla="*/ 370989 h 569180"/>
              <a:gd name="connsiteX53" fmla="*/ 278325 w 607282"/>
              <a:gd name="connsiteY53" fmla="*/ 370531 h 569180"/>
              <a:gd name="connsiteX54" fmla="*/ 233131 w 607282"/>
              <a:gd name="connsiteY54" fmla="*/ 331027 h 569180"/>
              <a:gd name="connsiteX55" fmla="*/ 232729 w 607282"/>
              <a:gd name="connsiteY55" fmla="*/ 233012 h 569180"/>
              <a:gd name="connsiteX56" fmla="*/ 272475 w 607282"/>
              <a:gd name="connsiteY56" fmla="*/ 233012 h 569180"/>
              <a:gd name="connsiteX57" fmla="*/ 272475 w 607282"/>
              <a:gd name="connsiteY57" fmla="*/ 330340 h 569180"/>
              <a:gd name="connsiteX58" fmla="*/ 545532 w 607282"/>
              <a:gd name="connsiteY58" fmla="*/ 329997 h 569180"/>
              <a:gd name="connsiteX59" fmla="*/ 545532 w 607282"/>
              <a:gd name="connsiteY59" fmla="*/ 124061 h 569180"/>
              <a:gd name="connsiteX60" fmla="*/ 231948 w 607282"/>
              <a:gd name="connsiteY60" fmla="*/ 89124 h 569180"/>
              <a:gd name="connsiteX61" fmla="*/ 273793 w 607282"/>
              <a:gd name="connsiteY61" fmla="*/ 89124 h 569180"/>
              <a:gd name="connsiteX62" fmla="*/ 273793 w 607282"/>
              <a:gd name="connsiteY62" fmla="*/ 135062 h 569180"/>
              <a:gd name="connsiteX63" fmla="*/ 272240 w 607282"/>
              <a:gd name="connsiteY63" fmla="*/ 135062 h 569180"/>
              <a:gd name="connsiteX64" fmla="*/ 233571 w 607282"/>
              <a:gd name="connsiteY64" fmla="*/ 135062 h 569180"/>
              <a:gd name="connsiteX65" fmla="*/ 231948 w 607282"/>
              <a:gd name="connsiteY65" fmla="*/ 135062 h 569180"/>
              <a:gd name="connsiteX66" fmla="*/ 409822 w 607282"/>
              <a:gd name="connsiteY66" fmla="*/ 10232 h 569180"/>
              <a:gd name="connsiteX67" fmla="*/ 437925 w 607282"/>
              <a:gd name="connsiteY67" fmla="*/ 35771 h 569180"/>
              <a:gd name="connsiteX68" fmla="*/ 447503 w 607282"/>
              <a:gd name="connsiteY68" fmla="*/ 35771 h 569180"/>
              <a:gd name="connsiteX69" fmla="*/ 578958 w 607282"/>
              <a:gd name="connsiteY69" fmla="*/ 35828 h 569180"/>
              <a:gd name="connsiteX70" fmla="*/ 593009 w 607282"/>
              <a:gd name="connsiteY70" fmla="*/ 37031 h 569180"/>
              <a:gd name="connsiteX71" fmla="*/ 607233 w 607282"/>
              <a:gd name="connsiteY71" fmla="*/ 57874 h 569180"/>
              <a:gd name="connsiteX72" fmla="*/ 587159 w 607282"/>
              <a:gd name="connsiteY72" fmla="*/ 76828 h 569180"/>
              <a:gd name="connsiteX73" fmla="*/ 579244 w 607282"/>
              <a:gd name="connsiteY73" fmla="*/ 76885 h 569180"/>
              <a:gd name="connsiteX74" fmla="*/ 241776 w 607282"/>
              <a:gd name="connsiteY74" fmla="*/ 76885 h 569180"/>
              <a:gd name="connsiteX75" fmla="*/ 233861 w 607282"/>
              <a:gd name="connsiteY75" fmla="*/ 76828 h 569180"/>
              <a:gd name="connsiteX76" fmla="*/ 212984 w 607282"/>
              <a:gd name="connsiteY76" fmla="*/ 56672 h 569180"/>
              <a:gd name="connsiteX77" fmla="*/ 233287 w 607282"/>
              <a:gd name="connsiteY77" fmla="*/ 35943 h 569180"/>
              <a:gd name="connsiteX78" fmla="*/ 244357 w 607282"/>
              <a:gd name="connsiteY78" fmla="*/ 35771 h 569180"/>
              <a:gd name="connsiteX79" fmla="*/ 371108 w 607282"/>
              <a:gd name="connsiteY79" fmla="*/ 35771 h 569180"/>
              <a:gd name="connsiteX80" fmla="*/ 381661 w 607282"/>
              <a:gd name="connsiteY80" fmla="*/ 35771 h 569180"/>
              <a:gd name="connsiteX81" fmla="*/ 409822 w 607282"/>
              <a:gd name="connsiteY81" fmla="*/ 10232 h 569180"/>
              <a:gd name="connsiteX82" fmla="*/ 114034 w 607282"/>
              <a:gd name="connsiteY82" fmla="*/ 0 h 569180"/>
              <a:gd name="connsiteX83" fmla="*/ 182130 w 607282"/>
              <a:gd name="connsiteY83" fmla="*/ 67990 h 569180"/>
              <a:gd name="connsiteX84" fmla="*/ 114034 w 607282"/>
              <a:gd name="connsiteY84" fmla="*/ 135980 h 569180"/>
              <a:gd name="connsiteX85" fmla="*/ 45938 w 607282"/>
              <a:gd name="connsiteY85" fmla="*/ 67990 h 569180"/>
              <a:gd name="connsiteX86" fmla="*/ 114034 w 607282"/>
              <a:gd name="connsiteY86" fmla="*/ 0 h 5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607282" h="569180">
                <a:moveTo>
                  <a:pt x="388426" y="385710"/>
                </a:moveTo>
                <a:lnTo>
                  <a:pt x="431276" y="385710"/>
                </a:lnTo>
                <a:lnTo>
                  <a:pt x="431276" y="438433"/>
                </a:lnTo>
                <a:lnTo>
                  <a:pt x="522771" y="529738"/>
                </a:lnTo>
                <a:cubicBezTo>
                  <a:pt x="531146" y="538096"/>
                  <a:pt x="531146" y="551606"/>
                  <a:pt x="522771" y="559964"/>
                </a:cubicBezTo>
                <a:cubicBezTo>
                  <a:pt x="514396" y="568321"/>
                  <a:pt x="500858" y="568321"/>
                  <a:pt x="492483" y="559964"/>
                </a:cubicBezTo>
                <a:lnTo>
                  <a:pt x="431276" y="498941"/>
                </a:lnTo>
                <a:lnTo>
                  <a:pt x="431276" y="547771"/>
                </a:lnTo>
                <a:cubicBezTo>
                  <a:pt x="431276" y="559563"/>
                  <a:pt x="421697" y="569180"/>
                  <a:pt x="409822" y="569180"/>
                </a:cubicBezTo>
                <a:cubicBezTo>
                  <a:pt x="398005" y="569180"/>
                  <a:pt x="388426" y="559563"/>
                  <a:pt x="388426" y="547771"/>
                </a:cubicBezTo>
                <a:lnTo>
                  <a:pt x="388426" y="498941"/>
                </a:lnTo>
                <a:lnTo>
                  <a:pt x="327276" y="559964"/>
                </a:lnTo>
                <a:cubicBezTo>
                  <a:pt x="318901" y="568321"/>
                  <a:pt x="305306" y="568321"/>
                  <a:pt x="296988" y="559964"/>
                </a:cubicBezTo>
                <a:cubicBezTo>
                  <a:pt x="288613" y="551606"/>
                  <a:pt x="288613" y="538096"/>
                  <a:pt x="296988" y="529738"/>
                </a:cubicBezTo>
                <a:lnTo>
                  <a:pt x="296931" y="529738"/>
                </a:lnTo>
                <a:lnTo>
                  <a:pt x="388426" y="438433"/>
                </a:lnTo>
                <a:lnTo>
                  <a:pt x="388426" y="434597"/>
                </a:lnTo>
                <a:close/>
                <a:moveTo>
                  <a:pt x="38140" y="145929"/>
                </a:moveTo>
                <a:lnTo>
                  <a:pt x="38255" y="145929"/>
                </a:lnTo>
                <a:lnTo>
                  <a:pt x="66358" y="145929"/>
                </a:lnTo>
                <a:lnTo>
                  <a:pt x="68767" y="161160"/>
                </a:lnTo>
                <a:lnTo>
                  <a:pt x="76453" y="208857"/>
                </a:lnTo>
                <a:lnTo>
                  <a:pt x="82589" y="246763"/>
                </a:lnTo>
                <a:lnTo>
                  <a:pt x="92684" y="246763"/>
                </a:lnTo>
                <a:lnTo>
                  <a:pt x="99222" y="172898"/>
                </a:lnTo>
                <a:lnTo>
                  <a:pt x="91594" y="145929"/>
                </a:lnTo>
                <a:lnTo>
                  <a:pt x="136502" y="145929"/>
                </a:lnTo>
                <a:lnTo>
                  <a:pt x="128874" y="172898"/>
                </a:lnTo>
                <a:lnTo>
                  <a:pt x="135355" y="246763"/>
                </a:lnTo>
                <a:lnTo>
                  <a:pt x="145507" y="246763"/>
                </a:lnTo>
                <a:lnTo>
                  <a:pt x="153192" y="198780"/>
                </a:lnTo>
                <a:lnTo>
                  <a:pt x="161738" y="145929"/>
                </a:lnTo>
                <a:lnTo>
                  <a:pt x="336094" y="145929"/>
                </a:lnTo>
                <a:cubicBezTo>
                  <a:pt x="357200" y="145929"/>
                  <a:pt x="374349" y="162992"/>
                  <a:pt x="374349" y="184121"/>
                </a:cubicBezTo>
                <a:cubicBezTo>
                  <a:pt x="374349" y="205193"/>
                  <a:pt x="357200" y="222256"/>
                  <a:pt x="336094" y="222256"/>
                </a:cubicBezTo>
                <a:lnTo>
                  <a:pt x="189841" y="222256"/>
                </a:lnTo>
                <a:lnTo>
                  <a:pt x="189841" y="298011"/>
                </a:lnTo>
                <a:lnTo>
                  <a:pt x="189841" y="365807"/>
                </a:lnTo>
                <a:lnTo>
                  <a:pt x="189841" y="528081"/>
                </a:lnTo>
                <a:cubicBezTo>
                  <a:pt x="189841" y="549153"/>
                  <a:pt x="172692" y="566216"/>
                  <a:pt x="151586" y="566216"/>
                </a:cubicBezTo>
                <a:cubicBezTo>
                  <a:pt x="132889" y="566216"/>
                  <a:pt x="117403" y="552875"/>
                  <a:pt x="114019" y="535239"/>
                </a:cubicBezTo>
                <a:cubicBezTo>
                  <a:pt x="110693" y="552875"/>
                  <a:pt x="95150" y="566216"/>
                  <a:pt x="76453" y="566216"/>
                </a:cubicBezTo>
                <a:cubicBezTo>
                  <a:pt x="55346" y="566216"/>
                  <a:pt x="38255" y="549153"/>
                  <a:pt x="38255" y="528081"/>
                </a:cubicBezTo>
                <a:lnTo>
                  <a:pt x="38255" y="384874"/>
                </a:lnTo>
                <a:cubicBezTo>
                  <a:pt x="17091" y="384874"/>
                  <a:pt x="0" y="367811"/>
                  <a:pt x="0" y="346739"/>
                </a:cubicBezTo>
                <a:lnTo>
                  <a:pt x="0" y="184121"/>
                </a:lnTo>
                <a:cubicBezTo>
                  <a:pt x="0" y="163050"/>
                  <a:pt x="17091" y="145986"/>
                  <a:pt x="38140" y="145929"/>
                </a:cubicBezTo>
                <a:close/>
                <a:moveTo>
                  <a:pt x="545532" y="89195"/>
                </a:moveTo>
                <a:lnTo>
                  <a:pt x="587343" y="89195"/>
                </a:lnTo>
                <a:lnTo>
                  <a:pt x="587343" y="124061"/>
                </a:lnTo>
                <a:lnTo>
                  <a:pt x="587228" y="124061"/>
                </a:lnTo>
                <a:cubicBezTo>
                  <a:pt x="587228" y="190989"/>
                  <a:pt x="587056" y="257859"/>
                  <a:pt x="587343" y="324787"/>
                </a:cubicBezTo>
                <a:cubicBezTo>
                  <a:pt x="587457" y="352669"/>
                  <a:pt x="567498" y="371104"/>
                  <a:pt x="541403" y="370989"/>
                </a:cubicBezTo>
                <a:cubicBezTo>
                  <a:pt x="453710" y="370646"/>
                  <a:pt x="366018" y="370703"/>
                  <a:pt x="278325" y="370531"/>
                </a:cubicBezTo>
                <a:cubicBezTo>
                  <a:pt x="255441" y="370474"/>
                  <a:pt x="234278" y="353527"/>
                  <a:pt x="233131" y="331027"/>
                </a:cubicBezTo>
                <a:cubicBezTo>
                  <a:pt x="231525" y="299024"/>
                  <a:pt x="232729" y="266905"/>
                  <a:pt x="232729" y="233012"/>
                </a:cubicBezTo>
                <a:lnTo>
                  <a:pt x="272475" y="233012"/>
                </a:lnTo>
                <a:lnTo>
                  <a:pt x="272475" y="330340"/>
                </a:lnTo>
                <a:cubicBezTo>
                  <a:pt x="364010" y="330512"/>
                  <a:pt x="453997" y="330398"/>
                  <a:pt x="545532" y="329997"/>
                </a:cubicBezTo>
                <a:lnTo>
                  <a:pt x="545532" y="124061"/>
                </a:lnTo>
                <a:close/>
                <a:moveTo>
                  <a:pt x="231948" y="89124"/>
                </a:moveTo>
                <a:lnTo>
                  <a:pt x="273793" y="89124"/>
                </a:lnTo>
                <a:lnTo>
                  <a:pt x="273793" y="135062"/>
                </a:lnTo>
                <a:lnTo>
                  <a:pt x="272240" y="135062"/>
                </a:lnTo>
                <a:lnTo>
                  <a:pt x="233571" y="135062"/>
                </a:lnTo>
                <a:lnTo>
                  <a:pt x="231948" y="135062"/>
                </a:lnTo>
                <a:close/>
                <a:moveTo>
                  <a:pt x="409822" y="10232"/>
                </a:moveTo>
                <a:cubicBezTo>
                  <a:pt x="424505" y="10232"/>
                  <a:pt x="436606" y="21455"/>
                  <a:pt x="437925" y="35771"/>
                </a:cubicBezTo>
                <a:lnTo>
                  <a:pt x="447503" y="35771"/>
                </a:lnTo>
                <a:cubicBezTo>
                  <a:pt x="491321" y="35771"/>
                  <a:pt x="535140" y="35771"/>
                  <a:pt x="578958" y="35828"/>
                </a:cubicBezTo>
                <a:cubicBezTo>
                  <a:pt x="583661" y="35828"/>
                  <a:pt x="588650" y="35599"/>
                  <a:pt x="593009" y="37031"/>
                </a:cubicBezTo>
                <a:cubicBezTo>
                  <a:pt x="601326" y="39665"/>
                  <a:pt x="607921" y="50144"/>
                  <a:pt x="607233" y="57874"/>
                </a:cubicBezTo>
                <a:cubicBezTo>
                  <a:pt x="606315" y="67380"/>
                  <a:pt x="597368" y="75912"/>
                  <a:pt x="587159" y="76828"/>
                </a:cubicBezTo>
                <a:cubicBezTo>
                  <a:pt x="584521" y="77057"/>
                  <a:pt x="581883" y="76885"/>
                  <a:pt x="579244" y="76885"/>
                </a:cubicBezTo>
                <a:cubicBezTo>
                  <a:pt x="466774" y="76885"/>
                  <a:pt x="354304" y="76885"/>
                  <a:pt x="241776" y="76885"/>
                </a:cubicBezTo>
                <a:cubicBezTo>
                  <a:pt x="239137" y="76885"/>
                  <a:pt x="236499" y="77057"/>
                  <a:pt x="233861" y="76828"/>
                </a:cubicBezTo>
                <a:cubicBezTo>
                  <a:pt x="223078" y="75740"/>
                  <a:pt x="213156" y="66120"/>
                  <a:pt x="212984" y="56672"/>
                </a:cubicBezTo>
                <a:cubicBezTo>
                  <a:pt x="212755" y="47166"/>
                  <a:pt x="222448" y="37088"/>
                  <a:pt x="233287" y="35943"/>
                </a:cubicBezTo>
                <a:cubicBezTo>
                  <a:pt x="236958" y="35542"/>
                  <a:pt x="240686" y="35771"/>
                  <a:pt x="244357" y="35771"/>
                </a:cubicBezTo>
                <a:cubicBezTo>
                  <a:pt x="286626" y="35771"/>
                  <a:pt x="328839" y="35771"/>
                  <a:pt x="371108" y="35771"/>
                </a:cubicBezTo>
                <a:lnTo>
                  <a:pt x="381661" y="35771"/>
                </a:lnTo>
                <a:cubicBezTo>
                  <a:pt x="382981" y="21455"/>
                  <a:pt x="395082" y="10232"/>
                  <a:pt x="409822" y="10232"/>
                </a:cubicBezTo>
                <a:close/>
                <a:moveTo>
                  <a:pt x="114034" y="0"/>
                </a:moveTo>
                <a:cubicBezTo>
                  <a:pt x="151642" y="0"/>
                  <a:pt x="182130" y="30440"/>
                  <a:pt x="182130" y="67990"/>
                </a:cubicBezTo>
                <a:cubicBezTo>
                  <a:pt x="182130" y="105540"/>
                  <a:pt x="151642" y="135980"/>
                  <a:pt x="114034" y="135980"/>
                </a:cubicBezTo>
                <a:cubicBezTo>
                  <a:pt x="76426" y="135980"/>
                  <a:pt x="45938" y="105540"/>
                  <a:pt x="45938" y="67990"/>
                </a:cubicBezTo>
                <a:cubicBezTo>
                  <a:pt x="45938" y="30440"/>
                  <a:pt x="76426" y="0"/>
                  <a:pt x="114034" y="0"/>
                </a:cubicBezTo>
                <a:close/>
              </a:path>
            </a:pathLst>
          </a:custGeom>
          <a:solidFill>
            <a:srgbClr val="3F3B3A"/>
          </a:solidFill>
          <a:ln w="12700" cap="flat">
            <a:noFill/>
            <a:miter lim="400000"/>
          </a:ln>
          <a:effectLst/>
        </p:spPr>
        <p:txBody>
          <a:bodyPr wrap="square" lIns="91439" tIns="91439" rIns="91439" bIns="91439" numCol="1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15665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机器学习与集成学习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18" y="1628800"/>
            <a:ext cx="8108964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60389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 smtClean="0"/>
              <a:t>集成</a:t>
            </a:r>
            <a:r>
              <a:rPr lang="zh-CN" altLang="zh-CN" dirty="0"/>
              <a:t>学习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87524" y="1124744"/>
            <a:ext cx="85689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所谓集成学习</a:t>
            </a:r>
            <a:r>
              <a:rPr lang="zh-CN" altLang="zh-CN" b="0" kern="0" dirty="0" smtClean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，指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构建多个分类器（弱分类器）对数据集进行预测，然后用某种策略将多个分类器预测的结果集成起来，作为最终预测结果。通俗比喻就是</a:t>
            </a:r>
            <a:r>
              <a:rPr lang="zh-CN" altLang="zh-CN" b="0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“三个臭皮匠赛过诸葛亮”</a:t>
            </a:r>
            <a:r>
              <a:rPr lang="zh-CN" altLang="zh-CN" b="0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，或一个公司董事会上的各董事投票决策，它要求每个弱分类器具备一定的“准确性”，分类器之间具备“差异性”。</a:t>
            </a:r>
            <a:endParaRPr lang="zh-CN" altLang="zh-CN" sz="2400" b="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7524" y="3429000"/>
            <a:ext cx="856895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zh-CN" kern="0" dirty="0">
                <a:solidFill>
                  <a:srgbClr val="4D4D4D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集成学习根据各个弱分类器之间有无依赖关系，分为</a:t>
            </a:r>
            <a:r>
              <a:rPr lang="en-US" altLang="zh-CN" kern="0" dirty="0">
                <a:solidFill>
                  <a:srgbClr val="4D4D4D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Boosting</a:t>
            </a:r>
            <a:r>
              <a:rPr lang="zh-CN" altLang="zh-CN" kern="0" dirty="0">
                <a:solidFill>
                  <a:srgbClr val="4D4D4D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kern="0" dirty="0">
                <a:solidFill>
                  <a:srgbClr val="4D4D4D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Bagging</a:t>
            </a:r>
            <a:r>
              <a:rPr lang="zh-CN" altLang="zh-CN" kern="0" dirty="0">
                <a:solidFill>
                  <a:srgbClr val="4D4D4D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两大流派：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Boosting</a:t>
            </a:r>
            <a:r>
              <a:rPr lang="zh-CN" altLang="zh-CN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流派</a:t>
            </a:r>
            <a:r>
              <a:rPr lang="zh-CN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，各分类器之间有依赖关系，必须串行，比如</a:t>
            </a:r>
            <a:r>
              <a:rPr lang="en-US" altLang="zh-CN" kern="0" dirty="0" err="1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Adaboost</a:t>
            </a:r>
            <a:r>
              <a:rPr lang="zh-CN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GBDT(Gradient Boosting Decision Tree)</a:t>
            </a:r>
            <a:r>
              <a:rPr lang="zh-CN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kern="0" dirty="0" err="1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Xgboost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0"/>
              </a:spcAft>
              <a:tabLst>
                <a:tab pos="457200" algn="l"/>
              </a:tabLst>
            </a:pPr>
            <a:r>
              <a:rPr lang="en-US" altLang="zh-CN" kern="0" dirty="0">
                <a:solidFill>
                  <a:srgbClr val="FF0000"/>
                </a:solidFill>
                <a:latin typeface="微软雅黑" panose="020B0503020204020204" pitchFamily="34" charset="-122"/>
                <a:ea typeface="等线" panose="02010600030101010101" pitchFamily="2" charset="-122"/>
                <a:cs typeface="Arial" panose="020B0604020202020204" pitchFamily="34" charset="0"/>
              </a:rPr>
              <a:t>Bagging</a:t>
            </a:r>
            <a:r>
              <a:rPr lang="zh-CN" altLang="zh-CN" kern="0" dirty="0">
                <a:solidFill>
                  <a:srgbClr val="FF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流派</a:t>
            </a:r>
            <a:r>
              <a:rPr lang="zh-CN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，各分类器之间没有依赖关系，可各自并行，比如随机森林（</a:t>
            </a:r>
            <a:r>
              <a:rPr lang="en-US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Random Forest</a:t>
            </a:r>
            <a:r>
              <a:rPr lang="zh-CN" altLang="zh-CN" kern="0" dirty="0">
                <a:latin typeface="等线" panose="02010600030101010101" pitchFamily="2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78154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Bagging+Boosting</a:t>
            </a:r>
            <a:endParaRPr lang="zh-CN" altLang="en-US" dirty="0"/>
          </a:p>
        </p:txBody>
      </p:sp>
      <p:pic>
        <p:nvPicPr>
          <p:cNvPr id="5" name="图片 4" descr="这里写图片描述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" y="3336723"/>
            <a:ext cx="4320480" cy="35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 descr="这里写图片描述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162" y="3336723"/>
            <a:ext cx="4510088" cy="350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 descr="https://img2018.cnblogs.com/blog/1226410/201905/1226410-20190524135403412-1687607863.png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70"/>
          <a:stretch/>
        </p:blipFill>
        <p:spPr bwMode="auto">
          <a:xfrm>
            <a:off x="2457642" y="1044638"/>
            <a:ext cx="4824536" cy="22137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9317315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cs typeface="Arial" panose="020B0604020202020204" pitchFamily="34" charset="0"/>
              </a:rPr>
              <a:t>Bagging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87524" y="1196752"/>
            <a:ext cx="85689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0" kern="0" dirty="0" smtClean="0">
                <a:latin typeface="微软雅黑" panose="020B0503020204020204" pitchFamily="34" charset="-122"/>
                <a:cs typeface="Arial" panose="020B0604020202020204" pitchFamily="34" charset="0"/>
              </a:rPr>
              <a:t>Bagging</a:t>
            </a:r>
            <a:r>
              <a:rPr lang="zh-CN" altLang="zh-CN" b="0" kern="0" dirty="0" smtClean="0">
                <a:ea typeface="微软雅黑" panose="020B0503020204020204" pitchFamily="34" charset="-122"/>
                <a:cs typeface="Arial" panose="020B0604020202020204" pitchFamily="34" charset="0"/>
              </a:rPr>
              <a:t>通过</a:t>
            </a:r>
            <a:r>
              <a:rPr lang="zh-CN" altLang="zh-CN" b="0" kern="0" dirty="0">
                <a:solidFill>
                  <a:srgbClr val="FF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结合相同数据集的不同子样本的多分类器模型</a:t>
            </a:r>
            <a:r>
              <a:rPr lang="zh-CN" altLang="zh-CN" b="0" kern="0" dirty="0">
                <a:ea typeface="微软雅黑" panose="020B0503020204020204" pitchFamily="34" charset="-122"/>
                <a:cs typeface="Arial" panose="020B0604020202020204" pitchFamily="34" charset="0"/>
              </a:rPr>
              <a:t>的结果，以</a:t>
            </a:r>
            <a:r>
              <a:rPr lang="zh-CN" altLang="zh-CN" b="0" kern="0" dirty="0" smtClean="0">
                <a:ea typeface="微软雅黑" panose="020B0503020204020204" pitchFamily="34" charset="-122"/>
                <a:cs typeface="Arial" panose="020B0604020202020204" pitchFamily="34" charset="0"/>
              </a:rPr>
              <a:t>减少预测</a:t>
            </a:r>
            <a:r>
              <a:rPr lang="zh-CN" altLang="zh-CN" b="0" kern="0" dirty="0">
                <a:ea typeface="微软雅黑" panose="020B0503020204020204" pitchFamily="34" charset="-122"/>
                <a:cs typeface="Arial" panose="020B0604020202020204" pitchFamily="34" charset="0"/>
              </a:rPr>
              <a:t>的方差</a:t>
            </a:r>
            <a:endParaRPr lang="zh-CN" altLang="en-US" b="0" dirty="0"/>
          </a:p>
        </p:txBody>
      </p:sp>
      <p:pic>
        <p:nvPicPr>
          <p:cNvPr id="6" name="图片 5" descr="https://w4.sanwen8.cn/mmbiz_png/GJM4P9zwRqib6ggKbTrsgkHlfwek82OzhjllmnmUN3P3nU0anVNbrGR1iaPrnKicA6YdaOwnrlfMn7xqBrBoJgiapg/0?wx_fmt=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564904"/>
            <a:ext cx="6347023" cy="409120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矩形 2"/>
          <p:cNvSpPr/>
          <p:nvPr/>
        </p:nvSpPr>
        <p:spPr>
          <a:xfrm>
            <a:off x="1979712" y="1755867"/>
            <a:ext cx="68767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en-US" altLang="zh-CN" b="0" dirty="0">
                <a:solidFill>
                  <a:srgbClr val="575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ootstrap 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agg</a:t>
            </a:r>
            <a:r>
              <a:rPr lang="en-US" altLang="zh-CN" b="0" dirty="0">
                <a:solidFill>
                  <a:srgbClr val="575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regat</a:t>
            </a:r>
            <a:r>
              <a:rPr lang="en-US" altLang="zh-CN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ing</a:t>
            </a:r>
            <a:r>
              <a:rPr lang="zh-CN" altLang="en-US" b="0" dirty="0">
                <a:solidFill>
                  <a:srgbClr val="5758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的缩写，也称作“套袋法”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5984409"/>
      </p:ext>
    </p:extLst>
  </p:cSld>
  <p:clrMapOvr>
    <a:masterClrMapping/>
  </p:clrMapOvr>
  <p:transition spd="slow">
    <p:circl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Boosting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262" y="3573016"/>
            <a:ext cx="6467475" cy="272415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341260" y="1268760"/>
            <a:ext cx="44614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575863"/>
                </a:solidFill>
              </a:rPr>
              <a:t>Boosting </a:t>
            </a:r>
            <a:r>
              <a:rPr lang="zh-CN" altLang="en-US" dirty="0">
                <a:solidFill>
                  <a:srgbClr val="575863"/>
                </a:solidFill>
              </a:rPr>
              <a:t>的核心思路是</a:t>
            </a:r>
            <a:r>
              <a:rPr lang="en-US" altLang="zh-CN" dirty="0">
                <a:solidFill>
                  <a:srgbClr val="575863"/>
                </a:solidFill>
              </a:rPr>
              <a:t>——</a:t>
            </a:r>
            <a:r>
              <a:rPr lang="zh-CN" altLang="en-US" dirty="0">
                <a:solidFill>
                  <a:srgbClr val="575863"/>
                </a:solidFill>
              </a:rPr>
              <a:t>挑选精英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9512" y="1805335"/>
            <a:ext cx="8712968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575863"/>
                </a:solidFill>
              </a:rPr>
              <a:t>经过不停的考验和筛选来挑选出「精英」，然后给精英更多的投票权，表现不好的基础模型则给较少的投票权，然后综合所有人的投票得到最终结果。</a:t>
            </a:r>
          </a:p>
          <a:p>
            <a:pPr>
              <a:lnSpc>
                <a:spcPct val="150000"/>
              </a:lnSpc>
            </a:pPr>
            <a:r>
              <a:rPr lang="zh-CN" altLang="en-US" b="0" dirty="0">
                <a:solidFill>
                  <a:srgbClr val="575863"/>
                </a:solidFill>
              </a:rPr>
              <a:t>大部分情况下，</a:t>
            </a:r>
            <a:r>
              <a:rPr lang="zh-CN" altLang="en-US" dirty="0">
                <a:solidFill>
                  <a:srgbClr val="575863"/>
                </a:solidFill>
              </a:rPr>
              <a:t>经过 </a:t>
            </a:r>
            <a:r>
              <a:rPr lang="en-US" altLang="zh-CN" dirty="0">
                <a:solidFill>
                  <a:srgbClr val="575863"/>
                </a:solidFill>
              </a:rPr>
              <a:t>boosting </a:t>
            </a:r>
            <a:r>
              <a:rPr lang="zh-CN" altLang="en-US" dirty="0">
                <a:solidFill>
                  <a:srgbClr val="575863"/>
                </a:solidFill>
              </a:rPr>
              <a:t>得到的结果偏差（</a:t>
            </a:r>
            <a:r>
              <a:rPr lang="en-US" altLang="zh-CN" dirty="0">
                <a:solidFill>
                  <a:srgbClr val="575863"/>
                </a:solidFill>
              </a:rPr>
              <a:t>bias</a:t>
            </a:r>
            <a:r>
              <a:rPr lang="zh-CN" altLang="en-US" dirty="0">
                <a:solidFill>
                  <a:srgbClr val="575863"/>
                </a:solidFill>
              </a:rPr>
              <a:t>）更小</a:t>
            </a:r>
            <a:endParaRPr lang="zh-CN" altLang="en-US" b="0" dirty="0">
              <a:solidFill>
                <a:srgbClr val="5758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065025"/>
      </p:ext>
    </p:extLst>
  </p:cSld>
  <p:clrMapOvr>
    <a:masterClrMapping/>
  </p:clrMapOvr>
  <p:transition spd="slow">
    <p:circl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Boosting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" y="1556792"/>
            <a:ext cx="8980968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78047"/>
      </p:ext>
    </p:extLst>
  </p:cSld>
  <p:clrMapOvr>
    <a:masterClrMapping/>
  </p:clrMapOvr>
  <p:transition spd="slow">
    <p:circl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 Random </a:t>
            </a:r>
            <a:r>
              <a:rPr lang="en-US" altLang="zh-CN" dirty="0"/>
              <a:t>Forest(</a:t>
            </a:r>
            <a:r>
              <a:rPr lang="zh-CN" altLang="zh-CN" dirty="0"/>
              <a:t>随机森林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0732" y="1196752"/>
            <a:ext cx="85689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从样本集（假设样本集</a:t>
            </a:r>
            <a:r>
              <a:rPr lang="en-US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N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个数据点）中</a:t>
            </a:r>
            <a:r>
              <a:rPr lang="zh-CN" altLang="zh-CN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重采样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选出</a:t>
            </a:r>
            <a:r>
              <a:rPr lang="en-US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n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个样本</a:t>
            </a:r>
            <a:r>
              <a:rPr lang="zh-CN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（有放回的采样，样本数据点个数仍然不变为</a:t>
            </a:r>
            <a:r>
              <a:rPr lang="en-US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N</a:t>
            </a:r>
            <a:r>
              <a:rPr lang="zh-CN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），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在所有样本上，对这</a:t>
            </a:r>
            <a:r>
              <a:rPr lang="en-US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n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个样本建立分类器（</a:t>
            </a:r>
            <a:r>
              <a:rPr lang="en-US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ID3\C4.5\CART\SVM\ LOGISTIC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）</a:t>
            </a:r>
            <a:r>
              <a:rPr lang="zh-CN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，重复以上两步</a:t>
            </a:r>
            <a:r>
              <a:rPr lang="en-US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m</a:t>
            </a:r>
            <a:r>
              <a:rPr lang="zh-CN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次，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获得</a:t>
            </a:r>
            <a:r>
              <a:rPr lang="en-US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m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个分类器，最后根据这</a:t>
            </a:r>
            <a:r>
              <a:rPr lang="en-US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m</a:t>
            </a:r>
            <a:r>
              <a:rPr lang="zh-CN" altLang="zh-CN" b="0" kern="0" dirty="0" smtClean="0">
                <a:solidFill>
                  <a:srgbClr val="FF0000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个分类器的投票结果</a:t>
            </a:r>
            <a:r>
              <a:rPr lang="zh-CN" altLang="zh-CN" b="0" kern="0" dirty="0" smtClean="0">
                <a:solidFill>
                  <a:srgbClr val="333333"/>
                </a:solidFill>
                <a:ea typeface="微软雅黑" panose="020B0503020204020204" pitchFamily="34" charset="-122"/>
                <a:cs typeface="Helvetica" panose="020B0604020202020204" pitchFamily="34" charset="0"/>
              </a:rPr>
              <a:t>，决定数据属于哪一类。</a:t>
            </a:r>
            <a:endParaRPr lang="zh-CN" altLang="en-US" b="0" dirty="0"/>
          </a:p>
        </p:txBody>
      </p:sp>
      <p:sp>
        <p:nvSpPr>
          <p:cNvPr id="7" name="矩形 6"/>
          <p:cNvSpPr/>
          <p:nvPr/>
        </p:nvSpPr>
        <p:spPr>
          <a:xfrm>
            <a:off x="120712" y="3318949"/>
            <a:ext cx="89025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每棵树种植和成长如下：</a:t>
            </a:r>
            <a:endParaRPr lang="zh-CN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89255" indent="-81280">
              <a:lnSpc>
                <a:spcPct val="200000"/>
              </a:lnSpc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设训练集个数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是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。这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个样本采取随机但有放回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。此样本用于生长树的训练集。</a:t>
            </a:r>
            <a:endParaRPr lang="zh-CN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89255" indent="-81280">
              <a:lnSpc>
                <a:spcPct val="200000"/>
              </a:lnSpc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如有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个输入变量，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每节点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指定一个数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m&lt;M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变量从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中随机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选择。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</a:t>
            </a:r>
            <a:r>
              <a:rPr lang="en-US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上最好的分裂时用来分裂节点。当我们生长森林的时候，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的值是恒定的。</a:t>
            </a:r>
            <a:endParaRPr lang="zh-CN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89255" indent="-81280">
              <a:lnSpc>
                <a:spcPct val="200000"/>
              </a:lnSpc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</a:t>
            </a:r>
            <a:r>
              <a:rPr lang="zh-CN" altLang="zh-CN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每棵树都长到最大程度，而且没有剪枝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  <a:endParaRPr lang="zh-CN" altLang="zh-CN" b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389255" indent="-81280">
              <a:lnSpc>
                <a:spcPct val="200000"/>
              </a:lnSpc>
              <a:spcAft>
                <a:spcPts val="0"/>
              </a:spcAft>
            </a:pP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4.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通过聚合</a:t>
            </a:r>
            <a:r>
              <a:rPr lang="en-US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棵树的预测值预测新数据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（如分类</a:t>
            </a:r>
            <a:r>
              <a:rPr lang="zh-CN" altLang="zh-CN" sz="1800" b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的多数票，回归的平均值</a:t>
            </a:r>
            <a:r>
              <a:rPr lang="zh-CN" altLang="zh-CN" sz="18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lang="zh-CN" altLang="zh-CN" b="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07966500"/>
      </p:ext>
    </p:extLst>
  </p:cSld>
  <p:clrMapOvr>
    <a:masterClrMapping/>
  </p:clrMapOvr>
  <p:transition spd="slow">
    <p:circl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https://img2018.cnblogs.com/blog/1226410/201902/1226410-20190215094749166-1057728908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8640"/>
            <a:ext cx="8640960" cy="6408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3097766"/>
      </p:ext>
    </p:extLst>
  </p:cSld>
  <p:clrMapOvr>
    <a:masterClrMapping/>
  </p:clrMapOvr>
  <p:transition spd="slow">
    <p:circl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844" descr="说明: 图解十大经典的机器学习算法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5" y="105582"/>
            <a:ext cx="4958069" cy="3099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图片 843" descr="说明: 图解十大经典的机器学习算法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04711"/>
            <a:ext cx="6197947" cy="3626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图片 846" descr="说明: 图解十大经典的机器学习算法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9264" y="404664"/>
            <a:ext cx="4094736" cy="2047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427294"/>
      </p:ext>
    </p:extLst>
  </p:cSld>
  <p:clrMapOvr>
    <a:masterClrMapping/>
  </p:clrMapOvr>
  <p:transition spd="slow">
    <p:circl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 </a:t>
            </a:r>
            <a:r>
              <a:rPr lang="en-US" altLang="zh-CN" dirty="0" err="1" smtClean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AdaBoost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154694"/>
            <a:ext cx="8568952" cy="5403216"/>
          </a:xfrm>
        </p:spPr>
        <p:txBody>
          <a:bodyPr/>
          <a:lstStyle/>
          <a:p>
            <a:r>
              <a:rPr lang="en-US" altLang="zh-CN" sz="2200" dirty="0"/>
              <a:t>GBDT(Gradient Boosting Decision Tree)</a:t>
            </a:r>
            <a:r>
              <a:rPr lang="zh-CN" altLang="zh-CN" sz="2200" dirty="0"/>
              <a:t>，全名叫</a:t>
            </a:r>
            <a:r>
              <a:rPr lang="zh-CN" altLang="zh-CN" sz="2200" dirty="0">
                <a:solidFill>
                  <a:srgbClr val="FF0000"/>
                </a:solidFill>
              </a:rPr>
              <a:t>梯度提升决策树</a:t>
            </a:r>
            <a:r>
              <a:rPr lang="zh-CN" altLang="zh-CN" sz="2200" dirty="0"/>
              <a:t>，使用的是</a:t>
            </a:r>
            <a:r>
              <a:rPr lang="en-US" altLang="zh-CN" sz="2200" b="1" dirty="0"/>
              <a:t>Boosting</a:t>
            </a:r>
            <a:r>
              <a:rPr lang="zh-CN" altLang="zh-CN" sz="2200" dirty="0"/>
              <a:t>的思想。</a:t>
            </a:r>
            <a:endParaRPr lang="zh-CN" altLang="en-US" sz="22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21077"/>
          <a:stretch/>
        </p:blipFill>
        <p:spPr>
          <a:xfrm>
            <a:off x="182021" y="1340768"/>
            <a:ext cx="8566443" cy="365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36251"/>
      </p:ext>
    </p:extLst>
  </p:cSld>
  <p:clrMapOvr>
    <a:masterClrMapping/>
  </p:clrMapOvr>
  <p:transition spd="slow">
    <p:circl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15" y="97362"/>
            <a:ext cx="7338869" cy="674136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5157192"/>
            <a:ext cx="8280920" cy="452319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 bwMode="auto">
          <a:xfrm>
            <a:off x="2555776" y="2924944"/>
            <a:ext cx="1728192" cy="720080"/>
          </a:xfrm>
          <a:prstGeom prst="roundRect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3419872" y="5805264"/>
            <a:ext cx="1944216" cy="36004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9644"/>
      </p:ext>
    </p:extLst>
  </p:cSld>
  <p:clrMapOvr>
    <a:masterClrMapping/>
  </p:clrMapOvr>
  <p:transition spd="slow">
    <p:circl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16632"/>
            <a:ext cx="7696492" cy="50405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664" y="2667439"/>
            <a:ext cx="5600315" cy="395022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20" y="116632"/>
            <a:ext cx="3376003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23037"/>
      </p:ext>
    </p:extLst>
  </p:cSld>
  <p:clrMapOvr>
    <a:masterClrMapping/>
  </p:clrMapOvr>
  <p:transition spd="slow">
    <p:circl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1700808"/>
            <a:ext cx="7913911" cy="2740124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8525" y="6309320"/>
            <a:ext cx="85269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1600" b="0" dirty="0">
                <a:latin typeface="微软雅黑" panose="020B0503020204020204" pitchFamily="34" charset="-122"/>
                <a:ea typeface="宋体" panose="02010600030101010101" pitchFamily="2" charset="-122"/>
                <a:cs typeface="宋体" panose="02010600030101010101" pitchFamily="2" charset="-122"/>
              </a:rPr>
              <a:t>https://blog.csdn.net/a1628864705/article/details/63309077</a:t>
            </a:r>
            <a:endParaRPr lang="zh-CN" altLang="zh-CN" sz="1800" b="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836017"/>
      </p:ext>
    </p:extLst>
  </p:cSld>
  <p:clrMapOvr>
    <a:masterClrMapping/>
  </p:clrMapOvr>
  <p:transition spd="slow">
    <p:circl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组合策略</a:t>
            </a:r>
            <a:endParaRPr lang="zh-CN" altLang="en-US" dirty="0"/>
          </a:p>
        </p:txBody>
      </p:sp>
      <p:sp>
        <p:nvSpPr>
          <p:cNvPr id="5" name="椭圆 4"/>
          <p:cNvSpPr/>
          <p:nvPr/>
        </p:nvSpPr>
        <p:spPr bwMode="auto">
          <a:xfrm>
            <a:off x="899592" y="2204864"/>
            <a:ext cx="2160240" cy="30243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US" altLang="zh-CN" sz="2800" dirty="0" smtClean="0"/>
          </a:p>
          <a:p>
            <a:pPr algn="ctr" eaLnBrk="1" hangingPunct="1">
              <a:lnSpc>
                <a:spcPct val="150000"/>
              </a:lnSpc>
            </a:pPr>
            <a:r>
              <a:rPr lang="zh-CN" altLang="en-US" sz="2800" dirty="0" smtClean="0"/>
              <a:t>平均法</a:t>
            </a:r>
            <a:endParaRPr lang="en-US" altLang="zh-CN" sz="2800" dirty="0" smtClean="0"/>
          </a:p>
          <a:p>
            <a:pPr algn="ctr" eaLnBrk="1" hangingPunct="1"/>
            <a:r>
              <a:rPr lang="zh-CN" altLang="en-US" sz="2800" dirty="0" smtClean="0"/>
              <a:t>（</a:t>
            </a:r>
            <a:r>
              <a:rPr lang="en-US" altLang="zh-CN" sz="2800" dirty="0"/>
              <a:t>Average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3563888" y="2204864"/>
            <a:ext cx="2160240" cy="30243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50000"/>
              </a:lnSpc>
            </a:pPr>
            <a:endParaRPr lang="en-US" altLang="zh-CN" sz="1800" dirty="0" smtClean="0"/>
          </a:p>
          <a:p>
            <a:pPr algn="ctr">
              <a:lnSpc>
                <a:spcPct val="150000"/>
              </a:lnSpc>
            </a:pPr>
            <a:r>
              <a:rPr lang="zh-CN" altLang="en-US" sz="2800" dirty="0"/>
              <a:t>投票</a:t>
            </a:r>
            <a:r>
              <a:rPr lang="zh-CN" altLang="en-US" sz="2800" dirty="0" smtClean="0"/>
              <a:t>法</a:t>
            </a:r>
            <a:endParaRPr lang="en-US" altLang="zh-CN" sz="2800" dirty="0" smtClean="0"/>
          </a:p>
          <a:p>
            <a:pPr algn="ctr"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/>
              <a:t>Voting</a:t>
            </a:r>
            <a:r>
              <a:rPr lang="zh-CN" altLang="en-US" sz="2800" dirty="0"/>
              <a:t>）</a:t>
            </a:r>
            <a:endParaRPr lang="en-US" altLang="zh-CN" sz="2800" dirty="0"/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6228184" y="2204864"/>
            <a:ext cx="2160240" cy="302433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lnSpc>
                <a:spcPct val="150000"/>
              </a:lnSpc>
            </a:pPr>
            <a:endParaRPr lang="en-US" altLang="zh-CN" dirty="0" smtClean="0"/>
          </a:p>
          <a:p>
            <a:pPr algn="ctr">
              <a:lnSpc>
                <a:spcPct val="150000"/>
              </a:lnSpc>
            </a:pPr>
            <a:r>
              <a:rPr lang="zh-CN" altLang="en-US" sz="2800" dirty="0" smtClean="0"/>
              <a:t>堆叠法</a:t>
            </a:r>
            <a:endParaRPr lang="en-US" altLang="zh-CN" sz="2800" dirty="0" smtClean="0"/>
          </a:p>
          <a:p>
            <a:pPr algn="ctr">
              <a:lnSpc>
                <a:spcPct val="150000"/>
              </a:lnSpc>
            </a:pPr>
            <a:r>
              <a:rPr lang="zh-CN" altLang="en-US" sz="2800" dirty="0" smtClean="0"/>
              <a:t>（</a:t>
            </a:r>
            <a:r>
              <a:rPr lang="en-US" altLang="zh-CN" sz="2800" dirty="0"/>
              <a:t>Stacking</a:t>
            </a:r>
            <a:r>
              <a:rPr lang="zh-CN" altLang="en-US" sz="2800" dirty="0"/>
              <a:t>）</a:t>
            </a: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73934098"/>
      </p:ext>
    </p:extLst>
  </p:cSld>
  <p:clrMapOvr>
    <a:masterClrMapping/>
  </p:clrMapOvr>
  <p:transition spd="slow">
    <p:circl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平均法</a:t>
            </a:r>
            <a:r>
              <a:rPr lang="en-US" altLang="zh-CN" dirty="0"/>
              <a:t>(Averaging)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340768"/>
            <a:ext cx="6624736" cy="522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73271"/>
      </p:ext>
    </p:extLst>
  </p:cSld>
  <p:clrMapOvr>
    <a:masterClrMapping/>
  </p:clrMapOvr>
  <p:transition spd="slow">
    <p:circl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投票法</a:t>
            </a:r>
            <a:r>
              <a:rPr lang="en-US" altLang="zh-CN" dirty="0"/>
              <a:t>(Voting)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71" y="1268760"/>
            <a:ext cx="8207257" cy="5328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23044"/>
      </p:ext>
    </p:extLst>
  </p:cSld>
  <p:clrMapOvr>
    <a:masterClrMapping/>
  </p:clrMapOvr>
  <p:transition spd="slow">
    <p:circl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堆叠法（</a:t>
            </a:r>
            <a:r>
              <a:rPr lang="en-US" altLang="zh-CN" dirty="0" smtClean="0"/>
              <a:t>Stacking</a:t>
            </a:r>
            <a:r>
              <a:rPr lang="zh-CN" altLang="en-US" dirty="0" smtClean="0"/>
              <a:t>）</a:t>
            </a:r>
            <a:r>
              <a:rPr lang="en-US" altLang="zh-CN" dirty="0"/>
              <a:t/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先训练多个不同的模型，然后把之前训练的各个模型的输出为输入来训练一个模型，以得到一个最终的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r>
              <a:rPr lang="zh-CN" altLang="en-US" dirty="0"/>
              <a:t>理论上</a:t>
            </a:r>
            <a:r>
              <a:rPr lang="zh-CN" altLang="en-US" dirty="0" smtClean="0"/>
              <a:t>，采用</a:t>
            </a:r>
            <a:r>
              <a:rPr lang="zh-CN" altLang="en-US" dirty="0"/>
              <a:t>合适的模型组合策略即可。但在实际中</a:t>
            </a:r>
            <a:r>
              <a:rPr lang="zh-CN" altLang="en-US" dirty="0" smtClean="0"/>
              <a:t>，常</a:t>
            </a:r>
            <a:r>
              <a:rPr lang="zh-CN" altLang="en-US" dirty="0"/>
              <a:t>使用</a:t>
            </a:r>
            <a:r>
              <a:rPr lang="en-US" altLang="zh-CN" dirty="0"/>
              <a:t>logistic</a:t>
            </a:r>
            <a:r>
              <a:rPr lang="zh-CN" altLang="en-US" dirty="0"/>
              <a:t>回归作为组合策略。</a:t>
            </a:r>
          </a:p>
        </p:txBody>
      </p:sp>
      <p:pic>
        <p:nvPicPr>
          <p:cNvPr id="1026" name="Picture 2" descr="https://pic2.zhimg.com/80/v2-bc3b2612dd0ff778c53db4165bc35449_720w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02" b="29119"/>
          <a:stretch/>
        </p:blipFill>
        <p:spPr bwMode="auto">
          <a:xfrm>
            <a:off x="277647" y="3185176"/>
            <a:ext cx="8470818" cy="355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735236"/>
      </p:ext>
    </p:extLst>
  </p:cSld>
  <p:clrMapOvr>
    <a:masterClrMapping/>
  </p:clrMapOvr>
  <p:transition spd="slow">
    <p:circl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Stacking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1268760"/>
            <a:ext cx="6948772" cy="503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32336"/>
      </p:ext>
    </p:extLst>
  </p:cSld>
  <p:clrMapOvr>
    <a:masterClrMapping/>
  </p:clrMapOvr>
  <p:transition spd="slow">
    <p:circl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总结：</a:t>
            </a:r>
            <a:r>
              <a:rPr lang="en-US" altLang="zh-CN" dirty="0" smtClean="0"/>
              <a:t>Bagging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340768"/>
            <a:ext cx="6533541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118252"/>
      </p:ext>
    </p:extLst>
  </p:cSld>
  <p:clrMapOvr>
    <a:masterClrMapping/>
  </p:clrMapOvr>
  <p:transition spd="slow">
    <p:circl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zh-CN" altLang="en-US" dirty="0" smtClean="0"/>
              <a:t>：</a:t>
            </a:r>
            <a:r>
              <a:rPr lang="en-US" altLang="zh-CN" dirty="0" smtClean="0"/>
              <a:t>Boosting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687" y="1484784"/>
            <a:ext cx="65246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54576"/>
      </p:ext>
    </p:extLst>
  </p:cSld>
  <p:clrMapOvr>
    <a:masterClrMapping/>
  </p:clrMapOvr>
  <p:transition spd="slow">
    <p:circl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zh-CN" altLang="en-US" dirty="0" smtClean="0"/>
              <a:t>：</a:t>
            </a:r>
            <a:r>
              <a:rPr lang="en-US" altLang="zh-CN" dirty="0" smtClean="0"/>
              <a:t>Sacking</a:t>
            </a:r>
            <a:endParaRPr lang="zh-CN" altLang="en-US" dirty="0"/>
          </a:p>
        </p:txBody>
      </p:sp>
      <p:pic>
        <p:nvPicPr>
          <p:cNvPr id="1028" name="Picture 4" descr="https://img-blog.csdnimg.cn/20190502224406278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96752"/>
            <a:ext cx="5976664" cy="5550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276704"/>
      </p:ext>
    </p:extLst>
  </p:cSld>
  <p:clrMapOvr>
    <a:masterClrMapping/>
  </p:clrMapOvr>
  <p:transition spd="slow">
    <p:circl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D1A8D4-A673-4A3B-8AB4-E1C064BCB58F}"/>
              </a:ext>
            </a:extLst>
          </p:cNvPr>
          <p:cNvSpPr txBox="1"/>
          <p:nvPr/>
        </p:nvSpPr>
        <p:spPr>
          <a:xfrm>
            <a:off x="2843808" y="2916713"/>
            <a:ext cx="41976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0" dirty="0" smtClean="0">
                <a:solidFill>
                  <a:srgbClr val="FF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谢谢大家！</a:t>
            </a:r>
            <a:endParaRPr lang="zh-CN" altLang="en-US" sz="6000" b="0" dirty="0">
              <a:solidFill>
                <a:srgbClr val="FF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1024175" y="422108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7FC733E-4E96-45E0-B9E5-24BD4CBE51BD}"/>
              </a:ext>
            </a:extLst>
          </p:cNvPr>
          <p:cNvCxnSpPr>
            <a:cxnSpLocks/>
          </p:cNvCxnSpPr>
          <p:nvPr/>
        </p:nvCxnSpPr>
        <p:spPr>
          <a:xfrm>
            <a:off x="978293" y="2625728"/>
            <a:ext cx="7056784" cy="0"/>
          </a:xfrm>
          <a:prstGeom prst="line">
            <a:avLst/>
          </a:prstGeom>
          <a:ln w="15875">
            <a:solidFill>
              <a:srgbClr val="3F3B3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cience-conference_68080">
            <a:extLst>
              <a:ext uri="{FF2B5EF4-FFF2-40B4-BE49-F238E27FC236}">
                <a16:creationId xmlns:a16="http://schemas.microsoft.com/office/drawing/2014/main" id="{F5F06994-9830-4FAD-AC75-CC45B977F649}"/>
              </a:ext>
            </a:extLst>
          </p:cNvPr>
          <p:cNvSpPr>
            <a:spLocks noChangeAspect="1"/>
          </p:cNvSpPr>
          <p:nvPr/>
        </p:nvSpPr>
        <p:spPr bwMode="auto">
          <a:xfrm>
            <a:off x="4140777" y="1030369"/>
            <a:ext cx="823580" cy="1300741"/>
          </a:xfrm>
          <a:custGeom>
            <a:avLst/>
            <a:gdLst>
              <a:gd name="connsiteX0" fmla="*/ 190764 w 385450"/>
              <a:gd name="connsiteY0" fmla="*/ 514563 h 608768"/>
              <a:gd name="connsiteX1" fmla="*/ 211847 w 385450"/>
              <a:gd name="connsiteY1" fmla="*/ 526418 h 608768"/>
              <a:gd name="connsiteX2" fmla="*/ 210607 w 385450"/>
              <a:gd name="connsiteY2" fmla="*/ 529304 h 608768"/>
              <a:gd name="connsiteX3" fmla="*/ 190764 w 385450"/>
              <a:gd name="connsiteY3" fmla="*/ 548787 h 608768"/>
              <a:gd name="connsiteX4" fmla="*/ 170818 w 385450"/>
              <a:gd name="connsiteY4" fmla="*/ 529304 h 608768"/>
              <a:gd name="connsiteX5" fmla="*/ 169578 w 385450"/>
              <a:gd name="connsiteY5" fmla="*/ 526418 h 608768"/>
              <a:gd name="connsiteX6" fmla="*/ 190764 w 385450"/>
              <a:gd name="connsiteY6" fmla="*/ 514563 h 608768"/>
              <a:gd name="connsiteX7" fmla="*/ 219467 w 385450"/>
              <a:gd name="connsiteY7" fmla="*/ 493887 h 608768"/>
              <a:gd name="connsiteX8" fmla="*/ 215033 w 385450"/>
              <a:gd name="connsiteY8" fmla="*/ 517315 h 608768"/>
              <a:gd name="connsiteX9" fmla="*/ 199568 w 385450"/>
              <a:gd name="connsiteY9" fmla="*/ 508749 h 608768"/>
              <a:gd name="connsiteX10" fmla="*/ 208950 w 385450"/>
              <a:gd name="connsiteY10" fmla="*/ 502041 h 608768"/>
              <a:gd name="connsiteX11" fmla="*/ 219467 w 385450"/>
              <a:gd name="connsiteY11" fmla="*/ 493887 h 608768"/>
              <a:gd name="connsiteX12" fmla="*/ 162098 w 385450"/>
              <a:gd name="connsiteY12" fmla="*/ 493887 h 608768"/>
              <a:gd name="connsiteX13" fmla="*/ 172491 w 385450"/>
              <a:gd name="connsiteY13" fmla="*/ 502041 h 608768"/>
              <a:gd name="connsiteX14" fmla="*/ 181856 w 385450"/>
              <a:gd name="connsiteY14" fmla="*/ 508749 h 608768"/>
              <a:gd name="connsiteX15" fmla="*/ 166523 w 385450"/>
              <a:gd name="connsiteY15" fmla="*/ 517315 h 608768"/>
              <a:gd name="connsiteX16" fmla="*/ 162098 w 385450"/>
              <a:gd name="connsiteY16" fmla="*/ 493887 h 608768"/>
              <a:gd name="connsiteX17" fmla="*/ 230644 w 385450"/>
              <a:gd name="connsiteY17" fmla="*/ 484220 h 608768"/>
              <a:gd name="connsiteX18" fmla="*/ 246720 w 385450"/>
              <a:gd name="connsiteY18" fmla="*/ 502370 h 608768"/>
              <a:gd name="connsiteX19" fmla="*/ 256097 w 385450"/>
              <a:gd name="connsiteY19" fmla="*/ 526294 h 608768"/>
              <a:gd name="connsiteX20" fmla="*/ 249296 w 385450"/>
              <a:gd name="connsiteY20" fmla="*/ 528253 h 608768"/>
              <a:gd name="connsiteX21" fmla="*/ 223842 w 385450"/>
              <a:gd name="connsiteY21" fmla="*/ 521447 h 608768"/>
              <a:gd name="connsiteX22" fmla="*/ 229716 w 385450"/>
              <a:gd name="connsiteY22" fmla="*/ 485045 h 608768"/>
              <a:gd name="connsiteX23" fmla="*/ 230644 w 385450"/>
              <a:gd name="connsiteY23" fmla="*/ 484220 h 608768"/>
              <a:gd name="connsiteX24" fmla="*/ 150811 w 385450"/>
              <a:gd name="connsiteY24" fmla="*/ 484220 h 608768"/>
              <a:gd name="connsiteX25" fmla="*/ 151842 w 385450"/>
              <a:gd name="connsiteY25" fmla="*/ 485045 h 608768"/>
              <a:gd name="connsiteX26" fmla="*/ 157723 w 385450"/>
              <a:gd name="connsiteY26" fmla="*/ 521447 h 608768"/>
              <a:gd name="connsiteX27" fmla="*/ 132137 w 385450"/>
              <a:gd name="connsiteY27" fmla="*/ 528253 h 608768"/>
              <a:gd name="connsiteX28" fmla="*/ 125431 w 385450"/>
              <a:gd name="connsiteY28" fmla="*/ 526294 h 608768"/>
              <a:gd name="connsiteX29" fmla="*/ 134820 w 385450"/>
              <a:gd name="connsiteY29" fmla="*/ 502370 h 608768"/>
              <a:gd name="connsiteX30" fmla="*/ 150811 w 385450"/>
              <a:gd name="connsiteY30" fmla="*/ 484220 h 608768"/>
              <a:gd name="connsiteX31" fmla="*/ 190782 w 385450"/>
              <a:gd name="connsiteY31" fmla="*/ 463115 h 608768"/>
              <a:gd name="connsiteX32" fmla="*/ 176120 w 385450"/>
              <a:gd name="connsiteY32" fmla="*/ 477657 h 608768"/>
              <a:gd name="connsiteX33" fmla="*/ 190782 w 385450"/>
              <a:gd name="connsiteY33" fmla="*/ 492199 h 608768"/>
              <a:gd name="connsiteX34" fmla="*/ 205341 w 385450"/>
              <a:gd name="connsiteY34" fmla="*/ 477657 h 608768"/>
              <a:gd name="connsiteX35" fmla="*/ 190782 w 385450"/>
              <a:gd name="connsiteY35" fmla="*/ 463115 h 608768"/>
              <a:gd name="connsiteX36" fmla="*/ 190782 w 385450"/>
              <a:gd name="connsiteY36" fmla="*/ 452183 h 608768"/>
              <a:gd name="connsiteX37" fmla="*/ 203276 w 385450"/>
              <a:gd name="connsiteY37" fmla="*/ 460949 h 608768"/>
              <a:gd name="connsiteX38" fmla="*/ 220210 w 385450"/>
              <a:gd name="connsiteY38" fmla="*/ 474666 h 608768"/>
              <a:gd name="connsiteX39" fmla="*/ 220314 w 385450"/>
              <a:gd name="connsiteY39" fmla="*/ 477657 h 608768"/>
              <a:gd name="connsiteX40" fmla="*/ 220210 w 385450"/>
              <a:gd name="connsiteY40" fmla="*/ 480751 h 608768"/>
              <a:gd name="connsiteX41" fmla="*/ 203276 w 385450"/>
              <a:gd name="connsiteY41" fmla="*/ 494365 h 608768"/>
              <a:gd name="connsiteX42" fmla="*/ 190782 w 385450"/>
              <a:gd name="connsiteY42" fmla="*/ 503131 h 608768"/>
              <a:gd name="connsiteX43" fmla="*/ 178288 w 385450"/>
              <a:gd name="connsiteY43" fmla="*/ 494365 h 608768"/>
              <a:gd name="connsiteX44" fmla="*/ 161251 w 385450"/>
              <a:gd name="connsiteY44" fmla="*/ 480751 h 608768"/>
              <a:gd name="connsiteX45" fmla="*/ 161251 w 385450"/>
              <a:gd name="connsiteY45" fmla="*/ 477657 h 608768"/>
              <a:gd name="connsiteX46" fmla="*/ 161251 w 385450"/>
              <a:gd name="connsiteY46" fmla="*/ 474666 h 608768"/>
              <a:gd name="connsiteX47" fmla="*/ 178288 w 385450"/>
              <a:gd name="connsiteY47" fmla="*/ 460949 h 608768"/>
              <a:gd name="connsiteX48" fmla="*/ 190782 w 385450"/>
              <a:gd name="connsiteY48" fmla="*/ 452183 h 608768"/>
              <a:gd name="connsiteX49" fmla="*/ 215033 w 385450"/>
              <a:gd name="connsiteY49" fmla="*/ 437929 h 608768"/>
              <a:gd name="connsiteX50" fmla="*/ 219467 w 385450"/>
              <a:gd name="connsiteY50" fmla="*/ 461427 h 608768"/>
              <a:gd name="connsiteX51" fmla="*/ 208950 w 385450"/>
              <a:gd name="connsiteY51" fmla="*/ 453182 h 608768"/>
              <a:gd name="connsiteX52" fmla="*/ 199568 w 385450"/>
              <a:gd name="connsiteY52" fmla="*/ 446483 h 608768"/>
              <a:gd name="connsiteX53" fmla="*/ 215033 w 385450"/>
              <a:gd name="connsiteY53" fmla="*/ 437929 h 608768"/>
              <a:gd name="connsiteX54" fmla="*/ 166523 w 385450"/>
              <a:gd name="connsiteY54" fmla="*/ 437929 h 608768"/>
              <a:gd name="connsiteX55" fmla="*/ 181856 w 385450"/>
              <a:gd name="connsiteY55" fmla="*/ 446483 h 608768"/>
              <a:gd name="connsiteX56" fmla="*/ 172491 w 385450"/>
              <a:gd name="connsiteY56" fmla="*/ 453182 h 608768"/>
              <a:gd name="connsiteX57" fmla="*/ 162098 w 385450"/>
              <a:gd name="connsiteY57" fmla="*/ 461427 h 608768"/>
              <a:gd name="connsiteX58" fmla="*/ 166523 w 385450"/>
              <a:gd name="connsiteY58" fmla="*/ 437929 h 608768"/>
              <a:gd name="connsiteX59" fmla="*/ 249292 w 385450"/>
              <a:gd name="connsiteY59" fmla="*/ 426991 h 608768"/>
              <a:gd name="connsiteX60" fmla="*/ 256092 w 385450"/>
              <a:gd name="connsiteY60" fmla="*/ 429053 h 608768"/>
              <a:gd name="connsiteX61" fmla="*/ 252280 w 385450"/>
              <a:gd name="connsiteY61" fmla="*/ 444418 h 608768"/>
              <a:gd name="connsiteX62" fmla="*/ 252177 w 385450"/>
              <a:gd name="connsiteY62" fmla="*/ 444418 h 608768"/>
              <a:gd name="connsiteX63" fmla="*/ 243110 w 385450"/>
              <a:gd name="connsiteY63" fmla="*/ 453596 h 608768"/>
              <a:gd name="connsiteX64" fmla="*/ 243625 w 385450"/>
              <a:gd name="connsiteY64" fmla="*/ 456793 h 608768"/>
              <a:gd name="connsiteX65" fmla="*/ 230642 w 385450"/>
              <a:gd name="connsiteY65" fmla="*/ 471024 h 608768"/>
              <a:gd name="connsiteX66" fmla="*/ 229715 w 385450"/>
              <a:gd name="connsiteY66" fmla="*/ 470199 h 608768"/>
              <a:gd name="connsiteX67" fmla="*/ 223842 w 385450"/>
              <a:gd name="connsiteY67" fmla="*/ 433797 h 608768"/>
              <a:gd name="connsiteX68" fmla="*/ 249292 w 385450"/>
              <a:gd name="connsiteY68" fmla="*/ 426991 h 608768"/>
              <a:gd name="connsiteX69" fmla="*/ 132137 w 385450"/>
              <a:gd name="connsiteY69" fmla="*/ 426991 h 608768"/>
              <a:gd name="connsiteX70" fmla="*/ 136677 w 385450"/>
              <a:gd name="connsiteY70" fmla="*/ 427300 h 608768"/>
              <a:gd name="connsiteX71" fmla="*/ 145240 w 385450"/>
              <a:gd name="connsiteY71" fmla="*/ 433384 h 608768"/>
              <a:gd name="connsiteX72" fmla="*/ 151120 w 385450"/>
              <a:gd name="connsiteY72" fmla="*/ 431219 h 608768"/>
              <a:gd name="connsiteX73" fmla="*/ 157723 w 385450"/>
              <a:gd name="connsiteY73" fmla="*/ 433797 h 608768"/>
              <a:gd name="connsiteX74" fmla="*/ 151739 w 385450"/>
              <a:gd name="connsiteY74" fmla="*/ 470199 h 608768"/>
              <a:gd name="connsiteX75" fmla="*/ 150811 w 385450"/>
              <a:gd name="connsiteY75" fmla="*/ 471024 h 608768"/>
              <a:gd name="connsiteX76" fmla="*/ 134820 w 385450"/>
              <a:gd name="connsiteY76" fmla="*/ 452874 h 608768"/>
              <a:gd name="connsiteX77" fmla="*/ 125431 w 385450"/>
              <a:gd name="connsiteY77" fmla="*/ 429053 h 608768"/>
              <a:gd name="connsiteX78" fmla="*/ 132137 w 385450"/>
              <a:gd name="connsiteY78" fmla="*/ 426991 h 608768"/>
              <a:gd name="connsiteX79" fmla="*/ 190764 w 385450"/>
              <a:gd name="connsiteY79" fmla="*/ 406527 h 608768"/>
              <a:gd name="connsiteX80" fmla="*/ 210607 w 385450"/>
              <a:gd name="connsiteY80" fmla="*/ 426010 h 608768"/>
              <a:gd name="connsiteX81" fmla="*/ 211847 w 385450"/>
              <a:gd name="connsiteY81" fmla="*/ 428896 h 608768"/>
              <a:gd name="connsiteX82" fmla="*/ 190764 w 385450"/>
              <a:gd name="connsiteY82" fmla="*/ 440751 h 608768"/>
              <a:gd name="connsiteX83" fmla="*/ 169578 w 385450"/>
              <a:gd name="connsiteY83" fmla="*/ 428896 h 608768"/>
              <a:gd name="connsiteX84" fmla="*/ 170818 w 385450"/>
              <a:gd name="connsiteY84" fmla="*/ 426010 h 608768"/>
              <a:gd name="connsiteX85" fmla="*/ 190764 w 385450"/>
              <a:gd name="connsiteY85" fmla="*/ 406527 h 608768"/>
              <a:gd name="connsiteX86" fmla="*/ 190761 w 385450"/>
              <a:gd name="connsiteY86" fmla="*/ 397011 h 608768"/>
              <a:gd name="connsiteX87" fmla="*/ 162059 w 385450"/>
              <a:gd name="connsiteY87" fmla="*/ 421960 h 608768"/>
              <a:gd name="connsiteX88" fmla="*/ 160923 w 385450"/>
              <a:gd name="connsiteY88" fmla="*/ 424846 h 608768"/>
              <a:gd name="connsiteX89" fmla="*/ 154213 w 385450"/>
              <a:gd name="connsiteY89" fmla="*/ 422166 h 608768"/>
              <a:gd name="connsiteX90" fmla="*/ 145230 w 385450"/>
              <a:gd name="connsiteY90" fmla="*/ 415052 h 608768"/>
              <a:gd name="connsiteX91" fmla="*/ 138519 w 385450"/>
              <a:gd name="connsiteY91" fmla="*/ 417939 h 608768"/>
              <a:gd name="connsiteX92" fmla="*/ 132118 w 385450"/>
              <a:gd name="connsiteY92" fmla="*/ 417424 h 608768"/>
              <a:gd name="connsiteX93" fmla="*/ 117664 w 385450"/>
              <a:gd name="connsiteY93" fmla="*/ 423300 h 608768"/>
              <a:gd name="connsiteX94" fmla="*/ 127059 w 385450"/>
              <a:gd name="connsiteY94" fmla="*/ 458662 h 608768"/>
              <a:gd name="connsiteX95" fmla="*/ 143888 w 385450"/>
              <a:gd name="connsiteY95" fmla="*/ 477631 h 608768"/>
              <a:gd name="connsiteX96" fmla="*/ 127059 w 385450"/>
              <a:gd name="connsiteY96" fmla="*/ 496601 h 608768"/>
              <a:gd name="connsiteX97" fmla="*/ 117664 w 385450"/>
              <a:gd name="connsiteY97" fmla="*/ 531963 h 608768"/>
              <a:gd name="connsiteX98" fmla="*/ 132118 w 385450"/>
              <a:gd name="connsiteY98" fmla="*/ 537839 h 608768"/>
              <a:gd name="connsiteX99" fmla="*/ 160923 w 385450"/>
              <a:gd name="connsiteY99" fmla="*/ 530416 h 608768"/>
              <a:gd name="connsiteX100" fmla="*/ 162059 w 385450"/>
              <a:gd name="connsiteY100" fmla="*/ 533303 h 608768"/>
              <a:gd name="connsiteX101" fmla="*/ 190761 w 385450"/>
              <a:gd name="connsiteY101" fmla="*/ 558355 h 608768"/>
              <a:gd name="connsiteX102" fmla="*/ 219360 w 385450"/>
              <a:gd name="connsiteY102" fmla="*/ 533303 h 608768"/>
              <a:gd name="connsiteX103" fmla="*/ 220599 w 385450"/>
              <a:gd name="connsiteY103" fmla="*/ 530416 h 608768"/>
              <a:gd name="connsiteX104" fmla="*/ 249301 w 385450"/>
              <a:gd name="connsiteY104" fmla="*/ 537839 h 608768"/>
              <a:gd name="connsiteX105" fmla="*/ 263755 w 385450"/>
              <a:gd name="connsiteY105" fmla="*/ 531963 h 608768"/>
              <a:gd name="connsiteX106" fmla="*/ 254360 w 385450"/>
              <a:gd name="connsiteY106" fmla="*/ 496601 h 608768"/>
              <a:gd name="connsiteX107" fmla="*/ 237531 w 385450"/>
              <a:gd name="connsiteY107" fmla="*/ 477631 h 608768"/>
              <a:gd name="connsiteX108" fmla="*/ 251160 w 385450"/>
              <a:gd name="connsiteY108" fmla="*/ 462682 h 608768"/>
              <a:gd name="connsiteX109" fmla="*/ 252192 w 385450"/>
              <a:gd name="connsiteY109" fmla="*/ 462785 h 608768"/>
              <a:gd name="connsiteX110" fmla="*/ 261381 w 385450"/>
              <a:gd name="connsiteY110" fmla="*/ 453610 h 608768"/>
              <a:gd name="connsiteX111" fmla="*/ 260452 w 385450"/>
              <a:gd name="connsiteY111" fmla="*/ 449589 h 608768"/>
              <a:gd name="connsiteX112" fmla="*/ 263755 w 385450"/>
              <a:gd name="connsiteY112" fmla="*/ 423300 h 608768"/>
              <a:gd name="connsiteX113" fmla="*/ 249301 w 385450"/>
              <a:gd name="connsiteY113" fmla="*/ 417424 h 608768"/>
              <a:gd name="connsiteX114" fmla="*/ 220599 w 385450"/>
              <a:gd name="connsiteY114" fmla="*/ 424846 h 608768"/>
              <a:gd name="connsiteX115" fmla="*/ 219360 w 385450"/>
              <a:gd name="connsiteY115" fmla="*/ 421960 h 608768"/>
              <a:gd name="connsiteX116" fmla="*/ 190761 w 385450"/>
              <a:gd name="connsiteY116" fmla="*/ 397011 h 608768"/>
              <a:gd name="connsiteX117" fmla="*/ 15246 w 385450"/>
              <a:gd name="connsiteY117" fmla="*/ 352474 h 608768"/>
              <a:gd name="connsiteX118" fmla="*/ 370304 w 385450"/>
              <a:gd name="connsiteY118" fmla="*/ 352474 h 608768"/>
              <a:gd name="connsiteX119" fmla="*/ 381557 w 385450"/>
              <a:gd name="connsiteY119" fmla="*/ 357422 h 608768"/>
              <a:gd name="connsiteX120" fmla="*/ 385377 w 385450"/>
              <a:gd name="connsiteY120" fmla="*/ 369072 h 608768"/>
              <a:gd name="connsiteX121" fmla="*/ 355023 w 385450"/>
              <a:gd name="connsiteY121" fmla="*/ 595057 h 608768"/>
              <a:gd name="connsiteX122" fmla="*/ 339950 w 385450"/>
              <a:gd name="connsiteY122" fmla="*/ 608768 h 608768"/>
              <a:gd name="connsiteX123" fmla="*/ 45600 w 385450"/>
              <a:gd name="connsiteY123" fmla="*/ 608768 h 608768"/>
              <a:gd name="connsiteX124" fmla="*/ 30423 w 385450"/>
              <a:gd name="connsiteY124" fmla="*/ 595057 h 608768"/>
              <a:gd name="connsiteX125" fmla="*/ 69 w 385450"/>
              <a:gd name="connsiteY125" fmla="*/ 369072 h 608768"/>
              <a:gd name="connsiteX126" fmla="*/ 3992 w 385450"/>
              <a:gd name="connsiteY126" fmla="*/ 357422 h 608768"/>
              <a:gd name="connsiteX127" fmla="*/ 15246 w 385450"/>
              <a:gd name="connsiteY127" fmla="*/ 352474 h 608768"/>
              <a:gd name="connsiteX128" fmla="*/ 229886 w 385450"/>
              <a:gd name="connsiteY128" fmla="*/ 196878 h 608768"/>
              <a:gd name="connsiteX129" fmla="*/ 251679 w 385450"/>
              <a:gd name="connsiteY129" fmla="*/ 215230 h 608768"/>
              <a:gd name="connsiteX130" fmla="*/ 297227 w 385450"/>
              <a:gd name="connsiteY130" fmla="*/ 236159 h 608768"/>
              <a:gd name="connsiteX131" fmla="*/ 313855 w 385450"/>
              <a:gd name="connsiteY131" fmla="*/ 250387 h 608768"/>
              <a:gd name="connsiteX132" fmla="*/ 341122 w 385450"/>
              <a:gd name="connsiteY132" fmla="*/ 330599 h 608768"/>
              <a:gd name="connsiteX133" fmla="*/ 209538 w 385450"/>
              <a:gd name="connsiteY133" fmla="*/ 330599 h 608768"/>
              <a:gd name="connsiteX134" fmla="*/ 194769 w 385450"/>
              <a:gd name="connsiteY134" fmla="*/ 231726 h 608768"/>
              <a:gd name="connsiteX135" fmla="*/ 155647 w 385450"/>
              <a:gd name="connsiteY135" fmla="*/ 196878 h 608768"/>
              <a:gd name="connsiteX136" fmla="*/ 190747 w 385450"/>
              <a:gd name="connsiteY136" fmla="*/ 231726 h 608768"/>
              <a:gd name="connsiteX137" fmla="*/ 175881 w 385450"/>
              <a:gd name="connsiteY137" fmla="*/ 330599 h 608768"/>
              <a:gd name="connsiteX138" fmla="*/ 44465 w 385450"/>
              <a:gd name="connsiteY138" fmla="*/ 330599 h 608768"/>
              <a:gd name="connsiteX139" fmla="*/ 71615 w 385450"/>
              <a:gd name="connsiteY139" fmla="*/ 250387 h 608768"/>
              <a:gd name="connsiteX140" fmla="*/ 88339 w 385450"/>
              <a:gd name="connsiteY140" fmla="*/ 236159 h 608768"/>
              <a:gd name="connsiteX141" fmla="*/ 133762 w 385450"/>
              <a:gd name="connsiteY141" fmla="*/ 215230 h 608768"/>
              <a:gd name="connsiteX142" fmla="*/ 160716 w 385450"/>
              <a:gd name="connsiteY142" fmla="*/ 70485 h 608768"/>
              <a:gd name="connsiteX143" fmla="*/ 129130 w 385450"/>
              <a:gd name="connsiteY143" fmla="*/ 98962 h 608768"/>
              <a:gd name="connsiteX144" fmla="*/ 191398 w 385450"/>
              <a:gd name="connsiteY144" fmla="*/ 178647 h 608768"/>
              <a:gd name="connsiteX145" fmla="*/ 253666 w 385450"/>
              <a:gd name="connsiteY145" fmla="*/ 98962 h 608768"/>
              <a:gd name="connsiteX146" fmla="*/ 174876 w 385450"/>
              <a:gd name="connsiteY146" fmla="*/ 100611 h 608768"/>
              <a:gd name="connsiteX147" fmla="*/ 160716 w 385450"/>
              <a:gd name="connsiteY147" fmla="*/ 70485 h 608768"/>
              <a:gd name="connsiteX148" fmla="*/ 191398 w 385450"/>
              <a:gd name="connsiteY148" fmla="*/ 0 h 608768"/>
              <a:gd name="connsiteX149" fmla="*/ 273286 w 385450"/>
              <a:gd name="connsiteY149" fmla="*/ 80407 h 608768"/>
              <a:gd name="connsiteX150" fmla="*/ 191398 w 385450"/>
              <a:gd name="connsiteY150" fmla="*/ 196172 h 608768"/>
              <a:gd name="connsiteX151" fmla="*/ 109407 w 385450"/>
              <a:gd name="connsiteY151" fmla="*/ 80407 h 608768"/>
              <a:gd name="connsiteX152" fmla="*/ 191398 w 385450"/>
              <a:gd name="connsiteY152" fmla="*/ 0 h 608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385450" h="608768">
                <a:moveTo>
                  <a:pt x="190764" y="514563"/>
                </a:moveTo>
                <a:cubicBezTo>
                  <a:pt x="197998" y="519099"/>
                  <a:pt x="205026" y="523119"/>
                  <a:pt x="211847" y="526418"/>
                </a:cubicBezTo>
                <a:cubicBezTo>
                  <a:pt x="211433" y="527449"/>
                  <a:pt x="211020" y="528480"/>
                  <a:pt x="210607" y="529304"/>
                </a:cubicBezTo>
                <a:cubicBezTo>
                  <a:pt x="205026" y="541674"/>
                  <a:pt x="197792" y="548787"/>
                  <a:pt x="190764" y="548787"/>
                </a:cubicBezTo>
                <a:cubicBezTo>
                  <a:pt x="183633" y="548787"/>
                  <a:pt x="176399" y="541674"/>
                  <a:pt x="170818" y="529304"/>
                </a:cubicBezTo>
                <a:cubicBezTo>
                  <a:pt x="170405" y="528480"/>
                  <a:pt x="169991" y="527449"/>
                  <a:pt x="169578" y="526418"/>
                </a:cubicBezTo>
                <a:cubicBezTo>
                  <a:pt x="176399" y="523119"/>
                  <a:pt x="183530" y="519099"/>
                  <a:pt x="190764" y="514563"/>
                </a:cubicBezTo>
                <a:close/>
                <a:moveTo>
                  <a:pt x="219467" y="493887"/>
                </a:moveTo>
                <a:cubicBezTo>
                  <a:pt x="218642" y="502247"/>
                  <a:pt x="217095" y="510091"/>
                  <a:pt x="215033" y="517315"/>
                </a:cubicBezTo>
                <a:cubicBezTo>
                  <a:pt x="209981" y="514735"/>
                  <a:pt x="204826" y="511948"/>
                  <a:pt x="199568" y="508749"/>
                </a:cubicBezTo>
                <a:cubicBezTo>
                  <a:pt x="202764" y="506582"/>
                  <a:pt x="205857" y="504311"/>
                  <a:pt x="208950" y="502041"/>
                </a:cubicBezTo>
                <a:cubicBezTo>
                  <a:pt x="212559" y="499357"/>
                  <a:pt x="216064" y="496571"/>
                  <a:pt x="219467" y="493887"/>
                </a:cubicBezTo>
                <a:close/>
                <a:moveTo>
                  <a:pt x="162098" y="493887"/>
                </a:moveTo>
                <a:cubicBezTo>
                  <a:pt x="165494" y="496571"/>
                  <a:pt x="168992" y="499357"/>
                  <a:pt x="172491" y="502041"/>
                </a:cubicBezTo>
                <a:cubicBezTo>
                  <a:pt x="175578" y="504311"/>
                  <a:pt x="178666" y="506582"/>
                  <a:pt x="181856" y="508749"/>
                </a:cubicBezTo>
                <a:cubicBezTo>
                  <a:pt x="176608" y="511948"/>
                  <a:pt x="171462" y="514838"/>
                  <a:pt x="166523" y="517315"/>
                </a:cubicBezTo>
                <a:cubicBezTo>
                  <a:pt x="164362" y="510091"/>
                  <a:pt x="162921" y="502247"/>
                  <a:pt x="162098" y="493887"/>
                </a:cubicBezTo>
                <a:close/>
                <a:moveTo>
                  <a:pt x="230644" y="484220"/>
                </a:moveTo>
                <a:cubicBezTo>
                  <a:pt x="236930" y="490511"/>
                  <a:pt x="242392" y="496595"/>
                  <a:pt x="246720" y="502370"/>
                </a:cubicBezTo>
                <a:cubicBezTo>
                  <a:pt x="257437" y="516704"/>
                  <a:pt x="257643" y="524128"/>
                  <a:pt x="256097" y="526294"/>
                </a:cubicBezTo>
                <a:cubicBezTo>
                  <a:pt x="255067" y="527531"/>
                  <a:pt x="252697" y="528253"/>
                  <a:pt x="249296" y="528253"/>
                </a:cubicBezTo>
                <a:cubicBezTo>
                  <a:pt x="243010" y="528253"/>
                  <a:pt x="234250" y="525881"/>
                  <a:pt x="223842" y="521447"/>
                </a:cubicBezTo>
                <a:cubicBezTo>
                  <a:pt x="227140" y="510619"/>
                  <a:pt x="229201" y="498039"/>
                  <a:pt x="229716" y="485045"/>
                </a:cubicBezTo>
                <a:cubicBezTo>
                  <a:pt x="230025" y="484839"/>
                  <a:pt x="230335" y="484530"/>
                  <a:pt x="230644" y="484220"/>
                </a:cubicBezTo>
                <a:close/>
                <a:moveTo>
                  <a:pt x="150811" y="484220"/>
                </a:moveTo>
                <a:cubicBezTo>
                  <a:pt x="151120" y="484530"/>
                  <a:pt x="151430" y="484839"/>
                  <a:pt x="151842" y="485045"/>
                </a:cubicBezTo>
                <a:cubicBezTo>
                  <a:pt x="152358" y="498039"/>
                  <a:pt x="154421" y="510619"/>
                  <a:pt x="157723" y="521447"/>
                </a:cubicBezTo>
                <a:cubicBezTo>
                  <a:pt x="147303" y="525881"/>
                  <a:pt x="138430" y="528253"/>
                  <a:pt x="132137" y="528253"/>
                </a:cubicBezTo>
                <a:cubicBezTo>
                  <a:pt x="128733" y="528253"/>
                  <a:pt x="126360" y="527531"/>
                  <a:pt x="125431" y="526294"/>
                </a:cubicBezTo>
                <a:cubicBezTo>
                  <a:pt x="123781" y="524128"/>
                  <a:pt x="124090" y="516704"/>
                  <a:pt x="134820" y="502370"/>
                </a:cubicBezTo>
                <a:cubicBezTo>
                  <a:pt x="139153" y="496595"/>
                  <a:pt x="144517" y="490511"/>
                  <a:pt x="150811" y="484220"/>
                </a:cubicBezTo>
                <a:close/>
                <a:moveTo>
                  <a:pt x="190782" y="463115"/>
                </a:moveTo>
                <a:cubicBezTo>
                  <a:pt x="182728" y="463115"/>
                  <a:pt x="176120" y="469612"/>
                  <a:pt x="176120" y="477657"/>
                </a:cubicBezTo>
                <a:cubicBezTo>
                  <a:pt x="176120" y="485702"/>
                  <a:pt x="182728" y="492199"/>
                  <a:pt x="190782" y="492199"/>
                </a:cubicBezTo>
                <a:cubicBezTo>
                  <a:pt x="198836" y="492199"/>
                  <a:pt x="205341" y="485702"/>
                  <a:pt x="205341" y="477657"/>
                </a:cubicBezTo>
                <a:cubicBezTo>
                  <a:pt x="205341" y="469612"/>
                  <a:pt x="198836" y="463115"/>
                  <a:pt x="190782" y="463115"/>
                </a:cubicBezTo>
                <a:close/>
                <a:moveTo>
                  <a:pt x="190782" y="452183"/>
                </a:moveTo>
                <a:cubicBezTo>
                  <a:pt x="194913" y="454967"/>
                  <a:pt x="199146" y="457855"/>
                  <a:pt x="203276" y="460949"/>
                </a:cubicBezTo>
                <a:cubicBezTo>
                  <a:pt x="209162" y="465384"/>
                  <a:pt x="214944" y="469922"/>
                  <a:pt x="220210" y="474666"/>
                </a:cubicBezTo>
                <a:cubicBezTo>
                  <a:pt x="220210" y="475697"/>
                  <a:pt x="220314" y="476729"/>
                  <a:pt x="220314" y="477657"/>
                </a:cubicBezTo>
                <a:cubicBezTo>
                  <a:pt x="220314" y="478688"/>
                  <a:pt x="220210" y="479719"/>
                  <a:pt x="220210" y="480751"/>
                </a:cubicBezTo>
                <a:cubicBezTo>
                  <a:pt x="214944" y="485392"/>
                  <a:pt x="209162" y="490033"/>
                  <a:pt x="203276" y="494365"/>
                </a:cubicBezTo>
                <a:cubicBezTo>
                  <a:pt x="199146" y="497459"/>
                  <a:pt x="194913" y="500347"/>
                  <a:pt x="190782" y="503131"/>
                </a:cubicBezTo>
                <a:cubicBezTo>
                  <a:pt x="186549" y="500347"/>
                  <a:pt x="182315" y="497459"/>
                  <a:pt x="178288" y="494365"/>
                </a:cubicBezTo>
                <a:cubicBezTo>
                  <a:pt x="172299" y="490033"/>
                  <a:pt x="166620" y="485392"/>
                  <a:pt x="161251" y="480751"/>
                </a:cubicBezTo>
                <a:cubicBezTo>
                  <a:pt x="161251" y="479719"/>
                  <a:pt x="161251" y="478688"/>
                  <a:pt x="161251" y="477657"/>
                </a:cubicBezTo>
                <a:cubicBezTo>
                  <a:pt x="161251" y="476729"/>
                  <a:pt x="161251" y="475697"/>
                  <a:pt x="161251" y="474666"/>
                </a:cubicBezTo>
                <a:cubicBezTo>
                  <a:pt x="166620" y="469922"/>
                  <a:pt x="172299" y="465384"/>
                  <a:pt x="178288" y="460949"/>
                </a:cubicBezTo>
                <a:cubicBezTo>
                  <a:pt x="182315" y="457855"/>
                  <a:pt x="186549" y="454967"/>
                  <a:pt x="190782" y="452183"/>
                </a:cubicBezTo>
                <a:close/>
                <a:moveTo>
                  <a:pt x="215033" y="437929"/>
                </a:moveTo>
                <a:cubicBezTo>
                  <a:pt x="217095" y="445143"/>
                  <a:pt x="218642" y="452976"/>
                  <a:pt x="219467" y="461427"/>
                </a:cubicBezTo>
                <a:cubicBezTo>
                  <a:pt x="216064" y="458644"/>
                  <a:pt x="212559" y="455861"/>
                  <a:pt x="208950" y="453182"/>
                </a:cubicBezTo>
                <a:cubicBezTo>
                  <a:pt x="205960" y="450914"/>
                  <a:pt x="202764" y="448647"/>
                  <a:pt x="199568" y="446483"/>
                </a:cubicBezTo>
                <a:cubicBezTo>
                  <a:pt x="204826" y="443288"/>
                  <a:pt x="209981" y="440505"/>
                  <a:pt x="215033" y="437929"/>
                </a:cubicBezTo>
                <a:close/>
                <a:moveTo>
                  <a:pt x="166523" y="437929"/>
                </a:moveTo>
                <a:cubicBezTo>
                  <a:pt x="171462" y="440505"/>
                  <a:pt x="176608" y="443391"/>
                  <a:pt x="181856" y="446483"/>
                </a:cubicBezTo>
                <a:cubicBezTo>
                  <a:pt x="178666" y="448647"/>
                  <a:pt x="175578" y="450914"/>
                  <a:pt x="172491" y="453182"/>
                </a:cubicBezTo>
                <a:cubicBezTo>
                  <a:pt x="168992" y="455861"/>
                  <a:pt x="165494" y="458644"/>
                  <a:pt x="162098" y="461427"/>
                </a:cubicBezTo>
                <a:cubicBezTo>
                  <a:pt x="162921" y="452976"/>
                  <a:pt x="164362" y="445143"/>
                  <a:pt x="166523" y="437929"/>
                </a:cubicBezTo>
                <a:close/>
                <a:moveTo>
                  <a:pt x="249292" y="426991"/>
                </a:moveTo>
                <a:cubicBezTo>
                  <a:pt x="252692" y="426991"/>
                  <a:pt x="255061" y="427713"/>
                  <a:pt x="256092" y="429053"/>
                </a:cubicBezTo>
                <a:cubicBezTo>
                  <a:pt x="257431" y="430806"/>
                  <a:pt x="257225" y="435859"/>
                  <a:pt x="252280" y="444418"/>
                </a:cubicBezTo>
                <a:lnTo>
                  <a:pt x="252177" y="444418"/>
                </a:lnTo>
                <a:cubicBezTo>
                  <a:pt x="247128" y="444418"/>
                  <a:pt x="243110" y="448543"/>
                  <a:pt x="243110" y="453596"/>
                </a:cubicBezTo>
                <a:cubicBezTo>
                  <a:pt x="243110" y="454731"/>
                  <a:pt x="243213" y="455762"/>
                  <a:pt x="243625" y="456793"/>
                </a:cubicBezTo>
                <a:cubicBezTo>
                  <a:pt x="239916" y="461433"/>
                  <a:pt x="235588" y="466177"/>
                  <a:pt x="230642" y="471024"/>
                </a:cubicBezTo>
                <a:cubicBezTo>
                  <a:pt x="230333" y="470714"/>
                  <a:pt x="230024" y="470405"/>
                  <a:pt x="229715" y="470199"/>
                </a:cubicBezTo>
                <a:cubicBezTo>
                  <a:pt x="229200" y="457205"/>
                  <a:pt x="227139" y="444625"/>
                  <a:pt x="223842" y="433797"/>
                </a:cubicBezTo>
                <a:cubicBezTo>
                  <a:pt x="234249" y="429363"/>
                  <a:pt x="243007" y="426991"/>
                  <a:pt x="249292" y="426991"/>
                </a:cubicBezTo>
                <a:close/>
                <a:moveTo>
                  <a:pt x="132137" y="426991"/>
                </a:moveTo>
                <a:cubicBezTo>
                  <a:pt x="133478" y="426991"/>
                  <a:pt x="135026" y="427094"/>
                  <a:pt x="136677" y="427300"/>
                </a:cubicBezTo>
                <a:cubicBezTo>
                  <a:pt x="137915" y="430909"/>
                  <a:pt x="141422" y="433384"/>
                  <a:pt x="145240" y="433384"/>
                </a:cubicBezTo>
                <a:cubicBezTo>
                  <a:pt x="147406" y="433384"/>
                  <a:pt x="149469" y="432559"/>
                  <a:pt x="151120" y="431219"/>
                </a:cubicBezTo>
                <a:cubicBezTo>
                  <a:pt x="153287" y="432044"/>
                  <a:pt x="155453" y="432869"/>
                  <a:pt x="157723" y="433797"/>
                </a:cubicBezTo>
                <a:cubicBezTo>
                  <a:pt x="154421" y="444625"/>
                  <a:pt x="152358" y="457205"/>
                  <a:pt x="151739" y="470199"/>
                </a:cubicBezTo>
                <a:cubicBezTo>
                  <a:pt x="151430" y="470405"/>
                  <a:pt x="151120" y="470714"/>
                  <a:pt x="150811" y="471024"/>
                </a:cubicBezTo>
                <a:cubicBezTo>
                  <a:pt x="144517" y="464836"/>
                  <a:pt x="139153" y="458752"/>
                  <a:pt x="134820" y="452874"/>
                </a:cubicBezTo>
                <a:cubicBezTo>
                  <a:pt x="123987" y="438540"/>
                  <a:pt x="123781" y="431116"/>
                  <a:pt x="125431" y="429053"/>
                </a:cubicBezTo>
                <a:cubicBezTo>
                  <a:pt x="126360" y="427713"/>
                  <a:pt x="128733" y="426991"/>
                  <a:pt x="132137" y="426991"/>
                </a:cubicBezTo>
                <a:close/>
                <a:moveTo>
                  <a:pt x="190764" y="406527"/>
                </a:moveTo>
                <a:cubicBezTo>
                  <a:pt x="197792" y="406527"/>
                  <a:pt x="205026" y="413640"/>
                  <a:pt x="210607" y="426010"/>
                </a:cubicBezTo>
                <a:cubicBezTo>
                  <a:pt x="211020" y="426937"/>
                  <a:pt x="211433" y="427865"/>
                  <a:pt x="211847" y="428896"/>
                </a:cubicBezTo>
                <a:cubicBezTo>
                  <a:pt x="205026" y="432195"/>
                  <a:pt x="197998" y="436215"/>
                  <a:pt x="190764" y="440751"/>
                </a:cubicBezTo>
                <a:cubicBezTo>
                  <a:pt x="183530" y="436215"/>
                  <a:pt x="176399" y="432195"/>
                  <a:pt x="169578" y="428896"/>
                </a:cubicBezTo>
                <a:cubicBezTo>
                  <a:pt x="169991" y="427865"/>
                  <a:pt x="170405" y="426937"/>
                  <a:pt x="170818" y="426010"/>
                </a:cubicBezTo>
                <a:cubicBezTo>
                  <a:pt x="176399" y="413640"/>
                  <a:pt x="183633" y="406527"/>
                  <a:pt x="190764" y="406527"/>
                </a:cubicBezTo>
                <a:close/>
                <a:moveTo>
                  <a:pt x="190761" y="397011"/>
                </a:moveTo>
                <a:cubicBezTo>
                  <a:pt x="179611" y="397011"/>
                  <a:pt x="169390" y="405877"/>
                  <a:pt x="162059" y="421960"/>
                </a:cubicBezTo>
                <a:cubicBezTo>
                  <a:pt x="161646" y="422888"/>
                  <a:pt x="161336" y="423815"/>
                  <a:pt x="160923" y="424846"/>
                </a:cubicBezTo>
                <a:cubicBezTo>
                  <a:pt x="158549" y="423815"/>
                  <a:pt x="156381" y="422991"/>
                  <a:pt x="154213" y="422166"/>
                </a:cubicBezTo>
                <a:cubicBezTo>
                  <a:pt x="153283" y="418042"/>
                  <a:pt x="149567" y="415052"/>
                  <a:pt x="145230" y="415052"/>
                </a:cubicBezTo>
                <a:cubicBezTo>
                  <a:pt x="142752" y="415052"/>
                  <a:pt x="140275" y="416083"/>
                  <a:pt x="138519" y="417939"/>
                </a:cubicBezTo>
                <a:cubicBezTo>
                  <a:pt x="136248" y="417630"/>
                  <a:pt x="134080" y="417424"/>
                  <a:pt x="132118" y="417424"/>
                </a:cubicBezTo>
                <a:cubicBezTo>
                  <a:pt x="125407" y="417424"/>
                  <a:pt x="120555" y="419382"/>
                  <a:pt x="117664" y="423300"/>
                </a:cubicBezTo>
                <a:cubicBezTo>
                  <a:pt x="112089" y="430723"/>
                  <a:pt x="115393" y="442991"/>
                  <a:pt x="127059" y="458662"/>
                </a:cubicBezTo>
                <a:cubicBezTo>
                  <a:pt x="131602" y="464744"/>
                  <a:pt x="137281" y="471136"/>
                  <a:pt x="143888" y="477631"/>
                </a:cubicBezTo>
                <a:cubicBezTo>
                  <a:pt x="137281" y="484126"/>
                  <a:pt x="131602" y="490518"/>
                  <a:pt x="127059" y="496601"/>
                </a:cubicBezTo>
                <a:cubicBezTo>
                  <a:pt x="115393" y="512271"/>
                  <a:pt x="112089" y="524540"/>
                  <a:pt x="117664" y="531963"/>
                </a:cubicBezTo>
                <a:cubicBezTo>
                  <a:pt x="120555" y="535880"/>
                  <a:pt x="125407" y="537839"/>
                  <a:pt x="132118" y="537839"/>
                </a:cubicBezTo>
                <a:cubicBezTo>
                  <a:pt x="139552" y="537839"/>
                  <a:pt x="149463" y="535365"/>
                  <a:pt x="160923" y="530416"/>
                </a:cubicBezTo>
                <a:cubicBezTo>
                  <a:pt x="161336" y="531447"/>
                  <a:pt x="161646" y="532375"/>
                  <a:pt x="162059" y="533303"/>
                </a:cubicBezTo>
                <a:cubicBezTo>
                  <a:pt x="169390" y="549386"/>
                  <a:pt x="179611" y="558355"/>
                  <a:pt x="190761" y="558355"/>
                </a:cubicBezTo>
                <a:cubicBezTo>
                  <a:pt x="201912" y="558355"/>
                  <a:pt x="212029" y="549386"/>
                  <a:pt x="219360" y="533303"/>
                </a:cubicBezTo>
                <a:cubicBezTo>
                  <a:pt x="219773" y="532375"/>
                  <a:pt x="220186" y="531447"/>
                  <a:pt x="220599" y="530416"/>
                </a:cubicBezTo>
                <a:cubicBezTo>
                  <a:pt x="231956" y="535365"/>
                  <a:pt x="241971" y="537839"/>
                  <a:pt x="249301" y="537839"/>
                </a:cubicBezTo>
                <a:cubicBezTo>
                  <a:pt x="256012" y="537839"/>
                  <a:pt x="260865" y="535880"/>
                  <a:pt x="263755" y="531963"/>
                </a:cubicBezTo>
                <a:cubicBezTo>
                  <a:pt x="269331" y="524540"/>
                  <a:pt x="266130" y="512271"/>
                  <a:pt x="254360" y="496601"/>
                </a:cubicBezTo>
                <a:cubicBezTo>
                  <a:pt x="249817" y="490518"/>
                  <a:pt x="244139" y="484126"/>
                  <a:pt x="237531" y="477631"/>
                </a:cubicBezTo>
                <a:cubicBezTo>
                  <a:pt x="242694" y="472579"/>
                  <a:pt x="247236" y="467528"/>
                  <a:pt x="251160" y="462682"/>
                </a:cubicBezTo>
                <a:cubicBezTo>
                  <a:pt x="251573" y="462785"/>
                  <a:pt x="251882" y="462785"/>
                  <a:pt x="252192" y="462785"/>
                </a:cubicBezTo>
                <a:cubicBezTo>
                  <a:pt x="257251" y="462785"/>
                  <a:pt x="261381" y="458662"/>
                  <a:pt x="261381" y="453610"/>
                </a:cubicBezTo>
                <a:cubicBezTo>
                  <a:pt x="261381" y="452270"/>
                  <a:pt x="261071" y="450826"/>
                  <a:pt x="260452" y="449589"/>
                </a:cubicBezTo>
                <a:cubicBezTo>
                  <a:pt x="267162" y="438146"/>
                  <a:pt x="268298" y="429279"/>
                  <a:pt x="263755" y="423300"/>
                </a:cubicBezTo>
                <a:cubicBezTo>
                  <a:pt x="260865" y="419382"/>
                  <a:pt x="256012" y="417424"/>
                  <a:pt x="249301" y="417424"/>
                </a:cubicBezTo>
                <a:cubicBezTo>
                  <a:pt x="241971" y="417424"/>
                  <a:pt x="231956" y="420001"/>
                  <a:pt x="220599" y="424846"/>
                </a:cubicBezTo>
                <a:cubicBezTo>
                  <a:pt x="220186" y="423815"/>
                  <a:pt x="219773" y="422888"/>
                  <a:pt x="219360" y="421960"/>
                </a:cubicBezTo>
                <a:cubicBezTo>
                  <a:pt x="212029" y="405877"/>
                  <a:pt x="201912" y="397011"/>
                  <a:pt x="190761" y="397011"/>
                </a:cubicBezTo>
                <a:close/>
                <a:moveTo>
                  <a:pt x="15246" y="352474"/>
                </a:moveTo>
                <a:lnTo>
                  <a:pt x="370304" y="352474"/>
                </a:lnTo>
                <a:cubicBezTo>
                  <a:pt x="374537" y="352474"/>
                  <a:pt x="378666" y="354329"/>
                  <a:pt x="381557" y="357422"/>
                </a:cubicBezTo>
                <a:cubicBezTo>
                  <a:pt x="384448" y="360618"/>
                  <a:pt x="385790" y="364845"/>
                  <a:pt x="385377" y="369072"/>
                </a:cubicBezTo>
                <a:lnTo>
                  <a:pt x="355023" y="595057"/>
                </a:lnTo>
                <a:cubicBezTo>
                  <a:pt x="354301" y="602789"/>
                  <a:pt x="347796" y="608768"/>
                  <a:pt x="339950" y="608768"/>
                </a:cubicBezTo>
                <a:lnTo>
                  <a:pt x="45600" y="608768"/>
                </a:lnTo>
                <a:cubicBezTo>
                  <a:pt x="37753" y="608768"/>
                  <a:pt x="31249" y="602789"/>
                  <a:pt x="30423" y="595057"/>
                </a:cubicBezTo>
                <a:lnTo>
                  <a:pt x="69" y="369072"/>
                </a:lnTo>
                <a:cubicBezTo>
                  <a:pt x="-344" y="364845"/>
                  <a:pt x="1101" y="360618"/>
                  <a:pt x="3992" y="357422"/>
                </a:cubicBezTo>
                <a:cubicBezTo>
                  <a:pt x="6883" y="354329"/>
                  <a:pt x="10909" y="352474"/>
                  <a:pt x="15246" y="352474"/>
                </a:cubicBezTo>
                <a:close/>
                <a:moveTo>
                  <a:pt x="229886" y="196878"/>
                </a:moveTo>
                <a:lnTo>
                  <a:pt x="251679" y="215230"/>
                </a:lnTo>
                <a:lnTo>
                  <a:pt x="297227" y="236159"/>
                </a:lnTo>
                <a:cubicBezTo>
                  <a:pt x="303940" y="238943"/>
                  <a:pt x="310963" y="243376"/>
                  <a:pt x="313855" y="250387"/>
                </a:cubicBezTo>
                <a:cubicBezTo>
                  <a:pt x="313855" y="250387"/>
                  <a:pt x="333169" y="296163"/>
                  <a:pt x="341122" y="330599"/>
                </a:cubicBezTo>
                <a:lnTo>
                  <a:pt x="209538" y="330599"/>
                </a:lnTo>
                <a:lnTo>
                  <a:pt x="194769" y="231726"/>
                </a:lnTo>
                <a:close/>
                <a:moveTo>
                  <a:pt x="155647" y="196878"/>
                </a:moveTo>
                <a:lnTo>
                  <a:pt x="190747" y="231726"/>
                </a:lnTo>
                <a:lnTo>
                  <a:pt x="175881" y="330599"/>
                </a:lnTo>
                <a:lnTo>
                  <a:pt x="44465" y="330599"/>
                </a:lnTo>
                <a:cubicBezTo>
                  <a:pt x="52414" y="296163"/>
                  <a:pt x="71615" y="250387"/>
                  <a:pt x="71615" y="250387"/>
                </a:cubicBezTo>
                <a:cubicBezTo>
                  <a:pt x="75022" y="243067"/>
                  <a:pt x="81629" y="238943"/>
                  <a:pt x="88339" y="236159"/>
                </a:cubicBezTo>
                <a:lnTo>
                  <a:pt x="133762" y="215230"/>
                </a:lnTo>
                <a:close/>
                <a:moveTo>
                  <a:pt x="160716" y="70485"/>
                </a:moveTo>
                <a:cubicBezTo>
                  <a:pt x="145085" y="69041"/>
                  <a:pt x="126549" y="77366"/>
                  <a:pt x="129130" y="98962"/>
                </a:cubicBezTo>
                <a:cubicBezTo>
                  <a:pt x="133777" y="138753"/>
                  <a:pt x="157321" y="178647"/>
                  <a:pt x="191398" y="178647"/>
                </a:cubicBezTo>
                <a:cubicBezTo>
                  <a:pt x="223822" y="178647"/>
                  <a:pt x="253253" y="130712"/>
                  <a:pt x="253666" y="98962"/>
                </a:cubicBezTo>
                <a:cubicBezTo>
                  <a:pt x="254182" y="45976"/>
                  <a:pt x="217317" y="105147"/>
                  <a:pt x="174876" y="100611"/>
                </a:cubicBezTo>
                <a:cubicBezTo>
                  <a:pt x="189075" y="83138"/>
                  <a:pt x="176347" y="71928"/>
                  <a:pt x="160716" y="70485"/>
                </a:cubicBezTo>
                <a:close/>
                <a:moveTo>
                  <a:pt x="191398" y="0"/>
                </a:moveTo>
                <a:cubicBezTo>
                  <a:pt x="249845" y="0"/>
                  <a:pt x="273802" y="30101"/>
                  <a:pt x="273286" y="80407"/>
                </a:cubicBezTo>
                <a:cubicBezTo>
                  <a:pt x="272563" y="152979"/>
                  <a:pt x="225991" y="196172"/>
                  <a:pt x="191398" y="196172"/>
                </a:cubicBezTo>
                <a:cubicBezTo>
                  <a:pt x="150816" y="196172"/>
                  <a:pt x="110130" y="152979"/>
                  <a:pt x="109407" y="80407"/>
                </a:cubicBezTo>
                <a:cubicBezTo>
                  <a:pt x="108891" y="30101"/>
                  <a:pt x="132848" y="0"/>
                  <a:pt x="191398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</p:sp>
      <p:sp>
        <p:nvSpPr>
          <p:cNvPr id="14" name="female-instructor-giving-a-lecture-standing-at-the-side-of-a-screen_43195">
            <a:extLst>
              <a:ext uri="{FF2B5EF4-FFF2-40B4-BE49-F238E27FC236}">
                <a16:creationId xmlns:a16="http://schemas.microsoft.com/office/drawing/2014/main" id="{A3CC8630-8483-4AC1-83CF-8E9426A7DDC8}"/>
              </a:ext>
            </a:extLst>
          </p:cNvPr>
          <p:cNvSpPr>
            <a:spLocks noChangeAspect="1"/>
          </p:cNvSpPr>
          <p:nvPr/>
        </p:nvSpPr>
        <p:spPr bwMode="auto">
          <a:xfrm>
            <a:off x="107504" y="6525344"/>
            <a:ext cx="294652" cy="253054"/>
          </a:xfrm>
          <a:custGeom>
            <a:avLst/>
            <a:gdLst>
              <a:gd name="connsiteX0" fmla="*/ 45866 w 605777"/>
              <a:gd name="connsiteY0" fmla="*/ 339787 h 520255"/>
              <a:gd name="connsiteX1" fmla="*/ 147937 w 605777"/>
              <a:gd name="connsiteY1" fmla="*/ 341219 h 520255"/>
              <a:gd name="connsiteX2" fmla="*/ 150812 w 605777"/>
              <a:gd name="connsiteY2" fmla="*/ 408537 h 520255"/>
              <a:gd name="connsiteX3" fmla="*/ 130685 w 605777"/>
              <a:gd name="connsiteY3" fmla="*/ 408537 h 520255"/>
              <a:gd name="connsiteX4" fmla="*/ 133561 w 605777"/>
              <a:gd name="connsiteY4" fmla="*/ 447208 h 520255"/>
              <a:gd name="connsiteX5" fmla="*/ 129248 w 605777"/>
              <a:gd name="connsiteY5" fmla="*/ 501635 h 520255"/>
              <a:gd name="connsiteX6" fmla="*/ 150812 w 605777"/>
              <a:gd name="connsiteY6" fmla="*/ 510229 h 520255"/>
              <a:gd name="connsiteX7" fmla="*/ 136436 w 605777"/>
              <a:gd name="connsiteY7" fmla="*/ 520255 h 520255"/>
              <a:gd name="connsiteX8" fmla="*/ 127810 w 605777"/>
              <a:gd name="connsiteY8" fmla="*/ 520255 h 520255"/>
              <a:gd name="connsiteX9" fmla="*/ 104808 w 605777"/>
              <a:gd name="connsiteY9" fmla="*/ 520255 h 520255"/>
              <a:gd name="connsiteX10" fmla="*/ 103371 w 605777"/>
              <a:gd name="connsiteY10" fmla="*/ 520255 h 520255"/>
              <a:gd name="connsiteX11" fmla="*/ 103371 w 605777"/>
              <a:gd name="connsiteY11" fmla="*/ 511661 h 520255"/>
              <a:gd name="connsiteX12" fmla="*/ 106246 w 605777"/>
              <a:gd name="connsiteY12" fmla="*/ 505932 h 520255"/>
              <a:gd name="connsiteX13" fmla="*/ 111996 w 605777"/>
              <a:gd name="connsiteY13" fmla="*/ 447208 h 520255"/>
              <a:gd name="connsiteX14" fmla="*/ 109121 w 605777"/>
              <a:gd name="connsiteY14" fmla="*/ 408537 h 520255"/>
              <a:gd name="connsiteX15" fmla="*/ 96183 w 605777"/>
              <a:gd name="connsiteY15" fmla="*/ 408537 h 520255"/>
              <a:gd name="connsiteX16" fmla="*/ 96183 w 605777"/>
              <a:gd name="connsiteY16" fmla="*/ 507364 h 520255"/>
              <a:gd name="connsiteX17" fmla="*/ 97620 w 605777"/>
              <a:gd name="connsiteY17" fmla="*/ 511661 h 520255"/>
              <a:gd name="connsiteX18" fmla="*/ 97620 w 605777"/>
              <a:gd name="connsiteY18" fmla="*/ 520255 h 520255"/>
              <a:gd name="connsiteX19" fmla="*/ 96183 w 605777"/>
              <a:gd name="connsiteY19" fmla="*/ 520255 h 520255"/>
              <a:gd name="connsiteX20" fmla="*/ 74618 w 605777"/>
              <a:gd name="connsiteY20" fmla="*/ 520255 h 520255"/>
              <a:gd name="connsiteX21" fmla="*/ 65993 w 605777"/>
              <a:gd name="connsiteY21" fmla="*/ 520255 h 520255"/>
              <a:gd name="connsiteX22" fmla="*/ 51617 w 605777"/>
              <a:gd name="connsiteY22" fmla="*/ 510229 h 520255"/>
              <a:gd name="connsiteX23" fmla="*/ 74618 w 605777"/>
              <a:gd name="connsiteY23" fmla="*/ 501635 h 520255"/>
              <a:gd name="connsiteX24" fmla="*/ 74618 w 605777"/>
              <a:gd name="connsiteY24" fmla="*/ 408537 h 520255"/>
              <a:gd name="connsiteX25" fmla="*/ 42991 w 605777"/>
              <a:gd name="connsiteY25" fmla="*/ 408537 h 520255"/>
              <a:gd name="connsiteX26" fmla="*/ 219630 w 605777"/>
              <a:gd name="connsiteY26" fmla="*/ 117545 h 520255"/>
              <a:gd name="connsiteX27" fmla="*/ 219630 w 605777"/>
              <a:gd name="connsiteY27" fmla="*/ 182051 h 520255"/>
              <a:gd name="connsiteX28" fmla="*/ 285663 w 605777"/>
              <a:gd name="connsiteY28" fmla="*/ 197819 h 520255"/>
              <a:gd name="connsiteX29" fmla="*/ 285663 w 605777"/>
              <a:gd name="connsiteY29" fmla="*/ 240823 h 520255"/>
              <a:gd name="connsiteX30" fmla="*/ 219630 w 605777"/>
              <a:gd name="connsiteY30" fmla="*/ 233656 h 520255"/>
              <a:gd name="connsiteX31" fmla="*/ 219630 w 605777"/>
              <a:gd name="connsiteY31" fmla="*/ 341166 h 520255"/>
              <a:gd name="connsiteX32" fmla="*/ 377534 w 605777"/>
              <a:gd name="connsiteY32" fmla="*/ 341166 h 520255"/>
              <a:gd name="connsiteX33" fmla="*/ 403373 w 605777"/>
              <a:gd name="connsiteY33" fmla="*/ 341166 h 520255"/>
              <a:gd name="connsiteX34" fmla="*/ 581374 w 605777"/>
              <a:gd name="connsiteY34" fmla="*/ 341166 h 520255"/>
              <a:gd name="connsiteX35" fmla="*/ 581374 w 605777"/>
              <a:gd name="connsiteY35" fmla="*/ 117545 h 520255"/>
              <a:gd name="connsiteX36" fmla="*/ 107662 w 605777"/>
              <a:gd name="connsiteY36" fmla="*/ 78841 h 520255"/>
              <a:gd name="connsiteX37" fmla="*/ 107662 w 605777"/>
              <a:gd name="connsiteY37" fmla="*/ 98909 h 520255"/>
              <a:gd name="connsiteX38" fmla="*/ 144985 w 605777"/>
              <a:gd name="connsiteY38" fmla="*/ 98909 h 520255"/>
              <a:gd name="connsiteX39" fmla="*/ 144985 w 605777"/>
              <a:gd name="connsiteY39" fmla="*/ 78841 h 520255"/>
              <a:gd name="connsiteX40" fmla="*/ 48807 w 605777"/>
              <a:gd name="connsiteY40" fmla="*/ 78841 h 520255"/>
              <a:gd name="connsiteX41" fmla="*/ 48807 w 605777"/>
              <a:gd name="connsiteY41" fmla="*/ 98909 h 520255"/>
              <a:gd name="connsiteX42" fmla="*/ 87565 w 605777"/>
              <a:gd name="connsiteY42" fmla="*/ 98909 h 520255"/>
              <a:gd name="connsiteX43" fmla="*/ 87565 w 605777"/>
              <a:gd name="connsiteY43" fmla="*/ 78841 h 520255"/>
              <a:gd name="connsiteX44" fmla="*/ 68904 w 605777"/>
              <a:gd name="connsiteY44" fmla="*/ 38704 h 520255"/>
              <a:gd name="connsiteX45" fmla="*/ 24403 w 605777"/>
              <a:gd name="connsiteY45" fmla="*/ 77407 h 520255"/>
              <a:gd name="connsiteX46" fmla="*/ 24403 w 605777"/>
              <a:gd name="connsiteY46" fmla="*/ 81708 h 520255"/>
              <a:gd name="connsiteX47" fmla="*/ 43065 w 605777"/>
              <a:gd name="connsiteY47" fmla="*/ 84575 h 520255"/>
              <a:gd name="connsiteX48" fmla="*/ 43065 w 605777"/>
              <a:gd name="connsiteY48" fmla="*/ 73107 h 520255"/>
              <a:gd name="connsiteX49" fmla="*/ 93307 w 605777"/>
              <a:gd name="connsiteY49" fmla="*/ 73107 h 520255"/>
              <a:gd name="connsiteX50" fmla="*/ 93307 w 605777"/>
              <a:gd name="connsiteY50" fmla="*/ 84575 h 520255"/>
              <a:gd name="connsiteX51" fmla="*/ 101920 w 605777"/>
              <a:gd name="connsiteY51" fmla="*/ 84575 h 520255"/>
              <a:gd name="connsiteX52" fmla="*/ 101920 w 605777"/>
              <a:gd name="connsiteY52" fmla="*/ 73107 h 520255"/>
              <a:gd name="connsiteX53" fmla="*/ 150726 w 605777"/>
              <a:gd name="connsiteY53" fmla="*/ 73107 h 520255"/>
              <a:gd name="connsiteX54" fmla="*/ 150726 w 605777"/>
              <a:gd name="connsiteY54" fmla="*/ 84575 h 520255"/>
              <a:gd name="connsiteX55" fmla="*/ 166517 w 605777"/>
              <a:gd name="connsiteY55" fmla="*/ 81708 h 520255"/>
              <a:gd name="connsiteX56" fmla="*/ 159339 w 605777"/>
              <a:gd name="connsiteY56" fmla="*/ 63073 h 520255"/>
              <a:gd name="connsiteX57" fmla="*/ 68904 w 605777"/>
              <a:gd name="connsiteY57" fmla="*/ 38704 h 520255"/>
              <a:gd name="connsiteX58" fmla="*/ 94742 w 605777"/>
              <a:gd name="connsiteY58" fmla="*/ 0 h 520255"/>
              <a:gd name="connsiteX59" fmla="*/ 180872 w 605777"/>
              <a:gd name="connsiteY59" fmla="*/ 134746 h 520255"/>
              <a:gd name="connsiteX60" fmla="*/ 175130 w 605777"/>
              <a:gd name="connsiteY60" fmla="*/ 172016 h 520255"/>
              <a:gd name="connsiteX61" fmla="*/ 202404 w 605777"/>
              <a:gd name="connsiteY61" fmla="*/ 177750 h 520255"/>
              <a:gd name="connsiteX62" fmla="*/ 202404 w 605777"/>
              <a:gd name="connsiteY62" fmla="*/ 117545 h 520255"/>
              <a:gd name="connsiteX63" fmla="*/ 190920 w 605777"/>
              <a:gd name="connsiteY63" fmla="*/ 117545 h 520255"/>
              <a:gd name="connsiteX64" fmla="*/ 190920 w 605777"/>
              <a:gd name="connsiteY64" fmla="*/ 93176 h 520255"/>
              <a:gd name="connsiteX65" fmla="*/ 202404 w 605777"/>
              <a:gd name="connsiteY65" fmla="*/ 93176 h 520255"/>
              <a:gd name="connsiteX66" fmla="*/ 371792 w 605777"/>
              <a:gd name="connsiteY66" fmla="*/ 93176 h 520255"/>
              <a:gd name="connsiteX67" fmla="*/ 371792 w 605777"/>
              <a:gd name="connsiteY67" fmla="*/ 73107 h 520255"/>
              <a:gd name="connsiteX68" fmla="*/ 420599 w 605777"/>
              <a:gd name="connsiteY68" fmla="*/ 73107 h 520255"/>
              <a:gd name="connsiteX69" fmla="*/ 420599 w 605777"/>
              <a:gd name="connsiteY69" fmla="*/ 93176 h 520255"/>
              <a:gd name="connsiteX70" fmla="*/ 598600 w 605777"/>
              <a:gd name="connsiteY70" fmla="*/ 93176 h 520255"/>
              <a:gd name="connsiteX71" fmla="*/ 605777 w 605777"/>
              <a:gd name="connsiteY71" fmla="*/ 93176 h 520255"/>
              <a:gd name="connsiteX72" fmla="*/ 605777 w 605777"/>
              <a:gd name="connsiteY72" fmla="*/ 117545 h 520255"/>
              <a:gd name="connsiteX73" fmla="*/ 598600 w 605777"/>
              <a:gd name="connsiteY73" fmla="*/ 117545 h 520255"/>
              <a:gd name="connsiteX74" fmla="*/ 598600 w 605777"/>
              <a:gd name="connsiteY74" fmla="*/ 358368 h 520255"/>
              <a:gd name="connsiteX75" fmla="*/ 403373 w 605777"/>
              <a:gd name="connsiteY75" fmla="*/ 358368 h 520255"/>
              <a:gd name="connsiteX76" fmla="*/ 403373 w 605777"/>
              <a:gd name="connsiteY76" fmla="*/ 402805 h 520255"/>
              <a:gd name="connsiteX77" fmla="*/ 500986 w 605777"/>
              <a:gd name="connsiteY77" fmla="*/ 511749 h 520255"/>
              <a:gd name="connsiteX78" fmla="*/ 465099 w 605777"/>
              <a:gd name="connsiteY78" fmla="*/ 511749 h 520255"/>
              <a:gd name="connsiteX79" fmla="*/ 400502 w 605777"/>
              <a:gd name="connsiteY79" fmla="*/ 438642 h 520255"/>
              <a:gd name="connsiteX80" fmla="*/ 400502 w 605777"/>
              <a:gd name="connsiteY80" fmla="*/ 511749 h 520255"/>
              <a:gd name="connsiteX81" fmla="*/ 380405 w 605777"/>
              <a:gd name="connsiteY81" fmla="*/ 511749 h 520255"/>
              <a:gd name="connsiteX82" fmla="*/ 380405 w 605777"/>
              <a:gd name="connsiteY82" fmla="*/ 438642 h 520255"/>
              <a:gd name="connsiteX83" fmla="*/ 315808 w 605777"/>
              <a:gd name="connsiteY83" fmla="*/ 511749 h 520255"/>
              <a:gd name="connsiteX84" fmla="*/ 281356 w 605777"/>
              <a:gd name="connsiteY84" fmla="*/ 511749 h 520255"/>
              <a:gd name="connsiteX85" fmla="*/ 377534 w 605777"/>
              <a:gd name="connsiteY85" fmla="*/ 402805 h 520255"/>
              <a:gd name="connsiteX86" fmla="*/ 377534 w 605777"/>
              <a:gd name="connsiteY86" fmla="*/ 358368 h 520255"/>
              <a:gd name="connsiteX87" fmla="*/ 202404 w 605777"/>
              <a:gd name="connsiteY87" fmla="*/ 358368 h 520255"/>
              <a:gd name="connsiteX88" fmla="*/ 202404 w 605777"/>
              <a:gd name="connsiteY88" fmla="*/ 230789 h 520255"/>
              <a:gd name="connsiteX89" fmla="*/ 147856 w 605777"/>
              <a:gd name="connsiteY89" fmla="*/ 223621 h 520255"/>
              <a:gd name="connsiteX90" fmla="*/ 139243 w 605777"/>
              <a:gd name="connsiteY90" fmla="*/ 273793 h 520255"/>
              <a:gd name="connsiteX91" fmla="*/ 147856 w 605777"/>
              <a:gd name="connsiteY91" fmla="*/ 333999 h 520255"/>
              <a:gd name="connsiteX92" fmla="*/ 123452 w 605777"/>
              <a:gd name="connsiteY92" fmla="*/ 333999 h 520255"/>
              <a:gd name="connsiteX93" fmla="*/ 99049 w 605777"/>
              <a:gd name="connsiteY93" fmla="*/ 333999 h 520255"/>
              <a:gd name="connsiteX94" fmla="*/ 99049 w 605777"/>
              <a:gd name="connsiteY94" fmla="*/ 227922 h 520255"/>
              <a:gd name="connsiteX95" fmla="*/ 123452 w 605777"/>
              <a:gd name="connsiteY95" fmla="*/ 183484 h 520255"/>
              <a:gd name="connsiteX96" fmla="*/ 114839 w 605777"/>
              <a:gd name="connsiteY96" fmla="*/ 179184 h 520255"/>
              <a:gd name="connsiteX97" fmla="*/ 114839 w 605777"/>
              <a:gd name="connsiteY97" fmla="*/ 153381 h 520255"/>
              <a:gd name="connsiteX98" fmla="*/ 166517 w 605777"/>
              <a:gd name="connsiteY98" fmla="*/ 90309 h 520255"/>
              <a:gd name="connsiteX99" fmla="*/ 150726 w 605777"/>
              <a:gd name="connsiteY99" fmla="*/ 93176 h 520255"/>
              <a:gd name="connsiteX100" fmla="*/ 150726 w 605777"/>
              <a:gd name="connsiteY100" fmla="*/ 103210 h 520255"/>
              <a:gd name="connsiteX101" fmla="*/ 101920 w 605777"/>
              <a:gd name="connsiteY101" fmla="*/ 103210 h 520255"/>
              <a:gd name="connsiteX102" fmla="*/ 101920 w 605777"/>
              <a:gd name="connsiteY102" fmla="*/ 96043 h 520255"/>
              <a:gd name="connsiteX103" fmla="*/ 93307 w 605777"/>
              <a:gd name="connsiteY103" fmla="*/ 96043 h 520255"/>
              <a:gd name="connsiteX104" fmla="*/ 93307 w 605777"/>
              <a:gd name="connsiteY104" fmla="*/ 103210 h 520255"/>
              <a:gd name="connsiteX105" fmla="*/ 43065 w 605777"/>
              <a:gd name="connsiteY105" fmla="*/ 103210 h 520255"/>
              <a:gd name="connsiteX106" fmla="*/ 43065 w 605777"/>
              <a:gd name="connsiteY106" fmla="*/ 91742 h 520255"/>
              <a:gd name="connsiteX107" fmla="*/ 24403 w 605777"/>
              <a:gd name="connsiteY107" fmla="*/ 88875 h 520255"/>
              <a:gd name="connsiteX108" fmla="*/ 74646 w 605777"/>
              <a:gd name="connsiteY108" fmla="*/ 151948 h 520255"/>
              <a:gd name="connsiteX109" fmla="*/ 74646 w 605777"/>
              <a:gd name="connsiteY109" fmla="*/ 179184 h 520255"/>
              <a:gd name="connsiteX110" fmla="*/ 67468 w 605777"/>
              <a:gd name="connsiteY110" fmla="*/ 182051 h 520255"/>
              <a:gd name="connsiteX111" fmla="*/ 93307 w 605777"/>
              <a:gd name="connsiteY111" fmla="*/ 229355 h 520255"/>
              <a:gd name="connsiteX112" fmla="*/ 93307 w 605777"/>
              <a:gd name="connsiteY112" fmla="*/ 333999 h 520255"/>
              <a:gd name="connsiteX113" fmla="*/ 45936 w 605777"/>
              <a:gd name="connsiteY113" fmla="*/ 333999 h 520255"/>
              <a:gd name="connsiteX114" fmla="*/ 53113 w 605777"/>
              <a:gd name="connsiteY114" fmla="*/ 276660 h 520255"/>
              <a:gd name="connsiteX115" fmla="*/ 40194 w 605777"/>
              <a:gd name="connsiteY115" fmla="*/ 232222 h 520255"/>
              <a:gd name="connsiteX116" fmla="*/ 28710 w 605777"/>
              <a:gd name="connsiteY116" fmla="*/ 318230 h 520255"/>
              <a:gd name="connsiteX117" fmla="*/ 0 w 605777"/>
              <a:gd name="connsiteY117" fmla="*/ 316797 h 520255"/>
              <a:gd name="connsiteX118" fmla="*/ 12919 w 605777"/>
              <a:gd name="connsiteY118" fmla="*/ 194952 h 520255"/>
              <a:gd name="connsiteX119" fmla="*/ 5742 w 605777"/>
              <a:gd name="connsiteY119" fmla="*/ 87442 h 520255"/>
              <a:gd name="connsiteX120" fmla="*/ 48807 w 605777"/>
              <a:gd name="connsiteY120" fmla="*/ 12901 h 520255"/>
              <a:gd name="connsiteX121" fmla="*/ 60291 w 605777"/>
              <a:gd name="connsiteY121" fmla="*/ 11468 h 520255"/>
              <a:gd name="connsiteX122" fmla="*/ 68904 w 605777"/>
              <a:gd name="connsiteY122" fmla="*/ 2867 h 520255"/>
              <a:gd name="connsiteX123" fmla="*/ 94742 w 605777"/>
              <a:gd name="connsiteY123" fmla="*/ 0 h 520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605777" h="520255">
                <a:moveTo>
                  <a:pt x="45866" y="339787"/>
                </a:moveTo>
                <a:lnTo>
                  <a:pt x="147937" y="341219"/>
                </a:lnTo>
                <a:lnTo>
                  <a:pt x="150812" y="408537"/>
                </a:lnTo>
                <a:lnTo>
                  <a:pt x="130685" y="408537"/>
                </a:lnTo>
                <a:lnTo>
                  <a:pt x="133561" y="447208"/>
                </a:lnTo>
                <a:lnTo>
                  <a:pt x="129248" y="501635"/>
                </a:lnTo>
                <a:cubicBezTo>
                  <a:pt x="142186" y="501635"/>
                  <a:pt x="150812" y="504500"/>
                  <a:pt x="150812" y="510229"/>
                </a:cubicBezTo>
                <a:cubicBezTo>
                  <a:pt x="150812" y="517390"/>
                  <a:pt x="136436" y="520255"/>
                  <a:pt x="136436" y="520255"/>
                </a:cubicBezTo>
                <a:lnTo>
                  <a:pt x="127810" y="520255"/>
                </a:lnTo>
                <a:lnTo>
                  <a:pt x="104808" y="520255"/>
                </a:lnTo>
                <a:lnTo>
                  <a:pt x="103371" y="520255"/>
                </a:lnTo>
                <a:lnTo>
                  <a:pt x="103371" y="511661"/>
                </a:lnTo>
                <a:cubicBezTo>
                  <a:pt x="103371" y="508797"/>
                  <a:pt x="104808" y="507364"/>
                  <a:pt x="106246" y="505932"/>
                </a:cubicBezTo>
                <a:lnTo>
                  <a:pt x="111996" y="447208"/>
                </a:lnTo>
                <a:lnTo>
                  <a:pt x="109121" y="408537"/>
                </a:lnTo>
                <a:lnTo>
                  <a:pt x="96183" y="408537"/>
                </a:lnTo>
                <a:lnTo>
                  <a:pt x="96183" y="507364"/>
                </a:lnTo>
                <a:cubicBezTo>
                  <a:pt x="97620" y="508797"/>
                  <a:pt x="97620" y="510229"/>
                  <a:pt x="97620" y="511661"/>
                </a:cubicBezTo>
                <a:lnTo>
                  <a:pt x="97620" y="520255"/>
                </a:lnTo>
                <a:lnTo>
                  <a:pt x="96183" y="520255"/>
                </a:lnTo>
                <a:lnTo>
                  <a:pt x="74618" y="520255"/>
                </a:lnTo>
                <a:lnTo>
                  <a:pt x="65993" y="520255"/>
                </a:lnTo>
                <a:cubicBezTo>
                  <a:pt x="65993" y="520255"/>
                  <a:pt x="51617" y="517390"/>
                  <a:pt x="51617" y="510229"/>
                </a:cubicBezTo>
                <a:cubicBezTo>
                  <a:pt x="51617" y="504500"/>
                  <a:pt x="60242" y="501635"/>
                  <a:pt x="74618" y="501635"/>
                </a:cubicBezTo>
                <a:lnTo>
                  <a:pt x="74618" y="408537"/>
                </a:lnTo>
                <a:lnTo>
                  <a:pt x="42991" y="408537"/>
                </a:lnTo>
                <a:close/>
                <a:moveTo>
                  <a:pt x="219630" y="117545"/>
                </a:moveTo>
                <a:lnTo>
                  <a:pt x="219630" y="182051"/>
                </a:lnTo>
                <a:lnTo>
                  <a:pt x="285663" y="197819"/>
                </a:lnTo>
                <a:lnTo>
                  <a:pt x="285663" y="240823"/>
                </a:lnTo>
                <a:lnTo>
                  <a:pt x="219630" y="233656"/>
                </a:lnTo>
                <a:lnTo>
                  <a:pt x="219630" y="341166"/>
                </a:lnTo>
                <a:lnTo>
                  <a:pt x="377534" y="341166"/>
                </a:lnTo>
                <a:lnTo>
                  <a:pt x="403373" y="341166"/>
                </a:lnTo>
                <a:lnTo>
                  <a:pt x="581374" y="341166"/>
                </a:lnTo>
                <a:lnTo>
                  <a:pt x="581374" y="117545"/>
                </a:lnTo>
                <a:close/>
                <a:moveTo>
                  <a:pt x="107662" y="78841"/>
                </a:moveTo>
                <a:lnTo>
                  <a:pt x="107662" y="98909"/>
                </a:lnTo>
                <a:lnTo>
                  <a:pt x="144985" y="98909"/>
                </a:lnTo>
                <a:lnTo>
                  <a:pt x="144985" y="78841"/>
                </a:lnTo>
                <a:close/>
                <a:moveTo>
                  <a:pt x="48807" y="78841"/>
                </a:moveTo>
                <a:lnTo>
                  <a:pt x="48807" y="98909"/>
                </a:lnTo>
                <a:lnTo>
                  <a:pt x="87565" y="98909"/>
                </a:lnTo>
                <a:lnTo>
                  <a:pt x="87565" y="78841"/>
                </a:lnTo>
                <a:close/>
                <a:moveTo>
                  <a:pt x="68904" y="38704"/>
                </a:moveTo>
                <a:cubicBezTo>
                  <a:pt x="67468" y="60206"/>
                  <a:pt x="44500" y="75974"/>
                  <a:pt x="24403" y="77407"/>
                </a:cubicBezTo>
                <a:cubicBezTo>
                  <a:pt x="24403" y="78841"/>
                  <a:pt x="24403" y="80274"/>
                  <a:pt x="24403" y="81708"/>
                </a:cubicBezTo>
                <a:lnTo>
                  <a:pt x="43065" y="84575"/>
                </a:lnTo>
                <a:lnTo>
                  <a:pt x="43065" y="73107"/>
                </a:lnTo>
                <a:lnTo>
                  <a:pt x="93307" y="73107"/>
                </a:lnTo>
                <a:lnTo>
                  <a:pt x="93307" y="84575"/>
                </a:lnTo>
                <a:lnTo>
                  <a:pt x="101920" y="84575"/>
                </a:lnTo>
                <a:lnTo>
                  <a:pt x="101920" y="73107"/>
                </a:lnTo>
                <a:lnTo>
                  <a:pt x="150726" y="73107"/>
                </a:lnTo>
                <a:lnTo>
                  <a:pt x="150726" y="84575"/>
                </a:lnTo>
                <a:lnTo>
                  <a:pt x="166517" y="81708"/>
                </a:lnTo>
                <a:cubicBezTo>
                  <a:pt x="166517" y="71674"/>
                  <a:pt x="163646" y="64506"/>
                  <a:pt x="159339" y="63073"/>
                </a:cubicBezTo>
                <a:cubicBezTo>
                  <a:pt x="129194" y="60206"/>
                  <a:pt x="93307" y="58772"/>
                  <a:pt x="68904" y="38704"/>
                </a:cubicBezTo>
                <a:close/>
                <a:moveTo>
                  <a:pt x="94742" y="0"/>
                </a:moveTo>
                <a:cubicBezTo>
                  <a:pt x="185178" y="0"/>
                  <a:pt x="182307" y="103210"/>
                  <a:pt x="180872" y="134746"/>
                </a:cubicBezTo>
                <a:cubicBezTo>
                  <a:pt x="180872" y="153381"/>
                  <a:pt x="176565" y="159115"/>
                  <a:pt x="175130" y="172016"/>
                </a:cubicBezTo>
                <a:lnTo>
                  <a:pt x="202404" y="177750"/>
                </a:lnTo>
                <a:lnTo>
                  <a:pt x="202404" y="117545"/>
                </a:lnTo>
                <a:lnTo>
                  <a:pt x="190920" y="117545"/>
                </a:lnTo>
                <a:lnTo>
                  <a:pt x="190920" y="93176"/>
                </a:lnTo>
                <a:lnTo>
                  <a:pt x="202404" y="93176"/>
                </a:lnTo>
                <a:lnTo>
                  <a:pt x="371792" y="93176"/>
                </a:lnTo>
                <a:lnTo>
                  <a:pt x="371792" y="73107"/>
                </a:lnTo>
                <a:lnTo>
                  <a:pt x="420599" y="73107"/>
                </a:lnTo>
                <a:lnTo>
                  <a:pt x="420599" y="93176"/>
                </a:lnTo>
                <a:lnTo>
                  <a:pt x="598600" y="93176"/>
                </a:lnTo>
                <a:lnTo>
                  <a:pt x="605777" y="93176"/>
                </a:lnTo>
                <a:lnTo>
                  <a:pt x="605777" y="117545"/>
                </a:lnTo>
                <a:lnTo>
                  <a:pt x="598600" y="117545"/>
                </a:lnTo>
                <a:lnTo>
                  <a:pt x="598600" y="358368"/>
                </a:lnTo>
                <a:lnTo>
                  <a:pt x="403373" y="358368"/>
                </a:lnTo>
                <a:lnTo>
                  <a:pt x="403373" y="402805"/>
                </a:lnTo>
                <a:lnTo>
                  <a:pt x="500986" y="511749"/>
                </a:lnTo>
                <a:lnTo>
                  <a:pt x="465099" y="511749"/>
                </a:lnTo>
                <a:lnTo>
                  <a:pt x="400502" y="438642"/>
                </a:lnTo>
                <a:lnTo>
                  <a:pt x="400502" y="511749"/>
                </a:lnTo>
                <a:lnTo>
                  <a:pt x="380405" y="511749"/>
                </a:lnTo>
                <a:lnTo>
                  <a:pt x="380405" y="438642"/>
                </a:lnTo>
                <a:lnTo>
                  <a:pt x="315808" y="511749"/>
                </a:lnTo>
                <a:lnTo>
                  <a:pt x="281356" y="511749"/>
                </a:lnTo>
                <a:lnTo>
                  <a:pt x="377534" y="402805"/>
                </a:lnTo>
                <a:lnTo>
                  <a:pt x="377534" y="358368"/>
                </a:lnTo>
                <a:lnTo>
                  <a:pt x="202404" y="358368"/>
                </a:lnTo>
                <a:lnTo>
                  <a:pt x="202404" y="230789"/>
                </a:lnTo>
                <a:lnTo>
                  <a:pt x="147856" y="223621"/>
                </a:lnTo>
                <a:cubicBezTo>
                  <a:pt x="142114" y="249424"/>
                  <a:pt x="139243" y="273793"/>
                  <a:pt x="139243" y="273793"/>
                </a:cubicBezTo>
                <a:lnTo>
                  <a:pt x="147856" y="333999"/>
                </a:lnTo>
                <a:lnTo>
                  <a:pt x="123452" y="333999"/>
                </a:lnTo>
                <a:lnTo>
                  <a:pt x="99049" y="333999"/>
                </a:lnTo>
                <a:lnTo>
                  <a:pt x="99049" y="227922"/>
                </a:lnTo>
                <a:lnTo>
                  <a:pt x="123452" y="183484"/>
                </a:lnTo>
                <a:lnTo>
                  <a:pt x="114839" y="179184"/>
                </a:lnTo>
                <a:lnTo>
                  <a:pt x="114839" y="153381"/>
                </a:lnTo>
                <a:cubicBezTo>
                  <a:pt x="153597" y="149081"/>
                  <a:pt x="166517" y="114678"/>
                  <a:pt x="166517" y="90309"/>
                </a:cubicBezTo>
                <a:lnTo>
                  <a:pt x="150726" y="93176"/>
                </a:lnTo>
                <a:lnTo>
                  <a:pt x="150726" y="103210"/>
                </a:lnTo>
                <a:lnTo>
                  <a:pt x="101920" y="103210"/>
                </a:lnTo>
                <a:lnTo>
                  <a:pt x="101920" y="96043"/>
                </a:lnTo>
                <a:lnTo>
                  <a:pt x="93307" y="96043"/>
                </a:lnTo>
                <a:lnTo>
                  <a:pt x="93307" y="103210"/>
                </a:lnTo>
                <a:lnTo>
                  <a:pt x="43065" y="103210"/>
                </a:lnTo>
                <a:lnTo>
                  <a:pt x="43065" y="91742"/>
                </a:lnTo>
                <a:lnTo>
                  <a:pt x="24403" y="88875"/>
                </a:lnTo>
                <a:cubicBezTo>
                  <a:pt x="25839" y="118978"/>
                  <a:pt x="47371" y="143347"/>
                  <a:pt x="74646" y="151948"/>
                </a:cubicBezTo>
                <a:lnTo>
                  <a:pt x="74646" y="179184"/>
                </a:lnTo>
                <a:lnTo>
                  <a:pt x="67468" y="182051"/>
                </a:lnTo>
                <a:lnTo>
                  <a:pt x="93307" y="229355"/>
                </a:lnTo>
                <a:lnTo>
                  <a:pt x="93307" y="333999"/>
                </a:lnTo>
                <a:lnTo>
                  <a:pt x="45936" y="333999"/>
                </a:lnTo>
                <a:lnTo>
                  <a:pt x="53113" y="276660"/>
                </a:lnTo>
                <a:cubicBezTo>
                  <a:pt x="53113" y="276660"/>
                  <a:pt x="45936" y="255158"/>
                  <a:pt x="40194" y="232222"/>
                </a:cubicBezTo>
                <a:lnTo>
                  <a:pt x="28710" y="318230"/>
                </a:lnTo>
                <a:lnTo>
                  <a:pt x="0" y="316797"/>
                </a:lnTo>
                <a:lnTo>
                  <a:pt x="12919" y="194952"/>
                </a:lnTo>
                <a:lnTo>
                  <a:pt x="5742" y="87442"/>
                </a:lnTo>
                <a:cubicBezTo>
                  <a:pt x="5742" y="87442"/>
                  <a:pt x="4306" y="34403"/>
                  <a:pt x="48807" y="12901"/>
                </a:cubicBezTo>
                <a:cubicBezTo>
                  <a:pt x="51678" y="11468"/>
                  <a:pt x="57420" y="12901"/>
                  <a:pt x="60291" y="11468"/>
                </a:cubicBezTo>
                <a:cubicBezTo>
                  <a:pt x="63162" y="10034"/>
                  <a:pt x="64597" y="5734"/>
                  <a:pt x="68904" y="2867"/>
                </a:cubicBezTo>
                <a:cubicBezTo>
                  <a:pt x="73210" y="1433"/>
                  <a:pt x="84694" y="0"/>
                  <a:pt x="94742" y="0"/>
                </a:cubicBezTo>
                <a:close/>
              </a:path>
            </a:pathLst>
          </a:custGeom>
          <a:solidFill>
            <a:srgbClr val="C10000"/>
          </a:solidFill>
          <a:ln>
            <a:noFill/>
          </a:ln>
        </p:spPr>
        <p:txBody>
          <a:bodyPr/>
          <a:lstStyle/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184" y="260648"/>
            <a:ext cx="2660986" cy="61098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7713" y="4531528"/>
            <a:ext cx="1809708" cy="179306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705088818"/>
      </p:ext>
    </p:extLst>
  </p:cSld>
  <p:clrMapOvr>
    <a:masterClrMapping/>
  </p:clrMapOvr>
  <p:transition spd="slow">
    <p:circl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yu_讲义模板">
  <a:themeElements>
    <a:clrScheme name="1_讲义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讲义模板">
      <a:majorFont>
        <a:latin typeface="Book Antiqua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1_讲义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讲义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讲义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[2021]_报告PPT模版_V2" id="{8EC8653A-606D-47E4-A478-266612CD6098}" vid="{7E307012-7BE2-4DF2-B728-4130463293FE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[2021]_报告PPT模版_V2</Template>
  <TotalTime>2206</TotalTime>
  <Words>3833</Words>
  <Application>Microsoft Office PowerPoint</Application>
  <PresentationFormat>全屏显示(4:3)</PresentationFormat>
  <Paragraphs>1002</Paragraphs>
  <Slides>79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104" baseType="lpstr">
      <vt:lpstr>Arial Unicode MS</vt:lpstr>
      <vt:lpstr>等线</vt:lpstr>
      <vt:lpstr>仿宋</vt:lpstr>
      <vt:lpstr>黑体</vt:lpstr>
      <vt:lpstr>华文中宋</vt:lpstr>
      <vt:lpstr>楷体_GB2312</vt:lpstr>
      <vt:lpstr>思源黑体 CN Medium</vt:lpstr>
      <vt:lpstr>宋体</vt:lpstr>
      <vt:lpstr>Microsoft YaHei</vt:lpstr>
      <vt:lpstr>Microsoft YaHei</vt:lpstr>
      <vt:lpstr>微软雅黑 Light</vt:lpstr>
      <vt:lpstr>幼圆</vt:lpstr>
      <vt:lpstr>Arial</vt:lpstr>
      <vt:lpstr>Book Antiqua</vt:lpstr>
      <vt:lpstr>Calibri</vt:lpstr>
      <vt:lpstr>Cambria Math</vt:lpstr>
      <vt:lpstr>Helvetica</vt:lpstr>
      <vt:lpstr>Symbol</vt:lpstr>
      <vt:lpstr>Tahoma</vt:lpstr>
      <vt:lpstr>Times New Roman</vt:lpstr>
      <vt:lpstr>Verdana</vt:lpstr>
      <vt:lpstr>Wingdings</vt:lpstr>
      <vt:lpstr>Wingdings 2</vt:lpstr>
      <vt:lpstr>yu_讲义模板</vt:lpstr>
      <vt:lpstr>Equation</vt:lpstr>
      <vt:lpstr>PowerPoint 演示文稿</vt:lpstr>
      <vt:lpstr>目录</vt:lpstr>
      <vt:lpstr>PowerPoint 演示文稿</vt:lpstr>
      <vt:lpstr>PowerPoint 演示文稿</vt:lpstr>
      <vt:lpstr>PowerPoint 演示文稿</vt:lpstr>
      <vt:lpstr>机器学习 vs. 人类学习</vt:lpstr>
      <vt:lpstr>机器学习分类</vt:lpstr>
      <vt:lpstr>监督学习</vt:lpstr>
      <vt:lpstr>半监督学习</vt:lpstr>
      <vt:lpstr>无监督学习</vt:lpstr>
      <vt:lpstr>PowerPoint 演示文稿</vt:lpstr>
      <vt:lpstr>机器学习基本过程</vt:lpstr>
      <vt:lpstr>例子：天气预报</vt:lpstr>
      <vt:lpstr>机器学习的关键问题</vt:lpstr>
      <vt:lpstr>机器学习任务</vt:lpstr>
      <vt:lpstr>机器学习（预测）问题范式</vt:lpstr>
      <vt:lpstr>类别型特征</vt:lpstr>
      <vt:lpstr>文本表示模型</vt:lpstr>
      <vt:lpstr>机器学习-样本问题</vt:lpstr>
      <vt:lpstr>样本预处理</vt:lpstr>
      <vt:lpstr>机器学习-算法问题</vt:lpstr>
      <vt:lpstr>算法融合</vt:lpstr>
      <vt:lpstr>机器学习-实施过程</vt:lpstr>
      <vt:lpstr>PowerPoint 演示文稿</vt:lpstr>
      <vt:lpstr>PowerPoint 演示文稿</vt:lpstr>
      <vt:lpstr>K-means(均值聚类)</vt:lpstr>
      <vt:lpstr>PowerPoint 演示文稿</vt:lpstr>
      <vt:lpstr>层次聚类</vt:lpstr>
      <vt:lpstr>PowerPoint 演示文稿</vt:lpstr>
      <vt:lpstr>PowerPoint 演示文稿</vt:lpstr>
      <vt:lpstr>分类学习问题</vt:lpstr>
      <vt:lpstr>分类算法评价</vt:lpstr>
      <vt:lpstr>PowerPoint 演示文稿</vt:lpstr>
      <vt:lpstr>一个计算的例子</vt:lpstr>
      <vt:lpstr>分类机器学习（预测）问题范式</vt:lpstr>
      <vt:lpstr>传统分类算法</vt:lpstr>
      <vt:lpstr>PowerPoint 演示文稿</vt:lpstr>
      <vt:lpstr>2. 决策树（Decision Tree）</vt:lpstr>
      <vt:lpstr>关键问题：分裂标准</vt:lpstr>
      <vt:lpstr>熵</vt:lpstr>
      <vt:lpstr>ID3 - 信息增益</vt:lpstr>
      <vt:lpstr>例子</vt:lpstr>
      <vt:lpstr>基于信息增益的特征选择</vt:lpstr>
      <vt:lpstr>其他指标</vt:lpstr>
      <vt:lpstr>3. 朴素贝叶斯（ Naive Bayesian ）</vt:lpstr>
      <vt:lpstr>（三）贝叶斯分类（Bayesian）</vt:lpstr>
      <vt:lpstr>PowerPoint 演示文稿</vt:lpstr>
      <vt:lpstr>PowerPoint 演示文稿</vt:lpstr>
      <vt:lpstr>PowerPoint 演示文稿</vt:lpstr>
      <vt:lpstr>常见的贝叶斯模型</vt:lpstr>
      <vt:lpstr>4. 支持向量机（SVM）</vt:lpstr>
      <vt:lpstr>基本思想</vt:lpstr>
      <vt:lpstr>空间映射</vt:lpstr>
      <vt:lpstr>PowerPoint 演示文稿</vt:lpstr>
      <vt:lpstr>核函数</vt:lpstr>
      <vt:lpstr>核映射</vt:lpstr>
      <vt:lpstr>PowerPoint 演示文稿</vt:lpstr>
      <vt:lpstr>机器学习与集成学习</vt:lpstr>
      <vt:lpstr>集成学习</vt:lpstr>
      <vt:lpstr>Bagging+Boosting</vt:lpstr>
      <vt:lpstr>Bagging</vt:lpstr>
      <vt:lpstr>Boosting</vt:lpstr>
      <vt:lpstr>Boosting</vt:lpstr>
      <vt:lpstr>1. Random Forest(随机森林)</vt:lpstr>
      <vt:lpstr>PowerPoint 演示文稿</vt:lpstr>
      <vt:lpstr>PowerPoint 演示文稿</vt:lpstr>
      <vt:lpstr>2. AdaBoost</vt:lpstr>
      <vt:lpstr>PowerPoint 演示文稿</vt:lpstr>
      <vt:lpstr>PowerPoint 演示文稿</vt:lpstr>
      <vt:lpstr>实现</vt:lpstr>
      <vt:lpstr>3. 组合策略</vt:lpstr>
      <vt:lpstr>平均法(Averaging) </vt:lpstr>
      <vt:lpstr>投票法(Voting) </vt:lpstr>
      <vt:lpstr>堆叠法（Stacking） </vt:lpstr>
      <vt:lpstr>Stacking </vt:lpstr>
      <vt:lpstr>总结：Bagging</vt:lpstr>
      <vt:lpstr>总结：Boosting</vt:lpstr>
      <vt:lpstr>总结：Sacking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yuli</dc:creator>
  <cp:lastModifiedBy>yuli</cp:lastModifiedBy>
  <cp:revision>183</cp:revision>
  <dcterms:created xsi:type="dcterms:W3CDTF">2021-09-11T11:16:46Z</dcterms:created>
  <dcterms:modified xsi:type="dcterms:W3CDTF">2024-06-01T15:26:48Z</dcterms:modified>
</cp:coreProperties>
</file>