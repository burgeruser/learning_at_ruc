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46"/>
  </p:handoutMasterIdLst>
  <p:sldIdLst>
    <p:sldId id="571" r:id="rId3"/>
    <p:sldId id="572" r:id="rId4"/>
    <p:sldId id="549" r:id="rId5"/>
    <p:sldId id="568" r:id="rId6"/>
    <p:sldId id="550" r:id="rId7"/>
    <p:sldId id="551" r:id="rId9"/>
    <p:sldId id="552" r:id="rId10"/>
    <p:sldId id="553" r:id="rId11"/>
    <p:sldId id="536" r:id="rId12"/>
    <p:sldId id="514" r:id="rId13"/>
    <p:sldId id="491" r:id="rId14"/>
    <p:sldId id="546" r:id="rId15"/>
    <p:sldId id="545" r:id="rId16"/>
    <p:sldId id="516" r:id="rId17"/>
    <p:sldId id="523" r:id="rId18"/>
    <p:sldId id="490" r:id="rId19"/>
    <p:sldId id="499" r:id="rId20"/>
    <p:sldId id="492" r:id="rId21"/>
    <p:sldId id="495" r:id="rId22"/>
    <p:sldId id="519" r:id="rId23"/>
    <p:sldId id="498" r:id="rId24"/>
    <p:sldId id="520" r:id="rId25"/>
    <p:sldId id="521" r:id="rId26"/>
    <p:sldId id="603" r:id="rId27"/>
    <p:sldId id="522" r:id="rId28"/>
    <p:sldId id="524" r:id="rId29"/>
    <p:sldId id="554" r:id="rId30"/>
    <p:sldId id="555" r:id="rId31"/>
    <p:sldId id="556" r:id="rId32"/>
    <p:sldId id="537" r:id="rId33"/>
    <p:sldId id="538" r:id="rId34"/>
    <p:sldId id="319" r:id="rId35"/>
    <p:sldId id="320" r:id="rId36"/>
    <p:sldId id="526" r:id="rId37"/>
    <p:sldId id="527" r:id="rId38"/>
    <p:sldId id="525" r:id="rId39"/>
    <p:sldId id="591" r:id="rId40"/>
    <p:sldId id="510" r:id="rId41"/>
    <p:sldId id="528" r:id="rId42"/>
    <p:sldId id="509" r:id="rId43"/>
    <p:sldId id="573" r:id="rId44"/>
    <p:sldId id="592" r:id="rId45"/>
  </p:sldIdLst>
  <p:sldSz cx="9144000" cy="6858000" type="screen4x3"/>
  <p:notesSz cx="6858000" cy="9144000"/>
  <p:custDataLst>
    <p:tags r:id="rId50"/>
  </p:custDataLst>
  <p:defaultTextStyle>
    <a:defPPr>
      <a:defRPr lang="en-US"/>
    </a:defPPr>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104"/>
    <p:restoredTop sz="90634"/>
  </p:normalViewPr>
  <p:slideViewPr>
    <p:cSldViewPr showGuides="1">
      <p:cViewPr varScale="1">
        <p:scale>
          <a:sx n="106" d="100"/>
          <a:sy n="106" d="100"/>
        </p:scale>
        <p:origin x="2120" y="168"/>
      </p:cViewPr>
      <p:guideLst>
        <p:guide orient="horz" pos="2160"/>
        <p:guide pos="302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 d="1"/>
        <a:sy n="1" d="1"/>
      </p:scale>
      <p:origin x="0" y="-130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gs" Target="tags/tag1.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27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270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270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270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6"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a:buNone/>
            </a:pP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
        <p:nvSpPr>
          <p:cNvPr id="20482" name="Rectangle 2"/>
          <p:cNvSpPr>
            <a:spLocks noTextEdit="1"/>
          </p:cNvSpPr>
          <p:nvPr>
            <p:ph type="sldImg"/>
          </p:nvPr>
        </p:nvSpPr>
        <p:spPr>
          <a:xfrm>
            <a:off x="1108075" y="666750"/>
            <a:ext cx="4646613" cy="3484563"/>
          </a:xfrm>
          <a:ln/>
        </p:spPr>
      </p:sp>
      <p:sp>
        <p:nvSpPr>
          <p:cNvPr id="20483" name="Rectangle 3"/>
          <p:cNvSpPr>
            <a:spLocks noGrp="1"/>
          </p:cNvSpPr>
          <p:nvPr>
            <p:ph type="body" idx="1"/>
          </p:nvPr>
        </p:nvSpPr>
        <p:spPr>
          <a:xfrm>
            <a:off x="904875" y="4373563"/>
            <a:ext cx="5048250" cy="4078287"/>
          </a:xfrm>
          <a:ln/>
        </p:spPr>
        <p:txBody>
          <a:bodyPr wrap="square" lIns="89567" tIns="44782" rIns="89567" bIns="44782" anchor="t" anchorCtr="0"/>
          <a:p>
            <a:pPr lvl="0"/>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81000" y="16002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defRPr/>
            </a:pPr>
            <a:endParaRPr kumimoji="0" lang="zh-CN" altLang="en-US" sz="3200" b="1" i="0" u="none" strike="noStrike" kern="0" cap="none" spc="0" normalizeH="0" baseline="0" noProof="0">
              <a:ln>
                <a:noFill/>
              </a:ln>
              <a:solidFill>
                <a:srgbClr val="17098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381000"/>
            <a:ext cx="2095500"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81000" y="381000"/>
            <a:ext cx="6134100"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noChangeArrowheads="1"/>
          </p:cNvSpPr>
          <p:nvPr>
            <p:ph type="title"/>
          </p:nvPr>
        </p:nvSpPr>
        <p:spPr bwMode="auto">
          <a:xfrm>
            <a:off x="381000" y="381000"/>
            <a:ext cx="8382000" cy="838200"/>
          </a:xfrm>
          <a:prstGeom prst="rect">
            <a:avLst/>
          </a:prstGeom>
          <a:noFill/>
          <a:ln w="9525">
            <a:noFill/>
            <a:miter lim="800000"/>
          </a:ln>
          <a:effec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027" name="Rectangle 3"/>
          <p:cNvSpPr>
            <a:spLocks noGrp="1"/>
          </p:cNvSpPr>
          <p:nvPr>
            <p:ph type="body" idx="1"/>
          </p:nvPr>
        </p:nvSpPr>
        <p:spPr>
          <a:xfrm>
            <a:off x="381000" y="1600200"/>
            <a:ext cx="8382000" cy="4800600"/>
          </a:xfrm>
          <a:prstGeom prst="rect">
            <a:avLst/>
          </a:prstGeom>
          <a:noFill/>
          <a:ln w="9525">
            <a:noFill/>
          </a:ln>
        </p:spPr>
        <p:txBody>
          <a:bodyPr/>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dt" sz="half" idx="2"/>
          </p:nvPr>
        </p:nvSpPr>
        <p:spPr bwMode="auto">
          <a:xfrm>
            <a:off x="609600" y="6400800"/>
            <a:ext cx="1905000" cy="457200"/>
          </a:xfrm>
          <a:prstGeom prst="rect">
            <a:avLst/>
          </a:prstGeom>
          <a:noFill/>
          <a:ln w="9525">
            <a:noFill/>
            <a:miter lim="800000"/>
          </a:ln>
          <a:effectLst/>
        </p:spPr>
        <p:txBody>
          <a:bodyPr vert="horz" wrap="square" lIns="91440" tIns="45720" rIns="91440" bIns="45720" numCol="1" anchor="t" anchorCtr="0" compatLnSpc="1"/>
          <a:lstStyle>
            <a:lvl1pPr algn="l">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77000"/>
            <a:ext cx="2895600" cy="381000"/>
          </a:xfrm>
          <a:prstGeom prst="rect">
            <a:avLst/>
          </a:prstGeom>
          <a:noFill/>
          <a:ln w="9525">
            <a:noFill/>
            <a:miter lim="800000"/>
          </a:ln>
          <a:effectLst/>
        </p:spPr>
        <p:txBody>
          <a:bodyPr vert="horz" wrap="square" lIns="91440" tIns="45720" rIns="91440" bIns="45720" numCol="1" anchor="t"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53200"/>
            <a:ext cx="1905000" cy="304800"/>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lvl="0">
              <a:buNone/>
            </a:pPr>
            <a:fld id="{9A0DB2DC-4C9A-4742-B13C-FB6460FD3503}" type="slidenum">
              <a:rPr lang="zh-CN" altLang="en-US">
                <a:latin typeface="Times New Roman" panose="02020603050405020304" pitchFamily="18" charset="0"/>
              </a:rPr>
            </a:fld>
            <a:endParaRPr lang="zh-CN" altLang="en-US">
              <a:latin typeface="Times New Roman" panose="02020603050405020304" pitchFamily="18" charset="0"/>
            </a:endParaRPr>
          </a:p>
        </p:txBody>
      </p:sp>
      <p:grpSp>
        <p:nvGrpSpPr>
          <p:cNvPr id="1031" name="Group 7"/>
          <p:cNvGrpSpPr/>
          <p:nvPr/>
        </p:nvGrpSpPr>
        <p:grpSpPr>
          <a:xfrm>
            <a:off x="0" y="1276350"/>
            <a:ext cx="9132888" cy="152400"/>
            <a:chOff x="0" y="804"/>
            <a:chExt cx="5753" cy="96"/>
          </a:xfrm>
        </p:grpSpPr>
        <p:sp>
          <p:nvSpPr>
            <p:cNvPr id="1032" name="Rectangle 8"/>
            <p:cNvSpPr>
              <a:spLocks noChangeArrowheads="1"/>
            </p:cNvSpPr>
            <p:nvPr/>
          </p:nvSpPr>
          <p:spPr bwMode="auto">
            <a:xfrm>
              <a:off x="0" y="804"/>
              <a:ext cx="5753" cy="47"/>
            </a:xfrm>
            <a:prstGeom prst="rect">
              <a:avLst/>
            </a:prstGeom>
            <a:gradFill rotWithShape="0">
              <a:gsLst>
                <a:gs pos="0">
                  <a:srgbClr val="00DFCA">
                    <a:gamma/>
                    <a:shade val="49804"/>
                    <a:invGamma/>
                  </a:srgbClr>
                </a:gs>
                <a:gs pos="50000">
                  <a:srgbClr val="00DFCA"/>
                </a:gs>
                <a:gs pos="100000">
                  <a:srgbClr val="00DFCA">
                    <a:gamma/>
                    <a:shade val="49804"/>
                    <a:invGamma/>
                  </a:srgbClr>
                </a:gs>
              </a:gsLst>
              <a:lin ang="0" scaled="1"/>
            </a:gradFill>
            <a:ln w="9525">
              <a:noFill/>
              <a:miter lim="800000"/>
            </a:ln>
            <a:effec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9"/>
            <p:cNvSpPr>
              <a:spLocks noChangeArrowheads="1"/>
            </p:cNvSpPr>
            <p:nvPr/>
          </p:nvSpPr>
          <p:spPr bwMode="auto">
            <a:xfrm>
              <a:off x="0" y="876"/>
              <a:ext cx="5753" cy="24"/>
            </a:xfrm>
            <a:prstGeom prst="rect">
              <a:avLst/>
            </a:prstGeom>
            <a:gradFill rotWithShape="0">
              <a:gsLst>
                <a:gs pos="0">
                  <a:srgbClr val="D989B8">
                    <a:gamma/>
                    <a:shade val="69804"/>
                    <a:invGamma/>
                  </a:srgbClr>
                </a:gs>
                <a:gs pos="50000">
                  <a:srgbClr val="D989B8"/>
                </a:gs>
                <a:gs pos="100000">
                  <a:srgbClr val="D989B8">
                    <a:gamma/>
                    <a:shade val="69804"/>
                    <a:invGamma/>
                  </a:srgbClr>
                </a:gs>
              </a:gsLst>
              <a:lin ang="0" scaled="1"/>
            </a:gradFill>
            <a:ln w="9525">
              <a:noFill/>
              <a:miter lim="800000"/>
            </a:ln>
            <a:effectLst/>
          </p:spPr>
          <p:txBody>
            <a:bodyPr wrap="none" anchor="ctr"/>
            <a:lstStyle>
              <a:lvl1pPr>
                <a:defRPr sz="3600">
                  <a:solidFill>
                    <a:schemeClr val="tx1"/>
                  </a:solidFill>
                  <a:latin typeface="Times New Roman" panose="02020603050405020304" pitchFamily="18" charset="0"/>
                </a:defRPr>
              </a:lvl1pPr>
              <a:lvl2pPr marL="742950" indent="-285750">
                <a:defRPr sz="3600">
                  <a:solidFill>
                    <a:schemeClr val="tx1"/>
                  </a:solidFill>
                  <a:latin typeface="Times New Roman" panose="02020603050405020304" pitchFamily="18" charset="0"/>
                </a:defRPr>
              </a:lvl2pPr>
              <a:lvl3pPr marL="1143000" indent="-228600">
                <a:defRPr sz="3600">
                  <a:solidFill>
                    <a:schemeClr val="tx1"/>
                  </a:solidFill>
                  <a:latin typeface="Times New Roman" panose="02020603050405020304" pitchFamily="18" charset="0"/>
                </a:defRPr>
              </a:lvl3pPr>
              <a:lvl4pPr marL="1600200" indent="-228600">
                <a:defRPr sz="3600">
                  <a:solidFill>
                    <a:schemeClr val="tx1"/>
                  </a:solidFill>
                  <a:latin typeface="Times New Roman" panose="02020603050405020304" pitchFamily="18" charset="0"/>
                </a:defRPr>
              </a:lvl4pPr>
              <a:lvl5pPr marL="2057400" indent="-228600">
                <a:defRPr sz="36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36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36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36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36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34" name="Rectangle 10"/>
          <p:cNvSpPr>
            <a:spLocks noChangeArrowheads="1"/>
          </p:cNvSpPr>
          <p:nvPr/>
        </p:nvSpPr>
        <p:spPr bwMode="auto">
          <a:xfrm>
            <a:off x="8753475" y="6553200"/>
            <a:ext cx="390525" cy="304800"/>
          </a:xfrm>
          <a:prstGeom prst="rect">
            <a:avLst/>
          </a:prstGeom>
          <a:noFill/>
          <a:ln w="9525">
            <a:noFill/>
            <a:miter lim="800000"/>
          </a:ln>
          <a:effectLst/>
        </p:spPr>
        <p:txBody>
          <a:bodyPr>
            <a:spAutoFit/>
          </a:bodyPr>
          <a:p>
            <a:pPr lvl="0">
              <a:buNone/>
            </a:pPr>
            <a:fld id="{9A0DB2DC-4C9A-4742-B13C-FB6460FD3503}" type="slidenum">
              <a:rPr lang="zh-CN" altLang="en-US" sz="1400">
                <a:latin typeface="Times New Roman" panose="02020603050405020304" pitchFamily="18" charset="0"/>
                <a:ea typeface="宋体" panose="02010600030101010101" pitchFamily="2" charset="-122"/>
              </a:rPr>
            </a:fld>
            <a:endParaRPr lang="zh-CN" altLang="en-US" sz="140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2pPr>
      <a:lvl3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3pPr>
      <a:lvl4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4pPr>
      <a:lvl5pPr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5pPr>
      <a:lvl6pPr marL="457200"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6pPr>
      <a:lvl7pPr marL="914400"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7pPr>
      <a:lvl8pPr marL="1371600"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8pPr>
      <a:lvl9pPr marL="1828800" algn="l" rtl="0" eaLnBrk="0" fontAlgn="base" hangingPunct="0">
        <a:spcBef>
          <a:spcPct val="0"/>
        </a:spcBef>
        <a:spcAft>
          <a:spcPct val="0"/>
        </a:spcAft>
        <a:defRPr sz="3600" b="1">
          <a:solidFill>
            <a:schemeClr val="tx2"/>
          </a:solidFill>
          <a:effectLst>
            <a:outerShdw blurRad="38100" dist="38100" dir="2700000" algn="tl">
              <a:srgbClr val="000000"/>
            </a:outerShdw>
          </a:effectLst>
          <a:latin typeface="Times New Roman" panose="02020603050405020304" pitchFamily="18" charset="0"/>
        </a:defRPr>
      </a:lvl9pPr>
    </p:titleStyle>
    <p:body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8562" name="Rectangle 2"/>
          <p:cNvSpPr>
            <a:spLocks noGrp="1" noChangeArrowheads="1"/>
          </p:cNvSpPr>
          <p:nvPr>
            <p:ph type="title"/>
          </p:nvPr>
        </p:nvSpPr>
        <p:spPr>
          <a:xfrm>
            <a:off x="914400" y="228600"/>
            <a:ext cx="7620000" cy="7620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What Is Frequent Pattern Analysis?</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15362" name="Rectangle 3"/>
          <p:cNvSpPr>
            <a:spLocks noGrp="1"/>
          </p:cNvSpPr>
          <p:nvPr>
            <p:ph idx="1"/>
          </p:nvPr>
        </p:nvSpPr>
        <p:spPr>
          <a:xfrm>
            <a:off x="152400" y="1628775"/>
            <a:ext cx="8839200" cy="4772025"/>
          </a:xfrm>
          <a:ln/>
        </p:spPr>
        <p:txBody>
          <a:bodyPr vert="horz" wrap="square" lIns="91440" tIns="45720" rIns="91440" bIns="45720" anchor="t" anchorCtr="0"/>
          <a:p>
            <a:pPr>
              <a:lnSpc>
                <a:spcPct val="130000"/>
              </a:lnSpc>
            </a:pPr>
            <a:r>
              <a:rPr lang="en-US" altLang="zh-CN" sz="2000">
                <a:solidFill>
                  <a:schemeClr val="hlink"/>
                </a:solidFill>
                <a:ea typeface="宋体" panose="02010600030101010101" pitchFamily="2" charset="-122"/>
              </a:rPr>
              <a:t>Frequent pattern</a:t>
            </a:r>
            <a:r>
              <a:rPr lang="en-US" altLang="zh-CN" sz="2000">
                <a:ea typeface="宋体" panose="02010600030101010101" pitchFamily="2" charset="-122"/>
              </a:rPr>
              <a:t>: a pattern (a set of items, subsequences, substructures, etc.) that occurs frequently in a data set </a:t>
            </a:r>
            <a:endParaRPr lang="en-US" altLang="zh-CN" sz="2000">
              <a:ea typeface="宋体" panose="02010600030101010101" pitchFamily="2" charset="-122"/>
            </a:endParaRPr>
          </a:p>
          <a:p>
            <a:pPr>
              <a:lnSpc>
                <a:spcPct val="130000"/>
              </a:lnSpc>
              <a:buSzPct val="80000"/>
            </a:pPr>
            <a:r>
              <a:rPr lang="en-US" altLang="zh-CN" sz="2000">
                <a:ea typeface="宋体" panose="02010600030101010101" pitchFamily="2" charset="-122"/>
              </a:rPr>
              <a:t>First proposed by Agrawal, Imielinski, and Swami [AIS93] in the context of </a:t>
            </a:r>
            <a:r>
              <a:rPr lang="en-US" altLang="zh-CN" sz="2000">
                <a:solidFill>
                  <a:schemeClr val="hlink"/>
                </a:solidFill>
                <a:ea typeface="宋体" panose="02010600030101010101" pitchFamily="2" charset="-122"/>
              </a:rPr>
              <a:t>frequent itemsets</a:t>
            </a:r>
            <a:r>
              <a:rPr lang="en-US" altLang="zh-CN" sz="2000">
                <a:ea typeface="宋体" panose="02010600030101010101" pitchFamily="2" charset="-122"/>
              </a:rPr>
              <a:t> and </a:t>
            </a:r>
            <a:r>
              <a:rPr lang="en-US" altLang="zh-CN" sz="2000">
                <a:solidFill>
                  <a:schemeClr val="hlink"/>
                </a:solidFill>
                <a:ea typeface="宋体" panose="02010600030101010101" pitchFamily="2" charset="-122"/>
              </a:rPr>
              <a:t>association rule mining</a:t>
            </a:r>
            <a:endParaRPr lang="en-US" altLang="zh-CN" sz="2000">
              <a:solidFill>
                <a:schemeClr val="hlink"/>
              </a:solidFill>
              <a:ea typeface="宋体" panose="02010600030101010101" pitchFamily="2" charset="-122"/>
            </a:endParaRPr>
          </a:p>
          <a:p>
            <a:pPr>
              <a:lnSpc>
                <a:spcPct val="130000"/>
              </a:lnSpc>
            </a:pPr>
            <a:r>
              <a:rPr lang="en-US" altLang="zh-CN" sz="2000">
                <a:ea typeface="宋体" panose="02010600030101010101" pitchFamily="2" charset="-122"/>
              </a:rPr>
              <a:t>Motivation: Finding inherent regularities in data</a:t>
            </a:r>
            <a:endParaRPr lang="en-US" altLang="zh-CN" sz="2000">
              <a:ea typeface="宋体" panose="02010600030101010101" pitchFamily="2" charset="-122"/>
            </a:endParaRPr>
          </a:p>
          <a:p>
            <a:pPr lvl="1">
              <a:lnSpc>
                <a:spcPct val="130000"/>
              </a:lnSpc>
            </a:pPr>
            <a:r>
              <a:rPr lang="en-US" altLang="zh-CN" sz="1800">
                <a:ea typeface="宋体" panose="02010600030101010101" pitchFamily="2" charset="-122"/>
              </a:rPr>
              <a:t>What products were often purchased together?</a:t>
            </a:r>
            <a:r>
              <a:rPr lang="en-US" altLang="zh-CN" sz="1800">
                <a:latin typeface="Tahoma" panose="020B0604030504040204" pitchFamily="34" charset="0"/>
                <a:ea typeface="宋体" panose="02010600030101010101" pitchFamily="2" charset="-122"/>
              </a:rPr>
              <a:t>—</a:t>
            </a:r>
            <a:r>
              <a:rPr lang="en-US" altLang="zh-CN" sz="1800">
                <a:ea typeface="宋体" panose="02010600030101010101" pitchFamily="2" charset="-122"/>
              </a:rPr>
              <a:t> Beer and diapers?!</a:t>
            </a:r>
            <a:endParaRPr lang="en-US" altLang="zh-CN" sz="1800">
              <a:ea typeface="宋体" panose="02010600030101010101" pitchFamily="2" charset="-122"/>
            </a:endParaRPr>
          </a:p>
          <a:p>
            <a:pPr lvl="1">
              <a:lnSpc>
                <a:spcPct val="130000"/>
              </a:lnSpc>
            </a:pPr>
            <a:r>
              <a:rPr lang="en-US" altLang="zh-CN" sz="1800">
                <a:ea typeface="宋体" panose="02010600030101010101" pitchFamily="2" charset="-122"/>
              </a:rPr>
              <a:t>What are the subsequent purchases after buying a PC?</a:t>
            </a:r>
            <a:endParaRPr lang="en-US" altLang="zh-CN" sz="1800">
              <a:ea typeface="宋体" panose="02010600030101010101" pitchFamily="2" charset="-122"/>
            </a:endParaRPr>
          </a:p>
          <a:p>
            <a:pPr lvl="1">
              <a:lnSpc>
                <a:spcPct val="130000"/>
              </a:lnSpc>
            </a:pPr>
            <a:r>
              <a:rPr lang="en-US" altLang="zh-CN" sz="1800">
                <a:ea typeface="宋体" panose="02010600030101010101" pitchFamily="2" charset="-122"/>
              </a:rPr>
              <a:t>What kinds of DNA are sensitive to this new drug?</a:t>
            </a:r>
            <a:endParaRPr lang="en-US" altLang="zh-CN" sz="1800">
              <a:ea typeface="宋体" panose="02010600030101010101" pitchFamily="2" charset="-122"/>
            </a:endParaRPr>
          </a:p>
          <a:p>
            <a:pPr lvl="1">
              <a:lnSpc>
                <a:spcPct val="130000"/>
              </a:lnSpc>
            </a:pPr>
            <a:r>
              <a:rPr lang="en-US" altLang="zh-CN" sz="1800">
                <a:ea typeface="宋体" panose="02010600030101010101" pitchFamily="2" charset="-122"/>
              </a:rPr>
              <a:t>Can we automatically classify web documents?</a:t>
            </a:r>
            <a:endParaRPr lang="en-US" altLang="zh-CN" sz="1800">
              <a:ea typeface="宋体" panose="02010600030101010101" pitchFamily="2" charset="-122"/>
            </a:endParaRPr>
          </a:p>
          <a:p>
            <a:pPr>
              <a:lnSpc>
                <a:spcPct val="130000"/>
              </a:lnSpc>
              <a:buSzPct val="80000"/>
            </a:pPr>
            <a:r>
              <a:rPr lang="en-US" altLang="zh-CN" sz="2000">
                <a:ea typeface="宋体" panose="02010600030101010101" pitchFamily="2" charset="-122"/>
              </a:rPr>
              <a:t>Applications</a:t>
            </a:r>
            <a:endParaRPr lang="en-US" altLang="zh-CN" sz="2000">
              <a:ea typeface="宋体" panose="02010600030101010101" pitchFamily="2" charset="-122"/>
            </a:endParaRPr>
          </a:p>
          <a:p>
            <a:pPr lvl="1">
              <a:lnSpc>
                <a:spcPct val="130000"/>
              </a:lnSpc>
              <a:buSzPct val="80000"/>
            </a:pPr>
            <a:r>
              <a:rPr lang="en-US" altLang="zh-CN" sz="1800">
                <a:ea typeface="宋体" panose="02010600030101010101" pitchFamily="2" charset="-122"/>
              </a:rPr>
              <a:t>Basket data analysis, cross-marketing, catalog design, sale campaign analysis, Web log (click stream) analysis, and DNA sequence analysis.</a:t>
            </a:r>
            <a:endParaRPr lang="en-US" altLang="zh-CN" sz="180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9586" name="Rectangle 2"/>
          <p:cNvSpPr>
            <a:spLocks noGrp="1" noChangeArrowheads="1"/>
          </p:cNvSpPr>
          <p:nvPr>
            <p:ph type="title"/>
          </p:nvPr>
        </p:nvSpPr>
        <p:spPr>
          <a:xfrm>
            <a:off x="914400" y="304800"/>
            <a:ext cx="7620000" cy="6858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Why Is Freq. Pattern Mining Important?</a:t>
            </a: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16386" name="Rectangle 3"/>
          <p:cNvSpPr>
            <a:spLocks noGrp="1"/>
          </p:cNvSpPr>
          <p:nvPr>
            <p:ph idx="1"/>
          </p:nvPr>
        </p:nvSpPr>
        <p:spPr>
          <a:xfrm>
            <a:off x="304800" y="1604963"/>
            <a:ext cx="8534400" cy="4919662"/>
          </a:xfrm>
          <a:ln/>
        </p:spPr>
        <p:txBody>
          <a:bodyPr vert="horz" wrap="square" lIns="91440" tIns="45720" rIns="91440" bIns="45720" anchor="t" anchorCtr="0"/>
          <a:p>
            <a:pPr>
              <a:lnSpc>
                <a:spcPct val="110000"/>
              </a:lnSpc>
            </a:pPr>
            <a:r>
              <a:rPr lang="en-US" altLang="zh-CN" sz="2400">
                <a:ea typeface="宋体" panose="02010600030101010101" pitchFamily="2" charset="-122"/>
              </a:rPr>
              <a:t>Discloses an intrinsic and important property of data sets</a:t>
            </a:r>
            <a:endParaRPr lang="en-US" altLang="zh-CN" sz="2400">
              <a:ea typeface="宋体" panose="02010600030101010101" pitchFamily="2" charset="-122"/>
            </a:endParaRPr>
          </a:p>
          <a:p>
            <a:pPr>
              <a:lnSpc>
                <a:spcPct val="110000"/>
              </a:lnSpc>
            </a:pPr>
            <a:r>
              <a:rPr lang="en-US" altLang="zh-CN" sz="2400">
                <a:ea typeface="宋体" panose="02010600030101010101" pitchFamily="2" charset="-122"/>
              </a:rPr>
              <a:t>Forms the foundation for many essential data mining tasks</a:t>
            </a:r>
            <a:endParaRPr lang="en-US" altLang="zh-CN" sz="2400">
              <a:ea typeface="宋体" panose="02010600030101010101" pitchFamily="2" charset="-122"/>
            </a:endParaRPr>
          </a:p>
          <a:p>
            <a:pPr lvl="1">
              <a:lnSpc>
                <a:spcPct val="110000"/>
              </a:lnSpc>
            </a:pPr>
            <a:r>
              <a:rPr lang="en-US" altLang="zh-CN" sz="2000">
                <a:ea typeface="宋体" panose="02010600030101010101" pitchFamily="2" charset="-122"/>
              </a:rPr>
              <a:t>Association, correlation, and causality analysis</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Sequential, structural (e.g., sub-graph) patterns</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Pattern analysis in spatiotemporal, multimedia, time-series, and stream data </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Classification: associative classification</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Cluster analysis: frequent pattern-based clustering</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Data warehousing: iceberg cube and cube-gradient </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Semantic data compression: fascicles</a:t>
            </a:r>
            <a:endParaRPr lang="en-US" altLang="zh-CN" sz="2000">
              <a:ea typeface="宋体" panose="02010600030101010101" pitchFamily="2" charset="-122"/>
            </a:endParaRPr>
          </a:p>
          <a:p>
            <a:pPr lvl="1">
              <a:lnSpc>
                <a:spcPct val="110000"/>
              </a:lnSpc>
            </a:pPr>
            <a:r>
              <a:rPr lang="en-US" altLang="zh-CN" sz="2000">
                <a:ea typeface="宋体" panose="02010600030101010101" pitchFamily="2" charset="-122"/>
              </a:rPr>
              <a:t>Broad applications</a:t>
            </a:r>
            <a:endParaRPr lang="en-US" altLang="zh-CN" sz="200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986" name="Rectangle 2"/>
          <p:cNvSpPr>
            <a:spLocks noGrp="1" noChangeArrowheads="1"/>
          </p:cNvSpPr>
          <p:nvPr>
            <p:ph type="title"/>
          </p:nvPr>
        </p:nvSpPr>
        <p:spPr>
          <a:xfrm>
            <a:off x="344488" y="377825"/>
            <a:ext cx="8799513" cy="822325"/>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A Multidimensional View of Frequent Patten Discovery</a:t>
            </a:r>
            <a:endParaRPr kumimoji="0" lang="en-US" altLang="zh-CN" sz="2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17410" name="Line 3"/>
          <p:cNvSpPr/>
          <p:nvPr/>
        </p:nvSpPr>
        <p:spPr>
          <a:xfrm flipV="1">
            <a:off x="1973263" y="1627188"/>
            <a:ext cx="0" cy="4398962"/>
          </a:xfrm>
          <a:prstGeom prst="line">
            <a:avLst/>
          </a:prstGeom>
          <a:ln w="9525" cap="flat" cmpd="sng">
            <a:solidFill>
              <a:schemeClr val="tx1"/>
            </a:solidFill>
            <a:prstDash val="solid"/>
            <a:miter/>
            <a:headEnd type="none" w="med" len="med"/>
            <a:tailEnd type="triangle" w="med" len="med"/>
          </a:ln>
        </p:spPr>
      </p:sp>
      <p:sp>
        <p:nvSpPr>
          <p:cNvPr id="17411" name="Line 4"/>
          <p:cNvSpPr/>
          <p:nvPr/>
        </p:nvSpPr>
        <p:spPr>
          <a:xfrm>
            <a:off x="1973263" y="6040438"/>
            <a:ext cx="5864225" cy="0"/>
          </a:xfrm>
          <a:prstGeom prst="line">
            <a:avLst/>
          </a:prstGeom>
          <a:ln w="9525" cap="flat" cmpd="sng">
            <a:solidFill>
              <a:schemeClr val="tx1"/>
            </a:solidFill>
            <a:prstDash val="solid"/>
            <a:miter/>
            <a:headEnd type="none" w="med" len="med"/>
            <a:tailEnd type="triangle" w="med" len="med"/>
          </a:ln>
        </p:spPr>
      </p:sp>
      <p:sp>
        <p:nvSpPr>
          <p:cNvPr id="17412" name="Line 5"/>
          <p:cNvSpPr/>
          <p:nvPr/>
        </p:nvSpPr>
        <p:spPr>
          <a:xfrm flipV="1">
            <a:off x="2003425" y="1946275"/>
            <a:ext cx="4994275" cy="4094163"/>
          </a:xfrm>
          <a:prstGeom prst="line">
            <a:avLst/>
          </a:prstGeom>
          <a:ln w="9525" cap="flat" cmpd="sng">
            <a:solidFill>
              <a:schemeClr val="tx1"/>
            </a:solidFill>
            <a:prstDash val="solid"/>
            <a:miter/>
            <a:headEnd type="none" w="med" len="med"/>
            <a:tailEnd type="triangle" w="med" len="med"/>
          </a:ln>
        </p:spPr>
      </p:sp>
      <p:sp>
        <p:nvSpPr>
          <p:cNvPr id="17413" name="Text Box 6"/>
          <p:cNvSpPr txBox="1"/>
          <p:nvPr/>
        </p:nvSpPr>
        <p:spPr>
          <a:xfrm>
            <a:off x="179388" y="1719263"/>
            <a:ext cx="1814512" cy="581025"/>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a:solidFill>
                  <a:schemeClr val="tx1"/>
                </a:solidFill>
                <a:latin typeface="Tahoma" panose="020B0604030504040204" pitchFamily="34" charset="0"/>
                <a:ea typeface="宋体" panose="02010600030101010101" pitchFamily="2" charset="-122"/>
              </a:rPr>
              <a:t>types of data or knowledge</a:t>
            </a:r>
            <a:endParaRPr lang="en-US" altLang="zh-CN" sz="1600">
              <a:solidFill>
                <a:schemeClr val="tx1"/>
              </a:solidFill>
              <a:latin typeface="Tahoma" panose="020B0604030504040204" pitchFamily="34" charset="0"/>
              <a:ea typeface="宋体" panose="02010600030101010101" pitchFamily="2" charset="-122"/>
            </a:endParaRPr>
          </a:p>
        </p:txBody>
      </p:sp>
      <p:sp>
        <p:nvSpPr>
          <p:cNvPr id="17414" name="Text Box 7"/>
          <p:cNvSpPr txBox="1"/>
          <p:nvPr/>
        </p:nvSpPr>
        <p:spPr>
          <a:xfrm>
            <a:off x="6588125" y="5337175"/>
            <a:ext cx="2555875" cy="641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a:solidFill>
                  <a:schemeClr val="tx1"/>
                </a:solidFill>
                <a:latin typeface="Tahoma" panose="020B0604030504040204" pitchFamily="34" charset="0"/>
                <a:ea typeface="宋体" panose="02010600030101010101" pitchFamily="2" charset="-122"/>
              </a:rPr>
              <a:t>lattice transversal/ main operations</a:t>
            </a:r>
            <a:endParaRPr lang="en-US" altLang="zh-CN" sz="1800">
              <a:solidFill>
                <a:schemeClr val="tx1"/>
              </a:solidFill>
              <a:latin typeface="Tahoma" panose="020B0604030504040204" pitchFamily="34" charset="0"/>
              <a:ea typeface="宋体" panose="02010600030101010101" pitchFamily="2" charset="-122"/>
            </a:endParaRPr>
          </a:p>
        </p:txBody>
      </p:sp>
      <p:sp>
        <p:nvSpPr>
          <p:cNvPr id="17415" name="Text Box 8"/>
          <p:cNvSpPr txBox="1"/>
          <p:nvPr/>
        </p:nvSpPr>
        <p:spPr>
          <a:xfrm>
            <a:off x="6457950" y="1544638"/>
            <a:ext cx="1133475" cy="366712"/>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a:solidFill>
                  <a:schemeClr val="tx1"/>
                </a:solidFill>
                <a:latin typeface="Tahoma" panose="020B0604030504040204" pitchFamily="34" charset="0"/>
                <a:ea typeface="宋体" panose="02010600030101010101" pitchFamily="2" charset="-122"/>
              </a:rPr>
              <a:t>others</a:t>
            </a:r>
            <a:endParaRPr lang="en-US" altLang="zh-CN" sz="1800">
              <a:solidFill>
                <a:schemeClr val="tx1"/>
              </a:solidFill>
              <a:latin typeface="Tahoma" panose="020B0604030504040204" pitchFamily="34" charset="0"/>
              <a:ea typeface="宋体" panose="02010600030101010101" pitchFamily="2" charset="-122"/>
            </a:endParaRPr>
          </a:p>
        </p:txBody>
      </p:sp>
      <p:sp>
        <p:nvSpPr>
          <p:cNvPr id="17416" name="Text Box 9"/>
          <p:cNvSpPr txBox="1"/>
          <p:nvPr/>
        </p:nvSpPr>
        <p:spPr>
          <a:xfrm>
            <a:off x="593725" y="2281238"/>
            <a:ext cx="16827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chemeClr val="tx2"/>
                </a:solidFill>
                <a:latin typeface="Tahoma" panose="020B0604030504040204" pitchFamily="34" charset="0"/>
                <a:ea typeface="宋体" panose="02010600030101010101" pitchFamily="2" charset="-122"/>
              </a:rPr>
              <a:t>associative pattern</a:t>
            </a:r>
            <a:endParaRPr lang="en-US" altLang="zh-CN" sz="1800" b="0">
              <a:solidFill>
                <a:schemeClr val="tx2"/>
              </a:solidFill>
              <a:latin typeface="Tahoma" panose="020B0604030504040204" pitchFamily="34" charset="0"/>
              <a:ea typeface="宋体" panose="02010600030101010101" pitchFamily="2" charset="-122"/>
            </a:endParaRPr>
          </a:p>
        </p:txBody>
      </p:sp>
      <p:sp>
        <p:nvSpPr>
          <p:cNvPr id="17417" name="Text Box 10"/>
          <p:cNvSpPr txBox="1"/>
          <p:nvPr/>
        </p:nvSpPr>
        <p:spPr>
          <a:xfrm>
            <a:off x="674688" y="3014663"/>
            <a:ext cx="16827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chemeClr val="tx2"/>
                </a:solidFill>
                <a:latin typeface="Tahoma" panose="020B0604030504040204" pitchFamily="34" charset="0"/>
                <a:ea typeface="宋体" panose="02010600030101010101" pitchFamily="2" charset="-122"/>
              </a:rPr>
              <a:t>sequential pattern</a:t>
            </a:r>
            <a:endParaRPr lang="en-US" altLang="zh-CN" sz="1800" b="0">
              <a:solidFill>
                <a:schemeClr val="tx2"/>
              </a:solidFill>
              <a:latin typeface="Tahoma" panose="020B0604030504040204" pitchFamily="34" charset="0"/>
              <a:ea typeface="宋体" panose="02010600030101010101" pitchFamily="2" charset="-122"/>
            </a:endParaRPr>
          </a:p>
        </p:txBody>
      </p:sp>
      <p:sp>
        <p:nvSpPr>
          <p:cNvPr id="17418" name="Text Box 11"/>
          <p:cNvSpPr txBox="1"/>
          <p:nvPr/>
        </p:nvSpPr>
        <p:spPr>
          <a:xfrm>
            <a:off x="739775" y="4749800"/>
            <a:ext cx="1319213" cy="641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chemeClr val="tx2"/>
                </a:solidFill>
                <a:latin typeface="Tahoma" panose="020B0604030504040204" pitchFamily="34" charset="0"/>
                <a:ea typeface="宋体" panose="02010600030101010101" pitchFamily="2" charset="-122"/>
              </a:rPr>
              <a:t>iceberg cube</a:t>
            </a:r>
            <a:endParaRPr lang="en-US" altLang="zh-CN" sz="1800" b="0">
              <a:solidFill>
                <a:schemeClr val="tx2"/>
              </a:solidFill>
              <a:latin typeface="Tahoma" panose="020B0604030504040204" pitchFamily="34" charset="0"/>
              <a:ea typeface="宋体" panose="02010600030101010101" pitchFamily="2" charset="-122"/>
            </a:endParaRPr>
          </a:p>
        </p:txBody>
      </p:sp>
      <p:sp>
        <p:nvSpPr>
          <p:cNvPr id="17419" name="Text Box 12"/>
          <p:cNvSpPr txBox="1"/>
          <p:nvPr/>
        </p:nvSpPr>
        <p:spPr>
          <a:xfrm>
            <a:off x="2692400" y="6148388"/>
            <a:ext cx="839788" cy="366712"/>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rgbClr val="FF6600"/>
                </a:solidFill>
                <a:latin typeface="Tahoma" panose="020B0604030504040204" pitchFamily="34" charset="0"/>
                <a:ea typeface="宋体" panose="02010600030101010101" pitchFamily="2" charset="-122"/>
              </a:rPr>
              <a:t>read</a:t>
            </a:r>
            <a:endParaRPr lang="en-US" altLang="zh-CN" sz="1800" b="0">
              <a:solidFill>
                <a:srgbClr val="FF6600"/>
              </a:solidFill>
              <a:latin typeface="Tahoma" panose="020B0604030504040204" pitchFamily="34" charset="0"/>
              <a:ea typeface="宋体" panose="02010600030101010101" pitchFamily="2" charset="-122"/>
            </a:endParaRPr>
          </a:p>
        </p:txBody>
      </p:sp>
      <p:sp>
        <p:nvSpPr>
          <p:cNvPr id="17420" name="Text Box 13"/>
          <p:cNvSpPr txBox="1"/>
          <p:nvPr/>
        </p:nvSpPr>
        <p:spPr>
          <a:xfrm>
            <a:off x="4181475" y="6157913"/>
            <a:ext cx="839788" cy="366712"/>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rgbClr val="FF6600"/>
                </a:solidFill>
                <a:latin typeface="Tahoma" panose="020B0604030504040204" pitchFamily="34" charset="0"/>
                <a:ea typeface="宋体" panose="02010600030101010101" pitchFamily="2" charset="-122"/>
              </a:rPr>
              <a:t>write</a:t>
            </a:r>
            <a:endParaRPr lang="en-US" altLang="zh-CN" sz="1800" b="0">
              <a:solidFill>
                <a:srgbClr val="FF6600"/>
              </a:solidFill>
              <a:latin typeface="Tahoma" panose="020B0604030504040204" pitchFamily="34" charset="0"/>
              <a:ea typeface="宋体" panose="02010600030101010101" pitchFamily="2" charset="-122"/>
            </a:endParaRPr>
          </a:p>
        </p:txBody>
      </p:sp>
      <p:sp>
        <p:nvSpPr>
          <p:cNvPr id="17421" name="Text Box 14"/>
          <p:cNvSpPr txBox="1"/>
          <p:nvPr/>
        </p:nvSpPr>
        <p:spPr>
          <a:xfrm>
            <a:off x="5637213" y="6103938"/>
            <a:ext cx="8397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rgbClr val="FF6600"/>
                </a:solidFill>
                <a:latin typeface="Tahoma" panose="020B0604030504040204" pitchFamily="34" charset="0"/>
                <a:ea typeface="宋体" panose="02010600030101010101" pitchFamily="2" charset="-122"/>
              </a:rPr>
              <a:t>point</a:t>
            </a:r>
            <a:endParaRPr lang="en-US" altLang="zh-CN" sz="1800" b="0">
              <a:solidFill>
                <a:srgbClr val="FF6600"/>
              </a:solidFill>
              <a:latin typeface="Tahoma" panose="020B0604030504040204" pitchFamily="34" charset="0"/>
              <a:ea typeface="宋体" panose="02010600030101010101" pitchFamily="2" charset="-122"/>
            </a:endParaRPr>
          </a:p>
        </p:txBody>
      </p:sp>
      <p:sp>
        <p:nvSpPr>
          <p:cNvPr id="17422" name="Line 15"/>
          <p:cNvSpPr/>
          <p:nvPr/>
        </p:nvSpPr>
        <p:spPr>
          <a:xfrm>
            <a:off x="1814513" y="5051425"/>
            <a:ext cx="347662" cy="0"/>
          </a:xfrm>
          <a:prstGeom prst="line">
            <a:avLst/>
          </a:prstGeom>
          <a:ln w="9525" cap="flat" cmpd="sng">
            <a:solidFill>
              <a:schemeClr val="tx1"/>
            </a:solidFill>
            <a:prstDash val="solid"/>
            <a:miter/>
            <a:headEnd type="none" w="med" len="med"/>
            <a:tailEnd type="none" w="med" len="med"/>
          </a:ln>
        </p:spPr>
      </p:sp>
      <p:sp>
        <p:nvSpPr>
          <p:cNvPr id="17423" name="Line 16"/>
          <p:cNvSpPr/>
          <p:nvPr/>
        </p:nvSpPr>
        <p:spPr>
          <a:xfrm>
            <a:off x="1801813" y="3230563"/>
            <a:ext cx="347662" cy="0"/>
          </a:xfrm>
          <a:prstGeom prst="line">
            <a:avLst/>
          </a:prstGeom>
          <a:ln w="9525" cap="flat" cmpd="sng">
            <a:solidFill>
              <a:schemeClr val="tx1"/>
            </a:solidFill>
            <a:prstDash val="solid"/>
            <a:miter/>
            <a:headEnd type="none" w="med" len="med"/>
            <a:tailEnd type="none" w="med" len="med"/>
          </a:ln>
        </p:spPr>
      </p:sp>
      <p:sp>
        <p:nvSpPr>
          <p:cNvPr id="17424" name="Line 17"/>
          <p:cNvSpPr/>
          <p:nvPr/>
        </p:nvSpPr>
        <p:spPr>
          <a:xfrm>
            <a:off x="1851025" y="2517775"/>
            <a:ext cx="347663" cy="0"/>
          </a:xfrm>
          <a:prstGeom prst="line">
            <a:avLst/>
          </a:prstGeom>
          <a:ln w="9525" cap="flat" cmpd="sng">
            <a:solidFill>
              <a:schemeClr val="tx1"/>
            </a:solidFill>
            <a:prstDash val="solid"/>
            <a:miter/>
            <a:headEnd type="none" w="med" len="med"/>
            <a:tailEnd type="none" w="med" len="med"/>
          </a:ln>
        </p:spPr>
      </p:sp>
      <p:sp>
        <p:nvSpPr>
          <p:cNvPr id="17425" name="Line 18"/>
          <p:cNvSpPr/>
          <p:nvPr/>
        </p:nvSpPr>
        <p:spPr>
          <a:xfrm flipV="1">
            <a:off x="3033713" y="5878513"/>
            <a:ext cx="0" cy="261937"/>
          </a:xfrm>
          <a:prstGeom prst="line">
            <a:avLst/>
          </a:prstGeom>
          <a:ln w="9525" cap="flat" cmpd="sng">
            <a:solidFill>
              <a:schemeClr val="tx1"/>
            </a:solidFill>
            <a:prstDash val="solid"/>
            <a:miter/>
            <a:headEnd type="none" w="med" len="med"/>
            <a:tailEnd type="none" w="med" len="med"/>
          </a:ln>
        </p:spPr>
      </p:sp>
      <p:sp>
        <p:nvSpPr>
          <p:cNvPr id="17426" name="Line 19"/>
          <p:cNvSpPr/>
          <p:nvPr/>
        </p:nvSpPr>
        <p:spPr>
          <a:xfrm flipV="1">
            <a:off x="4433888" y="5842000"/>
            <a:ext cx="0" cy="261938"/>
          </a:xfrm>
          <a:prstGeom prst="line">
            <a:avLst/>
          </a:prstGeom>
          <a:ln w="9525" cap="flat" cmpd="sng">
            <a:solidFill>
              <a:schemeClr val="tx1"/>
            </a:solidFill>
            <a:prstDash val="solid"/>
            <a:miter/>
            <a:headEnd type="none" w="med" len="med"/>
            <a:tailEnd type="none" w="med" len="med"/>
          </a:ln>
        </p:spPr>
      </p:sp>
      <p:sp>
        <p:nvSpPr>
          <p:cNvPr id="17427" name="Line 20"/>
          <p:cNvSpPr/>
          <p:nvPr/>
        </p:nvSpPr>
        <p:spPr>
          <a:xfrm flipV="1">
            <a:off x="5986463" y="5872163"/>
            <a:ext cx="0" cy="261937"/>
          </a:xfrm>
          <a:prstGeom prst="line">
            <a:avLst/>
          </a:prstGeom>
          <a:ln w="9525" cap="flat" cmpd="sng">
            <a:solidFill>
              <a:schemeClr val="tx1"/>
            </a:solidFill>
            <a:prstDash val="solid"/>
            <a:miter/>
            <a:headEnd type="none" w="med" len="med"/>
            <a:tailEnd type="none" w="med" len="med"/>
          </a:ln>
        </p:spPr>
      </p:sp>
      <p:sp>
        <p:nvSpPr>
          <p:cNvPr id="17428" name="Line 21"/>
          <p:cNvSpPr/>
          <p:nvPr/>
        </p:nvSpPr>
        <p:spPr>
          <a:xfrm>
            <a:off x="3267075" y="4906963"/>
            <a:ext cx="231775" cy="160337"/>
          </a:xfrm>
          <a:prstGeom prst="line">
            <a:avLst/>
          </a:prstGeom>
          <a:ln w="9525" cap="flat" cmpd="sng">
            <a:solidFill>
              <a:schemeClr val="tx1"/>
            </a:solidFill>
            <a:prstDash val="solid"/>
            <a:miter/>
            <a:headEnd type="none" w="med" len="med"/>
            <a:tailEnd type="none" w="med" len="med"/>
          </a:ln>
        </p:spPr>
      </p:sp>
      <p:sp>
        <p:nvSpPr>
          <p:cNvPr id="17429" name="Text Box 22"/>
          <p:cNvSpPr txBox="1"/>
          <p:nvPr/>
        </p:nvSpPr>
        <p:spPr>
          <a:xfrm rot="48346">
            <a:off x="4089400" y="2000250"/>
            <a:ext cx="2281238" cy="3365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b="0">
                <a:solidFill>
                  <a:schemeClr val="hlink"/>
                </a:solidFill>
                <a:latin typeface="Tahoma" panose="020B0604030504040204" pitchFamily="34" charset="0"/>
                <a:ea typeface="宋体" panose="02010600030101010101" pitchFamily="2" charset="-122"/>
              </a:rPr>
              <a:t>other interest measure</a:t>
            </a:r>
            <a:endParaRPr lang="en-US" altLang="zh-CN" sz="1600" b="0">
              <a:solidFill>
                <a:schemeClr val="hlink"/>
              </a:solidFill>
              <a:latin typeface="Tahoma" panose="020B0604030504040204" pitchFamily="34" charset="0"/>
              <a:ea typeface="宋体" panose="02010600030101010101" pitchFamily="2" charset="-122"/>
            </a:endParaRPr>
          </a:p>
        </p:txBody>
      </p:sp>
      <p:sp>
        <p:nvSpPr>
          <p:cNvPr id="17430" name="Text Box 23"/>
          <p:cNvSpPr txBox="1"/>
          <p:nvPr/>
        </p:nvSpPr>
        <p:spPr>
          <a:xfrm rot="48346">
            <a:off x="2311400" y="3736975"/>
            <a:ext cx="2393950" cy="3365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b="0">
                <a:solidFill>
                  <a:schemeClr val="hlink"/>
                </a:solidFill>
                <a:latin typeface="Tahoma" panose="020B0604030504040204" pitchFamily="34" charset="0"/>
                <a:ea typeface="宋体" panose="02010600030101010101" pitchFamily="2" charset="-122"/>
              </a:rPr>
              <a:t>compression method</a:t>
            </a:r>
            <a:endParaRPr lang="en-US" altLang="zh-CN" sz="1600" b="0">
              <a:solidFill>
                <a:schemeClr val="hlink"/>
              </a:solidFill>
              <a:latin typeface="Tahoma" panose="020B0604030504040204" pitchFamily="34" charset="0"/>
              <a:ea typeface="宋体" panose="02010600030101010101" pitchFamily="2" charset="-122"/>
            </a:endParaRPr>
          </a:p>
        </p:txBody>
      </p:sp>
      <p:sp>
        <p:nvSpPr>
          <p:cNvPr id="17431" name="Text Box 24"/>
          <p:cNvSpPr txBox="1"/>
          <p:nvPr/>
        </p:nvSpPr>
        <p:spPr>
          <a:xfrm rot="48346">
            <a:off x="3443288" y="3111500"/>
            <a:ext cx="1960562" cy="3365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b="0">
                <a:solidFill>
                  <a:schemeClr val="hlink"/>
                </a:solidFill>
                <a:latin typeface="Tahoma" panose="020B0604030504040204" pitchFamily="34" charset="0"/>
                <a:ea typeface="宋体" panose="02010600030101010101" pitchFamily="2" charset="-122"/>
              </a:rPr>
              <a:t>pruning method</a:t>
            </a:r>
            <a:endParaRPr lang="en-US" altLang="zh-CN" sz="1600" b="0">
              <a:solidFill>
                <a:schemeClr val="hlink"/>
              </a:solidFill>
              <a:latin typeface="Tahoma" panose="020B0604030504040204" pitchFamily="34" charset="0"/>
              <a:ea typeface="宋体" panose="02010600030101010101" pitchFamily="2" charset="-122"/>
            </a:endParaRPr>
          </a:p>
        </p:txBody>
      </p:sp>
      <p:sp>
        <p:nvSpPr>
          <p:cNvPr id="17432" name="Text Box 25"/>
          <p:cNvSpPr txBox="1"/>
          <p:nvPr/>
        </p:nvSpPr>
        <p:spPr>
          <a:xfrm rot="48346">
            <a:off x="4284663" y="2566988"/>
            <a:ext cx="1365250" cy="3365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b="0">
                <a:solidFill>
                  <a:schemeClr val="hlink"/>
                </a:solidFill>
                <a:latin typeface="Tahoma" panose="020B0604030504040204" pitchFamily="34" charset="0"/>
                <a:ea typeface="宋体" panose="02010600030101010101" pitchFamily="2" charset="-122"/>
              </a:rPr>
              <a:t>constraints</a:t>
            </a:r>
            <a:endParaRPr lang="en-US" altLang="zh-CN" sz="1600" b="0">
              <a:solidFill>
                <a:schemeClr val="hlink"/>
              </a:solidFill>
              <a:latin typeface="Tahoma" panose="020B0604030504040204" pitchFamily="34" charset="0"/>
              <a:ea typeface="宋体" panose="02010600030101010101" pitchFamily="2" charset="-122"/>
            </a:endParaRPr>
          </a:p>
        </p:txBody>
      </p:sp>
      <p:sp>
        <p:nvSpPr>
          <p:cNvPr id="17433" name="Text Box 26"/>
          <p:cNvSpPr txBox="1"/>
          <p:nvPr/>
        </p:nvSpPr>
        <p:spPr>
          <a:xfrm rot="48346">
            <a:off x="2427288" y="4583113"/>
            <a:ext cx="1365250" cy="581025"/>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600" b="0">
                <a:solidFill>
                  <a:schemeClr val="hlink"/>
                </a:solidFill>
                <a:latin typeface="Tahoma" panose="020B0604030504040204" pitchFamily="34" charset="0"/>
                <a:ea typeface="宋体" panose="02010600030101010101" pitchFamily="2" charset="-122"/>
              </a:rPr>
              <a:t>closed/max pattern</a:t>
            </a:r>
            <a:endParaRPr lang="en-US" altLang="zh-CN" sz="1600" b="0">
              <a:solidFill>
                <a:schemeClr val="hlink"/>
              </a:solidFill>
              <a:latin typeface="Tahoma" panose="020B0604030504040204" pitchFamily="34" charset="0"/>
              <a:ea typeface="宋体" panose="02010600030101010101" pitchFamily="2" charset="-122"/>
            </a:endParaRPr>
          </a:p>
        </p:txBody>
      </p:sp>
      <p:sp>
        <p:nvSpPr>
          <p:cNvPr id="17434" name="Line 27"/>
          <p:cNvSpPr/>
          <p:nvPr/>
        </p:nvSpPr>
        <p:spPr>
          <a:xfrm>
            <a:off x="4275138" y="4014788"/>
            <a:ext cx="231775" cy="160337"/>
          </a:xfrm>
          <a:prstGeom prst="line">
            <a:avLst/>
          </a:prstGeom>
          <a:ln w="9525" cap="flat" cmpd="sng">
            <a:solidFill>
              <a:schemeClr val="tx1"/>
            </a:solidFill>
            <a:prstDash val="solid"/>
            <a:miter/>
            <a:headEnd type="none" w="med" len="med"/>
            <a:tailEnd type="none" w="med" len="med"/>
          </a:ln>
        </p:spPr>
      </p:sp>
      <p:sp>
        <p:nvSpPr>
          <p:cNvPr id="17435" name="Line 28"/>
          <p:cNvSpPr/>
          <p:nvPr/>
        </p:nvSpPr>
        <p:spPr>
          <a:xfrm>
            <a:off x="4957763" y="3448050"/>
            <a:ext cx="231775" cy="160338"/>
          </a:xfrm>
          <a:prstGeom prst="line">
            <a:avLst/>
          </a:prstGeom>
          <a:ln w="9525" cap="flat" cmpd="sng">
            <a:solidFill>
              <a:schemeClr val="tx1"/>
            </a:solidFill>
            <a:prstDash val="solid"/>
            <a:miter/>
            <a:headEnd type="none" w="med" len="med"/>
            <a:tailEnd type="none" w="med" len="med"/>
          </a:ln>
        </p:spPr>
      </p:sp>
      <p:sp>
        <p:nvSpPr>
          <p:cNvPr id="17436" name="Line 29"/>
          <p:cNvSpPr/>
          <p:nvPr/>
        </p:nvSpPr>
        <p:spPr>
          <a:xfrm>
            <a:off x="5583238" y="2911475"/>
            <a:ext cx="231775" cy="160338"/>
          </a:xfrm>
          <a:prstGeom prst="line">
            <a:avLst/>
          </a:prstGeom>
          <a:ln w="9525" cap="flat" cmpd="sng">
            <a:solidFill>
              <a:schemeClr val="tx1"/>
            </a:solidFill>
            <a:prstDash val="solid"/>
            <a:miter/>
            <a:headEnd type="none" w="med" len="med"/>
            <a:tailEnd type="none" w="med" len="med"/>
          </a:ln>
        </p:spPr>
      </p:sp>
      <p:sp>
        <p:nvSpPr>
          <p:cNvPr id="17437" name="Line 30"/>
          <p:cNvSpPr/>
          <p:nvPr/>
        </p:nvSpPr>
        <p:spPr>
          <a:xfrm>
            <a:off x="6264275" y="2374900"/>
            <a:ext cx="231775" cy="160338"/>
          </a:xfrm>
          <a:prstGeom prst="line">
            <a:avLst/>
          </a:prstGeom>
          <a:ln w="9525" cap="flat" cmpd="sng">
            <a:solidFill>
              <a:schemeClr val="tx1"/>
            </a:solidFill>
            <a:prstDash val="solid"/>
            <a:miter/>
            <a:headEnd type="none" w="med" len="med"/>
            <a:tailEnd type="none" w="med" len="med"/>
          </a:ln>
        </p:spPr>
      </p:sp>
      <p:sp>
        <p:nvSpPr>
          <p:cNvPr id="17438" name="Text Box 31"/>
          <p:cNvSpPr txBox="1"/>
          <p:nvPr/>
        </p:nvSpPr>
        <p:spPr>
          <a:xfrm>
            <a:off x="657225" y="3838575"/>
            <a:ext cx="16827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1800" b="0">
                <a:solidFill>
                  <a:schemeClr val="tx2"/>
                </a:solidFill>
                <a:latin typeface="Tahoma" panose="020B0604030504040204" pitchFamily="34" charset="0"/>
                <a:ea typeface="宋体" panose="02010600030101010101" pitchFamily="2" charset="-122"/>
              </a:rPr>
              <a:t>Sub-Graph pattern</a:t>
            </a:r>
            <a:endParaRPr lang="en-US" altLang="zh-CN" sz="1800" b="0">
              <a:solidFill>
                <a:schemeClr val="tx2"/>
              </a:solidFill>
              <a:latin typeface="Tahoma" panose="020B0604030504040204" pitchFamily="34" charset="0"/>
              <a:ea typeface="宋体" panose="02010600030101010101" pitchFamily="2" charset="-122"/>
            </a:endParaRPr>
          </a:p>
        </p:txBody>
      </p:sp>
      <p:sp>
        <p:nvSpPr>
          <p:cNvPr id="17439" name="Line 32"/>
          <p:cNvSpPr/>
          <p:nvPr/>
        </p:nvSpPr>
        <p:spPr>
          <a:xfrm>
            <a:off x="1847850" y="4167188"/>
            <a:ext cx="347663" cy="0"/>
          </a:xfrm>
          <a:prstGeom prst="line">
            <a:avLst/>
          </a:prstGeom>
          <a:ln w="9525" cap="flat" cmpd="sng">
            <a:solidFill>
              <a:schemeClr val="tx1"/>
            </a:solidFill>
            <a:prstDash val="solid"/>
            <a:miter/>
            <a:headEnd type="none" w="med" len="med"/>
            <a:tailEnd type="none" w="med" len="me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idx="1"/>
          </p:nvPr>
        </p:nvSpPr>
        <p:spPr>
          <a:xfrm>
            <a:off x="304800" y="1752600"/>
            <a:ext cx="8534400" cy="4572000"/>
          </a:xfrm>
          <a:ln/>
        </p:spPr>
        <p:txBody>
          <a:bodyPr vert="horz" wrap="square" lIns="91440" tIns="45720" rIns="91440" bIns="45720" anchor="t" anchorCtr="0"/>
          <a:p>
            <a:r>
              <a:rPr lang="zh-CN" altLang="en-US">
                <a:latin typeface="宋体" panose="02010600030101010101" pitchFamily="2" charset="-122"/>
                <a:ea typeface="宋体" panose="02010600030101010101" pitchFamily="2" charset="-122"/>
              </a:rPr>
              <a:t>关联规则</a:t>
            </a:r>
            <a:endParaRPr lang="zh-CN" altLang="en-US">
              <a:latin typeface="宋体" panose="02010600030101010101" pitchFamily="2" charset="-122"/>
              <a:ea typeface="宋体" panose="02010600030101010101" pitchFamily="2" charset="-122"/>
            </a:endParaRPr>
          </a:p>
          <a:p>
            <a:pPr lvl="1"/>
            <a:r>
              <a:rPr lang="zh-CN" altLang="en-US">
                <a:solidFill>
                  <a:schemeClr val="folHlink"/>
                </a:solidFill>
                <a:ea typeface="宋体" panose="02010600030101010101" pitchFamily="2" charset="-122"/>
              </a:rPr>
              <a:t>基本概念</a:t>
            </a:r>
            <a:endParaRPr lang="zh-CN" altLang="en-US">
              <a:solidFill>
                <a:schemeClr val="folHlink"/>
              </a:solidFill>
              <a:ea typeface="宋体" panose="02010600030101010101" pitchFamily="2" charset="-122"/>
            </a:endParaRPr>
          </a:p>
          <a:p>
            <a:pPr lvl="1"/>
            <a:r>
              <a:rPr lang="en-US" altLang="zh-CN">
                <a:ea typeface="宋体" panose="02010600030101010101" pitchFamily="2" charset="-122"/>
              </a:rPr>
              <a:t>Apriori </a:t>
            </a:r>
            <a:r>
              <a:rPr lang="zh-CN" altLang="en-US">
                <a:ea typeface="宋体" panose="02010600030101010101" pitchFamily="2" charset="-122"/>
              </a:rPr>
              <a:t>及其改进算法</a:t>
            </a:r>
            <a:endParaRPr lang="zh-CN" altLang="en-US">
              <a:ea typeface="宋体" panose="02010600030101010101" pitchFamily="2" charset="-122"/>
            </a:endParaRPr>
          </a:p>
          <a:p>
            <a:pPr lvl="1"/>
            <a:r>
              <a:rPr lang="en-US" altLang="zh-CN">
                <a:ea typeface="宋体" panose="02010600030101010101" pitchFamily="2" charset="-122"/>
              </a:rPr>
              <a:t>Apriori-based Sub-Graph  Mining</a:t>
            </a:r>
            <a:endParaRPr lang="zh-CN" altLang="en-US">
              <a:ea typeface="宋体" panose="02010600030101010101" pitchFamily="2" charset="-122"/>
            </a:endParaRPr>
          </a:p>
        </p:txBody>
      </p:sp>
      <p:sp>
        <p:nvSpPr>
          <p:cNvPr id="575491" name="Rectangle 3"/>
          <p:cNvSpPr>
            <a:spLocks noChangeArrowheads="1"/>
          </p:cNvSpPr>
          <p:nvPr/>
        </p:nvSpPr>
        <p:spPr bwMode="auto">
          <a:xfrm>
            <a:off x="762000" y="0"/>
            <a:ext cx="8096250" cy="1066800"/>
          </a:xfrm>
          <a:prstGeom prst="rect">
            <a:avLst/>
          </a:prstGeom>
          <a:noFill/>
          <a:ln w="9525">
            <a:noFill/>
            <a:miter lim="800000"/>
          </a:ln>
          <a:effectLst/>
        </p:spPr>
        <p:txBody>
          <a:bodyPr lIns="92075" tIns="46038" rIns="92075" bIns="46038" anchor="b"/>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1" indent="0" algn="ctr" eaLnBrk="1" hangingPunct="1">
              <a:lnSpc>
                <a:spcPct val="90000"/>
              </a:lnSpc>
              <a:buClr>
                <a:schemeClr val="hlink"/>
              </a:buClr>
              <a:buSzPct val="70000"/>
              <a:buFont typeface="Wingdings" panose="05000000000000000000" pitchFamily="2" charset="2"/>
              <a:buNone/>
            </a:pPr>
            <a:r>
              <a:rPr lang="zh-CN" altLang="en-US" sz="4400" b="0">
                <a:effectLst>
                  <a:outerShdw blurRad="38100" dist="38100" dir="2700000">
                    <a:srgbClr val="FFFFFF"/>
                  </a:outerShdw>
                </a:effectLst>
                <a:ea typeface="宋体" panose="02010600030101010101" pitchFamily="2" charset="-122"/>
              </a:rPr>
              <a:t>本讲内容</a:t>
            </a:r>
            <a:endParaRPr lang="en-US" altLang="zh-CN" sz="4400" b="0">
              <a:effectLst>
                <a:outerShdw blurRad="38100" dist="38100" dir="2700000">
                  <a:srgbClr val="FFFFFF"/>
                </a:outerShdw>
              </a:effectLst>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5491"/>
                                        </p:tgtEl>
                                        <p:attrNameLst>
                                          <p:attrName>style.visibility</p:attrName>
                                        </p:attrNameLst>
                                      </p:cBhvr>
                                      <p:to>
                                        <p:strVal val="visible"/>
                                      </p:to>
                                    </p:set>
                                    <p:animEffect transition="in" filter="wipe(left)">
                                      <p:cBhvr>
                                        <p:cTn id="7" dur="500"/>
                                        <p:tgtEl>
                                          <p:spTgt spid="575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0" name="Rectangle 2"/>
          <p:cNvSpPr>
            <a:spLocks noGrp="1" noChangeArrowheads="1"/>
          </p:cNvSpPr>
          <p:nvPr>
            <p:ph type="title"/>
          </p:nvPr>
        </p:nvSpPr>
        <p:spPr>
          <a:xfrm>
            <a:off x="1027113" y="330200"/>
            <a:ext cx="6505575" cy="61436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Data and Knowledge Types</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19458" name="Rectangle 3"/>
          <p:cNvSpPr>
            <a:spLocks noGrp="1"/>
          </p:cNvSpPr>
          <p:nvPr>
            <p:ph idx="1"/>
          </p:nvPr>
        </p:nvSpPr>
        <p:spPr>
          <a:xfrm>
            <a:off x="347663" y="1712913"/>
            <a:ext cx="4156075" cy="5029200"/>
          </a:xfrm>
          <a:ln>
            <a:solidFill>
              <a:schemeClr val="tx1">
                <a:alpha val="100000"/>
              </a:schemeClr>
            </a:solidFill>
            <a:miter lim="800000"/>
          </a:ln>
        </p:spPr>
        <p:txBody>
          <a:bodyPr vert="horz" wrap="square" lIns="91440" tIns="45720" rIns="91440" bIns="45720" anchor="t" anchorCtr="0"/>
          <a:p>
            <a:pPr>
              <a:buSzPct val="80000"/>
            </a:pPr>
            <a:r>
              <a:rPr lang="en-US" altLang="zh-CN" sz="2400">
                <a:ea typeface="宋体" panose="02010600030101010101" pitchFamily="2" charset="-122"/>
              </a:rPr>
              <a:t>Associative Pattern</a:t>
            </a:r>
            <a:endParaRPr lang="en-US" altLang="zh-CN" sz="2400">
              <a:ea typeface="宋体" panose="02010600030101010101" pitchFamily="2" charset="-122"/>
            </a:endParaRPr>
          </a:p>
          <a:p>
            <a:pPr lvl="1">
              <a:buSzPct val="80000"/>
            </a:pPr>
            <a:r>
              <a:rPr lang="en-US" altLang="zh-CN">
                <a:ea typeface="宋体" panose="02010600030101010101" pitchFamily="2" charset="-122"/>
              </a:rPr>
              <a:t>transactional table vs relational table</a:t>
            </a:r>
            <a:endParaRPr lang="en-US" altLang="zh-CN">
              <a:ea typeface="宋体" panose="02010600030101010101" pitchFamily="2" charset="-122"/>
            </a:endParaRPr>
          </a:p>
          <a:p>
            <a:pPr lvl="1">
              <a:buSzPct val="80000"/>
            </a:pPr>
            <a:r>
              <a:rPr lang="en-US" altLang="zh-CN">
                <a:ea typeface="宋体" panose="02010600030101010101" pitchFamily="2" charset="-122"/>
              </a:rPr>
              <a:t>boolean vs quantitative</a:t>
            </a:r>
            <a:endParaRPr lang="en-US" altLang="zh-CN">
              <a:ea typeface="宋体" panose="02010600030101010101" pitchFamily="2" charset="-122"/>
            </a:endParaRPr>
          </a:p>
          <a:p>
            <a:pPr>
              <a:buSzPct val="80000"/>
            </a:pPr>
            <a:r>
              <a:rPr lang="en-US" altLang="zh-CN" sz="2400">
                <a:ea typeface="宋体" panose="02010600030101010101" pitchFamily="2" charset="-122"/>
              </a:rPr>
              <a:t>Sequential Pattern</a:t>
            </a:r>
            <a:endParaRPr lang="en-US" altLang="zh-CN" sz="2400">
              <a:ea typeface="宋体" panose="02010600030101010101" pitchFamily="2" charset="-122"/>
            </a:endParaRPr>
          </a:p>
          <a:p>
            <a:pPr lvl="1">
              <a:buSzPct val="80000"/>
            </a:pPr>
            <a:r>
              <a:rPr lang="en-US" altLang="zh-CN" sz="2000">
                <a:ea typeface="宋体" panose="02010600030101010101" pitchFamily="2" charset="-122"/>
              </a:rPr>
              <a:t>A </a:t>
            </a:r>
            <a:r>
              <a:rPr lang="en-US" altLang="zh-CN" i="1" u="sng">
                <a:solidFill>
                  <a:srgbClr val="FF0000"/>
                </a:solidFill>
                <a:ea typeface="宋体" panose="02010600030101010101" pitchFamily="2" charset="-122"/>
              </a:rPr>
              <a:t>sequence </a:t>
            </a:r>
            <a:r>
              <a:rPr lang="en-US" altLang="zh-CN" sz="2000">
                <a:ea typeface="宋体" panose="02010600030101010101" pitchFamily="2" charset="-122"/>
              </a:rPr>
              <a:t>:  &lt; (ef) (ab)  (df) c b &gt;</a:t>
            </a:r>
            <a:endParaRPr lang="en-US" altLang="zh-CN" sz="2000">
              <a:ea typeface="宋体" panose="02010600030101010101" pitchFamily="2" charset="-122"/>
            </a:endParaRPr>
          </a:p>
          <a:p>
            <a:pPr lvl="1">
              <a:buSzPct val="80000"/>
            </a:pPr>
            <a:r>
              <a:rPr lang="en-US" altLang="zh-CN">
                <a:ea typeface="宋体" panose="02010600030101010101" pitchFamily="2" charset="-122"/>
              </a:rPr>
              <a:t>(e,f)-&gt;(a,b)-&gt; c occur 50% of the time</a:t>
            </a:r>
            <a:endParaRPr lang="en-US" altLang="zh-CN">
              <a:ea typeface="宋体" panose="02010600030101010101" pitchFamily="2" charset="-122"/>
            </a:endParaRPr>
          </a:p>
          <a:p>
            <a:pPr>
              <a:buSzPct val="80000"/>
            </a:pPr>
            <a:r>
              <a:rPr lang="en-US" altLang="zh-CN" sz="2400">
                <a:ea typeface="宋体" panose="02010600030101010101" pitchFamily="2" charset="-122"/>
              </a:rPr>
              <a:t>Iceburg Cube</a:t>
            </a:r>
            <a:endParaRPr lang="en-US" altLang="zh-CN" sz="2400">
              <a:ea typeface="宋体" panose="02010600030101010101" pitchFamily="2" charset="-122"/>
            </a:endParaRPr>
          </a:p>
          <a:p>
            <a:pPr lvl="1">
              <a:buSzPct val="80000"/>
            </a:pPr>
            <a:r>
              <a:rPr lang="en-US" altLang="zh-CN">
                <a:ea typeface="宋体" panose="02010600030101010101" pitchFamily="2" charset="-122"/>
              </a:rPr>
              <a:t>table with a measures</a:t>
            </a:r>
            <a:endParaRPr lang="en-US" altLang="zh-CN">
              <a:ea typeface="宋体" panose="02010600030101010101" pitchFamily="2" charset="-122"/>
            </a:endParaRPr>
          </a:p>
        </p:txBody>
      </p:sp>
      <p:graphicFrame>
        <p:nvGraphicFramePr>
          <p:cNvPr id="555012" name="Group 4"/>
          <p:cNvGraphicFramePr>
            <a:graphicFrameLocks noGrp="1"/>
          </p:cNvGraphicFramePr>
          <p:nvPr/>
        </p:nvGraphicFramePr>
        <p:xfrm>
          <a:off x="4691063" y="1587500"/>
          <a:ext cx="1524000" cy="1312863"/>
        </p:xfrm>
        <a:graphic>
          <a:graphicData uri="http://schemas.openxmlformats.org/drawingml/2006/table">
            <a:tbl>
              <a:tblPr/>
              <a:tblGrid>
                <a:gridCol w="533400"/>
                <a:gridCol w="990600"/>
              </a:tblGrid>
              <a:tr h="261938">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TID</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Items</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938">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 c, d</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938">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20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b, c, e</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938">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30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 b, c, e</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5113">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40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b, e</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graphicFrame>
        <p:nvGraphicFramePr>
          <p:cNvPr id="555032" name="Group 24"/>
          <p:cNvGraphicFramePr>
            <a:graphicFrameLocks noGrp="1"/>
          </p:cNvGraphicFramePr>
          <p:nvPr/>
        </p:nvGraphicFramePr>
        <p:xfrm>
          <a:off x="6846888" y="1577975"/>
          <a:ext cx="1751013" cy="1439863"/>
        </p:xfrm>
        <a:graphic>
          <a:graphicData uri="http://schemas.openxmlformats.org/drawingml/2006/table">
            <a:tbl>
              <a:tblPr/>
              <a:tblGrid>
                <a:gridCol w="498383"/>
                <a:gridCol w="208246"/>
                <a:gridCol w="231732"/>
                <a:gridCol w="231732"/>
                <a:gridCol w="276174"/>
                <a:gridCol w="304744"/>
              </a:tblGrid>
              <a:tr h="394466">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TID</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miter lim="800000"/>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b</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c</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d</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e</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349">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349">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20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349">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30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261349">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40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7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L="91423" marR="91423" marT="45618" marB="45618"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19523" name="Line 68"/>
          <p:cNvSpPr/>
          <p:nvPr/>
        </p:nvSpPr>
        <p:spPr>
          <a:xfrm>
            <a:off x="6299200" y="2362200"/>
            <a:ext cx="449263" cy="0"/>
          </a:xfrm>
          <a:prstGeom prst="line">
            <a:avLst/>
          </a:prstGeom>
          <a:ln w="9525" cap="flat" cmpd="sng">
            <a:solidFill>
              <a:schemeClr val="tx1"/>
            </a:solidFill>
            <a:prstDash val="solid"/>
            <a:miter/>
            <a:headEnd type="none" w="med" len="med"/>
            <a:tailEnd type="triangle" w="med" len="med"/>
          </a:ln>
        </p:spPr>
      </p:sp>
      <p:sp>
        <p:nvSpPr>
          <p:cNvPr id="19524" name="Rectangle 69"/>
          <p:cNvSpPr/>
          <p:nvPr/>
        </p:nvSpPr>
        <p:spPr>
          <a:xfrm>
            <a:off x="5449888" y="2860675"/>
            <a:ext cx="24923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SzTx/>
              <a:buFontTx/>
              <a:buNone/>
            </a:pPr>
            <a:r>
              <a:rPr lang="en-US" altLang="zh-CN" sz="2000" b="0">
                <a:solidFill>
                  <a:schemeClr val="tx1"/>
                </a:solidFill>
                <a:latin typeface="Tahoma" panose="020B0604030504040204" pitchFamily="34" charset="0"/>
                <a:ea typeface="宋体" panose="02010600030101010101" pitchFamily="2" charset="-122"/>
              </a:rPr>
              <a:t>transactional=binary</a:t>
            </a:r>
            <a:endParaRPr lang="en-US" altLang="zh-CN" sz="2000" b="0">
              <a:solidFill>
                <a:schemeClr val="tx1"/>
              </a:solidFill>
              <a:latin typeface="Tahoma" panose="020B0604030504040204" pitchFamily="34" charset="0"/>
              <a:ea typeface="宋体" panose="02010600030101010101" pitchFamily="2" charset="-122"/>
            </a:endParaRPr>
          </a:p>
        </p:txBody>
      </p:sp>
      <p:graphicFrame>
        <p:nvGraphicFramePr>
          <p:cNvPr id="555078" name="Group 70"/>
          <p:cNvGraphicFramePr>
            <a:graphicFrameLocks noGrp="1"/>
          </p:cNvGraphicFramePr>
          <p:nvPr/>
        </p:nvGraphicFramePr>
        <p:xfrm>
          <a:off x="4687888" y="3402013"/>
          <a:ext cx="4114800" cy="1223963"/>
        </p:xfrm>
        <a:graphic>
          <a:graphicData uri="http://schemas.openxmlformats.org/drawingml/2006/table">
            <a:tbl>
              <a:tblPr/>
              <a:tblGrid>
                <a:gridCol w="685800"/>
                <a:gridCol w="533400"/>
                <a:gridCol w="914400"/>
                <a:gridCol w="762000"/>
                <a:gridCol w="609600"/>
                <a:gridCol w="609600"/>
              </a:tblGrid>
              <a:tr h="303213">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Month</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City</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Cust_grp</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Prod</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Cost</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Price</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r h="303213">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Jan</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Tor</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Edu</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Printer</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500</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485</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03213">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Mar</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Van</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Edu</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HD</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540</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520</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14324">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19562" name="Rectangle 107"/>
          <p:cNvSpPr/>
          <p:nvPr/>
        </p:nvSpPr>
        <p:spPr>
          <a:xfrm>
            <a:off x="4702175" y="4651375"/>
            <a:ext cx="42100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SzTx/>
              <a:buFontTx/>
              <a:buNone/>
            </a:pPr>
            <a:r>
              <a:rPr lang="en-US" altLang="zh-CN" sz="2000" b="0">
                <a:solidFill>
                  <a:schemeClr val="tx1"/>
                </a:solidFill>
                <a:latin typeface="Tahoma" panose="020B0604030504040204" pitchFamily="34" charset="0"/>
                <a:ea typeface="宋体" panose="02010600030101010101" pitchFamily="2" charset="-122"/>
              </a:rPr>
              <a:t>relational with quantitative attribute</a:t>
            </a:r>
            <a:endParaRPr lang="en-US" altLang="zh-CN" sz="2000" b="0">
              <a:solidFill>
                <a:schemeClr val="tx1"/>
              </a:solidFill>
              <a:latin typeface="Tahoma" panose="020B0604030504040204" pitchFamily="34" charset="0"/>
              <a:ea typeface="宋体" panose="02010600030101010101" pitchFamily="2" charset="-122"/>
            </a:endParaRPr>
          </a:p>
        </p:txBody>
      </p:sp>
      <p:graphicFrame>
        <p:nvGraphicFramePr>
          <p:cNvPr id="555116" name="Group 108"/>
          <p:cNvGraphicFramePr>
            <a:graphicFrameLocks noGrp="1"/>
          </p:cNvGraphicFramePr>
          <p:nvPr/>
        </p:nvGraphicFramePr>
        <p:xfrm>
          <a:off x="4826000" y="5222875"/>
          <a:ext cx="4084638" cy="1111250"/>
        </p:xfrm>
        <a:graphic>
          <a:graphicData uri="http://schemas.openxmlformats.org/drawingml/2006/table">
            <a:tbl>
              <a:tblPr/>
              <a:tblGrid>
                <a:gridCol w="798513"/>
                <a:gridCol w="622300"/>
                <a:gridCol w="923925"/>
                <a:gridCol w="666750"/>
                <a:gridCol w="1073150"/>
              </a:tblGrid>
              <a:tr h="493767">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Month</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716" marB="4571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City</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Cust_grp</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Prod</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Cost</a:t>
                      </a:r>
                      <a:endParaRPr kumimoji="0" lang="en-US" altLang="zh-CN" sz="1200" b="1"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0" i="0" u="none" strike="noStrike" cap="none" normalizeH="0" baseline="0">
                          <a:ln>
                            <a:noFill/>
                          </a:ln>
                          <a:solidFill>
                            <a:schemeClr val="folHlink"/>
                          </a:solidFill>
                          <a:effectLst/>
                          <a:latin typeface="Times New Roman" panose="02020603050405020304" pitchFamily="18" charset="0"/>
                          <a:ea typeface="宋体" panose="02010600030101010101" pitchFamily="2" charset="-122"/>
                        </a:rPr>
                        <a:t>(Support)</a:t>
                      </a:r>
                      <a:endParaRPr kumimoji="0" lang="en-US" altLang="zh-CN" sz="1200" b="0" i="0" u="none" strike="noStrike" cap="none" normalizeH="0" baseline="0">
                        <a:ln>
                          <a:noFill/>
                        </a:ln>
                        <a:solidFill>
                          <a:schemeClr val="folHlink"/>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2"/>
                    </a:solidFill>
                  </a:tcPr>
                </a:tc>
              </a:tr>
              <a:tr h="303186">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Jan</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Tor</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endParaRPr kumimoji="0" lang="zh-CN" altLang="en-US"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Printer</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1040</a:t>
                      </a:r>
                      <a:endParaRPr kumimoji="0" lang="en-US" altLang="zh-CN" sz="12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tr>
              <a:tr h="314296">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pitchFamily="34" charset="0"/>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pitchFamily="34" charset="0"/>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pitchFamily="34" charset="0"/>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rgbClr val="170981"/>
                          </a:solidFill>
                          <a:effectLst/>
                          <a:latin typeface="Tahoma" panose="020B0604030504040204" pitchFamily="34" charset="0"/>
                          <a:ea typeface="宋体" panose="02010600030101010101" pitchFamily="2" charset="-122"/>
                        </a:rPr>
                        <a:t>…</a:t>
                      </a:r>
                      <a:endParaRPr kumimoji="0" lang="en-US" altLang="zh-CN" sz="12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200" b="1" i="0" u="none" strike="noStrike" cap="none" normalizeH="0" baseline="0">
                          <a:ln>
                            <a:noFill/>
                          </a:ln>
                          <a:solidFill>
                            <a:schemeClr val="accent1"/>
                          </a:solidFill>
                          <a:effectLst/>
                          <a:latin typeface="Tahoma" panose="020B0604030504040204" pitchFamily="34" charset="0"/>
                          <a:ea typeface="宋体" panose="02010600030101010101" pitchFamily="2" charset="-122"/>
                        </a:rPr>
                        <a:t>…</a:t>
                      </a:r>
                      <a:endParaRPr kumimoji="0" lang="en-US" altLang="zh-CN" sz="12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2"/>
                    </a:solidFill>
                  </a:tcPr>
                </a:tc>
              </a:tr>
            </a:tbl>
          </a:graphicData>
        </a:graphic>
      </p:graphicFrame>
      <p:sp>
        <p:nvSpPr>
          <p:cNvPr id="19589" name="Rectangle 134"/>
          <p:cNvSpPr/>
          <p:nvPr/>
        </p:nvSpPr>
        <p:spPr>
          <a:xfrm>
            <a:off x="4641850" y="6284913"/>
            <a:ext cx="44418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SzTx/>
              <a:buFontTx/>
              <a:buNone/>
            </a:pPr>
            <a:r>
              <a:rPr lang="en-US" altLang="zh-CN" sz="2000" b="0">
                <a:solidFill>
                  <a:schemeClr val="tx1"/>
                </a:solidFill>
                <a:latin typeface="Tahoma" panose="020B0604030504040204" pitchFamily="34" charset="0"/>
                <a:ea typeface="宋体" panose="02010600030101010101" pitchFamily="2" charset="-122"/>
              </a:rPr>
              <a:t>cube: using other measure as support</a:t>
            </a:r>
            <a:endParaRPr lang="en-US" altLang="zh-CN" sz="2000" b="0">
              <a:solidFill>
                <a:schemeClr val="tx1"/>
              </a:solidFill>
              <a:latin typeface="Tahoma" panose="020B0604030504040204" pitchFamily="34" charset="0"/>
              <a:ea typeface="宋体" panose="02010600030101010101" pitchFamily="2" charset="-122"/>
            </a:endParaRPr>
          </a:p>
        </p:txBody>
      </p:sp>
    </p:spTree>
  </p:cSld>
  <p:clrMapOvr>
    <a:masterClrMapping/>
  </p:clrMapOvr>
  <p:transition advClick="0">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7058"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Simulation of Lattice Transversal</a:t>
            </a:r>
            <a:endParaRPr kumimoji="0" lang="en-US" altLang="zh-CN" sz="1600" b="0" i="0" u="none" strike="noStrike" kern="0" cap="none" spc="0" normalizeH="0" baseline="0" noProof="0">
              <a:ln>
                <a:noFill/>
              </a:ln>
              <a:solidFill>
                <a:schemeClr val="tx1"/>
              </a:solidFill>
              <a:effectLst>
                <a:outerShdw blurRad="38100" dist="38100" dir="2700000" algn="tl">
                  <a:srgbClr val="FFFFFF"/>
                </a:outerShdw>
              </a:effectLst>
              <a:uLnTx/>
              <a:uFillTx/>
              <a:latin typeface="+mj-lt"/>
              <a:ea typeface="宋体" panose="02010600030101010101" pitchFamily="2" charset="-122"/>
              <a:cs typeface="+mj-cs"/>
            </a:endParaRPr>
          </a:p>
        </p:txBody>
      </p:sp>
      <p:sp>
        <p:nvSpPr>
          <p:cNvPr id="21506" name="Oval 3"/>
          <p:cNvSpPr/>
          <p:nvPr/>
        </p:nvSpPr>
        <p:spPr>
          <a:xfrm>
            <a:off x="4608513" y="3854450"/>
            <a:ext cx="782637"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a:t>
            </a:r>
            <a:endParaRPr lang="en-US" altLang="zh-CN" sz="2400" b="0">
              <a:solidFill>
                <a:schemeClr val="tx1"/>
              </a:solidFill>
              <a:ea typeface="宋体" panose="02010600030101010101" pitchFamily="2" charset="-122"/>
            </a:endParaRPr>
          </a:p>
        </p:txBody>
      </p:sp>
      <p:sp>
        <p:nvSpPr>
          <p:cNvPr id="21507" name="Oval 4"/>
          <p:cNvSpPr/>
          <p:nvPr/>
        </p:nvSpPr>
        <p:spPr>
          <a:xfrm>
            <a:off x="5446713"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a,e</a:t>
            </a:r>
            <a:endParaRPr lang="en-US" altLang="zh-CN" sz="2400" b="0">
              <a:solidFill>
                <a:schemeClr val="tx1"/>
              </a:solidFill>
              <a:ea typeface="宋体" panose="02010600030101010101" pitchFamily="2" charset="-122"/>
            </a:endParaRPr>
          </a:p>
        </p:txBody>
      </p:sp>
      <p:sp>
        <p:nvSpPr>
          <p:cNvPr id="21508" name="Oval 5"/>
          <p:cNvSpPr/>
          <p:nvPr/>
        </p:nvSpPr>
        <p:spPr>
          <a:xfrm>
            <a:off x="7162800"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b,e</a:t>
            </a:r>
            <a:endParaRPr lang="en-US" altLang="zh-CN" sz="2400" b="0">
              <a:solidFill>
                <a:schemeClr val="tx1"/>
              </a:solidFill>
              <a:ea typeface="宋体" panose="02010600030101010101" pitchFamily="2" charset="-122"/>
            </a:endParaRPr>
          </a:p>
        </p:txBody>
      </p:sp>
      <p:sp>
        <p:nvSpPr>
          <p:cNvPr id="21509" name="Oval 6"/>
          <p:cNvSpPr/>
          <p:nvPr/>
        </p:nvSpPr>
        <p:spPr>
          <a:xfrm>
            <a:off x="6315075"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a:t>
            </a:r>
            <a:endParaRPr lang="en-US" altLang="zh-CN" sz="2400" b="0">
              <a:solidFill>
                <a:schemeClr val="tx1"/>
              </a:solidFill>
              <a:ea typeface="宋体" panose="02010600030101010101" pitchFamily="2" charset="-122"/>
            </a:endParaRPr>
          </a:p>
        </p:txBody>
      </p:sp>
      <p:sp>
        <p:nvSpPr>
          <p:cNvPr id="21510" name="Oval 7"/>
          <p:cNvSpPr/>
          <p:nvPr/>
        </p:nvSpPr>
        <p:spPr>
          <a:xfrm>
            <a:off x="3790950" y="3854450"/>
            <a:ext cx="760413"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a:t>
            </a:r>
            <a:endParaRPr lang="en-US" altLang="zh-CN" sz="2400" b="0">
              <a:solidFill>
                <a:schemeClr val="tx1"/>
              </a:solidFill>
              <a:ea typeface="宋体" panose="02010600030101010101" pitchFamily="2" charset="-122"/>
            </a:endParaRPr>
          </a:p>
        </p:txBody>
      </p:sp>
      <p:sp>
        <p:nvSpPr>
          <p:cNvPr id="21511" name="Oval 8"/>
          <p:cNvSpPr/>
          <p:nvPr/>
        </p:nvSpPr>
        <p:spPr>
          <a:xfrm>
            <a:off x="8035925" y="3849688"/>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c,e</a:t>
            </a:r>
            <a:endParaRPr lang="en-US" altLang="zh-CN" sz="2400" b="0">
              <a:solidFill>
                <a:schemeClr val="tx1"/>
              </a:solidFill>
              <a:ea typeface="宋体" panose="02010600030101010101" pitchFamily="2" charset="-122"/>
            </a:endParaRPr>
          </a:p>
        </p:txBody>
      </p:sp>
      <p:sp>
        <p:nvSpPr>
          <p:cNvPr id="21512" name="Oval 9"/>
          <p:cNvSpPr/>
          <p:nvPr/>
        </p:nvSpPr>
        <p:spPr>
          <a:xfrm>
            <a:off x="7026275" y="2706688"/>
            <a:ext cx="727075" cy="72231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b,c,e</a:t>
            </a:r>
            <a:endParaRPr lang="en-US" altLang="zh-CN" sz="2400" b="0">
              <a:solidFill>
                <a:schemeClr val="tx1"/>
              </a:solidFill>
              <a:ea typeface="宋体" panose="02010600030101010101" pitchFamily="2" charset="-122"/>
            </a:endParaRPr>
          </a:p>
        </p:txBody>
      </p:sp>
      <p:sp>
        <p:nvSpPr>
          <p:cNvPr id="21513" name="Oval 10"/>
          <p:cNvSpPr/>
          <p:nvPr/>
        </p:nvSpPr>
        <p:spPr>
          <a:xfrm>
            <a:off x="5410200" y="2746375"/>
            <a:ext cx="747713"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a,b,e</a:t>
            </a:r>
            <a:endParaRPr lang="en-US" altLang="zh-CN" sz="2400" b="0">
              <a:solidFill>
                <a:schemeClr val="tx1"/>
              </a:solidFill>
              <a:ea typeface="宋体" panose="02010600030101010101" pitchFamily="2" charset="-122"/>
            </a:endParaRPr>
          </a:p>
        </p:txBody>
      </p:sp>
      <p:sp>
        <p:nvSpPr>
          <p:cNvPr id="21514" name="Oval 11"/>
          <p:cNvSpPr/>
          <p:nvPr/>
        </p:nvSpPr>
        <p:spPr>
          <a:xfrm>
            <a:off x="6224588" y="2746375"/>
            <a:ext cx="749300"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a,c,e</a:t>
            </a:r>
            <a:endParaRPr lang="en-US" altLang="zh-CN" sz="2400" b="0">
              <a:solidFill>
                <a:schemeClr val="tx1"/>
              </a:solidFill>
              <a:ea typeface="宋体" panose="02010600030101010101" pitchFamily="2" charset="-122"/>
            </a:endParaRPr>
          </a:p>
        </p:txBody>
      </p:sp>
      <p:sp>
        <p:nvSpPr>
          <p:cNvPr id="21515" name="Oval 12"/>
          <p:cNvSpPr/>
          <p:nvPr/>
        </p:nvSpPr>
        <p:spPr>
          <a:xfrm>
            <a:off x="4629150" y="2746375"/>
            <a:ext cx="727075"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a,b,c</a:t>
            </a:r>
            <a:endParaRPr lang="en-US" altLang="zh-CN" sz="2400" b="0">
              <a:solidFill>
                <a:schemeClr val="tx1"/>
              </a:solidFill>
              <a:ea typeface="宋体" panose="02010600030101010101" pitchFamily="2" charset="-122"/>
            </a:endParaRPr>
          </a:p>
        </p:txBody>
      </p:sp>
      <p:sp>
        <p:nvSpPr>
          <p:cNvPr id="21516" name="Oval 13"/>
          <p:cNvSpPr/>
          <p:nvPr/>
        </p:nvSpPr>
        <p:spPr>
          <a:xfrm>
            <a:off x="4933950" y="4916488"/>
            <a:ext cx="685800"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a:t>
            </a:r>
            <a:endParaRPr lang="en-US" altLang="zh-CN" sz="2400" b="0">
              <a:solidFill>
                <a:schemeClr val="tx1"/>
              </a:solidFill>
              <a:ea typeface="宋体" panose="02010600030101010101" pitchFamily="2" charset="-122"/>
            </a:endParaRPr>
          </a:p>
        </p:txBody>
      </p:sp>
      <p:sp>
        <p:nvSpPr>
          <p:cNvPr id="21517" name="Oval 14"/>
          <p:cNvSpPr/>
          <p:nvPr/>
        </p:nvSpPr>
        <p:spPr>
          <a:xfrm>
            <a:off x="5675313" y="4916488"/>
            <a:ext cx="684212"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a:t>
            </a:r>
            <a:endParaRPr lang="en-US" altLang="zh-CN" sz="2400" b="0">
              <a:solidFill>
                <a:schemeClr val="tx1"/>
              </a:solidFill>
              <a:ea typeface="宋体" panose="02010600030101010101" pitchFamily="2" charset="-122"/>
            </a:endParaRPr>
          </a:p>
        </p:txBody>
      </p:sp>
      <p:sp>
        <p:nvSpPr>
          <p:cNvPr id="21518" name="Oval 15"/>
          <p:cNvSpPr/>
          <p:nvPr/>
        </p:nvSpPr>
        <p:spPr>
          <a:xfrm>
            <a:off x="6416675" y="4916488"/>
            <a:ext cx="684213"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a:t>
            </a:r>
            <a:endParaRPr lang="en-US" altLang="zh-CN" sz="2400" b="0">
              <a:solidFill>
                <a:schemeClr val="tx1"/>
              </a:solidFill>
              <a:ea typeface="宋体" panose="02010600030101010101" pitchFamily="2" charset="-122"/>
            </a:endParaRPr>
          </a:p>
        </p:txBody>
      </p:sp>
      <p:sp>
        <p:nvSpPr>
          <p:cNvPr id="21519" name="Oval 16"/>
          <p:cNvSpPr/>
          <p:nvPr/>
        </p:nvSpPr>
        <p:spPr>
          <a:xfrm>
            <a:off x="7159625" y="4916488"/>
            <a:ext cx="682625"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e</a:t>
            </a:r>
            <a:endParaRPr lang="en-US" altLang="zh-CN" sz="2400" b="0">
              <a:solidFill>
                <a:schemeClr val="tx1"/>
              </a:solidFill>
              <a:ea typeface="宋体" panose="02010600030101010101" pitchFamily="2" charset="-122"/>
            </a:endParaRPr>
          </a:p>
        </p:txBody>
      </p:sp>
      <p:sp>
        <p:nvSpPr>
          <p:cNvPr id="21520" name="Oval 17"/>
          <p:cNvSpPr/>
          <p:nvPr/>
        </p:nvSpPr>
        <p:spPr>
          <a:xfrm>
            <a:off x="5772150" y="1639888"/>
            <a:ext cx="838200" cy="838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a,b,c,e</a:t>
            </a:r>
            <a:endParaRPr lang="en-US" altLang="zh-CN" sz="2400" b="0">
              <a:solidFill>
                <a:schemeClr val="tx1"/>
              </a:solidFill>
              <a:ea typeface="宋体" panose="02010600030101010101" pitchFamily="2" charset="-122"/>
            </a:endParaRPr>
          </a:p>
        </p:txBody>
      </p:sp>
      <p:sp>
        <p:nvSpPr>
          <p:cNvPr id="21521" name="Oval 18"/>
          <p:cNvSpPr/>
          <p:nvPr/>
        </p:nvSpPr>
        <p:spPr>
          <a:xfrm>
            <a:off x="6305550" y="6135688"/>
            <a:ext cx="598488" cy="5334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t>
            </a:r>
            <a:endParaRPr lang="en-US" altLang="zh-CN" sz="2400" b="0">
              <a:solidFill>
                <a:schemeClr val="tx1"/>
              </a:solidFill>
              <a:ea typeface="宋体" panose="02010600030101010101" pitchFamily="2" charset="-122"/>
            </a:endParaRPr>
          </a:p>
        </p:txBody>
      </p:sp>
      <p:sp>
        <p:nvSpPr>
          <p:cNvPr id="21522" name="Line 19"/>
          <p:cNvSpPr/>
          <p:nvPr/>
        </p:nvSpPr>
        <p:spPr>
          <a:xfrm flipV="1">
            <a:off x="6915150" y="5602288"/>
            <a:ext cx="609600" cy="609600"/>
          </a:xfrm>
          <a:prstGeom prst="line">
            <a:avLst/>
          </a:prstGeom>
          <a:ln w="19050" cap="flat" cmpd="sng">
            <a:solidFill>
              <a:schemeClr val="tx1"/>
            </a:solidFill>
            <a:prstDash val="solid"/>
            <a:headEnd type="none" w="sm" len="sm"/>
            <a:tailEnd type="triangle" w="med" len="med"/>
          </a:ln>
        </p:spPr>
      </p:sp>
      <p:sp>
        <p:nvSpPr>
          <p:cNvPr id="21523" name="Line 20"/>
          <p:cNvSpPr/>
          <p:nvPr/>
        </p:nvSpPr>
        <p:spPr>
          <a:xfrm flipV="1">
            <a:off x="6686550" y="5526088"/>
            <a:ext cx="76200" cy="609600"/>
          </a:xfrm>
          <a:prstGeom prst="line">
            <a:avLst/>
          </a:prstGeom>
          <a:ln w="19050" cap="flat" cmpd="sng">
            <a:solidFill>
              <a:schemeClr val="tx1"/>
            </a:solidFill>
            <a:prstDash val="solid"/>
            <a:headEnd type="none" w="sm" len="sm"/>
            <a:tailEnd type="triangle" w="med" len="med"/>
          </a:ln>
        </p:spPr>
      </p:sp>
      <p:sp>
        <p:nvSpPr>
          <p:cNvPr id="21524" name="Line 21"/>
          <p:cNvSpPr/>
          <p:nvPr/>
        </p:nvSpPr>
        <p:spPr>
          <a:xfrm flipH="1" flipV="1">
            <a:off x="6076950" y="5526088"/>
            <a:ext cx="304800" cy="685800"/>
          </a:xfrm>
          <a:prstGeom prst="line">
            <a:avLst/>
          </a:prstGeom>
          <a:ln w="19050" cap="flat" cmpd="sng">
            <a:solidFill>
              <a:schemeClr val="tx1"/>
            </a:solidFill>
            <a:prstDash val="solid"/>
            <a:headEnd type="none" w="sm" len="sm"/>
            <a:tailEnd type="triangle" w="med" len="med"/>
          </a:ln>
        </p:spPr>
      </p:sp>
      <p:sp>
        <p:nvSpPr>
          <p:cNvPr id="21525" name="Line 22"/>
          <p:cNvSpPr/>
          <p:nvPr/>
        </p:nvSpPr>
        <p:spPr>
          <a:xfrm flipH="1" flipV="1">
            <a:off x="5391150" y="5526088"/>
            <a:ext cx="914400" cy="838200"/>
          </a:xfrm>
          <a:prstGeom prst="line">
            <a:avLst/>
          </a:prstGeom>
          <a:ln w="19050" cap="flat" cmpd="sng">
            <a:solidFill>
              <a:schemeClr val="tx1"/>
            </a:solidFill>
            <a:prstDash val="solid"/>
            <a:headEnd type="none" w="sm" len="sm"/>
            <a:tailEnd type="triangle" w="med" len="med"/>
          </a:ln>
        </p:spPr>
      </p:sp>
      <p:sp>
        <p:nvSpPr>
          <p:cNvPr id="21526" name="Line 23"/>
          <p:cNvSpPr/>
          <p:nvPr/>
        </p:nvSpPr>
        <p:spPr>
          <a:xfrm flipH="1" flipV="1">
            <a:off x="4400550" y="4535488"/>
            <a:ext cx="533400" cy="533400"/>
          </a:xfrm>
          <a:prstGeom prst="line">
            <a:avLst/>
          </a:prstGeom>
          <a:ln w="19050" cap="flat" cmpd="sng">
            <a:solidFill>
              <a:schemeClr val="tx1"/>
            </a:solidFill>
            <a:prstDash val="solid"/>
            <a:headEnd type="none" w="sm" len="sm"/>
            <a:tailEnd type="triangle" w="med" len="med"/>
          </a:ln>
        </p:spPr>
      </p:sp>
      <p:sp>
        <p:nvSpPr>
          <p:cNvPr id="21527" name="Line 24"/>
          <p:cNvSpPr/>
          <p:nvPr/>
        </p:nvSpPr>
        <p:spPr>
          <a:xfrm flipH="1" flipV="1">
            <a:off x="5086350" y="4535488"/>
            <a:ext cx="76200" cy="381000"/>
          </a:xfrm>
          <a:prstGeom prst="line">
            <a:avLst/>
          </a:prstGeom>
          <a:ln w="19050" cap="flat" cmpd="sng">
            <a:solidFill>
              <a:schemeClr val="tx1"/>
            </a:solidFill>
            <a:prstDash val="solid"/>
            <a:headEnd type="none" w="sm" len="sm"/>
            <a:tailEnd type="triangle" w="med" len="med"/>
          </a:ln>
        </p:spPr>
      </p:sp>
      <p:sp>
        <p:nvSpPr>
          <p:cNvPr id="21528" name="Line 25"/>
          <p:cNvSpPr/>
          <p:nvPr/>
        </p:nvSpPr>
        <p:spPr>
          <a:xfrm flipV="1">
            <a:off x="5467350" y="4535488"/>
            <a:ext cx="381000" cy="381000"/>
          </a:xfrm>
          <a:prstGeom prst="line">
            <a:avLst/>
          </a:prstGeom>
          <a:ln w="19050" cap="flat" cmpd="sng">
            <a:solidFill>
              <a:schemeClr val="tx1"/>
            </a:solidFill>
            <a:prstDash val="solid"/>
            <a:headEnd type="none" w="sm" len="sm"/>
            <a:tailEnd type="triangle" w="med" len="med"/>
          </a:ln>
        </p:spPr>
      </p:sp>
      <p:sp>
        <p:nvSpPr>
          <p:cNvPr id="21529" name="Line 26"/>
          <p:cNvSpPr/>
          <p:nvPr/>
        </p:nvSpPr>
        <p:spPr>
          <a:xfrm flipV="1">
            <a:off x="6076950" y="4535488"/>
            <a:ext cx="609600" cy="381000"/>
          </a:xfrm>
          <a:prstGeom prst="line">
            <a:avLst/>
          </a:prstGeom>
          <a:ln w="19050" cap="flat" cmpd="sng">
            <a:solidFill>
              <a:schemeClr val="tx1"/>
            </a:solidFill>
            <a:prstDash val="solid"/>
            <a:headEnd type="none" w="sm" len="sm"/>
            <a:tailEnd type="triangle" w="med" len="med"/>
          </a:ln>
        </p:spPr>
      </p:sp>
      <p:sp>
        <p:nvSpPr>
          <p:cNvPr id="21530" name="Line 27"/>
          <p:cNvSpPr/>
          <p:nvPr/>
        </p:nvSpPr>
        <p:spPr>
          <a:xfrm flipH="1" flipV="1">
            <a:off x="4476750" y="4535488"/>
            <a:ext cx="1524000" cy="381000"/>
          </a:xfrm>
          <a:prstGeom prst="line">
            <a:avLst/>
          </a:prstGeom>
          <a:ln w="19050" cap="flat" cmpd="sng">
            <a:solidFill>
              <a:schemeClr val="tx1"/>
            </a:solidFill>
            <a:prstDash val="solid"/>
            <a:headEnd type="none" w="sm" len="sm"/>
            <a:tailEnd type="triangle" w="med" len="med"/>
          </a:ln>
        </p:spPr>
      </p:sp>
      <p:sp>
        <p:nvSpPr>
          <p:cNvPr id="21531" name="Line 28"/>
          <p:cNvSpPr/>
          <p:nvPr/>
        </p:nvSpPr>
        <p:spPr>
          <a:xfrm flipV="1">
            <a:off x="6153150" y="4535488"/>
            <a:ext cx="1219200" cy="381000"/>
          </a:xfrm>
          <a:prstGeom prst="line">
            <a:avLst/>
          </a:prstGeom>
          <a:ln w="19050" cap="flat" cmpd="sng">
            <a:solidFill>
              <a:schemeClr val="tx1"/>
            </a:solidFill>
            <a:prstDash val="solid"/>
            <a:headEnd type="none" w="sm" len="sm"/>
            <a:tailEnd type="triangle" w="med" len="med"/>
          </a:ln>
        </p:spPr>
      </p:sp>
      <p:sp>
        <p:nvSpPr>
          <p:cNvPr id="21532" name="Line 29"/>
          <p:cNvSpPr/>
          <p:nvPr/>
        </p:nvSpPr>
        <p:spPr>
          <a:xfrm flipH="1" flipV="1">
            <a:off x="5238750" y="4535488"/>
            <a:ext cx="1371600" cy="381000"/>
          </a:xfrm>
          <a:prstGeom prst="line">
            <a:avLst/>
          </a:prstGeom>
          <a:ln w="19050" cap="flat" cmpd="sng">
            <a:solidFill>
              <a:schemeClr val="tx1"/>
            </a:solidFill>
            <a:prstDash val="solid"/>
            <a:headEnd type="none" w="sm" len="sm"/>
            <a:tailEnd type="triangle" w="med" len="med"/>
          </a:ln>
        </p:spPr>
      </p:sp>
      <p:sp>
        <p:nvSpPr>
          <p:cNvPr id="21533" name="Line 30"/>
          <p:cNvSpPr/>
          <p:nvPr/>
        </p:nvSpPr>
        <p:spPr>
          <a:xfrm flipV="1">
            <a:off x="6762750" y="4535488"/>
            <a:ext cx="0" cy="381000"/>
          </a:xfrm>
          <a:prstGeom prst="line">
            <a:avLst/>
          </a:prstGeom>
          <a:ln w="19050" cap="flat" cmpd="sng">
            <a:solidFill>
              <a:schemeClr val="tx1"/>
            </a:solidFill>
            <a:prstDash val="solid"/>
            <a:headEnd type="none" w="sm" len="sm"/>
            <a:tailEnd type="triangle" w="med" len="med"/>
          </a:ln>
        </p:spPr>
      </p:sp>
      <p:sp>
        <p:nvSpPr>
          <p:cNvPr id="21534" name="Line 31"/>
          <p:cNvSpPr/>
          <p:nvPr/>
        </p:nvSpPr>
        <p:spPr>
          <a:xfrm flipV="1">
            <a:off x="6991350" y="4535488"/>
            <a:ext cx="1219200" cy="457200"/>
          </a:xfrm>
          <a:prstGeom prst="line">
            <a:avLst/>
          </a:prstGeom>
          <a:ln w="19050" cap="flat" cmpd="sng">
            <a:solidFill>
              <a:schemeClr val="tx1"/>
            </a:solidFill>
            <a:prstDash val="solid"/>
            <a:headEnd type="none" w="sm" len="sm"/>
            <a:tailEnd type="triangle" w="med" len="med"/>
          </a:ln>
        </p:spPr>
      </p:sp>
      <p:sp>
        <p:nvSpPr>
          <p:cNvPr id="21535" name="Line 32"/>
          <p:cNvSpPr/>
          <p:nvPr/>
        </p:nvSpPr>
        <p:spPr>
          <a:xfrm flipH="1" flipV="1">
            <a:off x="6000750" y="4535488"/>
            <a:ext cx="1371600" cy="381000"/>
          </a:xfrm>
          <a:prstGeom prst="line">
            <a:avLst/>
          </a:prstGeom>
          <a:ln w="19050" cap="flat" cmpd="sng">
            <a:solidFill>
              <a:schemeClr val="tx1"/>
            </a:solidFill>
            <a:prstDash val="solid"/>
            <a:headEnd type="none" w="sm" len="sm"/>
            <a:tailEnd type="triangle" w="med" len="med"/>
          </a:ln>
        </p:spPr>
      </p:sp>
      <p:sp>
        <p:nvSpPr>
          <p:cNvPr id="21536" name="Line 33"/>
          <p:cNvSpPr/>
          <p:nvPr/>
        </p:nvSpPr>
        <p:spPr>
          <a:xfrm flipV="1">
            <a:off x="7524750" y="4535488"/>
            <a:ext cx="0" cy="381000"/>
          </a:xfrm>
          <a:prstGeom prst="line">
            <a:avLst/>
          </a:prstGeom>
          <a:ln w="19050" cap="flat" cmpd="sng">
            <a:solidFill>
              <a:schemeClr val="tx1"/>
            </a:solidFill>
            <a:prstDash val="solid"/>
            <a:headEnd type="none" w="sm" len="sm"/>
            <a:tailEnd type="triangle" w="med" len="med"/>
          </a:ln>
        </p:spPr>
      </p:sp>
      <p:sp>
        <p:nvSpPr>
          <p:cNvPr id="21537" name="Line 34"/>
          <p:cNvSpPr/>
          <p:nvPr/>
        </p:nvSpPr>
        <p:spPr>
          <a:xfrm flipV="1">
            <a:off x="7677150" y="4535488"/>
            <a:ext cx="609600" cy="457200"/>
          </a:xfrm>
          <a:prstGeom prst="line">
            <a:avLst/>
          </a:prstGeom>
          <a:ln w="19050" cap="flat" cmpd="sng">
            <a:solidFill>
              <a:schemeClr val="tx1"/>
            </a:solidFill>
            <a:prstDash val="solid"/>
            <a:headEnd type="none" w="sm" len="sm"/>
            <a:tailEnd type="triangle" w="med" len="med"/>
          </a:ln>
        </p:spPr>
      </p:sp>
      <p:sp>
        <p:nvSpPr>
          <p:cNvPr id="21538" name="Line 35"/>
          <p:cNvSpPr/>
          <p:nvPr/>
        </p:nvSpPr>
        <p:spPr>
          <a:xfrm flipV="1">
            <a:off x="4248150" y="3392488"/>
            <a:ext cx="533400" cy="457200"/>
          </a:xfrm>
          <a:prstGeom prst="line">
            <a:avLst/>
          </a:prstGeom>
          <a:ln w="19050" cap="flat" cmpd="sng">
            <a:solidFill>
              <a:schemeClr val="tx1"/>
            </a:solidFill>
            <a:prstDash val="solid"/>
            <a:headEnd type="none" w="sm" len="sm"/>
            <a:tailEnd type="triangle" w="med" len="med"/>
          </a:ln>
        </p:spPr>
      </p:sp>
      <p:sp>
        <p:nvSpPr>
          <p:cNvPr id="21539" name="Line 36"/>
          <p:cNvSpPr/>
          <p:nvPr/>
        </p:nvSpPr>
        <p:spPr>
          <a:xfrm flipV="1">
            <a:off x="4248150" y="3468688"/>
            <a:ext cx="1371600" cy="381000"/>
          </a:xfrm>
          <a:prstGeom prst="line">
            <a:avLst/>
          </a:prstGeom>
          <a:ln w="19050" cap="flat" cmpd="sng">
            <a:solidFill>
              <a:schemeClr val="tx1"/>
            </a:solidFill>
            <a:prstDash val="solid"/>
            <a:headEnd type="none" w="sm" len="sm"/>
            <a:tailEnd type="triangle" w="med" len="med"/>
          </a:ln>
        </p:spPr>
      </p:sp>
      <p:sp>
        <p:nvSpPr>
          <p:cNvPr id="21540" name="Line 37"/>
          <p:cNvSpPr/>
          <p:nvPr/>
        </p:nvSpPr>
        <p:spPr>
          <a:xfrm flipV="1">
            <a:off x="4933950" y="3468688"/>
            <a:ext cx="0" cy="381000"/>
          </a:xfrm>
          <a:prstGeom prst="line">
            <a:avLst/>
          </a:prstGeom>
          <a:ln w="19050" cap="flat" cmpd="sng">
            <a:solidFill>
              <a:schemeClr val="tx1"/>
            </a:solidFill>
            <a:prstDash val="solid"/>
            <a:headEnd type="none" w="sm" len="sm"/>
            <a:tailEnd type="triangle" w="med" len="med"/>
          </a:ln>
        </p:spPr>
      </p:sp>
      <p:sp>
        <p:nvSpPr>
          <p:cNvPr id="21541" name="Line 38"/>
          <p:cNvSpPr/>
          <p:nvPr/>
        </p:nvSpPr>
        <p:spPr>
          <a:xfrm flipV="1">
            <a:off x="5010150" y="3468688"/>
            <a:ext cx="1371600" cy="381000"/>
          </a:xfrm>
          <a:prstGeom prst="line">
            <a:avLst/>
          </a:prstGeom>
          <a:ln w="19050" cap="flat" cmpd="sng">
            <a:solidFill>
              <a:schemeClr val="tx1"/>
            </a:solidFill>
            <a:prstDash val="solid"/>
            <a:headEnd type="none" w="sm" len="sm"/>
            <a:tailEnd type="triangle" w="med" len="med"/>
          </a:ln>
        </p:spPr>
      </p:sp>
      <p:sp>
        <p:nvSpPr>
          <p:cNvPr id="21542" name="Line 39"/>
          <p:cNvSpPr/>
          <p:nvPr/>
        </p:nvSpPr>
        <p:spPr>
          <a:xfrm flipH="1" flipV="1">
            <a:off x="5772150" y="3468688"/>
            <a:ext cx="76200" cy="381000"/>
          </a:xfrm>
          <a:prstGeom prst="line">
            <a:avLst/>
          </a:prstGeom>
          <a:ln w="19050" cap="flat" cmpd="sng">
            <a:solidFill>
              <a:schemeClr val="tx1"/>
            </a:solidFill>
            <a:prstDash val="solid"/>
            <a:headEnd type="none" w="sm" len="sm"/>
            <a:tailEnd type="triangle" w="med" len="med"/>
          </a:ln>
        </p:spPr>
      </p:sp>
      <p:sp>
        <p:nvSpPr>
          <p:cNvPr id="21543" name="Line 40"/>
          <p:cNvSpPr/>
          <p:nvPr/>
        </p:nvSpPr>
        <p:spPr>
          <a:xfrm flipV="1">
            <a:off x="5848350" y="3468688"/>
            <a:ext cx="609600" cy="381000"/>
          </a:xfrm>
          <a:prstGeom prst="line">
            <a:avLst/>
          </a:prstGeom>
          <a:ln w="19050" cap="flat" cmpd="sng">
            <a:solidFill>
              <a:schemeClr val="tx1"/>
            </a:solidFill>
            <a:prstDash val="solid"/>
            <a:headEnd type="none" w="sm" len="sm"/>
            <a:tailEnd type="triangle" w="med" len="med"/>
          </a:ln>
        </p:spPr>
      </p:sp>
      <p:sp>
        <p:nvSpPr>
          <p:cNvPr id="21544" name="Line 41"/>
          <p:cNvSpPr/>
          <p:nvPr/>
        </p:nvSpPr>
        <p:spPr>
          <a:xfrm flipH="1" flipV="1">
            <a:off x="5162550" y="3468688"/>
            <a:ext cx="1600200" cy="381000"/>
          </a:xfrm>
          <a:prstGeom prst="line">
            <a:avLst/>
          </a:prstGeom>
          <a:ln w="19050" cap="flat" cmpd="sng">
            <a:solidFill>
              <a:schemeClr val="tx1"/>
            </a:solidFill>
            <a:prstDash val="solid"/>
            <a:headEnd type="none" w="sm" len="sm"/>
            <a:tailEnd type="triangle" w="med" len="med"/>
          </a:ln>
        </p:spPr>
      </p:sp>
      <p:sp>
        <p:nvSpPr>
          <p:cNvPr id="21545" name="Line 42"/>
          <p:cNvSpPr/>
          <p:nvPr/>
        </p:nvSpPr>
        <p:spPr>
          <a:xfrm flipV="1">
            <a:off x="6762750" y="3392488"/>
            <a:ext cx="457200" cy="457200"/>
          </a:xfrm>
          <a:prstGeom prst="line">
            <a:avLst/>
          </a:prstGeom>
          <a:ln w="19050" cap="flat" cmpd="sng">
            <a:solidFill>
              <a:schemeClr val="tx1"/>
            </a:solidFill>
            <a:prstDash val="solid"/>
            <a:headEnd type="none" w="sm" len="sm"/>
            <a:tailEnd type="triangle" w="med" len="med"/>
          </a:ln>
        </p:spPr>
      </p:sp>
      <p:sp>
        <p:nvSpPr>
          <p:cNvPr id="21546" name="Line 43"/>
          <p:cNvSpPr/>
          <p:nvPr/>
        </p:nvSpPr>
        <p:spPr>
          <a:xfrm flipH="1" flipV="1">
            <a:off x="5924550" y="3468688"/>
            <a:ext cx="1447800" cy="381000"/>
          </a:xfrm>
          <a:prstGeom prst="line">
            <a:avLst/>
          </a:prstGeom>
          <a:ln w="19050" cap="flat" cmpd="sng">
            <a:solidFill>
              <a:schemeClr val="tx1"/>
            </a:solidFill>
            <a:prstDash val="solid"/>
            <a:headEnd type="none" w="sm" len="sm"/>
            <a:tailEnd type="triangle" w="med" len="med"/>
          </a:ln>
        </p:spPr>
      </p:sp>
      <p:sp>
        <p:nvSpPr>
          <p:cNvPr id="21547" name="Line 44"/>
          <p:cNvSpPr/>
          <p:nvPr/>
        </p:nvSpPr>
        <p:spPr>
          <a:xfrm flipV="1">
            <a:off x="7524750" y="3392488"/>
            <a:ext cx="76200" cy="457200"/>
          </a:xfrm>
          <a:prstGeom prst="line">
            <a:avLst/>
          </a:prstGeom>
          <a:ln w="19050" cap="flat" cmpd="sng">
            <a:solidFill>
              <a:schemeClr val="tx1"/>
            </a:solidFill>
            <a:prstDash val="solid"/>
            <a:headEnd type="none" w="sm" len="sm"/>
            <a:tailEnd type="triangle" w="med" len="med"/>
          </a:ln>
        </p:spPr>
      </p:sp>
      <p:sp>
        <p:nvSpPr>
          <p:cNvPr id="21548" name="Line 45"/>
          <p:cNvSpPr/>
          <p:nvPr/>
        </p:nvSpPr>
        <p:spPr>
          <a:xfrm flipH="1" flipV="1">
            <a:off x="6762750" y="3468688"/>
            <a:ext cx="1371600" cy="457200"/>
          </a:xfrm>
          <a:prstGeom prst="line">
            <a:avLst/>
          </a:prstGeom>
          <a:ln w="19050" cap="flat" cmpd="sng">
            <a:solidFill>
              <a:schemeClr val="tx1"/>
            </a:solidFill>
            <a:prstDash val="solid"/>
            <a:headEnd type="none" w="sm" len="sm"/>
            <a:tailEnd type="triangle" w="med" len="med"/>
          </a:ln>
        </p:spPr>
      </p:sp>
      <p:sp>
        <p:nvSpPr>
          <p:cNvPr id="21549" name="Line 46"/>
          <p:cNvSpPr/>
          <p:nvPr/>
        </p:nvSpPr>
        <p:spPr>
          <a:xfrm flipH="1" flipV="1">
            <a:off x="7677150" y="3392488"/>
            <a:ext cx="685800" cy="457200"/>
          </a:xfrm>
          <a:prstGeom prst="line">
            <a:avLst/>
          </a:prstGeom>
          <a:ln w="19050" cap="flat" cmpd="sng">
            <a:solidFill>
              <a:schemeClr val="tx1"/>
            </a:solidFill>
            <a:prstDash val="solid"/>
            <a:headEnd type="none" w="sm" len="sm"/>
            <a:tailEnd type="triangle" w="med" len="med"/>
          </a:ln>
        </p:spPr>
      </p:sp>
      <p:sp>
        <p:nvSpPr>
          <p:cNvPr id="21550" name="Line 47"/>
          <p:cNvSpPr/>
          <p:nvPr/>
        </p:nvSpPr>
        <p:spPr>
          <a:xfrm flipV="1">
            <a:off x="5162550" y="2325688"/>
            <a:ext cx="685800" cy="457200"/>
          </a:xfrm>
          <a:prstGeom prst="line">
            <a:avLst/>
          </a:prstGeom>
          <a:ln w="19050" cap="flat" cmpd="sng">
            <a:solidFill>
              <a:schemeClr val="tx1"/>
            </a:solidFill>
            <a:prstDash val="solid"/>
            <a:headEnd type="none" w="sm" len="sm"/>
            <a:tailEnd type="triangle" w="med" len="med"/>
          </a:ln>
        </p:spPr>
      </p:sp>
      <p:sp>
        <p:nvSpPr>
          <p:cNvPr id="21551" name="Line 48"/>
          <p:cNvSpPr/>
          <p:nvPr/>
        </p:nvSpPr>
        <p:spPr>
          <a:xfrm flipV="1">
            <a:off x="5924550" y="2478088"/>
            <a:ext cx="76200" cy="228600"/>
          </a:xfrm>
          <a:prstGeom prst="line">
            <a:avLst/>
          </a:prstGeom>
          <a:ln w="19050" cap="flat" cmpd="sng">
            <a:solidFill>
              <a:schemeClr val="tx1"/>
            </a:solidFill>
            <a:prstDash val="solid"/>
            <a:headEnd type="none" w="sm" len="sm"/>
            <a:tailEnd type="triangle" w="med" len="med"/>
          </a:ln>
        </p:spPr>
      </p:sp>
      <p:sp>
        <p:nvSpPr>
          <p:cNvPr id="21552" name="Line 49"/>
          <p:cNvSpPr/>
          <p:nvPr/>
        </p:nvSpPr>
        <p:spPr>
          <a:xfrm flipH="1" flipV="1">
            <a:off x="6457950" y="2401888"/>
            <a:ext cx="76200" cy="304800"/>
          </a:xfrm>
          <a:prstGeom prst="line">
            <a:avLst/>
          </a:prstGeom>
          <a:ln w="19050" cap="flat" cmpd="sng">
            <a:solidFill>
              <a:schemeClr val="tx1"/>
            </a:solidFill>
            <a:prstDash val="solid"/>
            <a:headEnd type="none" w="sm" len="sm"/>
            <a:tailEnd type="triangle" w="med" len="med"/>
          </a:ln>
        </p:spPr>
      </p:sp>
      <p:sp>
        <p:nvSpPr>
          <p:cNvPr id="21553" name="Line 50"/>
          <p:cNvSpPr/>
          <p:nvPr/>
        </p:nvSpPr>
        <p:spPr>
          <a:xfrm flipH="1" flipV="1">
            <a:off x="6610350" y="2325688"/>
            <a:ext cx="609600" cy="381000"/>
          </a:xfrm>
          <a:prstGeom prst="line">
            <a:avLst/>
          </a:prstGeom>
          <a:ln w="19050" cap="flat" cmpd="sng">
            <a:solidFill>
              <a:schemeClr val="tx1"/>
            </a:solidFill>
            <a:prstDash val="solid"/>
            <a:headEnd type="none" w="sm" len="sm"/>
            <a:tailEnd type="triangle" w="med" len="med"/>
          </a:ln>
        </p:spPr>
      </p:sp>
      <p:sp>
        <p:nvSpPr>
          <p:cNvPr id="21554" name="Text Box 51"/>
          <p:cNvSpPr txBox="1"/>
          <p:nvPr/>
        </p:nvSpPr>
        <p:spPr>
          <a:xfrm>
            <a:off x="347663" y="1552575"/>
            <a:ext cx="3382962" cy="4656138"/>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2400" b="0">
                <a:solidFill>
                  <a:schemeClr val="tx1"/>
                </a:solidFill>
                <a:latin typeface="Tahoma" panose="020B0604030504040204" pitchFamily="34" charset="0"/>
                <a:ea typeface="宋体" panose="02010600030101010101" pitchFamily="2" charset="-122"/>
              </a:rPr>
              <a:t>The whole process of frequent pattern mining can be seen as a search in the lattice. Variety come in</a:t>
            </a:r>
            <a:endParaRPr lang="en-US" altLang="zh-CN" sz="2400" b="0">
              <a:solidFill>
                <a:schemeClr val="tx1"/>
              </a:solidFill>
              <a:latin typeface="Tahoma" panose="020B0604030504040204" pitchFamily="34" charset="0"/>
              <a:ea typeface="宋体" panose="02010600030101010101" pitchFamily="2" charset="-122"/>
            </a:endParaRPr>
          </a:p>
          <a:p>
            <a:pPr marL="0" lvl="0" indent="0" eaLnBrk="1" hangingPunct="1">
              <a:spcBef>
                <a:spcPct val="50000"/>
              </a:spcBef>
              <a:buSzTx/>
              <a:buFontTx/>
              <a:buChar char="•"/>
            </a:pPr>
            <a:r>
              <a:rPr lang="en-US" altLang="zh-CN" sz="2400" b="0">
                <a:solidFill>
                  <a:schemeClr val="tx1"/>
                </a:solidFill>
                <a:latin typeface="Tahoma" panose="020B0604030504040204" pitchFamily="34" charset="0"/>
                <a:ea typeface="宋体" panose="02010600030101010101" pitchFamily="2" charset="-122"/>
              </a:rPr>
              <a:t> Breadth first vs Depth first</a:t>
            </a:r>
            <a:endParaRPr lang="en-US" altLang="zh-CN" sz="2400" b="0">
              <a:solidFill>
                <a:schemeClr val="tx1"/>
              </a:solidFill>
              <a:latin typeface="Tahoma" panose="020B0604030504040204" pitchFamily="34" charset="0"/>
              <a:ea typeface="宋体" panose="02010600030101010101" pitchFamily="2" charset="-122"/>
            </a:endParaRPr>
          </a:p>
          <a:p>
            <a:pPr marL="0" lvl="0" indent="0" eaLnBrk="1" hangingPunct="1">
              <a:spcBef>
                <a:spcPct val="50000"/>
              </a:spcBef>
              <a:buSzTx/>
              <a:buFontTx/>
              <a:buChar char="•"/>
            </a:pPr>
            <a:r>
              <a:rPr lang="en-US" altLang="zh-CN" sz="2400" b="0">
                <a:solidFill>
                  <a:schemeClr val="tx1"/>
                </a:solidFill>
                <a:latin typeface="Tahoma" panose="020B0604030504040204" pitchFamily="34" charset="0"/>
                <a:ea typeface="宋体" panose="02010600030101010101" pitchFamily="2" charset="-122"/>
              </a:rPr>
              <a:t>Bottom up vs top down</a:t>
            </a:r>
            <a:endParaRPr lang="en-US" altLang="zh-CN" sz="2400" b="0">
              <a:solidFill>
                <a:schemeClr val="tx1"/>
              </a:solidFill>
              <a:latin typeface="Tahoma" panose="020B0604030504040204" pitchFamily="34" charset="0"/>
              <a:ea typeface="宋体" panose="02010600030101010101" pitchFamily="2" charset="-122"/>
            </a:endParaRPr>
          </a:p>
          <a:p>
            <a:pPr marL="0" lvl="0" indent="0" eaLnBrk="1" hangingPunct="1">
              <a:spcBef>
                <a:spcPct val="50000"/>
              </a:spcBef>
              <a:buSzTx/>
              <a:buFontTx/>
              <a:buChar char="•"/>
            </a:pPr>
            <a:r>
              <a:rPr lang="en-US" altLang="zh-CN" sz="2400" b="0">
                <a:solidFill>
                  <a:schemeClr val="tx1"/>
                </a:solidFill>
                <a:latin typeface="Tahoma" panose="020B0604030504040204" pitchFamily="34" charset="0"/>
                <a:ea typeface="宋体" panose="02010600030101010101" pitchFamily="2" charset="-122"/>
              </a:rPr>
              <a:t>Read-based, Write-Based, Pointer-Based</a:t>
            </a:r>
            <a:endParaRPr lang="en-US" altLang="zh-CN" sz="2400" b="0">
              <a:solidFill>
                <a:schemeClr val="tx1"/>
              </a:solidFill>
              <a:latin typeface="Tahoma" panose="020B060403050404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8082" name="Rectangle 2"/>
          <p:cNvSpPr>
            <a:spLocks noGrp="1" noChangeArrowheads="1"/>
          </p:cNvSpPr>
          <p:nvPr>
            <p:ph type="title"/>
          </p:nvPr>
        </p:nvSpPr>
        <p:spPr>
          <a:xfrm>
            <a:off x="1066800" y="290513"/>
            <a:ext cx="8077200" cy="71755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Three categories of FPM Algorithms.</a:t>
            </a: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22530" name="Rectangle 3"/>
          <p:cNvSpPr>
            <a:spLocks noGrp="1"/>
          </p:cNvSpPr>
          <p:nvPr>
            <p:ph idx="1"/>
          </p:nvPr>
        </p:nvSpPr>
        <p:spPr>
          <a:xfrm>
            <a:off x="688975" y="1408113"/>
            <a:ext cx="7772400" cy="4800600"/>
          </a:xfrm>
          <a:ln/>
        </p:spPr>
        <p:txBody>
          <a:bodyPr vert="horz" wrap="square" lIns="91440" tIns="45720" rIns="91440" bIns="45720" anchor="t" anchorCtr="0"/>
          <a:p>
            <a:r>
              <a:rPr lang="en-US" altLang="zh-CN">
                <a:ea typeface="宋体" panose="02010600030101010101" pitchFamily="2" charset="-122"/>
              </a:rPr>
              <a:t>Read [AgSr94]</a:t>
            </a:r>
            <a:endParaRPr lang="en-US" altLang="zh-CN">
              <a:ea typeface="宋体" panose="02010600030101010101" pitchFamily="2" charset="-122"/>
            </a:endParaRPr>
          </a:p>
          <a:p>
            <a:pPr lvl="1"/>
            <a:r>
              <a:rPr lang="en-US" altLang="zh-CN">
                <a:ea typeface="宋体" panose="02010600030101010101" pitchFamily="2" charset="-122"/>
              </a:rPr>
              <a:t>Apriori-based. No write involved.</a:t>
            </a:r>
            <a:endParaRPr lang="en-US" altLang="zh-CN">
              <a:ea typeface="宋体" panose="02010600030101010101" pitchFamily="2" charset="-122"/>
            </a:endParaRPr>
          </a:p>
          <a:p>
            <a:r>
              <a:rPr lang="en-US" altLang="zh-CN">
                <a:ea typeface="宋体" panose="02010600030101010101" pitchFamily="2" charset="-122"/>
              </a:rPr>
              <a:t>Write [Zaki00, HPY00, HaPe00]</a:t>
            </a:r>
            <a:endParaRPr lang="en-US" altLang="zh-CN">
              <a:ea typeface="宋体" panose="02010600030101010101" pitchFamily="2" charset="-122"/>
            </a:endParaRPr>
          </a:p>
          <a:p>
            <a:pPr lvl="1"/>
            <a:r>
              <a:rPr lang="en-US" altLang="zh-CN">
                <a:ea typeface="宋体" panose="02010600030101010101" pitchFamily="2" charset="-122"/>
              </a:rPr>
              <a:t>Perform write to improve performance.</a:t>
            </a:r>
            <a:endParaRPr lang="en-US" altLang="zh-CN">
              <a:ea typeface="宋体" panose="02010600030101010101" pitchFamily="2" charset="-122"/>
            </a:endParaRPr>
          </a:p>
          <a:p>
            <a:r>
              <a:rPr lang="en-US" altLang="zh-CN">
                <a:ea typeface="宋体" panose="02010600030101010101" pitchFamily="2" charset="-122"/>
              </a:rPr>
              <a:t>Point [BeRa99, HPDW01]</a:t>
            </a:r>
            <a:endParaRPr lang="en-US" altLang="zh-CN">
              <a:ea typeface="宋体" panose="02010600030101010101" pitchFamily="2" charset="-122"/>
            </a:endParaRPr>
          </a:p>
          <a:p>
            <a:pPr lvl="1"/>
            <a:r>
              <a:rPr lang="en-US" altLang="zh-CN">
                <a:ea typeface="宋体" panose="02010600030101010101" pitchFamily="2" charset="-122"/>
              </a:rPr>
              <a:t>Memory based algorithm designed to point to various part of the data instead of re-writing the data in another part of the memory.</a:t>
            </a:r>
            <a:endParaRPr lang="en-US" altLang="zh-CN">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9106" name="Rectangle 2"/>
          <p:cNvSpPr>
            <a:spLocks noGrp="1" noChangeArrowheads="1"/>
          </p:cNvSpPr>
          <p:nvPr>
            <p:ph type="title"/>
          </p:nvPr>
        </p:nvSpPr>
        <p:spPr>
          <a:xfrm>
            <a:off x="381000" y="381000"/>
            <a:ext cx="8382000" cy="669925"/>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Generalized Framework</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graphicFrame>
        <p:nvGraphicFramePr>
          <p:cNvPr id="559145" name="Group 41"/>
          <p:cNvGraphicFramePr>
            <a:graphicFrameLocks noGrp="1"/>
          </p:cNvGraphicFramePr>
          <p:nvPr/>
        </p:nvGraphicFramePr>
        <p:xfrm>
          <a:off x="611188" y="1628775"/>
          <a:ext cx="8077200" cy="4381500"/>
        </p:xfrm>
        <a:graphic>
          <a:graphicData uri="http://schemas.openxmlformats.org/drawingml/2006/table">
            <a:tbl>
              <a:tblPr/>
              <a:tblGrid>
                <a:gridCol w="2019300"/>
                <a:gridCol w="2019300"/>
                <a:gridCol w="2019300"/>
                <a:gridCol w="2019300"/>
              </a:tblGrid>
              <a:tr h="760479">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Read-based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Write-based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Point-based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40136">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Association Mining</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Apriori[AgSr94]</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FPGrowth [HaPe00]</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736">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Sub-Graph</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Mining</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AGM[PKDD</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00] </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FSG[ICDM</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Mofa[ICDM</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02]</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309802">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Sequential Pattern Discovery</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GSP[AgSr96]</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PrefixSpan [PHPC01]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969348">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Iceberg Cube</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Apriori[AgSr94]</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BUC[BeRa99], H-cubing [HPDW01]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82"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 关联规则</a:t>
            </a:r>
            <a:endParaRPr kumimoji="0" lang="zh-CN" altLang="en-US"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24578" name="Rectangle 3"/>
          <p:cNvSpPr>
            <a:spLocks noGrp="1"/>
          </p:cNvSpPr>
          <p:nvPr>
            <p:ph idx="1"/>
          </p:nvPr>
        </p:nvSpPr>
        <p:spPr>
          <a:ln/>
        </p:spPr>
        <p:txBody>
          <a:bodyPr vert="horz" wrap="square" lIns="91440" tIns="45720" rIns="91440" bIns="45720" anchor="t" anchorCtr="0"/>
          <a:p>
            <a:r>
              <a:rPr lang="zh-CN" altLang="en-US">
                <a:ea typeface="宋体" panose="02010600030101010101" pitchFamily="2" charset="-122"/>
              </a:rPr>
              <a:t>关联规则是发现交易数据库中不同商品（项）之间的联系</a:t>
            </a:r>
            <a:endParaRPr lang="zh-CN" altLang="en-US">
              <a:ea typeface="宋体" panose="02010600030101010101" pitchFamily="2" charset="-122"/>
            </a:endParaRPr>
          </a:p>
          <a:p>
            <a:r>
              <a:rPr lang="zh-CN" altLang="en-US">
                <a:ea typeface="宋体" panose="02010600030101010101" pitchFamily="2" charset="-122"/>
              </a:rPr>
              <a:t>这些规则找出顾客购买行为模式</a:t>
            </a:r>
            <a:endParaRPr lang="zh-CN" altLang="en-US">
              <a:ea typeface="宋体" panose="02010600030101010101" pitchFamily="2" charset="-122"/>
            </a:endParaRPr>
          </a:p>
          <a:p>
            <a:pPr>
              <a:buNone/>
            </a:pPr>
            <a:r>
              <a:rPr lang="zh-CN" altLang="en-US">
                <a:ea typeface="宋体" panose="02010600030101010101" pitchFamily="2" charset="-122"/>
              </a:rPr>
              <a:t>   如购买了某一商品对购买其他商品的影响</a:t>
            </a:r>
            <a:endParaRPr lang="zh-CN" altLang="en-US">
              <a:ea typeface="宋体" panose="02010600030101010101" pitchFamily="2" charset="-122"/>
            </a:endParaRPr>
          </a:p>
          <a:p>
            <a:r>
              <a:rPr lang="zh-CN" altLang="en-US">
                <a:ea typeface="宋体" panose="02010600030101010101" pitchFamily="2" charset="-122"/>
              </a:rPr>
              <a:t>发现这样的规则可以应用于商品货架设计、存货安排以及根据购买模式对用户进行分类。 </a:t>
            </a:r>
            <a:endParaRPr lang="zh-CN" altLang="en-US">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4834" name="Rectangle 2"/>
          <p:cNvSpPr>
            <a:spLocks noGrp="1" noChangeArrowheads="1"/>
          </p:cNvSpPr>
          <p:nvPr>
            <p:ph type="title"/>
          </p:nvPr>
        </p:nvSpPr>
        <p:spPr>
          <a:xfrm>
            <a:off x="685800" y="381000"/>
            <a:ext cx="7924800" cy="9144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example</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 </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25602" name="Rectangle 3"/>
          <p:cNvSpPr>
            <a:spLocks noGrp="1"/>
          </p:cNvSpPr>
          <p:nvPr>
            <p:ph idx="1"/>
          </p:nvPr>
        </p:nvSpPr>
        <p:spPr>
          <a:xfrm>
            <a:off x="228600" y="1600200"/>
            <a:ext cx="8610600" cy="4648200"/>
          </a:xfrm>
          <a:ln/>
        </p:spPr>
        <p:txBody>
          <a:bodyPr vert="horz" wrap="square" lIns="92075" tIns="46038" rIns="92075" bIns="46038" anchor="t" anchorCtr="0"/>
          <a:p>
            <a:pPr algn="just">
              <a:buNone/>
            </a:pPr>
            <a:r>
              <a:rPr lang="en-US" altLang="zh-CN">
                <a:ea typeface="宋体" panose="02010600030101010101" pitchFamily="2" charset="-122"/>
              </a:rPr>
              <a:t>	“</a:t>
            </a:r>
            <a:r>
              <a:rPr lang="zh-CN" altLang="en-US">
                <a:ea typeface="宋体" panose="02010600030101010101" pitchFamily="2" charset="-122"/>
              </a:rPr>
              <a:t>尿布和啤酒”</a:t>
            </a:r>
            <a:endParaRPr lang="zh-CN" altLang="en-US">
              <a:ea typeface="宋体" panose="02010600030101010101" pitchFamily="2" charset="-122"/>
            </a:endParaRPr>
          </a:p>
          <a:p>
            <a:pPr algn="just">
              <a:buNone/>
            </a:pPr>
            <a:endParaRPr lang="zh-CN" altLang="en-US">
              <a:ea typeface="宋体" panose="02010600030101010101" pitchFamily="2" charset="-122"/>
            </a:endParaRPr>
          </a:p>
          <a:p>
            <a:pPr algn="just">
              <a:buNone/>
            </a:pPr>
            <a:r>
              <a:rPr lang="zh-CN" altLang="en-US" sz="2400">
                <a:ea typeface="宋体" panose="02010600030101010101" pitchFamily="2" charset="-122"/>
              </a:rPr>
              <a:t>	</a:t>
            </a:r>
            <a:r>
              <a:rPr lang="zh-CN" altLang="en-US" sz="2000">
                <a:solidFill>
                  <a:schemeClr val="tx1"/>
                </a:solidFill>
                <a:ea typeface="宋体" panose="02010600030101010101" pitchFamily="2" charset="-122"/>
              </a:rPr>
              <a:t>观察发现很多顾客在买尿布的时候同时也购买啤酒，这样超市把尿布和啤酒放在一起就可以提高销售额，如果把土豆片摆在它们中间，则会同时提高这三者的销售额。 </a:t>
            </a:r>
            <a:endParaRPr lang="en-US" altLang="zh-CN" sz="2000">
              <a:solidFill>
                <a:schemeClr val="tx1"/>
              </a:solidFill>
              <a:ea typeface="宋体" panose="02010600030101010101" pitchFamily="2" charset="-122"/>
            </a:endParaRPr>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5922" name="Rectangle 2"/>
          <p:cNvSpPr>
            <a:spLocks noGrp="1" noChangeArrowheads="1"/>
          </p:cNvSpPr>
          <p:nvPr>
            <p:ph type="title"/>
          </p:nvPr>
        </p:nvSpPr>
        <p:spPr>
          <a:xfrm>
            <a:off x="685800" y="381000"/>
            <a:ext cx="7772400" cy="762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Basic</a:t>
            </a: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 </a:t>
            </a:r>
            <a:r>
              <a:rPr kumimoji="0" lang="en-US" altLang="zh-CN" sz="4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Concepts</a:t>
            </a:r>
            <a:endParaRPr kumimoji="0" lang="en-US" altLang="zh-CN" sz="4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26626" name="Rectangle 3"/>
          <p:cNvSpPr>
            <a:spLocks noGrp="1"/>
          </p:cNvSpPr>
          <p:nvPr>
            <p:ph idx="1"/>
          </p:nvPr>
        </p:nvSpPr>
        <p:spPr>
          <a:xfrm>
            <a:off x="228600" y="1524000"/>
            <a:ext cx="8610600" cy="5105400"/>
          </a:xfrm>
          <a:ln/>
        </p:spPr>
        <p:txBody>
          <a:bodyPr vert="horz" wrap="square" lIns="92075" tIns="46038" rIns="92075" bIns="46038" anchor="t" anchorCtr="0"/>
          <a:p>
            <a:pPr>
              <a:lnSpc>
                <a:spcPct val="90000"/>
              </a:lnSpc>
              <a:buFont typeface="Wingdings" panose="05000000000000000000" pitchFamily="2" charset="2"/>
              <a:buChar char="v"/>
            </a:pPr>
            <a:r>
              <a:rPr lang="zh-CN" altLang="en-US" sz="2400">
                <a:ea typeface="宋体" panose="02010600030101010101" pitchFamily="2" charset="-122"/>
              </a:rPr>
              <a:t>规则: 	{</a:t>
            </a:r>
            <a:r>
              <a:rPr lang="en-US" altLang="zh-CN" sz="2400">
                <a:ea typeface="宋体" panose="02010600030101010101" pitchFamily="2" charset="-122"/>
              </a:rPr>
              <a:t>x</a:t>
            </a:r>
            <a:r>
              <a:rPr lang="en-US" altLang="zh-CN" sz="1200">
                <a:ea typeface="宋体" panose="02010600030101010101" pitchFamily="2" charset="-122"/>
              </a:rPr>
              <a:t>1</a:t>
            </a:r>
            <a:r>
              <a:rPr lang="en-US" altLang="zh-CN" sz="2400">
                <a:ea typeface="宋体" panose="02010600030101010101" pitchFamily="2" charset="-122"/>
              </a:rPr>
              <a:t>，x</a:t>
            </a:r>
            <a:r>
              <a:rPr lang="en-US" altLang="zh-CN" sz="1200">
                <a:ea typeface="宋体" panose="02010600030101010101" pitchFamily="2" charset="-122"/>
              </a:rPr>
              <a:t>2</a:t>
            </a:r>
            <a:r>
              <a:rPr lang="en-US" altLang="zh-CN" sz="2400">
                <a:ea typeface="宋体" panose="02010600030101010101" pitchFamily="2" charset="-122"/>
              </a:rPr>
              <a:t>，…,x</a:t>
            </a:r>
            <a:r>
              <a:rPr lang="en-US" altLang="zh-CN" sz="1200">
                <a:ea typeface="宋体" panose="02010600030101010101" pitchFamily="2" charset="-122"/>
              </a:rPr>
              <a:t>n</a:t>
            </a:r>
            <a:r>
              <a:rPr lang="en-US" altLang="zh-CN" sz="2400">
                <a:ea typeface="宋体" panose="02010600030101010101" pitchFamily="2" charset="-122"/>
              </a:rPr>
              <a:t>}</a:t>
            </a:r>
            <a:r>
              <a:rPr lang="en-US" altLang="zh-CN" sz="2400">
                <a:ea typeface="宋体" panose="02010600030101010101" pitchFamily="2" charset="-122"/>
                <a:sym typeface="Wingdings" panose="05000000000000000000" pitchFamily="2" charset="2"/>
              </a:rPr>
              <a:t></a:t>
            </a:r>
            <a:r>
              <a:rPr lang="en-US" altLang="zh-CN" sz="2400">
                <a:ea typeface="宋体" panose="02010600030101010101" pitchFamily="2" charset="-122"/>
              </a:rPr>
              <a:t>Y </a:t>
            </a:r>
            <a:r>
              <a:rPr lang="zh-CN" altLang="en-US" sz="2000">
                <a:solidFill>
                  <a:schemeClr val="tx1"/>
                </a:solidFill>
                <a:ea typeface="宋体" panose="02010600030101010101" pitchFamily="2" charset="-122"/>
              </a:rPr>
              <a:t>	</a:t>
            </a:r>
            <a:endParaRPr lang="zh-CN" altLang="en-US" sz="2000">
              <a:solidFill>
                <a:schemeClr val="tx1"/>
              </a:solidFill>
              <a:ea typeface="宋体" panose="02010600030101010101" pitchFamily="2" charset="-122"/>
            </a:endParaRPr>
          </a:p>
          <a:p>
            <a:pPr>
              <a:lnSpc>
                <a:spcPct val="90000"/>
              </a:lnSpc>
              <a:buNone/>
            </a:pPr>
            <a:r>
              <a:rPr lang="zh-CN" altLang="en-US" sz="2400">
                <a:ea typeface="宋体" panose="02010600030101010101" pitchFamily="2" charset="-122"/>
              </a:rPr>
              <a:t>	</a:t>
            </a:r>
            <a:r>
              <a:rPr lang="zh-CN" altLang="en-US" sz="2000">
                <a:ea typeface="宋体" panose="02010600030101010101" pitchFamily="2" charset="-122"/>
              </a:rPr>
              <a:t> </a:t>
            </a:r>
            <a:r>
              <a:rPr lang="zh-CN" altLang="en-US" sz="2000">
                <a:solidFill>
                  <a:schemeClr val="tx1"/>
                </a:solidFill>
                <a:ea typeface="宋体" panose="02010600030101010101" pitchFamily="2" charset="-122"/>
              </a:rPr>
              <a:t>如果顾客把商品</a:t>
            </a:r>
            <a:r>
              <a:rPr lang="en-US" altLang="zh-CN" sz="2000">
                <a:solidFill>
                  <a:schemeClr val="tx1"/>
                </a:solidFill>
                <a:ea typeface="宋体" panose="02010600030101010101" pitchFamily="2" charset="-122"/>
              </a:rPr>
              <a:t>x1，x2，…, xn</a:t>
            </a:r>
            <a:r>
              <a:rPr lang="zh-CN" altLang="en-US" sz="2000">
                <a:solidFill>
                  <a:schemeClr val="tx1"/>
                </a:solidFill>
                <a:ea typeface="宋体" panose="02010600030101010101" pitchFamily="2" charset="-122"/>
              </a:rPr>
              <a:t>放入购物篮中的话，则很可能也会把商品</a:t>
            </a:r>
            <a:r>
              <a:rPr lang="en-US" altLang="zh-CN" sz="2000">
                <a:solidFill>
                  <a:schemeClr val="tx1"/>
                </a:solidFill>
                <a:ea typeface="宋体" panose="02010600030101010101" pitchFamily="2" charset="-122"/>
              </a:rPr>
              <a:t>Y</a:t>
            </a:r>
            <a:r>
              <a:rPr lang="zh-CN" altLang="en-US" sz="2000">
                <a:solidFill>
                  <a:schemeClr val="tx1"/>
                </a:solidFill>
                <a:ea typeface="宋体" panose="02010600030101010101" pitchFamily="2" charset="-122"/>
              </a:rPr>
              <a:t>放入其中。这个</a:t>
            </a:r>
            <a:r>
              <a:rPr lang="zh-CN" altLang="en-US" sz="2000">
                <a:solidFill>
                  <a:schemeClr val="accent1"/>
                </a:solidFill>
                <a:ea typeface="宋体" panose="02010600030101010101" pitchFamily="2" charset="-122"/>
              </a:rPr>
              <a:t>可能性</a:t>
            </a:r>
            <a:r>
              <a:rPr lang="zh-CN" altLang="en-US" sz="2000">
                <a:solidFill>
                  <a:schemeClr val="tx1"/>
                </a:solidFill>
                <a:ea typeface="宋体" panose="02010600030101010101" pitchFamily="2" charset="-122"/>
              </a:rPr>
              <a:t>（购买</a:t>
            </a:r>
            <a:r>
              <a:rPr lang="en-US" altLang="zh-CN" sz="2000">
                <a:solidFill>
                  <a:schemeClr val="tx1"/>
                </a:solidFill>
                <a:ea typeface="宋体" panose="02010600030101010101" pitchFamily="2" charset="-122"/>
              </a:rPr>
              <a:t>x1，x2，…,xn</a:t>
            </a:r>
            <a:r>
              <a:rPr lang="zh-CN" altLang="en-US" sz="2000">
                <a:solidFill>
                  <a:schemeClr val="tx1"/>
                </a:solidFill>
                <a:ea typeface="宋体" panose="02010600030101010101" pitchFamily="2" charset="-122"/>
              </a:rPr>
              <a:t>的前提下购买</a:t>
            </a:r>
            <a:r>
              <a:rPr lang="en-US" altLang="zh-CN" sz="2000">
                <a:solidFill>
                  <a:schemeClr val="tx1"/>
                </a:solidFill>
                <a:ea typeface="宋体" panose="02010600030101010101" pitchFamily="2" charset="-122"/>
              </a:rPr>
              <a:t>Y）</a:t>
            </a:r>
            <a:r>
              <a:rPr lang="zh-CN" altLang="en-US" sz="2000">
                <a:solidFill>
                  <a:schemeClr val="tx1"/>
                </a:solidFill>
                <a:ea typeface="宋体" panose="02010600030101010101" pitchFamily="2" charset="-122"/>
              </a:rPr>
              <a:t>称作规则的可信度，人们通常只对那些可信度大于某个值的规则感兴趣，希望把这些规则找出来。当然，有可能出现这样的情况，某些商品是被随机放入购物篮中的，例如：类似这样的规则，{牛奶，黄油}—〉面包，它的可信度非常大，可能是因为很多人都购买面包，象这样的规则是无用的。</a:t>
            </a:r>
            <a:endParaRPr lang="zh-CN" altLang="en-US" sz="2000">
              <a:solidFill>
                <a:schemeClr val="tx1"/>
              </a:solidFill>
              <a:ea typeface="宋体" panose="02010600030101010101" pitchFamily="2" charset="-122"/>
            </a:endParaRPr>
          </a:p>
          <a:p>
            <a:pPr>
              <a:lnSpc>
                <a:spcPct val="90000"/>
              </a:lnSpc>
              <a:buFont typeface="Wingdings" panose="05000000000000000000" pitchFamily="2" charset="2"/>
              <a:buChar char="v"/>
            </a:pPr>
            <a:r>
              <a:rPr lang="zh-CN" altLang="en-US" sz="2400">
                <a:ea typeface="宋体" panose="02010600030101010101" pitchFamily="2" charset="-122"/>
              </a:rPr>
              <a:t>可信度和最小可信度</a:t>
            </a:r>
            <a:endParaRPr lang="zh-CN" altLang="en-US" sz="2400">
              <a:ea typeface="宋体" panose="02010600030101010101" pitchFamily="2" charset="-122"/>
            </a:endParaRPr>
          </a:p>
          <a:p>
            <a:pPr>
              <a:lnSpc>
                <a:spcPct val="90000"/>
              </a:lnSpc>
              <a:buFont typeface="Wingdings" panose="05000000000000000000" pitchFamily="2" charset="2"/>
              <a:buNone/>
            </a:pPr>
            <a:r>
              <a:rPr lang="zh-CN" altLang="en-US" sz="2400">
                <a:ea typeface="宋体" panose="02010600030101010101" pitchFamily="2" charset="-122"/>
              </a:rPr>
              <a:t>		</a:t>
            </a:r>
            <a:r>
              <a:rPr lang="zh-CN" altLang="en-US" sz="2000">
                <a:solidFill>
                  <a:schemeClr val="tx1"/>
                </a:solidFill>
                <a:ea typeface="宋体" panose="02010600030101010101" pitchFamily="2" charset="-122"/>
              </a:rPr>
              <a:t>购买</a:t>
            </a:r>
            <a:r>
              <a:rPr lang="en-US" altLang="zh-CN" sz="2000">
                <a:solidFill>
                  <a:schemeClr val="tx1"/>
                </a:solidFill>
                <a:ea typeface="宋体" panose="02010600030101010101" pitchFamily="2" charset="-122"/>
              </a:rPr>
              <a:t>x1，x2，…, xn </a:t>
            </a:r>
            <a:r>
              <a:rPr lang="zh-CN" altLang="en-US" sz="2000">
                <a:solidFill>
                  <a:schemeClr val="tx1"/>
                </a:solidFill>
                <a:ea typeface="宋体" panose="02010600030101010101" pitchFamily="2" charset="-122"/>
              </a:rPr>
              <a:t>的情况下购买</a:t>
            </a:r>
            <a:r>
              <a:rPr lang="en-US" altLang="zh-CN" sz="2000">
                <a:solidFill>
                  <a:schemeClr val="tx1"/>
                </a:solidFill>
                <a:ea typeface="宋体" panose="02010600030101010101" pitchFamily="2" charset="-122"/>
              </a:rPr>
              <a:t>Y</a:t>
            </a:r>
            <a:r>
              <a:rPr lang="zh-CN" altLang="en-US" sz="2000">
                <a:solidFill>
                  <a:schemeClr val="tx1"/>
                </a:solidFill>
                <a:ea typeface="宋体" panose="02010600030101010101" pitchFamily="2" charset="-122"/>
              </a:rPr>
              <a:t>的可能性, 条件概率</a:t>
            </a:r>
            <a:endParaRPr lang="zh-CN" altLang="en-US" sz="2000">
              <a:solidFill>
                <a:schemeClr val="tx1"/>
              </a:solidFill>
              <a:ea typeface="宋体" panose="02010600030101010101" pitchFamily="2" charset="-122"/>
            </a:endParaRPr>
          </a:p>
          <a:p>
            <a:pPr>
              <a:lnSpc>
                <a:spcPct val="90000"/>
              </a:lnSpc>
              <a:buFont typeface="Wingdings" panose="05000000000000000000" pitchFamily="2" charset="2"/>
              <a:buChar char="v"/>
            </a:pPr>
            <a:r>
              <a:rPr lang="zh-CN" altLang="en-US" sz="2400">
                <a:ea typeface="宋体" panose="02010600030101010101" pitchFamily="2" charset="-122"/>
              </a:rPr>
              <a:t> 支持度和最小支持度</a:t>
            </a:r>
            <a:endParaRPr lang="zh-CN" altLang="en-US" sz="2400">
              <a:ea typeface="宋体" panose="02010600030101010101" pitchFamily="2" charset="-122"/>
            </a:endParaRPr>
          </a:p>
          <a:p>
            <a:pPr>
              <a:lnSpc>
                <a:spcPct val="90000"/>
              </a:lnSpc>
              <a:buFont typeface="Wingdings" panose="05000000000000000000" pitchFamily="2" charset="2"/>
              <a:buNone/>
            </a:pPr>
            <a:r>
              <a:rPr lang="zh-CN" altLang="en-US" sz="2400">
                <a:ea typeface="宋体" panose="02010600030101010101" pitchFamily="2" charset="-122"/>
              </a:rPr>
              <a:t>		</a:t>
            </a:r>
            <a:r>
              <a:rPr lang="zh-CN" altLang="en-US" sz="2000">
                <a:solidFill>
                  <a:schemeClr val="tx1"/>
                </a:solidFill>
                <a:ea typeface="宋体" panose="02010600030101010101" pitchFamily="2" charset="-122"/>
              </a:rPr>
              <a:t>同时购买</a:t>
            </a:r>
            <a:r>
              <a:rPr lang="en-US" altLang="zh-CN" sz="2000">
                <a:solidFill>
                  <a:schemeClr val="tx1"/>
                </a:solidFill>
                <a:ea typeface="宋体" panose="02010600030101010101" pitchFamily="2" charset="-122"/>
              </a:rPr>
              <a:t>x1，x2，…,xn    </a:t>
            </a:r>
            <a:r>
              <a:rPr lang="zh-CN" altLang="en-US" sz="2000">
                <a:solidFill>
                  <a:schemeClr val="tx1"/>
                </a:solidFill>
                <a:ea typeface="宋体" panose="02010600030101010101" pitchFamily="2" charset="-122"/>
              </a:rPr>
              <a:t>和</a:t>
            </a:r>
            <a:r>
              <a:rPr lang="en-US" altLang="zh-CN" sz="2000">
                <a:solidFill>
                  <a:schemeClr val="tx1"/>
                </a:solidFill>
                <a:ea typeface="宋体" panose="02010600030101010101" pitchFamily="2" charset="-122"/>
              </a:rPr>
              <a:t>Y</a:t>
            </a:r>
            <a:r>
              <a:rPr lang="zh-CN" altLang="en-US" sz="2000">
                <a:solidFill>
                  <a:schemeClr val="tx1"/>
                </a:solidFill>
                <a:ea typeface="宋体" panose="02010600030101010101" pitchFamily="2" charset="-122"/>
              </a:rPr>
              <a:t>的可能性</a:t>
            </a:r>
            <a:r>
              <a:rPr lang="zh-CN" altLang="en-US" sz="2400">
                <a:ea typeface="宋体" panose="02010600030101010101" pitchFamily="2" charset="-122"/>
              </a:rPr>
              <a:t>		</a:t>
            </a:r>
            <a:endParaRPr lang="zh-CN" altLang="en-US" sz="2000">
              <a:solidFill>
                <a:schemeClr val="tx1"/>
              </a:solidFill>
              <a:ea typeface="宋体" panose="02010600030101010101" pitchFamily="2" charset="-122"/>
            </a:endParaRPr>
          </a:p>
          <a:p>
            <a:pPr>
              <a:lnSpc>
                <a:spcPct val="90000"/>
              </a:lnSpc>
              <a:buFont typeface="Wingdings" panose="05000000000000000000" pitchFamily="2" charset="2"/>
              <a:buChar char="v"/>
            </a:pPr>
            <a:r>
              <a:rPr lang="zh-CN" altLang="en-US" sz="2400">
                <a:ea typeface="宋体" panose="02010600030101010101" pitchFamily="2" charset="-122"/>
              </a:rPr>
              <a:t> 频繁项目集</a:t>
            </a:r>
            <a:endParaRPr lang="zh-CN" altLang="en-US" sz="2400">
              <a:ea typeface="宋体" panose="02010600030101010101" pitchFamily="2" charset="-122"/>
            </a:endParaRPr>
          </a:p>
          <a:p>
            <a:pPr>
              <a:lnSpc>
                <a:spcPct val="90000"/>
              </a:lnSpc>
              <a:buFont typeface="Wingdings" panose="05000000000000000000" pitchFamily="2" charset="2"/>
              <a:buNone/>
            </a:pPr>
            <a:r>
              <a:rPr lang="zh-CN" altLang="en-US" sz="2000">
                <a:solidFill>
                  <a:schemeClr val="tx1"/>
                </a:solidFill>
                <a:ea typeface="宋体" panose="02010600030101010101" pitchFamily="2" charset="-122"/>
              </a:rPr>
              <a:t> 		满足最小支持度的项目集</a:t>
            </a:r>
            <a:endParaRPr lang="zh-CN" altLang="en-US" sz="2000">
              <a:solidFill>
                <a:schemeClr val="tx1"/>
              </a:solidFill>
              <a:ea typeface="宋体" panose="02010600030101010101" pitchFamily="2" charset="-122"/>
            </a:endParaRPr>
          </a:p>
          <a:p>
            <a:pPr lvl="1">
              <a:lnSpc>
                <a:spcPct val="90000"/>
              </a:lnSpc>
            </a:pPr>
            <a:endParaRPr lang="en-US" altLang="zh-CN" sz="2000">
              <a:ea typeface="宋体" panose="02010600030101010101" pitchFamily="2" charset="-122"/>
            </a:endParaRPr>
          </a:p>
          <a:p>
            <a:pPr lvl="1">
              <a:lnSpc>
                <a:spcPct val="90000"/>
              </a:lnSpc>
              <a:buNone/>
            </a:pPr>
            <a:endParaRPr lang="en-US" altLang="zh-CN" sz="2000">
              <a:ea typeface="宋体" panose="02010600030101010101" pitchFamily="2" charset="-122"/>
            </a:endParaRP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6818"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27650" name="Rectangle 3"/>
          <p:cNvSpPr>
            <a:spLocks noGrp="1"/>
          </p:cNvSpPr>
          <p:nvPr>
            <p:ph idx="1"/>
          </p:nvPr>
        </p:nvSpPr>
        <p:spPr>
          <a:xfrm>
            <a:off x="381000" y="1600200"/>
            <a:ext cx="8763000" cy="4800600"/>
          </a:xfrm>
          <a:ln/>
        </p:spPr>
        <p:txBody>
          <a:bodyPr vert="horz" wrap="square" lIns="91440" tIns="45720" rIns="91440" bIns="45720" anchor="t" anchorCtr="0"/>
          <a:p>
            <a:pPr algn="just">
              <a:buNone/>
            </a:pPr>
            <a:r>
              <a:rPr lang="zh-CN" altLang="en-US">
                <a:ea typeface="宋体" panose="02010600030101010101" pitchFamily="2" charset="-122"/>
              </a:rPr>
              <a:t>支持度：</a:t>
            </a:r>
            <a:endParaRPr lang="zh-CN" altLang="en-US">
              <a:ea typeface="宋体" panose="02010600030101010101" pitchFamily="2" charset="-122"/>
            </a:endParaRPr>
          </a:p>
          <a:p>
            <a:pPr algn="just">
              <a:buNone/>
            </a:pPr>
            <a:r>
              <a:rPr lang="en-US" altLang="zh-CN" i="1">
                <a:ea typeface="宋体" panose="02010600030101010101" pitchFamily="2" charset="-122"/>
              </a:rPr>
              <a:t>support </a:t>
            </a:r>
            <a:r>
              <a:rPr lang="en-US" altLang="zh-CN">
                <a:ea typeface="宋体" panose="02010600030101010101" pitchFamily="2" charset="-122"/>
              </a:rPr>
              <a:t>(</a:t>
            </a:r>
            <a:r>
              <a:rPr lang="en-US" altLang="zh-CN" i="1">
                <a:ea typeface="宋体" panose="02010600030101010101" pitchFamily="2" charset="-122"/>
              </a:rPr>
              <a:t>A </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a:t>
            </a:r>
            <a:r>
              <a:rPr lang="en-US" altLang="zh-CN" i="1">
                <a:ea typeface="宋体" panose="02010600030101010101" pitchFamily="2" charset="-122"/>
              </a:rPr>
              <a:t>B</a:t>
            </a:r>
            <a:r>
              <a:rPr lang="en-US" altLang="zh-CN">
                <a:ea typeface="宋体" panose="02010600030101010101" pitchFamily="2" charset="-122"/>
              </a:rPr>
              <a:t> ) = </a:t>
            </a:r>
            <a:r>
              <a:rPr lang="en-US" altLang="zh-CN" i="1">
                <a:ea typeface="宋体" panose="02010600030101010101" pitchFamily="2" charset="-122"/>
              </a:rPr>
              <a:t>P</a:t>
            </a:r>
            <a:r>
              <a:rPr lang="en-US" altLang="zh-CN">
                <a:ea typeface="宋体" panose="02010600030101010101" pitchFamily="2" charset="-122"/>
              </a:rPr>
              <a:t>(</a:t>
            </a:r>
            <a:r>
              <a:rPr lang="en-US" altLang="zh-CN" i="1">
                <a:ea typeface="宋体" panose="02010600030101010101" pitchFamily="2" charset="-122"/>
              </a:rPr>
              <a:t>A</a:t>
            </a: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rPr>
              <a:t> B)</a:t>
            </a:r>
            <a:r>
              <a:rPr lang="en-US" altLang="zh-CN">
                <a:ea typeface="宋体" panose="02010600030101010101" pitchFamily="2" charset="-122"/>
              </a:rPr>
              <a:t>           </a:t>
            </a:r>
            <a:endParaRPr lang="en-US" altLang="zh-CN">
              <a:ea typeface="宋体" panose="02010600030101010101" pitchFamily="2" charset="-122"/>
            </a:endParaRPr>
          </a:p>
          <a:p>
            <a:pPr algn="just">
              <a:buNone/>
            </a:pPr>
            <a:endParaRPr lang="zh-CN" altLang="en-US">
              <a:ea typeface="宋体" panose="02010600030101010101" pitchFamily="2" charset="-122"/>
            </a:endParaRPr>
          </a:p>
          <a:p>
            <a:pPr algn="just">
              <a:buNone/>
            </a:pPr>
            <a:r>
              <a:rPr lang="zh-CN" altLang="en-US">
                <a:ea typeface="宋体" panose="02010600030101010101" pitchFamily="2" charset="-122"/>
              </a:rPr>
              <a:t>可信度：                                                     </a:t>
            </a:r>
            <a:endParaRPr lang="zh-CN" altLang="en-US">
              <a:ea typeface="宋体" panose="02010600030101010101" pitchFamily="2" charset="-122"/>
            </a:endParaRPr>
          </a:p>
          <a:p>
            <a:pPr>
              <a:buNone/>
            </a:pPr>
            <a:r>
              <a:rPr lang="en-US" altLang="zh-CN" i="1">
                <a:ea typeface="宋体" panose="02010600030101010101" pitchFamily="2" charset="-122"/>
              </a:rPr>
              <a:t>  confidence </a:t>
            </a:r>
            <a:r>
              <a:rPr lang="en-US" altLang="zh-CN">
                <a:ea typeface="宋体" panose="02010600030101010101" pitchFamily="2" charset="-122"/>
              </a:rPr>
              <a:t>(</a:t>
            </a:r>
            <a:r>
              <a:rPr lang="en-US" altLang="zh-CN" i="1">
                <a:ea typeface="宋体" panose="02010600030101010101" pitchFamily="2" charset="-122"/>
              </a:rPr>
              <a:t>A </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a:t>
            </a:r>
            <a:r>
              <a:rPr lang="en-US" altLang="zh-CN" i="1">
                <a:ea typeface="宋体" panose="02010600030101010101" pitchFamily="2" charset="-122"/>
              </a:rPr>
              <a:t>B</a:t>
            </a:r>
            <a:r>
              <a:rPr lang="en-US" altLang="zh-CN">
                <a:ea typeface="宋体" panose="02010600030101010101" pitchFamily="2" charset="-122"/>
              </a:rPr>
              <a:t> ) =  </a:t>
            </a:r>
            <a:r>
              <a:rPr lang="en-US" altLang="zh-CN" i="1">
                <a:ea typeface="宋体" panose="02010600030101010101" pitchFamily="2" charset="-122"/>
              </a:rPr>
              <a:t>P</a:t>
            </a:r>
            <a:r>
              <a:rPr lang="en-US" altLang="zh-CN">
                <a:ea typeface="宋体" panose="02010600030101010101" pitchFamily="2" charset="-122"/>
              </a:rPr>
              <a:t>(</a:t>
            </a:r>
            <a:r>
              <a:rPr lang="en-US" altLang="zh-CN" i="1">
                <a:ea typeface="宋体" panose="02010600030101010101" pitchFamily="2" charset="-122"/>
              </a:rPr>
              <a:t>B|A</a:t>
            </a:r>
            <a:r>
              <a:rPr lang="en-US" altLang="zh-CN">
                <a:ea typeface="宋体" panose="02010600030101010101" pitchFamily="2" charset="-122"/>
              </a:rPr>
              <a:t>) </a:t>
            </a:r>
            <a:endParaRPr lang="zh-CN" altLang="en-US">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3"/>
          <p:cNvSpPr/>
          <p:nvPr/>
        </p:nvSpPr>
        <p:spPr>
          <a:xfrm>
            <a:off x="2290763" y="1719263"/>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aphicFrame>
        <p:nvGraphicFramePr>
          <p:cNvPr id="28674" name="Object 0"/>
          <p:cNvGraphicFramePr>
            <a:graphicFrameLocks noChangeAspect="1"/>
          </p:cNvGraphicFramePr>
          <p:nvPr/>
        </p:nvGraphicFramePr>
        <p:xfrm>
          <a:off x="957263" y="1557338"/>
          <a:ext cx="7229475" cy="5146675"/>
        </p:xfrm>
        <a:graphic>
          <a:graphicData uri="http://schemas.openxmlformats.org/presentationml/2006/ole">
            <mc:AlternateContent xmlns:mc="http://schemas.openxmlformats.org/markup-compatibility/2006">
              <mc:Choice xmlns:v="urn:schemas-microsoft-com:vml" Requires="v">
                <p:oleObj spid="_x0000_s3076" name="" r:id="rId1" imgW="19707225" imgH="14773275" progId="PowerPoint.Slide.8">
                  <p:embed/>
                </p:oleObj>
              </mc:Choice>
              <mc:Fallback>
                <p:oleObj name="" r:id="rId1" imgW="19707225" imgH="14773275" progId="PowerPoint.Slide.8">
                  <p:embed/>
                  <p:pic>
                    <p:nvPicPr>
                      <p:cNvPr id="0" name="图片 3075"/>
                      <p:cNvPicPr/>
                      <p:nvPr/>
                    </p:nvPicPr>
                    <p:blipFill>
                      <a:blip r:embed="rId2"/>
                      <a:stretch>
                        <a:fillRect/>
                      </a:stretch>
                    </p:blipFill>
                    <p:spPr>
                      <a:xfrm>
                        <a:off x="957263" y="1557338"/>
                        <a:ext cx="7229475" cy="5146675"/>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7906" name="Rectangle 2"/>
          <p:cNvSpPr>
            <a:spLocks noGrp="1" noChangeArrowheads="1"/>
          </p:cNvSpPr>
          <p:nvPr>
            <p:ph type="title"/>
          </p:nvPr>
        </p:nvSpPr>
        <p:spPr/>
        <p:txBody>
          <a:bodyPr vert="horz" wrap="square" lIns="91440" tIns="45720" rIns="91440" bIns="45720" numCol="1" anchor="ctr" anchorCtr="0" compatLnSpc="1"/>
          <a:p>
            <a:pPr>
              <a:buNone/>
            </a:pPr>
            <a:r>
              <a:rPr lang="zh-CN" altLang="en-US" sz="4400">
                <a:effectLst>
                  <a:outerShdw blurRad="38100" dist="38100" dir="2700000">
                    <a:srgbClr val="000000"/>
                  </a:outerShdw>
                </a:effectLst>
                <a:ea typeface="宋体" panose="02010600030101010101" pitchFamily="2" charset="-122"/>
              </a:rPr>
              <a:t>因果关系</a:t>
            </a:r>
            <a:endParaRPr lang="zh-CN" altLang="en-US" sz="4400">
              <a:effectLst>
                <a:outerShdw blurRad="38100" dist="38100" dir="2700000">
                  <a:srgbClr val="000000"/>
                </a:outerShdw>
              </a:effectLst>
              <a:ea typeface="宋体" panose="02010600030101010101" pitchFamily="2" charset="-122"/>
            </a:endParaRPr>
          </a:p>
        </p:txBody>
      </p:sp>
      <p:sp>
        <p:nvSpPr>
          <p:cNvPr id="29698" name="Rectangle 3"/>
          <p:cNvSpPr>
            <a:spLocks noGrp="1"/>
          </p:cNvSpPr>
          <p:nvPr>
            <p:ph idx="1"/>
          </p:nvPr>
        </p:nvSpPr>
        <p:spPr>
          <a:xfrm>
            <a:off x="0" y="1484313"/>
            <a:ext cx="9036050" cy="4800600"/>
          </a:xfrm>
          <a:ln/>
        </p:spPr>
        <p:txBody>
          <a:bodyPr vert="horz" wrap="square" lIns="91440" tIns="45720" rIns="91440" bIns="45720" anchor="t" anchorCtr="0"/>
          <a:p>
            <a:pPr algn="just"/>
            <a:r>
              <a:rPr lang="zh-CN" altLang="en-US" sz="2400">
                <a:latin typeface="宋体" panose="02010600030101010101" pitchFamily="2" charset="-122"/>
                <a:ea typeface="宋体" panose="02010600030101010101" pitchFamily="2" charset="-122"/>
              </a:rPr>
              <a:t>理想情况下，人们都希望从关联规则中得出这样的结论，因为购买了商品</a:t>
            </a:r>
            <a:r>
              <a:rPr lang="en-US" altLang="zh-CN" sz="2400">
                <a:latin typeface="宋体" panose="02010600030101010101" pitchFamily="2" charset="-122"/>
                <a:ea typeface="宋体" panose="02010600030101010101" pitchFamily="2" charset="-122"/>
              </a:rPr>
              <a:t>x1，x2，…,xn，</a:t>
            </a:r>
            <a:r>
              <a:rPr lang="zh-CN" altLang="en-US" sz="2400">
                <a:latin typeface="宋体" panose="02010600030101010101" pitchFamily="2" charset="-122"/>
                <a:ea typeface="宋体" panose="02010600030101010101" pitchFamily="2" charset="-122"/>
              </a:rPr>
              <a:t>所以一定会购买商品</a:t>
            </a:r>
            <a:r>
              <a:rPr lang="en-US" altLang="zh-CN" sz="2400">
                <a:latin typeface="宋体" panose="02010600030101010101" pitchFamily="2" charset="-122"/>
                <a:ea typeface="宋体" panose="02010600030101010101" pitchFamily="2" charset="-122"/>
              </a:rPr>
              <a:t>Y。</a:t>
            </a:r>
            <a:r>
              <a:rPr lang="zh-CN" altLang="en-US" sz="2400">
                <a:latin typeface="宋体" panose="02010600030101010101" pitchFamily="2" charset="-122"/>
                <a:ea typeface="宋体" panose="02010600030101010101" pitchFamily="2" charset="-122"/>
              </a:rPr>
              <a:t>但是因果关系是一个很不好确定的东西，下面举一个例子来说明对购物篮数据来说，因果关系意味着什么。如果商店降低尿布的价格而升高啤酒的价格，则会吸引尿布购买者，而这些购买尿布的人同时很可能会购买啤酒，这样商店在尿布上遭受的损失就会从啤酒中得以弥补，这是因为“尿布是因，啤酒是果”。相反，如果降低啤酒的价格而升高尿布的价格，买啤酒的人多了但买尿布的人并不会增多，商店就赔本了</a:t>
            </a:r>
            <a:endParaRPr lang="zh-CN" altLang="en-US" sz="2400">
              <a:latin typeface="宋体" panose="02010600030101010101" pitchFamily="2" charset="-122"/>
              <a:ea typeface="宋体" panose="02010600030101010101" pitchFamily="2" charset="-122"/>
            </a:endParaRPr>
          </a:p>
          <a:p>
            <a:endParaRPr lang="zh-CN" altLang="en-US">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5074"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Association Rule Mining:A Road Map</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30722" name="Rectangle 3"/>
          <p:cNvSpPr>
            <a:spLocks noGrp="1"/>
          </p:cNvSpPr>
          <p:nvPr>
            <p:ph idx="1"/>
          </p:nvPr>
        </p:nvSpPr>
        <p:spPr>
          <a:ln/>
        </p:spPr>
        <p:txBody>
          <a:bodyPr vert="horz" wrap="square" lIns="91440" tIns="45720" rIns="91440" bIns="45720" anchor="t" anchorCtr="0"/>
          <a:p>
            <a:r>
              <a:rPr lang="en-US" altLang="zh-CN">
                <a:ea typeface="宋体" panose="02010600030101010101" pitchFamily="2" charset="-122"/>
              </a:rPr>
              <a:t>Based on the types of values</a:t>
            </a:r>
            <a:endParaRPr lang="en-US" altLang="zh-CN">
              <a:ea typeface="宋体" panose="02010600030101010101" pitchFamily="2" charset="-122"/>
            </a:endParaRPr>
          </a:p>
          <a:p>
            <a:pPr lvl="1">
              <a:lnSpc>
                <a:spcPct val="120000"/>
              </a:lnSpc>
            </a:pPr>
            <a:r>
              <a:rPr lang="en-US" altLang="zh-CN">
                <a:ea typeface="宋体" panose="02010600030101010101" pitchFamily="2" charset="-122"/>
              </a:rPr>
              <a:t>Boolean AR, Quantitative AR</a:t>
            </a:r>
            <a:endParaRPr lang="en-US" altLang="zh-CN">
              <a:ea typeface="宋体" panose="02010600030101010101" pitchFamily="2" charset="-122"/>
            </a:endParaRPr>
          </a:p>
          <a:p>
            <a:r>
              <a:rPr lang="en-US" altLang="zh-CN">
                <a:ea typeface="宋体" panose="02010600030101010101" pitchFamily="2" charset="-122"/>
              </a:rPr>
              <a:t>Based on the dimensions of data</a:t>
            </a:r>
            <a:endParaRPr lang="en-US" altLang="zh-CN">
              <a:ea typeface="宋体" panose="02010600030101010101" pitchFamily="2" charset="-122"/>
            </a:endParaRPr>
          </a:p>
          <a:p>
            <a:pPr lvl="1">
              <a:lnSpc>
                <a:spcPct val="120000"/>
              </a:lnSpc>
            </a:pPr>
            <a:r>
              <a:rPr lang="en-US" altLang="zh-CN">
                <a:ea typeface="宋体" panose="02010600030101010101" pitchFamily="2" charset="-122"/>
              </a:rPr>
              <a:t>Single dimension, Multi-dimension</a:t>
            </a:r>
            <a:endParaRPr lang="en-US" altLang="zh-CN">
              <a:ea typeface="宋体" panose="02010600030101010101" pitchFamily="2" charset="-122"/>
            </a:endParaRPr>
          </a:p>
          <a:p>
            <a:r>
              <a:rPr lang="en-US" altLang="zh-CN">
                <a:ea typeface="宋体" panose="02010600030101010101" pitchFamily="2" charset="-122"/>
              </a:rPr>
              <a:t>Based on the levels of abstractions</a:t>
            </a:r>
            <a:endParaRPr lang="en-US" altLang="zh-CN">
              <a:ea typeface="宋体" panose="02010600030101010101" pitchFamily="2" charset="-122"/>
            </a:endParaRPr>
          </a:p>
          <a:p>
            <a:pPr lvl="1">
              <a:lnSpc>
                <a:spcPct val="120000"/>
              </a:lnSpc>
            </a:pPr>
            <a:r>
              <a:rPr lang="en-US" altLang="zh-CN">
                <a:ea typeface="宋体" panose="02010600030101010101" pitchFamily="2" charset="-122"/>
              </a:rPr>
              <a:t>Single level, Multi-level</a:t>
            </a:r>
            <a:endParaRPr lang="zh-CN" altLang="en-US">
              <a:ea typeface="宋体" panose="02010600030101010101" pitchFamily="2" charset="-122"/>
            </a:endParaRPr>
          </a:p>
          <a:p>
            <a:r>
              <a:rPr lang="en-US" altLang="zh-CN">
                <a:ea typeface="宋体" panose="02010600030101010101" pitchFamily="2" charset="-122"/>
              </a:rPr>
              <a:t>Based on various extension </a:t>
            </a:r>
            <a:endParaRPr lang="en-US" altLang="zh-CN">
              <a:ea typeface="宋体" panose="02010600030101010101" pitchFamily="2" charset="-122"/>
            </a:endParaRPr>
          </a:p>
          <a:p>
            <a:pPr lvl="1">
              <a:lnSpc>
                <a:spcPct val="120000"/>
              </a:lnSpc>
            </a:pPr>
            <a:r>
              <a:rPr lang="en-US" altLang="zh-CN">
                <a:ea typeface="宋体" panose="02010600030101010101" pitchFamily="2" charset="-122"/>
              </a:rPr>
              <a:t>Correlation analysis, Maxpatterns</a:t>
            </a:r>
            <a:endParaRPr lang="en-US" altLang="zh-CN">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4898" name="Rectangle 2"/>
          <p:cNvSpPr>
            <a:spLocks noGrp="1" noChangeArrowheads="1"/>
          </p:cNvSpPr>
          <p:nvPr>
            <p:ph type="title"/>
          </p:nvPr>
        </p:nvSpPr>
        <p:spPr>
          <a:xfrm>
            <a:off x="685800" y="381000"/>
            <a:ext cx="7772400" cy="762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Extension of AR Mining</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31746" name="Rectangle 3"/>
          <p:cNvSpPr>
            <a:spLocks noGrp="1"/>
          </p:cNvSpPr>
          <p:nvPr>
            <p:ph idx="1"/>
          </p:nvPr>
        </p:nvSpPr>
        <p:spPr>
          <a:xfrm>
            <a:off x="304800" y="1628775"/>
            <a:ext cx="8610600" cy="4848225"/>
          </a:xfrm>
          <a:ln/>
        </p:spPr>
        <p:txBody>
          <a:bodyPr vert="horz" wrap="square" lIns="92075" tIns="46038" rIns="92075" bIns="46038" anchor="t" anchorCtr="0"/>
          <a:p>
            <a:r>
              <a:rPr lang="en-US" altLang="zh-CN" sz="3600">
                <a:ea typeface="宋体" panose="02010600030101010101" pitchFamily="2" charset="-122"/>
              </a:rPr>
              <a:t>Transaction Db</a:t>
            </a:r>
            <a:endParaRPr lang="en-US" altLang="zh-CN">
              <a:ea typeface="宋体" panose="02010600030101010101" pitchFamily="2" charset="-122"/>
            </a:endParaRPr>
          </a:p>
          <a:p>
            <a:r>
              <a:rPr lang="en-US" altLang="zh-CN" sz="3600">
                <a:ea typeface="宋体" panose="02010600030101010101" pitchFamily="2" charset="-122"/>
              </a:rPr>
              <a:t>Relation，Data warehouse（OLAM</a:t>
            </a:r>
            <a:r>
              <a:rPr lang="en-US" altLang="zh-CN">
                <a:ea typeface="宋体" panose="02010600030101010101" pitchFamily="2" charset="-122"/>
              </a:rPr>
              <a:t> ）</a:t>
            </a:r>
            <a:endParaRPr lang="en-US" altLang="zh-CN">
              <a:ea typeface="宋体" panose="02010600030101010101" pitchFamily="2" charset="-122"/>
            </a:endParaRPr>
          </a:p>
          <a:p>
            <a:pPr lvl="1"/>
            <a:r>
              <a:rPr lang="en-US" altLang="zh-CN" sz="2800">
                <a:ea typeface="宋体" panose="02010600030101010101" pitchFamily="2" charset="-122"/>
              </a:rPr>
              <a:t>Quantitative ，Multi-level，Cubegrade</a:t>
            </a:r>
            <a:endParaRPr lang="en-US" altLang="zh-CN" sz="2800">
              <a:ea typeface="宋体" panose="02010600030101010101" pitchFamily="2" charset="-122"/>
            </a:endParaRPr>
          </a:p>
          <a:p>
            <a:r>
              <a:rPr lang="en-US" altLang="zh-CN" sz="3600">
                <a:ea typeface="宋体" panose="02010600030101010101" pitchFamily="2" charset="-122"/>
              </a:rPr>
              <a:t>Constrained AR</a:t>
            </a:r>
            <a:endParaRPr lang="en-US" altLang="zh-CN" sz="3600">
              <a:ea typeface="宋体" panose="02010600030101010101" pitchFamily="2" charset="-122"/>
            </a:endParaRPr>
          </a:p>
          <a:p>
            <a:pPr lvl="1"/>
            <a:r>
              <a:rPr lang="en-US" altLang="zh-CN" sz="2800">
                <a:ea typeface="宋体" panose="02010600030101010101" pitchFamily="2" charset="-122"/>
              </a:rPr>
              <a:t>Constrain on Item，Interest …</a:t>
            </a:r>
            <a:endParaRPr lang="en-US" altLang="zh-CN">
              <a:ea typeface="宋体" panose="02010600030101010101" pitchFamily="2" charset="-122"/>
            </a:endParaRPr>
          </a:p>
          <a:p>
            <a:pPr>
              <a:buFont typeface="Wingdings" panose="05000000000000000000" pitchFamily="2" charset="2"/>
              <a:buChar char="v"/>
            </a:pPr>
            <a:r>
              <a:rPr lang="en-US" altLang="zh-CN" sz="3200">
                <a:ea typeface="宋体" panose="02010600030101010101" pitchFamily="2" charset="-122"/>
              </a:rPr>
              <a:t>Correlation analysis</a:t>
            </a:r>
            <a:endParaRPr lang="en-US" altLang="zh-CN" sz="3200">
              <a:ea typeface="宋体" panose="02010600030101010101" pitchFamily="2" charset="-122"/>
            </a:endParaRPr>
          </a:p>
        </p:txBody>
      </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6" name="Rectangle 1026"/>
          <p:cNvSpPr>
            <a:spLocks noGrp="1" noChangeArrowheads="1"/>
          </p:cNvSpPr>
          <p:nvPr>
            <p:ph type="title"/>
          </p:nvPr>
        </p:nvSpPr>
        <p:spPr>
          <a:xfrm>
            <a:off x="304800" y="381000"/>
            <a:ext cx="8839200"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Evolution of AR Mining</a:t>
            </a:r>
            <a:endPar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32770" name="Rectangle 1027"/>
          <p:cNvSpPr>
            <a:spLocks noGrp="1"/>
          </p:cNvSpPr>
          <p:nvPr>
            <p:ph idx="1"/>
          </p:nvPr>
        </p:nvSpPr>
        <p:spPr>
          <a:xfrm>
            <a:off x="304800" y="1600200"/>
            <a:ext cx="8534400" cy="5257800"/>
          </a:xfrm>
          <a:ln/>
        </p:spPr>
        <p:txBody>
          <a:bodyPr vert="horz" wrap="square" lIns="92075" tIns="46038" rIns="92075" bIns="46038" anchor="t" anchorCtr="0"/>
          <a:p>
            <a:pPr>
              <a:lnSpc>
                <a:spcPct val="120000"/>
              </a:lnSpc>
              <a:buFont typeface="Wingdings" panose="05000000000000000000" pitchFamily="2" charset="2"/>
              <a:buChar char="v"/>
            </a:pPr>
            <a:r>
              <a:rPr lang="zh-CN" altLang="en-US" sz="3600">
                <a:ea typeface="宋体" panose="02010600030101010101" pitchFamily="2" charset="-122"/>
              </a:rPr>
              <a:t>1993</a:t>
            </a:r>
            <a:r>
              <a:rPr lang="en-US" altLang="zh-CN" sz="3600">
                <a:ea typeface="宋体" panose="02010600030101010101" pitchFamily="2" charset="-122"/>
              </a:rPr>
              <a:t>: AIS（AR Model）</a:t>
            </a:r>
            <a:endParaRPr lang="en-US" altLang="zh-CN" sz="3600">
              <a:ea typeface="宋体" panose="02010600030101010101" pitchFamily="2" charset="-122"/>
            </a:endParaRPr>
          </a:p>
          <a:p>
            <a:pPr>
              <a:lnSpc>
                <a:spcPct val="120000"/>
              </a:lnSpc>
              <a:buFont typeface="Wingdings" panose="05000000000000000000" pitchFamily="2" charset="2"/>
              <a:buChar char="v"/>
            </a:pPr>
            <a:r>
              <a:rPr lang="zh-CN" altLang="en-US" sz="3600">
                <a:ea typeface="宋体" panose="02010600030101010101" pitchFamily="2" charset="-122"/>
              </a:rPr>
              <a:t>1994</a:t>
            </a:r>
            <a:r>
              <a:rPr lang="en-US" altLang="zh-CN" sz="3600">
                <a:ea typeface="宋体" panose="02010600030101010101" pitchFamily="2" charset="-122"/>
              </a:rPr>
              <a:t>: Apriori（</a:t>
            </a:r>
            <a:r>
              <a:rPr lang="zh-CN" altLang="en-US" sz="3600">
                <a:ea typeface="宋体" panose="02010600030101010101" pitchFamily="2" charset="-122"/>
              </a:rPr>
              <a:t>层次算法产生侯选集）</a:t>
            </a:r>
            <a:endParaRPr lang="zh-CN" altLang="en-US" sz="3600">
              <a:ea typeface="宋体" panose="02010600030101010101" pitchFamily="2" charset="-122"/>
            </a:endParaRPr>
          </a:p>
          <a:p>
            <a:pPr lvl="1">
              <a:lnSpc>
                <a:spcPct val="120000"/>
              </a:lnSpc>
              <a:buFont typeface="Monotype Sorts" pitchFamily="2" charset="2"/>
              <a:buChar char="u"/>
            </a:pPr>
            <a:r>
              <a:rPr lang="en-US" altLang="zh-CN" sz="2800">
                <a:ea typeface="宋体" panose="02010600030101010101" pitchFamily="2" charset="-122"/>
              </a:rPr>
              <a:t>1995 ：Partition，Hash-based，Parallel</a:t>
            </a:r>
            <a:endParaRPr lang="en-US" altLang="zh-CN" sz="2800">
              <a:ea typeface="宋体" panose="02010600030101010101" pitchFamily="2" charset="-122"/>
            </a:endParaRPr>
          </a:p>
          <a:p>
            <a:pPr lvl="1">
              <a:lnSpc>
                <a:spcPct val="120000"/>
              </a:lnSpc>
              <a:buFont typeface="Monotype Sorts" pitchFamily="2" charset="2"/>
              <a:buChar char="u"/>
            </a:pPr>
            <a:r>
              <a:rPr lang="en-US" altLang="zh-CN" sz="2800">
                <a:ea typeface="宋体" panose="02010600030101010101" pitchFamily="2" charset="-122"/>
              </a:rPr>
              <a:t>1996：Sample</a:t>
            </a:r>
            <a:endParaRPr lang="en-US" altLang="zh-CN" sz="2800">
              <a:ea typeface="宋体" panose="02010600030101010101" pitchFamily="2" charset="-122"/>
            </a:endParaRPr>
          </a:p>
          <a:p>
            <a:pPr lvl="1">
              <a:lnSpc>
                <a:spcPct val="120000"/>
              </a:lnSpc>
              <a:buFont typeface="Monotype Sorts" pitchFamily="2" charset="2"/>
              <a:buChar char="u"/>
            </a:pPr>
            <a:r>
              <a:rPr lang="en-US" altLang="zh-CN" sz="2800">
                <a:ea typeface="宋体" panose="02010600030101010101" pitchFamily="2" charset="-122"/>
              </a:rPr>
              <a:t>1997：Dynamic</a:t>
            </a:r>
            <a:endParaRPr lang="en-US" altLang="zh-CN" sz="2800">
              <a:ea typeface="宋体" panose="02010600030101010101" pitchFamily="2" charset="-122"/>
            </a:endParaRPr>
          </a:p>
          <a:p>
            <a:pPr>
              <a:lnSpc>
                <a:spcPct val="120000"/>
              </a:lnSpc>
              <a:buFont typeface="Wingdings" panose="05000000000000000000" pitchFamily="2" charset="2"/>
              <a:buChar char="v"/>
            </a:pPr>
            <a:r>
              <a:rPr lang="en-US" altLang="zh-CN" sz="3600">
                <a:ea typeface="宋体" panose="02010600030101010101" pitchFamily="2" charset="-122"/>
              </a:rPr>
              <a:t>2000:FP-Growth（</a:t>
            </a:r>
            <a:r>
              <a:rPr lang="zh-CN" altLang="en-US" sz="3600">
                <a:ea typeface="宋体" panose="02010600030101010101" pitchFamily="2" charset="-122"/>
              </a:rPr>
              <a:t>不产生候选集  ）</a:t>
            </a:r>
            <a:endParaRPr lang="zh-CN" altLang="en-US" sz="3600">
              <a:ea typeface="宋体" panose="02010600030101010101" pitchFamily="2" charset="-122"/>
            </a:endParaRPr>
          </a:p>
          <a:p>
            <a:pPr lvl="1">
              <a:lnSpc>
                <a:spcPct val="120000"/>
              </a:lnSpc>
              <a:buNone/>
            </a:pPr>
            <a:endParaRPr lang="en-US" altLang="zh-CN" sz="3600">
              <a:solidFill>
                <a:srgbClr val="170981"/>
              </a:solidFill>
              <a:ea typeface="宋体" panose="02010600030101010101" pitchFamily="2" charset="-122"/>
            </a:endParaRPr>
          </a:p>
          <a:p>
            <a:pPr>
              <a:lnSpc>
                <a:spcPct val="120000"/>
              </a:lnSpc>
              <a:buClr>
                <a:srgbClr val="000099"/>
              </a:buClr>
              <a:buFont typeface="Monotype Sorts" pitchFamily="2" charset="2"/>
              <a:buChar char="u"/>
            </a:pPr>
            <a:endParaRPr lang="en-US" altLang="zh-CN">
              <a:solidFill>
                <a:schemeClr val="tx1"/>
              </a:solidFill>
              <a:ea typeface="宋体" panose="02010600030101010101" pitchFamily="2" charset="-122"/>
            </a:endParaRPr>
          </a:p>
        </p:txBody>
      </p:sp>
    </p:spTree>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6946" name="Rectangle 2"/>
          <p:cNvSpPr>
            <a:spLocks noGrp="1" noChangeArrowheads="1"/>
          </p:cNvSpPr>
          <p:nvPr>
            <p:ph type="title"/>
          </p:nvPr>
        </p:nvSpPr>
        <p:spPr>
          <a:xfrm>
            <a:off x="381000" y="381000"/>
            <a:ext cx="9144000"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How are association rule mined ?</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34818" name="Rectangle 3"/>
          <p:cNvSpPr>
            <a:spLocks noGrp="1"/>
          </p:cNvSpPr>
          <p:nvPr>
            <p:ph idx="1"/>
          </p:nvPr>
        </p:nvSpPr>
        <p:spPr>
          <a:xfrm>
            <a:off x="457200" y="1676400"/>
            <a:ext cx="8305800" cy="4648200"/>
          </a:xfrm>
          <a:ln/>
        </p:spPr>
        <p:txBody>
          <a:bodyPr vert="horz" wrap="square" lIns="92075" tIns="46038" rIns="92075" bIns="46038" anchor="t" anchorCtr="0"/>
          <a:p>
            <a:pPr marL="533400" indent="-533400">
              <a:buFont typeface="Wingdings" panose="05000000000000000000" pitchFamily="2" charset="2"/>
              <a:buNone/>
            </a:pPr>
            <a:r>
              <a:rPr lang="zh-CN" altLang="en-US">
                <a:ea typeface="宋体" panose="02010600030101010101" pitchFamily="2" charset="-122"/>
              </a:rPr>
              <a:t>两个子问题：</a:t>
            </a:r>
            <a:endParaRPr lang="zh-CN" altLang="en-US">
              <a:ea typeface="宋体" panose="02010600030101010101" pitchFamily="2" charset="-122"/>
            </a:endParaRPr>
          </a:p>
          <a:p>
            <a:pPr marL="533400" indent="-533400">
              <a:buFont typeface="Wingdings" panose="05000000000000000000" pitchFamily="2" charset="2"/>
              <a:buChar char="v"/>
            </a:pPr>
            <a:endParaRPr lang="zh-CN" altLang="en-US">
              <a:ea typeface="宋体" panose="02010600030101010101" pitchFamily="2" charset="-122"/>
            </a:endParaRPr>
          </a:p>
          <a:p>
            <a:pPr marL="533400" indent="-533400">
              <a:buFont typeface="Wingdings" panose="05000000000000000000" pitchFamily="2" charset="2"/>
              <a:buAutoNum type="arabicPeriod"/>
            </a:pPr>
            <a:r>
              <a:rPr lang="zh-CN" altLang="en-US">
                <a:ea typeface="宋体" panose="02010600030101010101" pitchFamily="2" charset="-122"/>
              </a:rPr>
              <a:t>根据用户输入的最小支持度，寻找频繁项目集</a:t>
            </a:r>
            <a:endParaRPr lang="zh-CN" altLang="en-US">
              <a:ea typeface="宋体" panose="02010600030101010101" pitchFamily="2" charset="-122"/>
            </a:endParaRPr>
          </a:p>
          <a:p>
            <a:pPr marL="533400" indent="-533400">
              <a:buFont typeface="Wingdings" panose="05000000000000000000" pitchFamily="2" charset="2"/>
              <a:buNone/>
            </a:pPr>
            <a:endParaRPr lang="zh-CN" altLang="en-US">
              <a:ea typeface="宋体" panose="02010600030101010101" pitchFamily="2" charset="-122"/>
            </a:endParaRPr>
          </a:p>
          <a:p>
            <a:pPr marL="533400" indent="-533400">
              <a:buFont typeface="Wingdings" panose="05000000000000000000" pitchFamily="2" charset="2"/>
              <a:buNone/>
            </a:pPr>
            <a:r>
              <a:rPr lang="en-US" altLang="zh-CN">
                <a:ea typeface="宋体" panose="02010600030101010101" pitchFamily="2" charset="-122"/>
              </a:rPr>
              <a:t>2.   </a:t>
            </a:r>
            <a:r>
              <a:rPr lang="zh-CN" altLang="en-US">
                <a:ea typeface="宋体" panose="02010600030101010101" pitchFamily="2" charset="-122"/>
              </a:rPr>
              <a:t>根据用户输入的最小可信度，产生关联规则</a:t>
            </a:r>
            <a:endParaRPr lang="zh-CN" altLang="en-US">
              <a:ea typeface="宋体" panose="02010600030101010101" pitchFamily="2" charset="-122"/>
            </a:endParaRPr>
          </a:p>
          <a:p>
            <a:pPr marL="533400" indent="-533400">
              <a:buFont typeface="Wingdings" panose="05000000000000000000" pitchFamily="2" charset="2"/>
              <a:buAutoNum type="arabicPeriod"/>
            </a:pPr>
            <a:endParaRPr lang="en-US" altLang="zh-CN">
              <a:ea typeface="宋体" panose="02010600030101010101" pitchFamily="2" charset="-122"/>
            </a:endParaRPr>
          </a:p>
          <a:p>
            <a:pPr marL="533400" indent="-533400">
              <a:buFont typeface="Wingdings" panose="05000000000000000000" pitchFamily="2" charset="2"/>
              <a:buNone/>
            </a:pPr>
            <a:r>
              <a:rPr lang="zh-CN" altLang="en-US">
                <a:ea typeface="宋体" panose="02010600030101010101" pitchFamily="2" charset="-122"/>
              </a:rPr>
              <a:t>第二个问题比较简单，关键是解决第一个问题</a:t>
            </a:r>
            <a:endParaRPr lang="zh-CN" altLang="en-US">
              <a:ea typeface="宋体" panose="02010600030101010101" pitchFamily="2" charset="-122"/>
            </a:endParaRPr>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2" name="Rectangle 2"/>
          <p:cNvSpPr>
            <a:spLocks noGrp="1" noChangeArrowheads="1"/>
          </p:cNvSpPr>
          <p:nvPr>
            <p:ph type="title"/>
          </p:nvPr>
        </p:nvSpPr>
        <p:spPr>
          <a:xfrm>
            <a:off x="457200" y="228600"/>
            <a:ext cx="7772400" cy="990600"/>
          </a:xfrm>
        </p:spPr>
        <p:txBody>
          <a:bodyPr vert="horz" wrap="square" lIns="92075" tIns="46038" rIns="92075" bIns="46038" numCol="1" anchor="ctr" anchorCtr="0" compatLnSpc="1"/>
          <a:p>
            <a:pPr>
              <a:buNone/>
            </a:pPr>
            <a:r>
              <a:rPr lang="en-US" altLang="zh-CN">
                <a:effectLst>
                  <a:outerShdw blurRad="38100" dist="38100" dir="2700000">
                    <a:srgbClr val="000000"/>
                  </a:outerShdw>
                </a:effectLst>
                <a:ea typeface="宋体" panose="02010600030101010101" pitchFamily="2" charset="-122"/>
              </a:rPr>
              <a:t>Boolean AR</a:t>
            </a:r>
            <a:r>
              <a:rPr lang="zh-CN" altLang="en-US">
                <a:effectLst>
                  <a:outerShdw blurRad="38100" dist="38100" dir="2700000">
                    <a:srgbClr val="000000"/>
                  </a:outerShdw>
                </a:effectLst>
                <a:ea typeface="宋体" panose="02010600030101010101" pitchFamily="2" charset="-122"/>
              </a:rPr>
              <a:t>：算法设计的重要前提</a:t>
            </a:r>
            <a:endParaRPr lang="zh-CN" altLang="en-US">
              <a:effectLst>
                <a:outerShdw blurRad="38100" dist="38100" dir="2700000">
                  <a:srgbClr val="000000"/>
                </a:outerShdw>
              </a:effectLst>
              <a:ea typeface="宋体" panose="02010600030101010101" pitchFamily="2" charset="-122"/>
            </a:endParaRPr>
          </a:p>
        </p:txBody>
      </p:sp>
      <p:sp>
        <p:nvSpPr>
          <p:cNvPr id="35842" name="Rectangle 3"/>
          <p:cNvSpPr>
            <a:spLocks noGrp="1"/>
          </p:cNvSpPr>
          <p:nvPr>
            <p:ph idx="1"/>
          </p:nvPr>
        </p:nvSpPr>
        <p:spPr>
          <a:xfrm>
            <a:off x="0" y="1600200"/>
            <a:ext cx="8748713" cy="4648200"/>
          </a:xfrm>
          <a:ln/>
        </p:spPr>
        <p:txBody>
          <a:bodyPr vert="horz" wrap="square" lIns="92075" tIns="46038" rIns="92075" bIns="46038" anchor="t" anchorCtr="0"/>
          <a:p>
            <a:pPr marL="914400" lvl="1" indent="-457200" algn="just">
              <a:buClr>
                <a:srgbClr val="170981"/>
              </a:buClr>
              <a:buFont typeface="Wingdings" panose="05000000000000000000" pitchFamily="2" charset="2"/>
              <a:buNone/>
            </a:pPr>
            <a:r>
              <a:rPr lang="zh-CN" altLang="en-US" sz="2800">
                <a:solidFill>
                  <a:srgbClr val="170981"/>
                </a:solidFill>
                <a:ea typeface="宋体" panose="02010600030101010101" pitchFamily="2" charset="-122"/>
              </a:rPr>
              <a:t>以“市场-购物篮”为数据模型，把数据看作一个布尔</a:t>
            </a:r>
            <a:endParaRPr lang="en-US" altLang="zh-CN" sz="2800">
              <a:solidFill>
                <a:srgbClr val="170981"/>
              </a:solidFill>
              <a:ea typeface="宋体" panose="02010600030101010101" pitchFamily="2" charset="-122"/>
            </a:endParaRPr>
          </a:p>
          <a:p>
            <a:pPr marL="914400" lvl="1" indent="-457200" algn="just">
              <a:buClr>
                <a:srgbClr val="170981"/>
              </a:buClr>
              <a:buFont typeface="Wingdings" panose="05000000000000000000" pitchFamily="2" charset="2"/>
              <a:buNone/>
            </a:pPr>
            <a:r>
              <a:rPr lang="zh-CN" altLang="en-US" sz="2800">
                <a:solidFill>
                  <a:srgbClr val="170981"/>
                </a:solidFill>
                <a:ea typeface="宋体" panose="02010600030101010101" pitchFamily="2" charset="-122"/>
              </a:rPr>
              <a:t>矩阵，其中行=购物篮，列=商品项目</a:t>
            </a:r>
            <a:r>
              <a:rPr lang="zh-CN" altLang="en-US" sz="4000">
                <a:solidFill>
                  <a:srgbClr val="170981"/>
                </a:solidFill>
                <a:ea typeface="宋体" panose="02010600030101010101" pitchFamily="2" charset="-122"/>
              </a:rPr>
              <a:t>：</a:t>
            </a:r>
            <a:endParaRPr lang="zh-CN" altLang="en-US" sz="2800">
              <a:solidFill>
                <a:srgbClr val="170981"/>
              </a:solidFill>
              <a:ea typeface="宋体" panose="02010600030101010101" pitchFamily="2" charset="-122"/>
            </a:endParaRPr>
          </a:p>
          <a:p>
            <a:pPr marL="914400" lvl="1" indent="-457200" algn="just">
              <a:buClr>
                <a:srgbClr val="170981"/>
              </a:buClr>
              <a:buFont typeface="Wingdings" panose="05000000000000000000" pitchFamily="2" charset="2"/>
              <a:buAutoNum type="arabicPeriod"/>
            </a:pPr>
            <a:r>
              <a:rPr lang="zh-CN" altLang="en-US" sz="2800">
                <a:solidFill>
                  <a:srgbClr val="170981"/>
                </a:solidFill>
                <a:ea typeface="宋体" panose="02010600030101010101" pitchFamily="2" charset="-122"/>
              </a:rPr>
              <a:t>矩阵很稀疏，几乎全是0</a:t>
            </a:r>
            <a:endParaRPr lang="zh-CN" altLang="en-US" sz="2800">
              <a:solidFill>
                <a:srgbClr val="170981"/>
              </a:solidFill>
              <a:ea typeface="宋体" panose="02010600030101010101" pitchFamily="2" charset="-122"/>
            </a:endParaRPr>
          </a:p>
          <a:p>
            <a:pPr marL="914400" lvl="1" indent="-457200" algn="just">
              <a:buClr>
                <a:srgbClr val="170981"/>
              </a:buClr>
              <a:buFont typeface="Wingdings" panose="05000000000000000000" pitchFamily="2" charset="2"/>
              <a:buAutoNum type="arabicPeriod"/>
            </a:pPr>
            <a:r>
              <a:rPr lang="zh-CN" altLang="en-US" sz="2800">
                <a:solidFill>
                  <a:srgbClr val="170981"/>
                </a:solidFill>
                <a:ea typeface="宋体" panose="02010600030101010101" pitchFamily="2" charset="-122"/>
              </a:rPr>
              <a:t>列的数目（项目数）要足够小，每列存点东西的话可以把所有的列放入内存，同时列的数目又要足够大，每个项目对存点东西的话不能全部放入内存</a:t>
            </a:r>
            <a:endParaRPr lang="zh-CN" altLang="en-US" sz="2800">
              <a:solidFill>
                <a:srgbClr val="170981"/>
              </a:solidFill>
              <a:ea typeface="宋体" panose="02010600030101010101" pitchFamily="2" charset="-122"/>
            </a:endParaRPr>
          </a:p>
          <a:p>
            <a:pPr marL="914400" lvl="1" indent="-457200" algn="just">
              <a:buClr>
                <a:srgbClr val="170981"/>
              </a:buClr>
              <a:buFont typeface="Wingdings" panose="05000000000000000000" pitchFamily="2" charset="2"/>
              <a:buAutoNum type="arabicPeriod"/>
            </a:pPr>
            <a:r>
              <a:rPr lang="zh-CN" altLang="en-US" sz="2800">
                <a:solidFill>
                  <a:srgbClr val="170981"/>
                </a:solidFill>
                <a:ea typeface="宋体" panose="02010600030101010101" pitchFamily="2" charset="-122"/>
              </a:rPr>
              <a:t>行的数目很多，不可能把整个矩阵放入内存，即使利用稀疏采用压缩也不行</a:t>
            </a:r>
            <a:endParaRPr lang="zh-CN" altLang="en-US" sz="2800">
              <a:solidFill>
                <a:srgbClr val="170981"/>
              </a:solidFill>
              <a:ea typeface="宋体" panose="02010600030101010101" pitchFamily="2" charset="-122"/>
            </a:endParaRPr>
          </a:p>
          <a:p>
            <a:pPr marL="533400" indent="-533400" algn="just">
              <a:buNone/>
            </a:pPr>
            <a:endParaRPr lang="zh-CN" altLang="en-US" sz="3600">
              <a:ea typeface="宋体" panose="02010600030101010101" pitchFamily="2" charset="-122"/>
            </a:endParaRPr>
          </a:p>
        </p:txBody>
      </p:sp>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11227" name="Group 251"/>
          <p:cNvGraphicFramePr>
            <a:graphicFrameLocks noGrp="1"/>
          </p:cNvGraphicFramePr>
          <p:nvPr/>
        </p:nvGraphicFramePr>
        <p:xfrm>
          <a:off x="1447800" y="1600200"/>
          <a:ext cx="6019800" cy="4451350"/>
        </p:xfrm>
        <a:graphic>
          <a:graphicData uri="http://schemas.openxmlformats.org/drawingml/2006/table">
            <a:tbl>
              <a:tblPr/>
              <a:tblGrid>
                <a:gridCol w="939800"/>
                <a:gridCol w="1016000"/>
                <a:gridCol w="1016000"/>
                <a:gridCol w="1016000"/>
                <a:gridCol w="1016000"/>
                <a:gridCol w="1016000"/>
              </a:tblGrid>
              <a:tr h="8960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item</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TID</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a</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b</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c</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d</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e</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T100</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T200</a:t>
                      </a:r>
                      <a:endPar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T300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T400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T500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T600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7894">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T700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 </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1</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90000"/>
                        <a:buFont typeface="Monotype Sorts" pitchFamily="2" charset="2"/>
                        <a:buNone/>
                      </a:pPr>
                      <a:r>
                        <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   0</a:t>
                      </a:r>
                      <a:endParaRPr kumimoji="0" lang="zh-CN" altLang="en-US" sz="2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1" marB="4571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8" name="Rectangle 2"/>
          <p:cNvSpPr>
            <a:spLocks noGrp="1" noChangeArrowheads="1"/>
          </p:cNvSpPr>
          <p:nvPr>
            <p:ph type="title"/>
          </p:nvPr>
        </p:nvSpPr>
        <p:spPr>
          <a:xfrm>
            <a:off x="381000" y="304800"/>
            <a:ext cx="8229600" cy="1219200"/>
          </a:xfrm>
        </p:spPr>
        <p:txBody>
          <a:bodyPr vert="horz" wrap="square" lIns="92075" tIns="46038" rIns="92075" bIns="46038" numCol="1" anchor="ctr" anchorCtr="0" compatLnSpc="1"/>
          <a:p>
            <a:pPr>
              <a:buNone/>
            </a:pPr>
            <a:r>
              <a:rPr lang="zh-CN" altLang="en-US" sz="4800">
                <a:effectLst>
                  <a:outerShdw blurRad="38100" dist="38100" dir="2700000">
                    <a:srgbClr val="000000"/>
                  </a:outerShdw>
                </a:effectLst>
                <a:ea typeface="宋体" panose="02010600030101010101" pitchFamily="2" charset="-122"/>
              </a:rPr>
              <a:t>怎样估计算法运行的时间？</a:t>
            </a:r>
            <a:endParaRPr lang="en-US" altLang="zh-CN" sz="4800">
              <a:effectLst>
                <a:outerShdw blurRad="38100" dist="38100" dir="2700000">
                  <a:srgbClr val="000000"/>
                </a:outerShdw>
              </a:effectLst>
              <a:ea typeface="宋体" panose="02010600030101010101" pitchFamily="2" charset="-122"/>
            </a:endParaRPr>
          </a:p>
        </p:txBody>
      </p:sp>
      <p:sp>
        <p:nvSpPr>
          <p:cNvPr id="37890" name="Rectangle 3"/>
          <p:cNvSpPr>
            <a:spLocks noGrp="1"/>
          </p:cNvSpPr>
          <p:nvPr>
            <p:ph idx="1"/>
          </p:nvPr>
        </p:nvSpPr>
        <p:spPr>
          <a:xfrm>
            <a:off x="304800" y="1676400"/>
            <a:ext cx="8382000" cy="4800600"/>
          </a:xfrm>
          <a:ln/>
        </p:spPr>
        <p:txBody>
          <a:bodyPr vert="horz" wrap="square" lIns="92075" tIns="46038" rIns="92075" bIns="46038" anchor="t" anchorCtr="0"/>
          <a:p>
            <a:pPr algn="just">
              <a:buNone/>
            </a:pPr>
            <a:r>
              <a:rPr lang="zh-CN" altLang="en-US" sz="3200">
                <a:ea typeface="宋体" panose="02010600030101010101" pitchFamily="2" charset="-122"/>
              </a:rPr>
              <a:t>主要考虑：</a:t>
            </a:r>
            <a:endParaRPr lang="zh-CN" altLang="en-US" sz="3200">
              <a:ea typeface="宋体" panose="02010600030101010101" pitchFamily="2" charset="-122"/>
            </a:endParaRPr>
          </a:p>
          <a:p>
            <a:pPr algn="just">
              <a:buNone/>
            </a:pPr>
            <a:r>
              <a:rPr lang="zh-CN" altLang="en-US" sz="3200">
                <a:ea typeface="宋体" panose="02010600030101010101" pitchFamily="2" charset="-122"/>
              </a:rPr>
              <a:t>		它对数据的扫描次数  数据挖掘的主要代价是从硬盘读数据，因此估算一个数据挖掘算法运行时间的最好手段是看它对同一个数据读了几次</a:t>
            </a:r>
            <a:endParaRPr lang="zh-CN" altLang="en-US" sz="3200">
              <a:ea typeface="宋体" panose="02010600030101010101" pitchFamily="2" charset="-122"/>
            </a:endParaRPr>
          </a:p>
          <a:p>
            <a:pPr algn="just">
              <a:buNone/>
            </a:pPr>
            <a:endParaRPr lang="zh-CN" altLang="en-US" sz="3200">
              <a:ea typeface="宋体" panose="02010600030101010101" pitchFamily="2" charset="-122"/>
            </a:endParaRPr>
          </a:p>
          <a:p>
            <a:pPr>
              <a:buNone/>
            </a:pPr>
            <a:endParaRPr lang="zh-CN" altLang="en-US" sz="3200">
              <a:ea typeface="宋体" panose="02010600030101010101" pitchFamily="2" charset="-122"/>
            </a:endParaRPr>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02" name="Rectangle 1026"/>
          <p:cNvSpPr>
            <a:spLocks noGrp="1" noChangeArrowheads="1"/>
          </p:cNvSpPr>
          <p:nvPr>
            <p:ph type="title"/>
          </p:nvPr>
        </p:nvSpPr>
        <p:spPr>
          <a:xfrm>
            <a:off x="381000" y="381000"/>
            <a:ext cx="8382000" cy="14478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重要的公理</a:t>
            </a:r>
            <a:br>
              <a:rPr kumimoji="0" lang="zh-CN" altLang="en-US" sz="4800" b="1" i="0" u="none" strike="noStrike" kern="0" cap="none" spc="0" normalizeH="0" baseline="0" noProof="0">
                <a:ln>
                  <a:noFill/>
                </a:ln>
                <a:solidFill>
                  <a:srgbClr val="170981"/>
                </a:solidFill>
                <a:effectLst/>
                <a:uLnTx/>
                <a:uFillTx/>
                <a:latin typeface="+mj-lt"/>
                <a:ea typeface="宋体" panose="02010600030101010101" pitchFamily="2" charset="-122"/>
                <a:cs typeface="+mj-cs"/>
              </a:rPr>
            </a:br>
            <a:endParaRPr kumimoji="0" lang="zh-CN" altLang="en-US" sz="4800" b="1" i="0" u="none" strike="noStrike" kern="0" cap="none" spc="0" normalizeH="0" baseline="0" noProof="0">
              <a:ln>
                <a:noFill/>
              </a:ln>
              <a:solidFill>
                <a:srgbClr val="170981"/>
              </a:solidFill>
              <a:effectLst/>
              <a:uLnTx/>
              <a:uFillTx/>
              <a:latin typeface="+mj-lt"/>
              <a:ea typeface="宋体" panose="02010600030101010101" pitchFamily="2" charset="-122"/>
              <a:cs typeface="+mj-cs"/>
            </a:endParaRPr>
          </a:p>
        </p:txBody>
      </p:sp>
      <p:sp>
        <p:nvSpPr>
          <p:cNvPr id="39938" name="Rectangle 1028"/>
          <p:cNvSpPr/>
          <p:nvPr/>
        </p:nvSpPr>
        <p:spPr>
          <a:xfrm>
            <a:off x="228600" y="1676400"/>
            <a:ext cx="8610600" cy="3540125"/>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50000"/>
              </a:spcBef>
              <a:buNone/>
            </a:pPr>
            <a:r>
              <a:rPr lang="zh-CN" altLang="en-US" sz="3200">
                <a:ea typeface="宋体" panose="02010600030101010101" pitchFamily="2" charset="-122"/>
              </a:rPr>
              <a:t>如果一个项目集</a:t>
            </a:r>
            <a:r>
              <a:rPr lang="en-US" altLang="zh-CN" sz="3200">
                <a:ea typeface="宋体" panose="02010600030101010101" pitchFamily="2" charset="-122"/>
              </a:rPr>
              <a:t>S</a:t>
            </a:r>
            <a:r>
              <a:rPr lang="zh-CN" altLang="en-US" sz="3200">
                <a:ea typeface="宋体" panose="02010600030101010101" pitchFamily="2" charset="-122"/>
              </a:rPr>
              <a:t>是频繁的（项目集</a:t>
            </a:r>
            <a:r>
              <a:rPr lang="en-US" altLang="zh-CN" sz="3200">
                <a:ea typeface="宋体" panose="02010600030101010101" pitchFamily="2" charset="-122"/>
              </a:rPr>
              <a:t>S</a:t>
            </a:r>
            <a:r>
              <a:rPr lang="zh-CN" altLang="en-US" sz="3200">
                <a:ea typeface="宋体" panose="02010600030101010101" pitchFamily="2" charset="-122"/>
              </a:rPr>
              <a:t>的出现</a:t>
            </a:r>
            <a:endParaRPr lang="zh-CN" altLang="en-US" sz="3200">
              <a:ea typeface="宋体" panose="02010600030101010101" pitchFamily="2" charset="-122"/>
            </a:endParaRPr>
          </a:p>
          <a:p>
            <a:pPr marL="0" lvl="0" indent="0">
              <a:spcBef>
                <a:spcPct val="50000"/>
              </a:spcBef>
              <a:buNone/>
            </a:pPr>
            <a:r>
              <a:rPr lang="zh-CN" altLang="en-US" sz="3200">
                <a:ea typeface="宋体" panose="02010600030101010101" pitchFamily="2" charset="-122"/>
              </a:rPr>
              <a:t>频度大于最小频度</a:t>
            </a:r>
            <a:r>
              <a:rPr lang="en-US" altLang="zh-CN" sz="3200">
                <a:ea typeface="宋体" panose="02010600030101010101" pitchFamily="2" charset="-122"/>
              </a:rPr>
              <a:t>s），</a:t>
            </a:r>
            <a:r>
              <a:rPr lang="zh-CN" altLang="en-US" sz="3200">
                <a:ea typeface="宋体" panose="02010600030101010101" pitchFamily="2" charset="-122"/>
              </a:rPr>
              <a:t>那么</a:t>
            </a:r>
            <a:r>
              <a:rPr lang="en-US" altLang="zh-CN" sz="3200">
                <a:ea typeface="宋体" panose="02010600030101010101" pitchFamily="2" charset="-122"/>
              </a:rPr>
              <a:t>S</a:t>
            </a:r>
            <a:r>
              <a:rPr lang="zh-CN" altLang="en-US" sz="3200">
                <a:ea typeface="宋体" panose="02010600030101010101" pitchFamily="2" charset="-122"/>
              </a:rPr>
              <a:t>的任意子集</a:t>
            </a:r>
            <a:endParaRPr lang="zh-CN" altLang="en-US" sz="3200">
              <a:ea typeface="宋体" panose="02010600030101010101" pitchFamily="2" charset="-122"/>
            </a:endParaRPr>
          </a:p>
          <a:p>
            <a:pPr marL="0" lvl="0" indent="0">
              <a:spcBef>
                <a:spcPct val="50000"/>
              </a:spcBef>
              <a:buNone/>
            </a:pPr>
            <a:r>
              <a:rPr lang="zh-CN" altLang="en-US" sz="3200">
                <a:ea typeface="宋体" panose="02010600030101010101" pitchFamily="2" charset="-122"/>
              </a:rPr>
              <a:t>也是频繁的</a:t>
            </a:r>
            <a:endParaRPr lang="en-US" altLang="zh-CN" sz="3200">
              <a:ea typeface="宋体" panose="02010600030101010101" pitchFamily="2" charset="-122"/>
            </a:endParaRPr>
          </a:p>
          <a:p>
            <a:pPr marL="0" lvl="0" indent="0">
              <a:spcBef>
                <a:spcPct val="50000"/>
              </a:spcBef>
              <a:buNone/>
            </a:pPr>
            <a:endParaRPr lang="en-US" altLang="zh-CN" sz="3200">
              <a:ea typeface="宋体" panose="02010600030101010101" pitchFamily="2" charset="-122"/>
            </a:endParaRPr>
          </a:p>
          <a:p>
            <a:pPr marL="0" lvl="0" indent="0">
              <a:spcBef>
                <a:spcPct val="50000"/>
              </a:spcBef>
              <a:buNone/>
            </a:pPr>
            <a:r>
              <a:rPr lang="zh-CN" altLang="en-US" sz="3200">
                <a:ea typeface="宋体" panose="02010600030101010101" pitchFamily="2" charset="-122"/>
              </a:rPr>
              <a:t> </a:t>
            </a:r>
            <a:endParaRPr lang="en-US" altLang="zh-CN" sz="320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026" name="Rectangle 2"/>
          <p:cNvSpPr>
            <a:spLocks noGrp="1" noChangeArrowheads="1"/>
          </p:cNvSpPr>
          <p:nvPr>
            <p:ph type="title"/>
          </p:nvPr>
        </p:nvSpPr>
        <p:spPr/>
        <p:txBody>
          <a:bodyPr vert="horz" wrap="square" lIns="91440" tIns="45720" rIns="91440" bIns="45720" numCol="1" anchor="ctr" anchorCtr="0" compatLnSpc="1"/>
          <a:p>
            <a:pPr>
              <a:buNone/>
            </a:pPr>
            <a:r>
              <a:rPr lang="zh-CN" altLang="en-US">
                <a:effectLst>
                  <a:outerShdw blurRad="38100" dist="38100" dir="2700000">
                    <a:srgbClr val="000000"/>
                  </a:outerShdw>
                </a:effectLst>
                <a:ea typeface="宋体" panose="02010600030101010101" pitchFamily="2" charset="-122"/>
              </a:rPr>
              <a:t>要找出频繁项目集，主要有两类算法：</a:t>
            </a:r>
            <a:endParaRPr lang="zh-CN" altLang="en-US">
              <a:effectLst>
                <a:outerShdw blurRad="38100" dist="38100" dir="2700000">
                  <a:srgbClr val="000000"/>
                </a:outerShdw>
              </a:effectLst>
              <a:ea typeface="宋体" panose="02010600030101010101" pitchFamily="2" charset="-122"/>
            </a:endParaRPr>
          </a:p>
        </p:txBody>
      </p:sp>
      <p:sp>
        <p:nvSpPr>
          <p:cNvPr id="40962" name="Rectangle 3"/>
          <p:cNvSpPr>
            <a:spLocks noGrp="1"/>
          </p:cNvSpPr>
          <p:nvPr>
            <p:ph idx="1"/>
          </p:nvPr>
        </p:nvSpPr>
        <p:spPr>
          <a:ln/>
        </p:spPr>
        <p:txBody>
          <a:bodyPr vert="horz" wrap="square" lIns="91440" tIns="45720" rIns="91440" bIns="45720" anchor="t" anchorCtr="0"/>
          <a:p>
            <a:pPr marL="457200" indent="-457200">
              <a:buFont typeface="Monotype Sorts" pitchFamily="2" charset="2"/>
              <a:buAutoNum type="arabicPeriod"/>
            </a:pPr>
            <a:r>
              <a:rPr lang="zh-CN" altLang="en-US">
                <a:ea typeface="宋体" panose="02010600030101010101" pitchFamily="2" charset="-122"/>
              </a:rPr>
              <a:t>分层挖掘 （每一层需要对数据做一次扫描。 ）</a:t>
            </a:r>
            <a:endParaRPr lang="zh-CN" altLang="en-US">
              <a:ea typeface="宋体" panose="02010600030101010101" pitchFamily="2" charset="-122"/>
            </a:endParaRPr>
          </a:p>
          <a:p>
            <a:pPr marL="457200" indent="-457200">
              <a:buNone/>
            </a:pPr>
            <a:r>
              <a:rPr lang="zh-CN" altLang="en-US" sz="2000">
                <a:solidFill>
                  <a:schemeClr val="tx1"/>
                </a:solidFill>
                <a:ea typeface="宋体" panose="02010600030101010101" pitchFamily="2" charset="-122"/>
              </a:rPr>
              <a:t>	先找出大小为1的频繁项目集，再找出大小为2的频繁项目集，再找出大小为3的频繁项目集，等等</a:t>
            </a:r>
            <a:endParaRPr lang="zh-CN" altLang="en-US" sz="2000">
              <a:solidFill>
                <a:schemeClr val="tx1"/>
              </a:solidFill>
              <a:ea typeface="宋体" panose="02010600030101010101" pitchFamily="2" charset="-122"/>
            </a:endParaRPr>
          </a:p>
          <a:p>
            <a:pPr marL="457200" indent="-457200">
              <a:buNone/>
            </a:pPr>
            <a:r>
              <a:rPr lang="zh-CN" altLang="en-US" sz="2400">
                <a:ea typeface="宋体" panose="02010600030101010101" pitchFamily="2" charset="-122"/>
              </a:rPr>
              <a:t>	</a:t>
            </a:r>
            <a:endParaRPr lang="zh-CN" altLang="en-US" sz="2400">
              <a:ea typeface="宋体" panose="02010600030101010101" pitchFamily="2" charset="-122"/>
            </a:endParaRPr>
          </a:p>
          <a:p>
            <a:pPr marL="457200" indent="-457200">
              <a:buNone/>
            </a:pPr>
            <a:r>
              <a:rPr lang="zh-CN" altLang="en-US" sz="2400">
                <a:ea typeface="宋体" panose="02010600030101010101" pitchFamily="2" charset="-122"/>
              </a:rPr>
              <a:t>	我们只需要把精力放在大小为2的频繁项目集上，因为：</a:t>
            </a:r>
            <a:endParaRPr lang="en-US" altLang="zh-CN" sz="2400">
              <a:ea typeface="宋体" panose="02010600030101010101" pitchFamily="2" charset="-122"/>
            </a:endParaRPr>
          </a:p>
          <a:p>
            <a:pPr marL="838200" lvl="1" indent="-381000">
              <a:lnSpc>
                <a:spcPct val="120000"/>
              </a:lnSpc>
            </a:pPr>
            <a:r>
              <a:rPr lang="en-US" altLang="zh-CN" sz="2000">
                <a:ea typeface="宋体" panose="02010600030101010101" pitchFamily="2" charset="-122"/>
              </a:rPr>
              <a:t> </a:t>
            </a:r>
            <a:r>
              <a:rPr lang="zh-CN" altLang="en-US" sz="2000">
                <a:ea typeface="宋体" panose="02010600030101010101" pitchFamily="2" charset="-122"/>
              </a:rPr>
              <a:t>通常，大小为2的频繁项目集就足够了</a:t>
            </a:r>
            <a:endParaRPr lang="en-US" altLang="zh-CN" sz="2000">
              <a:ea typeface="宋体" panose="02010600030101010101" pitchFamily="2" charset="-122"/>
            </a:endParaRPr>
          </a:p>
          <a:p>
            <a:pPr marL="838200" lvl="1" indent="-381000">
              <a:lnSpc>
                <a:spcPct val="120000"/>
              </a:lnSpc>
            </a:pPr>
            <a:r>
              <a:rPr lang="en-US" altLang="zh-CN" sz="2000">
                <a:ea typeface="宋体" panose="02010600030101010101" pitchFamily="2" charset="-122"/>
              </a:rPr>
              <a:t> </a:t>
            </a:r>
            <a:r>
              <a:rPr lang="zh-CN" altLang="en-US" sz="2000">
                <a:ea typeface="宋体" panose="02010600030101010101" pitchFamily="2" charset="-122"/>
              </a:rPr>
              <a:t>在很多数据集合里，查找大小为2的频繁项目集比较困难，进行高层挖掘比查找大小为2的频繁项目集用的时间要少</a:t>
            </a:r>
            <a:endParaRPr lang="zh-CN" altLang="en-US" sz="2000">
              <a:ea typeface="宋体" panose="02010600030101010101" pitchFamily="2" charset="-122"/>
            </a:endParaRPr>
          </a:p>
          <a:p>
            <a:pPr marL="838200" lvl="1" indent="-381000">
              <a:lnSpc>
                <a:spcPct val="120000"/>
              </a:lnSpc>
              <a:buNone/>
            </a:pPr>
            <a:endParaRPr lang="zh-CN" altLang="en-US" sz="2000">
              <a:ea typeface="宋体" panose="02010600030101010101" pitchFamily="2" charset="-122"/>
            </a:endParaRPr>
          </a:p>
          <a:p>
            <a:pPr marL="457200" indent="-457200">
              <a:buNone/>
            </a:pPr>
            <a:r>
              <a:rPr lang="zh-CN" altLang="en-US">
                <a:ea typeface="宋体" panose="02010600030101010101" pitchFamily="2" charset="-122"/>
              </a:rPr>
              <a:t>2.   数据做一次（最多两次）扫描，找出最大频繁集   （任何超集都不是频繁集的集合</a:t>
            </a:r>
            <a:r>
              <a:rPr lang="en-US" altLang="zh-CN">
                <a:ea typeface="宋体" panose="02010600030101010101" pitchFamily="2" charset="-122"/>
              </a:rPr>
              <a:t>S）</a:t>
            </a:r>
            <a:endParaRPr lang="zh-CN" altLang="en-US">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idx="1"/>
          </p:nvPr>
        </p:nvSpPr>
        <p:spPr>
          <a:xfrm>
            <a:off x="304800" y="1752600"/>
            <a:ext cx="8534400" cy="4572000"/>
          </a:xfrm>
          <a:ln/>
        </p:spPr>
        <p:txBody>
          <a:bodyPr vert="horz" wrap="square" lIns="91440" tIns="45720" rIns="91440" bIns="45720" anchor="t" anchorCtr="0"/>
          <a:p>
            <a:r>
              <a:rPr lang="zh-CN" altLang="en-US">
                <a:latin typeface="宋体" panose="02010600030101010101" pitchFamily="2" charset="-122"/>
                <a:ea typeface="宋体" panose="02010600030101010101" pitchFamily="2" charset="-122"/>
              </a:rPr>
              <a:t>关联规则</a:t>
            </a:r>
            <a:endParaRPr lang="zh-CN" altLang="en-US">
              <a:latin typeface="宋体" panose="02010600030101010101" pitchFamily="2" charset="-122"/>
              <a:ea typeface="宋体" panose="02010600030101010101" pitchFamily="2" charset="-122"/>
            </a:endParaRPr>
          </a:p>
          <a:p>
            <a:pPr lvl="1"/>
            <a:r>
              <a:rPr lang="zh-CN" altLang="en-US">
                <a:ea typeface="宋体" panose="02010600030101010101" pitchFamily="2" charset="-122"/>
              </a:rPr>
              <a:t>基本概念</a:t>
            </a:r>
            <a:endParaRPr lang="zh-CN" altLang="en-US">
              <a:ea typeface="宋体" panose="02010600030101010101" pitchFamily="2" charset="-122"/>
            </a:endParaRPr>
          </a:p>
          <a:p>
            <a:pPr lvl="1"/>
            <a:r>
              <a:rPr lang="en-US" altLang="zh-CN">
                <a:solidFill>
                  <a:schemeClr val="folHlink"/>
                </a:solidFill>
                <a:ea typeface="宋体" panose="02010600030101010101" pitchFamily="2" charset="-122"/>
              </a:rPr>
              <a:t>Apriori </a:t>
            </a:r>
            <a:r>
              <a:rPr lang="zh-CN" altLang="en-US">
                <a:solidFill>
                  <a:schemeClr val="folHlink"/>
                </a:solidFill>
                <a:ea typeface="宋体" panose="02010600030101010101" pitchFamily="2" charset="-122"/>
              </a:rPr>
              <a:t>及其改进算法</a:t>
            </a:r>
            <a:endParaRPr lang="zh-CN" altLang="en-US">
              <a:solidFill>
                <a:schemeClr val="folHlink"/>
              </a:solidFill>
              <a:ea typeface="宋体" panose="02010600030101010101" pitchFamily="2" charset="-122"/>
            </a:endParaRPr>
          </a:p>
          <a:p>
            <a:pPr lvl="1"/>
            <a:r>
              <a:rPr lang="en-US" altLang="zh-CN">
                <a:ea typeface="宋体" panose="02010600030101010101" pitchFamily="2" charset="-122"/>
              </a:rPr>
              <a:t>Apriori-based Sub-Graph  Mining</a:t>
            </a:r>
            <a:endParaRPr lang="zh-CN" altLang="en-US">
              <a:ea typeface="宋体" panose="02010600030101010101" pitchFamily="2" charset="-122"/>
            </a:endParaRPr>
          </a:p>
        </p:txBody>
      </p:sp>
      <p:sp>
        <p:nvSpPr>
          <p:cNvPr id="611331" name="Rectangle 3"/>
          <p:cNvSpPr>
            <a:spLocks noChangeArrowheads="1"/>
          </p:cNvSpPr>
          <p:nvPr/>
        </p:nvSpPr>
        <p:spPr bwMode="auto">
          <a:xfrm>
            <a:off x="762000" y="0"/>
            <a:ext cx="8096250" cy="1066800"/>
          </a:xfrm>
          <a:prstGeom prst="rect">
            <a:avLst/>
          </a:prstGeom>
          <a:noFill/>
          <a:ln w="9525">
            <a:noFill/>
            <a:miter lim="800000"/>
          </a:ln>
          <a:effectLst/>
        </p:spPr>
        <p:txBody>
          <a:bodyPr lIns="92075" tIns="46038" rIns="92075" bIns="46038" anchor="b"/>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1" indent="0" algn="ctr" eaLnBrk="1" hangingPunct="1">
              <a:lnSpc>
                <a:spcPct val="90000"/>
              </a:lnSpc>
              <a:buClr>
                <a:schemeClr val="hlink"/>
              </a:buClr>
              <a:buSzPct val="70000"/>
              <a:buFont typeface="Wingdings" panose="05000000000000000000" pitchFamily="2" charset="2"/>
              <a:buNone/>
            </a:pPr>
            <a:r>
              <a:rPr lang="zh-CN" altLang="en-US" sz="4400" b="0">
                <a:effectLst>
                  <a:outerShdw blurRad="38100" dist="38100" dir="2700000">
                    <a:srgbClr val="FFFFFF"/>
                  </a:outerShdw>
                </a:effectLst>
                <a:ea typeface="宋体" panose="02010600030101010101" pitchFamily="2" charset="-122"/>
              </a:rPr>
              <a:t>本讲内容</a:t>
            </a:r>
            <a:endParaRPr lang="en-US" altLang="zh-CN" sz="4400" b="0">
              <a:effectLst>
                <a:outerShdw blurRad="38100" dist="38100" dir="2700000">
                  <a:srgbClr val="FFFFFF"/>
                </a:outerShdw>
              </a:effectLst>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1331"/>
                                        </p:tgtEl>
                                        <p:attrNameLst>
                                          <p:attrName>style.visibility</p:attrName>
                                        </p:attrNameLst>
                                      </p:cBhvr>
                                      <p:to>
                                        <p:strVal val="visible"/>
                                      </p:to>
                                    </p:set>
                                    <p:animEffect transition="in" filter="wipe(left)">
                                      <p:cBhvr>
                                        <p:cTn id="7" dur="500"/>
                                        <p:tgtEl>
                                          <p:spTgt spid="611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4050" name="Rectangle 2"/>
          <p:cNvSpPr>
            <a:spLocks noGrp="1" noChangeArrowheads="1"/>
          </p:cNvSpPr>
          <p:nvPr>
            <p:ph type="title"/>
          </p:nvPr>
        </p:nvSpPr>
        <p:spPr/>
        <p:txBody>
          <a:bodyPr vert="horz" wrap="square" lIns="91440" tIns="45720" rIns="91440" bIns="45720" numCol="1" anchor="ctr" anchorCtr="0" compatLnSpc="1"/>
          <a:p>
            <a:pPr>
              <a:buNone/>
            </a:pPr>
            <a:r>
              <a:rPr lang="en-US" altLang="zh-CN" sz="3200">
                <a:effectLst>
                  <a:outerShdw blurRad="38100" dist="38100" dir="2700000">
                    <a:srgbClr val="000000"/>
                  </a:outerShdw>
                </a:effectLst>
                <a:ea typeface="宋体" panose="02010600030101010101" pitchFamily="2" charset="-122"/>
              </a:rPr>
              <a:t>Apriori </a:t>
            </a:r>
            <a:r>
              <a:rPr lang="zh-CN" altLang="en-US" sz="3200">
                <a:effectLst>
                  <a:outerShdw blurRad="38100" dist="38100" dir="2700000">
                    <a:srgbClr val="000000"/>
                  </a:outerShdw>
                </a:effectLst>
                <a:ea typeface="宋体" panose="02010600030101010101" pitchFamily="2" charset="-122"/>
              </a:rPr>
              <a:t>算法步骤1：分层寻找频繁项目集</a:t>
            </a:r>
            <a:endParaRPr lang="zh-CN" altLang="en-US" sz="3200">
              <a:effectLst>
                <a:outerShdw blurRad="38100" dist="38100" dir="2700000">
                  <a:srgbClr val="000000"/>
                </a:outerShdw>
              </a:effectLst>
              <a:ea typeface="宋体" panose="02010600030101010101" pitchFamily="2" charset="-122"/>
            </a:endParaRPr>
          </a:p>
        </p:txBody>
      </p:sp>
      <p:sp>
        <p:nvSpPr>
          <p:cNvPr id="43010" name="Rectangle 3"/>
          <p:cNvSpPr>
            <a:spLocks noGrp="1"/>
          </p:cNvSpPr>
          <p:nvPr>
            <p:ph idx="1"/>
          </p:nvPr>
        </p:nvSpPr>
        <p:spPr>
          <a:xfrm>
            <a:off x="0" y="1628775"/>
            <a:ext cx="8763000" cy="4543425"/>
          </a:xfrm>
          <a:ln/>
        </p:spPr>
        <p:txBody>
          <a:bodyPr vert="horz" wrap="square" lIns="91440" tIns="45720" rIns="91440" bIns="45720" anchor="t" anchorCtr="0"/>
          <a:p>
            <a:pPr marL="914400" lvl="1" indent="-457200" algn="just">
              <a:buClr>
                <a:srgbClr val="170981"/>
              </a:buClr>
              <a:buFont typeface="Monotype Sorts" pitchFamily="2" charset="2"/>
              <a:buAutoNum type="arabicPeriod"/>
            </a:pPr>
            <a:r>
              <a:rPr lang="zh-CN" altLang="en-US" sz="2000">
                <a:ea typeface="宋体" panose="02010600030101010101" pitchFamily="2" charset="-122"/>
              </a:rPr>
              <a:t>给出</a:t>
            </a:r>
            <a:r>
              <a:rPr lang="en-US" altLang="zh-CN" sz="2000">
                <a:ea typeface="宋体" panose="02010600030101010101" pitchFamily="2" charset="-122"/>
              </a:rPr>
              <a:t>minisupp，</a:t>
            </a:r>
            <a:r>
              <a:rPr lang="zh-CN" altLang="en-US" sz="2000">
                <a:ea typeface="宋体" panose="02010600030101010101" pitchFamily="2" charset="-122"/>
              </a:rPr>
              <a:t>第一次扫描数据的时候，找出频度大于</a:t>
            </a:r>
            <a:r>
              <a:rPr lang="en-US" altLang="zh-CN" sz="2000">
                <a:ea typeface="宋体" panose="02010600030101010101" pitchFamily="2" charset="-122"/>
              </a:rPr>
              <a:t>minisupp</a:t>
            </a:r>
            <a:r>
              <a:rPr lang="zh-CN" altLang="en-US" sz="2000">
                <a:ea typeface="宋体" panose="02010600030101010101" pitchFamily="2" charset="-122"/>
              </a:rPr>
              <a:t>的项目，称这集合为</a:t>
            </a:r>
            <a:r>
              <a:rPr lang="en-US" altLang="zh-CN" sz="2000">
                <a:ea typeface="宋体" panose="02010600030101010101" pitchFamily="2" charset="-122"/>
              </a:rPr>
              <a:t>L1。</a:t>
            </a:r>
            <a:r>
              <a:rPr lang="zh-CN" altLang="en-US" sz="2000">
                <a:ea typeface="宋体" panose="02010600030101010101" pitchFamily="2" charset="-122"/>
              </a:rPr>
              <a:t>一般来说，一个商店卖的商品品种不会超过10万个，所以我们假定有足够的内存来计算每个项目的出现频度</a:t>
            </a:r>
            <a:endParaRPr lang="zh-CN" altLang="en-US" sz="2000">
              <a:ea typeface="宋体" panose="02010600030101010101" pitchFamily="2" charset="-122"/>
            </a:endParaRPr>
          </a:p>
          <a:p>
            <a:pPr marL="914400" lvl="1" indent="-457200" algn="just">
              <a:buClr>
                <a:srgbClr val="170981"/>
              </a:buClr>
              <a:buFont typeface="Monotype Sorts" pitchFamily="2" charset="2"/>
              <a:buAutoNum type="arabicPeriod"/>
            </a:pPr>
            <a:r>
              <a:rPr lang="zh-CN" altLang="en-US" sz="2000">
                <a:ea typeface="宋体" panose="02010600030101010101" pitchFamily="2" charset="-122"/>
              </a:rPr>
              <a:t>第二次扫描数据时，</a:t>
            </a:r>
            <a:r>
              <a:rPr lang="en-US" altLang="zh-CN" sz="2000">
                <a:ea typeface="宋体" panose="02010600030101010101" pitchFamily="2" charset="-122"/>
              </a:rPr>
              <a:t>L1</a:t>
            </a:r>
            <a:r>
              <a:rPr lang="zh-CN" altLang="en-US" sz="2000">
                <a:ea typeface="宋体" panose="02010600030101010101" pitchFamily="2" charset="-122"/>
              </a:rPr>
              <a:t>中的项目对成为大小为2的候选项目集</a:t>
            </a:r>
            <a:r>
              <a:rPr lang="en-US" altLang="zh-CN" sz="2000">
                <a:ea typeface="宋体" panose="02010600030101010101" pitchFamily="2" charset="-122"/>
              </a:rPr>
              <a:t>C2，</a:t>
            </a:r>
            <a:r>
              <a:rPr lang="zh-CN" altLang="en-US" sz="2000">
                <a:ea typeface="宋体" panose="02010600030101010101" pitchFamily="2" charset="-122"/>
              </a:rPr>
              <a:t>我们希望</a:t>
            </a:r>
            <a:r>
              <a:rPr lang="en-US" altLang="zh-CN" sz="2000">
                <a:ea typeface="宋体" panose="02010600030101010101" pitchFamily="2" charset="-122"/>
              </a:rPr>
              <a:t>C2</a:t>
            </a:r>
            <a:r>
              <a:rPr lang="zh-CN" altLang="en-US" sz="2000">
                <a:ea typeface="宋体" panose="02010600030101010101" pitchFamily="2" charset="-122"/>
              </a:rPr>
              <a:t>不要太大，这样的话就可以有足够的空间为每个候选对分配一个计数器来计算它的出现频度，计数值大于</a:t>
            </a:r>
            <a:r>
              <a:rPr lang="en-US" altLang="zh-CN" sz="2000">
                <a:ea typeface="宋体" panose="02010600030101010101" pitchFamily="2" charset="-122"/>
              </a:rPr>
              <a:t>minisupp</a:t>
            </a:r>
            <a:r>
              <a:rPr lang="zh-CN" altLang="en-US" sz="2000">
                <a:ea typeface="宋体" panose="02010600030101010101" pitchFamily="2" charset="-122"/>
              </a:rPr>
              <a:t>的候选对构成大小为2的频繁项目集</a:t>
            </a:r>
            <a:r>
              <a:rPr lang="en-US" altLang="zh-CN" sz="2000">
                <a:ea typeface="宋体" panose="02010600030101010101" pitchFamily="2" charset="-122"/>
              </a:rPr>
              <a:t>L2</a:t>
            </a:r>
            <a:endParaRPr lang="en-US" altLang="zh-CN" sz="2000">
              <a:ea typeface="宋体" panose="02010600030101010101" pitchFamily="2" charset="-122"/>
            </a:endParaRPr>
          </a:p>
          <a:p>
            <a:pPr marL="914400" lvl="1" indent="-457200" algn="just">
              <a:buClr>
                <a:srgbClr val="170981"/>
              </a:buClr>
              <a:buFont typeface="Monotype Sorts" pitchFamily="2" charset="2"/>
              <a:buAutoNum type="arabicPeriod"/>
            </a:pPr>
            <a:r>
              <a:rPr lang="zh-CN" altLang="en-US" sz="2000">
                <a:ea typeface="宋体" panose="02010600030101010101" pitchFamily="2" charset="-122"/>
              </a:rPr>
              <a:t>第三次扫描数据时，由</a:t>
            </a:r>
            <a:r>
              <a:rPr lang="en-US" altLang="zh-CN" sz="2000">
                <a:ea typeface="宋体" panose="02010600030101010101" pitchFamily="2" charset="-122"/>
              </a:rPr>
              <a:t>L2</a:t>
            </a:r>
            <a:r>
              <a:rPr lang="zh-CN" altLang="en-US" sz="2000">
                <a:ea typeface="宋体" panose="02010600030101010101" pitchFamily="2" charset="-122"/>
              </a:rPr>
              <a:t>生成大小为3的候选项目集</a:t>
            </a:r>
            <a:r>
              <a:rPr lang="en-US" altLang="zh-CN" sz="2000">
                <a:ea typeface="宋体" panose="02010600030101010101" pitchFamily="2" charset="-122"/>
              </a:rPr>
              <a:t>C3，C3</a:t>
            </a:r>
            <a:r>
              <a:rPr lang="zh-CN" altLang="en-US" sz="2000">
                <a:ea typeface="宋体" panose="02010600030101010101" pitchFamily="2" charset="-122"/>
              </a:rPr>
              <a:t>是这样的集合{</a:t>
            </a:r>
            <a:r>
              <a:rPr lang="en-US" altLang="zh-CN" sz="2000">
                <a:ea typeface="宋体" panose="02010600030101010101" pitchFamily="2" charset="-122"/>
              </a:rPr>
              <a:t>A，B，C}，</a:t>
            </a:r>
            <a:r>
              <a:rPr lang="zh-CN" altLang="en-US" sz="2000">
                <a:ea typeface="宋体" panose="02010600030101010101" pitchFamily="2" charset="-122"/>
              </a:rPr>
              <a:t>并且{</a:t>
            </a:r>
            <a:r>
              <a:rPr lang="en-US" altLang="zh-CN" sz="2000">
                <a:ea typeface="宋体" panose="02010600030101010101" pitchFamily="2" charset="-122"/>
              </a:rPr>
              <a:t>A，B}，{B，C}，{A，C}</a:t>
            </a:r>
            <a:r>
              <a:rPr lang="zh-CN" altLang="en-US" sz="2000">
                <a:ea typeface="宋体" panose="02010600030101010101" pitchFamily="2" charset="-122"/>
              </a:rPr>
              <a:t>都在</a:t>
            </a:r>
            <a:r>
              <a:rPr lang="en-US" altLang="zh-CN" sz="2000">
                <a:ea typeface="宋体" panose="02010600030101010101" pitchFamily="2" charset="-122"/>
              </a:rPr>
              <a:t>L2</a:t>
            </a:r>
            <a:r>
              <a:rPr lang="zh-CN" altLang="en-US" sz="2000">
                <a:ea typeface="宋体" panose="02010600030101010101" pitchFamily="2" charset="-122"/>
              </a:rPr>
              <a:t>中。计算</a:t>
            </a:r>
            <a:r>
              <a:rPr lang="en-US" altLang="zh-CN" sz="2000">
                <a:ea typeface="宋体" panose="02010600030101010101" pitchFamily="2" charset="-122"/>
              </a:rPr>
              <a:t>C3</a:t>
            </a:r>
            <a:r>
              <a:rPr lang="zh-CN" altLang="en-US" sz="2000">
                <a:ea typeface="宋体" panose="02010600030101010101" pitchFamily="2" charset="-122"/>
              </a:rPr>
              <a:t>中每个三元组的出现频度，大于</a:t>
            </a:r>
            <a:r>
              <a:rPr lang="en-US" altLang="zh-CN" sz="2000">
                <a:ea typeface="宋体" panose="02010600030101010101" pitchFamily="2" charset="-122"/>
              </a:rPr>
              <a:t>minisupp</a:t>
            </a:r>
            <a:r>
              <a:rPr lang="zh-CN" altLang="en-US" sz="2000">
                <a:ea typeface="宋体" panose="02010600030101010101" pitchFamily="2" charset="-122"/>
              </a:rPr>
              <a:t>构成</a:t>
            </a:r>
            <a:r>
              <a:rPr lang="en-US" altLang="zh-CN" sz="2000">
                <a:ea typeface="宋体" panose="02010600030101010101" pitchFamily="2" charset="-122"/>
              </a:rPr>
              <a:t>L3 </a:t>
            </a:r>
            <a:endParaRPr lang="en-US" altLang="zh-CN" sz="2000">
              <a:ea typeface="宋体" panose="02010600030101010101" pitchFamily="2" charset="-122"/>
            </a:endParaRPr>
          </a:p>
          <a:p>
            <a:pPr marL="914400" lvl="1" indent="-457200" algn="just">
              <a:buClr>
                <a:srgbClr val="170981"/>
              </a:buClr>
              <a:buFont typeface="Monotype Sorts" pitchFamily="2" charset="2"/>
              <a:buAutoNum type="arabicPeriod"/>
            </a:pPr>
            <a:r>
              <a:rPr lang="zh-CN" altLang="en-US" sz="2000">
                <a:ea typeface="宋体" panose="02010600030101010101" pitchFamily="2" charset="-122"/>
              </a:rPr>
              <a:t>一直进行到集合为空时为止。</a:t>
            </a:r>
            <a:r>
              <a:rPr lang="en-US" altLang="zh-CN" sz="2000">
                <a:ea typeface="宋体" panose="02010600030101010101" pitchFamily="2" charset="-122"/>
              </a:rPr>
              <a:t>Li</a:t>
            </a:r>
            <a:r>
              <a:rPr lang="zh-CN" altLang="en-US" sz="2000">
                <a:ea typeface="宋体" panose="02010600030101010101" pitchFamily="2" charset="-122"/>
              </a:rPr>
              <a:t>是大小为</a:t>
            </a:r>
            <a:r>
              <a:rPr lang="en-US" altLang="zh-CN" sz="2000">
                <a:ea typeface="宋体" panose="02010600030101010101" pitchFamily="2" charset="-122"/>
              </a:rPr>
              <a:t>i</a:t>
            </a:r>
            <a:r>
              <a:rPr lang="zh-CN" altLang="en-US" sz="2000">
                <a:ea typeface="宋体" panose="02010600030101010101" pitchFamily="2" charset="-122"/>
              </a:rPr>
              <a:t>的频繁项目集，</a:t>
            </a:r>
            <a:r>
              <a:rPr lang="en-US" altLang="zh-CN" sz="2000">
                <a:ea typeface="宋体" panose="02010600030101010101" pitchFamily="2" charset="-122"/>
              </a:rPr>
              <a:t>Ci+1</a:t>
            </a:r>
            <a:r>
              <a:rPr lang="zh-CN" altLang="en-US" sz="2000">
                <a:ea typeface="宋体" panose="02010600030101010101" pitchFamily="2" charset="-122"/>
              </a:rPr>
              <a:t>是大小为</a:t>
            </a:r>
            <a:r>
              <a:rPr lang="en-US" altLang="zh-CN" sz="2000">
                <a:ea typeface="宋体" panose="02010600030101010101" pitchFamily="2" charset="-122"/>
              </a:rPr>
              <a:t>i+1</a:t>
            </a:r>
            <a:r>
              <a:rPr lang="zh-CN" altLang="en-US" sz="2000">
                <a:ea typeface="宋体" panose="02010600030101010101" pitchFamily="2" charset="-122"/>
              </a:rPr>
              <a:t>的集合，这些集合的每个大小为</a:t>
            </a:r>
            <a:r>
              <a:rPr lang="en-US" altLang="zh-CN" sz="2000">
                <a:ea typeface="宋体" panose="02010600030101010101" pitchFamily="2" charset="-122"/>
              </a:rPr>
              <a:t>i </a:t>
            </a:r>
            <a:r>
              <a:rPr lang="zh-CN" altLang="en-US" sz="2000">
                <a:ea typeface="宋体" panose="02010600030101010101" pitchFamily="2" charset="-122"/>
              </a:rPr>
              <a:t>的子集都在</a:t>
            </a:r>
            <a:r>
              <a:rPr lang="en-US" altLang="zh-CN" sz="2000">
                <a:ea typeface="宋体" panose="02010600030101010101" pitchFamily="2" charset="-122"/>
              </a:rPr>
              <a:t>Li</a:t>
            </a:r>
            <a:r>
              <a:rPr lang="zh-CN" altLang="en-US" sz="2000">
                <a:ea typeface="宋体" panose="02010600030101010101" pitchFamily="2" charset="-122"/>
              </a:rPr>
              <a:t>中  </a:t>
            </a:r>
            <a:endParaRPr lang="en-US" altLang="zh-CN" sz="200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6098" name="Rectangle 1026"/>
          <p:cNvSpPr>
            <a:spLocks noGrp="1" noChangeArrowheads="1"/>
          </p:cNvSpPr>
          <p:nvPr>
            <p:ph type="title"/>
          </p:nvPr>
        </p:nvSpPr>
        <p:spPr/>
        <p:txBody>
          <a:bodyPr vert="horz" wrap="square" lIns="91440" tIns="45720" rIns="91440" bIns="45720" numCol="1" anchor="ctr" anchorCtr="0" compatLnSpc="1"/>
          <a:p>
            <a:pPr>
              <a:buNone/>
            </a:pPr>
            <a:r>
              <a:rPr lang="en-US" altLang="zh-CN">
                <a:effectLst>
                  <a:outerShdw blurRad="38100" dist="38100" dir="2700000">
                    <a:srgbClr val="000000"/>
                  </a:outerShdw>
                </a:effectLst>
                <a:ea typeface="宋体" panose="02010600030101010101" pitchFamily="2" charset="-122"/>
              </a:rPr>
              <a:t>Apriori </a:t>
            </a:r>
            <a:r>
              <a:rPr lang="zh-CN" altLang="en-US">
                <a:effectLst>
                  <a:outerShdw blurRad="38100" dist="38100" dir="2700000">
                    <a:srgbClr val="000000"/>
                  </a:outerShdw>
                </a:effectLst>
                <a:ea typeface="宋体" panose="02010600030101010101" pitchFamily="2" charset="-122"/>
              </a:rPr>
              <a:t>算法步骤2: 产生关联规则</a:t>
            </a:r>
            <a:endParaRPr lang="zh-CN" altLang="en-US">
              <a:effectLst>
                <a:outerShdw blurRad="38100" dist="38100" dir="2700000">
                  <a:srgbClr val="000000"/>
                </a:outerShdw>
              </a:effectLst>
              <a:ea typeface="宋体" panose="02010600030101010101" pitchFamily="2" charset="-122"/>
            </a:endParaRPr>
          </a:p>
        </p:txBody>
      </p:sp>
      <p:sp>
        <p:nvSpPr>
          <p:cNvPr id="44034" name="Rectangle 1027"/>
          <p:cNvSpPr>
            <a:spLocks noGrp="1"/>
          </p:cNvSpPr>
          <p:nvPr>
            <p:ph idx="1"/>
          </p:nvPr>
        </p:nvSpPr>
        <p:spPr>
          <a:ln/>
        </p:spPr>
        <p:txBody>
          <a:bodyPr vert="horz" wrap="square" lIns="91440" tIns="45720" rIns="91440" bIns="45720" anchor="t" anchorCtr="0"/>
          <a:p>
            <a:r>
              <a:rPr lang="zh-CN" altLang="en-US">
                <a:ea typeface="宋体" panose="02010600030101010101" pitchFamily="2" charset="-122"/>
              </a:rPr>
              <a:t>对于每个频繁项目集</a:t>
            </a:r>
            <a:r>
              <a:rPr lang="en-US" altLang="zh-CN">
                <a:ea typeface="宋体" panose="02010600030101010101" pitchFamily="2" charset="-122"/>
              </a:rPr>
              <a:t>L，</a:t>
            </a:r>
            <a:r>
              <a:rPr lang="zh-CN" altLang="en-US">
                <a:ea typeface="宋体" panose="02010600030101010101" pitchFamily="2" charset="-122"/>
              </a:rPr>
              <a:t>产生它的所有非空子集</a:t>
            </a:r>
            <a:r>
              <a:rPr lang="en-US" altLang="zh-CN">
                <a:ea typeface="宋体" panose="02010600030101010101" pitchFamily="2" charset="-122"/>
              </a:rPr>
              <a:t>S</a:t>
            </a:r>
            <a:endParaRPr lang="en-US" altLang="zh-CN">
              <a:ea typeface="宋体" panose="02010600030101010101" pitchFamily="2" charset="-122"/>
            </a:endParaRPr>
          </a:p>
          <a:p>
            <a:r>
              <a:rPr lang="zh-CN" altLang="en-US">
                <a:ea typeface="宋体" panose="02010600030101010101" pitchFamily="2" charset="-122"/>
              </a:rPr>
              <a:t>对</a:t>
            </a:r>
            <a:r>
              <a:rPr lang="en-US" altLang="zh-CN">
                <a:ea typeface="宋体" panose="02010600030101010101" pitchFamily="2" charset="-122"/>
              </a:rPr>
              <a:t>L</a:t>
            </a:r>
            <a:r>
              <a:rPr lang="zh-CN" altLang="en-US">
                <a:ea typeface="宋体" panose="02010600030101010101" pitchFamily="2" charset="-122"/>
              </a:rPr>
              <a:t>的每个非空子集</a:t>
            </a:r>
            <a:r>
              <a:rPr lang="en-US" altLang="zh-CN">
                <a:ea typeface="宋体" panose="02010600030101010101" pitchFamily="2" charset="-122"/>
              </a:rPr>
              <a:t>S，</a:t>
            </a:r>
            <a:r>
              <a:rPr lang="zh-CN" altLang="en-US">
                <a:ea typeface="宋体" panose="02010600030101010101" pitchFamily="2" charset="-122"/>
              </a:rPr>
              <a:t>如果满足如下条件：</a:t>
            </a:r>
            <a:endParaRPr lang="zh-CN" altLang="en-US">
              <a:ea typeface="宋体" panose="02010600030101010101" pitchFamily="2" charset="-122"/>
            </a:endParaRPr>
          </a:p>
          <a:p>
            <a:endParaRPr lang="zh-CN" altLang="en-US">
              <a:ea typeface="宋体" panose="02010600030101010101" pitchFamily="2" charset="-122"/>
            </a:endParaRPr>
          </a:p>
          <a:p>
            <a:endParaRPr lang="zh-CN" altLang="en-US">
              <a:ea typeface="宋体" panose="02010600030101010101" pitchFamily="2" charset="-122"/>
            </a:endParaRPr>
          </a:p>
          <a:p>
            <a:endParaRPr lang="zh-CN" altLang="en-US">
              <a:ea typeface="宋体" panose="02010600030101010101" pitchFamily="2" charset="-122"/>
            </a:endParaRPr>
          </a:p>
          <a:p>
            <a:endParaRPr lang="zh-CN" altLang="en-US">
              <a:ea typeface="宋体" panose="02010600030101010101" pitchFamily="2" charset="-122"/>
            </a:endParaRPr>
          </a:p>
          <a:p>
            <a:pPr>
              <a:buNone/>
            </a:pPr>
            <a:r>
              <a:rPr lang="zh-CN" altLang="en-US">
                <a:ea typeface="宋体" panose="02010600030101010101" pitchFamily="2" charset="-122"/>
              </a:rPr>
              <a:t>	则输出关联规则 </a:t>
            </a:r>
            <a:r>
              <a:rPr lang="en-US" altLang="zh-CN">
                <a:ea typeface="宋体" panose="02010600030101010101" pitchFamily="2" charset="-122"/>
              </a:rPr>
              <a:t>S→(L – S)</a:t>
            </a:r>
            <a:endParaRPr lang="en-US" altLang="zh-CN">
              <a:ea typeface="宋体" panose="02010600030101010101" pitchFamily="2" charset="-122"/>
            </a:endParaRPr>
          </a:p>
          <a:p>
            <a:endParaRPr lang="en-US" altLang="zh-CN">
              <a:ea typeface="宋体" panose="02010600030101010101" pitchFamily="2" charset="-122"/>
            </a:endParaRPr>
          </a:p>
          <a:p>
            <a:endParaRPr lang="en-US" altLang="zh-CN">
              <a:ea typeface="宋体" panose="02010600030101010101" pitchFamily="2" charset="-122"/>
            </a:endParaRPr>
          </a:p>
          <a:p>
            <a:endParaRPr lang="en-US" altLang="zh-CN">
              <a:ea typeface="宋体" panose="02010600030101010101" pitchFamily="2" charset="-122"/>
            </a:endParaRPr>
          </a:p>
          <a:p>
            <a:endParaRPr lang="en-US" altLang="zh-CN">
              <a:ea typeface="宋体" panose="02010600030101010101" pitchFamily="2" charset="-122"/>
            </a:endParaRPr>
          </a:p>
        </p:txBody>
      </p:sp>
      <p:graphicFrame>
        <p:nvGraphicFramePr>
          <p:cNvPr id="44035" name="Object 1029"/>
          <p:cNvGraphicFramePr>
            <a:graphicFrameLocks noChangeAspect="1"/>
          </p:cNvGraphicFramePr>
          <p:nvPr/>
        </p:nvGraphicFramePr>
        <p:xfrm>
          <a:off x="1066800" y="2743200"/>
          <a:ext cx="7094538" cy="1352550"/>
        </p:xfrm>
        <a:graphic>
          <a:graphicData uri="http://schemas.openxmlformats.org/presentationml/2006/ole">
            <mc:AlternateContent xmlns:mc="http://schemas.openxmlformats.org/markup-compatibility/2006">
              <mc:Choice xmlns:v="urn:schemas-microsoft-com:vml" Requires="v">
                <p:oleObj spid="_x0000_s3077" name="" r:id="rId1" imgW="35328225" imgH="7239000" progId="Equation.3">
                  <p:embed/>
                </p:oleObj>
              </mc:Choice>
              <mc:Fallback>
                <p:oleObj name="" r:id="rId1" imgW="35328225" imgH="7239000" progId="Equation.3">
                  <p:embed/>
                  <p:pic>
                    <p:nvPicPr>
                      <p:cNvPr id="0" name="图片 3076"/>
                      <p:cNvPicPr/>
                      <p:nvPr/>
                    </p:nvPicPr>
                    <p:blipFill>
                      <a:blip r:embed="rId2"/>
                      <a:stretch>
                        <a:fillRect/>
                      </a:stretch>
                    </p:blipFill>
                    <p:spPr>
                      <a:xfrm>
                        <a:off x="1066800" y="2743200"/>
                        <a:ext cx="7094538" cy="135255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0130" name="Rectangle 2"/>
          <p:cNvSpPr>
            <a:spLocks noGrp="1" noChangeArrowheads="1"/>
          </p:cNvSpPr>
          <p:nvPr>
            <p:ph type="title"/>
          </p:nvPr>
        </p:nvSpPr>
        <p:spPr>
          <a:xfrm>
            <a:off x="1055688" y="217488"/>
            <a:ext cx="7793038" cy="7493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The Apriori Algorithm</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45058" name="Oval 3"/>
          <p:cNvSpPr/>
          <p:nvPr/>
        </p:nvSpPr>
        <p:spPr>
          <a:xfrm>
            <a:off x="4894263" y="3854450"/>
            <a:ext cx="782637"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a:t>
            </a:r>
            <a:endParaRPr lang="en-US" altLang="zh-CN" sz="2400" b="0">
              <a:solidFill>
                <a:schemeClr val="tx1"/>
              </a:solidFill>
              <a:ea typeface="宋体" panose="02010600030101010101" pitchFamily="2" charset="-122"/>
            </a:endParaRPr>
          </a:p>
        </p:txBody>
      </p:sp>
      <p:sp>
        <p:nvSpPr>
          <p:cNvPr id="45059" name="Oval 4"/>
          <p:cNvSpPr/>
          <p:nvPr/>
        </p:nvSpPr>
        <p:spPr>
          <a:xfrm>
            <a:off x="5732463"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a,e</a:t>
            </a:r>
            <a:endParaRPr lang="en-US" altLang="zh-CN" sz="2400" b="0">
              <a:solidFill>
                <a:schemeClr val="tx1"/>
              </a:solidFill>
              <a:ea typeface="宋体" panose="02010600030101010101" pitchFamily="2" charset="-122"/>
            </a:endParaRPr>
          </a:p>
        </p:txBody>
      </p:sp>
      <p:sp>
        <p:nvSpPr>
          <p:cNvPr id="45060" name="Oval 5"/>
          <p:cNvSpPr/>
          <p:nvPr/>
        </p:nvSpPr>
        <p:spPr>
          <a:xfrm>
            <a:off x="7448550"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b,e</a:t>
            </a:r>
            <a:endParaRPr lang="en-US" altLang="zh-CN" sz="2400" b="0">
              <a:solidFill>
                <a:schemeClr val="tx1"/>
              </a:solidFill>
              <a:ea typeface="宋体" panose="02010600030101010101" pitchFamily="2" charset="-122"/>
            </a:endParaRPr>
          </a:p>
        </p:txBody>
      </p:sp>
      <p:sp>
        <p:nvSpPr>
          <p:cNvPr id="45061" name="Oval 6"/>
          <p:cNvSpPr/>
          <p:nvPr/>
        </p:nvSpPr>
        <p:spPr>
          <a:xfrm>
            <a:off x="6600825" y="3854450"/>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a:t>
            </a:r>
            <a:endParaRPr lang="en-US" altLang="zh-CN" sz="2400" b="0">
              <a:solidFill>
                <a:schemeClr val="tx1"/>
              </a:solidFill>
              <a:ea typeface="宋体" panose="02010600030101010101" pitchFamily="2" charset="-122"/>
            </a:endParaRPr>
          </a:p>
        </p:txBody>
      </p:sp>
      <p:sp>
        <p:nvSpPr>
          <p:cNvPr id="45062" name="Oval 7"/>
          <p:cNvSpPr/>
          <p:nvPr/>
        </p:nvSpPr>
        <p:spPr>
          <a:xfrm>
            <a:off x="4076700" y="3854450"/>
            <a:ext cx="760413"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a:t>
            </a:r>
            <a:endParaRPr lang="en-US" altLang="zh-CN" sz="2400" b="0">
              <a:solidFill>
                <a:schemeClr val="tx1"/>
              </a:solidFill>
              <a:ea typeface="宋体" panose="02010600030101010101" pitchFamily="2" charset="-122"/>
            </a:endParaRPr>
          </a:p>
        </p:txBody>
      </p:sp>
      <p:sp>
        <p:nvSpPr>
          <p:cNvPr id="45063" name="Oval 8"/>
          <p:cNvSpPr/>
          <p:nvPr/>
        </p:nvSpPr>
        <p:spPr>
          <a:xfrm>
            <a:off x="8321675" y="3317875"/>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c,e</a:t>
            </a:r>
            <a:endParaRPr lang="en-US" altLang="zh-CN" sz="2400" b="0">
              <a:solidFill>
                <a:schemeClr val="tx1"/>
              </a:solidFill>
              <a:ea typeface="宋体" panose="02010600030101010101" pitchFamily="2" charset="-122"/>
            </a:endParaRPr>
          </a:p>
        </p:txBody>
      </p:sp>
      <p:sp>
        <p:nvSpPr>
          <p:cNvPr id="45064" name="Oval 9"/>
          <p:cNvSpPr/>
          <p:nvPr/>
        </p:nvSpPr>
        <p:spPr>
          <a:xfrm>
            <a:off x="7312025" y="2706688"/>
            <a:ext cx="727075" cy="72231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b,c,e</a:t>
            </a:r>
            <a:endParaRPr lang="en-US" altLang="zh-CN" sz="2400" b="0">
              <a:solidFill>
                <a:schemeClr val="tx1"/>
              </a:solidFill>
              <a:ea typeface="宋体" panose="02010600030101010101" pitchFamily="2" charset="-122"/>
            </a:endParaRPr>
          </a:p>
        </p:txBody>
      </p:sp>
      <p:sp>
        <p:nvSpPr>
          <p:cNvPr id="45065" name="Oval 10"/>
          <p:cNvSpPr/>
          <p:nvPr/>
        </p:nvSpPr>
        <p:spPr>
          <a:xfrm>
            <a:off x="5695950" y="2746375"/>
            <a:ext cx="747713"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a,b,e</a:t>
            </a:r>
            <a:endParaRPr lang="en-US" altLang="zh-CN" sz="2400" b="0">
              <a:solidFill>
                <a:schemeClr val="tx1"/>
              </a:solidFill>
              <a:ea typeface="宋体" panose="02010600030101010101" pitchFamily="2" charset="-122"/>
            </a:endParaRPr>
          </a:p>
        </p:txBody>
      </p:sp>
      <p:sp>
        <p:nvSpPr>
          <p:cNvPr id="45066" name="Oval 11"/>
          <p:cNvSpPr/>
          <p:nvPr/>
        </p:nvSpPr>
        <p:spPr>
          <a:xfrm>
            <a:off x="6510338" y="2746375"/>
            <a:ext cx="749300"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a,c,e</a:t>
            </a:r>
            <a:endParaRPr lang="en-US" altLang="zh-CN" sz="2400" b="0">
              <a:solidFill>
                <a:schemeClr val="tx1"/>
              </a:solidFill>
              <a:ea typeface="宋体" panose="02010600030101010101" pitchFamily="2" charset="-122"/>
            </a:endParaRPr>
          </a:p>
        </p:txBody>
      </p:sp>
      <p:sp>
        <p:nvSpPr>
          <p:cNvPr id="45067" name="Oval 12"/>
          <p:cNvSpPr/>
          <p:nvPr/>
        </p:nvSpPr>
        <p:spPr>
          <a:xfrm>
            <a:off x="4914900" y="2746375"/>
            <a:ext cx="727075"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a,b,c</a:t>
            </a:r>
            <a:endParaRPr lang="en-US" altLang="zh-CN" sz="2400" b="0">
              <a:solidFill>
                <a:schemeClr val="tx1"/>
              </a:solidFill>
              <a:ea typeface="宋体" panose="02010600030101010101" pitchFamily="2" charset="-122"/>
            </a:endParaRPr>
          </a:p>
        </p:txBody>
      </p:sp>
      <p:sp>
        <p:nvSpPr>
          <p:cNvPr id="45068" name="Oval 13"/>
          <p:cNvSpPr/>
          <p:nvPr/>
        </p:nvSpPr>
        <p:spPr>
          <a:xfrm>
            <a:off x="5219700" y="4916488"/>
            <a:ext cx="685800"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a:t>
            </a:r>
            <a:endParaRPr lang="en-US" altLang="zh-CN" sz="2400" b="0">
              <a:solidFill>
                <a:schemeClr val="tx1"/>
              </a:solidFill>
              <a:ea typeface="宋体" panose="02010600030101010101" pitchFamily="2" charset="-122"/>
            </a:endParaRPr>
          </a:p>
        </p:txBody>
      </p:sp>
      <p:sp>
        <p:nvSpPr>
          <p:cNvPr id="45069" name="Oval 14"/>
          <p:cNvSpPr/>
          <p:nvPr/>
        </p:nvSpPr>
        <p:spPr>
          <a:xfrm>
            <a:off x="5961063" y="4916488"/>
            <a:ext cx="684212"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a:t>
            </a:r>
            <a:endParaRPr lang="en-US" altLang="zh-CN" sz="2400" b="0">
              <a:solidFill>
                <a:schemeClr val="tx1"/>
              </a:solidFill>
              <a:ea typeface="宋体" panose="02010600030101010101" pitchFamily="2" charset="-122"/>
            </a:endParaRPr>
          </a:p>
        </p:txBody>
      </p:sp>
      <p:sp>
        <p:nvSpPr>
          <p:cNvPr id="45070" name="Oval 15"/>
          <p:cNvSpPr/>
          <p:nvPr/>
        </p:nvSpPr>
        <p:spPr>
          <a:xfrm>
            <a:off x="6702425" y="4916488"/>
            <a:ext cx="684213"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a:t>
            </a:r>
            <a:endParaRPr lang="en-US" altLang="zh-CN" sz="2400" b="0">
              <a:solidFill>
                <a:schemeClr val="tx1"/>
              </a:solidFill>
              <a:ea typeface="宋体" panose="02010600030101010101" pitchFamily="2" charset="-122"/>
            </a:endParaRPr>
          </a:p>
        </p:txBody>
      </p:sp>
      <p:sp>
        <p:nvSpPr>
          <p:cNvPr id="45071" name="Oval 16"/>
          <p:cNvSpPr/>
          <p:nvPr/>
        </p:nvSpPr>
        <p:spPr>
          <a:xfrm>
            <a:off x="7445375" y="4916488"/>
            <a:ext cx="682625" cy="61118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e</a:t>
            </a:r>
            <a:endParaRPr lang="en-US" altLang="zh-CN" sz="2400" b="0">
              <a:solidFill>
                <a:schemeClr val="tx1"/>
              </a:solidFill>
              <a:ea typeface="宋体" panose="02010600030101010101" pitchFamily="2" charset="-122"/>
            </a:endParaRPr>
          </a:p>
        </p:txBody>
      </p:sp>
      <p:sp>
        <p:nvSpPr>
          <p:cNvPr id="45072" name="Oval 17"/>
          <p:cNvSpPr/>
          <p:nvPr/>
        </p:nvSpPr>
        <p:spPr>
          <a:xfrm>
            <a:off x="6057900" y="1639888"/>
            <a:ext cx="838200" cy="838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a,b,c,e</a:t>
            </a:r>
            <a:endParaRPr lang="en-US" altLang="zh-CN" sz="2400" b="0">
              <a:solidFill>
                <a:schemeClr val="tx1"/>
              </a:solidFill>
              <a:ea typeface="宋体" panose="02010600030101010101" pitchFamily="2" charset="-122"/>
            </a:endParaRPr>
          </a:p>
        </p:txBody>
      </p:sp>
      <p:sp>
        <p:nvSpPr>
          <p:cNvPr id="45073" name="Oval 18"/>
          <p:cNvSpPr/>
          <p:nvPr/>
        </p:nvSpPr>
        <p:spPr>
          <a:xfrm>
            <a:off x="6591300" y="6135688"/>
            <a:ext cx="598488" cy="5334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t>
            </a:r>
            <a:endParaRPr lang="en-US" altLang="zh-CN" sz="2400" b="0">
              <a:solidFill>
                <a:schemeClr val="tx1"/>
              </a:solidFill>
              <a:ea typeface="宋体" panose="02010600030101010101" pitchFamily="2" charset="-122"/>
            </a:endParaRPr>
          </a:p>
        </p:txBody>
      </p:sp>
      <p:sp>
        <p:nvSpPr>
          <p:cNvPr id="45074" name="Line 19"/>
          <p:cNvSpPr/>
          <p:nvPr/>
        </p:nvSpPr>
        <p:spPr>
          <a:xfrm flipV="1">
            <a:off x="7200900" y="5602288"/>
            <a:ext cx="609600" cy="609600"/>
          </a:xfrm>
          <a:prstGeom prst="line">
            <a:avLst/>
          </a:prstGeom>
          <a:ln w="19050" cap="flat" cmpd="sng">
            <a:solidFill>
              <a:schemeClr val="tx1"/>
            </a:solidFill>
            <a:prstDash val="solid"/>
            <a:headEnd type="none" w="sm" len="sm"/>
            <a:tailEnd type="triangle" w="med" len="med"/>
          </a:ln>
        </p:spPr>
      </p:sp>
      <p:sp>
        <p:nvSpPr>
          <p:cNvPr id="45075" name="Line 20"/>
          <p:cNvSpPr/>
          <p:nvPr/>
        </p:nvSpPr>
        <p:spPr>
          <a:xfrm flipV="1">
            <a:off x="6972300" y="5526088"/>
            <a:ext cx="76200" cy="609600"/>
          </a:xfrm>
          <a:prstGeom prst="line">
            <a:avLst/>
          </a:prstGeom>
          <a:ln w="19050" cap="flat" cmpd="sng">
            <a:solidFill>
              <a:schemeClr val="tx1"/>
            </a:solidFill>
            <a:prstDash val="solid"/>
            <a:headEnd type="none" w="sm" len="sm"/>
            <a:tailEnd type="triangle" w="med" len="med"/>
          </a:ln>
        </p:spPr>
      </p:sp>
      <p:sp>
        <p:nvSpPr>
          <p:cNvPr id="45076" name="Line 21"/>
          <p:cNvSpPr/>
          <p:nvPr/>
        </p:nvSpPr>
        <p:spPr>
          <a:xfrm flipH="1" flipV="1">
            <a:off x="6362700" y="5526088"/>
            <a:ext cx="304800" cy="685800"/>
          </a:xfrm>
          <a:prstGeom prst="line">
            <a:avLst/>
          </a:prstGeom>
          <a:ln w="19050" cap="flat" cmpd="sng">
            <a:solidFill>
              <a:schemeClr val="tx1"/>
            </a:solidFill>
            <a:prstDash val="solid"/>
            <a:headEnd type="none" w="sm" len="sm"/>
            <a:tailEnd type="triangle" w="med" len="med"/>
          </a:ln>
        </p:spPr>
      </p:sp>
      <p:sp>
        <p:nvSpPr>
          <p:cNvPr id="45077" name="Line 22"/>
          <p:cNvSpPr/>
          <p:nvPr/>
        </p:nvSpPr>
        <p:spPr>
          <a:xfrm flipH="1" flipV="1">
            <a:off x="5676900" y="5526088"/>
            <a:ext cx="914400" cy="838200"/>
          </a:xfrm>
          <a:prstGeom prst="line">
            <a:avLst/>
          </a:prstGeom>
          <a:ln w="19050" cap="flat" cmpd="sng">
            <a:solidFill>
              <a:schemeClr val="tx1"/>
            </a:solidFill>
            <a:prstDash val="solid"/>
            <a:headEnd type="none" w="sm" len="sm"/>
            <a:tailEnd type="triangle" w="med" len="med"/>
          </a:ln>
        </p:spPr>
      </p:sp>
      <p:sp>
        <p:nvSpPr>
          <p:cNvPr id="45078" name="Line 23"/>
          <p:cNvSpPr/>
          <p:nvPr/>
        </p:nvSpPr>
        <p:spPr>
          <a:xfrm flipH="1" flipV="1">
            <a:off x="4686300" y="4535488"/>
            <a:ext cx="533400" cy="533400"/>
          </a:xfrm>
          <a:prstGeom prst="line">
            <a:avLst/>
          </a:prstGeom>
          <a:ln w="19050" cap="flat" cmpd="sng">
            <a:solidFill>
              <a:schemeClr val="tx1"/>
            </a:solidFill>
            <a:prstDash val="solid"/>
            <a:headEnd type="none" w="sm" len="sm"/>
            <a:tailEnd type="triangle" w="med" len="med"/>
          </a:ln>
        </p:spPr>
      </p:sp>
      <p:sp>
        <p:nvSpPr>
          <p:cNvPr id="45079" name="Line 24"/>
          <p:cNvSpPr/>
          <p:nvPr/>
        </p:nvSpPr>
        <p:spPr>
          <a:xfrm flipH="1" flipV="1">
            <a:off x="5372100" y="4535488"/>
            <a:ext cx="76200" cy="381000"/>
          </a:xfrm>
          <a:prstGeom prst="line">
            <a:avLst/>
          </a:prstGeom>
          <a:ln w="19050" cap="flat" cmpd="sng">
            <a:solidFill>
              <a:schemeClr val="tx1"/>
            </a:solidFill>
            <a:prstDash val="solid"/>
            <a:headEnd type="none" w="sm" len="sm"/>
            <a:tailEnd type="triangle" w="med" len="med"/>
          </a:ln>
        </p:spPr>
      </p:sp>
      <p:sp>
        <p:nvSpPr>
          <p:cNvPr id="45080" name="Line 25"/>
          <p:cNvSpPr/>
          <p:nvPr/>
        </p:nvSpPr>
        <p:spPr>
          <a:xfrm flipV="1">
            <a:off x="5753100" y="4535488"/>
            <a:ext cx="381000" cy="381000"/>
          </a:xfrm>
          <a:prstGeom prst="line">
            <a:avLst/>
          </a:prstGeom>
          <a:ln w="19050" cap="flat" cmpd="sng">
            <a:solidFill>
              <a:schemeClr val="tx1"/>
            </a:solidFill>
            <a:prstDash val="solid"/>
            <a:headEnd type="none" w="sm" len="sm"/>
            <a:tailEnd type="triangle" w="med" len="med"/>
          </a:ln>
        </p:spPr>
      </p:sp>
      <p:sp>
        <p:nvSpPr>
          <p:cNvPr id="45081" name="Line 26"/>
          <p:cNvSpPr/>
          <p:nvPr/>
        </p:nvSpPr>
        <p:spPr>
          <a:xfrm flipV="1">
            <a:off x="6362700" y="4535488"/>
            <a:ext cx="609600" cy="381000"/>
          </a:xfrm>
          <a:prstGeom prst="line">
            <a:avLst/>
          </a:prstGeom>
          <a:ln w="19050" cap="flat" cmpd="sng">
            <a:solidFill>
              <a:schemeClr val="tx1"/>
            </a:solidFill>
            <a:prstDash val="solid"/>
            <a:headEnd type="none" w="sm" len="sm"/>
            <a:tailEnd type="triangle" w="med" len="med"/>
          </a:ln>
        </p:spPr>
      </p:sp>
      <p:sp>
        <p:nvSpPr>
          <p:cNvPr id="45082" name="Line 27"/>
          <p:cNvSpPr/>
          <p:nvPr/>
        </p:nvSpPr>
        <p:spPr>
          <a:xfrm flipH="1" flipV="1">
            <a:off x="4762500" y="4535488"/>
            <a:ext cx="1524000" cy="381000"/>
          </a:xfrm>
          <a:prstGeom prst="line">
            <a:avLst/>
          </a:prstGeom>
          <a:ln w="19050" cap="flat" cmpd="sng">
            <a:solidFill>
              <a:schemeClr val="tx1"/>
            </a:solidFill>
            <a:prstDash val="solid"/>
            <a:headEnd type="none" w="sm" len="sm"/>
            <a:tailEnd type="triangle" w="med" len="med"/>
          </a:ln>
        </p:spPr>
      </p:sp>
      <p:sp>
        <p:nvSpPr>
          <p:cNvPr id="45083" name="Line 28"/>
          <p:cNvSpPr/>
          <p:nvPr/>
        </p:nvSpPr>
        <p:spPr>
          <a:xfrm flipV="1">
            <a:off x="6438900" y="4535488"/>
            <a:ext cx="1219200" cy="381000"/>
          </a:xfrm>
          <a:prstGeom prst="line">
            <a:avLst/>
          </a:prstGeom>
          <a:ln w="19050" cap="flat" cmpd="sng">
            <a:solidFill>
              <a:schemeClr val="tx1"/>
            </a:solidFill>
            <a:prstDash val="solid"/>
            <a:headEnd type="none" w="sm" len="sm"/>
            <a:tailEnd type="triangle" w="med" len="med"/>
          </a:ln>
        </p:spPr>
      </p:sp>
      <p:sp>
        <p:nvSpPr>
          <p:cNvPr id="45084" name="Line 29"/>
          <p:cNvSpPr/>
          <p:nvPr/>
        </p:nvSpPr>
        <p:spPr>
          <a:xfrm flipH="1" flipV="1">
            <a:off x="5524500" y="4535488"/>
            <a:ext cx="1371600" cy="381000"/>
          </a:xfrm>
          <a:prstGeom prst="line">
            <a:avLst/>
          </a:prstGeom>
          <a:ln w="19050" cap="flat" cmpd="sng">
            <a:solidFill>
              <a:schemeClr val="tx1"/>
            </a:solidFill>
            <a:prstDash val="solid"/>
            <a:headEnd type="none" w="sm" len="sm"/>
            <a:tailEnd type="triangle" w="med" len="med"/>
          </a:ln>
        </p:spPr>
      </p:sp>
      <p:sp>
        <p:nvSpPr>
          <p:cNvPr id="45085" name="Line 30"/>
          <p:cNvSpPr/>
          <p:nvPr/>
        </p:nvSpPr>
        <p:spPr>
          <a:xfrm flipV="1">
            <a:off x="7048500" y="4535488"/>
            <a:ext cx="0" cy="381000"/>
          </a:xfrm>
          <a:prstGeom prst="line">
            <a:avLst/>
          </a:prstGeom>
          <a:ln w="19050" cap="flat" cmpd="sng">
            <a:solidFill>
              <a:schemeClr val="tx1"/>
            </a:solidFill>
            <a:prstDash val="solid"/>
            <a:headEnd type="none" w="sm" len="sm"/>
            <a:tailEnd type="triangle" w="med" len="med"/>
          </a:ln>
        </p:spPr>
      </p:sp>
      <p:sp>
        <p:nvSpPr>
          <p:cNvPr id="45086" name="Line 31"/>
          <p:cNvSpPr/>
          <p:nvPr/>
        </p:nvSpPr>
        <p:spPr>
          <a:xfrm flipV="1">
            <a:off x="7277100" y="4535488"/>
            <a:ext cx="1219200" cy="457200"/>
          </a:xfrm>
          <a:prstGeom prst="line">
            <a:avLst/>
          </a:prstGeom>
          <a:ln w="19050" cap="flat" cmpd="sng">
            <a:solidFill>
              <a:schemeClr val="tx1"/>
            </a:solidFill>
            <a:prstDash val="solid"/>
            <a:headEnd type="none" w="sm" len="sm"/>
            <a:tailEnd type="triangle" w="med" len="med"/>
          </a:ln>
        </p:spPr>
      </p:sp>
      <p:sp>
        <p:nvSpPr>
          <p:cNvPr id="45087" name="Line 32"/>
          <p:cNvSpPr/>
          <p:nvPr/>
        </p:nvSpPr>
        <p:spPr>
          <a:xfrm flipH="1" flipV="1">
            <a:off x="6286500" y="4535488"/>
            <a:ext cx="1371600" cy="381000"/>
          </a:xfrm>
          <a:prstGeom prst="line">
            <a:avLst/>
          </a:prstGeom>
          <a:ln w="19050" cap="flat" cmpd="sng">
            <a:solidFill>
              <a:schemeClr val="tx1"/>
            </a:solidFill>
            <a:prstDash val="solid"/>
            <a:headEnd type="none" w="sm" len="sm"/>
            <a:tailEnd type="triangle" w="med" len="med"/>
          </a:ln>
        </p:spPr>
      </p:sp>
      <p:sp>
        <p:nvSpPr>
          <p:cNvPr id="45088" name="Line 33"/>
          <p:cNvSpPr/>
          <p:nvPr/>
        </p:nvSpPr>
        <p:spPr>
          <a:xfrm flipV="1">
            <a:off x="7810500" y="4535488"/>
            <a:ext cx="0" cy="381000"/>
          </a:xfrm>
          <a:prstGeom prst="line">
            <a:avLst/>
          </a:prstGeom>
          <a:ln w="19050" cap="flat" cmpd="sng">
            <a:solidFill>
              <a:schemeClr val="tx1"/>
            </a:solidFill>
            <a:prstDash val="solid"/>
            <a:headEnd type="none" w="sm" len="sm"/>
            <a:tailEnd type="triangle" w="med" len="med"/>
          </a:ln>
        </p:spPr>
      </p:sp>
      <p:sp>
        <p:nvSpPr>
          <p:cNvPr id="45089" name="Line 34"/>
          <p:cNvSpPr/>
          <p:nvPr/>
        </p:nvSpPr>
        <p:spPr>
          <a:xfrm flipV="1">
            <a:off x="7962900" y="4535488"/>
            <a:ext cx="609600" cy="457200"/>
          </a:xfrm>
          <a:prstGeom prst="line">
            <a:avLst/>
          </a:prstGeom>
          <a:ln w="19050" cap="flat" cmpd="sng">
            <a:solidFill>
              <a:schemeClr val="tx1"/>
            </a:solidFill>
            <a:prstDash val="solid"/>
            <a:headEnd type="none" w="sm" len="sm"/>
            <a:tailEnd type="triangle" w="med" len="med"/>
          </a:ln>
        </p:spPr>
      </p:sp>
      <p:sp>
        <p:nvSpPr>
          <p:cNvPr id="45090" name="Line 35"/>
          <p:cNvSpPr/>
          <p:nvPr/>
        </p:nvSpPr>
        <p:spPr>
          <a:xfrm flipV="1">
            <a:off x="4533900" y="3392488"/>
            <a:ext cx="533400" cy="457200"/>
          </a:xfrm>
          <a:prstGeom prst="line">
            <a:avLst/>
          </a:prstGeom>
          <a:ln w="19050" cap="flat" cmpd="sng">
            <a:solidFill>
              <a:schemeClr val="tx1"/>
            </a:solidFill>
            <a:prstDash val="solid"/>
            <a:headEnd type="none" w="sm" len="sm"/>
            <a:tailEnd type="triangle" w="med" len="med"/>
          </a:ln>
        </p:spPr>
      </p:sp>
      <p:sp>
        <p:nvSpPr>
          <p:cNvPr id="45091" name="Line 36"/>
          <p:cNvSpPr/>
          <p:nvPr/>
        </p:nvSpPr>
        <p:spPr>
          <a:xfrm flipV="1">
            <a:off x="4533900" y="3468688"/>
            <a:ext cx="1371600" cy="381000"/>
          </a:xfrm>
          <a:prstGeom prst="line">
            <a:avLst/>
          </a:prstGeom>
          <a:ln w="19050" cap="flat" cmpd="sng">
            <a:solidFill>
              <a:schemeClr val="tx1"/>
            </a:solidFill>
            <a:prstDash val="solid"/>
            <a:headEnd type="none" w="sm" len="sm"/>
            <a:tailEnd type="triangle" w="med" len="med"/>
          </a:ln>
        </p:spPr>
      </p:sp>
      <p:sp>
        <p:nvSpPr>
          <p:cNvPr id="45092" name="Line 37"/>
          <p:cNvSpPr/>
          <p:nvPr/>
        </p:nvSpPr>
        <p:spPr>
          <a:xfrm flipV="1">
            <a:off x="5219700" y="3468688"/>
            <a:ext cx="0" cy="381000"/>
          </a:xfrm>
          <a:prstGeom prst="line">
            <a:avLst/>
          </a:prstGeom>
          <a:ln w="19050" cap="flat" cmpd="sng">
            <a:solidFill>
              <a:schemeClr val="tx1"/>
            </a:solidFill>
            <a:prstDash val="solid"/>
            <a:headEnd type="none" w="sm" len="sm"/>
            <a:tailEnd type="triangle" w="med" len="med"/>
          </a:ln>
        </p:spPr>
      </p:sp>
      <p:sp>
        <p:nvSpPr>
          <p:cNvPr id="45093" name="Line 38"/>
          <p:cNvSpPr/>
          <p:nvPr/>
        </p:nvSpPr>
        <p:spPr>
          <a:xfrm flipV="1">
            <a:off x="5295900" y="3468688"/>
            <a:ext cx="1371600" cy="381000"/>
          </a:xfrm>
          <a:prstGeom prst="line">
            <a:avLst/>
          </a:prstGeom>
          <a:ln w="19050" cap="flat" cmpd="sng">
            <a:solidFill>
              <a:schemeClr val="tx1"/>
            </a:solidFill>
            <a:prstDash val="solid"/>
            <a:headEnd type="none" w="sm" len="sm"/>
            <a:tailEnd type="triangle" w="med" len="med"/>
          </a:ln>
        </p:spPr>
      </p:sp>
      <p:sp>
        <p:nvSpPr>
          <p:cNvPr id="45094" name="Line 39"/>
          <p:cNvSpPr/>
          <p:nvPr/>
        </p:nvSpPr>
        <p:spPr>
          <a:xfrm flipH="1" flipV="1">
            <a:off x="6057900" y="3468688"/>
            <a:ext cx="76200" cy="381000"/>
          </a:xfrm>
          <a:prstGeom prst="line">
            <a:avLst/>
          </a:prstGeom>
          <a:ln w="19050" cap="flat" cmpd="sng">
            <a:solidFill>
              <a:schemeClr val="tx1"/>
            </a:solidFill>
            <a:prstDash val="solid"/>
            <a:headEnd type="none" w="sm" len="sm"/>
            <a:tailEnd type="triangle" w="med" len="med"/>
          </a:ln>
        </p:spPr>
      </p:sp>
      <p:sp>
        <p:nvSpPr>
          <p:cNvPr id="45095" name="Line 40"/>
          <p:cNvSpPr/>
          <p:nvPr/>
        </p:nvSpPr>
        <p:spPr>
          <a:xfrm flipV="1">
            <a:off x="6134100" y="3468688"/>
            <a:ext cx="609600" cy="381000"/>
          </a:xfrm>
          <a:prstGeom prst="line">
            <a:avLst/>
          </a:prstGeom>
          <a:ln w="19050" cap="flat" cmpd="sng">
            <a:solidFill>
              <a:schemeClr val="tx1"/>
            </a:solidFill>
            <a:prstDash val="solid"/>
            <a:headEnd type="none" w="sm" len="sm"/>
            <a:tailEnd type="triangle" w="med" len="med"/>
          </a:ln>
        </p:spPr>
      </p:sp>
      <p:sp>
        <p:nvSpPr>
          <p:cNvPr id="45096" name="Line 41"/>
          <p:cNvSpPr/>
          <p:nvPr/>
        </p:nvSpPr>
        <p:spPr>
          <a:xfrm flipH="1" flipV="1">
            <a:off x="5448300" y="3468688"/>
            <a:ext cx="1600200" cy="381000"/>
          </a:xfrm>
          <a:prstGeom prst="line">
            <a:avLst/>
          </a:prstGeom>
          <a:ln w="19050" cap="flat" cmpd="sng">
            <a:solidFill>
              <a:schemeClr val="tx1"/>
            </a:solidFill>
            <a:prstDash val="solid"/>
            <a:headEnd type="none" w="sm" len="sm"/>
            <a:tailEnd type="triangle" w="med" len="med"/>
          </a:ln>
        </p:spPr>
      </p:sp>
      <p:sp>
        <p:nvSpPr>
          <p:cNvPr id="45097" name="Line 42"/>
          <p:cNvSpPr/>
          <p:nvPr/>
        </p:nvSpPr>
        <p:spPr>
          <a:xfrm flipV="1">
            <a:off x="7048500" y="3392488"/>
            <a:ext cx="457200" cy="457200"/>
          </a:xfrm>
          <a:prstGeom prst="line">
            <a:avLst/>
          </a:prstGeom>
          <a:ln w="19050" cap="flat" cmpd="sng">
            <a:solidFill>
              <a:schemeClr val="tx1"/>
            </a:solidFill>
            <a:prstDash val="solid"/>
            <a:headEnd type="none" w="sm" len="sm"/>
            <a:tailEnd type="triangle" w="med" len="med"/>
          </a:ln>
        </p:spPr>
      </p:sp>
      <p:sp>
        <p:nvSpPr>
          <p:cNvPr id="45098" name="Line 43"/>
          <p:cNvSpPr/>
          <p:nvPr/>
        </p:nvSpPr>
        <p:spPr>
          <a:xfrm flipH="1" flipV="1">
            <a:off x="6210300" y="3468688"/>
            <a:ext cx="1447800" cy="381000"/>
          </a:xfrm>
          <a:prstGeom prst="line">
            <a:avLst/>
          </a:prstGeom>
          <a:ln w="19050" cap="flat" cmpd="sng">
            <a:solidFill>
              <a:schemeClr val="tx1"/>
            </a:solidFill>
            <a:prstDash val="solid"/>
            <a:headEnd type="none" w="sm" len="sm"/>
            <a:tailEnd type="triangle" w="med" len="med"/>
          </a:ln>
        </p:spPr>
      </p:sp>
      <p:sp>
        <p:nvSpPr>
          <p:cNvPr id="45099" name="Line 44"/>
          <p:cNvSpPr/>
          <p:nvPr/>
        </p:nvSpPr>
        <p:spPr>
          <a:xfrm flipV="1">
            <a:off x="7810500" y="3392488"/>
            <a:ext cx="76200" cy="457200"/>
          </a:xfrm>
          <a:prstGeom prst="line">
            <a:avLst/>
          </a:prstGeom>
          <a:ln w="19050" cap="flat" cmpd="sng">
            <a:solidFill>
              <a:schemeClr val="tx1"/>
            </a:solidFill>
            <a:prstDash val="solid"/>
            <a:headEnd type="none" w="sm" len="sm"/>
            <a:tailEnd type="triangle" w="med" len="med"/>
          </a:ln>
        </p:spPr>
      </p:sp>
      <p:sp>
        <p:nvSpPr>
          <p:cNvPr id="45100" name="Line 45"/>
          <p:cNvSpPr/>
          <p:nvPr/>
        </p:nvSpPr>
        <p:spPr>
          <a:xfrm flipH="1" flipV="1">
            <a:off x="7048500" y="3468688"/>
            <a:ext cx="1371600" cy="457200"/>
          </a:xfrm>
          <a:prstGeom prst="line">
            <a:avLst/>
          </a:prstGeom>
          <a:ln w="19050" cap="flat" cmpd="sng">
            <a:solidFill>
              <a:schemeClr val="tx1"/>
            </a:solidFill>
            <a:prstDash val="solid"/>
            <a:headEnd type="none" w="sm" len="sm"/>
            <a:tailEnd type="triangle" w="med" len="med"/>
          </a:ln>
        </p:spPr>
      </p:sp>
      <p:sp>
        <p:nvSpPr>
          <p:cNvPr id="45101" name="Line 46"/>
          <p:cNvSpPr/>
          <p:nvPr/>
        </p:nvSpPr>
        <p:spPr>
          <a:xfrm flipH="1" flipV="1">
            <a:off x="7962900" y="3392488"/>
            <a:ext cx="685800" cy="457200"/>
          </a:xfrm>
          <a:prstGeom prst="line">
            <a:avLst/>
          </a:prstGeom>
          <a:ln w="19050" cap="flat" cmpd="sng">
            <a:solidFill>
              <a:schemeClr val="tx1"/>
            </a:solidFill>
            <a:prstDash val="solid"/>
            <a:headEnd type="none" w="sm" len="sm"/>
            <a:tailEnd type="triangle" w="med" len="med"/>
          </a:ln>
        </p:spPr>
      </p:sp>
      <p:sp>
        <p:nvSpPr>
          <p:cNvPr id="45102" name="Line 47"/>
          <p:cNvSpPr/>
          <p:nvPr/>
        </p:nvSpPr>
        <p:spPr>
          <a:xfrm flipV="1">
            <a:off x="5448300" y="2325688"/>
            <a:ext cx="685800" cy="457200"/>
          </a:xfrm>
          <a:prstGeom prst="line">
            <a:avLst/>
          </a:prstGeom>
          <a:ln w="19050" cap="flat" cmpd="sng">
            <a:solidFill>
              <a:schemeClr val="tx1"/>
            </a:solidFill>
            <a:prstDash val="solid"/>
            <a:headEnd type="none" w="sm" len="sm"/>
            <a:tailEnd type="triangle" w="med" len="med"/>
          </a:ln>
        </p:spPr>
      </p:sp>
      <p:sp>
        <p:nvSpPr>
          <p:cNvPr id="45103" name="Line 48"/>
          <p:cNvSpPr/>
          <p:nvPr/>
        </p:nvSpPr>
        <p:spPr>
          <a:xfrm flipV="1">
            <a:off x="6210300" y="2478088"/>
            <a:ext cx="76200" cy="228600"/>
          </a:xfrm>
          <a:prstGeom prst="line">
            <a:avLst/>
          </a:prstGeom>
          <a:ln w="19050" cap="flat" cmpd="sng">
            <a:solidFill>
              <a:schemeClr val="tx1"/>
            </a:solidFill>
            <a:prstDash val="solid"/>
            <a:headEnd type="none" w="sm" len="sm"/>
            <a:tailEnd type="triangle" w="med" len="med"/>
          </a:ln>
        </p:spPr>
      </p:sp>
      <p:sp>
        <p:nvSpPr>
          <p:cNvPr id="45104" name="Line 49"/>
          <p:cNvSpPr/>
          <p:nvPr/>
        </p:nvSpPr>
        <p:spPr>
          <a:xfrm flipH="1" flipV="1">
            <a:off x="6743700" y="2401888"/>
            <a:ext cx="76200" cy="304800"/>
          </a:xfrm>
          <a:prstGeom prst="line">
            <a:avLst/>
          </a:prstGeom>
          <a:ln w="19050" cap="flat" cmpd="sng">
            <a:solidFill>
              <a:schemeClr val="tx1"/>
            </a:solidFill>
            <a:prstDash val="solid"/>
            <a:headEnd type="none" w="sm" len="sm"/>
            <a:tailEnd type="triangle" w="med" len="med"/>
          </a:ln>
        </p:spPr>
      </p:sp>
      <p:sp>
        <p:nvSpPr>
          <p:cNvPr id="45105" name="Line 50"/>
          <p:cNvSpPr/>
          <p:nvPr/>
        </p:nvSpPr>
        <p:spPr>
          <a:xfrm flipH="1" flipV="1">
            <a:off x="6896100" y="2325688"/>
            <a:ext cx="609600" cy="381000"/>
          </a:xfrm>
          <a:prstGeom prst="line">
            <a:avLst/>
          </a:prstGeom>
          <a:ln w="19050" cap="flat" cmpd="sng">
            <a:solidFill>
              <a:schemeClr val="tx1"/>
            </a:solidFill>
            <a:prstDash val="solid"/>
            <a:headEnd type="none" w="sm" len="sm"/>
            <a:tailEnd type="triangle" w="med" len="med"/>
          </a:ln>
        </p:spPr>
      </p:sp>
      <p:sp>
        <p:nvSpPr>
          <p:cNvPr id="45106" name="Rectangle 51"/>
          <p:cNvSpPr>
            <a:spLocks noGrp="1"/>
          </p:cNvSpPr>
          <p:nvPr>
            <p:ph idx="1"/>
          </p:nvPr>
        </p:nvSpPr>
        <p:spPr>
          <a:xfrm>
            <a:off x="290513" y="1565275"/>
            <a:ext cx="3606800" cy="4857750"/>
          </a:xfrm>
          <a:ln/>
        </p:spPr>
        <p:txBody>
          <a:bodyPr vert="horz" wrap="square" lIns="91440" tIns="45720" rIns="91440" bIns="45720" anchor="t" anchorCtr="0"/>
          <a:p>
            <a:r>
              <a:rPr lang="en-US" altLang="zh-CN" sz="2400">
                <a:ea typeface="宋体" panose="02010600030101010101" pitchFamily="2" charset="-122"/>
              </a:rPr>
              <a:t>Bottom-up, breadth first search</a:t>
            </a:r>
            <a:endParaRPr lang="en-US" altLang="zh-CN" sz="2400">
              <a:ea typeface="宋体" panose="02010600030101010101" pitchFamily="2" charset="-122"/>
            </a:endParaRPr>
          </a:p>
          <a:p>
            <a:r>
              <a:rPr lang="en-US" altLang="zh-CN" sz="2400">
                <a:ea typeface="宋体" panose="02010600030101010101" pitchFamily="2" charset="-122"/>
              </a:rPr>
              <a:t>Only read is perform on the databases</a:t>
            </a:r>
            <a:endParaRPr lang="en-US" altLang="zh-CN" sz="2400">
              <a:ea typeface="宋体" panose="02010600030101010101" pitchFamily="2" charset="-122"/>
            </a:endParaRPr>
          </a:p>
          <a:p>
            <a:r>
              <a:rPr lang="en-US" altLang="zh-CN" sz="2400">
                <a:ea typeface="宋体" panose="02010600030101010101" pitchFamily="2" charset="-122"/>
              </a:rPr>
              <a:t>Store candidates in memory to simulate the lattice search</a:t>
            </a:r>
            <a:endParaRPr lang="en-US" altLang="zh-CN" sz="2400">
              <a:ea typeface="宋体" panose="02010600030101010101" pitchFamily="2" charset="-122"/>
            </a:endParaRPr>
          </a:p>
          <a:p>
            <a:r>
              <a:rPr lang="en-US" altLang="zh-CN" sz="2400">
                <a:ea typeface="宋体" panose="02010600030101010101" pitchFamily="2" charset="-122"/>
              </a:rPr>
              <a:t>Iteratively follow the two steps:</a:t>
            </a:r>
            <a:endParaRPr lang="en-US" altLang="zh-CN" sz="2400">
              <a:ea typeface="宋体" panose="02010600030101010101" pitchFamily="2" charset="-122"/>
            </a:endParaRPr>
          </a:p>
          <a:p>
            <a:pPr lvl="1"/>
            <a:r>
              <a:rPr lang="en-US" altLang="zh-CN" sz="2000">
                <a:solidFill>
                  <a:schemeClr val="tx2"/>
                </a:solidFill>
                <a:ea typeface="宋体" panose="02010600030101010101" pitchFamily="2" charset="-122"/>
              </a:rPr>
              <a:t>generate candidates</a:t>
            </a:r>
            <a:endParaRPr lang="en-US" altLang="zh-CN" sz="2000">
              <a:solidFill>
                <a:schemeClr val="tx2"/>
              </a:solidFill>
              <a:ea typeface="宋体" panose="02010600030101010101" pitchFamily="2" charset="-122"/>
            </a:endParaRPr>
          </a:p>
          <a:p>
            <a:pPr lvl="1"/>
            <a:r>
              <a:rPr lang="en-US" altLang="zh-CN" sz="2000">
                <a:solidFill>
                  <a:schemeClr val="hlink"/>
                </a:solidFill>
                <a:ea typeface="宋体" panose="02010600030101010101" pitchFamily="2" charset="-122"/>
              </a:rPr>
              <a:t>count and get actual frequent items</a:t>
            </a:r>
            <a:endParaRPr lang="en-US" altLang="zh-CN" sz="2000">
              <a:solidFill>
                <a:schemeClr val="hlink"/>
              </a:solidFill>
              <a:ea typeface="宋体" panose="02010600030101010101" pitchFamily="2" charset="-122"/>
            </a:endParaRPr>
          </a:p>
        </p:txBody>
      </p:sp>
      <p:grpSp>
        <p:nvGrpSpPr>
          <p:cNvPr id="2" name="Group 52"/>
          <p:cNvGrpSpPr/>
          <p:nvPr/>
        </p:nvGrpSpPr>
        <p:grpSpPr>
          <a:xfrm>
            <a:off x="5006975" y="6207125"/>
            <a:ext cx="1524000" cy="457200"/>
            <a:chOff x="3154" y="3575"/>
            <a:chExt cx="960" cy="288"/>
          </a:xfrm>
        </p:grpSpPr>
        <p:sp>
          <p:nvSpPr>
            <p:cNvPr id="45132" name="Line 53"/>
            <p:cNvSpPr/>
            <p:nvPr/>
          </p:nvSpPr>
          <p:spPr>
            <a:xfrm flipV="1">
              <a:off x="3666" y="3721"/>
              <a:ext cx="448" cy="9"/>
            </a:xfrm>
            <a:prstGeom prst="line">
              <a:avLst/>
            </a:prstGeom>
            <a:ln w="9525" cap="flat" cmpd="sng">
              <a:solidFill>
                <a:schemeClr val="tx1"/>
              </a:solidFill>
              <a:prstDash val="solid"/>
              <a:miter/>
              <a:headEnd type="none" w="med" len="med"/>
              <a:tailEnd type="triangle" w="med" len="med"/>
            </a:ln>
          </p:spPr>
        </p:sp>
        <p:sp>
          <p:nvSpPr>
            <p:cNvPr id="45133" name="Text Box 54"/>
            <p:cNvSpPr txBox="1"/>
            <p:nvPr/>
          </p:nvSpPr>
          <p:spPr>
            <a:xfrm>
              <a:off x="3154" y="3575"/>
              <a:ext cx="585" cy="288"/>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2400" b="0">
                  <a:solidFill>
                    <a:schemeClr val="tx1"/>
                  </a:solidFill>
                  <a:latin typeface="Tahoma" panose="020B0604030504040204" pitchFamily="34" charset="0"/>
                  <a:ea typeface="宋体" panose="02010600030101010101" pitchFamily="2" charset="-122"/>
                </a:rPr>
                <a:t>start</a:t>
              </a:r>
              <a:endParaRPr lang="en-US" altLang="zh-CN" sz="2400" b="0">
                <a:solidFill>
                  <a:schemeClr val="tx1"/>
                </a:solidFill>
                <a:latin typeface="Tahoma" panose="020B0604030504040204" pitchFamily="34" charset="0"/>
                <a:ea typeface="宋体" panose="02010600030101010101" pitchFamily="2" charset="-122"/>
              </a:endParaRPr>
            </a:p>
          </p:txBody>
        </p:sp>
      </p:grpSp>
      <p:grpSp>
        <p:nvGrpSpPr>
          <p:cNvPr id="3" name="Group 55"/>
          <p:cNvGrpSpPr/>
          <p:nvPr/>
        </p:nvGrpSpPr>
        <p:grpSpPr>
          <a:xfrm>
            <a:off x="5229225" y="4911725"/>
            <a:ext cx="2908300" cy="611188"/>
            <a:chOff x="3294" y="2759"/>
            <a:chExt cx="1832" cy="385"/>
          </a:xfrm>
        </p:grpSpPr>
        <p:sp>
          <p:nvSpPr>
            <p:cNvPr id="45128" name="Oval 56"/>
            <p:cNvSpPr/>
            <p:nvPr/>
          </p:nvSpPr>
          <p:spPr>
            <a:xfrm>
              <a:off x="3294" y="2759"/>
              <a:ext cx="432" cy="385"/>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a:t>
              </a:r>
              <a:endParaRPr lang="en-US" altLang="zh-CN" sz="2400" b="0">
                <a:solidFill>
                  <a:schemeClr val="tx1"/>
                </a:solidFill>
                <a:ea typeface="宋体" panose="02010600030101010101" pitchFamily="2" charset="-122"/>
              </a:endParaRPr>
            </a:p>
          </p:txBody>
        </p:sp>
        <p:sp>
          <p:nvSpPr>
            <p:cNvPr id="45129" name="Oval 57"/>
            <p:cNvSpPr/>
            <p:nvPr/>
          </p:nvSpPr>
          <p:spPr>
            <a:xfrm>
              <a:off x="3761" y="2759"/>
              <a:ext cx="431" cy="385"/>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a:t>
              </a:r>
              <a:endParaRPr lang="en-US" altLang="zh-CN" sz="2400" b="0">
                <a:solidFill>
                  <a:schemeClr val="tx1"/>
                </a:solidFill>
                <a:ea typeface="宋体" panose="02010600030101010101" pitchFamily="2" charset="-122"/>
              </a:endParaRPr>
            </a:p>
          </p:txBody>
        </p:sp>
        <p:sp>
          <p:nvSpPr>
            <p:cNvPr id="45130" name="Oval 58"/>
            <p:cNvSpPr/>
            <p:nvPr/>
          </p:nvSpPr>
          <p:spPr>
            <a:xfrm>
              <a:off x="4228" y="2759"/>
              <a:ext cx="431" cy="385"/>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a:t>
              </a:r>
              <a:endParaRPr lang="en-US" altLang="zh-CN" sz="2400" b="0">
                <a:solidFill>
                  <a:schemeClr val="tx1"/>
                </a:solidFill>
                <a:ea typeface="宋体" panose="02010600030101010101" pitchFamily="2" charset="-122"/>
              </a:endParaRPr>
            </a:p>
          </p:txBody>
        </p:sp>
        <p:sp>
          <p:nvSpPr>
            <p:cNvPr id="45131" name="Oval 59"/>
            <p:cNvSpPr/>
            <p:nvPr/>
          </p:nvSpPr>
          <p:spPr>
            <a:xfrm>
              <a:off x="4696" y="2759"/>
              <a:ext cx="430" cy="385"/>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e</a:t>
              </a:r>
              <a:endParaRPr lang="en-US" altLang="zh-CN" sz="2400" b="0">
                <a:solidFill>
                  <a:schemeClr val="tx1"/>
                </a:solidFill>
                <a:ea typeface="宋体" panose="02010600030101010101" pitchFamily="2" charset="-122"/>
              </a:endParaRPr>
            </a:p>
          </p:txBody>
        </p:sp>
      </p:grpSp>
      <p:grpSp>
        <p:nvGrpSpPr>
          <p:cNvPr id="4" name="Group 60"/>
          <p:cNvGrpSpPr/>
          <p:nvPr/>
        </p:nvGrpSpPr>
        <p:grpSpPr>
          <a:xfrm>
            <a:off x="5237163" y="4919663"/>
            <a:ext cx="2908300" cy="611187"/>
            <a:chOff x="3294" y="2759"/>
            <a:chExt cx="1832" cy="385"/>
          </a:xfrm>
        </p:grpSpPr>
        <p:sp>
          <p:nvSpPr>
            <p:cNvPr id="45124" name="Oval 61"/>
            <p:cNvSpPr/>
            <p:nvPr/>
          </p:nvSpPr>
          <p:spPr>
            <a:xfrm>
              <a:off x="3294" y="2759"/>
              <a:ext cx="432" cy="385"/>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a:t>
              </a:r>
              <a:endParaRPr lang="en-US" altLang="zh-CN" sz="2400" b="0">
                <a:solidFill>
                  <a:schemeClr val="tx1"/>
                </a:solidFill>
                <a:ea typeface="宋体" panose="02010600030101010101" pitchFamily="2" charset="-122"/>
              </a:endParaRPr>
            </a:p>
          </p:txBody>
        </p:sp>
        <p:sp>
          <p:nvSpPr>
            <p:cNvPr id="45125" name="Oval 62"/>
            <p:cNvSpPr/>
            <p:nvPr/>
          </p:nvSpPr>
          <p:spPr>
            <a:xfrm>
              <a:off x="3761" y="2759"/>
              <a:ext cx="431" cy="385"/>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a:t>
              </a:r>
              <a:endParaRPr lang="en-US" altLang="zh-CN" sz="2400" b="0">
                <a:solidFill>
                  <a:schemeClr val="tx1"/>
                </a:solidFill>
                <a:ea typeface="宋体" panose="02010600030101010101" pitchFamily="2" charset="-122"/>
              </a:endParaRPr>
            </a:p>
          </p:txBody>
        </p:sp>
        <p:sp>
          <p:nvSpPr>
            <p:cNvPr id="45126" name="Oval 63"/>
            <p:cNvSpPr/>
            <p:nvPr/>
          </p:nvSpPr>
          <p:spPr>
            <a:xfrm>
              <a:off x="4228" y="2759"/>
              <a:ext cx="431" cy="385"/>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a:t>
              </a:r>
              <a:endParaRPr lang="en-US" altLang="zh-CN" sz="2400" b="0">
                <a:solidFill>
                  <a:schemeClr val="tx1"/>
                </a:solidFill>
                <a:ea typeface="宋体" panose="02010600030101010101" pitchFamily="2" charset="-122"/>
              </a:endParaRPr>
            </a:p>
          </p:txBody>
        </p:sp>
        <p:sp>
          <p:nvSpPr>
            <p:cNvPr id="45127" name="Oval 64"/>
            <p:cNvSpPr/>
            <p:nvPr/>
          </p:nvSpPr>
          <p:spPr>
            <a:xfrm>
              <a:off x="4696" y="2759"/>
              <a:ext cx="430" cy="385"/>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e</a:t>
              </a:r>
              <a:endParaRPr lang="en-US" altLang="zh-CN" sz="2400" b="0">
                <a:solidFill>
                  <a:schemeClr val="tx1"/>
                </a:solidFill>
                <a:ea typeface="宋体" panose="02010600030101010101" pitchFamily="2" charset="-122"/>
              </a:endParaRPr>
            </a:p>
          </p:txBody>
        </p:sp>
      </p:grpSp>
      <p:grpSp>
        <p:nvGrpSpPr>
          <p:cNvPr id="5" name="Group 65"/>
          <p:cNvGrpSpPr/>
          <p:nvPr/>
        </p:nvGrpSpPr>
        <p:grpSpPr>
          <a:xfrm>
            <a:off x="4071938" y="3327400"/>
            <a:ext cx="5029200" cy="696913"/>
            <a:chOff x="2565" y="2087"/>
            <a:chExt cx="3168" cy="439"/>
          </a:xfrm>
        </p:grpSpPr>
        <p:sp>
          <p:nvSpPr>
            <p:cNvPr id="45118" name="Oval 66"/>
            <p:cNvSpPr/>
            <p:nvPr/>
          </p:nvSpPr>
          <p:spPr>
            <a:xfrm>
              <a:off x="3080" y="2090"/>
              <a:ext cx="493"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a:t>
              </a:r>
              <a:endParaRPr lang="en-US" altLang="zh-CN" sz="2400" b="0">
                <a:solidFill>
                  <a:schemeClr val="tx1"/>
                </a:solidFill>
                <a:ea typeface="宋体" panose="02010600030101010101" pitchFamily="2" charset="-122"/>
              </a:endParaRPr>
            </a:p>
          </p:txBody>
        </p:sp>
        <p:sp>
          <p:nvSpPr>
            <p:cNvPr id="45119" name="Oval 67"/>
            <p:cNvSpPr/>
            <p:nvPr/>
          </p:nvSpPr>
          <p:spPr>
            <a:xfrm>
              <a:off x="3608" y="2090"/>
              <a:ext cx="494"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a,e</a:t>
              </a:r>
              <a:endParaRPr lang="en-US" altLang="zh-CN" sz="2400" b="0">
                <a:solidFill>
                  <a:schemeClr val="tx1"/>
                </a:solidFill>
                <a:ea typeface="宋体" panose="02010600030101010101" pitchFamily="2" charset="-122"/>
              </a:endParaRPr>
            </a:p>
          </p:txBody>
        </p:sp>
        <p:sp>
          <p:nvSpPr>
            <p:cNvPr id="45120" name="Oval 68"/>
            <p:cNvSpPr/>
            <p:nvPr/>
          </p:nvSpPr>
          <p:spPr>
            <a:xfrm>
              <a:off x="4689" y="2090"/>
              <a:ext cx="494"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b,e</a:t>
              </a:r>
              <a:endParaRPr lang="en-US" altLang="zh-CN" sz="2400" b="0">
                <a:solidFill>
                  <a:schemeClr val="tx1"/>
                </a:solidFill>
                <a:ea typeface="宋体" panose="02010600030101010101" pitchFamily="2" charset="-122"/>
              </a:endParaRPr>
            </a:p>
          </p:txBody>
        </p:sp>
        <p:sp>
          <p:nvSpPr>
            <p:cNvPr id="45121" name="Oval 69"/>
            <p:cNvSpPr/>
            <p:nvPr/>
          </p:nvSpPr>
          <p:spPr>
            <a:xfrm>
              <a:off x="4155" y="2090"/>
              <a:ext cx="494"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a:t>
              </a:r>
              <a:endParaRPr lang="en-US" altLang="zh-CN" sz="2400" b="0">
                <a:solidFill>
                  <a:schemeClr val="tx1"/>
                </a:solidFill>
                <a:ea typeface="宋体" panose="02010600030101010101" pitchFamily="2" charset="-122"/>
              </a:endParaRPr>
            </a:p>
          </p:txBody>
        </p:sp>
        <p:sp>
          <p:nvSpPr>
            <p:cNvPr id="45122" name="Oval 70"/>
            <p:cNvSpPr/>
            <p:nvPr/>
          </p:nvSpPr>
          <p:spPr>
            <a:xfrm>
              <a:off x="2565" y="2090"/>
              <a:ext cx="479"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a,b</a:t>
              </a:r>
              <a:endParaRPr lang="en-US" altLang="zh-CN" sz="2400" b="0">
                <a:solidFill>
                  <a:schemeClr val="tx1"/>
                </a:solidFill>
                <a:ea typeface="宋体" panose="02010600030101010101" pitchFamily="2" charset="-122"/>
              </a:endParaRPr>
            </a:p>
          </p:txBody>
        </p:sp>
        <p:sp>
          <p:nvSpPr>
            <p:cNvPr id="45123" name="Oval 71"/>
            <p:cNvSpPr/>
            <p:nvPr/>
          </p:nvSpPr>
          <p:spPr>
            <a:xfrm>
              <a:off x="5239" y="2087"/>
              <a:ext cx="494" cy="436"/>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c,e</a:t>
              </a:r>
              <a:endParaRPr lang="en-US" altLang="zh-CN" sz="2400" b="0">
                <a:solidFill>
                  <a:schemeClr val="tx1"/>
                </a:solidFill>
                <a:ea typeface="宋体" panose="02010600030101010101" pitchFamily="2" charset="-122"/>
              </a:endParaRPr>
            </a:p>
          </p:txBody>
        </p:sp>
      </p:grpSp>
      <p:grpSp>
        <p:nvGrpSpPr>
          <p:cNvPr id="6" name="Group 72"/>
          <p:cNvGrpSpPr/>
          <p:nvPr/>
        </p:nvGrpSpPr>
        <p:grpSpPr>
          <a:xfrm>
            <a:off x="4903788" y="3322638"/>
            <a:ext cx="4211637" cy="696912"/>
            <a:chOff x="3089" y="2093"/>
            <a:chExt cx="2653" cy="439"/>
          </a:xfrm>
        </p:grpSpPr>
        <p:sp>
          <p:nvSpPr>
            <p:cNvPr id="45114" name="Oval 73"/>
            <p:cNvSpPr/>
            <p:nvPr/>
          </p:nvSpPr>
          <p:spPr>
            <a:xfrm>
              <a:off x="3089" y="2096"/>
              <a:ext cx="493" cy="436"/>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a,c</a:t>
              </a:r>
              <a:endParaRPr lang="en-US" altLang="zh-CN" sz="2400" b="0">
                <a:solidFill>
                  <a:schemeClr val="tx1"/>
                </a:solidFill>
                <a:ea typeface="宋体" panose="02010600030101010101" pitchFamily="2" charset="-122"/>
              </a:endParaRPr>
            </a:p>
          </p:txBody>
        </p:sp>
        <p:sp>
          <p:nvSpPr>
            <p:cNvPr id="45115" name="Oval 74"/>
            <p:cNvSpPr/>
            <p:nvPr/>
          </p:nvSpPr>
          <p:spPr>
            <a:xfrm>
              <a:off x="4698" y="2096"/>
              <a:ext cx="494" cy="436"/>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b,e</a:t>
              </a:r>
              <a:endParaRPr lang="en-US" altLang="zh-CN" sz="2400" b="0">
                <a:solidFill>
                  <a:schemeClr val="tx1"/>
                </a:solidFill>
                <a:ea typeface="宋体" panose="02010600030101010101" pitchFamily="2" charset="-122"/>
              </a:endParaRPr>
            </a:p>
          </p:txBody>
        </p:sp>
        <p:sp>
          <p:nvSpPr>
            <p:cNvPr id="45116" name="Oval 75"/>
            <p:cNvSpPr/>
            <p:nvPr/>
          </p:nvSpPr>
          <p:spPr>
            <a:xfrm>
              <a:off x="4164" y="2096"/>
              <a:ext cx="494" cy="436"/>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a:t>
              </a:r>
              <a:endParaRPr lang="en-US" altLang="zh-CN" sz="2400" b="0">
                <a:solidFill>
                  <a:schemeClr val="tx1"/>
                </a:solidFill>
                <a:ea typeface="宋体" panose="02010600030101010101" pitchFamily="2" charset="-122"/>
              </a:endParaRPr>
            </a:p>
          </p:txBody>
        </p:sp>
        <p:sp>
          <p:nvSpPr>
            <p:cNvPr id="45117" name="Oval 76"/>
            <p:cNvSpPr/>
            <p:nvPr/>
          </p:nvSpPr>
          <p:spPr>
            <a:xfrm>
              <a:off x="5248" y="2093"/>
              <a:ext cx="494" cy="436"/>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c,e</a:t>
              </a:r>
              <a:endParaRPr lang="en-US" altLang="zh-CN" sz="2400" b="0">
                <a:solidFill>
                  <a:schemeClr val="tx1"/>
                </a:solidFill>
                <a:ea typeface="宋体" panose="02010600030101010101" pitchFamily="2" charset="-122"/>
              </a:endParaRPr>
            </a:p>
          </p:txBody>
        </p:sp>
      </p:grpSp>
      <p:sp>
        <p:nvSpPr>
          <p:cNvPr id="560205" name="Oval 77"/>
          <p:cNvSpPr/>
          <p:nvPr/>
        </p:nvSpPr>
        <p:spPr>
          <a:xfrm>
            <a:off x="7319963" y="2700338"/>
            <a:ext cx="727075" cy="722312"/>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b,c,e</a:t>
            </a:r>
            <a:endParaRPr lang="en-US" altLang="zh-CN" sz="2400" b="0">
              <a:solidFill>
                <a:schemeClr val="tx1"/>
              </a:solidFill>
              <a:ea typeface="宋体" panose="02010600030101010101" pitchFamily="2" charset="-122"/>
            </a:endParaRPr>
          </a:p>
        </p:txBody>
      </p:sp>
      <p:sp>
        <p:nvSpPr>
          <p:cNvPr id="560206" name="Oval 78"/>
          <p:cNvSpPr/>
          <p:nvPr/>
        </p:nvSpPr>
        <p:spPr>
          <a:xfrm>
            <a:off x="7318375" y="2713038"/>
            <a:ext cx="727075" cy="722312"/>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400" b="0">
                <a:solidFill>
                  <a:schemeClr val="tx1"/>
                </a:solidFill>
                <a:ea typeface="宋体" panose="02010600030101010101" pitchFamily="2" charset="-122"/>
              </a:rPr>
              <a:t>b,c,e</a:t>
            </a:r>
            <a:endParaRPr lang="en-US" altLang="zh-CN" sz="2400" b="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602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60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205" grpId="0" animBg="1"/>
      <p:bldP spid="56020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1154" name="Rectangle 2"/>
          <p:cNvSpPr>
            <a:spLocks noGrp="1" noChangeArrowheads="1"/>
          </p:cNvSpPr>
          <p:nvPr>
            <p:ph type="title"/>
          </p:nvPr>
        </p:nvSpPr>
        <p:spPr>
          <a:xfrm>
            <a:off x="968375" y="247650"/>
            <a:ext cx="7793038" cy="7493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Candidate Generation and Pruning</a:t>
            </a:r>
            <a:endParaRPr kumimoji="0" lang="en-US" alt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46082" name="Oval 3"/>
          <p:cNvSpPr/>
          <p:nvPr/>
        </p:nvSpPr>
        <p:spPr>
          <a:xfrm>
            <a:off x="4799013" y="5616575"/>
            <a:ext cx="782637" cy="6921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a,c</a:t>
            </a:r>
            <a:endParaRPr lang="en-US" altLang="zh-CN" sz="2000" b="0">
              <a:solidFill>
                <a:schemeClr val="tx1"/>
              </a:solidFill>
              <a:ea typeface="宋体" panose="02010600030101010101" pitchFamily="2" charset="-122"/>
            </a:endParaRPr>
          </a:p>
        </p:txBody>
      </p:sp>
      <p:sp>
        <p:nvSpPr>
          <p:cNvPr id="46083" name="Oval 4"/>
          <p:cNvSpPr/>
          <p:nvPr/>
        </p:nvSpPr>
        <p:spPr>
          <a:xfrm>
            <a:off x="5637213" y="5616575"/>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a,e</a:t>
            </a:r>
            <a:endParaRPr lang="en-US" altLang="zh-CN" sz="2000" b="0">
              <a:solidFill>
                <a:schemeClr val="tx1"/>
              </a:solidFill>
              <a:ea typeface="宋体" panose="02010600030101010101" pitchFamily="2" charset="-122"/>
            </a:endParaRPr>
          </a:p>
        </p:txBody>
      </p:sp>
      <p:sp>
        <p:nvSpPr>
          <p:cNvPr id="46084" name="Oval 5"/>
          <p:cNvSpPr/>
          <p:nvPr/>
        </p:nvSpPr>
        <p:spPr>
          <a:xfrm>
            <a:off x="7353300" y="5616575"/>
            <a:ext cx="784225" cy="6921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b,e</a:t>
            </a:r>
            <a:endParaRPr lang="en-US" altLang="zh-CN" sz="2000" b="0">
              <a:solidFill>
                <a:schemeClr val="tx1"/>
              </a:solidFill>
              <a:ea typeface="宋体" panose="02010600030101010101" pitchFamily="2" charset="-122"/>
            </a:endParaRPr>
          </a:p>
        </p:txBody>
      </p:sp>
      <p:sp>
        <p:nvSpPr>
          <p:cNvPr id="46085" name="Oval 6"/>
          <p:cNvSpPr/>
          <p:nvPr/>
        </p:nvSpPr>
        <p:spPr>
          <a:xfrm>
            <a:off x="6505575" y="5616575"/>
            <a:ext cx="784225" cy="6921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a:t>
            </a:r>
            <a:endParaRPr lang="en-US" altLang="zh-CN" sz="2000" b="0">
              <a:solidFill>
                <a:schemeClr val="tx1"/>
              </a:solidFill>
              <a:ea typeface="宋体" panose="02010600030101010101" pitchFamily="2" charset="-122"/>
            </a:endParaRPr>
          </a:p>
        </p:txBody>
      </p:sp>
      <p:sp>
        <p:nvSpPr>
          <p:cNvPr id="46086" name="Oval 7"/>
          <p:cNvSpPr/>
          <p:nvPr/>
        </p:nvSpPr>
        <p:spPr>
          <a:xfrm>
            <a:off x="3981450" y="5616575"/>
            <a:ext cx="760413" cy="6921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a:t>
            </a:r>
            <a:endParaRPr lang="en-US" altLang="zh-CN" sz="2000" b="0">
              <a:solidFill>
                <a:schemeClr val="tx1"/>
              </a:solidFill>
              <a:ea typeface="宋体" panose="02010600030101010101" pitchFamily="2" charset="-122"/>
            </a:endParaRPr>
          </a:p>
        </p:txBody>
      </p:sp>
      <p:sp>
        <p:nvSpPr>
          <p:cNvPr id="46087" name="Oval 8"/>
          <p:cNvSpPr/>
          <p:nvPr/>
        </p:nvSpPr>
        <p:spPr>
          <a:xfrm>
            <a:off x="8226425" y="5611813"/>
            <a:ext cx="784225" cy="69215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c,e</a:t>
            </a:r>
            <a:endParaRPr lang="en-US" altLang="zh-CN" sz="2000" b="0">
              <a:solidFill>
                <a:schemeClr val="tx1"/>
              </a:solidFill>
              <a:ea typeface="宋体" panose="02010600030101010101" pitchFamily="2" charset="-122"/>
            </a:endParaRPr>
          </a:p>
        </p:txBody>
      </p:sp>
      <p:sp>
        <p:nvSpPr>
          <p:cNvPr id="46088" name="Oval 9"/>
          <p:cNvSpPr/>
          <p:nvPr/>
        </p:nvSpPr>
        <p:spPr>
          <a:xfrm>
            <a:off x="7216775" y="4468813"/>
            <a:ext cx="727075" cy="72231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b,c,e</a:t>
            </a:r>
            <a:endParaRPr lang="en-US" altLang="zh-CN" sz="2000" b="0">
              <a:solidFill>
                <a:schemeClr val="tx1"/>
              </a:solidFill>
              <a:ea typeface="宋体" panose="02010600030101010101" pitchFamily="2" charset="-122"/>
            </a:endParaRPr>
          </a:p>
        </p:txBody>
      </p:sp>
      <p:sp>
        <p:nvSpPr>
          <p:cNvPr id="46089" name="Oval 10"/>
          <p:cNvSpPr/>
          <p:nvPr/>
        </p:nvSpPr>
        <p:spPr>
          <a:xfrm>
            <a:off x="5600700" y="4508500"/>
            <a:ext cx="747713"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a,b,e</a:t>
            </a:r>
            <a:endParaRPr lang="en-US" altLang="zh-CN" sz="2000" b="0">
              <a:solidFill>
                <a:schemeClr val="tx1"/>
              </a:solidFill>
              <a:ea typeface="宋体" panose="02010600030101010101" pitchFamily="2" charset="-122"/>
            </a:endParaRPr>
          </a:p>
        </p:txBody>
      </p:sp>
      <p:sp>
        <p:nvSpPr>
          <p:cNvPr id="46090" name="Oval 11"/>
          <p:cNvSpPr/>
          <p:nvPr/>
        </p:nvSpPr>
        <p:spPr>
          <a:xfrm>
            <a:off x="6415088" y="4508500"/>
            <a:ext cx="749300" cy="722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a,c,e</a:t>
            </a:r>
            <a:endParaRPr lang="en-US" altLang="zh-CN" sz="2000" b="0">
              <a:solidFill>
                <a:schemeClr val="tx1"/>
              </a:solidFill>
              <a:ea typeface="宋体" panose="02010600030101010101" pitchFamily="2" charset="-122"/>
            </a:endParaRPr>
          </a:p>
        </p:txBody>
      </p:sp>
      <p:sp>
        <p:nvSpPr>
          <p:cNvPr id="46091" name="Oval 12"/>
          <p:cNvSpPr/>
          <p:nvPr/>
        </p:nvSpPr>
        <p:spPr>
          <a:xfrm>
            <a:off x="4819650" y="4508500"/>
            <a:ext cx="727075" cy="72231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a:t>
            </a:r>
            <a:endParaRPr lang="en-US" altLang="zh-CN" sz="2000" b="0">
              <a:solidFill>
                <a:schemeClr val="tx1"/>
              </a:solidFill>
              <a:ea typeface="宋体" panose="02010600030101010101" pitchFamily="2" charset="-122"/>
            </a:endParaRPr>
          </a:p>
        </p:txBody>
      </p:sp>
      <p:sp>
        <p:nvSpPr>
          <p:cNvPr id="46092" name="Oval 13"/>
          <p:cNvSpPr/>
          <p:nvPr/>
        </p:nvSpPr>
        <p:spPr>
          <a:xfrm>
            <a:off x="5962650" y="3402013"/>
            <a:ext cx="838200" cy="838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a,b,c,e</a:t>
            </a:r>
            <a:endParaRPr lang="en-US" altLang="zh-CN" sz="2000" b="0">
              <a:solidFill>
                <a:schemeClr val="tx1"/>
              </a:solidFill>
              <a:ea typeface="宋体" panose="02010600030101010101" pitchFamily="2" charset="-122"/>
            </a:endParaRPr>
          </a:p>
        </p:txBody>
      </p:sp>
      <p:sp>
        <p:nvSpPr>
          <p:cNvPr id="46093" name="Line 14"/>
          <p:cNvSpPr/>
          <p:nvPr/>
        </p:nvSpPr>
        <p:spPr>
          <a:xfrm flipV="1">
            <a:off x="4438650" y="5154613"/>
            <a:ext cx="533400" cy="457200"/>
          </a:xfrm>
          <a:prstGeom prst="line">
            <a:avLst/>
          </a:prstGeom>
          <a:ln w="19050" cap="flat" cmpd="sng">
            <a:solidFill>
              <a:schemeClr val="tx1"/>
            </a:solidFill>
            <a:prstDash val="solid"/>
            <a:headEnd type="none" w="sm" len="sm"/>
            <a:tailEnd type="triangle" w="med" len="med"/>
          </a:ln>
        </p:spPr>
      </p:sp>
      <p:sp>
        <p:nvSpPr>
          <p:cNvPr id="46094" name="Line 15"/>
          <p:cNvSpPr/>
          <p:nvPr/>
        </p:nvSpPr>
        <p:spPr>
          <a:xfrm flipV="1">
            <a:off x="4438650" y="5230813"/>
            <a:ext cx="1371600" cy="381000"/>
          </a:xfrm>
          <a:prstGeom prst="line">
            <a:avLst/>
          </a:prstGeom>
          <a:ln w="19050" cap="flat" cmpd="sng">
            <a:solidFill>
              <a:schemeClr val="tx1"/>
            </a:solidFill>
            <a:prstDash val="solid"/>
            <a:headEnd type="none" w="sm" len="sm"/>
            <a:tailEnd type="triangle" w="med" len="med"/>
          </a:ln>
        </p:spPr>
      </p:sp>
      <p:sp>
        <p:nvSpPr>
          <p:cNvPr id="46095" name="Line 16"/>
          <p:cNvSpPr/>
          <p:nvPr/>
        </p:nvSpPr>
        <p:spPr>
          <a:xfrm flipV="1">
            <a:off x="5124450" y="5230813"/>
            <a:ext cx="1588" cy="381000"/>
          </a:xfrm>
          <a:prstGeom prst="line">
            <a:avLst/>
          </a:prstGeom>
          <a:ln w="19050" cap="flat" cmpd="sng">
            <a:solidFill>
              <a:schemeClr val="tx1"/>
            </a:solidFill>
            <a:prstDash val="solid"/>
            <a:headEnd type="none" w="sm" len="sm"/>
            <a:tailEnd type="triangle" w="med" len="med"/>
          </a:ln>
        </p:spPr>
      </p:sp>
      <p:sp>
        <p:nvSpPr>
          <p:cNvPr id="46096" name="Line 17"/>
          <p:cNvSpPr/>
          <p:nvPr/>
        </p:nvSpPr>
        <p:spPr>
          <a:xfrm flipV="1">
            <a:off x="5200650" y="5230813"/>
            <a:ext cx="1371600" cy="381000"/>
          </a:xfrm>
          <a:prstGeom prst="line">
            <a:avLst/>
          </a:prstGeom>
          <a:ln w="19050" cap="flat" cmpd="sng">
            <a:solidFill>
              <a:schemeClr val="tx1"/>
            </a:solidFill>
            <a:prstDash val="solid"/>
            <a:headEnd type="none" w="sm" len="sm"/>
            <a:tailEnd type="triangle" w="med" len="med"/>
          </a:ln>
        </p:spPr>
      </p:sp>
      <p:sp>
        <p:nvSpPr>
          <p:cNvPr id="46097" name="Line 18"/>
          <p:cNvSpPr/>
          <p:nvPr/>
        </p:nvSpPr>
        <p:spPr>
          <a:xfrm flipH="1" flipV="1">
            <a:off x="5962650" y="5230813"/>
            <a:ext cx="76200" cy="381000"/>
          </a:xfrm>
          <a:prstGeom prst="line">
            <a:avLst/>
          </a:prstGeom>
          <a:ln w="19050" cap="flat" cmpd="sng">
            <a:solidFill>
              <a:schemeClr val="tx1"/>
            </a:solidFill>
            <a:prstDash val="solid"/>
            <a:headEnd type="none" w="sm" len="sm"/>
            <a:tailEnd type="triangle" w="med" len="med"/>
          </a:ln>
        </p:spPr>
      </p:sp>
      <p:sp>
        <p:nvSpPr>
          <p:cNvPr id="46098" name="Line 19"/>
          <p:cNvSpPr/>
          <p:nvPr/>
        </p:nvSpPr>
        <p:spPr>
          <a:xfrm flipV="1">
            <a:off x="6038850" y="5230813"/>
            <a:ext cx="609600" cy="381000"/>
          </a:xfrm>
          <a:prstGeom prst="line">
            <a:avLst/>
          </a:prstGeom>
          <a:ln w="19050" cap="flat" cmpd="sng">
            <a:solidFill>
              <a:schemeClr val="tx1"/>
            </a:solidFill>
            <a:prstDash val="solid"/>
            <a:headEnd type="none" w="sm" len="sm"/>
            <a:tailEnd type="triangle" w="med" len="med"/>
          </a:ln>
        </p:spPr>
      </p:sp>
      <p:sp>
        <p:nvSpPr>
          <p:cNvPr id="46099" name="Line 20"/>
          <p:cNvSpPr/>
          <p:nvPr/>
        </p:nvSpPr>
        <p:spPr>
          <a:xfrm flipH="1" flipV="1">
            <a:off x="5353050" y="5230813"/>
            <a:ext cx="1600200" cy="381000"/>
          </a:xfrm>
          <a:prstGeom prst="line">
            <a:avLst/>
          </a:prstGeom>
          <a:ln w="19050" cap="flat" cmpd="sng">
            <a:solidFill>
              <a:schemeClr val="tx1"/>
            </a:solidFill>
            <a:prstDash val="solid"/>
            <a:headEnd type="none" w="sm" len="sm"/>
            <a:tailEnd type="triangle" w="med" len="med"/>
          </a:ln>
        </p:spPr>
      </p:sp>
      <p:sp>
        <p:nvSpPr>
          <p:cNvPr id="46100" name="Line 21"/>
          <p:cNvSpPr/>
          <p:nvPr/>
        </p:nvSpPr>
        <p:spPr>
          <a:xfrm flipH="1" flipV="1">
            <a:off x="6115050" y="5230813"/>
            <a:ext cx="1447800" cy="381000"/>
          </a:xfrm>
          <a:prstGeom prst="line">
            <a:avLst/>
          </a:prstGeom>
          <a:ln w="19050" cap="flat" cmpd="sng">
            <a:solidFill>
              <a:schemeClr val="tx1"/>
            </a:solidFill>
            <a:prstDash val="solid"/>
            <a:headEnd type="none" w="sm" len="sm"/>
            <a:tailEnd type="triangle" w="med" len="med"/>
          </a:ln>
        </p:spPr>
      </p:sp>
      <p:sp>
        <p:nvSpPr>
          <p:cNvPr id="46101" name="Line 22"/>
          <p:cNvSpPr/>
          <p:nvPr/>
        </p:nvSpPr>
        <p:spPr>
          <a:xfrm flipV="1">
            <a:off x="6115050" y="4240213"/>
            <a:ext cx="76200" cy="228600"/>
          </a:xfrm>
          <a:prstGeom prst="line">
            <a:avLst/>
          </a:prstGeom>
          <a:ln w="19050" cap="flat" cmpd="sng">
            <a:solidFill>
              <a:schemeClr val="tx1"/>
            </a:solidFill>
            <a:prstDash val="solid"/>
            <a:headEnd type="none" w="sm" len="sm"/>
            <a:tailEnd type="triangle" w="med" len="med"/>
          </a:ln>
        </p:spPr>
      </p:sp>
      <p:sp>
        <p:nvSpPr>
          <p:cNvPr id="46102" name="Line 23"/>
          <p:cNvSpPr/>
          <p:nvPr/>
        </p:nvSpPr>
        <p:spPr>
          <a:xfrm flipV="1">
            <a:off x="5353050" y="4087813"/>
            <a:ext cx="685800" cy="457200"/>
          </a:xfrm>
          <a:prstGeom prst="line">
            <a:avLst/>
          </a:prstGeom>
          <a:ln w="19050" cap="flat" cmpd="sng">
            <a:solidFill>
              <a:schemeClr val="tx1"/>
            </a:solidFill>
            <a:prstDash val="solid"/>
            <a:headEnd type="none" w="sm" len="sm"/>
            <a:tailEnd type="triangle" w="med" len="med"/>
          </a:ln>
        </p:spPr>
      </p:sp>
      <p:sp>
        <p:nvSpPr>
          <p:cNvPr id="46103" name="Line 24"/>
          <p:cNvSpPr/>
          <p:nvPr/>
        </p:nvSpPr>
        <p:spPr>
          <a:xfrm flipH="1" flipV="1">
            <a:off x="6648450" y="4164013"/>
            <a:ext cx="76200" cy="304800"/>
          </a:xfrm>
          <a:prstGeom prst="line">
            <a:avLst/>
          </a:prstGeom>
          <a:ln w="19050" cap="flat" cmpd="sng">
            <a:solidFill>
              <a:schemeClr val="tx1"/>
            </a:solidFill>
            <a:prstDash val="solid"/>
            <a:headEnd type="none" w="sm" len="sm"/>
            <a:tailEnd type="triangle" w="med" len="med"/>
          </a:ln>
        </p:spPr>
      </p:sp>
      <p:sp>
        <p:nvSpPr>
          <p:cNvPr id="46104" name="Line 25"/>
          <p:cNvSpPr/>
          <p:nvPr/>
        </p:nvSpPr>
        <p:spPr>
          <a:xfrm flipH="1" flipV="1">
            <a:off x="6800850" y="4087813"/>
            <a:ext cx="609600" cy="381000"/>
          </a:xfrm>
          <a:prstGeom prst="line">
            <a:avLst/>
          </a:prstGeom>
          <a:ln w="19050" cap="flat" cmpd="sng">
            <a:solidFill>
              <a:schemeClr val="tx1"/>
            </a:solidFill>
            <a:prstDash val="solid"/>
            <a:headEnd type="none" w="sm" len="sm"/>
            <a:tailEnd type="triangle" w="med" len="med"/>
          </a:ln>
        </p:spPr>
      </p:sp>
      <p:sp>
        <p:nvSpPr>
          <p:cNvPr id="46105" name="Rectangle 26"/>
          <p:cNvSpPr>
            <a:spLocks noGrp="1"/>
          </p:cNvSpPr>
          <p:nvPr>
            <p:ph idx="1"/>
          </p:nvPr>
        </p:nvSpPr>
        <p:spPr>
          <a:xfrm>
            <a:off x="179388" y="1528763"/>
            <a:ext cx="8470900" cy="1824037"/>
          </a:xfrm>
          <a:ln/>
        </p:spPr>
        <p:txBody>
          <a:bodyPr vert="horz" wrap="square" lIns="91440" tIns="45720" rIns="91440" bIns="45720" anchor="t" anchorCtr="0"/>
          <a:p>
            <a:pPr>
              <a:lnSpc>
                <a:spcPct val="120000"/>
              </a:lnSpc>
            </a:pPr>
            <a:r>
              <a:rPr lang="en-US" altLang="zh-CN" sz="2400">
                <a:ea typeface="宋体" panose="02010600030101010101" pitchFamily="2" charset="-122"/>
              </a:rPr>
              <a:t>Suppose all frequent (k-1) items are in </a:t>
            </a:r>
            <a:r>
              <a:rPr lang="en-US" altLang="zh-CN" sz="2400" i="1">
                <a:ea typeface="宋体" panose="02010600030101010101" pitchFamily="2" charset="-122"/>
              </a:rPr>
              <a:t>L</a:t>
            </a:r>
            <a:r>
              <a:rPr lang="en-US" altLang="zh-CN" sz="2400" i="1" baseline="-25000">
                <a:ea typeface="宋体" panose="02010600030101010101" pitchFamily="2" charset="-122"/>
              </a:rPr>
              <a:t>k-1</a:t>
            </a:r>
            <a:r>
              <a:rPr lang="en-US" altLang="zh-CN" sz="2400">
                <a:ea typeface="宋体" panose="02010600030101010101" pitchFamily="2" charset="-122"/>
              </a:rPr>
              <a:t> </a:t>
            </a:r>
            <a:endParaRPr lang="en-US" altLang="zh-CN" sz="2400">
              <a:ea typeface="宋体" panose="02010600030101010101" pitchFamily="2" charset="-122"/>
            </a:endParaRPr>
          </a:p>
          <a:p>
            <a:pPr>
              <a:lnSpc>
                <a:spcPct val="120000"/>
              </a:lnSpc>
            </a:pPr>
            <a:r>
              <a:rPr lang="en-US" altLang="zh-CN" sz="2400">
                <a:solidFill>
                  <a:srgbClr val="FF6600"/>
                </a:solidFill>
                <a:ea typeface="宋体" panose="02010600030101010101" pitchFamily="2" charset="-122"/>
              </a:rPr>
              <a:t>Step 1: Self-joining </a:t>
            </a:r>
            <a:r>
              <a:rPr lang="en-US" altLang="zh-CN" sz="2400" i="1">
                <a:solidFill>
                  <a:srgbClr val="FF6600"/>
                </a:solidFill>
                <a:ea typeface="宋体" panose="02010600030101010101" pitchFamily="2" charset="-122"/>
              </a:rPr>
              <a:t>L</a:t>
            </a:r>
            <a:r>
              <a:rPr lang="en-US" altLang="zh-CN" sz="2400" i="1" baseline="-25000">
                <a:solidFill>
                  <a:srgbClr val="FF6600"/>
                </a:solidFill>
                <a:ea typeface="宋体" panose="02010600030101010101" pitchFamily="2" charset="-122"/>
              </a:rPr>
              <a:t>k-1</a:t>
            </a:r>
            <a:r>
              <a:rPr lang="en-US" altLang="zh-CN" sz="2400">
                <a:solidFill>
                  <a:srgbClr val="FF6600"/>
                </a:solidFill>
                <a:ea typeface="宋体" panose="02010600030101010101" pitchFamily="2" charset="-122"/>
              </a:rPr>
              <a:t> </a:t>
            </a:r>
            <a:endParaRPr lang="en-US" altLang="zh-CN" sz="2400">
              <a:solidFill>
                <a:srgbClr val="FF6600"/>
              </a:solidFill>
              <a:ea typeface="宋体" panose="02010600030101010101" pitchFamily="2" charset="-122"/>
            </a:endParaRPr>
          </a:p>
          <a:p>
            <a:pPr lvl="1">
              <a:spcBef>
                <a:spcPct val="0"/>
              </a:spcBef>
              <a:buNone/>
            </a:pPr>
            <a:r>
              <a:rPr lang="en-US" altLang="zh-CN" sz="1800">
                <a:solidFill>
                  <a:srgbClr val="FF6600"/>
                </a:solidFill>
                <a:ea typeface="宋体" panose="02010600030101010101" pitchFamily="2" charset="-122"/>
              </a:rPr>
              <a:t>insert into</a:t>
            </a:r>
            <a:r>
              <a:rPr lang="en-US" altLang="zh-CN" sz="1800" b="0">
                <a:solidFill>
                  <a:srgbClr val="FF6600"/>
                </a:solidFill>
                <a:ea typeface="宋体" panose="02010600030101010101" pitchFamily="2" charset="-122"/>
              </a:rPr>
              <a:t> </a:t>
            </a:r>
            <a:r>
              <a:rPr lang="en-US" altLang="zh-CN" sz="1800" b="0" i="1">
                <a:solidFill>
                  <a:srgbClr val="FF6600"/>
                </a:solidFill>
                <a:ea typeface="宋体" panose="02010600030101010101" pitchFamily="2" charset="-122"/>
              </a:rPr>
              <a:t>C</a:t>
            </a:r>
            <a:r>
              <a:rPr lang="en-US" altLang="zh-CN" sz="1800" b="0" i="1" baseline="-25000">
                <a:solidFill>
                  <a:srgbClr val="FF6600"/>
                </a:solidFill>
                <a:ea typeface="宋体" panose="02010600030101010101" pitchFamily="2" charset="-122"/>
              </a:rPr>
              <a:t>k</a:t>
            </a:r>
            <a:endParaRPr lang="en-US" altLang="zh-CN" sz="1800" b="0" i="1" baseline="-25000">
              <a:solidFill>
                <a:srgbClr val="FF6600"/>
              </a:solidFill>
              <a:ea typeface="宋体" panose="02010600030101010101" pitchFamily="2" charset="-122"/>
            </a:endParaRPr>
          </a:p>
          <a:p>
            <a:pPr lvl="1">
              <a:spcBef>
                <a:spcPct val="0"/>
              </a:spcBef>
              <a:buNone/>
            </a:pPr>
            <a:r>
              <a:rPr lang="en-US" altLang="zh-CN" sz="1800">
                <a:solidFill>
                  <a:srgbClr val="FF6600"/>
                </a:solidFill>
                <a:ea typeface="宋体" panose="02010600030101010101" pitchFamily="2" charset="-122"/>
              </a:rPr>
              <a:t>select </a:t>
            </a:r>
            <a:r>
              <a:rPr lang="en-US" altLang="zh-CN" sz="1800" b="0" i="1">
                <a:solidFill>
                  <a:srgbClr val="FF6600"/>
                </a:solidFill>
                <a:ea typeface="宋体" panose="02010600030101010101" pitchFamily="2" charset="-122"/>
              </a:rPr>
              <a:t>p.i</a:t>
            </a:r>
            <a:r>
              <a:rPr lang="en-US" altLang="zh-CN" sz="1800" b="0" i="1" baseline="-25000">
                <a:solidFill>
                  <a:srgbClr val="FF6600"/>
                </a:solidFill>
                <a:ea typeface="宋体" panose="02010600030101010101" pitchFamily="2" charset="-122"/>
              </a:rPr>
              <a:t>1</a:t>
            </a:r>
            <a:r>
              <a:rPr lang="en-US" altLang="zh-CN" sz="1800" b="0" i="1">
                <a:solidFill>
                  <a:srgbClr val="FF6600"/>
                </a:solidFill>
                <a:ea typeface="宋体" panose="02010600030101010101" pitchFamily="2" charset="-122"/>
              </a:rPr>
              <a:t>, p.i</a:t>
            </a:r>
            <a:r>
              <a:rPr lang="en-US" altLang="zh-CN" sz="1800" b="0" i="1" baseline="-25000">
                <a:solidFill>
                  <a:srgbClr val="FF6600"/>
                </a:solidFill>
                <a:ea typeface="宋体" panose="02010600030101010101" pitchFamily="2" charset="-122"/>
              </a:rPr>
              <a:t>2</a:t>
            </a:r>
            <a:r>
              <a:rPr lang="en-US" altLang="zh-CN" sz="1800" b="0" i="1">
                <a:solidFill>
                  <a:srgbClr val="FF6600"/>
                </a:solidFill>
                <a:ea typeface="宋体" panose="02010600030101010101" pitchFamily="2" charset="-122"/>
              </a:rPr>
              <a:t>, </a:t>
            </a:r>
            <a:r>
              <a:rPr lang="en-US" altLang="zh-CN" sz="1800" b="0" i="1">
                <a:solidFill>
                  <a:srgbClr val="FF6600"/>
                </a:solidFill>
                <a:latin typeface="Tahoma" panose="020B0604030504040204" pitchFamily="34" charset="0"/>
                <a:ea typeface="宋体" panose="02010600030101010101" pitchFamily="2" charset="-122"/>
              </a:rPr>
              <a:t>…</a:t>
            </a:r>
            <a:r>
              <a:rPr lang="en-US" altLang="zh-CN" sz="1800" b="0" i="1">
                <a:solidFill>
                  <a:srgbClr val="FF6600"/>
                </a:solidFill>
                <a:ea typeface="宋体" panose="02010600030101010101" pitchFamily="2" charset="-122"/>
              </a:rPr>
              <a:t>, p.i</a:t>
            </a:r>
            <a:r>
              <a:rPr lang="en-US" altLang="zh-CN" sz="1800" b="0" i="1" baseline="-25000">
                <a:solidFill>
                  <a:srgbClr val="FF6600"/>
                </a:solidFill>
                <a:ea typeface="宋体" panose="02010600030101010101" pitchFamily="2" charset="-122"/>
              </a:rPr>
              <a:t>k-1</a:t>
            </a:r>
            <a:r>
              <a:rPr lang="en-US" altLang="zh-CN" sz="1800" b="0" i="1">
                <a:solidFill>
                  <a:srgbClr val="FF6600"/>
                </a:solidFill>
                <a:ea typeface="宋体" panose="02010600030101010101" pitchFamily="2" charset="-122"/>
              </a:rPr>
              <a:t>, q.i</a:t>
            </a:r>
            <a:r>
              <a:rPr lang="en-US" altLang="zh-CN" sz="1800" b="0" i="1" baseline="-25000">
                <a:solidFill>
                  <a:srgbClr val="FF6600"/>
                </a:solidFill>
                <a:ea typeface="宋体" panose="02010600030101010101" pitchFamily="2" charset="-122"/>
              </a:rPr>
              <a:t>k-1</a:t>
            </a:r>
            <a:endParaRPr lang="en-US" altLang="zh-CN" sz="1800" b="0">
              <a:solidFill>
                <a:srgbClr val="FF6600"/>
              </a:solidFill>
              <a:ea typeface="宋体" panose="02010600030101010101" pitchFamily="2" charset="-122"/>
            </a:endParaRPr>
          </a:p>
          <a:p>
            <a:pPr lvl="1">
              <a:spcBef>
                <a:spcPct val="0"/>
              </a:spcBef>
              <a:buNone/>
            </a:pPr>
            <a:r>
              <a:rPr lang="en-US" altLang="zh-CN" sz="1800">
                <a:solidFill>
                  <a:srgbClr val="FF6600"/>
                </a:solidFill>
                <a:ea typeface="宋体" panose="02010600030101010101" pitchFamily="2" charset="-122"/>
              </a:rPr>
              <a:t>from </a:t>
            </a:r>
            <a:r>
              <a:rPr lang="en-US" altLang="zh-CN" sz="1800" b="0" i="1">
                <a:solidFill>
                  <a:srgbClr val="FF6600"/>
                </a:solidFill>
                <a:ea typeface="宋体" panose="02010600030101010101" pitchFamily="2" charset="-122"/>
              </a:rPr>
              <a:t>L</a:t>
            </a:r>
            <a:r>
              <a:rPr lang="en-US" altLang="zh-CN" sz="1800" b="0" i="1" baseline="-25000">
                <a:solidFill>
                  <a:srgbClr val="FF6600"/>
                </a:solidFill>
                <a:ea typeface="宋体" panose="02010600030101010101" pitchFamily="2" charset="-122"/>
              </a:rPr>
              <a:t>k-1</a:t>
            </a:r>
            <a:r>
              <a:rPr lang="en-US" altLang="zh-CN" sz="1800" b="0" i="1">
                <a:solidFill>
                  <a:srgbClr val="FF6600"/>
                </a:solidFill>
                <a:ea typeface="宋体" panose="02010600030101010101" pitchFamily="2" charset="-122"/>
              </a:rPr>
              <a:t> p,  L</a:t>
            </a:r>
            <a:r>
              <a:rPr lang="en-US" altLang="zh-CN" sz="1800" b="0" i="1" baseline="-25000">
                <a:solidFill>
                  <a:srgbClr val="FF6600"/>
                </a:solidFill>
                <a:ea typeface="宋体" panose="02010600030101010101" pitchFamily="2" charset="-122"/>
              </a:rPr>
              <a:t>k-1 </a:t>
            </a:r>
            <a:r>
              <a:rPr lang="en-US" altLang="zh-CN" sz="1800" b="0" i="1">
                <a:solidFill>
                  <a:srgbClr val="FF6600"/>
                </a:solidFill>
                <a:ea typeface="宋体" panose="02010600030101010101" pitchFamily="2" charset="-122"/>
              </a:rPr>
              <a:t>q</a:t>
            </a:r>
            <a:endParaRPr lang="en-US" altLang="zh-CN" sz="1800" b="0" i="1">
              <a:solidFill>
                <a:srgbClr val="FF6600"/>
              </a:solidFill>
              <a:ea typeface="宋体" panose="02010600030101010101" pitchFamily="2" charset="-122"/>
            </a:endParaRPr>
          </a:p>
          <a:p>
            <a:pPr lvl="1">
              <a:spcBef>
                <a:spcPct val="0"/>
              </a:spcBef>
              <a:buNone/>
            </a:pPr>
            <a:r>
              <a:rPr lang="en-US" altLang="zh-CN" sz="1800">
                <a:solidFill>
                  <a:srgbClr val="FF6600"/>
                </a:solidFill>
                <a:ea typeface="宋体" panose="02010600030101010101" pitchFamily="2" charset="-122"/>
              </a:rPr>
              <a:t>where </a:t>
            </a:r>
            <a:r>
              <a:rPr lang="en-US" altLang="zh-CN" sz="1800" b="0" i="1">
                <a:ea typeface="宋体" panose="02010600030101010101" pitchFamily="2" charset="-122"/>
              </a:rPr>
              <a:t>p.i</a:t>
            </a:r>
            <a:r>
              <a:rPr lang="en-US" altLang="zh-CN" sz="1800" b="0" i="1" baseline="-25000">
                <a:ea typeface="宋体" panose="02010600030101010101" pitchFamily="2" charset="-122"/>
              </a:rPr>
              <a:t>1</a:t>
            </a:r>
            <a:r>
              <a:rPr lang="en-US" altLang="zh-CN" sz="1800" b="0" i="1">
                <a:ea typeface="宋体" panose="02010600030101010101" pitchFamily="2" charset="-122"/>
              </a:rPr>
              <a:t>=q.i</a:t>
            </a:r>
            <a:r>
              <a:rPr lang="en-US" altLang="zh-CN" sz="1800" b="0" i="1" baseline="-25000">
                <a:ea typeface="宋体" panose="02010600030101010101" pitchFamily="2" charset="-122"/>
              </a:rPr>
              <a:t>1</a:t>
            </a:r>
            <a:r>
              <a:rPr lang="en-US" altLang="zh-CN" sz="1800" b="0" i="1" baseline="-25000">
                <a:solidFill>
                  <a:srgbClr val="FF6600"/>
                </a:solidFill>
                <a:ea typeface="宋体" panose="02010600030101010101" pitchFamily="2" charset="-122"/>
              </a:rPr>
              <a:t>     </a:t>
            </a:r>
            <a:r>
              <a:rPr lang="en-US" altLang="zh-CN" sz="1800" b="0" i="1">
                <a:solidFill>
                  <a:srgbClr val="FF6600"/>
                </a:solidFill>
                <a:ea typeface="宋体" panose="02010600030101010101" pitchFamily="2" charset="-122"/>
              </a:rPr>
              <a:t>, </a:t>
            </a:r>
            <a:r>
              <a:rPr lang="en-US" altLang="zh-CN" sz="1800" b="0" i="1">
                <a:solidFill>
                  <a:srgbClr val="FF6600"/>
                </a:solidFill>
                <a:latin typeface="Tahoma" panose="020B0604030504040204" pitchFamily="34" charset="0"/>
                <a:ea typeface="宋体" panose="02010600030101010101" pitchFamily="2" charset="-122"/>
              </a:rPr>
              <a:t>…</a:t>
            </a:r>
            <a:r>
              <a:rPr lang="en-US" altLang="zh-CN" sz="1800" b="0" i="1">
                <a:solidFill>
                  <a:srgbClr val="FF6600"/>
                </a:solidFill>
                <a:ea typeface="宋体" panose="02010600030101010101" pitchFamily="2" charset="-122"/>
              </a:rPr>
              <a:t>   ,    </a:t>
            </a:r>
            <a:r>
              <a:rPr lang="en-US" altLang="zh-CN" sz="1800" b="0" i="1">
                <a:ea typeface="宋体" panose="02010600030101010101" pitchFamily="2" charset="-122"/>
              </a:rPr>
              <a:t>p.i</a:t>
            </a:r>
            <a:r>
              <a:rPr lang="en-US" altLang="zh-CN" sz="1800" b="0" i="1" baseline="-25000">
                <a:ea typeface="宋体" panose="02010600030101010101" pitchFamily="2" charset="-122"/>
              </a:rPr>
              <a:t>k-2</a:t>
            </a:r>
            <a:r>
              <a:rPr lang="en-US" altLang="zh-CN" sz="1800" b="0" i="1">
                <a:ea typeface="宋体" panose="02010600030101010101" pitchFamily="2" charset="-122"/>
              </a:rPr>
              <a:t>=q.i</a:t>
            </a:r>
            <a:r>
              <a:rPr lang="en-US" altLang="zh-CN" sz="1800" b="0" i="1" baseline="-25000">
                <a:ea typeface="宋体" panose="02010600030101010101" pitchFamily="2" charset="-122"/>
              </a:rPr>
              <a:t>k-2    </a:t>
            </a:r>
            <a:r>
              <a:rPr lang="en-US" altLang="zh-CN" sz="1800" b="0" i="1">
                <a:solidFill>
                  <a:srgbClr val="FF6600"/>
                </a:solidFill>
                <a:ea typeface="宋体" panose="02010600030101010101" pitchFamily="2" charset="-122"/>
              </a:rPr>
              <a:t>,    </a:t>
            </a:r>
            <a:r>
              <a:rPr lang="en-US" altLang="zh-CN" sz="1800" b="0" i="1">
                <a:ea typeface="宋体" panose="02010600030101010101" pitchFamily="2" charset="-122"/>
              </a:rPr>
              <a:t>p.i</a:t>
            </a:r>
            <a:r>
              <a:rPr lang="en-US" altLang="zh-CN" sz="1800" b="0" i="1" baseline="-25000">
                <a:ea typeface="宋体" panose="02010600030101010101" pitchFamily="2" charset="-122"/>
              </a:rPr>
              <a:t>k-1 </a:t>
            </a:r>
            <a:r>
              <a:rPr lang="en-US" altLang="zh-CN" sz="1800" b="0" i="1">
                <a:ea typeface="宋体" panose="02010600030101010101" pitchFamily="2" charset="-122"/>
              </a:rPr>
              <a:t>&lt; q.i</a:t>
            </a:r>
            <a:r>
              <a:rPr lang="en-US" altLang="zh-CN" sz="1800" b="0" i="1" baseline="-25000">
                <a:ea typeface="宋体" panose="02010600030101010101" pitchFamily="2" charset="-122"/>
              </a:rPr>
              <a:t>k-1</a:t>
            </a:r>
            <a:endParaRPr lang="en-US" altLang="zh-CN" sz="1800" b="0" i="1" baseline="-25000">
              <a:ea typeface="宋体" panose="02010600030101010101" pitchFamily="2" charset="-122"/>
            </a:endParaRPr>
          </a:p>
        </p:txBody>
      </p:sp>
      <p:sp>
        <p:nvSpPr>
          <p:cNvPr id="46106" name="Rectangle 27"/>
          <p:cNvSpPr/>
          <p:nvPr/>
        </p:nvSpPr>
        <p:spPr>
          <a:xfrm>
            <a:off x="0" y="3659188"/>
            <a:ext cx="4297363" cy="18669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10000"/>
              </a:lnSpc>
              <a:buClr>
                <a:schemeClr val="folHlink"/>
              </a:buClr>
              <a:buSzPct val="60000"/>
              <a:buFont typeface="Wingdings" panose="05000000000000000000" pitchFamily="2" charset="2"/>
              <a:buChar char="n"/>
            </a:pPr>
            <a:r>
              <a:rPr lang="en-US" altLang="zh-CN" sz="2400" b="0">
                <a:solidFill>
                  <a:schemeClr val="accent2"/>
                </a:solidFill>
                <a:latin typeface="Tahoma" panose="020B0604030504040204" pitchFamily="34" charset="0"/>
                <a:ea typeface="宋体" panose="02010600030101010101" pitchFamily="2" charset="-122"/>
              </a:rPr>
              <a:t>Step 2: pruning</a:t>
            </a:r>
            <a:endParaRPr lang="en-US" altLang="zh-CN" sz="2400" b="0">
              <a:solidFill>
                <a:schemeClr val="accent2"/>
              </a:solidFill>
              <a:latin typeface="Tahoma" panose="020B0604030504040204" pitchFamily="34" charset="0"/>
              <a:ea typeface="宋体" panose="02010600030101010101" pitchFamily="2" charset="-122"/>
            </a:endParaRPr>
          </a:p>
          <a:p>
            <a:pPr marL="457200" lvl="1" indent="0" eaLnBrk="1" hangingPunct="1">
              <a:lnSpc>
                <a:spcPct val="110000"/>
              </a:lnSpc>
              <a:buClr>
                <a:schemeClr val="hlink"/>
              </a:buClr>
              <a:buSzPct val="55000"/>
              <a:buFont typeface="Wingdings" panose="05000000000000000000" pitchFamily="2" charset="2"/>
              <a:buNone/>
            </a:pPr>
            <a:r>
              <a:rPr lang="en-US" altLang="zh-CN" sz="1800" b="0">
                <a:solidFill>
                  <a:schemeClr val="accent2"/>
                </a:solidFill>
                <a:latin typeface="Tahoma" panose="020B0604030504040204" pitchFamily="34" charset="0"/>
                <a:ea typeface="宋体" panose="02010600030101010101" pitchFamily="2" charset="-122"/>
              </a:rPr>
              <a:t>forall </a:t>
            </a:r>
            <a:r>
              <a:rPr lang="en-US" altLang="zh-CN" sz="1800" i="1">
                <a:solidFill>
                  <a:schemeClr val="accent2"/>
                </a:solidFill>
                <a:latin typeface="Tahoma" panose="020B0604030504040204" pitchFamily="34" charset="0"/>
                <a:ea typeface="宋体" panose="02010600030101010101" pitchFamily="2" charset="-122"/>
              </a:rPr>
              <a:t>itemsets c in C</a:t>
            </a:r>
            <a:r>
              <a:rPr lang="en-US" altLang="zh-CN" sz="1800" i="1" baseline="-25000">
                <a:solidFill>
                  <a:schemeClr val="accent2"/>
                </a:solidFill>
                <a:latin typeface="Tahoma" panose="020B0604030504040204" pitchFamily="34" charset="0"/>
                <a:ea typeface="宋体" panose="02010600030101010101" pitchFamily="2" charset="-122"/>
              </a:rPr>
              <a:t>k</a:t>
            </a:r>
            <a:r>
              <a:rPr lang="en-US" altLang="zh-CN" sz="1800" i="1">
                <a:solidFill>
                  <a:schemeClr val="accent2"/>
                </a:solidFill>
                <a:latin typeface="Tahoma" panose="020B0604030504040204" pitchFamily="34" charset="0"/>
                <a:ea typeface="宋体" panose="02010600030101010101" pitchFamily="2" charset="-122"/>
              </a:rPr>
              <a:t> </a:t>
            </a:r>
            <a:r>
              <a:rPr lang="en-US" altLang="zh-CN" sz="1800" b="0">
                <a:solidFill>
                  <a:schemeClr val="accent2"/>
                </a:solidFill>
                <a:latin typeface="Tahoma" panose="020B0604030504040204" pitchFamily="34" charset="0"/>
                <a:ea typeface="宋体" panose="02010600030101010101" pitchFamily="2" charset="-122"/>
              </a:rPr>
              <a:t>do</a:t>
            </a:r>
            <a:endParaRPr lang="en-US" altLang="zh-CN" sz="1800" b="0">
              <a:solidFill>
                <a:schemeClr val="accent2"/>
              </a:solidFill>
              <a:latin typeface="Tahoma" panose="020B0604030504040204" pitchFamily="34" charset="0"/>
              <a:ea typeface="宋体" panose="02010600030101010101" pitchFamily="2" charset="-122"/>
            </a:endParaRPr>
          </a:p>
          <a:p>
            <a:pPr marL="457200" lvl="1" indent="0" eaLnBrk="1" hangingPunct="1">
              <a:lnSpc>
                <a:spcPct val="110000"/>
              </a:lnSpc>
              <a:buClr>
                <a:schemeClr val="hlink"/>
              </a:buClr>
              <a:buSzPct val="55000"/>
              <a:buFont typeface="Wingdings" panose="05000000000000000000" pitchFamily="2" charset="2"/>
              <a:buNone/>
            </a:pPr>
            <a:r>
              <a:rPr lang="en-US" altLang="zh-CN" sz="1800" b="0">
                <a:solidFill>
                  <a:schemeClr val="accent2"/>
                </a:solidFill>
                <a:latin typeface="Tahoma" panose="020B0604030504040204" pitchFamily="34" charset="0"/>
                <a:ea typeface="宋体" panose="02010600030101010101" pitchFamily="2" charset="-122"/>
              </a:rPr>
              <a:t>	forall </a:t>
            </a:r>
            <a:r>
              <a:rPr lang="en-US" altLang="zh-CN" sz="1800" i="1">
                <a:solidFill>
                  <a:schemeClr val="accent2"/>
                </a:solidFill>
                <a:latin typeface="Tahoma" panose="020B0604030504040204" pitchFamily="34" charset="0"/>
                <a:ea typeface="宋体" panose="02010600030101010101" pitchFamily="2" charset="-122"/>
              </a:rPr>
              <a:t>(k-1)-subsets s of c </a:t>
            </a:r>
            <a:r>
              <a:rPr lang="en-US" altLang="zh-CN" sz="1800" b="0">
                <a:solidFill>
                  <a:schemeClr val="accent2"/>
                </a:solidFill>
                <a:latin typeface="Tahoma" panose="020B0604030504040204" pitchFamily="34" charset="0"/>
                <a:ea typeface="宋体" panose="02010600030101010101" pitchFamily="2" charset="-122"/>
              </a:rPr>
              <a:t>do 	   </a:t>
            </a:r>
            <a:r>
              <a:rPr lang="en-US" altLang="zh-CN" sz="1800">
                <a:solidFill>
                  <a:schemeClr val="accent2"/>
                </a:solidFill>
                <a:latin typeface="Tahoma" panose="020B0604030504040204" pitchFamily="34" charset="0"/>
                <a:ea typeface="宋体" panose="02010600030101010101" pitchFamily="2" charset="-122"/>
              </a:rPr>
              <a:t>if </a:t>
            </a:r>
            <a:r>
              <a:rPr lang="en-US" altLang="zh-CN" sz="1800" b="0" i="1">
                <a:solidFill>
                  <a:schemeClr val="accent2"/>
                </a:solidFill>
                <a:latin typeface="Tahoma" panose="020B0604030504040204" pitchFamily="34" charset="0"/>
                <a:ea typeface="宋体" panose="02010600030101010101" pitchFamily="2" charset="-122"/>
              </a:rPr>
              <a:t>(s is not in L</a:t>
            </a:r>
            <a:r>
              <a:rPr lang="en-US" altLang="zh-CN" sz="1800" b="0" i="1" baseline="-25000">
                <a:solidFill>
                  <a:schemeClr val="accent2"/>
                </a:solidFill>
                <a:latin typeface="Tahoma" panose="020B0604030504040204" pitchFamily="34" charset="0"/>
                <a:ea typeface="宋体" panose="02010600030101010101" pitchFamily="2" charset="-122"/>
              </a:rPr>
              <a:t>k-1</a:t>
            </a:r>
            <a:r>
              <a:rPr lang="en-US" altLang="zh-CN" sz="1800" b="0" i="1">
                <a:solidFill>
                  <a:schemeClr val="accent2"/>
                </a:solidFill>
                <a:latin typeface="Tahoma" panose="020B0604030504040204" pitchFamily="34" charset="0"/>
                <a:ea typeface="宋体" panose="02010600030101010101" pitchFamily="2" charset="-122"/>
              </a:rPr>
              <a:t>) </a:t>
            </a:r>
            <a:r>
              <a:rPr lang="en-US" altLang="zh-CN" sz="1800">
                <a:solidFill>
                  <a:schemeClr val="accent2"/>
                </a:solidFill>
                <a:latin typeface="Tahoma" panose="020B0604030504040204" pitchFamily="34" charset="0"/>
                <a:ea typeface="宋体" panose="02010600030101010101" pitchFamily="2" charset="-122"/>
              </a:rPr>
              <a:t>then</a:t>
            </a:r>
            <a:endParaRPr lang="en-US" altLang="zh-CN" sz="1800">
              <a:solidFill>
                <a:schemeClr val="accent2"/>
              </a:solidFill>
              <a:latin typeface="Tahoma" panose="020B0604030504040204" pitchFamily="34" charset="0"/>
              <a:ea typeface="宋体" panose="02010600030101010101" pitchFamily="2" charset="-122"/>
            </a:endParaRPr>
          </a:p>
          <a:p>
            <a:pPr marL="457200" lvl="1" indent="0" eaLnBrk="1" hangingPunct="1">
              <a:lnSpc>
                <a:spcPct val="110000"/>
              </a:lnSpc>
              <a:buClr>
                <a:schemeClr val="hlink"/>
              </a:buClr>
              <a:buSzPct val="55000"/>
              <a:buFont typeface="Wingdings" panose="05000000000000000000" pitchFamily="2" charset="2"/>
              <a:buNone/>
            </a:pPr>
            <a:r>
              <a:rPr lang="en-US" altLang="zh-CN" sz="1800">
                <a:solidFill>
                  <a:schemeClr val="accent2"/>
                </a:solidFill>
                <a:latin typeface="Tahoma" panose="020B0604030504040204" pitchFamily="34" charset="0"/>
                <a:ea typeface="宋体" panose="02010600030101010101" pitchFamily="2" charset="-122"/>
              </a:rPr>
              <a:t>                delete </a:t>
            </a:r>
            <a:r>
              <a:rPr lang="en-US" altLang="zh-CN" sz="1800" b="0" i="1">
                <a:solidFill>
                  <a:schemeClr val="accent2"/>
                </a:solidFill>
                <a:latin typeface="Tahoma" panose="020B0604030504040204" pitchFamily="34" charset="0"/>
                <a:ea typeface="宋体" panose="02010600030101010101" pitchFamily="2" charset="-122"/>
              </a:rPr>
              <a:t>c</a:t>
            </a:r>
            <a:r>
              <a:rPr lang="en-US" altLang="zh-CN" sz="1800">
                <a:solidFill>
                  <a:schemeClr val="accent2"/>
                </a:solidFill>
                <a:latin typeface="Tahoma" panose="020B0604030504040204" pitchFamily="34" charset="0"/>
                <a:ea typeface="宋体" panose="02010600030101010101" pitchFamily="2" charset="-122"/>
              </a:rPr>
              <a:t> from </a:t>
            </a:r>
            <a:r>
              <a:rPr lang="en-US" altLang="zh-CN" sz="1800" b="0" i="1">
                <a:solidFill>
                  <a:schemeClr val="accent2"/>
                </a:solidFill>
                <a:latin typeface="Tahoma" panose="020B0604030504040204" pitchFamily="34" charset="0"/>
                <a:ea typeface="宋体" panose="02010600030101010101" pitchFamily="2" charset="-122"/>
              </a:rPr>
              <a:t>C</a:t>
            </a:r>
            <a:r>
              <a:rPr lang="en-US" altLang="zh-CN" sz="1800" b="0" i="1" baseline="-25000">
                <a:solidFill>
                  <a:schemeClr val="accent2"/>
                </a:solidFill>
                <a:latin typeface="Tahoma" panose="020B0604030504040204" pitchFamily="34" charset="0"/>
                <a:ea typeface="宋体" panose="02010600030101010101" pitchFamily="2" charset="-122"/>
              </a:rPr>
              <a:t>k</a:t>
            </a:r>
            <a:endParaRPr lang="en-US" altLang="zh-CN" sz="1800" b="0" i="1" baseline="-25000">
              <a:solidFill>
                <a:schemeClr val="accent2"/>
              </a:solidFill>
              <a:latin typeface="Tahoma" panose="020B0604030504040204" pitchFamily="34" charset="0"/>
              <a:ea typeface="宋体" panose="02010600030101010101" pitchFamily="2" charset="-122"/>
            </a:endParaRPr>
          </a:p>
        </p:txBody>
      </p:sp>
      <p:grpSp>
        <p:nvGrpSpPr>
          <p:cNvPr id="2" name="Group 28"/>
          <p:cNvGrpSpPr/>
          <p:nvPr/>
        </p:nvGrpSpPr>
        <p:grpSpPr>
          <a:xfrm>
            <a:off x="4829175" y="4464050"/>
            <a:ext cx="3124200" cy="762000"/>
            <a:chOff x="3042" y="2694"/>
            <a:chExt cx="1968" cy="480"/>
          </a:xfrm>
        </p:grpSpPr>
        <p:sp>
          <p:nvSpPr>
            <p:cNvPr id="46124" name="Oval 29"/>
            <p:cNvSpPr/>
            <p:nvPr/>
          </p:nvSpPr>
          <p:spPr>
            <a:xfrm>
              <a:off x="4552" y="2694"/>
              <a:ext cx="458" cy="455"/>
            </a:xfrm>
            <a:prstGeom prst="ellipse">
              <a:avLst/>
            </a:prstGeom>
            <a:solidFill>
              <a:srgbClr val="FF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b,c,e</a:t>
              </a:r>
              <a:endParaRPr lang="en-US" altLang="zh-CN" sz="2000" b="0">
                <a:solidFill>
                  <a:schemeClr val="tx1"/>
                </a:solidFill>
                <a:ea typeface="宋体" panose="02010600030101010101" pitchFamily="2" charset="-122"/>
              </a:endParaRPr>
            </a:p>
          </p:txBody>
        </p:sp>
        <p:sp>
          <p:nvSpPr>
            <p:cNvPr id="46125" name="Oval 30"/>
            <p:cNvSpPr/>
            <p:nvPr/>
          </p:nvSpPr>
          <p:spPr>
            <a:xfrm>
              <a:off x="3042" y="2719"/>
              <a:ext cx="458" cy="455"/>
            </a:xfrm>
            <a:prstGeom prst="ellipse">
              <a:avLst/>
            </a:prstGeom>
            <a:solidFill>
              <a:srgbClr val="FF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a:t>
              </a:r>
              <a:endParaRPr lang="en-US" altLang="zh-CN" sz="2000" b="0">
                <a:solidFill>
                  <a:schemeClr val="tx1"/>
                </a:solidFill>
                <a:ea typeface="宋体" panose="02010600030101010101" pitchFamily="2" charset="-122"/>
              </a:endParaRPr>
            </a:p>
          </p:txBody>
        </p:sp>
      </p:grpSp>
      <p:grpSp>
        <p:nvGrpSpPr>
          <p:cNvPr id="3" name="Group 31"/>
          <p:cNvGrpSpPr/>
          <p:nvPr/>
        </p:nvGrpSpPr>
        <p:grpSpPr>
          <a:xfrm>
            <a:off x="4433888" y="4503738"/>
            <a:ext cx="2514600" cy="1103312"/>
            <a:chOff x="2802" y="2728"/>
            <a:chExt cx="1584" cy="695"/>
          </a:xfrm>
        </p:grpSpPr>
        <p:sp>
          <p:nvSpPr>
            <p:cNvPr id="46120" name="Oval 32"/>
            <p:cNvSpPr/>
            <p:nvPr/>
          </p:nvSpPr>
          <p:spPr>
            <a:xfrm>
              <a:off x="3042" y="2728"/>
              <a:ext cx="458" cy="455"/>
            </a:xfrm>
            <a:prstGeom prst="ellipse">
              <a:avLst/>
            </a:prstGeom>
            <a:solidFill>
              <a:schemeClr val="accent2"/>
            </a:solidFill>
            <a:ln w="9525" cap="flat" cmpd="sng">
              <a:solidFill>
                <a:schemeClr val="accent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a:t>
              </a:r>
              <a:endParaRPr lang="en-US" altLang="zh-CN" sz="2000" b="0">
                <a:solidFill>
                  <a:schemeClr val="tx1"/>
                </a:solidFill>
                <a:ea typeface="宋体" panose="02010600030101010101" pitchFamily="2" charset="-122"/>
              </a:endParaRPr>
            </a:p>
          </p:txBody>
        </p:sp>
        <p:sp>
          <p:nvSpPr>
            <p:cNvPr id="46121" name="Line 33"/>
            <p:cNvSpPr/>
            <p:nvPr/>
          </p:nvSpPr>
          <p:spPr>
            <a:xfrm flipV="1">
              <a:off x="2802" y="3135"/>
              <a:ext cx="336" cy="288"/>
            </a:xfrm>
            <a:prstGeom prst="line">
              <a:avLst/>
            </a:prstGeom>
            <a:ln w="19050" cap="flat" cmpd="sng">
              <a:solidFill>
                <a:schemeClr val="accent2"/>
              </a:solidFill>
              <a:prstDash val="solid"/>
              <a:headEnd type="none" w="sm" len="sm"/>
              <a:tailEnd type="triangle" w="med" len="med"/>
            </a:ln>
          </p:spPr>
        </p:sp>
        <p:sp>
          <p:nvSpPr>
            <p:cNvPr id="46122" name="Line 34"/>
            <p:cNvSpPr/>
            <p:nvPr/>
          </p:nvSpPr>
          <p:spPr>
            <a:xfrm flipV="1">
              <a:off x="3234" y="3183"/>
              <a:ext cx="1" cy="240"/>
            </a:xfrm>
            <a:prstGeom prst="line">
              <a:avLst/>
            </a:prstGeom>
            <a:ln w="19050" cap="flat" cmpd="sng">
              <a:solidFill>
                <a:schemeClr val="accent2"/>
              </a:solidFill>
              <a:prstDash val="solid"/>
              <a:headEnd type="none" w="sm" len="sm"/>
              <a:tailEnd type="triangle" w="med" len="med"/>
            </a:ln>
          </p:spPr>
        </p:sp>
        <p:sp>
          <p:nvSpPr>
            <p:cNvPr id="46123" name="Line 35"/>
            <p:cNvSpPr/>
            <p:nvPr/>
          </p:nvSpPr>
          <p:spPr>
            <a:xfrm flipH="1" flipV="1">
              <a:off x="3378" y="3183"/>
              <a:ext cx="1008" cy="240"/>
            </a:xfrm>
            <a:prstGeom prst="line">
              <a:avLst/>
            </a:prstGeom>
            <a:ln w="19050" cap="flat" cmpd="sng">
              <a:solidFill>
                <a:schemeClr val="accent2"/>
              </a:solidFill>
              <a:prstDash val="solid"/>
              <a:headEnd type="none" w="sm" len="sm"/>
              <a:tailEnd type="triangle" w="med" len="med"/>
            </a:ln>
          </p:spPr>
        </p:sp>
      </p:grpSp>
      <p:sp>
        <p:nvSpPr>
          <p:cNvPr id="561188" name="Oval 36"/>
          <p:cNvSpPr/>
          <p:nvPr/>
        </p:nvSpPr>
        <p:spPr>
          <a:xfrm>
            <a:off x="4827588" y="4500563"/>
            <a:ext cx="727075" cy="722312"/>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a:t>
            </a:r>
            <a:endParaRPr lang="en-US" altLang="zh-CN" sz="2000" b="0">
              <a:solidFill>
                <a:schemeClr val="tx1"/>
              </a:solidFill>
              <a:ea typeface="宋体" panose="02010600030101010101" pitchFamily="2" charset="-122"/>
            </a:endParaRPr>
          </a:p>
        </p:txBody>
      </p:sp>
      <p:sp>
        <p:nvSpPr>
          <p:cNvPr id="46110" name="Line 37"/>
          <p:cNvSpPr/>
          <p:nvPr/>
        </p:nvSpPr>
        <p:spPr>
          <a:xfrm flipH="1" flipV="1">
            <a:off x="6953250" y="5230813"/>
            <a:ext cx="1371600" cy="457200"/>
          </a:xfrm>
          <a:prstGeom prst="line">
            <a:avLst/>
          </a:prstGeom>
          <a:ln w="19050" cap="flat" cmpd="sng">
            <a:solidFill>
              <a:schemeClr val="tx1"/>
            </a:solidFill>
            <a:prstDash val="solid"/>
            <a:headEnd type="none" w="sm" len="sm"/>
            <a:tailEnd type="triangle" w="med" len="med"/>
          </a:ln>
        </p:spPr>
      </p:sp>
      <p:grpSp>
        <p:nvGrpSpPr>
          <p:cNvPr id="4" name="Group 38"/>
          <p:cNvGrpSpPr/>
          <p:nvPr/>
        </p:nvGrpSpPr>
        <p:grpSpPr>
          <a:xfrm>
            <a:off x="6953250" y="4475163"/>
            <a:ext cx="1600200" cy="1136650"/>
            <a:chOff x="4380" y="2701"/>
            <a:chExt cx="1008" cy="716"/>
          </a:xfrm>
        </p:grpSpPr>
        <p:sp>
          <p:nvSpPr>
            <p:cNvPr id="46116" name="Line 39"/>
            <p:cNvSpPr/>
            <p:nvPr/>
          </p:nvSpPr>
          <p:spPr>
            <a:xfrm flipV="1">
              <a:off x="4860" y="3129"/>
              <a:ext cx="48" cy="288"/>
            </a:xfrm>
            <a:prstGeom prst="line">
              <a:avLst/>
            </a:prstGeom>
            <a:ln w="19050" cap="flat" cmpd="sng">
              <a:solidFill>
                <a:schemeClr val="accent2"/>
              </a:solidFill>
              <a:prstDash val="solid"/>
              <a:headEnd type="none" w="sm" len="sm"/>
              <a:tailEnd type="triangle" w="med" len="med"/>
            </a:ln>
          </p:spPr>
        </p:sp>
        <p:sp>
          <p:nvSpPr>
            <p:cNvPr id="46117" name="Line 40"/>
            <p:cNvSpPr/>
            <p:nvPr/>
          </p:nvSpPr>
          <p:spPr>
            <a:xfrm flipV="1">
              <a:off x="4380" y="3129"/>
              <a:ext cx="288" cy="288"/>
            </a:xfrm>
            <a:prstGeom prst="line">
              <a:avLst/>
            </a:prstGeom>
            <a:ln w="19050" cap="flat" cmpd="sng">
              <a:solidFill>
                <a:schemeClr val="accent2"/>
              </a:solidFill>
              <a:prstDash val="solid"/>
              <a:headEnd type="none" w="sm" len="sm"/>
              <a:tailEnd type="triangle" w="med" len="med"/>
            </a:ln>
          </p:spPr>
        </p:sp>
        <p:sp>
          <p:nvSpPr>
            <p:cNvPr id="46118" name="Line 41"/>
            <p:cNvSpPr/>
            <p:nvPr/>
          </p:nvSpPr>
          <p:spPr>
            <a:xfrm flipH="1" flipV="1">
              <a:off x="4956" y="3129"/>
              <a:ext cx="432" cy="288"/>
            </a:xfrm>
            <a:prstGeom prst="line">
              <a:avLst/>
            </a:prstGeom>
            <a:ln w="19050" cap="flat" cmpd="sng">
              <a:solidFill>
                <a:schemeClr val="accent2"/>
              </a:solidFill>
              <a:prstDash val="solid"/>
              <a:headEnd type="none" w="sm" len="sm"/>
              <a:tailEnd type="triangle" w="med" len="med"/>
            </a:ln>
          </p:spPr>
        </p:sp>
        <p:sp>
          <p:nvSpPr>
            <p:cNvPr id="46119" name="Oval 42"/>
            <p:cNvSpPr/>
            <p:nvPr/>
          </p:nvSpPr>
          <p:spPr>
            <a:xfrm>
              <a:off x="4542" y="2701"/>
              <a:ext cx="458" cy="455"/>
            </a:xfrm>
            <a:prstGeom prst="ellipse">
              <a:avLst/>
            </a:prstGeom>
            <a:solidFill>
              <a:schemeClr val="accent2"/>
            </a:solidFill>
            <a:ln w="9525" cap="flat" cmpd="sng">
              <a:solidFill>
                <a:schemeClr val="accent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b,c,e</a:t>
              </a:r>
              <a:endParaRPr lang="en-US" altLang="zh-CN" sz="2000" b="0">
                <a:solidFill>
                  <a:schemeClr val="tx1"/>
                </a:solidFill>
                <a:ea typeface="宋体" panose="02010600030101010101" pitchFamily="2" charset="-122"/>
              </a:endParaRPr>
            </a:p>
          </p:txBody>
        </p:sp>
      </p:grpSp>
      <p:sp>
        <p:nvSpPr>
          <p:cNvPr id="561195" name="Oval 43"/>
          <p:cNvSpPr/>
          <p:nvPr/>
        </p:nvSpPr>
        <p:spPr>
          <a:xfrm>
            <a:off x="7232650" y="4468813"/>
            <a:ext cx="727075" cy="72231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b,c,e</a:t>
            </a:r>
            <a:endParaRPr lang="en-US" altLang="zh-CN" sz="2000" b="0">
              <a:solidFill>
                <a:schemeClr val="tx1"/>
              </a:solidFill>
              <a:ea typeface="宋体" panose="02010600030101010101" pitchFamily="2" charset="-122"/>
            </a:endParaRPr>
          </a:p>
        </p:txBody>
      </p:sp>
      <p:sp>
        <p:nvSpPr>
          <p:cNvPr id="46113" name="Line 44"/>
          <p:cNvSpPr/>
          <p:nvPr/>
        </p:nvSpPr>
        <p:spPr>
          <a:xfrm flipV="1">
            <a:off x="7721600" y="5180013"/>
            <a:ext cx="73025" cy="392112"/>
          </a:xfrm>
          <a:prstGeom prst="line">
            <a:avLst/>
          </a:prstGeom>
          <a:ln w="9525" cap="flat" cmpd="sng">
            <a:solidFill>
              <a:schemeClr val="tx1"/>
            </a:solidFill>
            <a:prstDash val="solid"/>
            <a:miter/>
            <a:headEnd type="none" w="med" len="med"/>
            <a:tailEnd type="triangle" w="med" len="med"/>
          </a:ln>
        </p:spPr>
      </p:sp>
      <p:sp>
        <p:nvSpPr>
          <p:cNvPr id="46114" name="Line 45"/>
          <p:cNvSpPr/>
          <p:nvPr/>
        </p:nvSpPr>
        <p:spPr>
          <a:xfrm flipV="1">
            <a:off x="6981825" y="5165725"/>
            <a:ext cx="463550" cy="420688"/>
          </a:xfrm>
          <a:prstGeom prst="line">
            <a:avLst/>
          </a:prstGeom>
          <a:ln w="9525" cap="flat" cmpd="sng">
            <a:solidFill>
              <a:schemeClr val="tx1"/>
            </a:solidFill>
            <a:prstDash val="solid"/>
            <a:miter/>
            <a:headEnd type="none" w="med" len="med"/>
            <a:tailEnd type="triangle" w="med" len="med"/>
          </a:ln>
        </p:spPr>
      </p:sp>
      <p:sp>
        <p:nvSpPr>
          <p:cNvPr id="46115" name="Line 46"/>
          <p:cNvSpPr/>
          <p:nvPr/>
        </p:nvSpPr>
        <p:spPr>
          <a:xfrm flipH="1" flipV="1">
            <a:off x="7939088" y="5194300"/>
            <a:ext cx="595312" cy="406400"/>
          </a:xfrm>
          <a:prstGeom prst="line">
            <a:avLst/>
          </a:prstGeom>
          <a:ln w="9525" cap="flat" cmpd="sng">
            <a:solidFill>
              <a:schemeClr val="tx1"/>
            </a:solidFill>
            <a:prstDash val="solid"/>
            <a:miter/>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11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61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88" grpId="0" animBg="1"/>
      <p:bldP spid="56119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Line 2"/>
          <p:cNvSpPr/>
          <p:nvPr/>
        </p:nvSpPr>
        <p:spPr>
          <a:xfrm flipH="1" flipV="1">
            <a:off x="4805363" y="2565400"/>
            <a:ext cx="522287" cy="319088"/>
          </a:xfrm>
          <a:prstGeom prst="line">
            <a:avLst/>
          </a:prstGeom>
          <a:ln w="9525" cap="flat" cmpd="sng">
            <a:solidFill>
              <a:schemeClr val="tx1"/>
            </a:solidFill>
            <a:prstDash val="solid"/>
            <a:miter/>
            <a:headEnd type="none" w="med" len="med"/>
            <a:tailEnd type="triangle" w="med" len="med"/>
          </a:ln>
        </p:spPr>
      </p:sp>
      <p:sp>
        <p:nvSpPr>
          <p:cNvPr id="562179" name="Rectangle 3"/>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Candidate Generation and Pruning(another example)</a:t>
            </a:r>
            <a:endParaRPr kumimoji="0" lang="en-US" alt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47107" name="Oval 4"/>
          <p:cNvSpPr/>
          <p:nvPr/>
        </p:nvSpPr>
        <p:spPr>
          <a:xfrm>
            <a:off x="5141913" y="2886075"/>
            <a:ext cx="727075" cy="72231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b,c,e</a:t>
            </a:r>
            <a:endParaRPr lang="en-US" altLang="zh-CN" sz="2000" b="0">
              <a:solidFill>
                <a:schemeClr val="tx1"/>
              </a:solidFill>
              <a:ea typeface="宋体" panose="02010600030101010101" pitchFamily="2" charset="-122"/>
            </a:endParaRPr>
          </a:p>
        </p:txBody>
      </p:sp>
      <p:sp>
        <p:nvSpPr>
          <p:cNvPr id="47108" name="Oval 5"/>
          <p:cNvSpPr/>
          <p:nvPr/>
        </p:nvSpPr>
        <p:spPr>
          <a:xfrm>
            <a:off x="3525838" y="2925763"/>
            <a:ext cx="747712" cy="722312"/>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a,b,e</a:t>
            </a:r>
            <a:endParaRPr lang="en-US" altLang="zh-CN" sz="2000" b="0">
              <a:solidFill>
                <a:schemeClr val="tx1"/>
              </a:solidFill>
              <a:ea typeface="宋体" panose="02010600030101010101" pitchFamily="2" charset="-122"/>
            </a:endParaRPr>
          </a:p>
        </p:txBody>
      </p:sp>
      <p:sp>
        <p:nvSpPr>
          <p:cNvPr id="47109" name="Oval 6"/>
          <p:cNvSpPr/>
          <p:nvPr/>
        </p:nvSpPr>
        <p:spPr>
          <a:xfrm>
            <a:off x="4340225" y="2925763"/>
            <a:ext cx="749300" cy="72231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a,c,e</a:t>
            </a:r>
            <a:endParaRPr lang="en-US" altLang="zh-CN" sz="2000" b="0">
              <a:solidFill>
                <a:schemeClr val="tx1"/>
              </a:solidFill>
              <a:ea typeface="宋体" panose="02010600030101010101" pitchFamily="2" charset="-122"/>
            </a:endParaRPr>
          </a:p>
        </p:txBody>
      </p:sp>
      <p:sp>
        <p:nvSpPr>
          <p:cNvPr id="47110" name="Oval 7"/>
          <p:cNvSpPr/>
          <p:nvPr/>
        </p:nvSpPr>
        <p:spPr>
          <a:xfrm>
            <a:off x="2744788" y="2925763"/>
            <a:ext cx="727075" cy="722312"/>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a:t>
            </a:r>
            <a:endParaRPr lang="en-US" altLang="zh-CN" sz="2000" b="0">
              <a:solidFill>
                <a:schemeClr val="tx1"/>
              </a:solidFill>
              <a:ea typeface="宋体" panose="02010600030101010101" pitchFamily="2" charset="-122"/>
            </a:endParaRPr>
          </a:p>
        </p:txBody>
      </p:sp>
      <p:sp>
        <p:nvSpPr>
          <p:cNvPr id="47111" name="Oval 8"/>
          <p:cNvSpPr/>
          <p:nvPr/>
        </p:nvSpPr>
        <p:spPr>
          <a:xfrm>
            <a:off x="3887788" y="1819275"/>
            <a:ext cx="838200" cy="838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a,b,c,e</a:t>
            </a:r>
            <a:endParaRPr lang="en-US" altLang="zh-CN" sz="2000" b="0">
              <a:solidFill>
                <a:schemeClr val="tx1"/>
              </a:solidFill>
              <a:ea typeface="宋体" panose="02010600030101010101" pitchFamily="2" charset="-122"/>
            </a:endParaRPr>
          </a:p>
        </p:txBody>
      </p:sp>
      <p:sp>
        <p:nvSpPr>
          <p:cNvPr id="562185" name="Oval 9"/>
          <p:cNvSpPr/>
          <p:nvPr/>
        </p:nvSpPr>
        <p:spPr>
          <a:xfrm>
            <a:off x="3895725" y="1812925"/>
            <a:ext cx="838200" cy="838200"/>
          </a:xfrm>
          <a:prstGeom prst="ellipse">
            <a:avLst/>
          </a:prstGeom>
          <a:solidFill>
            <a:srgbClr val="FF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a,b,c,e</a:t>
            </a:r>
            <a:endParaRPr lang="en-US" altLang="zh-CN" sz="2000" b="0">
              <a:solidFill>
                <a:schemeClr val="tx1"/>
              </a:solidFill>
              <a:ea typeface="宋体" panose="02010600030101010101" pitchFamily="2" charset="-122"/>
            </a:endParaRPr>
          </a:p>
        </p:txBody>
      </p:sp>
      <p:sp>
        <p:nvSpPr>
          <p:cNvPr id="47113" name="Line 10"/>
          <p:cNvSpPr/>
          <p:nvPr/>
        </p:nvSpPr>
        <p:spPr>
          <a:xfrm flipV="1">
            <a:off x="3309938" y="2522538"/>
            <a:ext cx="638175" cy="420687"/>
          </a:xfrm>
          <a:prstGeom prst="line">
            <a:avLst/>
          </a:prstGeom>
          <a:ln w="9525" cap="flat" cmpd="sng">
            <a:solidFill>
              <a:schemeClr val="tx1"/>
            </a:solidFill>
            <a:prstDash val="solid"/>
            <a:miter/>
            <a:headEnd type="none" w="med" len="med"/>
            <a:tailEnd type="triangle" w="med" len="med"/>
          </a:ln>
        </p:spPr>
      </p:sp>
      <p:sp>
        <p:nvSpPr>
          <p:cNvPr id="47114" name="Line 11"/>
          <p:cNvSpPr/>
          <p:nvPr/>
        </p:nvSpPr>
        <p:spPr>
          <a:xfrm flipV="1">
            <a:off x="4035425" y="2609850"/>
            <a:ext cx="115888" cy="304800"/>
          </a:xfrm>
          <a:prstGeom prst="line">
            <a:avLst/>
          </a:prstGeom>
          <a:ln w="9525" cap="flat" cmpd="sng">
            <a:solidFill>
              <a:schemeClr val="tx1"/>
            </a:solidFill>
            <a:prstDash val="solid"/>
            <a:miter/>
            <a:headEnd type="none" w="med" len="med"/>
            <a:tailEnd type="triangle" w="med" len="med"/>
          </a:ln>
        </p:spPr>
      </p:sp>
      <p:sp>
        <p:nvSpPr>
          <p:cNvPr id="47115" name="Line 12"/>
          <p:cNvSpPr/>
          <p:nvPr/>
        </p:nvSpPr>
        <p:spPr>
          <a:xfrm flipH="1" flipV="1">
            <a:off x="4586288" y="2595563"/>
            <a:ext cx="58737" cy="304800"/>
          </a:xfrm>
          <a:prstGeom prst="line">
            <a:avLst/>
          </a:prstGeom>
          <a:ln w="9525" cap="flat" cmpd="sng">
            <a:solidFill>
              <a:schemeClr val="tx1"/>
            </a:solidFill>
            <a:prstDash val="solid"/>
            <a:miter/>
            <a:headEnd type="none" w="med" len="med"/>
            <a:tailEnd type="triangle" w="med" len="med"/>
          </a:ln>
        </p:spPr>
      </p:sp>
      <p:grpSp>
        <p:nvGrpSpPr>
          <p:cNvPr id="2" name="Group 13"/>
          <p:cNvGrpSpPr/>
          <p:nvPr/>
        </p:nvGrpSpPr>
        <p:grpSpPr>
          <a:xfrm>
            <a:off x="3290888" y="1822450"/>
            <a:ext cx="2057400" cy="1154113"/>
            <a:chOff x="2065" y="1022"/>
            <a:chExt cx="1296" cy="727"/>
          </a:xfrm>
        </p:grpSpPr>
        <p:sp>
          <p:nvSpPr>
            <p:cNvPr id="47118" name="Line 14"/>
            <p:cNvSpPr/>
            <p:nvPr/>
          </p:nvSpPr>
          <p:spPr>
            <a:xfrm flipV="1">
              <a:off x="2545" y="1557"/>
              <a:ext cx="48" cy="144"/>
            </a:xfrm>
            <a:prstGeom prst="line">
              <a:avLst/>
            </a:prstGeom>
            <a:ln w="19050" cap="flat" cmpd="sng">
              <a:solidFill>
                <a:schemeClr val="accent2"/>
              </a:solidFill>
              <a:prstDash val="solid"/>
              <a:headEnd type="none" w="sm" len="sm"/>
              <a:tailEnd type="triangle" w="med" len="med"/>
            </a:ln>
          </p:spPr>
        </p:sp>
        <p:sp>
          <p:nvSpPr>
            <p:cNvPr id="47119" name="Line 15"/>
            <p:cNvSpPr/>
            <p:nvPr/>
          </p:nvSpPr>
          <p:spPr>
            <a:xfrm flipV="1">
              <a:off x="2065" y="1461"/>
              <a:ext cx="432" cy="288"/>
            </a:xfrm>
            <a:prstGeom prst="line">
              <a:avLst/>
            </a:prstGeom>
            <a:ln w="19050" cap="flat" cmpd="sng">
              <a:solidFill>
                <a:schemeClr val="accent2"/>
              </a:solidFill>
              <a:prstDash val="solid"/>
              <a:headEnd type="none" w="sm" len="sm"/>
              <a:tailEnd type="triangle" w="med" len="med"/>
            </a:ln>
          </p:spPr>
        </p:sp>
        <p:sp>
          <p:nvSpPr>
            <p:cNvPr id="47120" name="Line 16"/>
            <p:cNvSpPr/>
            <p:nvPr/>
          </p:nvSpPr>
          <p:spPr>
            <a:xfrm flipH="1" flipV="1">
              <a:off x="2881" y="1509"/>
              <a:ext cx="48" cy="192"/>
            </a:xfrm>
            <a:prstGeom prst="line">
              <a:avLst/>
            </a:prstGeom>
            <a:ln w="19050" cap="flat" cmpd="sng">
              <a:solidFill>
                <a:schemeClr val="accent2"/>
              </a:solidFill>
              <a:prstDash val="solid"/>
              <a:headEnd type="none" w="sm" len="sm"/>
              <a:tailEnd type="triangle" w="med" len="med"/>
            </a:ln>
          </p:spPr>
        </p:sp>
        <p:sp>
          <p:nvSpPr>
            <p:cNvPr id="47121" name="Line 17"/>
            <p:cNvSpPr/>
            <p:nvPr/>
          </p:nvSpPr>
          <p:spPr>
            <a:xfrm flipH="1" flipV="1">
              <a:off x="2977" y="1461"/>
              <a:ext cx="384" cy="240"/>
            </a:xfrm>
            <a:prstGeom prst="line">
              <a:avLst/>
            </a:prstGeom>
            <a:ln w="19050" cap="flat" cmpd="sng">
              <a:solidFill>
                <a:schemeClr val="accent2"/>
              </a:solidFill>
              <a:prstDash val="solid"/>
              <a:headEnd type="none" w="sm" len="sm"/>
              <a:tailEnd type="triangle" w="med" len="med"/>
            </a:ln>
          </p:spPr>
        </p:sp>
        <p:sp>
          <p:nvSpPr>
            <p:cNvPr id="47122" name="Oval 18"/>
            <p:cNvSpPr/>
            <p:nvPr/>
          </p:nvSpPr>
          <p:spPr>
            <a:xfrm>
              <a:off x="2452" y="1022"/>
              <a:ext cx="528" cy="528"/>
            </a:xfrm>
            <a:prstGeom prst="ellipse">
              <a:avLst/>
            </a:prstGeom>
            <a:solidFill>
              <a:schemeClr val="accent2"/>
            </a:solidFill>
            <a:ln w="9525" cap="flat" cmpd="sng">
              <a:solidFill>
                <a:schemeClr val="accent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a,b,c,e</a:t>
              </a:r>
              <a:endParaRPr lang="en-US" altLang="zh-CN" sz="2000" b="0">
                <a:solidFill>
                  <a:schemeClr val="tx1"/>
                </a:solidFill>
                <a:ea typeface="宋体" panose="02010600030101010101" pitchFamily="2" charset="-122"/>
              </a:endParaRPr>
            </a:p>
          </p:txBody>
        </p:sp>
      </p:grpSp>
      <p:sp>
        <p:nvSpPr>
          <p:cNvPr id="562195" name="Oval 19"/>
          <p:cNvSpPr/>
          <p:nvPr/>
        </p:nvSpPr>
        <p:spPr>
          <a:xfrm>
            <a:off x="3900488" y="1830388"/>
            <a:ext cx="838200" cy="838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SzTx/>
              <a:buFontTx/>
              <a:buNone/>
            </a:pPr>
            <a:r>
              <a:rPr lang="en-US" altLang="zh-CN" sz="2000" b="0">
                <a:solidFill>
                  <a:schemeClr val="tx1"/>
                </a:solidFill>
                <a:ea typeface="宋体" panose="02010600030101010101" pitchFamily="2" charset="-122"/>
              </a:rPr>
              <a:t>a,b,c,e</a:t>
            </a:r>
            <a:endParaRPr lang="en-US" altLang="zh-CN" sz="2000" b="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21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2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85" grpId="0" animBg="1"/>
      <p:bldP spid="56219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4530" name="Rectangle 2"/>
          <p:cNvSpPr>
            <a:spLocks noGrp="1" noChangeArrowheads="1"/>
          </p:cNvSpPr>
          <p:nvPr>
            <p:ph type="title"/>
          </p:nvPr>
        </p:nvSpPr>
        <p:spPr>
          <a:xfrm>
            <a:off x="1171575" y="592138"/>
            <a:ext cx="7793038"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The Apriori Algorithm</a:t>
            </a: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Tahoma" panose="020B0604030504040204"/>
                <a:ea typeface="宋体" panose="02010600030101010101" pitchFamily="2" charset="-122"/>
                <a:cs typeface="+mj-cs"/>
              </a:rPr>
              <a:t>—</a:t>
            </a: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An Example </a:t>
            </a: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48130" name="Text Box 3"/>
          <p:cNvSpPr txBox="1"/>
          <p:nvPr/>
        </p:nvSpPr>
        <p:spPr>
          <a:xfrm>
            <a:off x="333375" y="1658938"/>
            <a:ext cx="1985963"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a:solidFill>
                  <a:schemeClr val="tx1"/>
                </a:solidFill>
                <a:ea typeface="宋体" panose="02010600030101010101" pitchFamily="2" charset="-122"/>
              </a:rPr>
              <a:t>Database TDB</a:t>
            </a:r>
            <a:endParaRPr lang="en-US" altLang="zh-CN" sz="2400" b="0">
              <a:solidFill>
                <a:schemeClr val="tx1"/>
              </a:solidFill>
              <a:ea typeface="宋体" panose="02010600030101010101" pitchFamily="2" charset="-122"/>
            </a:endParaRPr>
          </a:p>
        </p:txBody>
      </p:sp>
      <p:sp>
        <p:nvSpPr>
          <p:cNvPr id="48131" name="Text Box 4"/>
          <p:cNvSpPr txBox="1"/>
          <p:nvPr/>
        </p:nvSpPr>
        <p:spPr>
          <a:xfrm>
            <a:off x="2509838" y="2560638"/>
            <a:ext cx="1090612"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zh-CN" altLang="en-US" sz="2400" b="0">
                <a:solidFill>
                  <a:schemeClr val="tx1"/>
                </a:solidFill>
                <a:ea typeface="宋体" panose="02010600030101010101" pitchFamily="2" charset="-122"/>
              </a:rPr>
              <a:t>1</a:t>
            </a:r>
            <a:r>
              <a:rPr lang="en-US" altLang="zh-CN" sz="2400" b="0" baseline="30000">
                <a:solidFill>
                  <a:schemeClr val="tx1"/>
                </a:solidFill>
                <a:ea typeface="宋体" panose="02010600030101010101" pitchFamily="2" charset="-122"/>
              </a:rPr>
              <a:t>st</a:t>
            </a:r>
            <a:r>
              <a:rPr lang="en-US" altLang="zh-CN" sz="2400" b="0">
                <a:solidFill>
                  <a:schemeClr val="tx1"/>
                </a:solidFill>
                <a:ea typeface="宋体" panose="02010600030101010101" pitchFamily="2" charset="-122"/>
              </a:rPr>
              <a:t> scan</a:t>
            </a:r>
            <a:endParaRPr lang="en-US" altLang="zh-CN" sz="2400" b="0">
              <a:solidFill>
                <a:schemeClr val="tx1"/>
              </a:solidFill>
              <a:ea typeface="宋体" panose="02010600030101010101" pitchFamily="2" charset="-122"/>
            </a:endParaRPr>
          </a:p>
        </p:txBody>
      </p:sp>
      <p:sp>
        <p:nvSpPr>
          <p:cNvPr id="48132" name="Line 5"/>
          <p:cNvSpPr/>
          <p:nvPr/>
        </p:nvSpPr>
        <p:spPr>
          <a:xfrm>
            <a:off x="2630488" y="3006725"/>
            <a:ext cx="831850" cy="0"/>
          </a:xfrm>
          <a:prstGeom prst="line">
            <a:avLst/>
          </a:prstGeom>
          <a:ln w="9525" cap="flat" cmpd="sng">
            <a:solidFill>
              <a:srgbClr val="000000"/>
            </a:solidFill>
            <a:prstDash val="solid"/>
            <a:headEnd type="none" w="med" len="med"/>
            <a:tailEnd type="triangle" w="med" len="med"/>
          </a:ln>
        </p:spPr>
      </p:sp>
      <p:sp>
        <p:nvSpPr>
          <p:cNvPr id="48133" name="Text Box 6"/>
          <p:cNvSpPr txBox="1"/>
          <p:nvPr/>
        </p:nvSpPr>
        <p:spPr>
          <a:xfrm>
            <a:off x="3092450" y="2008188"/>
            <a:ext cx="488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C</a:t>
            </a:r>
            <a:r>
              <a:rPr lang="en-US" altLang="zh-CN" sz="2400" b="0" i="1" baseline="-25000">
                <a:solidFill>
                  <a:schemeClr val="tx1"/>
                </a:solidFill>
                <a:ea typeface="宋体" panose="02010600030101010101" pitchFamily="2" charset="-122"/>
              </a:rPr>
              <a:t>1</a:t>
            </a:r>
            <a:endParaRPr lang="en-US" altLang="zh-CN" sz="2400" b="0" i="1" baseline="-25000">
              <a:solidFill>
                <a:schemeClr val="tx1"/>
              </a:solidFill>
              <a:ea typeface="宋体" panose="02010600030101010101" pitchFamily="2" charset="-122"/>
            </a:endParaRPr>
          </a:p>
        </p:txBody>
      </p:sp>
      <p:sp>
        <p:nvSpPr>
          <p:cNvPr id="48134" name="Text Box 7"/>
          <p:cNvSpPr txBox="1"/>
          <p:nvPr/>
        </p:nvSpPr>
        <p:spPr>
          <a:xfrm>
            <a:off x="5680075" y="1851025"/>
            <a:ext cx="455613"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L</a:t>
            </a:r>
            <a:r>
              <a:rPr lang="en-US" altLang="zh-CN" sz="2400" b="0" i="1" baseline="-25000">
                <a:solidFill>
                  <a:schemeClr val="tx1"/>
                </a:solidFill>
                <a:ea typeface="宋体" panose="02010600030101010101" pitchFamily="2" charset="-122"/>
              </a:rPr>
              <a:t>1</a:t>
            </a:r>
            <a:endParaRPr lang="en-US" altLang="zh-CN" sz="2400" b="0" i="1" baseline="-25000">
              <a:solidFill>
                <a:schemeClr val="tx1"/>
              </a:solidFill>
              <a:ea typeface="宋体" panose="02010600030101010101" pitchFamily="2" charset="-122"/>
            </a:endParaRPr>
          </a:p>
        </p:txBody>
      </p:sp>
      <p:sp>
        <p:nvSpPr>
          <p:cNvPr id="48135" name="Text Box 8"/>
          <p:cNvSpPr txBox="1"/>
          <p:nvPr/>
        </p:nvSpPr>
        <p:spPr>
          <a:xfrm>
            <a:off x="635000" y="4016375"/>
            <a:ext cx="455613"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L</a:t>
            </a:r>
            <a:r>
              <a:rPr lang="en-US" altLang="zh-CN" sz="2400" b="0" i="1" baseline="-25000">
                <a:solidFill>
                  <a:schemeClr val="tx1"/>
                </a:solidFill>
                <a:ea typeface="宋体" panose="02010600030101010101" pitchFamily="2" charset="-122"/>
              </a:rPr>
              <a:t>2</a:t>
            </a:r>
            <a:endParaRPr lang="en-US" altLang="zh-CN" sz="2400" b="0" i="1" baseline="-25000">
              <a:solidFill>
                <a:schemeClr val="tx1"/>
              </a:solidFill>
              <a:ea typeface="宋体" panose="02010600030101010101" pitchFamily="2" charset="-122"/>
            </a:endParaRPr>
          </a:p>
        </p:txBody>
      </p:sp>
      <p:sp>
        <p:nvSpPr>
          <p:cNvPr id="48136" name="Text Box 9"/>
          <p:cNvSpPr txBox="1"/>
          <p:nvPr/>
        </p:nvSpPr>
        <p:spPr>
          <a:xfrm>
            <a:off x="3062288" y="3619500"/>
            <a:ext cx="488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C</a:t>
            </a:r>
            <a:r>
              <a:rPr lang="en-US" altLang="zh-CN" sz="2400" b="0" i="1" baseline="-25000">
                <a:solidFill>
                  <a:schemeClr val="tx1"/>
                </a:solidFill>
                <a:ea typeface="宋体" panose="02010600030101010101" pitchFamily="2" charset="-122"/>
              </a:rPr>
              <a:t>2</a:t>
            </a:r>
            <a:endParaRPr lang="en-US" altLang="zh-CN" sz="2400" b="0" i="1" baseline="-25000">
              <a:solidFill>
                <a:schemeClr val="tx1"/>
              </a:solidFill>
              <a:ea typeface="宋体" panose="02010600030101010101" pitchFamily="2" charset="-122"/>
            </a:endParaRPr>
          </a:p>
        </p:txBody>
      </p:sp>
      <p:sp>
        <p:nvSpPr>
          <p:cNvPr id="48137" name="Text Box 10"/>
          <p:cNvSpPr txBox="1"/>
          <p:nvPr/>
        </p:nvSpPr>
        <p:spPr>
          <a:xfrm>
            <a:off x="6350000" y="3670300"/>
            <a:ext cx="488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C</a:t>
            </a:r>
            <a:r>
              <a:rPr lang="en-US" altLang="zh-CN" sz="2400" b="0" i="1" baseline="-25000">
                <a:solidFill>
                  <a:schemeClr val="tx1"/>
                </a:solidFill>
                <a:ea typeface="宋体" panose="02010600030101010101" pitchFamily="2" charset="-122"/>
              </a:rPr>
              <a:t>2</a:t>
            </a:r>
            <a:endParaRPr lang="en-US" altLang="zh-CN" sz="2400" b="0" i="1" baseline="-25000">
              <a:solidFill>
                <a:schemeClr val="tx1"/>
              </a:solidFill>
              <a:ea typeface="宋体" panose="02010600030101010101" pitchFamily="2" charset="-122"/>
            </a:endParaRPr>
          </a:p>
        </p:txBody>
      </p:sp>
      <p:sp>
        <p:nvSpPr>
          <p:cNvPr id="48138" name="Line 11"/>
          <p:cNvSpPr/>
          <p:nvPr/>
        </p:nvSpPr>
        <p:spPr>
          <a:xfrm flipH="1">
            <a:off x="5461000" y="4540250"/>
            <a:ext cx="1120775" cy="0"/>
          </a:xfrm>
          <a:prstGeom prst="line">
            <a:avLst/>
          </a:prstGeom>
          <a:ln w="9525" cap="flat" cmpd="sng">
            <a:solidFill>
              <a:srgbClr val="000000"/>
            </a:solidFill>
            <a:prstDash val="solid"/>
            <a:headEnd type="none" w="med" len="med"/>
            <a:tailEnd type="triangle" w="med" len="med"/>
          </a:ln>
        </p:spPr>
      </p:sp>
      <p:sp>
        <p:nvSpPr>
          <p:cNvPr id="48139" name="Text Box 12"/>
          <p:cNvSpPr txBox="1"/>
          <p:nvPr/>
        </p:nvSpPr>
        <p:spPr>
          <a:xfrm>
            <a:off x="5441950" y="4038600"/>
            <a:ext cx="1157288"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zh-CN" altLang="en-US" sz="2400" b="0">
                <a:solidFill>
                  <a:schemeClr val="tx1"/>
                </a:solidFill>
                <a:ea typeface="宋体" panose="02010600030101010101" pitchFamily="2" charset="-122"/>
              </a:rPr>
              <a:t>2</a:t>
            </a:r>
            <a:r>
              <a:rPr lang="en-US" altLang="zh-CN" sz="2400" b="0" baseline="30000">
                <a:solidFill>
                  <a:schemeClr val="tx1"/>
                </a:solidFill>
                <a:ea typeface="宋体" panose="02010600030101010101" pitchFamily="2" charset="-122"/>
              </a:rPr>
              <a:t>nd</a:t>
            </a:r>
            <a:r>
              <a:rPr lang="en-US" altLang="zh-CN" sz="2400" b="0">
                <a:solidFill>
                  <a:schemeClr val="tx1"/>
                </a:solidFill>
                <a:ea typeface="宋体" panose="02010600030101010101" pitchFamily="2" charset="-122"/>
              </a:rPr>
              <a:t> scan</a:t>
            </a:r>
            <a:endParaRPr lang="en-US" altLang="zh-CN" sz="2400" b="0">
              <a:solidFill>
                <a:schemeClr val="tx1"/>
              </a:solidFill>
              <a:ea typeface="宋体" panose="02010600030101010101" pitchFamily="2" charset="-122"/>
            </a:endParaRPr>
          </a:p>
        </p:txBody>
      </p:sp>
      <p:sp>
        <p:nvSpPr>
          <p:cNvPr id="48140" name="AutoShape 13"/>
          <p:cNvSpPr/>
          <p:nvPr/>
        </p:nvSpPr>
        <p:spPr>
          <a:xfrm>
            <a:off x="8194675" y="3357563"/>
            <a:ext cx="627063" cy="855662"/>
          </a:xfrm>
          <a:prstGeom prst="curvedLeftArrow">
            <a:avLst>
              <a:gd name="adj1" fmla="val 27291"/>
              <a:gd name="adj2" fmla="val 54582"/>
              <a:gd name="adj3" fmla="val 33333"/>
            </a:avLst>
          </a:prstGeom>
          <a:solidFill>
            <a:srgbClr val="FFFFFF"/>
          </a:solidFill>
          <a:ln w="9525" cap="flat" cmpd="sng">
            <a:solidFill>
              <a:srgbClr val="000000"/>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sp>
        <p:nvSpPr>
          <p:cNvPr id="48141" name="Line 14"/>
          <p:cNvSpPr/>
          <p:nvPr/>
        </p:nvSpPr>
        <p:spPr>
          <a:xfrm>
            <a:off x="2868613" y="6586538"/>
            <a:ext cx="1692275" cy="0"/>
          </a:xfrm>
          <a:prstGeom prst="line">
            <a:avLst/>
          </a:prstGeom>
          <a:ln w="9525" cap="flat" cmpd="sng">
            <a:solidFill>
              <a:srgbClr val="000000"/>
            </a:solidFill>
            <a:prstDash val="solid"/>
            <a:headEnd type="none" w="med" len="med"/>
            <a:tailEnd type="triangle" w="med" len="med"/>
          </a:ln>
        </p:spPr>
      </p:sp>
      <p:sp>
        <p:nvSpPr>
          <p:cNvPr id="48142" name="Text Box 15"/>
          <p:cNvSpPr txBox="1"/>
          <p:nvPr/>
        </p:nvSpPr>
        <p:spPr>
          <a:xfrm>
            <a:off x="1031875" y="6089650"/>
            <a:ext cx="488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C</a:t>
            </a:r>
            <a:r>
              <a:rPr lang="en-US" altLang="zh-CN" sz="2400" b="0" i="1" baseline="-25000">
                <a:solidFill>
                  <a:schemeClr val="tx1"/>
                </a:solidFill>
                <a:ea typeface="宋体" panose="02010600030101010101" pitchFamily="2" charset="-122"/>
              </a:rPr>
              <a:t>3</a:t>
            </a:r>
            <a:endParaRPr lang="en-US" altLang="zh-CN" sz="2400" b="0" i="1" baseline="-25000">
              <a:solidFill>
                <a:schemeClr val="tx1"/>
              </a:solidFill>
              <a:ea typeface="宋体" panose="02010600030101010101" pitchFamily="2" charset="-122"/>
            </a:endParaRPr>
          </a:p>
        </p:txBody>
      </p:sp>
      <p:sp>
        <p:nvSpPr>
          <p:cNvPr id="48143" name="Text Box 16"/>
          <p:cNvSpPr txBox="1"/>
          <p:nvPr/>
        </p:nvSpPr>
        <p:spPr>
          <a:xfrm>
            <a:off x="4448175" y="6078538"/>
            <a:ext cx="455613"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en-US" altLang="zh-CN" sz="2400" b="0" i="1">
                <a:solidFill>
                  <a:schemeClr val="tx1"/>
                </a:solidFill>
                <a:ea typeface="宋体" panose="02010600030101010101" pitchFamily="2" charset="-122"/>
              </a:rPr>
              <a:t>L</a:t>
            </a:r>
            <a:r>
              <a:rPr lang="en-US" altLang="zh-CN" sz="2400" b="0" i="1" baseline="-25000">
                <a:solidFill>
                  <a:schemeClr val="tx1"/>
                </a:solidFill>
                <a:ea typeface="宋体" panose="02010600030101010101" pitchFamily="2" charset="-122"/>
              </a:rPr>
              <a:t>3</a:t>
            </a:r>
            <a:endParaRPr lang="en-US" altLang="zh-CN" sz="2400" b="0" i="1" baseline="-25000">
              <a:solidFill>
                <a:schemeClr val="tx1"/>
              </a:solidFill>
              <a:ea typeface="宋体" panose="02010600030101010101" pitchFamily="2" charset="-122"/>
            </a:endParaRPr>
          </a:p>
        </p:txBody>
      </p:sp>
      <p:sp>
        <p:nvSpPr>
          <p:cNvPr id="48144" name="Text Box 17"/>
          <p:cNvSpPr txBox="1"/>
          <p:nvPr/>
        </p:nvSpPr>
        <p:spPr>
          <a:xfrm>
            <a:off x="3041650" y="6169025"/>
            <a:ext cx="1123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r>
              <a:rPr lang="zh-CN" altLang="en-US" sz="2400" b="0">
                <a:solidFill>
                  <a:schemeClr val="tx1"/>
                </a:solidFill>
                <a:ea typeface="宋体" panose="02010600030101010101" pitchFamily="2" charset="-122"/>
              </a:rPr>
              <a:t>3</a:t>
            </a:r>
            <a:r>
              <a:rPr lang="en-US" altLang="zh-CN" sz="2400" b="0" baseline="30000">
                <a:solidFill>
                  <a:schemeClr val="tx1"/>
                </a:solidFill>
                <a:ea typeface="宋体" panose="02010600030101010101" pitchFamily="2" charset="-122"/>
              </a:rPr>
              <a:t>rd</a:t>
            </a:r>
            <a:r>
              <a:rPr lang="en-US" altLang="zh-CN" sz="2400" b="0">
                <a:solidFill>
                  <a:schemeClr val="tx1"/>
                </a:solidFill>
                <a:ea typeface="宋体" panose="02010600030101010101" pitchFamily="2" charset="-122"/>
              </a:rPr>
              <a:t> scan</a:t>
            </a:r>
            <a:endParaRPr lang="en-US" altLang="zh-CN" sz="2400" b="0">
              <a:solidFill>
                <a:schemeClr val="tx1"/>
              </a:solidFill>
              <a:ea typeface="宋体" panose="02010600030101010101" pitchFamily="2" charset="-122"/>
            </a:endParaRPr>
          </a:p>
        </p:txBody>
      </p:sp>
      <p:sp>
        <p:nvSpPr>
          <p:cNvPr id="48145" name="AutoShape 18"/>
          <p:cNvSpPr/>
          <p:nvPr/>
        </p:nvSpPr>
        <p:spPr>
          <a:xfrm>
            <a:off x="534988" y="5133975"/>
            <a:ext cx="441325" cy="1249363"/>
          </a:xfrm>
          <a:prstGeom prst="curvedRightArrow">
            <a:avLst>
              <a:gd name="adj1" fmla="val 56618"/>
              <a:gd name="adj2" fmla="val 113237"/>
              <a:gd name="adj3" fmla="val 33333"/>
            </a:avLst>
          </a:prstGeom>
          <a:solidFill>
            <a:srgbClr val="FFFFFF"/>
          </a:solidFill>
          <a:ln w="9525" cap="flat" cmpd="sng">
            <a:solidFill>
              <a:srgbClr val="000000"/>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sp>
        <p:nvSpPr>
          <p:cNvPr id="48146" name="Line 19"/>
          <p:cNvSpPr/>
          <p:nvPr/>
        </p:nvSpPr>
        <p:spPr>
          <a:xfrm>
            <a:off x="5667375" y="2725738"/>
            <a:ext cx="527050" cy="0"/>
          </a:xfrm>
          <a:prstGeom prst="line">
            <a:avLst/>
          </a:prstGeom>
          <a:ln w="9525" cap="flat" cmpd="sng">
            <a:solidFill>
              <a:srgbClr val="000000"/>
            </a:solidFill>
            <a:prstDash val="solid"/>
            <a:headEnd type="none" w="med" len="med"/>
            <a:tailEnd type="triangle" w="med" len="med"/>
          </a:ln>
        </p:spPr>
      </p:sp>
      <p:sp>
        <p:nvSpPr>
          <p:cNvPr id="48147" name="Line 20"/>
          <p:cNvSpPr/>
          <p:nvPr/>
        </p:nvSpPr>
        <p:spPr>
          <a:xfrm flipH="1">
            <a:off x="3000375" y="4935538"/>
            <a:ext cx="381000" cy="0"/>
          </a:xfrm>
          <a:prstGeom prst="line">
            <a:avLst/>
          </a:prstGeom>
          <a:ln w="9525" cap="flat" cmpd="sng">
            <a:solidFill>
              <a:srgbClr val="000000"/>
            </a:solidFill>
            <a:prstDash val="solid"/>
            <a:headEnd type="none" w="med" len="med"/>
            <a:tailEnd type="triangle" w="med" len="med"/>
          </a:ln>
        </p:spPr>
      </p:sp>
      <p:graphicFrame>
        <p:nvGraphicFramePr>
          <p:cNvPr id="534549" name="Group 21"/>
          <p:cNvGraphicFramePr>
            <a:graphicFrameLocks noGrp="1"/>
          </p:cNvGraphicFramePr>
          <p:nvPr/>
        </p:nvGraphicFramePr>
        <p:xfrm>
          <a:off x="485775" y="2116138"/>
          <a:ext cx="1905000" cy="1554163"/>
        </p:xfrm>
        <a:graphic>
          <a:graphicData uri="http://schemas.openxmlformats.org/drawingml/2006/table">
            <a:tbl>
              <a:tblPr/>
              <a:tblGrid>
                <a:gridCol w="685800"/>
                <a:gridCol w="1219200"/>
              </a:tblGrid>
              <a:tr h="310832">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Tid</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r>
              <a:tr h="310832">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10</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C, D</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20</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30</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B, 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40</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1" marB="4569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569" name="Group 41"/>
          <p:cNvGraphicFramePr>
            <a:graphicFrameLocks noGrp="1"/>
          </p:cNvGraphicFramePr>
          <p:nvPr/>
        </p:nvGraphicFramePr>
        <p:xfrm>
          <a:off x="3762375" y="1506538"/>
          <a:ext cx="1752600" cy="1865313"/>
        </p:xfrm>
        <a:graphic>
          <a:graphicData uri="http://schemas.openxmlformats.org/drawingml/2006/table">
            <a:tbl>
              <a:tblPr/>
              <a:tblGrid>
                <a:gridCol w="1143000"/>
                <a:gridCol w="609600"/>
              </a:tblGrid>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sup</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D}</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1</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3108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592" name="Group 64"/>
          <p:cNvGraphicFramePr>
            <a:graphicFrameLocks noGrp="1"/>
          </p:cNvGraphicFramePr>
          <p:nvPr/>
        </p:nvGraphicFramePr>
        <p:xfrm>
          <a:off x="6276975" y="1658938"/>
          <a:ext cx="1752600" cy="1554163"/>
        </p:xfrm>
        <a:graphic>
          <a:graphicData uri="http://schemas.openxmlformats.org/drawingml/2006/table">
            <a:tbl>
              <a:tblPr/>
              <a:tblGrid>
                <a:gridCol w="1143000"/>
                <a:gridCol w="609600"/>
              </a:tblGrid>
              <a:tr h="310832">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sup</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10832">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832">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612" name="Group 84"/>
          <p:cNvGraphicFramePr>
            <a:graphicFrameLocks noGrp="1"/>
          </p:cNvGraphicFramePr>
          <p:nvPr/>
        </p:nvGraphicFramePr>
        <p:xfrm>
          <a:off x="6886575" y="3868738"/>
          <a:ext cx="1143000" cy="2176463"/>
        </p:xfrm>
        <a:graphic>
          <a:graphicData uri="http://schemas.openxmlformats.org/drawingml/2006/table">
            <a:tbl>
              <a:tblPr/>
              <a:tblGrid>
                <a:gridCol w="1143000"/>
              </a:tblGrid>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B}</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0923">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630" name="Group 102"/>
          <p:cNvGraphicFramePr>
            <a:graphicFrameLocks noGrp="1"/>
          </p:cNvGraphicFramePr>
          <p:nvPr/>
        </p:nvGraphicFramePr>
        <p:xfrm>
          <a:off x="3533775" y="3716338"/>
          <a:ext cx="1752600" cy="2005013"/>
        </p:xfrm>
        <a:graphic>
          <a:graphicData uri="http://schemas.openxmlformats.org/drawingml/2006/table">
            <a:tbl>
              <a:tblPr/>
              <a:tblGrid>
                <a:gridCol w="1143000"/>
                <a:gridCol w="609600"/>
              </a:tblGrid>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sup</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B}</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1</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1</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430">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83" marB="4568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656" name="Group 128"/>
          <p:cNvGraphicFramePr>
            <a:graphicFrameLocks noGrp="1"/>
          </p:cNvGraphicFramePr>
          <p:nvPr/>
        </p:nvGraphicFramePr>
        <p:xfrm>
          <a:off x="1095375" y="4149725"/>
          <a:ext cx="1752600" cy="1431925"/>
        </p:xfrm>
        <a:graphic>
          <a:graphicData uri="http://schemas.openxmlformats.org/drawingml/2006/table">
            <a:tbl>
              <a:tblPr/>
              <a:tblGrid>
                <a:gridCol w="1143000"/>
                <a:gridCol w="609600"/>
              </a:tblGrid>
              <a:tr h="2863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sup</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2863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3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3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8638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663" marB="4566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676" name="Group 148"/>
          <p:cNvGraphicFramePr>
            <a:graphicFrameLocks noGrp="1"/>
          </p:cNvGraphicFramePr>
          <p:nvPr/>
        </p:nvGraphicFramePr>
        <p:xfrm>
          <a:off x="1476375" y="6154738"/>
          <a:ext cx="1143000" cy="658813"/>
        </p:xfrm>
        <a:graphic>
          <a:graphicData uri="http://schemas.openxmlformats.org/drawingml/2006/table">
            <a:tbl>
              <a:tblPr/>
              <a:tblGrid>
                <a:gridCol w="1143000"/>
              </a:tblGrid>
              <a:tr h="311016">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47796">
                <a:tc>
                  <a:txBody>
                    <a:bodyPr/>
                    <a:lstStyle/>
                    <a:p>
                      <a:pPr marL="0" marR="0" lvl="0" indent="0" algn="ctr" defTabSz="914400" rtl="0" eaLnBrk="0" fontAlgn="base" latinLnBrk="0" hangingPunct="0">
                        <a:lnSpc>
                          <a:spcPct val="9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34684" name="Group 156"/>
          <p:cNvGraphicFramePr>
            <a:graphicFrameLocks noGrp="1"/>
          </p:cNvGraphicFramePr>
          <p:nvPr/>
        </p:nvGraphicFramePr>
        <p:xfrm>
          <a:off x="4905375" y="6154738"/>
          <a:ext cx="1752600" cy="619125"/>
        </p:xfrm>
        <a:graphic>
          <a:graphicData uri="http://schemas.openxmlformats.org/drawingml/2006/table">
            <a:tbl>
              <a:tblPr/>
              <a:tblGrid>
                <a:gridCol w="1143000"/>
                <a:gridCol w="609600"/>
              </a:tblGrid>
              <a:tr h="309563">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Itemset</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rPr>
                        <a:t>sup</a:t>
                      </a:r>
                      <a:endParaRPr kumimoji="0" lang="en-US" altLang="zh-CN" sz="16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09563">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t>
                      </a:r>
                      <a:r>
                        <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 C, E}</a:t>
                      </a:r>
                      <a:endParaRPr kumimoji="0" lang="en-US" altLang="zh-CN"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80000"/>
                        </a:lnSpc>
                        <a:spcBef>
                          <a:spcPct val="20000"/>
                        </a:spcBef>
                        <a:spcAft>
                          <a:spcPct val="0"/>
                        </a:spcAft>
                        <a:buClrTx/>
                        <a:buSzPct val="90000"/>
                        <a:buFont typeface="Monotype Sorts" pitchFamily="2" charset="2"/>
                        <a:buNone/>
                      </a:pPr>
                      <a:r>
                        <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zh-CN" altLang="en-US" sz="16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48294" name="Text Box 167"/>
          <p:cNvSpPr txBox="1"/>
          <p:nvPr/>
        </p:nvSpPr>
        <p:spPr>
          <a:xfrm>
            <a:off x="2162175" y="1430338"/>
            <a:ext cx="1752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50000"/>
              </a:spcBef>
              <a:buSzTx/>
              <a:buFontTx/>
              <a:buNone/>
            </a:pPr>
            <a:r>
              <a:rPr lang="en-US" altLang="zh-CN" sz="2400" b="0">
                <a:solidFill>
                  <a:schemeClr val="tx1"/>
                </a:solidFill>
                <a:latin typeface="Tahoma" panose="020B0604030504040204" pitchFamily="34" charset="0"/>
                <a:ea typeface="宋体" panose="02010600030101010101" pitchFamily="2" charset="-122"/>
              </a:rPr>
              <a:t>Sup</a:t>
            </a:r>
            <a:r>
              <a:rPr lang="en-US" altLang="zh-CN" sz="2400" b="0" baseline="-25000">
                <a:solidFill>
                  <a:schemeClr val="tx1"/>
                </a:solidFill>
                <a:latin typeface="Tahoma" panose="020B0604030504040204" pitchFamily="34" charset="0"/>
                <a:ea typeface="宋体" panose="02010600030101010101" pitchFamily="2" charset="-122"/>
              </a:rPr>
              <a:t>min</a:t>
            </a:r>
            <a:r>
              <a:rPr lang="en-US" altLang="zh-CN" sz="2400" b="0">
                <a:solidFill>
                  <a:schemeClr val="tx1"/>
                </a:solidFill>
                <a:latin typeface="Tahoma" panose="020B0604030504040204" pitchFamily="34" charset="0"/>
                <a:ea typeface="宋体" panose="02010600030101010101" pitchFamily="2" charset="-122"/>
              </a:rPr>
              <a:t> = 2</a:t>
            </a:r>
            <a:endParaRPr lang="en-US" altLang="zh-CN" sz="2400" b="0">
              <a:solidFill>
                <a:schemeClr val="tx1"/>
              </a:solidFill>
              <a:latin typeface="Tahoma" panose="020B0604030504040204" pitchFamily="34" charset="0"/>
              <a:ea typeface="宋体" panose="02010600030101010101" pitchFamily="2" charset="-122"/>
            </a:endParaRPr>
          </a:p>
        </p:txBody>
      </p:sp>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5554" name="Rectangle 1026"/>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Important Details of Apriori</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49154" name="Rectangle 1027"/>
          <p:cNvSpPr>
            <a:spLocks noGrp="1"/>
          </p:cNvSpPr>
          <p:nvPr>
            <p:ph idx="1"/>
          </p:nvPr>
        </p:nvSpPr>
        <p:spPr>
          <a:xfrm>
            <a:off x="381000" y="1671638"/>
            <a:ext cx="8382000" cy="4729162"/>
          </a:xfrm>
          <a:ln/>
        </p:spPr>
        <p:txBody>
          <a:bodyPr vert="horz" wrap="square" lIns="91440" tIns="45720" rIns="91440" bIns="45720" anchor="t" anchorCtr="0"/>
          <a:p>
            <a:pPr>
              <a:lnSpc>
                <a:spcPct val="110000"/>
              </a:lnSpc>
            </a:pPr>
            <a:r>
              <a:rPr lang="en-US" altLang="zh-CN" sz="2000">
                <a:ea typeface="宋体" panose="02010600030101010101" pitchFamily="2" charset="-122"/>
              </a:rPr>
              <a:t>How to generate candidates?</a:t>
            </a:r>
            <a:endParaRPr lang="en-US" altLang="zh-CN" sz="2000">
              <a:ea typeface="宋体" panose="02010600030101010101" pitchFamily="2" charset="-122"/>
            </a:endParaRPr>
          </a:p>
          <a:p>
            <a:pPr lvl="1">
              <a:lnSpc>
                <a:spcPct val="110000"/>
              </a:lnSpc>
            </a:pPr>
            <a:r>
              <a:rPr lang="en-US" altLang="zh-CN" sz="1800">
                <a:ea typeface="宋体" panose="02010600030101010101" pitchFamily="2" charset="-122"/>
              </a:rPr>
              <a:t>Step 1: self-joining </a:t>
            </a:r>
            <a:r>
              <a:rPr lang="en-US" altLang="zh-CN" sz="1800" i="1">
                <a:ea typeface="宋体" panose="02010600030101010101" pitchFamily="2" charset="-122"/>
              </a:rPr>
              <a:t>L</a:t>
            </a:r>
            <a:r>
              <a:rPr lang="en-US" altLang="zh-CN" sz="1800" i="1" baseline="-25000">
                <a:ea typeface="宋体" panose="02010600030101010101" pitchFamily="2" charset="-122"/>
              </a:rPr>
              <a:t>k</a:t>
            </a:r>
            <a:endParaRPr lang="en-US" altLang="zh-CN" sz="1800" i="1" baseline="-25000">
              <a:ea typeface="宋体" panose="02010600030101010101" pitchFamily="2" charset="-122"/>
            </a:endParaRPr>
          </a:p>
          <a:p>
            <a:pPr lvl="1">
              <a:lnSpc>
                <a:spcPct val="110000"/>
              </a:lnSpc>
            </a:pPr>
            <a:r>
              <a:rPr lang="en-US" altLang="zh-CN" sz="1800">
                <a:ea typeface="宋体" panose="02010600030101010101" pitchFamily="2" charset="-122"/>
              </a:rPr>
              <a:t>Step 2: pruning</a:t>
            </a:r>
            <a:endParaRPr lang="en-US" altLang="zh-CN" sz="1800">
              <a:ea typeface="宋体" panose="02010600030101010101" pitchFamily="2" charset="-122"/>
            </a:endParaRPr>
          </a:p>
          <a:p>
            <a:pPr>
              <a:lnSpc>
                <a:spcPct val="110000"/>
              </a:lnSpc>
            </a:pPr>
            <a:r>
              <a:rPr lang="en-US" altLang="zh-CN" sz="2000">
                <a:ea typeface="宋体" panose="02010600030101010101" pitchFamily="2" charset="-122"/>
              </a:rPr>
              <a:t>How to count supports of candidates?</a:t>
            </a:r>
            <a:endParaRPr lang="en-US" altLang="zh-CN" sz="2000">
              <a:ea typeface="宋体" panose="02010600030101010101" pitchFamily="2" charset="-122"/>
            </a:endParaRPr>
          </a:p>
          <a:p>
            <a:pPr>
              <a:lnSpc>
                <a:spcPct val="110000"/>
              </a:lnSpc>
            </a:pPr>
            <a:r>
              <a:rPr lang="en-US" altLang="zh-CN" sz="2000">
                <a:ea typeface="宋体" panose="02010600030101010101" pitchFamily="2" charset="-122"/>
              </a:rPr>
              <a:t>Example of Candidate-generation</a:t>
            </a:r>
            <a:endParaRPr lang="en-US" altLang="zh-CN" sz="2000">
              <a:ea typeface="宋体" panose="02010600030101010101" pitchFamily="2" charset="-122"/>
            </a:endParaRPr>
          </a:p>
          <a:p>
            <a:pPr lvl="1">
              <a:lnSpc>
                <a:spcPct val="110000"/>
              </a:lnSpc>
            </a:pPr>
            <a:r>
              <a:rPr lang="en-US" altLang="zh-CN" sz="1800" i="1">
                <a:ea typeface="宋体" panose="02010600030101010101" pitchFamily="2" charset="-122"/>
              </a:rPr>
              <a:t>L</a:t>
            </a:r>
            <a:r>
              <a:rPr lang="en-US" altLang="zh-CN" sz="1800" i="1" baseline="-25000">
                <a:ea typeface="宋体" panose="02010600030101010101" pitchFamily="2" charset="-122"/>
              </a:rPr>
              <a:t>3</a:t>
            </a:r>
            <a:r>
              <a:rPr lang="en-US" altLang="zh-CN" sz="1800" i="1">
                <a:ea typeface="宋体" panose="02010600030101010101" pitchFamily="2" charset="-122"/>
              </a:rPr>
              <a:t>=</a:t>
            </a:r>
            <a:r>
              <a:rPr lang="en-US" altLang="zh-CN" sz="1800">
                <a:ea typeface="宋体" panose="02010600030101010101" pitchFamily="2" charset="-122"/>
              </a:rPr>
              <a:t>{</a:t>
            </a:r>
            <a:r>
              <a:rPr lang="en-US" altLang="zh-CN" sz="1800" i="1">
                <a:ea typeface="宋体" panose="02010600030101010101" pitchFamily="2" charset="-122"/>
              </a:rPr>
              <a:t>abc, abd, acd, ace, bcd</a:t>
            </a:r>
            <a:r>
              <a:rPr lang="en-US" altLang="zh-CN" sz="1800">
                <a:ea typeface="宋体" panose="02010600030101010101" pitchFamily="2" charset="-122"/>
              </a:rPr>
              <a:t>}</a:t>
            </a:r>
            <a:endParaRPr lang="en-US" altLang="zh-CN" sz="1800">
              <a:ea typeface="宋体" panose="02010600030101010101" pitchFamily="2" charset="-122"/>
            </a:endParaRPr>
          </a:p>
          <a:p>
            <a:pPr lvl="1">
              <a:lnSpc>
                <a:spcPct val="110000"/>
              </a:lnSpc>
            </a:pPr>
            <a:r>
              <a:rPr lang="en-US" altLang="zh-CN" sz="1800">
                <a:ea typeface="宋体" panose="02010600030101010101" pitchFamily="2" charset="-122"/>
              </a:rPr>
              <a:t>Self-joining: </a:t>
            </a:r>
            <a:r>
              <a:rPr lang="en-US" altLang="zh-CN" sz="1800" i="1">
                <a:ea typeface="宋体" panose="02010600030101010101" pitchFamily="2" charset="-122"/>
              </a:rPr>
              <a:t>L</a:t>
            </a:r>
            <a:r>
              <a:rPr lang="en-US" altLang="zh-CN" sz="1800" i="1" baseline="-25000">
                <a:ea typeface="宋体" panose="02010600030101010101" pitchFamily="2" charset="-122"/>
              </a:rPr>
              <a:t>3</a:t>
            </a:r>
            <a:r>
              <a:rPr lang="en-US" altLang="zh-CN" sz="1800" i="1">
                <a:ea typeface="宋体" panose="02010600030101010101" pitchFamily="2" charset="-122"/>
              </a:rPr>
              <a:t>*L</a:t>
            </a:r>
            <a:r>
              <a:rPr lang="en-US" altLang="zh-CN" sz="1800" i="1" baseline="-25000">
                <a:ea typeface="宋体" panose="02010600030101010101" pitchFamily="2" charset="-122"/>
              </a:rPr>
              <a:t>3</a:t>
            </a:r>
            <a:endParaRPr lang="en-US" altLang="zh-CN" sz="1800" i="1">
              <a:ea typeface="宋体" panose="02010600030101010101" pitchFamily="2" charset="-122"/>
            </a:endParaRPr>
          </a:p>
          <a:p>
            <a:pPr lvl="2">
              <a:lnSpc>
                <a:spcPct val="110000"/>
              </a:lnSpc>
            </a:pPr>
            <a:r>
              <a:rPr lang="en-US" altLang="zh-CN" sz="1600" i="1">
                <a:ea typeface="宋体" panose="02010600030101010101" pitchFamily="2" charset="-122"/>
              </a:rPr>
              <a:t>abcd </a:t>
            </a:r>
            <a:r>
              <a:rPr lang="en-US" altLang="zh-CN" sz="1600">
                <a:ea typeface="宋体" panose="02010600030101010101" pitchFamily="2" charset="-122"/>
              </a:rPr>
              <a:t>from </a:t>
            </a:r>
            <a:r>
              <a:rPr lang="en-US" altLang="zh-CN" sz="1600" i="1">
                <a:ea typeface="宋体" panose="02010600030101010101" pitchFamily="2" charset="-122"/>
              </a:rPr>
              <a:t>abc</a:t>
            </a:r>
            <a:r>
              <a:rPr lang="en-US" altLang="zh-CN" sz="1600">
                <a:ea typeface="宋体" panose="02010600030101010101" pitchFamily="2" charset="-122"/>
              </a:rPr>
              <a:t> and </a:t>
            </a:r>
            <a:r>
              <a:rPr lang="en-US" altLang="zh-CN" sz="1600" i="1">
                <a:ea typeface="宋体" panose="02010600030101010101" pitchFamily="2" charset="-122"/>
              </a:rPr>
              <a:t>abd</a:t>
            </a:r>
            <a:endParaRPr lang="en-US" altLang="zh-CN" sz="1600" i="1">
              <a:ea typeface="宋体" panose="02010600030101010101" pitchFamily="2" charset="-122"/>
            </a:endParaRPr>
          </a:p>
          <a:p>
            <a:pPr lvl="2">
              <a:lnSpc>
                <a:spcPct val="110000"/>
              </a:lnSpc>
            </a:pPr>
            <a:r>
              <a:rPr lang="en-US" altLang="zh-CN" sz="1600" i="1">
                <a:ea typeface="宋体" panose="02010600030101010101" pitchFamily="2" charset="-122"/>
              </a:rPr>
              <a:t>acde</a:t>
            </a:r>
            <a:r>
              <a:rPr lang="en-US" altLang="zh-CN" sz="1600">
                <a:ea typeface="宋体" panose="02010600030101010101" pitchFamily="2" charset="-122"/>
              </a:rPr>
              <a:t> from </a:t>
            </a:r>
            <a:r>
              <a:rPr lang="en-US" altLang="zh-CN" sz="1600" i="1">
                <a:ea typeface="宋体" panose="02010600030101010101" pitchFamily="2" charset="-122"/>
              </a:rPr>
              <a:t>acd</a:t>
            </a:r>
            <a:r>
              <a:rPr lang="en-US" altLang="zh-CN" sz="1600">
                <a:ea typeface="宋体" panose="02010600030101010101" pitchFamily="2" charset="-122"/>
              </a:rPr>
              <a:t> and </a:t>
            </a:r>
            <a:r>
              <a:rPr lang="en-US" altLang="zh-CN" sz="1600" i="1">
                <a:ea typeface="宋体" panose="02010600030101010101" pitchFamily="2" charset="-122"/>
              </a:rPr>
              <a:t>ace</a:t>
            </a:r>
            <a:endParaRPr lang="en-US" altLang="zh-CN" sz="1600" i="1">
              <a:ea typeface="宋体" panose="02010600030101010101" pitchFamily="2" charset="-122"/>
            </a:endParaRPr>
          </a:p>
          <a:p>
            <a:pPr lvl="1">
              <a:lnSpc>
                <a:spcPct val="110000"/>
              </a:lnSpc>
            </a:pPr>
            <a:r>
              <a:rPr lang="en-US" altLang="zh-CN" sz="1800">
                <a:ea typeface="宋体" panose="02010600030101010101" pitchFamily="2" charset="-122"/>
              </a:rPr>
              <a:t>Pruning:</a:t>
            </a:r>
            <a:endParaRPr lang="en-US" altLang="zh-CN" sz="1800">
              <a:ea typeface="宋体" panose="02010600030101010101" pitchFamily="2" charset="-122"/>
            </a:endParaRPr>
          </a:p>
          <a:p>
            <a:pPr lvl="2">
              <a:lnSpc>
                <a:spcPct val="110000"/>
              </a:lnSpc>
            </a:pPr>
            <a:r>
              <a:rPr lang="en-US" altLang="zh-CN" sz="1600" i="1">
                <a:ea typeface="宋体" panose="02010600030101010101" pitchFamily="2" charset="-122"/>
              </a:rPr>
              <a:t>acde</a:t>
            </a:r>
            <a:r>
              <a:rPr lang="en-US" altLang="zh-CN" sz="1600">
                <a:ea typeface="宋体" panose="02010600030101010101" pitchFamily="2" charset="-122"/>
              </a:rPr>
              <a:t> is removed because </a:t>
            </a:r>
            <a:r>
              <a:rPr lang="en-US" altLang="zh-CN" sz="1600" i="1">
                <a:ea typeface="宋体" panose="02010600030101010101" pitchFamily="2" charset="-122"/>
              </a:rPr>
              <a:t>ade</a:t>
            </a:r>
            <a:r>
              <a:rPr lang="en-US" altLang="zh-CN" sz="1600">
                <a:ea typeface="宋体" panose="02010600030101010101" pitchFamily="2" charset="-122"/>
              </a:rPr>
              <a:t> is not in </a:t>
            </a:r>
            <a:r>
              <a:rPr lang="en-US" altLang="zh-CN" sz="1600" i="1">
                <a:ea typeface="宋体" panose="02010600030101010101" pitchFamily="2" charset="-122"/>
              </a:rPr>
              <a:t>L</a:t>
            </a:r>
            <a:r>
              <a:rPr lang="en-US" altLang="zh-CN" sz="1600" i="1" baseline="-25000">
                <a:ea typeface="宋体" panose="02010600030101010101" pitchFamily="2" charset="-122"/>
              </a:rPr>
              <a:t>3</a:t>
            </a:r>
            <a:endParaRPr lang="en-US" altLang="zh-CN" sz="1600" i="1" baseline="-25000">
              <a:ea typeface="宋体" panose="02010600030101010101" pitchFamily="2" charset="-122"/>
            </a:endParaRPr>
          </a:p>
          <a:p>
            <a:pPr lvl="1">
              <a:lnSpc>
                <a:spcPct val="110000"/>
              </a:lnSpc>
            </a:pPr>
            <a:r>
              <a:rPr lang="en-US" altLang="zh-CN" sz="1800" i="1">
                <a:ea typeface="宋体" panose="02010600030101010101" pitchFamily="2" charset="-122"/>
              </a:rPr>
              <a:t>C</a:t>
            </a:r>
            <a:r>
              <a:rPr lang="en-US" altLang="zh-CN" sz="1800" i="1" baseline="-25000">
                <a:ea typeface="宋体" panose="02010600030101010101" pitchFamily="2" charset="-122"/>
              </a:rPr>
              <a:t>4</a:t>
            </a:r>
            <a:r>
              <a:rPr lang="en-US" altLang="zh-CN" sz="1800">
                <a:ea typeface="宋体" panose="02010600030101010101" pitchFamily="2" charset="-122"/>
              </a:rPr>
              <a:t>={</a:t>
            </a:r>
            <a:r>
              <a:rPr lang="en-US" altLang="zh-CN" sz="1800" i="1">
                <a:ea typeface="宋体" panose="02010600030101010101" pitchFamily="2" charset="-122"/>
              </a:rPr>
              <a:t>abcd</a:t>
            </a:r>
            <a:r>
              <a:rPr lang="en-US" altLang="zh-CN" sz="1800">
                <a:ea typeface="宋体" panose="02010600030101010101" pitchFamily="2" charset="-122"/>
              </a:rPr>
              <a:t>}</a:t>
            </a:r>
            <a:endParaRPr lang="en-US" altLang="zh-CN" sz="1800">
              <a:ea typeface="宋体" panose="02010600030101010101" pitchFamily="2" charset="-122"/>
            </a:endParaRPr>
          </a:p>
          <a:p>
            <a:pPr>
              <a:lnSpc>
                <a:spcPct val="110000"/>
              </a:lnSpc>
            </a:pPr>
            <a:endParaRPr lang="en-US" altLang="zh-CN" sz="1800">
              <a:ea typeface="宋体" panose="02010600030101010101" pitchFamily="2" charset="-122"/>
            </a:endParaRPr>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noChangeArrowheads="1"/>
          </p:cNvSpPr>
          <p:nvPr>
            <p:ph type="title"/>
          </p:nvPr>
        </p:nvSpPr>
        <p:spPr>
          <a:xfrm>
            <a:off x="304800" y="609600"/>
            <a:ext cx="8686800" cy="533400"/>
          </a:xfrm>
        </p:spPr>
        <p:txBody>
          <a:bodyPr vert="horz" wrap="square" lIns="92075" tIns="46038" rIns="92075" bIns="46038" numCol="1" anchor="ctr" anchorCtr="0" compatLnSpc="1"/>
          <a:p>
            <a:pPr>
              <a:buNone/>
            </a:pPr>
            <a:r>
              <a:rPr lang="zh-CN" altLang="en-US">
                <a:effectLst>
                  <a:outerShdw blurRad="38100" dist="38100" dir="2700000">
                    <a:srgbClr val="000000"/>
                  </a:outerShdw>
                </a:effectLst>
                <a:ea typeface="宋体" panose="02010600030101010101" pitchFamily="2" charset="-122"/>
              </a:rPr>
              <a:t>对</a:t>
            </a:r>
            <a:r>
              <a:rPr lang="en-US" altLang="zh-CN">
                <a:effectLst>
                  <a:outerShdw blurRad="38100" dist="38100" dir="2700000">
                    <a:srgbClr val="000000"/>
                  </a:outerShdw>
                </a:effectLst>
                <a:ea typeface="宋体" panose="02010600030101010101" pitchFamily="2" charset="-122"/>
              </a:rPr>
              <a:t>A-priori</a:t>
            </a:r>
            <a:r>
              <a:rPr lang="zh-CN" altLang="en-US">
                <a:effectLst>
                  <a:outerShdw blurRad="38100" dist="38100" dir="2700000">
                    <a:srgbClr val="000000"/>
                  </a:outerShdw>
                </a:effectLst>
                <a:ea typeface="宋体" panose="02010600030101010101" pitchFamily="2" charset="-122"/>
              </a:rPr>
              <a:t>算法的改进</a:t>
            </a:r>
            <a:endParaRPr lang="en-US" altLang="zh-CN">
              <a:effectLst>
                <a:outerShdw blurRad="38100" dist="38100" dir="2700000">
                  <a:srgbClr val="000000"/>
                </a:outerShdw>
              </a:effectLst>
              <a:ea typeface="宋体" panose="02010600030101010101" pitchFamily="2" charset="-122"/>
            </a:endParaRPr>
          </a:p>
        </p:txBody>
      </p:sp>
      <p:sp>
        <p:nvSpPr>
          <p:cNvPr id="50178" name="Rectangle 3"/>
          <p:cNvSpPr>
            <a:spLocks noGrp="1"/>
          </p:cNvSpPr>
          <p:nvPr>
            <p:ph idx="1"/>
          </p:nvPr>
        </p:nvSpPr>
        <p:spPr>
          <a:xfrm>
            <a:off x="457200" y="1524000"/>
            <a:ext cx="8686800" cy="5105400"/>
          </a:xfrm>
          <a:ln/>
        </p:spPr>
        <p:txBody>
          <a:bodyPr vert="horz" wrap="square" lIns="92075" tIns="46038" rIns="92075" bIns="46038" anchor="t" anchorCtr="0"/>
          <a:p>
            <a:pPr marL="533400" indent="-533400" algn="just">
              <a:buFont typeface="Monotype Sorts" pitchFamily="2" charset="2"/>
              <a:buAutoNum type="arabicPeriod"/>
            </a:pPr>
            <a:r>
              <a:rPr lang="zh-CN" altLang="en-US" sz="2400">
                <a:ea typeface="宋体" panose="02010600030101010101" pitchFamily="2" charset="-122"/>
              </a:rPr>
              <a:t>当&gt;=2时,减小候选集</a:t>
            </a:r>
            <a:r>
              <a:rPr lang="en-US" altLang="zh-CN" sz="2400">
                <a:ea typeface="宋体" panose="02010600030101010101" pitchFamily="2" charset="-122"/>
              </a:rPr>
              <a:t>C</a:t>
            </a:r>
            <a:r>
              <a:rPr lang="en-US" altLang="zh-CN" sz="1800">
                <a:ea typeface="宋体" panose="02010600030101010101" pitchFamily="2" charset="-122"/>
              </a:rPr>
              <a:t>i</a:t>
            </a:r>
            <a:r>
              <a:rPr lang="zh-CN" altLang="en-US" sz="2400">
                <a:ea typeface="宋体" panose="02010600030101010101" pitchFamily="2" charset="-122"/>
              </a:rPr>
              <a:t>的大小.这一点非常重要,因为即使对于找频繁的对(大小为2的频繁项目集),候选集的大小必须足够小,给每个对加一个计数器之后还可以在内存中放得下</a:t>
            </a:r>
            <a:endParaRPr lang="zh-CN" altLang="en-US" sz="2400">
              <a:ea typeface="宋体" panose="02010600030101010101" pitchFamily="2" charset="-122"/>
            </a:endParaRPr>
          </a:p>
          <a:p>
            <a:pPr marL="533400" indent="-533400" algn="just">
              <a:buNone/>
            </a:pPr>
            <a:r>
              <a:rPr lang="zh-CN" altLang="en-US" sz="2400">
                <a:ea typeface="宋体" panose="02010600030101010101" pitchFamily="2" charset="-122"/>
              </a:rPr>
              <a:t>	</a:t>
            </a:r>
            <a:r>
              <a:rPr lang="zh-CN" altLang="en-US" sz="2000">
                <a:solidFill>
                  <a:schemeClr val="tx1"/>
                </a:solidFill>
                <a:ea typeface="宋体" panose="02010600030101010101" pitchFamily="2" charset="-122"/>
              </a:rPr>
              <a:t>（基于</a:t>
            </a:r>
            <a:r>
              <a:rPr lang="en-US" altLang="zh-CN" sz="2000">
                <a:solidFill>
                  <a:schemeClr val="tx1"/>
                </a:solidFill>
                <a:ea typeface="宋体" panose="02010600030101010101" pitchFamily="2" charset="-122"/>
              </a:rPr>
              <a:t>hash</a:t>
            </a:r>
            <a:r>
              <a:rPr lang="zh-CN" altLang="en-US" sz="2000">
                <a:solidFill>
                  <a:schemeClr val="tx1"/>
                </a:solidFill>
                <a:ea typeface="宋体" panose="02010600030101010101" pitchFamily="2" charset="-122"/>
              </a:rPr>
              <a:t>的算法以及</a:t>
            </a:r>
            <a:r>
              <a:rPr lang="en-US" altLang="zh-CN" sz="2000">
                <a:solidFill>
                  <a:schemeClr val="tx1"/>
                </a:solidFill>
                <a:ea typeface="宋体" panose="02010600030101010101" pitchFamily="2" charset="-122"/>
              </a:rPr>
              <a:t>Iceberg </a:t>
            </a:r>
            <a:r>
              <a:rPr lang="zh-CN" altLang="en-US" sz="2000">
                <a:solidFill>
                  <a:schemeClr val="tx1"/>
                </a:solidFill>
                <a:ea typeface="宋体" panose="02010600030101010101" pitchFamily="2" charset="-122"/>
              </a:rPr>
              <a:t>查询对</a:t>
            </a:r>
            <a:r>
              <a:rPr lang="en-US" altLang="zh-CN" sz="2000">
                <a:solidFill>
                  <a:schemeClr val="tx1"/>
                </a:solidFill>
                <a:ea typeface="宋体" panose="02010600030101010101" pitchFamily="2" charset="-122"/>
              </a:rPr>
              <a:t>hash</a:t>
            </a:r>
            <a:r>
              <a:rPr lang="zh-CN" altLang="en-US" sz="2000">
                <a:solidFill>
                  <a:schemeClr val="tx1"/>
                </a:solidFill>
                <a:ea typeface="宋体" panose="02010600030101010101" pitchFamily="2" charset="-122"/>
              </a:rPr>
              <a:t>算法的改进）</a:t>
            </a:r>
            <a:endParaRPr lang="zh-CN" altLang="en-US" sz="2000">
              <a:solidFill>
                <a:schemeClr val="tx1"/>
              </a:solidFill>
              <a:ea typeface="宋体" panose="02010600030101010101" pitchFamily="2" charset="-122"/>
            </a:endParaRPr>
          </a:p>
          <a:p>
            <a:pPr marL="533400" indent="-533400" algn="just">
              <a:buNone/>
            </a:pPr>
            <a:r>
              <a:rPr lang="zh-CN" altLang="en-US" sz="2400">
                <a:ea typeface="宋体" panose="02010600030101010101" pitchFamily="2" charset="-122"/>
              </a:rPr>
              <a:t>2.	把找</a:t>
            </a:r>
            <a:r>
              <a:rPr lang="en-US" altLang="zh-CN" sz="2400">
                <a:ea typeface="宋体" panose="02010600030101010101" pitchFamily="2" charset="-122"/>
              </a:rPr>
              <a:t>L1,L2,…,Ln</a:t>
            </a:r>
            <a:r>
              <a:rPr lang="zh-CN" altLang="en-US" sz="2400">
                <a:ea typeface="宋体" panose="02010600030101010101" pitchFamily="2" charset="-122"/>
              </a:rPr>
              <a:t>的过程合并成一次(最多两次)扫描,而不是每层扫描一次</a:t>
            </a:r>
            <a:endParaRPr lang="zh-CN" altLang="en-US" sz="2400">
              <a:ea typeface="宋体" panose="02010600030101010101" pitchFamily="2" charset="-122"/>
            </a:endParaRPr>
          </a:p>
          <a:p>
            <a:pPr marL="533400" indent="-533400" algn="just">
              <a:buNone/>
            </a:pPr>
            <a:r>
              <a:rPr lang="zh-CN" altLang="en-US" sz="2000">
                <a:solidFill>
                  <a:schemeClr val="tx1"/>
                </a:solidFill>
                <a:ea typeface="宋体" panose="02010600030101010101" pitchFamily="2" charset="-122"/>
              </a:rPr>
              <a:t>	（</a:t>
            </a:r>
            <a:r>
              <a:rPr lang="en-US" altLang="zh-CN" sz="2000">
                <a:solidFill>
                  <a:schemeClr val="tx1"/>
                </a:solidFill>
                <a:ea typeface="宋体" panose="02010600030101010101" pitchFamily="2" charset="-122"/>
              </a:rPr>
              <a:t>Sample</a:t>
            </a:r>
            <a:r>
              <a:rPr lang="zh-CN" altLang="en-US" sz="2000">
                <a:solidFill>
                  <a:schemeClr val="tx1"/>
                </a:solidFill>
                <a:ea typeface="宋体" panose="02010600030101010101" pitchFamily="2" charset="-122"/>
              </a:rPr>
              <a:t>算法，</a:t>
            </a:r>
            <a:r>
              <a:rPr lang="en-US" altLang="zh-CN" sz="2000">
                <a:solidFill>
                  <a:schemeClr val="tx1"/>
                </a:solidFill>
                <a:ea typeface="宋体" panose="02010600030101010101" pitchFamily="2" charset="-122"/>
              </a:rPr>
              <a:t>Partition</a:t>
            </a:r>
            <a:r>
              <a:rPr lang="zh-CN" altLang="en-US" sz="2000">
                <a:solidFill>
                  <a:schemeClr val="tx1"/>
                </a:solidFill>
                <a:ea typeface="宋体" panose="02010600030101010101" pitchFamily="2" charset="-122"/>
              </a:rPr>
              <a:t>算法，</a:t>
            </a:r>
            <a:r>
              <a:rPr lang="en-US" altLang="zh-CN" sz="2000">
                <a:solidFill>
                  <a:schemeClr val="tx1"/>
                </a:solidFill>
                <a:ea typeface="宋体" panose="02010600030101010101" pitchFamily="2" charset="-122"/>
              </a:rPr>
              <a:t>Dynamic</a:t>
            </a:r>
            <a:r>
              <a:rPr lang="zh-CN" altLang="en-US" sz="2000">
                <a:solidFill>
                  <a:schemeClr val="tx1"/>
                </a:solidFill>
                <a:ea typeface="宋体" panose="02010600030101010101" pitchFamily="2" charset="-122"/>
              </a:rPr>
              <a:t>算法）</a:t>
            </a:r>
            <a:r>
              <a:rPr lang="zh-CN" altLang="en-US" sz="2400">
                <a:ea typeface="宋体" panose="02010600030101010101" pitchFamily="2" charset="-122"/>
              </a:rPr>
              <a:t>  </a:t>
            </a:r>
            <a:endParaRPr lang="zh-CN" altLang="en-US" sz="2400">
              <a:ea typeface="宋体" panose="02010600030101010101" pitchFamily="2" charset="-122"/>
            </a:endParaRPr>
          </a:p>
          <a:p>
            <a:pPr marL="533400" indent="-533400" algn="just">
              <a:buNone/>
            </a:pPr>
            <a:r>
              <a:rPr lang="zh-CN" altLang="en-US" sz="2400">
                <a:ea typeface="宋体" panose="02010600030101010101" pitchFamily="2" charset="-122"/>
              </a:rPr>
              <a:t>3.	减小数据库的大小</a:t>
            </a:r>
            <a:endParaRPr lang="zh-CN" altLang="en-US" sz="2400">
              <a:ea typeface="宋体" panose="02010600030101010101" pitchFamily="2" charset="-122"/>
            </a:endParaRPr>
          </a:p>
          <a:p>
            <a:pPr marL="533400" indent="-533400" algn="just">
              <a:buNone/>
            </a:pPr>
            <a:r>
              <a:rPr lang="zh-CN" altLang="en-US" sz="2400">
                <a:ea typeface="宋体" panose="02010600030101010101" pitchFamily="2" charset="-122"/>
              </a:rPr>
              <a:t>	任何一个事务（一个购物蓝），如果它不包含</a:t>
            </a:r>
            <a:endParaRPr lang="zh-CN" altLang="en-US" sz="2400">
              <a:ea typeface="宋体" panose="02010600030101010101" pitchFamily="2" charset="-122"/>
            </a:endParaRPr>
          </a:p>
          <a:p>
            <a:pPr marL="533400" indent="-533400" algn="just">
              <a:buNone/>
            </a:pPr>
            <a:r>
              <a:rPr lang="en-US" altLang="zh-CN" sz="2400">
                <a:ea typeface="宋体" panose="02010600030101010101" pitchFamily="2" charset="-122"/>
              </a:rPr>
              <a:t>	k-itemset</a:t>
            </a:r>
            <a:r>
              <a:rPr lang="zh-CN" altLang="en-US" sz="2400">
                <a:ea typeface="宋体" panose="02010600030101010101" pitchFamily="2" charset="-122"/>
              </a:rPr>
              <a:t>，则不包含</a:t>
            </a:r>
            <a:r>
              <a:rPr lang="en-US" altLang="zh-CN" sz="2400">
                <a:ea typeface="宋体" panose="02010600030101010101" pitchFamily="2" charset="-122"/>
              </a:rPr>
              <a:t>k+1-itemset，</a:t>
            </a:r>
            <a:r>
              <a:rPr lang="zh-CN" altLang="en-US" sz="2400">
                <a:ea typeface="宋体" panose="02010600030101010101" pitchFamily="2" charset="-122"/>
              </a:rPr>
              <a:t>可以去掉</a:t>
            </a:r>
            <a:endParaRPr lang="zh-CN" altLang="en-US" sz="2400">
              <a:ea typeface="宋体" panose="02010600030101010101" pitchFamily="2" charset="-122"/>
            </a:endParaRPr>
          </a:p>
          <a:p>
            <a:pPr marL="533400" indent="-533400" algn="just">
              <a:buNone/>
            </a:pPr>
            <a:r>
              <a:rPr lang="zh-CN" altLang="en-US" sz="2400">
                <a:ea typeface="宋体" panose="02010600030101010101" pitchFamily="2" charset="-122"/>
              </a:rPr>
              <a:t>	</a:t>
            </a:r>
            <a:r>
              <a:rPr lang="zh-CN" altLang="en-US" sz="2000">
                <a:solidFill>
                  <a:schemeClr val="tx1"/>
                </a:solidFill>
                <a:ea typeface="宋体" panose="02010600030101010101" pitchFamily="2" charset="-122"/>
              </a:rPr>
              <a:t>（基于</a:t>
            </a:r>
            <a:r>
              <a:rPr lang="en-US" altLang="zh-CN" sz="2000">
                <a:solidFill>
                  <a:schemeClr val="tx1"/>
                </a:solidFill>
                <a:ea typeface="宋体" panose="02010600030101010101" pitchFamily="2" charset="-122"/>
              </a:rPr>
              <a:t>hash</a:t>
            </a:r>
            <a:r>
              <a:rPr lang="zh-CN" altLang="en-US" sz="2000">
                <a:solidFill>
                  <a:schemeClr val="tx1"/>
                </a:solidFill>
                <a:ea typeface="宋体" panose="02010600030101010101" pitchFamily="2" charset="-122"/>
              </a:rPr>
              <a:t>的算法采用了该技术）</a:t>
            </a:r>
            <a:endParaRPr lang="zh-CN" altLang="en-US" sz="2000">
              <a:solidFill>
                <a:schemeClr val="tx1"/>
              </a:solidFill>
              <a:ea typeface="宋体" panose="02010600030101010101" pitchFamily="2" charset="-122"/>
            </a:endParaRPr>
          </a:p>
        </p:txBody>
      </p:sp>
    </p:spTree>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noChangeArrowheads="1"/>
          </p:cNvSpPr>
          <p:nvPr>
            <p:ph type="title"/>
          </p:nvPr>
        </p:nvSpPr>
        <p:spPr>
          <a:xfrm>
            <a:off x="304800" y="609600"/>
            <a:ext cx="8686800" cy="5334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基于</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hash</a:t>
            </a: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的算法</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52226" name="Rectangle 31"/>
          <p:cNvSpPr>
            <a:spLocks noGrp="1"/>
          </p:cNvSpPr>
          <p:nvPr>
            <p:ph idx="1"/>
          </p:nvPr>
        </p:nvSpPr>
        <p:spPr>
          <a:xfrm>
            <a:off x="228600" y="1524000"/>
            <a:ext cx="9144000" cy="5105400"/>
          </a:xfrm>
          <a:ln/>
        </p:spPr>
        <p:txBody>
          <a:bodyPr vert="horz" wrap="square" lIns="92075" tIns="46038" rIns="92075" bIns="46038" anchor="t" anchorCtr="0"/>
          <a:p>
            <a:pPr marL="533400" indent="-533400" algn="just">
              <a:buNone/>
            </a:pPr>
            <a:r>
              <a:rPr lang="zh-CN" altLang="en-US">
                <a:ea typeface="宋体" panose="02010600030101010101" pitchFamily="2" charset="-122"/>
              </a:rPr>
              <a:t>利用了内存通常比项目数要大的事实,在第一次扫描数</a:t>
            </a:r>
            <a:endParaRPr lang="zh-CN" altLang="en-US">
              <a:ea typeface="宋体" panose="02010600030101010101" pitchFamily="2" charset="-122"/>
            </a:endParaRPr>
          </a:p>
          <a:p>
            <a:pPr marL="533400" indent="-533400" algn="just">
              <a:buNone/>
            </a:pPr>
            <a:r>
              <a:rPr lang="zh-CN" altLang="en-US">
                <a:ea typeface="宋体" panose="02010600030101010101" pitchFamily="2" charset="-122"/>
              </a:rPr>
              <a:t>据决定</a:t>
            </a:r>
            <a:r>
              <a:rPr lang="en-US" altLang="zh-CN">
                <a:ea typeface="宋体" panose="02010600030101010101" pitchFamily="2" charset="-122"/>
              </a:rPr>
              <a:t>L1</a:t>
            </a:r>
            <a:r>
              <a:rPr lang="zh-CN" altLang="en-US">
                <a:ea typeface="宋体" panose="02010600030101010101" pitchFamily="2" charset="-122"/>
              </a:rPr>
              <a:t>的时候，建立一个哈希表（</a:t>
            </a:r>
            <a:r>
              <a:rPr lang="en-US" altLang="zh-CN">
                <a:ea typeface="宋体" panose="02010600030101010101" pitchFamily="2" charset="-122"/>
              </a:rPr>
              <a:t>P237），</a:t>
            </a:r>
            <a:r>
              <a:rPr lang="zh-CN" altLang="en-US">
                <a:ea typeface="宋体" panose="02010600030101010101" pitchFamily="2" charset="-122"/>
              </a:rPr>
              <a:t>根据该</a:t>
            </a:r>
            <a:endParaRPr lang="zh-CN" altLang="en-US">
              <a:ea typeface="宋体" panose="02010600030101010101" pitchFamily="2" charset="-122"/>
            </a:endParaRPr>
          </a:p>
          <a:p>
            <a:pPr marL="533400" indent="-533400" algn="just">
              <a:buNone/>
            </a:pPr>
            <a:r>
              <a:rPr lang="zh-CN" altLang="en-US">
                <a:ea typeface="宋体" panose="02010600030101010101" pitchFamily="2" charset="-122"/>
              </a:rPr>
              <a:t>表的数据来提前去掉那些不可能是频繁的2-</a:t>
            </a:r>
            <a:r>
              <a:rPr lang="en-US" altLang="zh-CN">
                <a:ea typeface="宋体" panose="02010600030101010101" pitchFamily="2" charset="-122"/>
              </a:rPr>
              <a:t>itemset</a:t>
            </a:r>
            <a:endParaRPr lang="en-US" altLang="zh-CN">
              <a:ea typeface="宋体" panose="02010600030101010101" pitchFamily="2" charset="-122"/>
            </a:endParaRPr>
          </a:p>
          <a:p>
            <a:pPr marL="533400" indent="-533400" algn="just">
              <a:buNone/>
            </a:pPr>
            <a:endParaRPr lang="zh-CN" altLang="en-US">
              <a:ea typeface="宋体" panose="02010600030101010101" pitchFamily="2" charset="-122"/>
            </a:endParaRPr>
          </a:p>
          <a:p>
            <a:pPr marL="533400" indent="-533400" algn="just">
              <a:buNone/>
            </a:pPr>
            <a:r>
              <a:rPr lang="zh-CN" altLang="en-US">
                <a:ea typeface="宋体" panose="02010600030101010101" pitchFamily="2" charset="-122"/>
              </a:rPr>
              <a:t>在第一次开始扫描数据决定</a:t>
            </a:r>
            <a:r>
              <a:rPr lang="en-US" altLang="zh-CN">
                <a:ea typeface="宋体" panose="02010600030101010101" pitchFamily="2" charset="-122"/>
              </a:rPr>
              <a:t>L1</a:t>
            </a:r>
            <a:r>
              <a:rPr lang="zh-CN" altLang="en-US">
                <a:ea typeface="宋体" panose="02010600030101010101" pitchFamily="2" charset="-122"/>
              </a:rPr>
              <a:t>时，内存中的情况如图： </a:t>
            </a:r>
            <a:endParaRPr lang="zh-CN" altLang="en-US">
              <a:ea typeface="宋体" panose="02010600030101010101" pitchFamily="2" charset="-122"/>
            </a:endParaRPr>
          </a:p>
        </p:txBody>
      </p:sp>
      <p:grpSp>
        <p:nvGrpSpPr>
          <p:cNvPr id="52227" name="Group 40"/>
          <p:cNvGrpSpPr/>
          <p:nvPr/>
        </p:nvGrpSpPr>
        <p:grpSpPr>
          <a:xfrm>
            <a:off x="838200" y="4267200"/>
            <a:ext cx="2743200" cy="1676400"/>
            <a:chOff x="-3" y="-3"/>
            <a:chExt cx="884" cy="1062"/>
          </a:xfrm>
        </p:grpSpPr>
        <p:grpSp>
          <p:nvGrpSpPr>
            <p:cNvPr id="52228" name="Group 38"/>
            <p:cNvGrpSpPr/>
            <p:nvPr/>
          </p:nvGrpSpPr>
          <p:grpSpPr>
            <a:xfrm>
              <a:off x="0" y="0"/>
              <a:ext cx="878" cy="1056"/>
              <a:chOff x="0" y="0"/>
              <a:chExt cx="878" cy="1056"/>
            </a:xfrm>
          </p:grpSpPr>
          <p:grpSp>
            <p:nvGrpSpPr>
              <p:cNvPr id="52230" name="Group 35"/>
              <p:cNvGrpSpPr/>
              <p:nvPr/>
            </p:nvGrpSpPr>
            <p:grpSpPr>
              <a:xfrm>
                <a:off x="0" y="0"/>
                <a:ext cx="878" cy="480"/>
                <a:chOff x="0" y="0"/>
                <a:chExt cx="878" cy="480"/>
              </a:xfrm>
            </p:grpSpPr>
            <p:sp>
              <p:nvSpPr>
                <p:cNvPr id="52234" name="Rectangle 32"/>
                <p:cNvSpPr/>
                <p:nvPr/>
              </p:nvSpPr>
              <p:spPr>
                <a:xfrm>
                  <a:off x="43" y="0"/>
                  <a:ext cx="792" cy="480"/>
                </a:xfrm>
                <a:prstGeom prst="rect">
                  <a:avLst/>
                </a:prstGeom>
                <a:noFill/>
                <a:ln w="9525">
                  <a:noFill/>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just">
                    <a:spcBef>
                      <a:spcPct val="0"/>
                    </a:spcBef>
                    <a:buSzTx/>
                    <a:buFontTx/>
                    <a:buNone/>
                  </a:pPr>
                  <a:r>
                    <a:rPr lang="en-US" altLang="zh-CN" sz="2400" b="0">
                      <a:solidFill>
                        <a:schemeClr val="hlink"/>
                      </a:solidFill>
                      <a:ea typeface="宋体" panose="02010600030101010101" pitchFamily="2" charset="-122"/>
                    </a:rPr>
                    <a:t>Counter for  item</a:t>
                  </a:r>
                  <a:endParaRPr lang="en-US" altLang="zh-CN" sz="2400" b="0">
                    <a:solidFill>
                      <a:schemeClr val="hlink"/>
                    </a:solidFill>
                    <a:ea typeface="宋体" panose="02010600030101010101" pitchFamily="2" charset="-122"/>
                  </a:endParaRPr>
                </a:p>
                <a:p>
                  <a:pPr marL="0" lvl="0" indent="0" algn="just">
                    <a:spcBef>
                      <a:spcPct val="0"/>
                    </a:spcBef>
                    <a:buSzTx/>
                    <a:buFontTx/>
                    <a:buNone/>
                  </a:pPr>
                  <a:r>
                    <a:rPr lang="en-US" altLang="zh-CN" sz="1000" b="0">
                      <a:solidFill>
                        <a:schemeClr val="hlink"/>
                      </a:solidFill>
                      <a:ea typeface="宋体" panose="02010600030101010101" pitchFamily="2" charset="-122"/>
                    </a:rPr>
                    <a:t> </a:t>
                  </a:r>
                  <a:endParaRPr lang="en-US" altLang="zh-CN" sz="1000" b="0">
                    <a:solidFill>
                      <a:schemeClr val="hlink"/>
                    </a:solidFill>
                    <a:ea typeface="宋体" panose="02010600030101010101" pitchFamily="2" charset="-122"/>
                  </a:endParaRPr>
                </a:p>
                <a:p>
                  <a:pPr marL="0" lvl="0" indent="0" algn="just">
                    <a:spcBef>
                      <a:spcPct val="0"/>
                    </a:spcBef>
                    <a:buSzTx/>
                    <a:buFontTx/>
                    <a:buNone/>
                  </a:pPr>
                  <a:endParaRPr lang="en-US" altLang="zh-CN" sz="2400" b="0">
                    <a:solidFill>
                      <a:schemeClr val="hlink"/>
                    </a:solidFill>
                    <a:ea typeface="宋体" panose="02010600030101010101" pitchFamily="2" charset="-122"/>
                  </a:endParaRPr>
                </a:p>
              </p:txBody>
            </p:sp>
            <p:sp>
              <p:nvSpPr>
                <p:cNvPr id="52235" name="Rectangle 34"/>
                <p:cNvSpPr/>
                <p:nvPr/>
              </p:nvSpPr>
              <p:spPr>
                <a:xfrm>
                  <a:off x="0" y="0"/>
                  <a:ext cx="878" cy="48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grpSp>
            <p:nvGrpSpPr>
              <p:cNvPr id="52231" name="Group 37"/>
              <p:cNvGrpSpPr/>
              <p:nvPr/>
            </p:nvGrpSpPr>
            <p:grpSpPr>
              <a:xfrm>
                <a:off x="0" y="480"/>
                <a:ext cx="878" cy="576"/>
                <a:chOff x="0" y="480"/>
                <a:chExt cx="878" cy="576"/>
              </a:xfrm>
            </p:grpSpPr>
            <p:sp>
              <p:nvSpPr>
                <p:cNvPr id="52232" name="Rectangle 33"/>
                <p:cNvSpPr/>
                <p:nvPr/>
              </p:nvSpPr>
              <p:spPr>
                <a:xfrm>
                  <a:off x="43" y="480"/>
                  <a:ext cx="792" cy="576"/>
                </a:xfrm>
                <a:prstGeom prst="rect">
                  <a:avLst/>
                </a:prstGeom>
                <a:noFill/>
                <a:ln w="9525">
                  <a:noFill/>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just">
                    <a:spcBef>
                      <a:spcPct val="0"/>
                    </a:spcBef>
                    <a:buSzTx/>
                    <a:buFontTx/>
                    <a:buNone/>
                  </a:pPr>
                  <a:r>
                    <a:rPr lang="en-US" altLang="zh-CN" sz="2400" b="0">
                      <a:solidFill>
                        <a:schemeClr val="hlink"/>
                      </a:solidFill>
                      <a:ea typeface="宋体" panose="02010600030101010101" pitchFamily="2" charset="-122"/>
                    </a:rPr>
                    <a:t>Hash  table</a:t>
                  </a:r>
                  <a:endParaRPr lang="en-US" altLang="zh-CN" sz="2400" b="0">
                    <a:solidFill>
                      <a:schemeClr val="hlink"/>
                    </a:solidFill>
                    <a:ea typeface="宋体" panose="02010600030101010101" pitchFamily="2" charset="-122"/>
                  </a:endParaRPr>
                </a:p>
                <a:p>
                  <a:pPr marL="0" lvl="0" indent="0" algn="just">
                    <a:spcBef>
                      <a:spcPct val="0"/>
                    </a:spcBef>
                    <a:buSzTx/>
                    <a:buFontTx/>
                    <a:buNone/>
                  </a:pPr>
                  <a:r>
                    <a:rPr lang="en-US" altLang="zh-CN" sz="1000" b="0">
                      <a:solidFill>
                        <a:schemeClr val="hlink"/>
                      </a:solidFill>
                      <a:ea typeface="宋体" panose="02010600030101010101" pitchFamily="2" charset="-122"/>
                    </a:rPr>
                    <a:t> </a:t>
                  </a:r>
                  <a:endParaRPr lang="en-US" altLang="zh-CN" sz="1000" b="0">
                    <a:solidFill>
                      <a:schemeClr val="hlink"/>
                    </a:solidFill>
                    <a:ea typeface="宋体" panose="02010600030101010101" pitchFamily="2" charset="-122"/>
                  </a:endParaRPr>
                </a:p>
                <a:p>
                  <a:pPr marL="0" lvl="0" indent="0" algn="just">
                    <a:spcBef>
                      <a:spcPct val="0"/>
                    </a:spcBef>
                    <a:buSzTx/>
                    <a:buFontTx/>
                    <a:buNone/>
                  </a:pPr>
                  <a:r>
                    <a:rPr lang="en-US" altLang="zh-CN" sz="1000" b="0">
                      <a:solidFill>
                        <a:schemeClr val="hlink"/>
                      </a:solidFill>
                      <a:ea typeface="宋体" panose="02010600030101010101" pitchFamily="2" charset="-122"/>
                    </a:rPr>
                    <a:t> </a:t>
                  </a:r>
                  <a:endParaRPr lang="en-US" altLang="zh-CN" sz="1000" b="0">
                    <a:solidFill>
                      <a:schemeClr val="hlink"/>
                    </a:solidFill>
                    <a:ea typeface="宋体" panose="02010600030101010101" pitchFamily="2" charset="-122"/>
                  </a:endParaRPr>
                </a:p>
                <a:p>
                  <a:pPr marL="0" lvl="0" indent="0" algn="just">
                    <a:spcBef>
                      <a:spcPct val="0"/>
                    </a:spcBef>
                    <a:buSzTx/>
                    <a:buFontTx/>
                    <a:buNone/>
                  </a:pPr>
                  <a:endParaRPr lang="en-US" altLang="zh-CN" sz="2400" b="0">
                    <a:solidFill>
                      <a:schemeClr val="hlink"/>
                    </a:solidFill>
                    <a:ea typeface="宋体" panose="02010600030101010101" pitchFamily="2" charset="-122"/>
                  </a:endParaRPr>
                </a:p>
              </p:txBody>
            </p:sp>
            <p:sp>
              <p:nvSpPr>
                <p:cNvPr id="52233" name="Rectangle 36"/>
                <p:cNvSpPr/>
                <p:nvPr/>
              </p:nvSpPr>
              <p:spPr>
                <a:xfrm>
                  <a:off x="0" y="480"/>
                  <a:ext cx="878" cy="576"/>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grpSp>
        <p:sp>
          <p:nvSpPr>
            <p:cNvPr id="52229" name="Rectangle 39"/>
            <p:cNvSpPr/>
            <p:nvPr/>
          </p:nvSpPr>
          <p:spPr>
            <a:xfrm>
              <a:off x="-3" y="-3"/>
              <a:ext cx="884" cy="1062"/>
            </a:xfrm>
            <a:prstGeom prst="rect">
              <a:avLst/>
            </a:prstGeom>
            <a:noFill/>
            <a:ln w="11112"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spTree>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9170"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基于</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hash</a:t>
            </a: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的算法: </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pass 1</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53250" name="Rectangle 3"/>
          <p:cNvSpPr>
            <a:spLocks noGrp="1"/>
          </p:cNvSpPr>
          <p:nvPr>
            <p:ph idx="1"/>
          </p:nvPr>
        </p:nvSpPr>
        <p:spPr>
          <a:ln/>
        </p:spPr>
        <p:txBody>
          <a:bodyPr vert="horz" wrap="square" lIns="91440" tIns="45720" rIns="91440" bIns="45720" anchor="t" anchorCtr="0"/>
          <a:p>
            <a:pPr marL="533400" indent="-533400">
              <a:buFont typeface="Monotype Sorts" pitchFamily="2" charset="2"/>
              <a:buAutoNum type="arabicPeriod"/>
            </a:pPr>
            <a:r>
              <a:rPr lang="zh-CN" altLang="en-US">
                <a:ea typeface="宋体" panose="02010600030101010101" pitchFamily="2" charset="-122"/>
              </a:rPr>
              <a:t>计算所有项目的频度 </a:t>
            </a:r>
            <a:endParaRPr lang="zh-CN" altLang="en-US">
              <a:ea typeface="宋体" panose="02010600030101010101" pitchFamily="2" charset="-122"/>
            </a:endParaRPr>
          </a:p>
          <a:p>
            <a:pPr marL="533400" indent="-533400">
              <a:buFont typeface="Monotype Sorts" pitchFamily="2" charset="2"/>
              <a:buAutoNum type="arabicPeriod"/>
            </a:pPr>
            <a:endParaRPr lang="zh-CN" altLang="en-US">
              <a:ea typeface="宋体" panose="02010600030101010101" pitchFamily="2" charset="-122"/>
            </a:endParaRPr>
          </a:p>
          <a:p>
            <a:pPr marL="533400" indent="-533400">
              <a:buFont typeface="Monotype Sorts" pitchFamily="2" charset="2"/>
              <a:buAutoNum type="arabicPeriod"/>
            </a:pPr>
            <a:r>
              <a:rPr lang="zh-CN" altLang="en-US">
                <a:ea typeface="宋体" panose="02010600030101010101" pitchFamily="2" charset="-122"/>
              </a:rPr>
              <a:t>对每一个记录，将所有的 2-</a:t>
            </a:r>
            <a:r>
              <a:rPr lang="en-US" altLang="zh-CN">
                <a:ea typeface="宋体" panose="02010600030101010101" pitchFamily="2" charset="-122"/>
              </a:rPr>
              <a:t>Itemset </a:t>
            </a:r>
            <a:r>
              <a:rPr lang="zh-CN" altLang="en-US">
                <a:ea typeface="宋体" panose="02010600030101010101" pitchFamily="2" charset="-122"/>
              </a:rPr>
              <a:t>哈希到哈希表的某个桶中,桶的计数增加1</a:t>
            </a:r>
            <a:endParaRPr lang="zh-CN" altLang="en-US">
              <a:ea typeface="宋体" panose="02010600030101010101" pitchFamily="2" charset="-122"/>
            </a:endParaRPr>
          </a:p>
          <a:p>
            <a:pPr marL="533400" indent="-533400">
              <a:buFont typeface="Monotype Sorts" pitchFamily="2" charset="2"/>
              <a:buAutoNum type="arabicPeriod"/>
            </a:pPr>
            <a:endParaRPr lang="zh-CN" altLang="en-US">
              <a:ea typeface="宋体" panose="02010600030101010101" pitchFamily="2" charset="-122"/>
            </a:endParaRPr>
          </a:p>
          <a:p>
            <a:pPr marL="533400" indent="-533400">
              <a:buFont typeface="Monotype Sorts" pitchFamily="2" charset="2"/>
              <a:buAutoNum type="arabicPeriod"/>
            </a:pPr>
            <a:r>
              <a:rPr lang="zh-CN" altLang="en-US">
                <a:ea typeface="宋体" panose="02010600030101010101" pitchFamily="2" charset="-122"/>
              </a:rPr>
              <a:t>扫描结束时，将频度大于</a:t>
            </a:r>
            <a:r>
              <a:rPr lang="en-US" altLang="zh-CN">
                <a:ea typeface="宋体" panose="02010600030101010101" pitchFamily="2" charset="-122"/>
              </a:rPr>
              <a:t>s</a:t>
            </a:r>
            <a:r>
              <a:rPr lang="zh-CN" altLang="en-US">
                <a:ea typeface="宋体" panose="02010600030101010101" pitchFamily="2" charset="-122"/>
              </a:rPr>
              <a:t>的项目放入</a:t>
            </a:r>
            <a:r>
              <a:rPr lang="en-US" altLang="zh-CN">
                <a:ea typeface="宋体" panose="02010600030101010101" pitchFamily="2" charset="-122"/>
              </a:rPr>
              <a:t>L1</a:t>
            </a:r>
            <a:endParaRPr lang="en-US" altLang="zh-CN">
              <a:ea typeface="宋体" panose="02010600030101010101" pitchFamily="2" charset="-122"/>
            </a:endParaRPr>
          </a:p>
          <a:p>
            <a:pPr marL="533400" indent="-533400">
              <a:buFont typeface="Monotype Sorts" pitchFamily="2" charset="2"/>
              <a:buAutoNum type="arabicPeriod"/>
            </a:pPr>
            <a:endParaRPr lang="en-US" altLang="zh-CN">
              <a:ea typeface="宋体" panose="02010600030101010101" pitchFamily="2" charset="-122"/>
            </a:endParaRPr>
          </a:p>
          <a:p>
            <a:pPr marL="533400" indent="-533400">
              <a:buFont typeface="Monotype Sorts" pitchFamily="2" charset="2"/>
              <a:buAutoNum type="arabicPeriod"/>
            </a:pPr>
            <a:r>
              <a:rPr lang="zh-CN" altLang="en-US">
                <a:ea typeface="宋体" panose="02010600030101010101" pitchFamily="2" charset="-122"/>
              </a:rPr>
              <a:t>扫描结束时，找出哈希表中计数值大于</a:t>
            </a:r>
            <a:r>
              <a:rPr lang="en-US" altLang="zh-CN">
                <a:ea typeface="宋体" panose="02010600030101010101" pitchFamily="2" charset="-122"/>
              </a:rPr>
              <a:t>s</a:t>
            </a:r>
            <a:r>
              <a:rPr lang="zh-CN" altLang="en-US">
                <a:ea typeface="宋体" panose="02010600030101010101" pitchFamily="2" charset="-122"/>
              </a:rPr>
              <a:t>的桶（在结果位图中，相应位设为1） </a:t>
            </a:r>
            <a:endParaRPr lang="en-US" altLang="zh-CN">
              <a:ea typeface="宋体" panose="02010600030101010101" pitchFamily="2" charset="-122"/>
            </a:endParaRPr>
          </a:p>
          <a:p>
            <a:pPr marL="533400" indent="-533400">
              <a:buFont typeface="Monotype Sorts" pitchFamily="2" charset="2"/>
              <a:buAutoNum type="arabicPeriod"/>
            </a:pPr>
            <a:endParaRPr lang="zh-CN" altLang="en-US">
              <a:ea typeface="宋体" panose="02010600030101010101" pitchFamily="2" charset="-122"/>
            </a:endParaRPr>
          </a:p>
          <a:p>
            <a:pPr marL="533400" indent="-533400">
              <a:buFont typeface="Monotype Sorts" pitchFamily="2" charset="2"/>
              <a:buAutoNum type="arabicPeriod"/>
            </a:pPr>
            <a:endParaRPr lang="zh-CN" altLang="en-US">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3"/>
          <p:cNvSpPr>
            <a:spLocks noGrp="1"/>
          </p:cNvSpPr>
          <p:nvPr>
            <p:ph idx="1"/>
          </p:nvPr>
        </p:nvSpPr>
        <p:spPr>
          <a:ln/>
        </p:spPr>
        <p:txBody>
          <a:bodyPr vert="horz" wrap="square" lIns="91440" tIns="45720" rIns="91440" bIns="45720" anchor="t" anchorCtr="0"/>
          <a:p>
            <a:pPr algn="just">
              <a:buNone/>
            </a:pPr>
            <a:r>
              <a:rPr lang="zh-CN" altLang="en-US">
                <a:ea typeface="宋体" panose="02010600030101010101" pitchFamily="2" charset="-122"/>
              </a:rPr>
              <a:t>在第二次扫描数据决定</a:t>
            </a:r>
            <a:r>
              <a:rPr lang="en-US" altLang="zh-CN">
                <a:ea typeface="宋体" panose="02010600030101010101" pitchFamily="2" charset="-122"/>
              </a:rPr>
              <a:t>L2</a:t>
            </a:r>
            <a:r>
              <a:rPr lang="zh-CN" altLang="en-US">
                <a:ea typeface="宋体" panose="02010600030101010101" pitchFamily="2" charset="-122"/>
              </a:rPr>
              <a:t>时，内存中的情况如图：</a:t>
            </a:r>
            <a:endParaRPr lang="zh-CN" altLang="en-US">
              <a:ea typeface="宋体" panose="02010600030101010101" pitchFamily="2" charset="-122"/>
            </a:endParaRPr>
          </a:p>
          <a:p>
            <a:endParaRPr lang="zh-CN" altLang="en-US">
              <a:ea typeface="宋体" panose="02010600030101010101" pitchFamily="2" charset="-122"/>
            </a:endParaRPr>
          </a:p>
        </p:txBody>
      </p:sp>
      <p:grpSp>
        <p:nvGrpSpPr>
          <p:cNvPr id="54274" name="Group 15"/>
          <p:cNvGrpSpPr/>
          <p:nvPr/>
        </p:nvGrpSpPr>
        <p:grpSpPr>
          <a:xfrm>
            <a:off x="1295400" y="2590800"/>
            <a:ext cx="5105400" cy="2600325"/>
            <a:chOff x="-3" y="-3"/>
            <a:chExt cx="884" cy="1638"/>
          </a:xfrm>
        </p:grpSpPr>
        <p:grpSp>
          <p:nvGrpSpPr>
            <p:cNvPr id="54275" name="Group 13"/>
            <p:cNvGrpSpPr/>
            <p:nvPr/>
          </p:nvGrpSpPr>
          <p:grpSpPr>
            <a:xfrm>
              <a:off x="0" y="0"/>
              <a:ext cx="878" cy="1632"/>
              <a:chOff x="0" y="0"/>
              <a:chExt cx="878" cy="1632"/>
            </a:xfrm>
          </p:grpSpPr>
          <p:grpSp>
            <p:nvGrpSpPr>
              <p:cNvPr id="54277" name="Group 8"/>
              <p:cNvGrpSpPr/>
              <p:nvPr/>
            </p:nvGrpSpPr>
            <p:grpSpPr>
              <a:xfrm>
                <a:off x="0" y="0"/>
                <a:ext cx="878" cy="480"/>
                <a:chOff x="0" y="0"/>
                <a:chExt cx="878" cy="480"/>
              </a:xfrm>
            </p:grpSpPr>
            <p:sp>
              <p:nvSpPr>
                <p:cNvPr id="54284" name="Rectangle 4"/>
                <p:cNvSpPr/>
                <p:nvPr/>
              </p:nvSpPr>
              <p:spPr>
                <a:xfrm>
                  <a:off x="43" y="0"/>
                  <a:ext cx="792" cy="480"/>
                </a:xfrm>
                <a:prstGeom prst="rect">
                  <a:avLst/>
                </a:prstGeom>
                <a:noFill/>
                <a:ln w="9525">
                  <a:noFill/>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266700" algn="just">
                    <a:spcBef>
                      <a:spcPct val="0"/>
                    </a:spcBef>
                    <a:buSzTx/>
                    <a:buFontTx/>
                    <a:buNone/>
                  </a:pPr>
                  <a:r>
                    <a:rPr lang="zh-CN" altLang="en-US" sz="1000" b="0">
                      <a:solidFill>
                        <a:schemeClr val="tx1"/>
                      </a:solidFill>
                      <a:ea typeface="宋体" panose="02010600030101010101" pitchFamily="2" charset="-122"/>
                    </a:rPr>
                    <a:t> </a:t>
                  </a:r>
                  <a:r>
                    <a:rPr lang="en-US" altLang="zh-CN" sz="2400" b="0">
                      <a:solidFill>
                        <a:schemeClr val="hlink"/>
                      </a:solidFill>
                      <a:ea typeface="宋体" panose="02010600030101010101" pitchFamily="2" charset="-122"/>
                    </a:rPr>
                    <a:t>Frequent items</a:t>
                  </a:r>
                  <a:endParaRPr lang="en-US" altLang="zh-CN" sz="2400" b="0">
                    <a:solidFill>
                      <a:schemeClr val="hlink"/>
                    </a:solidFill>
                    <a:ea typeface="宋体" panose="02010600030101010101" pitchFamily="2" charset="-122"/>
                  </a:endParaRPr>
                </a:p>
                <a:p>
                  <a:pPr marL="0" lvl="0" indent="266700" algn="just">
                    <a:spcBef>
                      <a:spcPct val="0"/>
                    </a:spcBef>
                    <a:buSzTx/>
                    <a:buFontTx/>
                    <a:buNone/>
                  </a:pPr>
                  <a:r>
                    <a:rPr lang="en-US" altLang="zh-CN" sz="1000" b="0">
                      <a:solidFill>
                        <a:schemeClr val="tx1"/>
                      </a:solidFill>
                      <a:ea typeface="宋体" panose="02010600030101010101" pitchFamily="2" charset="-122"/>
                    </a:rPr>
                    <a:t> </a:t>
                  </a:r>
                  <a:endParaRPr lang="en-US" altLang="zh-CN" sz="1000" b="0">
                    <a:solidFill>
                      <a:schemeClr val="tx1"/>
                    </a:solidFill>
                    <a:ea typeface="宋体" panose="02010600030101010101" pitchFamily="2" charset="-122"/>
                  </a:endParaRPr>
                </a:p>
                <a:p>
                  <a:pPr marL="0" lvl="0" indent="266700" algn="just">
                    <a:spcBef>
                      <a:spcPct val="0"/>
                    </a:spcBef>
                    <a:buSzTx/>
                    <a:buFontTx/>
                    <a:buNone/>
                  </a:pPr>
                  <a:endParaRPr lang="en-US" altLang="zh-CN" sz="2400" b="0">
                    <a:solidFill>
                      <a:schemeClr val="tx1"/>
                    </a:solidFill>
                    <a:ea typeface="宋体" panose="02010600030101010101" pitchFamily="2" charset="-122"/>
                  </a:endParaRPr>
                </a:p>
              </p:txBody>
            </p:sp>
            <p:sp>
              <p:nvSpPr>
                <p:cNvPr id="54285" name="Rectangle 7"/>
                <p:cNvSpPr/>
                <p:nvPr/>
              </p:nvSpPr>
              <p:spPr>
                <a:xfrm>
                  <a:off x="0" y="0"/>
                  <a:ext cx="878" cy="48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grpSp>
            <p:nvGrpSpPr>
              <p:cNvPr id="54278" name="Group 10"/>
              <p:cNvGrpSpPr/>
              <p:nvPr/>
            </p:nvGrpSpPr>
            <p:grpSpPr>
              <a:xfrm>
                <a:off x="0" y="480"/>
                <a:ext cx="878" cy="480"/>
                <a:chOff x="0" y="480"/>
                <a:chExt cx="878" cy="480"/>
              </a:xfrm>
            </p:grpSpPr>
            <p:sp>
              <p:nvSpPr>
                <p:cNvPr id="54282" name="Rectangle 5"/>
                <p:cNvSpPr/>
                <p:nvPr/>
              </p:nvSpPr>
              <p:spPr>
                <a:xfrm>
                  <a:off x="43" y="480"/>
                  <a:ext cx="792" cy="480"/>
                </a:xfrm>
                <a:prstGeom prst="rect">
                  <a:avLst/>
                </a:prstGeom>
                <a:noFill/>
                <a:ln w="9525">
                  <a:noFill/>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266700" algn="just">
                    <a:spcBef>
                      <a:spcPct val="0"/>
                    </a:spcBef>
                    <a:buSzTx/>
                    <a:buFontTx/>
                    <a:buNone/>
                  </a:pPr>
                  <a:r>
                    <a:rPr lang="en-US" altLang="zh-CN" sz="2400" b="0">
                      <a:solidFill>
                        <a:schemeClr val="hlink"/>
                      </a:solidFill>
                      <a:ea typeface="宋体" panose="02010600030101010101" pitchFamily="2" charset="-122"/>
                    </a:rPr>
                    <a:t>Bitmap</a:t>
                  </a:r>
                  <a:endParaRPr lang="en-US" altLang="zh-CN" sz="2400" b="0">
                    <a:solidFill>
                      <a:schemeClr val="hlink"/>
                    </a:solidFill>
                    <a:ea typeface="宋体" panose="02010600030101010101" pitchFamily="2" charset="-122"/>
                  </a:endParaRPr>
                </a:p>
                <a:p>
                  <a:pPr marL="0" lvl="0" indent="266700" algn="just">
                    <a:spcBef>
                      <a:spcPct val="0"/>
                    </a:spcBef>
                    <a:buSzTx/>
                    <a:buFontTx/>
                    <a:buNone/>
                  </a:pPr>
                  <a:r>
                    <a:rPr lang="en-US" altLang="zh-CN" sz="2400" b="0">
                      <a:solidFill>
                        <a:schemeClr val="tx1"/>
                      </a:solidFill>
                      <a:ea typeface="宋体" panose="02010600030101010101" pitchFamily="2" charset="-122"/>
                    </a:rPr>
                    <a:t> </a:t>
                  </a:r>
                  <a:endParaRPr lang="en-US" altLang="zh-CN" sz="2400" b="0">
                    <a:solidFill>
                      <a:schemeClr val="tx1"/>
                    </a:solidFill>
                    <a:ea typeface="宋体" panose="02010600030101010101" pitchFamily="2" charset="-122"/>
                  </a:endParaRPr>
                </a:p>
                <a:p>
                  <a:pPr marL="0" lvl="0" indent="266700" algn="just">
                    <a:spcBef>
                      <a:spcPct val="0"/>
                    </a:spcBef>
                    <a:buSzTx/>
                    <a:buFontTx/>
                    <a:buNone/>
                  </a:pPr>
                  <a:endParaRPr lang="en-US" altLang="zh-CN" sz="2400" b="0">
                    <a:solidFill>
                      <a:schemeClr val="tx1"/>
                    </a:solidFill>
                    <a:ea typeface="宋体" panose="02010600030101010101" pitchFamily="2" charset="-122"/>
                  </a:endParaRPr>
                </a:p>
              </p:txBody>
            </p:sp>
            <p:sp>
              <p:nvSpPr>
                <p:cNvPr id="54283" name="Rectangle 9"/>
                <p:cNvSpPr/>
                <p:nvPr/>
              </p:nvSpPr>
              <p:spPr>
                <a:xfrm>
                  <a:off x="0" y="480"/>
                  <a:ext cx="878" cy="480"/>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grpSp>
            <p:nvGrpSpPr>
              <p:cNvPr id="54279" name="Group 12"/>
              <p:cNvGrpSpPr/>
              <p:nvPr/>
            </p:nvGrpSpPr>
            <p:grpSpPr>
              <a:xfrm>
                <a:off x="0" y="960"/>
                <a:ext cx="878" cy="672"/>
                <a:chOff x="0" y="960"/>
                <a:chExt cx="878" cy="672"/>
              </a:xfrm>
            </p:grpSpPr>
            <p:sp>
              <p:nvSpPr>
                <p:cNvPr id="54280" name="Rectangle 6"/>
                <p:cNvSpPr/>
                <p:nvPr/>
              </p:nvSpPr>
              <p:spPr>
                <a:xfrm>
                  <a:off x="43" y="960"/>
                  <a:ext cx="792" cy="672"/>
                </a:xfrm>
                <a:prstGeom prst="rect">
                  <a:avLst/>
                </a:prstGeom>
                <a:noFill/>
                <a:ln w="9525">
                  <a:noFill/>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266700" algn="just">
                    <a:spcBef>
                      <a:spcPct val="0"/>
                    </a:spcBef>
                    <a:buSzTx/>
                    <a:buFontTx/>
                    <a:buNone/>
                  </a:pPr>
                  <a:r>
                    <a:rPr lang="zh-CN" altLang="en-US" sz="1000" b="0">
                      <a:solidFill>
                        <a:schemeClr val="tx1"/>
                      </a:solidFill>
                      <a:ea typeface="宋体" panose="02010600030101010101" pitchFamily="2" charset="-122"/>
                    </a:rPr>
                    <a:t> </a:t>
                  </a:r>
                  <a:r>
                    <a:rPr lang="en-US" altLang="zh-CN" sz="2400" b="0">
                      <a:solidFill>
                        <a:schemeClr val="hlink"/>
                      </a:solidFill>
                      <a:ea typeface="宋体" panose="02010600030101010101" pitchFamily="2" charset="-122"/>
                    </a:rPr>
                    <a:t>Counter   for candidate 2-Itemset</a:t>
                  </a:r>
                  <a:endParaRPr lang="en-US" altLang="zh-CN" sz="2400" b="0">
                    <a:solidFill>
                      <a:schemeClr val="hlink"/>
                    </a:solidFill>
                    <a:ea typeface="宋体" panose="02010600030101010101" pitchFamily="2" charset="-122"/>
                  </a:endParaRPr>
                </a:p>
                <a:p>
                  <a:pPr marL="0" lvl="0" indent="266700" algn="just">
                    <a:spcBef>
                      <a:spcPct val="0"/>
                    </a:spcBef>
                    <a:buSzTx/>
                    <a:buFontTx/>
                    <a:buNone/>
                  </a:pPr>
                  <a:r>
                    <a:rPr lang="en-US" altLang="zh-CN" sz="1000" b="0">
                      <a:solidFill>
                        <a:schemeClr val="tx1"/>
                      </a:solidFill>
                      <a:ea typeface="宋体" panose="02010600030101010101" pitchFamily="2" charset="-122"/>
                    </a:rPr>
                    <a:t> </a:t>
                  </a:r>
                  <a:endParaRPr lang="en-US" altLang="zh-CN" sz="1000" b="0">
                    <a:solidFill>
                      <a:schemeClr val="tx1"/>
                    </a:solidFill>
                    <a:ea typeface="宋体" panose="02010600030101010101" pitchFamily="2" charset="-122"/>
                  </a:endParaRPr>
                </a:p>
                <a:p>
                  <a:pPr marL="0" lvl="0" indent="266700" algn="just">
                    <a:spcBef>
                      <a:spcPct val="0"/>
                    </a:spcBef>
                    <a:buSzTx/>
                    <a:buFontTx/>
                    <a:buNone/>
                  </a:pPr>
                  <a:r>
                    <a:rPr lang="en-US" altLang="zh-CN" sz="1000" b="0">
                      <a:solidFill>
                        <a:schemeClr val="tx1"/>
                      </a:solidFill>
                      <a:ea typeface="宋体" panose="02010600030101010101" pitchFamily="2" charset="-122"/>
                    </a:rPr>
                    <a:t> </a:t>
                  </a:r>
                  <a:endParaRPr lang="en-US" altLang="zh-CN" sz="1000" b="0">
                    <a:solidFill>
                      <a:schemeClr val="tx1"/>
                    </a:solidFill>
                    <a:ea typeface="宋体" panose="02010600030101010101" pitchFamily="2" charset="-122"/>
                  </a:endParaRPr>
                </a:p>
                <a:p>
                  <a:pPr marL="0" lvl="0" indent="266700" algn="just">
                    <a:spcBef>
                      <a:spcPct val="0"/>
                    </a:spcBef>
                    <a:buSzTx/>
                    <a:buFontTx/>
                    <a:buNone/>
                  </a:pPr>
                  <a:endParaRPr lang="en-US" altLang="zh-CN" sz="2400" b="0">
                    <a:solidFill>
                      <a:schemeClr val="tx1"/>
                    </a:solidFill>
                    <a:ea typeface="宋体" panose="02010600030101010101" pitchFamily="2" charset="-122"/>
                  </a:endParaRPr>
                </a:p>
              </p:txBody>
            </p:sp>
            <p:sp>
              <p:nvSpPr>
                <p:cNvPr id="54281" name="Rectangle 11"/>
                <p:cNvSpPr/>
                <p:nvPr/>
              </p:nvSpPr>
              <p:spPr>
                <a:xfrm>
                  <a:off x="0" y="960"/>
                  <a:ext cx="878" cy="672"/>
                </a:xfrm>
                <a:prstGeom prst="rect">
                  <a:avLst/>
                </a:prstGeom>
                <a:noFill/>
                <a:ln w="7"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grpSp>
        <p:sp>
          <p:nvSpPr>
            <p:cNvPr id="54276" name="Rectangle 14"/>
            <p:cNvSpPr/>
            <p:nvPr/>
          </p:nvSpPr>
          <p:spPr>
            <a:xfrm>
              <a:off x="-3" y="-3"/>
              <a:ext cx="884" cy="1638"/>
            </a:xfrm>
            <a:prstGeom prst="rect">
              <a:avLst/>
            </a:prstGeom>
            <a:noFill/>
            <a:ln w="11112" cap="flat" cmpd="sng">
              <a:solidFill>
                <a:srgbClr val="A0A0A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8146"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基于</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hash</a:t>
            </a: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的算法: </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pass 2</a:t>
            </a:r>
            <a:endPar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55298" name="Rectangle 6"/>
          <p:cNvSpPr>
            <a:spLocks noGrp="1"/>
          </p:cNvSpPr>
          <p:nvPr>
            <p:ph idx="1"/>
          </p:nvPr>
        </p:nvSpPr>
        <p:spPr>
          <a:ln/>
        </p:spPr>
        <p:txBody>
          <a:bodyPr vert="horz" wrap="square" lIns="91440" tIns="45720" rIns="91440" bIns="45720" anchor="t" anchorCtr="0"/>
          <a:p>
            <a:pPr marL="533400" indent="-533400">
              <a:buFont typeface="Monotype Sorts" pitchFamily="2" charset="2"/>
              <a:buAutoNum type="arabicPeriod"/>
            </a:pPr>
            <a:r>
              <a:rPr lang="zh-CN" altLang="en-US" sz="2400">
                <a:ea typeface="宋体" panose="02010600030101010101" pitchFamily="2" charset="-122"/>
              </a:rPr>
              <a:t>内存中存放有大小为1的频繁项目集</a:t>
            </a:r>
            <a:r>
              <a:rPr lang="en-US" altLang="zh-CN" sz="2400">
                <a:ea typeface="宋体" panose="02010600030101010101" pitchFamily="2" charset="-122"/>
              </a:rPr>
              <a:t>L1 </a:t>
            </a:r>
            <a:endParaRPr lang="zh-CN" altLang="en-US" sz="2400">
              <a:ea typeface="宋体" panose="02010600030101010101" pitchFamily="2" charset="-122"/>
            </a:endParaRPr>
          </a:p>
          <a:p>
            <a:pPr marL="533400" indent="-533400">
              <a:buFont typeface="Monotype Sorts" pitchFamily="2" charset="2"/>
              <a:buAutoNum type="arabicPeriod"/>
            </a:pPr>
            <a:r>
              <a:rPr lang="zh-CN" altLang="en-US" sz="2400">
                <a:ea typeface="宋体" panose="02010600030101010101" pitchFamily="2" charset="-122"/>
              </a:rPr>
              <a:t>内存中存放有位图</a:t>
            </a:r>
            <a:endParaRPr lang="zh-CN" altLang="en-US" sz="2400">
              <a:ea typeface="宋体" panose="02010600030101010101" pitchFamily="2" charset="-122"/>
            </a:endParaRPr>
          </a:p>
          <a:p>
            <a:pPr marL="533400" indent="-533400">
              <a:buFont typeface="Monotype Sorts" pitchFamily="2" charset="2"/>
              <a:buAutoNum type="arabicPeriod"/>
            </a:pPr>
            <a:r>
              <a:rPr lang="zh-CN" altLang="en-US" sz="2400">
                <a:ea typeface="宋体" panose="02010600030101010101" pitchFamily="2" charset="-122"/>
              </a:rPr>
              <a:t>最后，内存中还放了一个表，存放所有的候选对和它们的计数值，候选对集合</a:t>
            </a:r>
            <a:r>
              <a:rPr lang="en-US" altLang="zh-CN" sz="2400">
                <a:ea typeface="宋体" panose="02010600030101010101" pitchFamily="2" charset="-122"/>
              </a:rPr>
              <a:t>C2</a:t>
            </a:r>
            <a:r>
              <a:rPr lang="zh-CN" altLang="en-US" sz="2400">
                <a:ea typeface="宋体" panose="02010600030101010101" pitchFamily="2" charset="-122"/>
              </a:rPr>
              <a:t>中的每一个对（</a:t>
            </a:r>
            <a:r>
              <a:rPr lang="en-US" altLang="zh-CN" sz="2400">
                <a:ea typeface="宋体" panose="02010600030101010101" pitchFamily="2" charset="-122"/>
              </a:rPr>
              <a:t>i，j），</a:t>
            </a:r>
            <a:r>
              <a:rPr lang="zh-CN" altLang="en-US" sz="2400">
                <a:ea typeface="宋体" panose="02010600030101010101" pitchFamily="2" charset="-122"/>
              </a:rPr>
              <a:t>必须满足下列条件：</a:t>
            </a:r>
            <a:endParaRPr lang="zh-CN" altLang="en-US" sz="2400">
              <a:ea typeface="宋体" panose="02010600030101010101" pitchFamily="2" charset="-122"/>
            </a:endParaRPr>
          </a:p>
          <a:p>
            <a:pPr marL="914400" lvl="1" indent="-457200"/>
            <a:r>
              <a:rPr lang="en-US" altLang="zh-CN" sz="2000">
                <a:ea typeface="宋体" panose="02010600030101010101" pitchFamily="2" charset="-122"/>
              </a:rPr>
              <a:t> i  </a:t>
            </a:r>
            <a:r>
              <a:rPr lang="zh-CN" altLang="en-US" sz="2000">
                <a:ea typeface="宋体" panose="02010600030101010101" pitchFamily="2" charset="-122"/>
              </a:rPr>
              <a:t>在</a:t>
            </a:r>
            <a:r>
              <a:rPr lang="en-US" altLang="zh-CN" sz="2000">
                <a:ea typeface="宋体" panose="02010600030101010101" pitchFamily="2" charset="-122"/>
              </a:rPr>
              <a:t>L1</a:t>
            </a:r>
            <a:r>
              <a:rPr lang="zh-CN" altLang="en-US" sz="2000">
                <a:ea typeface="宋体" panose="02010600030101010101" pitchFamily="2" charset="-122"/>
              </a:rPr>
              <a:t>中，</a:t>
            </a:r>
            <a:r>
              <a:rPr lang="en-US" altLang="zh-CN" sz="2000">
                <a:ea typeface="宋体" panose="02010600030101010101" pitchFamily="2" charset="-122"/>
              </a:rPr>
              <a:t>j </a:t>
            </a:r>
            <a:r>
              <a:rPr lang="zh-CN" altLang="en-US" sz="2000">
                <a:ea typeface="宋体" panose="02010600030101010101" pitchFamily="2" charset="-122"/>
              </a:rPr>
              <a:t>在</a:t>
            </a:r>
            <a:r>
              <a:rPr lang="en-US" altLang="zh-CN" sz="2000">
                <a:ea typeface="宋体" panose="02010600030101010101" pitchFamily="2" charset="-122"/>
              </a:rPr>
              <a:t>L1</a:t>
            </a:r>
            <a:r>
              <a:rPr lang="zh-CN" altLang="en-US" sz="2000">
                <a:ea typeface="宋体" panose="02010600030101010101" pitchFamily="2" charset="-122"/>
              </a:rPr>
              <a:t>中</a:t>
            </a:r>
            <a:endParaRPr lang="zh-CN" altLang="en-US" sz="2000">
              <a:ea typeface="宋体" panose="02010600030101010101" pitchFamily="2" charset="-122"/>
            </a:endParaRPr>
          </a:p>
          <a:p>
            <a:pPr marL="914400" lvl="1" indent="-457200"/>
            <a:r>
              <a:rPr lang="zh-CN" altLang="en-US" sz="2000">
                <a:ea typeface="宋体" panose="02010600030101010101" pitchFamily="2" charset="-122"/>
              </a:rPr>
              <a:t> 对（</a:t>
            </a:r>
            <a:r>
              <a:rPr lang="en-US" altLang="zh-CN" sz="2000">
                <a:ea typeface="宋体" panose="02010600030101010101" pitchFamily="2" charset="-122"/>
              </a:rPr>
              <a:t>i，j）</a:t>
            </a:r>
            <a:r>
              <a:rPr lang="zh-CN" altLang="en-US" sz="2000">
                <a:ea typeface="宋体" panose="02010600030101010101" pitchFamily="2" charset="-122"/>
              </a:rPr>
              <a:t>必须哈希到一个频繁桶中</a:t>
            </a:r>
            <a:endParaRPr lang="zh-CN" altLang="en-US" sz="2000">
              <a:ea typeface="宋体" panose="02010600030101010101" pitchFamily="2" charset="-122"/>
            </a:endParaRPr>
          </a:p>
          <a:p>
            <a:pPr marL="914400" lvl="1" indent="-457200">
              <a:buNone/>
            </a:pPr>
            <a:r>
              <a:rPr lang="zh-CN" altLang="en-US" sz="2000">
                <a:ea typeface="宋体" panose="02010600030101010101" pitchFamily="2" charset="-122"/>
              </a:rPr>
              <a:t>第二点正是</a:t>
            </a:r>
            <a:r>
              <a:rPr lang="en-US" altLang="zh-CN" sz="2000">
                <a:ea typeface="宋体" panose="02010600030101010101" pitchFamily="2" charset="-122"/>
              </a:rPr>
              <a:t>PCY</a:t>
            </a:r>
            <a:r>
              <a:rPr lang="zh-CN" altLang="en-US" sz="2000">
                <a:ea typeface="宋体" panose="02010600030101010101" pitchFamily="2" charset="-122"/>
              </a:rPr>
              <a:t>算法和直接</a:t>
            </a:r>
            <a:r>
              <a:rPr lang="en-US" altLang="zh-CN" sz="2000">
                <a:ea typeface="宋体" panose="02010600030101010101" pitchFamily="2" charset="-122"/>
              </a:rPr>
              <a:t>a-priori</a:t>
            </a:r>
            <a:r>
              <a:rPr lang="zh-CN" altLang="en-US" sz="2000">
                <a:ea typeface="宋体" panose="02010600030101010101" pitchFamily="2" charset="-122"/>
              </a:rPr>
              <a:t>算法之间的不同之处。</a:t>
            </a:r>
            <a:r>
              <a:rPr lang="en-US" altLang="zh-CN" sz="2000">
                <a:ea typeface="宋体" panose="02010600030101010101" pitchFamily="2" charset="-122"/>
              </a:rPr>
              <a:t>PCY</a:t>
            </a:r>
            <a:r>
              <a:rPr lang="zh-CN" altLang="en-US" sz="2000">
                <a:ea typeface="宋体" panose="02010600030101010101" pitchFamily="2" charset="-122"/>
              </a:rPr>
              <a:t>算法</a:t>
            </a:r>
            <a:endParaRPr lang="zh-CN" altLang="en-US" sz="2000">
              <a:ea typeface="宋体" panose="02010600030101010101" pitchFamily="2" charset="-122"/>
            </a:endParaRPr>
          </a:p>
          <a:p>
            <a:pPr marL="914400" lvl="1" indent="-457200">
              <a:buNone/>
            </a:pPr>
            <a:r>
              <a:rPr lang="zh-CN" altLang="en-US" sz="2000">
                <a:ea typeface="宋体" panose="02010600030101010101" pitchFamily="2" charset="-122"/>
              </a:rPr>
              <a:t>减小了第二次扫描数据时的内存需求</a:t>
            </a:r>
            <a:endParaRPr lang="zh-CN" altLang="en-US" sz="2000">
              <a:ea typeface="宋体" panose="02010600030101010101" pitchFamily="2" charset="-122"/>
            </a:endParaRPr>
          </a:p>
          <a:p>
            <a:pPr marL="533400" indent="-533400">
              <a:buNone/>
            </a:pPr>
            <a:r>
              <a:rPr lang="zh-CN" altLang="en-US" sz="2400">
                <a:ea typeface="宋体" panose="02010600030101010101" pitchFamily="2" charset="-122"/>
              </a:rPr>
              <a:t>4.    最后，在第二次扫描数据时，考察每一个2-</a:t>
            </a:r>
            <a:r>
              <a:rPr lang="en-US" altLang="zh-CN" sz="2400">
                <a:ea typeface="宋体" panose="02010600030101010101" pitchFamily="2" charset="-122"/>
              </a:rPr>
              <a:t>Itemset，</a:t>
            </a:r>
            <a:r>
              <a:rPr lang="zh-CN" altLang="en-US" sz="2400">
                <a:ea typeface="宋体" panose="02010600030101010101" pitchFamily="2" charset="-122"/>
              </a:rPr>
              <a:t>如果满足上面列出的两个条件，则在内存中增加它的计数值，如果第一次出现的话创建一个入口点 </a:t>
            </a:r>
            <a:endParaRPr lang="zh-CN" altLang="en-US" sz="2400">
              <a:ea typeface="宋体" panose="02010600030101010101" pitchFamily="2" charset="-122"/>
            </a:endParaRPr>
          </a:p>
          <a:p>
            <a:pPr marL="533400" indent="-533400" algn="just">
              <a:buNone/>
            </a:pPr>
            <a:endParaRPr lang="zh-CN" altLang="en-US" sz="2400">
              <a:ea typeface="宋体" panose="02010600030101010101" pitchFamily="2" charset="-122"/>
            </a:endParaRPr>
          </a:p>
          <a:p>
            <a:pPr marL="533400" indent="-533400"/>
            <a:endParaRPr lang="en-US" altLang="zh-CN" sz="2400">
              <a:ea typeface="宋体" panose="02010600030101010101" pitchFamily="2" charset="-122"/>
            </a:endParaRPr>
          </a:p>
          <a:p>
            <a:pPr marL="533400" indent="-533400"/>
            <a:endParaRPr lang="en-US" altLang="zh-CN" sz="2400">
              <a:ea typeface="宋体" panose="02010600030101010101" pitchFamily="2" charset="-122"/>
            </a:endParaRPr>
          </a:p>
          <a:p>
            <a:pPr marL="533400" indent="-533400"/>
            <a:endParaRPr lang="zh-CN" altLang="en-US" sz="2400">
              <a:ea typeface="宋体" panose="02010600030101010101" pitchFamily="2" charset="-122"/>
            </a:endParaRPr>
          </a:p>
          <a:p>
            <a:pPr marL="533400" indent="-533400"/>
            <a:endParaRPr lang="zh-CN" altLang="en-US" sz="240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9042"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An example</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pic>
        <p:nvPicPr>
          <p:cNvPr id="56322" name="Picture 3"/>
          <p:cNvPicPr>
            <a:picLocks noChangeAspect="1"/>
          </p:cNvPicPr>
          <p:nvPr/>
        </p:nvPicPr>
        <p:blipFill>
          <a:blip r:embed="rId1"/>
          <a:stretch>
            <a:fillRect/>
          </a:stretch>
        </p:blipFill>
        <p:spPr>
          <a:xfrm>
            <a:off x="1589088" y="1338263"/>
            <a:ext cx="7597775" cy="5319712"/>
          </a:xfrm>
          <a:prstGeom prst="rect">
            <a:avLst/>
          </a:prstGeom>
          <a:noFill/>
          <a:ln w="9525">
            <a:noFill/>
          </a:ln>
        </p:spPr>
      </p:pic>
      <p:pic>
        <p:nvPicPr>
          <p:cNvPr id="56323" name="Picture 4"/>
          <p:cNvPicPr>
            <a:picLocks noChangeAspect="1"/>
          </p:cNvPicPr>
          <p:nvPr/>
        </p:nvPicPr>
        <p:blipFill>
          <a:blip r:embed="rId2"/>
          <a:stretch>
            <a:fillRect/>
          </a:stretch>
        </p:blipFill>
        <p:spPr>
          <a:xfrm>
            <a:off x="0" y="1338263"/>
            <a:ext cx="1681163" cy="1382712"/>
          </a:xfrm>
          <a:prstGeom prst="rect">
            <a:avLst/>
          </a:prstGeom>
          <a:noFill/>
          <a:ln w="9525">
            <a:noFill/>
          </a:ln>
        </p:spPr>
      </p:pic>
      <p:sp>
        <p:nvSpPr>
          <p:cNvPr id="56324" name="Rectangle 5"/>
          <p:cNvSpPr/>
          <p:nvPr/>
        </p:nvSpPr>
        <p:spPr>
          <a:xfrm>
            <a:off x="174625" y="1828800"/>
            <a:ext cx="1262063" cy="203200"/>
          </a:xfrm>
          <a:prstGeom prst="rect">
            <a:avLst/>
          </a:prstGeom>
          <a:noFill/>
          <a:ln w="28575" cap="flat" cmpd="sng">
            <a:solidFill>
              <a:srgbClr val="08F81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sp>
        <p:nvSpPr>
          <p:cNvPr id="56325" name="Rectangle 6"/>
          <p:cNvSpPr/>
          <p:nvPr/>
        </p:nvSpPr>
        <p:spPr>
          <a:xfrm>
            <a:off x="1589088" y="2533650"/>
            <a:ext cx="2074862" cy="246063"/>
          </a:xfrm>
          <a:prstGeom prst="rect">
            <a:avLst/>
          </a:prstGeom>
          <a:noFill/>
          <a:ln w="28575" cap="flat" cmpd="sng">
            <a:solidFill>
              <a:srgbClr val="08F81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sp>
        <p:nvSpPr>
          <p:cNvPr id="56326" name="Rectangle 7"/>
          <p:cNvSpPr/>
          <p:nvPr/>
        </p:nvSpPr>
        <p:spPr>
          <a:xfrm>
            <a:off x="5080000" y="3106738"/>
            <a:ext cx="4064000" cy="376237"/>
          </a:xfrm>
          <a:prstGeom prst="rect">
            <a:avLst/>
          </a:prstGeom>
          <a:noFill/>
          <a:ln w="952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90000"/>
              <a:buFont typeface="Monotype Sorts" pitchFamily="2" charset="2"/>
              <a:buChar char="v"/>
              <a:defRPr sz="2800" b="1">
                <a:solidFill>
                  <a:srgbClr val="170981"/>
                </a:solidFill>
                <a:latin typeface="+mn-lt"/>
                <a:ea typeface="+mn-ea"/>
                <a:cs typeface="+mn-cs"/>
              </a:defRPr>
            </a:lvl1pPr>
            <a:lvl2pPr marL="742950" indent="-285750" algn="l" rtl="0" eaLnBrk="0" fontAlgn="base" hangingPunct="0">
              <a:spcBef>
                <a:spcPct val="20000"/>
              </a:spcBef>
              <a:spcAft>
                <a:spcPct val="0"/>
              </a:spcAft>
              <a:buClr>
                <a:srgbClr val="000099"/>
              </a:buClr>
              <a:buSzPct val="90000"/>
              <a:buFont typeface="Monotype Sorts" pitchFamily="2" charset="2"/>
              <a:buChar char="u"/>
              <a:defRPr sz="2400" b="1">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b="1">
                <a:solidFill>
                  <a:schemeClr val="tx1"/>
                </a:solidFill>
                <a:latin typeface="+mn-lt"/>
              </a:defRPr>
            </a:lvl3pPr>
            <a:lvl4pPr marL="1600200" indent="-228600" algn="l" rtl="0" eaLnBrk="0" fontAlgn="base" hangingPunct="0">
              <a:spcBef>
                <a:spcPct val="20000"/>
              </a:spcBef>
              <a:spcAft>
                <a:spcPct val="0"/>
              </a:spcAft>
              <a:buClr>
                <a:srgbClr val="000099"/>
              </a:buClr>
              <a:buSzPct val="90000"/>
              <a:buFont typeface="Monotype Sort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a:spcBef>
                <a:spcPct val="0"/>
              </a:spcBef>
              <a:buSzTx/>
              <a:buFontTx/>
              <a:buNone/>
            </a:pPr>
            <a:endParaRPr lang="zh-CN" altLang="en-US" sz="3600" b="0">
              <a:solidFill>
                <a:schemeClr val="tx1"/>
              </a:solidFill>
              <a:ea typeface="宋体" panose="02010600030101010101" pitchFamily="2" charset="-122"/>
            </a:endParaRPr>
          </a:p>
        </p:txBody>
      </p:sp>
      <p:graphicFrame>
        <p:nvGraphicFramePr>
          <p:cNvPr id="599048" name="Group 8"/>
          <p:cNvGraphicFramePr>
            <a:graphicFrameLocks noGrp="1"/>
          </p:cNvGraphicFramePr>
          <p:nvPr/>
        </p:nvGraphicFramePr>
        <p:xfrm>
          <a:off x="258763" y="3792538"/>
          <a:ext cx="1335088" cy="2268538"/>
        </p:xfrm>
        <a:graphic>
          <a:graphicData uri="http://schemas.openxmlformats.org/drawingml/2006/table">
            <a:tbl>
              <a:tblPr/>
              <a:tblGrid>
                <a:gridCol w="668337"/>
                <a:gridCol w="666750"/>
              </a:tblGrid>
              <a:tr h="37147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Items</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Order</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7147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7147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2</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7147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C</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3</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1163">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D</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4</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71475">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E</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SzPct val="90000"/>
                        <a:buFont typeface="Monotype Sorts" pitchFamily="2" charset="2"/>
                        <a:defRPr sz="2400" b="1">
                          <a:solidFill>
                            <a:srgbClr val="170981"/>
                          </a:solidFill>
                          <a:latin typeface="Times New Roman" panose="02020603050405020304" pitchFamily="18" charset="0"/>
                        </a:defRPr>
                      </a:lvl1pPr>
                      <a:lvl2pPr marL="742950" indent="-285750" algn="l">
                        <a:spcBef>
                          <a:spcPct val="20000"/>
                        </a:spcBef>
                        <a:buClr>
                          <a:srgbClr val="000099"/>
                        </a:buClr>
                        <a:buSzPct val="90000"/>
                        <a:buFont typeface="Monotype Sorts" pitchFamily="2" charset="2"/>
                        <a:defRPr sz="2000" b="1">
                          <a:solidFill>
                            <a:schemeClr val="tx1"/>
                          </a:solidFill>
                          <a:latin typeface="Times New Roman" panose="02020603050405020304" pitchFamily="18" charset="0"/>
                        </a:defRPr>
                      </a:lvl2pPr>
                      <a:lvl3pPr marL="1143000" indent="-228600" algn="l">
                        <a:spcBef>
                          <a:spcPct val="20000"/>
                        </a:spcBef>
                        <a:buClr>
                          <a:schemeClr val="accent2"/>
                        </a:buClr>
                        <a:defRPr b="1">
                          <a:solidFill>
                            <a:schemeClr val="tx1"/>
                          </a:solidFill>
                          <a:latin typeface="Times New Roman" panose="02020603050405020304" pitchFamily="18" charset="0"/>
                        </a:defRPr>
                      </a:lvl3pPr>
                      <a:lvl4pPr marL="1600200" indent="-228600" algn="l">
                        <a:spcBef>
                          <a:spcPct val="20000"/>
                        </a:spcBef>
                        <a:buClr>
                          <a:srgbClr val="000099"/>
                        </a:buClr>
                        <a:buSzPct val="90000"/>
                        <a:buFont typeface="Monotype Sorts" pitchFamily="2" charset="2"/>
                        <a:defRPr>
                          <a:solidFill>
                            <a:schemeClr val="tx1"/>
                          </a:solidFill>
                          <a:latin typeface="Times New Roman" panose="02020603050405020304" pitchFamily="18" charset="0"/>
                        </a:defRPr>
                      </a:lvl4pPr>
                      <a:lvl5pPr marL="2057400" indent="-228600" algn="l">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5</a:t>
                      </a:r>
                      <a:endParaRPr kumimoji="0" lang="en-US" altLang="zh-CN" sz="14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2" name="Rectangle 2"/>
          <p:cNvSpPr>
            <a:spLocks noGrp="1" noChangeArrowheads="1"/>
          </p:cNvSpPr>
          <p:nvPr>
            <p:ph type="title"/>
          </p:nvPr>
        </p:nvSpPr>
        <p:spPr>
          <a:xfrm>
            <a:off x="762000" y="152400"/>
            <a:ext cx="8077200" cy="1066800"/>
          </a:xfrm>
        </p:spPr>
        <p:txBody>
          <a:bodyPr vert="horz" wrap="square" lIns="92075" tIns="46038" rIns="92075" bIns="46038" numCol="1" anchor="ctr" anchorCtr="0" compatLnSpc="1"/>
          <a:p>
            <a:pPr>
              <a:buNone/>
            </a:pPr>
            <a:r>
              <a:rPr lang="zh-CN" altLang="en-US" sz="3200">
                <a:effectLst>
                  <a:outerShdw blurRad="38100" dist="38100" dir="2700000">
                    <a:srgbClr val="000000"/>
                  </a:outerShdw>
                </a:effectLst>
                <a:ea typeface="宋体" panose="02010600030101010101" pitchFamily="2" charset="-122"/>
              </a:rPr>
              <a:t>什么时候</a:t>
            </a:r>
            <a:r>
              <a:rPr lang="en-US" altLang="zh-CN" sz="3200">
                <a:effectLst>
                  <a:outerShdw blurRad="38100" dist="38100" dir="2700000">
                    <a:srgbClr val="000000"/>
                  </a:outerShdw>
                </a:effectLst>
                <a:ea typeface="宋体" panose="02010600030101010101" pitchFamily="2" charset="-122"/>
              </a:rPr>
              <a:t>Hash</a:t>
            </a:r>
            <a:r>
              <a:rPr lang="zh-CN" altLang="en-US" sz="3200">
                <a:effectLst>
                  <a:outerShdw blurRad="38100" dist="38100" dir="2700000">
                    <a:srgbClr val="000000"/>
                  </a:outerShdw>
                </a:effectLst>
                <a:ea typeface="宋体" panose="02010600030101010101" pitchFamily="2" charset="-122"/>
              </a:rPr>
              <a:t>算法比</a:t>
            </a:r>
            <a:r>
              <a:rPr lang="en-US" altLang="zh-CN" sz="3200">
                <a:effectLst>
                  <a:outerShdw blurRad="38100" dist="38100" dir="2700000">
                    <a:srgbClr val="000000"/>
                  </a:outerShdw>
                </a:effectLst>
                <a:ea typeface="宋体" panose="02010600030101010101" pitchFamily="2" charset="-122"/>
              </a:rPr>
              <a:t>Apriori </a:t>
            </a:r>
            <a:r>
              <a:rPr lang="zh-CN" altLang="en-US" sz="3200">
                <a:effectLst>
                  <a:outerShdw blurRad="38100" dist="38100" dir="2700000">
                    <a:srgbClr val="000000"/>
                  </a:outerShdw>
                </a:effectLst>
                <a:ea typeface="宋体" panose="02010600030101010101" pitchFamily="2" charset="-122"/>
              </a:rPr>
              <a:t>算法优越？</a:t>
            </a:r>
            <a:endParaRPr lang="en-US" altLang="zh-CN" sz="3200">
              <a:effectLst>
                <a:outerShdw blurRad="38100" dist="38100" dir="2700000">
                  <a:srgbClr val="000000"/>
                </a:outerShdw>
              </a:effectLst>
              <a:ea typeface="宋体" panose="02010600030101010101" pitchFamily="2" charset="-122"/>
            </a:endParaRPr>
          </a:p>
        </p:txBody>
      </p:sp>
      <p:sp>
        <p:nvSpPr>
          <p:cNvPr id="57346" name="Rectangle 3"/>
          <p:cNvSpPr>
            <a:spLocks noGrp="1"/>
          </p:cNvSpPr>
          <p:nvPr>
            <p:ph idx="1"/>
          </p:nvPr>
        </p:nvSpPr>
        <p:spPr>
          <a:xfrm>
            <a:off x="0" y="1524000"/>
            <a:ext cx="8763000" cy="3962400"/>
          </a:xfrm>
          <a:ln/>
        </p:spPr>
        <p:txBody>
          <a:bodyPr vert="horz" wrap="square" lIns="92075" tIns="46038" rIns="92075" bIns="46038" anchor="t" anchorCtr="0"/>
          <a:p>
            <a:pPr algn="just"/>
            <a:endParaRPr lang="zh-CN" altLang="en-US" sz="2400">
              <a:ea typeface="宋体" panose="02010600030101010101" pitchFamily="2" charset="-122"/>
            </a:endParaRPr>
          </a:p>
          <a:p>
            <a:pPr algn="just">
              <a:lnSpc>
                <a:spcPct val="150000"/>
              </a:lnSpc>
              <a:buNone/>
            </a:pPr>
            <a:r>
              <a:rPr lang="zh-CN" altLang="en-US">
                <a:ea typeface="宋体" panose="02010600030101010101" pitchFamily="2" charset="-122"/>
              </a:rPr>
              <a:t>	当</a:t>
            </a:r>
            <a:r>
              <a:rPr lang="en-US" altLang="zh-CN">
                <a:ea typeface="宋体" panose="02010600030101010101" pitchFamily="2" charset="-122"/>
              </a:rPr>
              <a:t>C2</a:t>
            </a:r>
            <a:r>
              <a:rPr lang="zh-CN" altLang="en-US">
                <a:ea typeface="宋体" panose="02010600030101010101" pitchFamily="2" charset="-122"/>
              </a:rPr>
              <a:t>很大（</a:t>
            </a:r>
            <a:r>
              <a:rPr lang="en-US" altLang="zh-CN">
                <a:ea typeface="宋体" panose="02010600030101010101" pitchFamily="2" charset="-122"/>
              </a:rPr>
              <a:t>C2</a:t>
            </a:r>
            <a:r>
              <a:rPr lang="zh-CN" altLang="en-US">
                <a:ea typeface="宋体" panose="02010600030101010101" pitchFamily="2" charset="-122"/>
              </a:rPr>
              <a:t>和他们的计数器在内存中放不下），而</a:t>
            </a:r>
            <a:r>
              <a:rPr lang="en-US" altLang="zh-CN">
                <a:ea typeface="宋体" panose="02010600030101010101" pitchFamily="2" charset="-122"/>
              </a:rPr>
              <a:t>Hash</a:t>
            </a:r>
            <a:r>
              <a:rPr lang="zh-CN" altLang="en-US">
                <a:ea typeface="宋体" panose="02010600030101010101" pitchFamily="2" charset="-122"/>
              </a:rPr>
              <a:t>算法产生的频繁桶却很少（大大地减小了</a:t>
            </a:r>
            <a:r>
              <a:rPr lang="en-US" altLang="zh-CN">
                <a:ea typeface="宋体" panose="02010600030101010101" pitchFamily="2" charset="-122"/>
              </a:rPr>
              <a:t>C2</a:t>
            </a:r>
            <a:r>
              <a:rPr lang="zh-CN" altLang="en-US">
                <a:ea typeface="宋体" panose="02010600030101010101" pitchFamily="2" charset="-122"/>
              </a:rPr>
              <a:t>的大小，使之能全部装入内存,从而不需要再扫描数据</a:t>
            </a:r>
            <a:r>
              <a:rPr lang="en-US" altLang="zh-CN">
                <a:ea typeface="宋体" panose="02010600030101010101" pitchFamily="2" charset="-122"/>
              </a:rPr>
              <a:t>）</a:t>
            </a:r>
            <a:r>
              <a:rPr lang="zh-CN" altLang="en-US">
                <a:ea typeface="宋体" panose="02010600030101010101" pitchFamily="2" charset="-122"/>
              </a:rPr>
              <a:t>时，</a:t>
            </a:r>
            <a:r>
              <a:rPr lang="en-US" altLang="zh-CN">
                <a:ea typeface="宋体" panose="02010600030101010101" pitchFamily="2" charset="-122"/>
              </a:rPr>
              <a:t>Hash</a:t>
            </a:r>
            <a:r>
              <a:rPr lang="zh-CN" altLang="en-US">
                <a:ea typeface="宋体" panose="02010600030101010101" pitchFamily="2" charset="-122"/>
              </a:rPr>
              <a:t>算法比</a:t>
            </a:r>
            <a:r>
              <a:rPr lang="en-US" altLang="zh-CN">
                <a:ea typeface="宋体" panose="02010600030101010101" pitchFamily="2" charset="-122"/>
              </a:rPr>
              <a:t>Apriori</a:t>
            </a:r>
            <a:r>
              <a:rPr lang="zh-CN" altLang="en-US">
                <a:ea typeface="宋体" panose="02010600030101010101" pitchFamily="2" charset="-122"/>
              </a:rPr>
              <a:t>算法优越</a:t>
            </a:r>
            <a:endParaRPr lang="zh-CN" altLang="en-US">
              <a:ea typeface="宋体" panose="02010600030101010101" pitchFamily="2" charset="-122"/>
            </a:endParaRP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1218"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partition</a:t>
            </a: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算法 (</a:t>
            </a: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two passes)</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59394" name="Rectangle 3"/>
          <p:cNvSpPr>
            <a:spLocks noGrp="1"/>
          </p:cNvSpPr>
          <p:nvPr>
            <p:ph idx="1"/>
          </p:nvPr>
        </p:nvSpPr>
        <p:spPr>
          <a:ln/>
        </p:spPr>
        <p:txBody>
          <a:bodyPr vert="horz" wrap="square" lIns="91440" tIns="45720" rIns="91440" bIns="45720" anchor="t" anchorCtr="0"/>
          <a:p>
            <a:pPr>
              <a:buNone/>
            </a:pPr>
            <a:r>
              <a:rPr lang="zh-CN" altLang="en-US">
                <a:ea typeface="宋体" panose="02010600030101010101" pitchFamily="2" charset="-122"/>
              </a:rPr>
              <a:t>将数据划分成多个子集, 分别读入内存，找出局部候</a:t>
            </a:r>
            <a:endParaRPr lang="zh-CN" altLang="en-US">
              <a:ea typeface="宋体" panose="02010600030101010101" pitchFamily="2" charset="-122"/>
            </a:endParaRPr>
          </a:p>
          <a:p>
            <a:pPr>
              <a:buNone/>
            </a:pPr>
            <a:r>
              <a:rPr lang="zh-CN" altLang="en-US">
                <a:ea typeface="宋体" panose="02010600030101010101" pitchFamily="2" charset="-122"/>
              </a:rPr>
              <a:t>选集(</a:t>
            </a:r>
            <a:r>
              <a:rPr lang="en-US" altLang="zh-CN">
                <a:ea typeface="宋体" panose="02010600030101010101" pitchFamily="2" charset="-122"/>
              </a:rPr>
              <a:t>pass 1)</a:t>
            </a: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r>
              <a:rPr lang="zh-CN" altLang="en-US">
                <a:ea typeface="宋体" panose="02010600030101010101" pitchFamily="2" charset="-122"/>
              </a:rPr>
              <a:t>再次扫描数据，找出所有的频繁集(</a:t>
            </a:r>
            <a:r>
              <a:rPr lang="en-US" altLang="zh-CN">
                <a:ea typeface="宋体" panose="02010600030101010101" pitchFamily="2" charset="-122"/>
              </a:rPr>
              <a:t>pass 2)</a:t>
            </a:r>
            <a:endParaRPr lang="en-US" altLang="zh-CN">
              <a:ea typeface="宋体" panose="02010600030101010101" pitchFamily="2" charset="-122"/>
            </a:endParaRPr>
          </a:p>
          <a:p>
            <a:pPr>
              <a:buNone/>
            </a:pPr>
            <a:endParaRPr lang="zh-CN" altLang="en-US">
              <a:ea typeface="宋体" panose="02010600030101010101" pitchFamily="2" charset="-122"/>
            </a:endParaRPr>
          </a:p>
          <a:p>
            <a:pPr>
              <a:buNone/>
            </a:pPr>
            <a:r>
              <a:rPr lang="zh-CN" altLang="en-US">
                <a:ea typeface="宋体" panose="02010600030101010101" pitchFamily="2" charset="-122"/>
              </a:rPr>
              <a:t>关键点: 一个集合如果在任一个子集中都不频繁，则</a:t>
            </a:r>
            <a:endParaRPr lang="zh-CN" altLang="en-US">
              <a:ea typeface="宋体" panose="02010600030101010101" pitchFamily="2" charset="-122"/>
            </a:endParaRPr>
          </a:p>
          <a:p>
            <a:pPr>
              <a:buNone/>
            </a:pPr>
            <a:r>
              <a:rPr lang="zh-CN" altLang="en-US">
                <a:ea typeface="宋体" panose="02010600030101010101" pitchFamily="2" charset="-122"/>
              </a:rPr>
              <a:t>它在全局数据中也不频繁 </a:t>
            </a:r>
            <a:endParaRPr lang="zh-CN" altLang="en-US">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4594" name="Rectangle 1026"/>
          <p:cNvSpPr>
            <a:spLocks noGrp="1" noChangeArrowheads="1"/>
          </p:cNvSpPr>
          <p:nvPr>
            <p:ph type="title"/>
          </p:nvPr>
        </p:nvSpPr>
        <p:spPr>
          <a:xfrm>
            <a:off x="457200" y="381000"/>
            <a:ext cx="8077200"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Sample</a:t>
            </a:r>
            <a:r>
              <a:rPr kumimoji="0" lang="zh-CN" altLang="en-US"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算法( </a:t>
            </a: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one or two passes)</a:t>
            </a: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60418" name="Rectangle 1027"/>
          <p:cNvSpPr>
            <a:spLocks noGrp="1"/>
          </p:cNvSpPr>
          <p:nvPr>
            <p:ph idx="1"/>
          </p:nvPr>
        </p:nvSpPr>
        <p:spPr>
          <a:xfrm>
            <a:off x="-76200" y="1700213"/>
            <a:ext cx="9144000" cy="4572000"/>
          </a:xfrm>
          <a:ln/>
        </p:spPr>
        <p:txBody>
          <a:bodyPr vert="horz" wrap="square" lIns="92075" tIns="46038" rIns="92075" bIns="46038" anchor="t" anchorCtr="0"/>
          <a:p>
            <a:pPr marL="533400" indent="-533400">
              <a:lnSpc>
                <a:spcPct val="110000"/>
              </a:lnSpc>
              <a:buNone/>
            </a:pPr>
            <a:r>
              <a:rPr lang="zh-CN" altLang="en-US" sz="2000">
                <a:ea typeface="宋体" panose="02010600030101010101" pitchFamily="2" charset="-122"/>
              </a:rPr>
              <a:t>	随机取内存大小的一个数据的样本，在内存中运行一个层次算法（不用负担</a:t>
            </a:r>
            <a:r>
              <a:rPr lang="en-US" altLang="zh-CN" sz="2000">
                <a:ea typeface="宋体" panose="02010600030101010101" pitchFamily="2" charset="-122"/>
              </a:rPr>
              <a:t>I/O），</a:t>
            </a:r>
            <a:r>
              <a:rPr lang="zh-CN" altLang="en-US" sz="2000">
                <a:ea typeface="宋体" panose="02010600030101010101" pitchFamily="2" charset="-122"/>
              </a:rPr>
              <a:t>希望从这个样本数据能求出真正的频繁集 </a:t>
            </a:r>
            <a:endParaRPr lang="zh-CN" altLang="en-US" sz="2000">
              <a:ea typeface="宋体" panose="02010600030101010101" pitchFamily="2" charset="-122"/>
            </a:endParaRPr>
          </a:p>
          <a:p>
            <a:pPr marL="533400" indent="-533400">
              <a:lnSpc>
                <a:spcPct val="110000"/>
              </a:lnSpc>
              <a:buNone/>
            </a:pPr>
            <a:endParaRPr lang="en-US" altLang="zh-CN" sz="2000">
              <a:ea typeface="宋体" panose="02010600030101010101" pitchFamily="2" charset="-122"/>
            </a:endParaRPr>
          </a:p>
          <a:p>
            <a:pPr marL="914400" lvl="1" indent="-457200">
              <a:lnSpc>
                <a:spcPct val="110000"/>
              </a:lnSpc>
            </a:pPr>
            <a:r>
              <a:rPr lang="zh-CN" altLang="en-US" sz="2000">
                <a:ea typeface="宋体" panose="02010600030101010101" pitchFamily="2" charset="-122"/>
              </a:rPr>
              <a:t>按比例伸缩最小支持率，如果样本数据是整个数据的1%，则应该用</a:t>
            </a:r>
            <a:r>
              <a:rPr lang="en-US" altLang="zh-CN" sz="2000">
                <a:ea typeface="宋体" panose="02010600030101010101" pitchFamily="2" charset="-122"/>
              </a:rPr>
              <a:t>s%</a:t>
            </a:r>
            <a:r>
              <a:rPr lang="zh-CN" altLang="en-US" sz="2000">
                <a:ea typeface="宋体" panose="02010600030101010101" pitchFamily="2" charset="-122"/>
              </a:rPr>
              <a:t>作为新的最小支持率 </a:t>
            </a:r>
            <a:endParaRPr lang="zh-CN" altLang="en-US" sz="2000">
              <a:ea typeface="宋体" panose="02010600030101010101" pitchFamily="2" charset="-122"/>
            </a:endParaRPr>
          </a:p>
          <a:p>
            <a:pPr marL="914400" lvl="1" indent="-457200">
              <a:lnSpc>
                <a:spcPct val="110000"/>
              </a:lnSpc>
            </a:pPr>
            <a:endParaRPr lang="en-US" altLang="zh-CN" sz="2000">
              <a:ea typeface="宋体" panose="02010600030101010101" pitchFamily="2" charset="-122"/>
            </a:endParaRPr>
          </a:p>
          <a:p>
            <a:pPr marL="914400" lvl="1" indent="-457200">
              <a:lnSpc>
                <a:spcPct val="110000"/>
              </a:lnSpc>
            </a:pPr>
            <a:r>
              <a:rPr lang="zh-CN" altLang="en-US" sz="2000">
                <a:ea typeface="宋体" panose="02010600030101010101" pitchFamily="2" charset="-122"/>
              </a:rPr>
              <a:t>完整地扫描数据一次，对由样本数据得出的频繁项目集进行验证，但是那些在全局数据中频繁但在样本数据中不频繁的集合被丢掉了</a:t>
            </a:r>
            <a:endParaRPr lang="zh-CN" altLang="en-US" sz="2000">
              <a:ea typeface="宋体" panose="02010600030101010101" pitchFamily="2" charset="-122"/>
            </a:endParaRPr>
          </a:p>
          <a:p>
            <a:pPr marL="914400" lvl="1" indent="-457200">
              <a:lnSpc>
                <a:spcPct val="110000"/>
              </a:lnSpc>
              <a:buNone/>
            </a:pPr>
            <a:r>
              <a:rPr lang="zh-CN" altLang="en-US" sz="2000">
                <a:ea typeface="宋体" panose="02010600030101010101" pitchFamily="2" charset="-122"/>
              </a:rPr>
              <a:t> </a:t>
            </a:r>
            <a:endParaRPr lang="zh-CN" altLang="en-US" sz="2000">
              <a:ea typeface="宋体" panose="02010600030101010101" pitchFamily="2" charset="-122"/>
            </a:endParaRPr>
          </a:p>
          <a:p>
            <a:pPr marL="914400" lvl="1" indent="-457200">
              <a:lnSpc>
                <a:spcPct val="110000"/>
              </a:lnSpc>
            </a:pPr>
            <a:r>
              <a:rPr lang="zh-CN" altLang="en-US" sz="2000">
                <a:ea typeface="宋体" panose="02010600030101010101" pitchFamily="2" charset="-122"/>
              </a:rPr>
              <a:t>为了减小</a:t>
            </a:r>
            <a:r>
              <a:rPr lang="en-US" altLang="zh-CN" sz="2000">
                <a:ea typeface="宋体" panose="02010600030101010101" pitchFamily="2" charset="-122"/>
              </a:rPr>
              <a:t>false negative，</a:t>
            </a:r>
            <a:r>
              <a:rPr lang="zh-CN" altLang="en-US" sz="2000">
                <a:ea typeface="宋体" panose="02010600030101010101" pitchFamily="2" charset="-122"/>
              </a:rPr>
              <a:t>可以将样本数据的最小支持率降低一点，这样在全面扫描数据的时候就可以找到更多的候选集。但注意：这样做的后果可能会产生太多的候选集而使内存装不下</a:t>
            </a:r>
            <a:endParaRPr lang="zh-CN" altLang="en-US" sz="2000">
              <a:ea typeface="宋体" panose="02010600030101010101" pitchFamily="2" charset="-122"/>
            </a:endParaRPr>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0610"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Bottleneck of Frequent-pattern Mining</a:t>
            </a: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sp>
        <p:nvSpPr>
          <p:cNvPr id="62466" name="Rectangle 3"/>
          <p:cNvSpPr>
            <a:spLocks noGrp="1"/>
          </p:cNvSpPr>
          <p:nvPr>
            <p:ph idx="1"/>
          </p:nvPr>
        </p:nvSpPr>
        <p:spPr>
          <a:xfrm>
            <a:off x="457200" y="1447800"/>
            <a:ext cx="8497888" cy="5029200"/>
          </a:xfrm>
          <a:ln/>
        </p:spPr>
        <p:txBody>
          <a:bodyPr vert="horz" wrap="square" lIns="91440" tIns="45720" rIns="91440" bIns="45720" anchor="t" anchorCtr="0"/>
          <a:p>
            <a:pPr>
              <a:lnSpc>
                <a:spcPct val="110000"/>
              </a:lnSpc>
            </a:pPr>
            <a:r>
              <a:rPr lang="en-US" altLang="zh-CN">
                <a:ea typeface="宋体" panose="02010600030101010101" pitchFamily="2" charset="-122"/>
              </a:rPr>
              <a:t>Multiple database scans are </a:t>
            </a:r>
            <a:r>
              <a:rPr lang="en-US" altLang="zh-CN">
                <a:solidFill>
                  <a:schemeClr val="hlink"/>
                </a:solidFill>
                <a:ea typeface="宋体" panose="02010600030101010101" pitchFamily="2" charset="-122"/>
              </a:rPr>
              <a:t>costly</a:t>
            </a:r>
            <a:endParaRPr lang="en-US" altLang="zh-CN">
              <a:solidFill>
                <a:schemeClr val="hlink"/>
              </a:solidFill>
              <a:ea typeface="宋体" panose="02010600030101010101" pitchFamily="2" charset="-122"/>
            </a:endParaRPr>
          </a:p>
          <a:p>
            <a:pPr>
              <a:lnSpc>
                <a:spcPct val="110000"/>
              </a:lnSpc>
            </a:pPr>
            <a:r>
              <a:rPr lang="en-US" altLang="zh-CN">
                <a:ea typeface="宋体" panose="02010600030101010101" pitchFamily="2" charset="-122"/>
              </a:rPr>
              <a:t>Mining long patterns needs many passes of scanning and generates lots of candidates</a:t>
            </a:r>
            <a:endParaRPr lang="en-US" altLang="zh-CN">
              <a:solidFill>
                <a:schemeClr val="hlink"/>
              </a:solidFill>
              <a:ea typeface="宋体" panose="02010600030101010101" pitchFamily="2" charset="-122"/>
            </a:endParaRPr>
          </a:p>
          <a:p>
            <a:pPr lvl="1">
              <a:lnSpc>
                <a:spcPct val="110000"/>
              </a:lnSpc>
            </a:pPr>
            <a:r>
              <a:rPr lang="en-US" altLang="zh-CN">
                <a:ea typeface="宋体" panose="02010600030101010101" pitchFamily="2" charset="-122"/>
              </a:rPr>
              <a:t>To find frequent itemset </a:t>
            </a:r>
            <a:r>
              <a:rPr lang="en-US" altLang="zh-CN" i="1">
                <a:ea typeface="宋体" panose="02010600030101010101" pitchFamily="2" charset="-122"/>
              </a:rPr>
              <a:t>i</a:t>
            </a:r>
            <a:r>
              <a:rPr lang="en-US" altLang="zh-CN" i="1" baseline="-25000">
                <a:ea typeface="宋体" panose="02010600030101010101" pitchFamily="2" charset="-122"/>
              </a:rPr>
              <a:t>1</a:t>
            </a:r>
            <a:r>
              <a:rPr lang="en-US" altLang="zh-CN" i="1">
                <a:ea typeface="宋体" panose="02010600030101010101" pitchFamily="2" charset="-122"/>
              </a:rPr>
              <a:t>i</a:t>
            </a:r>
            <a:r>
              <a:rPr lang="en-US" altLang="zh-CN" i="1" baseline="-25000">
                <a:ea typeface="宋体" panose="02010600030101010101" pitchFamily="2" charset="-122"/>
              </a:rPr>
              <a:t>2</a:t>
            </a:r>
            <a:r>
              <a:rPr lang="en-US" altLang="zh-CN" i="1">
                <a:latin typeface="Tahoma" panose="020B0604030504040204" pitchFamily="34" charset="0"/>
                <a:ea typeface="宋体" panose="02010600030101010101" pitchFamily="2" charset="-122"/>
              </a:rPr>
              <a:t>…</a:t>
            </a:r>
            <a:r>
              <a:rPr lang="en-US" altLang="zh-CN" i="1">
                <a:ea typeface="宋体" panose="02010600030101010101" pitchFamily="2" charset="-122"/>
              </a:rPr>
              <a:t>i</a:t>
            </a:r>
            <a:r>
              <a:rPr lang="en-US" altLang="zh-CN" i="1" baseline="-25000">
                <a:ea typeface="宋体" panose="02010600030101010101" pitchFamily="2" charset="-122"/>
              </a:rPr>
              <a:t>100</a:t>
            </a:r>
            <a:endParaRPr lang="en-US" altLang="zh-CN" i="1">
              <a:ea typeface="宋体" panose="02010600030101010101" pitchFamily="2" charset="-122"/>
            </a:endParaRPr>
          </a:p>
          <a:p>
            <a:pPr lvl="2">
              <a:lnSpc>
                <a:spcPct val="110000"/>
              </a:lnSpc>
            </a:pPr>
            <a:r>
              <a:rPr lang="en-US" altLang="zh-CN">
                <a:ea typeface="宋体" panose="02010600030101010101" pitchFamily="2" charset="-122"/>
              </a:rPr>
              <a:t># of scans: </a:t>
            </a:r>
            <a:r>
              <a:rPr lang="en-US" altLang="zh-CN">
                <a:solidFill>
                  <a:schemeClr val="hlink"/>
                </a:solidFill>
                <a:ea typeface="宋体" panose="02010600030101010101" pitchFamily="2" charset="-122"/>
              </a:rPr>
              <a:t>100</a:t>
            </a:r>
            <a:endParaRPr lang="en-US" altLang="zh-CN">
              <a:solidFill>
                <a:schemeClr val="hlink"/>
              </a:solidFill>
              <a:ea typeface="宋体" panose="02010600030101010101" pitchFamily="2" charset="-122"/>
            </a:endParaRPr>
          </a:p>
          <a:p>
            <a:pPr lvl="2">
              <a:lnSpc>
                <a:spcPct val="110000"/>
              </a:lnSpc>
            </a:pPr>
            <a:r>
              <a:rPr lang="en-US" altLang="zh-CN">
                <a:ea typeface="宋体" panose="02010600030101010101" pitchFamily="2" charset="-122"/>
              </a:rPr>
              <a:t># of Candidates: (</a:t>
            </a:r>
            <a:r>
              <a:rPr lang="en-US" altLang="zh-CN" baseline="-25000">
                <a:ea typeface="宋体" panose="02010600030101010101" pitchFamily="2" charset="-122"/>
              </a:rPr>
              <a:t>100</a:t>
            </a:r>
            <a:r>
              <a:rPr lang="en-US" altLang="zh-CN" baseline="30000">
                <a:ea typeface="宋体" panose="02010600030101010101" pitchFamily="2" charset="-122"/>
              </a:rPr>
              <a:t>1</a:t>
            </a:r>
            <a:r>
              <a:rPr lang="en-US" altLang="zh-CN">
                <a:ea typeface="宋体" panose="02010600030101010101" pitchFamily="2" charset="-122"/>
              </a:rPr>
              <a:t>) + (</a:t>
            </a:r>
            <a:r>
              <a:rPr lang="en-US" altLang="zh-CN" baseline="-25000">
                <a:ea typeface="宋体" panose="02010600030101010101" pitchFamily="2" charset="-122"/>
              </a:rPr>
              <a:t>100</a:t>
            </a:r>
            <a:r>
              <a:rPr lang="en-US" altLang="zh-CN" baseline="30000">
                <a:ea typeface="宋体" panose="02010600030101010101" pitchFamily="2" charset="-122"/>
              </a:rPr>
              <a:t>2</a:t>
            </a:r>
            <a:r>
              <a:rPr lang="en-US" altLang="zh-CN">
                <a:ea typeface="宋体" panose="02010600030101010101" pitchFamily="2" charset="-122"/>
              </a:rPr>
              <a:t>) + </a:t>
            </a:r>
            <a:r>
              <a:rPr lang="en-US" altLang="zh-CN">
                <a:latin typeface="Tahoma" panose="020B0604030504040204" pitchFamily="34" charset="0"/>
                <a:ea typeface="宋体" panose="02010600030101010101" pitchFamily="2" charset="-122"/>
              </a:rPr>
              <a:t>…</a:t>
            </a:r>
            <a:r>
              <a:rPr lang="en-US" altLang="zh-CN">
                <a:ea typeface="宋体" panose="02010600030101010101" pitchFamily="2" charset="-122"/>
              </a:rPr>
              <a:t> + (</a:t>
            </a:r>
            <a:r>
              <a:rPr lang="en-US" altLang="zh-CN" baseline="-25000">
                <a:ea typeface="宋体" panose="02010600030101010101" pitchFamily="2" charset="-122"/>
              </a:rPr>
              <a:t>1</a:t>
            </a:r>
            <a:r>
              <a:rPr lang="en-US" altLang="zh-CN" baseline="30000">
                <a:ea typeface="宋体" panose="02010600030101010101" pitchFamily="2" charset="-122"/>
              </a:rPr>
              <a:t>1</a:t>
            </a:r>
            <a:r>
              <a:rPr lang="en-US" altLang="zh-CN" baseline="-25000">
                <a:ea typeface="宋体" panose="02010600030101010101" pitchFamily="2" charset="-122"/>
              </a:rPr>
              <a:t>0</a:t>
            </a:r>
            <a:r>
              <a:rPr lang="en-US" altLang="zh-CN" baseline="30000">
                <a:ea typeface="宋体" panose="02010600030101010101" pitchFamily="2" charset="-122"/>
              </a:rPr>
              <a:t>0</a:t>
            </a:r>
            <a:r>
              <a:rPr lang="en-US" altLang="zh-CN" baseline="-25000">
                <a:ea typeface="宋体" panose="02010600030101010101" pitchFamily="2" charset="-122"/>
              </a:rPr>
              <a:t>0</a:t>
            </a:r>
            <a:r>
              <a:rPr lang="en-US" altLang="zh-CN" baseline="30000">
                <a:ea typeface="宋体" panose="02010600030101010101" pitchFamily="2" charset="-122"/>
              </a:rPr>
              <a:t>0</a:t>
            </a:r>
            <a:r>
              <a:rPr lang="en-US" altLang="zh-CN">
                <a:ea typeface="宋体" panose="02010600030101010101" pitchFamily="2" charset="-122"/>
              </a:rPr>
              <a:t>) = 2</a:t>
            </a:r>
            <a:r>
              <a:rPr lang="en-US" altLang="zh-CN" baseline="30000">
                <a:ea typeface="宋体" panose="02010600030101010101" pitchFamily="2" charset="-122"/>
              </a:rPr>
              <a:t>100</a:t>
            </a:r>
            <a:r>
              <a:rPr lang="en-US" altLang="zh-CN">
                <a:ea typeface="宋体" panose="02010600030101010101" pitchFamily="2" charset="-122"/>
              </a:rPr>
              <a:t>-1 = </a:t>
            </a:r>
            <a:r>
              <a:rPr lang="en-US" altLang="zh-CN">
                <a:solidFill>
                  <a:schemeClr val="hlink"/>
                </a:solidFill>
                <a:ea typeface="宋体" panose="02010600030101010101" pitchFamily="2" charset="-122"/>
              </a:rPr>
              <a:t>1.27*10</a:t>
            </a:r>
            <a:r>
              <a:rPr lang="en-US" altLang="zh-CN" baseline="30000">
                <a:solidFill>
                  <a:schemeClr val="hlink"/>
                </a:solidFill>
                <a:ea typeface="宋体" panose="02010600030101010101" pitchFamily="2" charset="-122"/>
              </a:rPr>
              <a:t>30 </a:t>
            </a:r>
            <a:r>
              <a:rPr lang="en-US" altLang="zh-CN">
                <a:solidFill>
                  <a:schemeClr val="hlink"/>
                </a:solidFill>
                <a:ea typeface="宋体" panose="02010600030101010101" pitchFamily="2" charset="-122"/>
              </a:rPr>
              <a:t>!</a:t>
            </a:r>
            <a:endParaRPr lang="en-US" altLang="zh-CN">
              <a:solidFill>
                <a:schemeClr val="hlink"/>
              </a:solidFill>
              <a:ea typeface="宋体" panose="02010600030101010101" pitchFamily="2" charset="-122"/>
            </a:endParaRPr>
          </a:p>
          <a:p>
            <a:pPr>
              <a:lnSpc>
                <a:spcPct val="110000"/>
              </a:lnSpc>
            </a:pPr>
            <a:r>
              <a:rPr lang="en-US" altLang="zh-CN">
                <a:ea typeface="宋体" panose="02010600030101010101" pitchFamily="2" charset="-122"/>
              </a:rPr>
              <a:t>Bottleneck: candidate-generation-and-test</a:t>
            </a:r>
            <a:endParaRPr lang="en-US" altLang="zh-CN">
              <a:ea typeface="宋体" panose="02010600030101010101" pitchFamily="2" charset="-122"/>
            </a:endParaRPr>
          </a:p>
          <a:p>
            <a:pPr>
              <a:lnSpc>
                <a:spcPct val="110000"/>
              </a:lnSpc>
            </a:pPr>
            <a:r>
              <a:rPr lang="en-US" altLang="zh-CN">
                <a:ea typeface="宋体" panose="02010600030101010101" pitchFamily="2" charset="-122"/>
              </a:rPr>
              <a:t>Can we avoid candidate generation?</a:t>
            </a:r>
            <a:endParaRPr lang="en-US" altLang="zh-CN">
              <a:solidFill>
                <a:schemeClr val="hlink"/>
              </a:solidFill>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0066" name="Rectangle 2"/>
          <p:cNvSpPr>
            <a:spLocks noGrp="1" noChangeArrowheads="1"/>
          </p:cNvSpPr>
          <p:nvPr>
            <p:ph type="title"/>
          </p:nvPr>
        </p:nvSpPr>
        <p:spPr>
          <a:xfrm>
            <a:off x="381000" y="381000"/>
            <a:ext cx="8382000" cy="669925"/>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So far, we covered</a:t>
            </a:r>
            <a:endParaRPr kumimoji="0" lang="en-US" altLang="zh-CN"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endParaRPr>
          </a:p>
        </p:txBody>
      </p:sp>
      <p:graphicFrame>
        <p:nvGraphicFramePr>
          <p:cNvPr id="600067" name="Group 3"/>
          <p:cNvGraphicFramePr>
            <a:graphicFrameLocks noGrp="1"/>
          </p:cNvGraphicFramePr>
          <p:nvPr/>
        </p:nvGraphicFramePr>
        <p:xfrm>
          <a:off x="611188" y="1628775"/>
          <a:ext cx="8077200" cy="4381500"/>
        </p:xfrm>
        <a:graphic>
          <a:graphicData uri="http://schemas.openxmlformats.org/drawingml/2006/table">
            <a:tbl>
              <a:tblPr/>
              <a:tblGrid>
                <a:gridCol w="2019300"/>
                <a:gridCol w="2019300"/>
                <a:gridCol w="2019300"/>
                <a:gridCol w="2019300"/>
              </a:tblGrid>
              <a:tr h="760479">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Read-based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Write-based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rPr>
                        <a:t>Point-based</a:t>
                      </a:r>
                      <a:endParaRPr kumimoji="0" lang="en-US" altLang="zh-CN" sz="18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40136">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Association Mining</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Apriori[AgSr94]</a:t>
                      </a:r>
                      <a:endPar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FPGrowth [HaPe00]</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736">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Sub-Graph</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Mining</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AGM[PKDD</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00] </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FSG[ICDM</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Mofa[ICDM</a:t>
                      </a:r>
                      <a:r>
                        <a:rPr kumimoji="0" lang="en-US" altLang="zh-CN" sz="1800" b="1" i="0" u="none" strike="noStrike" cap="none" normalizeH="0" baseline="0">
                          <a:ln>
                            <a:noFill/>
                          </a:ln>
                          <a:solidFill>
                            <a:srgbClr val="170981"/>
                          </a:solidFill>
                          <a:effectLst/>
                          <a:latin typeface="Tahoma" panose="020B0604030504040204"/>
                          <a:ea typeface="宋体" panose="02010600030101010101" pitchFamily="2" charset="-122"/>
                        </a:rPr>
                        <a:t>’</a:t>
                      </a: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02]</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309802">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Sequential Pattern Discovery</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GSP[AgSr96]</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PrefixSpan [PHPC01]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969348">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Iceberg Cube</a:t>
                      </a:r>
                      <a:endParaRPr kumimoji="0" lang="en-US" altLang="zh-CN"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Apriori[AgSr94]</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r>
                        <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rPr>
                        <a:t>BUC[BeRa99], H-cubing [HPDW01]</a:t>
                      </a:r>
                      <a:endParaRPr kumimoji="0" lang="en-US" altLang="zh-CN"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Pct val="90000"/>
                        <a:buFont typeface="Monotype Sorts" pitchFamily="2" charset="2"/>
                        <a:buNone/>
                      </a:pPr>
                      <a:endParaRPr kumimoji="0" lang="zh-CN" altLang="en-US" sz="1800" b="1" i="0" u="none" strike="noStrike" cap="none" normalizeH="0" baseline="0">
                        <a:ln>
                          <a:noFill/>
                        </a:ln>
                        <a:solidFill>
                          <a:srgbClr val="17098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63522" name="Line 35"/>
          <p:cNvSpPr/>
          <p:nvPr/>
        </p:nvSpPr>
        <p:spPr>
          <a:xfrm flipV="1">
            <a:off x="2700338" y="2492375"/>
            <a:ext cx="1871662" cy="504825"/>
          </a:xfrm>
          <a:prstGeom prst="line">
            <a:avLst/>
          </a:prstGeom>
          <a:ln w="9525" cap="flat" cmpd="sng">
            <a:solidFill>
              <a:srgbClr val="FF0000"/>
            </a:solidFill>
            <a:prstDash val="solid"/>
            <a:headEnd type="none" w="med" len="med"/>
            <a:tailEnd type="none" w="med" len="med"/>
          </a:ln>
        </p:spPr>
      </p:sp>
      <p:sp>
        <p:nvSpPr>
          <p:cNvPr id="63523" name="Line 36"/>
          <p:cNvSpPr/>
          <p:nvPr/>
        </p:nvSpPr>
        <p:spPr>
          <a:xfrm flipH="1" flipV="1">
            <a:off x="2627313" y="2420938"/>
            <a:ext cx="1873250" cy="576262"/>
          </a:xfrm>
          <a:prstGeom prst="line">
            <a:avLst/>
          </a:prstGeom>
          <a:ln w="9525" cap="flat" cmpd="sng">
            <a:solidFill>
              <a:srgbClr val="FF0000"/>
            </a:solidFill>
            <a:prstDash val="solid"/>
            <a:headEnd type="none" w="med" len="med"/>
            <a:tailEnd type="none" w="med" len="med"/>
          </a:ln>
        </p:spPr>
      </p:sp>
    </p:spTree>
  </p:cSld>
  <p:clrMapOvr>
    <a:masterClrMapping/>
  </p:clrMapOvr>
</p:sld>
</file>

<file path=ppt/tags/tag1.xml><?xml version="1.0" encoding="utf-8"?>
<p:tagLst xmlns:p="http://schemas.openxmlformats.org/presentationml/2006/main">
  <p:tag name="KSO_WPP_MARK_KEY" val="3647668d-3a43-4083-9028-79a17479f21f"/>
</p:tagLst>
</file>

<file path=ppt/theme/theme1.xml><?xml version="1.0" encoding="utf-8"?>
<a:theme xmlns:a="http://schemas.openxmlformats.org/drawingml/2006/main" name="han">
  <a:themeElements>
    <a:clrScheme name="">
      <a:dk1>
        <a:srgbClr val="000000"/>
      </a:dk1>
      <a:lt1>
        <a:srgbClr val="DEFEEE"/>
      </a:lt1>
      <a:dk2>
        <a:srgbClr val="0000FF"/>
      </a:dk2>
      <a:lt2>
        <a:srgbClr val="333300"/>
      </a:lt2>
      <a:accent1>
        <a:srgbClr val="CC0099"/>
      </a:accent1>
      <a:accent2>
        <a:srgbClr val="003300"/>
      </a:accent2>
      <a:accent3>
        <a:srgbClr val="ECFEF5"/>
      </a:accent3>
      <a:accent4>
        <a:srgbClr val="000000"/>
      </a:accent4>
      <a:accent5>
        <a:srgbClr val="E2AACA"/>
      </a:accent5>
      <a:accent6>
        <a:srgbClr val="002D00"/>
      </a:accent6>
      <a:hlink>
        <a:srgbClr val="CC3300"/>
      </a:hlink>
      <a:folHlink>
        <a:srgbClr val="FF3399"/>
      </a:folHlink>
    </a:clrScheme>
    <a:fontScheme name="ha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ha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ha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ha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ha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ha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ha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ha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Office\Templates\han.pot</Template>
  <TotalTime>0</TotalTime>
  <Words>9389</Words>
  <Application>WPS 演示</Application>
  <PresentationFormat>全屏显示(4:3)</PresentationFormat>
  <Paragraphs>1061</Paragraphs>
  <Slides>42</Slides>
  <Notes>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56" baseType="lpstr">
      <vt:lpstr>Arial</vt:lpstr>
      <vt:lpstr>宋体</vt:lpstr>
      <vt:lpstr>Wingdings</vt:lpstr>
      <vt:lpstr>Times New Roman</vt:lpstr>
      <vt:lpstr>Monotype Sorts</vt:lpstr>
      <vt:lpstr>Wingdings</vt:lpstr>
      <vt:lpstr>Tahoma</vt:lpstr>
      <vt:lpstr>Symbol</vt:lpstr>
      <vt:lpstr>Tahoma</vt:lpstr>
      <vt:lpstr>微软雅黑</vt:lpstr>
      <vt:lpstr>Arial Unicode MS</vt:lpstr>
      <vt:lpstr>han</vt:lpstr>
      <vt:lpstr>PowerPoint.Slide.8</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Albert Yang</cp:lastModifiedBy>
  <cp:revision>150</cp:revision>
  <cp:lastPrinted>1998-10-25T21:42:16Z</cp:lastPrinted>
  <dcterms:created xsi:type="dcterms:W3CDTF">1998-06-19T04:38:52Z</dcterms:created>
  <dcterms:modified xsi:type="dcterms:W3CDTF">2023-06-11T09:14:26Z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C6573B64DC4D4274BE3ADD59E8133A6F_13</vt:lpwstr>
  </property>
  <property fmtid="{D5CDD505-2E9C-101B-9397-08002B2CF9AE}" pid="3" name="KSOProductBuildVer">
    <vt:lpwstr>2052-11.1.0.14309</vt:lpwstr>
  </property>
</Properties>
</file>