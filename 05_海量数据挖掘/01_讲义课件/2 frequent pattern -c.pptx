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4"/>
  </p:notesMasterIdLst>
  <p:handoutMasterIdLst>
    <p:handoutMasterId r:id="rId75"/>
  </p:handoutMasterIdLst>
  <p:sldIdLst>
    <p:sldId id="570" r:id="rId2"/>
    <p:sldId id="597" r:id="rId3"/>
    <p:sldId id="598" r:id="rId4"/>
    <p:sldId id="599" r:id="rId5"/>
    <p:sldId id="608" r:id="rId6"/>
    <p:sldId id="581" r:id="rId7"/>
    <p:sldId id="582" r:id="rId8"/>
    <p:sldId id="585" r:id="rId9"/>
    <p:sldId id="586" r:id="rId10"/>
    <p:sldId id="589" r:id="rId11"/>
    <p:sldId id="628" r:id="rId12"/>
    <p:sldId id="629" r:id="rId13"/>
    <p:sldId id="632" r:id="rId14"/>
    <p:sldId id="631" r:id="rId15"/>
    <p:sldId id="627" r:id="rId16"/>
    <p:sldId id="587" r:id="rId17"/>
    <p:sldId id="588" r:id="rId18"/>
    <p:sldId id="591" r:id="rId19"/>
    <p:sldId id="606" r:id="rId20"/>
    <p:sldId id="607" r:id="rId21"/>
    <p:sldId id="600" r:id="rId22"/>
    <p:sldId id="601" r:id="rId23"/>
    <p:sldId id="603" r:id="rId24"/>
    <p:sldId id="604" r:id="rId25"/>
    <p:sldId id="605" r:id="rId26"/>
    <p:sldId id="609" r:id="rId27"/>
    <p:sldId id="623" r:id="rId28"/>
    <p:sldId id="624" r:id="rId29"/>
    <p:sldId id="625" r:id="rId30"/>
    <p:sldId id="610" r:id="rId31"/>
    <p:sldId id="611" r:id="rId32"/>
    <p:sldId id="612" r:id="rId33"/>
    <p:sldId id="613" r:id="rId34"/>
    <p:sldId id="614" r:id="rId35"/>
    <p:sldId id="615" r:id="rId36"/>
    <p:sldId id="616" r:id="rId37"/>
    <p:sldId id="617" r:id="rId38"/>
    <p:sldId id="618" r:id="rId39"/>
    <p:sldId id="619" r:id="rId40"/>
    <p:sldId id="622" r:id="rId41"/>
    <p:sldId id="626" r:id="rId42"/>
    <p:sldId id="648" r:id="rId43"/>
    <p:sldId id="638" r:id="rId44"/>
    <p:sldId id="639" r:id="rId45"/>
    <p:sldId id="640" r:id="rId46"/>
    <p:sldId id="641" r:id="rId47"/>
    <p:sldId id="642" r:id="rId48"/>
    <p:sldId id="643" r:id="rId49"/>
    <p:sldId id="644" r:id="rId50"/>
    <p:sldId id="645" r:id="rId51"/>
    <p:sldId id="646" r:id="rId52"/>
    <p:sldId id="647" r:id="rId53"/>
    <p:sldId id="649" r:id="rId54"/>
    <p:sldId id="650" r:id="rId55"/>
    <p:sldId id="651" r:id="rId56"/>
    <p:sldId id="652" r:id="rId57"/>
    <p:sldId id="653" r:id="rId58"/>
    <p:sldId id="654" r:id="rId59"/>
    <p:sldId id="655" r:id="rId60"/>
    <p:sldId id="656" r:id="rId61"/>
    <p:sldId id="657" r:id="rId62"/>
    <p:sldId id="659" r:id="rId63"/>
    <p:sldId id="658" r:id="rId64"/>
    <p:sldId id="660" r:id="rId65"/>
    <p:sldId id="661" r:id="rId66"/>
    <p:sldId id="662" r:id="rId67"/>
    <p:sldId id="663" r:id="rId68"/>
    <p:sldId id="664" r:id="rId69"/>
    <p:sldId id="665" r:id="rId70"/>
    <p:sldId id="666" r:id="rId71"/>
    <p:sldId id="566" r:id="rId72"/>
    <p:sldId id="567" r:id="rId73"/>
  </p:sldIdLst>
  <p:sldSz cx="9144000" cy="6858000" type="screen4x3"/>
  <p:notesSz cx="6858000" cy="91440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36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36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36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36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0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E6EA"/>
    <a:srgbClr val="FAE2F6"/>
    <a:srgbClr val="170981"/>
    <a:srgbClr val="121328"/>
    <a:srgbClr val="000099"/>
    <a:srgbClr val="FEFFDC"/>
    <a:srgbClr val="BFF3D7"/>
    <a:srgbClr val="9BED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1" autoAdjust="0"/>
    <p:restoredTop sz="85988" autoAdjust="0"/>
  </p:normalViewPr>
  <p:slideViewPr>
    <p:cSldViewPr>
      <p:cViewPr varScale="1">
        <p:scale>
          <a:sx n="100" d="100"/>
          <a:sy n="100" d="100"/>
        </p:scale>
        <p:origin x="760" y="152"/>
      </p:cViewPr>
      <p:guideLst>
        <p:guide orient="horz" pos="2160"/>
        <p:guide pos="3024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699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27.xml"/><Relationship Id="rId2" Type="http://schemas.openxmlformats.org/officeDocument/2006/relationships/slide" Target="slides/slide5.xml"/><Relationship Id="rId1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27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27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6003428-20B1-4874-8FC5-8C693D33E0A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30" units="1/cm"/>
          <inkml:channelProperty channel="Y" name="resolution" value="30" units="1/cm"/>
        </inkml:channelProperties>
      </inkml:inkSource>
      <inkml:timestamp xml:id="ts0" timeString="2009-03-16T05:35:45.866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fitToCurve" value="1"/>
    </inkml:brush>
  </inkml:definitions>
  <inkml:trace contextRef="#ctx0" brushRef="#br0">0 0,'24'0,"-24"0,0 0,0 0,0 24,0 1,0-25,0 0,0 25,0 0,0-1,0 1,0 0,0-25,0 24,0 1,0-25,0 0,0 0,0 25,0-25,24 0,0 0,-24 0,0 0,25 0,-1 0,-24-25,0 25,24-25,0 1,-24-1,24 25,0-25,-24 1,0 24,0 0,0-25,0 25,0-25,0 0,0 25</inkml:trace>
  <inkml:trace contextRef="#ctx0" brushRef="#br0" timeOffset="1532">169 346,'0'0,"0"24,0 1,0-25,0 25,0-25,0 0,0 25,0-1,0-24,0 0,0 0,0 0,0 25,0-25,0 0,0 0,0 0,0 25,0-25,24 0,0 0,-24 0,24 0,0 0,-24-25,0 25,24 0,-24-25,0 25,24 0,-24-24,0 24,24 0,-24-25,0 25,0-25,0 25,0-25,-24 25,0 0,0 0,24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30" units="1/cm"/>
          <inkml:channelProperty channel="Y" name="resolution" value="30" units="1/cm"/>
        </inkml:channelProperties>
      </inkml:inkSource>
      <inkml:timestamp xml:id="ts0" timeString="2009-03-16T05:35:49.632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fitToCurve" value="1"/>
    </inkml:brush>
  </inkml:definitions>
  <inkml:trace contextRef="#ctx0" brushRef="#br0">0 0,'25'0,"-25"0,0 0,0 0,0 25,0-1,0 1,25-25,-25 0,0 50,0-50,0 25,24 25,-24-50,0 49,25 1,0-50,-1 50,-24 0,25-50,-25 49,0-24,25-25,-1 25,-24 0,0 0,0-25,25 0,0-25,-25 25,0-25,0 0,24 0,1 25,-25-49,24-1,26 25,-50 0,0-25,24 26,1-1,-25 0,0 0,0 0,0 25,0-25</inkml:trace>
  <inkml:trace contextRef="#ctx0" brushRef="#br0" timeOffset="1181">493 522,'0'0,"0"25,0 0,0-25,0 25,0 24,0-49,0 25,0 0,0-25,0 25,0 0,0 0,0-25,0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30" units="1/cm"/>
          <inkml:channelProperty channel="Y" name="resolution" value="30" units="1/cm"/>
        </inkml:channelProperties>
      </inkml:inkSource>
      <inkml:timestamp xml:id="ts0" timeString="2009-03-16T05:35:52.326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fitToCurve" value="1"/>
    </inkml:brush>
  </inkml:definitions>
  <inkml:trace contextRef="#ctx0" brushRef="#br0">0 99,'0'25,"0"-25,0 0,0 0,0 25,0 0,25-25,-1 50,-24-25,0-1,25 1,0 0,-25 0,0 0,25 0,-25 0,0-1,0 1,0-25,0 0,24 0,1 0,-25-25,0 1,25-1,-1 0,1-50,25 50,-1-24,-24 24,-25-25,24 50,-24-50,0 50,0-25,0 1,0 24,0-25,0 25,0-25</inkml:trace>
  <inkml:trace contextRef="#ctx0" brushRef="#br0" timeOffset="1281">470 497,'0'0,"24"0,1 0,-25 0,0 0,25 0,-25 0,0 0,24 0,-24 0,0 25,0-25,0 0,0 25,0 0,0-25,0 0,0 25,0 0,0-25,-24 0,24 0,0 24,-25-24,25 0,-25 0,25 0,0 25,-24-25,24 0,0 25,0 0,0-25,0 25,0 0,0-25,24 0,-24 0,0 0,25 0,0 0,-25 0,24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30" units="1/cm"/>
          <inkml:channelProperty channel="Y" name="resolution" value="30" units="1/cm"/>
        </inkml:channelProperties>
      </inkml:inkSource>
      <inkml:timestamp xml:id="ts0" timeString="2009-03-16T05:35:55.61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fitToCurve" value="1"/>
    </inkml:brush>
  </inkml:definitions>
  <inkml:trace contextRef="#ctx0" brushRef="#br0">0 125,'0'0,"0"0,0 0,0 0,0 25,24 0,1-25,-25 24,0 26,25-50,0 50,0 0,-25-26,24 1,1 0,0 0,-25 0,0 0,25-25,0 25,-25-1,0-24,24 0,-24-24,0 24,25-25,0 0,-25 0,25 0,0 0,-25 0,0 1,24-26,1 25,0-25,0 1,-25 24,0 0,0 0,25 0,-1 0,-24 0,0 25,0-25</inkml:trace>
  <inkml:trace contextRef="#ctx0" brushRef="#br0" timeOffset="1262">545 473,'25'0,"-25"0,25 0,0 0,-25 0,0 0,0 0,24 0,1 0,-25 0,0 0,0 0,0 0,0 0,0 25,0 0,0-25,-25 0,25 0,-24 0,24 0,-25 0,25 0,-25 0,25 0,-25 0,25 0,0 24,-25-24,25 0,0 25,0 0,0-25,0 0,0 0,0 0,0 0,0 0,0 0,0 0,0 0,0 0,0 0,0 0,0 0,0 0,0 0,0 0,0 0,0 25,0-25,0 0,0 0,0 0,0 25,0 0,0-25,0 0,0 25,0 0,0-25,0 0,0 24,0 1,0-25,0 25,0 0,0-25,0 25,-24-25,-1 0,25 0,-25 0,0 0,25 0,-25 0</inkml:trace>
  <inkml:trace contextRef="#ctx0" brushRef="#br0" timeOffset="3475">471 373,'25'0,"-1"0,-24 0,0 0,0 0,25 0,-25 0,0 0,25 0,0 0,-25 0,0 0,25 0,-25 0,0 0,24 0,-24 0,0 25,0 0,0-25,0 0,0 0,0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0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A861ADE-F8C7-4836-BB75-C47C16656CD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6236FB2-9521-4F0B-9A1F-8605A37046AE}" type="slidenum">
              <a:rPr lang="zh-CN" altLang="en-US" sz="1200"/>
              <a:pPr/>
              <a:t>8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CB0BB27-5370-4667-945F-130B621FEA82}" type="slidenum">
              <a:rPr lang="zh-CN" altLang="en-US" sz="1200"/>
              <a:pPr/>
              <a:t>30</a:t>
            </a:fld>
            <a:endParaRPr lang="en-US" altLang="zh-CN" sz="120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1000"/>
              <a:t>Apriori: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1000"/>
              <a:t>    Step1: Join two k-1 edge graphs (these two graphs share a same k-2 edge subgraph) to generate a k-edge graph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1000"/>
              <a:t>    Step2:  Join the tid-list of these two k-1 edge graphs, then see whether its count is larger than the minimum support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1000"/>
              <a:t>    Step3:  Check all k-1 subgraph of this k-edge graph to see whether all of them are frequent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1000"/>
              <a:t>    Step4:  After G successfully pass Step1-3, do support computation of G in the graph dataset, See whether it is really frequent.</a:t>
            </a:r>
          </a:p>
          <a:p>
            <a:pPr eaLnBrk="1" hangingPunct="1">
              <a:lnSpc>
                <a:spcPct val="90000"/>
              </a:lnSpc>
            </a:pPr>
            <a:endParaRPr lang="en-US" altLang="zh-CN" sz="1000"/>
          </a:p>
          <a:p>
            <a:pPr eaLnBrk="1" hangingPunct="1">
              <a:lnSpc>
                <a:spcPct val="90000"/>
              </a:lnSpc>
            </a:pPr>
            <a:r>
              <a:rPr lang="en-US" altLang="zh-CN" sz="1000"/>
              <a:t>gSpan: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1000"/>
              <a:t>    Step1: Right-most extend a k-1 edge graph to several k edge graphs.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1000"/>
              <a:t>    Step2: Enumerate the occurrence of this k-1 edge graph in the graph dataset, meanwhile, counting these k edge graphs.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1000"/>
              <a:t>    Step3: Output those k edge graphs whose support is larger than the minimum support.</a:t>
            </a:r>
          </a:p>
          <a:p>
            <a:pPr eaLnBrk="1" hangingPunct="1">
              <a:lnSpc>
                <a:spcPct val="90000"/>
              </a:lnSpc>
            </a:pPr>
            <a:endParaRPr lang="en-US" altLang="zh-CN" sz="1000"/>
          </a:p>
          <a:p>
            <a:pPr eaLnBrk="1" hangingPunct="1">
              <a:lnSpc>
                <a:spcPct val="90000"/>
              </a:lnSpc>
            </a:pPr>
            <a:r>
              <a:rPr lang="en-US" altLang="zh-CN" sz="1000"/>
              <a:t>Pros: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1000"/>
              <a:t>   1: gSpan avoid the costly candidate generation and testing some infrequent subgraphs.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1000"/>
              <a:t>   2: No complicated graph operations, like joining two graphs and calculating its k-1 subgraphs.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1000"/>
              <a:t>   3. gSpan is very simple</a:t>
            </a:r>
          </a:p>
          <a:p>
            <a:pPr eaLnBrk="1" hangingPunct="1">
              <a:lnSpc>
                <a:spcPct val="90000"/>
              </a:lnSpc>
            </a:pPr>
            <a:endParaRPr lang="en-US" altLang="zh-CN" sz="1000"/>
          </a:p>
          <a:p>
            <a:pPr eaLnBrk="1" hangingPunct="1">
              <a:lnSpc>
                <a:spcPct val="90000"/>
              </a:lnSpc>
            </a:pPr>
            <a:r>
              <a:rPr lang="en-US" altLang="zh-CN" sz="1000"/>
              <a:t>The key is how to do right most extension efficiently in graph. We invented DFS code for graph.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F30BBC1-6128-47CD-A0FA-47AA7CFE91E0}" type="slidenum">
              <a:rPr lang="zh-CN" altLang="en-US" sz="1200"/>
              <a:pPr/>
              <a:t>32</a:t>
            </a:fld>
            <a:endParaRPr lang="en-US" altLang="zh-CN" sz="120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/>
              <a:t>1: Given a graph in (a), suppose, the DFS traverse the graph in the order 0, 1, 2, 3, 4</a:t>
            </a:r>
          </a:p>
          <a:p>
            <a:pPr eaLnBrk="1" hangingPunct="1"/>
            <a:r>
              <a:rPr lang="en-US" altLang="zh-CN"/>
              <a:t>2: The vertices 0, 1, 2 and 4 constitute the right-most path, and vertex 4 is called the right-most vertex (the last discovered vertex) </a:t>
            </a:r>
          </a:p>
          <a:p>
            <a:pPr eaLnBrk="1" hangingPunct="1"/>
            <a:r>
              <a:rPr lang="en-US" altLang="zh-CN"/>
              <a:t>3: Any extension must take place on the right-most path: first, the backward edge can only extend from the right most vertex;</a:t>
            </a:r>
          </a:p>
          <a:p>
            <a:pPr eaLnBrk="1" hangingPunct="1"/>
            <a:r>
              <a:rPr lang="en-US" altLang="zh-CN"/>
              <a:t>   Second, the forward edge can extend from any vertices on the right-most path.</a:t>
            </a:r>
          </a:p>
          <a:p>
            <a:pPr eaLnBrk="1" hangingPunct="1"/>
            <a:r>
              <a:rPr lang="en-US" altLang="zh-CN"/>
              <a:t>4: The extension of a graph is equal to the extension of its DFS code by appending a new edge in the end.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86F0A7E-0588-4B5A-B832-9412304CF127}" type="slidenum">
              <a:rPr lang="zh-CN" altLang="en-US" sz="1200"/>
              <a:pPr/>
              <a:t>33</a:t>
            </a:fld>
            <a:endParaRPr lang="en-US" altLang="zh-CN" sz="120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/>
              <a:t>1: Given a graph in (a), suppose, the DFS traverse the graph in the order 0, 1, 2, 3, 4</a:t>
            </a:r>
          </a:p>
          <a:p>
            <a:pPr eaLnBrk="1" hangingPunct="1"/>
            <a:r>
              <a:rPr lang="en-US" altLang="zh-CN"/>
              <a:t>2: The vertices 0, 1, 2 and 4 constitute the right-most path, and vertex 4 is called the right-most vertex (the last discovered vertex) </a:t>
            </a:r>
          </a:p>
          <a:p>
            <a:pPr eaLnBrk="1" hangingPunct="1"/>
            <a:r>
              <a:rPr lang="en-US" altLang="zh-CN"/>
              <a:t>3: Any extension must take place on the right-most path: first, the backward edge can only extend from the right most vertex;</a:t>
            </a:r>
          </a:p>
          <a:p>
            <a:pPr eaLnBrk="1" hangingPunct="1"/>
            <a:r>
              <a:rPr lang="en-US" altLang="zh-CN"/>
              <a:t>   Second, the forward edge can extend from any vertices on the right-most path.</a:t>
            </a:r>
          </a:p>
          <a:p>
            <a:pPr eaLnBrk="1" hangingPunct="1"/>
            <a:r>
              <a:rPr lang="en-US" altLang="zh-CN"/>
              <a:t>4: The extension of a graph is equal to the extension of its DFS code by appending a new edge in the end.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D97547B-872D-4988-8E85-07B524FDDF24}" type="slidenum">
              <a:rPr lang="zh-CN" altLang="en-US" sz="1200"/>
              <a:pPr/>
              <a:t>36</a:t>
            </a:fld>
            <a:endParaRPr lang="en-US" altLang="zh-CN" sz="120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32ECB1E-5AD5-4FED-84ED-F4136E79665C}" type="slidenum">
              <a:rPr lang="zh-CN" altLang="en-US" sz="1200"/>
              <a:pPr/>
              <a:t>37</a:t>
            </a:fld>
            <a:endParaRPr lang="en-US" altLang="zh-CN" sz="1200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/>
              <a:t>1: Show how to construct a DFS code, which is related with right most extension</a:t>
            </a:r>
          </a:p>
          <a:p>
            <a:pPr eaLnBrk="1" hangingPunct="1"/>
            <a:r>
              <a:rPr lang="en-US" altLang="zh-CN"/>
              <a:t>2: One graph has lots of DFS code, among them, there is a minimum DFS code. We invent a DFS lexicographic ordering system.</a:t>
            </a:r>
          </a:p>
          <a:p>
            <a:pPr eaLnBrk="1" hangingPunct="1"/>
            <a:r>
              <a:rPr lang="en-US" altLang="zh-CN"/>
              <a:t>    Among this ordering, we take minimum DFS code as canonical label. 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“</a:t>
            </a:r>
            <a:r>
              <a:rPr lang="en-US" altLang="zh-CN" dirty="0"/>
              <a:t>_</a:t>
            </a:r>
            <a:r>
              <a:rPr lang="zh-CN" altLang="en-US" dirty="0"/>
              <a:t>”的含义：前缀占用了序列数据中一个项集的字母，后缀仍可匹配该项集中的后续字母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AEFC1-92BF-4505-8821-EFC85FEB9337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38542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AEFC1-92BF-4505-8821-EFC85FEB9337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11336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AEFC1-92BF-4505-8821-EFC85FEB9337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0042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9255AE4-4E7C-45BD-8DBC-799C1026B36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9768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36A111-235A-45A9-AEEC-99AF9E46CBC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2015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FC94F4-9956-4D0E-9EA4-18FAC089871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0647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600200"/>
            <a:ext cx="41148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1148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528CF4-6B47-47EC-902A-BCFD50575EB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5902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04252C-7F63-4CD3-8030-C66D8C35A2D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3083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BD3FD5-20CC-46E5-9A61-59DEC46D682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9118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7B467C-039A-4107-8AF7-C502611CC6A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5665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BB6D4D-96C3-4798-897E-83DD964716B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6651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282238-CEFD-4016-8D38-3249C1231EA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9723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4D6672-0FFD-40FD-8319-0D524C3A20F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3849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381000"/>
            <a:ext cx="2095500" cy="6019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381000"/>
            <a:ext cx="6134100" cy="6019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35C265-3C57-4F7A-A5DD-DAD152816F4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4143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381000"/>
            <a:ext cx="8382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600200"/>
            <a:ext cx="8382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77000"/>
            <a:ext cx="2895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5532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57E4E2AD-0CF2-4C6E-B06E-67BB41F047D6}" type="slidenum">
              <a:rPr lang="zh-CN" altLang="en-US"/>
              <a:pPr/>
              <a:t>‹#›</a:t>
            </a:fld>
            <a:endParaRPr lang="en-US" altLang="zh-CN"/>
          </a:p>
        </p:txBody>
      </p:sp>
      <p:grpSp>
        <p:nvGrpSpPr>
          <p:cNvPr id="3079" name="Group 7"/>
          <p:cNvGrpSpPr>
            <a:grpSpLocks/>
          </p:cNvGrpSpPr>
          <p:nvPr/>
        </p:nvGrpSpPr>
        <p:grpSpPr bwMode="auto">
          <a:xfrm>
            <a:off x="0" y="1276350"/>
            <a:ext cx="9132888" cy="152400"/>
            <a:chOff x="0" y="804"/>
            <a:chExt cx="5753" cy="96"/>
          </a:xfrm>
        </p:grpSpPr>
        <p:sp>
          <p:nvSpPr>
            <p:cNvPr id="1032" name="Rectangle 8"/>
            <p:cNvSpPr>
              <a:spLocks noChangeArrowheads="1"/>
            </p:cNvSpPr>
            <p:nvPr/>
          </p:nvSpPr>
          <p:spPr bwMode="auto">
            <a:xfrm>
              <a:off x="0" y="804"/>
              <a:ext cx="5753" cy="47"/>
            </a:xfrm>
            <a:prstGeom prst="rect">
              <a:avLst/>
            </a:prstGeom>
            <a:gradFill rotWithShape="0">
              <a:gsLst>
                <a:gs pos="0">
                  <a:srgbClr val="00DFCA">
                    <a:gamma/>
                    <a:shade val="49804"/>
                    <a:invGamma/>
                  </a:srgbClr>
                </a:gs>
                <a:gs pos="50000">
                  <a:srgbClr val="00DFCA"/>
                </a:gs>
                <a:gs pos="100000">
                  <a:srgbClr val="00DFCA">
                    <a:gamma/>
                    <a:shade val="49804"/>
                    <a:invGamma/>
                  </a:srgb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33" name="Rectangle 9"/>
            <p:cNvSpPr>
              <a:spLocks noChangeArrowheads="1"/>
            </p:cNvSpPr>
            <p:nvPr/>
          </p:nvSpPr>
          <p:spPr bwMode="auto">
            <a:xfrm>
              <a:off x="0" y="876"/>
              <a:ext cx="5753" cy="24"/>
            </a:xfrm>
            <a:prstGeom prst="rect">
              <a:avLst/>
            </a:prstGeom>
            <a:gradFill rotWithShape="0">
              <a:gsLst>
                <a:gs pos="0">
                  <a:srgbClr val="D989B8">
                    <a:gamma/>
                    <a:shade val="69804"/>
                    <a:invGamma/>
                  </a:srgbClr>
                </a:gs>
                <a:gs pos="50000">
                  <a:srgbClr val="D989B8"/>
                </a:gs>
                <a:gs pos="100000">
                  <a:srgbClr val="D989B8">
                    <a:gamma/>
                    <a:shade val="69804"/>
                    <a:invGamma/>
                  </a:srgb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</p:grpSp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8753475" y="6553200"/>
            <a:ext cx="3905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fld id="{0065C004-79F7-484B-BB2A-BEA1B73F2F91}" type="slidenum">
              <a:rPr lang="zh-CN" altLang="en-US" sz="1400">
                <a:ea typeface="宋体" panose="02010600030101010101" pitchFamily="2" charset="-122"/>
              </a:rPr>
              <a:pPr algn="l"/>
              <a:t>‹#›</a:t>
            </a:fld>
            <a:endParaRPr lang="en-US" altLang="zh-CN" sz="1400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90000"/>
        <a:buFont typeface="Monotype Sorts" pitchFamily="2" charset="2"/>
        <a:buChar char="v"/>
        <a:defRPr sz="2800" b="1">
          <a:solidFill>
            <a:srgbClr val="17098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0099"/>
        </a:buClr>
        <a:buSzPct val="90000"/>
        <a:buFont typeface="Monotype Sorts" pitchFamily="2" charset="2"/>
        <a:buChar char="u"/>
        <a:defRPr sz="24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sz="20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0099"/>
        </a:buClr>
        <a:buSzPct val="90000"/>
        <a:buFont typeface="Monotype Sorts" pitchFamily="2" charset="2"/>
        <a:buChar char="l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emf"/><Relationship Id="rId5" Type="http://schemas.openxmlformats.org/officeDocument/2006/relationships/customXml" Target="../ink/ink2.xml"/><Relationship Id="rId10" Type="http://schemas.openxmlformats.org/officeDocument/2006/relationships/image" Target="../media/image13.emf"/><Relationship Id="rId4" Type="http://schemas.openxmlformats.org/officeDocument/2006/relationships/image" Target="../media/image10.emf"/><Relationship Id="rId9" Type="http://schemas.openxmlformats.org/officeDocument/2006/relationships/customXml" Target="../ink/ink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hyperlink" Target="https://dawn.cs.stanford.edu/projects/" TargetMode="Externa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ithub.com/stanford-futuredata/macrobase" TargetMode="External"/><Relationship Id="rId2" Type="http://schemas.openxmlformats.org/officeDocument/2006/relationships/hyperlink" Target="http://dawn.cs.stanford.edu/pubs/macrobase-sigmod2017.pdf" TargetMode="Externa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hyperlink" Target="ftp://ftp.fas.sfu.ca/pub/cs/han/pdf/span01.pdf" TargetMode="External"/><Relationship Id="rId3" Type="http://schemas.openxmlformats.org/officeDocument/2006/relationships/hyperlink" Target="http://www.almaden.ibm.com/cs/people/ragrawal/papers/edbt96.ps" TargetMode="External"/><Relationship Id="rId7" Type="http://schemas.openxmlformats.org/officeDocument/2006/relationships/hyperlink" Target="ftp://ftp.fas.sfu.ca/pub/cs/han/pdf/sigkdd00.pdf" TargetMode="External"/><Relationship Id="rId2" Type="http://schemas.openxmlformats.org/officeDocument/2006/relationships/hyperlink" Target="http://www.almaden.ibm.com/cs/people/ragrawal/papers/vldb94.p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ftp://ftp.fas.sfu.ca/pub/cs/han/pdf/sigmod00.pdf" TargetMode="External"/><Relationship Id="rId5" Type="http://schemas.openxmlformats.org/officeDocument/2006/relationships/hyperlink" Target="ftp://ftp.fas.sfu.ca/pub/cs/han/pdf/sigmod01.pdf" TargetMode="External"/><Relationship Id="rId4" Type="http://schemas.openxmlformats.org/officeDocument/2006/relationships/hyperlink" Target="http://www.cs.wisc.edu/~beyer/papers/cube.ps.gz" TargetMode="Externa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rpi.edu/~zaki/papers.html#CIKM98" TargetMode="External"/><Relationship Id="rId2" Type="http://schemas.openxmlformats.org/officeDocument/2006/relationships/hyperlink" Target="http://dev.acm.org/pubs/citations/proceedings/mod/342009/p22-shenoy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cs.rpi.edu/~zaki/papers.html#MLJ01" TargetMode="External"/><Relationship Id="rId4" Type="http://schemas.openxmlformats.org/officeDocument/2006/relationships/hyperlink" Target="http://www.cs.rpi.edu/~zaki/papers.html#TKDE0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4800" y="1752600"/>
            <a:ext cx="8534400" cy="4572000"/>
          </a:xfrm>
        </p:spPr>
        <p:txBody>
          <a:bodyPr/>
          <a:lstStyle/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关联规则</a:t>
            </a:r>
          </a:p>
          <a:p>
            <a:pPr lvl="1"/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Write-based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DFS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</a:p>
          <a:p>
            <a:pPr lvl="2"/>
            <a:r>
              <a:rPr lang="en-US" altLang="zh-CN">
                <a:solidFill>
                  <a:schemeClr val="folHlink"/>
                </a:solidFill>
                <a:ea typeface="宋体" panose="02010600030101010101" pitchFamily="2" charset="-122"/>
              </a:rPr>
              <a:t>VIPER</a:t>
            </a:r>
          </a:p>
          <a:p>
            <a:pPr lvl="3"/>
            <a:r>
              <a:rPr lang="en-US" altLang="zh-CN">
                <a:ea typeface="宋体" panose="02010600030101010101" pitchFamily="2" charset="-122"/>
              </a:rPr>
              <a:t>Implement DFS with bitmap compression of data in vertical format</a:t>
            </a:r>
          </a:p>
          <a:p>
            <a:pPr lvl="2"/>
            <a:r>
              <a:rPr lang="en-US" altLang="zh-CN">
                <a:ea typeface="宋体" panose="02010600030101010101" pitchFamily="2" charset="-122"/>
              </a:rPr>
              <a:t>FP-Growth</a:t>
            </a:r>
            <a:r>
              <a:rPr lang="zh-CN" altLang="en-US">
                <a:ea typeface="宋体" panose="02010600030101010101" pitchFamily="2" charset="-122"/>
              </a:rPr>
              <a:t>算法</a:t>
            </a:r>
          </a:p>
          <a:p>
            <a:pPr lvl="3"/>
            <a:r>
              <a:rPr lang="en-US" altLang="zh-CN">
                <a:ea typeface="宋体" panose="02010600030101010101" pitchFamily="2" charset="-122"/>
              </a:rPr>
              <a:t>Implement DFS using a tree structure in horizontal format</a:t>
            </a:r>
          </a:p>
          <a:p>
            <a:pPr lvl="3">
              <a:buFont typeface="Monotype Sorts" pitchFamily="2" charset="2"/>
              <a:buNone/>
            </a:pPr>
            <a:endParaRPr lang="zh-CN" altLang="en-US">
              <a:ea typeface="宋体" panose="02010600030101010101" pitchFamily="2" charset="-122"/>
            </a:endParaRPr>
          </a:p>
          <a:p>
            <a:pPr lvl="2"/>
            <a:r>
              <a:rPr lang="en-US" altLang="zh-CN">
                <a:ea typeface="宋体" panose="02010600030101010101" pitchFamily="2" charset="-122"/>
              </a:rPr>
              <a:t>FP-Growth based sub-graph mining</a:t>
            </a:r>
            <a:endParaRPr lang="zh-CN" altLang="en-US">
              <a:ea typeface="宋体" panose="02010600030101010101" pitchFamily="2" charset="-122"/>
            </a:endParaRPr>
          </a:p>
          <a:p>
            <a:pPr lvl="3">
              <a:buFont typeface="Monotype Sorts" pitchFamily="2" charset="2"/>
              <a:buNone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77539" name="Rectangle 3"/>
          <p:cNvSpPr>
            <a:spLocks noChangeArrowheads="1"/>
          </p:cNvSpPr>
          <p:nvPr/>
        </p:nvSpPr>
        <p:spPr bwMode="auto">
          <a:xfrm>
            <a:off x="762000" y="0"/>
            <a:ext cx="809625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b"/>
          <a:lstStyle/>
          <a:p>
            <a:pPr marL="0" lvl="1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zh-CN" altLang="en-US" sz="4400">
                <a:effectLst>
                  <a:outerShdw blurRad="38100" dist="38100" dir="2700000" algn="tl">
                    <a:srgbClr val="FFFFFF"/>
                  </a:outerShdw>
                </a:effectLst>
                <a:ea typeface="宋体" pitchFamily="2" charset="-122"/>
              </a:rPr>
              <a:t>本讲内容</a:t>
            </a:r>
            <a:endParaRPr lang="en-US" altLang="zh-CN" sz="4400">
              <a:effectLst>
                <a:outerShdw blurRad="38100" dist="38100" dir="2700000" algn="tl">
                  <a:srgbClr val="FFFFFF"/>
                </a:outerShdw>
              </a:effectLst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7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7539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itchFamily="2" charset="-122"/>
              </a:rPr>
              <a:t>Comparison of Data Layouts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484313"/>
            <a:ext cx="8353425" cy="496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3381375" y="2276475"/>
            <a:ext cx="4630738" cy="1393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30787" name="Rectangle 3"/>
          <p:cNvSpPr>
            <a:spLocks noGrp="1" noChangeArrowheads="1"/>
          </p:cNvSpPr>
          <p:nvPr>
            <p:ph type="title"/>
          </p:nvPr>
        </p:nvSpPr>
        <p:spPr>
          <a:xfrm>
            <a:off x="755650" y="188913"/>
            <a:ext cx="8567738" cy="1025525"/>
          </a:xfrm>
        </p:spPr>
        <p:txBody>
          <a:bodyPr/>
          <a:lstStyle/>
          <a:p>
            <a:pPr>
              <a:defRPr/>
            </a:pPr>
            <a:r>
              <a:rPr lang="en-US" altLang="zh-CN" sz="3200">
                <a:ea typeface="宋体" pitchFamily="2" charset="-122"/>
              </a:rPr>
              <a:t>Vertical format for write-based FPM</a:t>
            </a: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Vertical format</a:t>
            </a:r>
          </a:p>
        </p:txBody>
      </p:sp>
      <p:graphicFrame>
        <p:nvGraphicFramePr>
          <p:cNvPr id="630789" name="Group 5"/>
          <p:cNvGraphicFramePr>
            <a:graphicFrameLocks noGrp="1"/>
          </p:cNvGraphicFramePr>
          <p:nvPr/>
        </p:nvGraphicFramePr>
        <p:xfrm>
          <a:off x="609600" y="3154363"/>
          <a:ext cx="1524000" cy="131286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93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Items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93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a, c, 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93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b, c, 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93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a, b, c, 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1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b, 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169" name="Line 25"/>
          <p:cNvSpPr>
            <a:spLocks noChangeShapeType="1"/>
          </p:cNvSpPr>
          <p:nvPr/>
        </p:nvSpPr>
        <p:spPr bwMode="auto">
          <a:xfrm flipV="1">
            <a:off x="2133600" y="2693988"/>
            <a:ext cx="942975" cy="1001712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630810" name="Group 26"/>
          <p:cNvGraphicFramePr>
            <a:graphicFrameLocks noGrp="1"/>
          </p:cNvGraphicFramePr>
          <p:nvPr/>
        </p:nvGraphicFramePr>
        <p:xfrm>
          <a:off x="3738563" y="2503488"/>
          <a:ext cx="717550" cy="790576"/>
        </p:xfrm>
        <a:graphic>
          <a:graphicData uri="http://schemas.openxmlformats.org/drawingml/2006/table">
            <a:tbl>
              <a:tblPr/>
              <a:tblGrid>
                <a:gridCol w="717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a-TID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30820" name="Group 36"/>
          <p:cNvGraphicFramePr>
            <a:graphicFrameLocks noGrp="1"/>
          </p:cNvGraphicFramePr>
          <p:nvPr/>
        </p:nvGraphicFramePr>
        <p:xfrm>
          <a:off x="5870575" y="2463800"/>
          <a:ext cx="646113" cy="1047752"/>
        </p:xfrm>
        <a:graphic>
          <a:graphicData uri="http://schemas.openxmlformats.org/drawingml/2006/table">
            <a:tbl>
              <a:tblPr/>
              <a:tblGrid>
                <a:gridCol w="646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c-TID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30832" name="Group 48"/>
          <p:cNvGraphicFramePr>
            <a:graphicFrameLocks noGrp="1"/>
          </p:cNvGraphicFramePr>
          <p:nvPr/>
        </p:nvGraphicFramePr>
        <p:xfrm>
          <a:off x="6750050" y="2427288"/>
          <a:ext cx="677863" cy="523876"/>
        </p:xfrm>
        <a:graphic>
          <a:graphicData uri="http://schemas.openxmlformats.org/drawingml/2006/table">
            <a:tbl>
              <a:tblPr/>
              <a:tblGrid>
                <a:gridCol w="677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d-TID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30840" name="Group 56"/>
          <p:cNvGraphicFramePr>
            <a:graphicFrameLocks noGrp="1"/>
          </p:cNvGraphicFramePr>
          <p:nvPr/>
        </p:nvGraphicFramePr>
        <p:xfrm>
          <a:off x="4768850" y="2422525"/>
          <a:ext cx="708025" cy="1138239"/>
        </p:xfrm>
        <a:graphic>
          <a:graphicData uri="http://schemas.openxmlformats.org/drawingml/2006/table">
            <a:tbl>
              <a:tblPr/>
              <a:tblGrid>
                <a:gridCol w="708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41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b-TID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212" name="Line 68"/>
          <p:cNvSpPr>
            <a:spLocks noChangeShapeType="1"/>
          </p:cNvSpPr>
          <p:nvPr/>
        </p:nvSpPr>
        <p:spPr bwMode="auto">
          <a:xfrm>
            <a:off x="4064000" y="3332163"/>
            <a:ext cx="550863" cy="1103312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213" name="Line 69"/>
          <p:cNvSpPr>
            <a:spLocks noChangeShapeType="1"/>
          </p:cNvSpPr>
          <p:nvPr/>
        </p:nvSpPr>
        <p:spPr bwMode="auto">
          <a:xfrm flipH="1">
            <a:off x="4803775" y="3579813"/>
            <a:ext cx="392113" cy="812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214" name="Text Box 70"/>
          <p:cNvSpPr txBox="1">
            <a:spLocks noChangeArrowheads="1"/>
          </p:cNvSpPr>
          <p:nvPr/>
        </p:nvSpPr>
        <p:spPr bwMode="auto">
          <a:xfrm>
            <a:off x="6022975" y="3668713"/>
            <a:ext cx="19177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1800">
                <a:latin typeface="Tahoma" panose="020B0604030504040204" pitchFamily="34" charset="0"/>
                <a:ea typeface="宋体" panose="02010600030101010101" pitchFamily="2" charset="-122"/>
              </a:rPr>
              <a:t>to get TID list for {a,b} merge TID list for {a} and {b}</a:t>
            </a:r>
          </a:p>
        </p:txBody>
      </p:sp>
      <p:graphicFrame>
        <p:nvGraphicFramePr>
          <p:cNvPr id="630855" name="Group 71"/>
          <p:cNvGraphicFramePr>
            <a:graphicFrameLocks noGrp="1"/>
          </p:cNvGraphicFramePr>
          <p:nvPr/>
        </p:nvGraphicFramePr>
        <p:xfrm>
          <a:off x="4425950" y="4478338"/>
          <a:ext cx="533400" cy="523876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223" name="Picture 7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5300663"/>
            <a:ext cx="8137525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itchFamily="2" charset="-122"/>
              </a:rPr>
              <a:t>Vertical format for write-based FPM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628775"/>
            <a:ext cx="8280400" cy="4779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4800" y="1752600"/>
            <a:ext cx="8534400" cy="4572000"/>
          </a:xfrm>
        </p:spPr>
        <p:txBody>
          <a:bodyPr/>
          <a:lstStyle/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关联规则</a:t>
            </a:r>
          </a:p>
          <a:p>
            <a:pPr lvl="1"/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Write-based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DFS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</a:p>
          <a:p>
            <a:pPr lvl="2"/>
            <a:r>
              <a:rPr lang="en-US" altLang="zh-CN">
                <a:ea typeface="宋体" panose="02010600030101010101" pitchFamily="2" charset="-122"/>
              </a:rPr>
              <a:t>VIPER</a:t>
            </a:r>
          </a:p>
          <a:p>
            <a:pPr lvl="3"/>
            <a:r>
              <a:rPr lang="en-US" altLang="zh-CN">
                <a:ea typeface="宋体" panose="02010600030101010101" pitchFamily="2" charset="-122"/>
              </a:rPr>
              <a:t>Implement DFS with bitmap compression of data in vertical format</a:t>
            </a:r>
          </a:p>
          <a:p>
            <a:pPr lvl="2"/>
            <a:r>
              <a:rPr lang="en-US" altLang="zh-CN">
                <a:solidFill>
                  <a:schemeClr val="folHlink"/>
                </a:solidFill>
                <a:ea typeface="宋体" panose="02010600030101010101" pitchFamily="2" charset="-122"/>
              </a:rPr>
              <a:t>FP-Growth</a:t>
            </a:r>
            <a:r>
              <a:rPr lang="zh-CN" altLang="en-US">
                <a:solidFill>
                  <a:schemeClr val="folHlink"/>
                </a:solidFill>
                <a:ea typeface="宋体" panose="02010600030101010101" pitchFamily="2" charset="-122"/>
              </a:rPr>
              <a:t>算法</a:t>
            </a:r>
          </a:p>
          <a:p>
            <a:pPr lvl="3"/>
            <a:r>
              <a:rPr lang="en-US" altLang="zh-CN">
                <a:ea typeface="宋体" panose="02010600030101010101" pitchFamily="2" charset="-122"/>
              </a:rPr>
              <a:t>Implement DFS using a tree structure in horizontal format</a:t>
            </a:r>
          </a:p>
          <a:p>
            <a:pPr lvl="2"/>
            <a:endParaRPr lang="en-US" altLang="zh-CN">
              <a:ea typeface="宋体" panose="02010600030101010101" pitchFamily="2" charset="-122"/>
            </a:endParaRPr>
          </a:p>
          <a:p>
            <a:pPr lvl="2"/>
            <a:r>
              <a:rPr lang="en-US" altLang="zh-CN">
                <a:ea typeface="宋体" panose="02010600030101010101" pitchFamily="2" charset="-122"/>
              </a:rPr>
              <a:t>FP-Growth based sub-graph mining</a:t>
            </a:r>
            <a:endParaRPr lang="zh-CN" altLang="en-US">
              <a:ea typeface="宋体" panose="02010600030101010101" pitchFamily="2" charset="-122"/>
            </a:endParaRPr>
          </a:p>
          <a:p>
            <a:pPr lvl="3">
              <a:buFont typeface="Monotype Sorts" pitchFamily="2" charset="2"/>
              <a:buNone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46147" name="Rectangle 3"/>
          <p:cNvSpPr>
            <a:spLocks noChangeArrowheads="1"/>
          </p:cNvSpPr>
          <p:nvPr/>
        </p:nvSpPr>
        <p:spPr bwMode="auto">
          <a:xfrm>
            <a:off x="762000" y="0"/>
            <a:ext cx="809625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b"/>
          <a:lstStyle/>
          <a:p>
            <a:pPr marL="0" lvl="1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zh-CN" altLang="en-US" sz="4400">
                <a:effectLst>
                  <a:outerShdw blurRad="38100" dist="38100" dir="2700000" algn="tl">
                    <a:srgbClr val="FFFFFF"/>
                  </a:outerShdw>
                </a:effectLst>
                <a:ea typeface="宋体" pitchFamily="2" charset="-122"/>
              </a:rPr>
              <a:t>本讲内容</a:t>
            </a:r>
            <a:endParaRPr lang="en-US" altLang="zh-CN" sz="4400">
              <a:effectLst>
                <a:outerShdw blurRad="38100" dist="38100" dir="2700000" algn="tl">
                  <a:srgbClr val="FFFFFF"/>
                </a:outerShdw>
              </a:effectLst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6147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Oval 2"/>
          <p:cNvSpPr>
            <a:spLocks noChangeArrowheads="1"/>
          </p:cNvSpPr>
          <p:nvPr/>
        </p:nvSpPr>
        <p:spPr bwMode="auto">
          <a:xfrm>
            <a:off x="4799013" y="3181350"/>
            <a:ext cx="782637" cy="6921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a,c</a:t>
            </a:r>
          </a:p>
        </p:txBody>
      </p:sp>
      <p:sp>
        <p:nvSpPr>
          <p:cNvPr id="9219" name="Oval 3"/>
          <p:cNvSpPr>
            <a:spLocks noChangeArrowheads="1"/>
          </p:cNvSpPr>
          <p:nvPr/>
        </p:nvSpPr>
        <p:spPr bwMode="auto">
          <a:xfrm>
            <a:off x="5637213" y="3181350"/>
            <a:ext cx="784225" cy="6921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a,e</a:t>
            </a:r>
          </a:p>
        </p:txBody>
      </p:sp>
      <p:sp>
        <p:nvSpPr>
          <p:cNvPr id="9220" name="Oval 4"/>
          <p:cNvSpPr>
            <a:spLocks noChangeArrowheads="1"/>
          </p:cNvSpPr>
          <p:nvPr/>
        </p:nvSpPr>
        <p:spPr bwMode="auto">
          <a:xfrm>
            <a:off x="7353300" y="3181350"/>
            <a:ext cx="784225" cy="6921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b,e</a:t>
            </a:r>
          </a:p>
        </p:txBody>
      </p:sp>
      <p:sp>
        <p:nvSpPr>
          <p:cNvPr id="9221" name="Oval 5"/>
          <p:cNvSpPr>
            <a:spLocks noChangeArrowheads="1"/>
          </p:cNvSpPr>
          <p:nvPr/>
        </p:nvSpPr>
        <p:spPr bwMode="auto">
          <a:xfrm>
            <a:off x="6505575" y="3181350"/>
            <a:ext cx="784225" cy="6921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b,c</a:t>
            </a:r>
          </a:p>
        </p:txBody>
      </p:sp>
      <p:sp>
        <p:nvSpPr>
          <p:cNvPr id="9222" name="Oval 6"/>
          <p:cNvSpPr>
            <a:spLocks noChangeArrowheads="1"/>
          </p:cNvSpPr>
          <p:nvPr/>
        </p:nvSpPr>
        <p:spPr bwMode="auto">
          <a:xfrm>
            <a:off x="3981450" y="3181350"/>
            <a:ext cx="760413" cy="69215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a,b</a:t>
            </a:r>
          </a:p>
        </p:txBody>
      </p:sp>
      <p:sp>
        <p:nvSpPr>
          <p:cNvPr id="9223" name="Oval 7"/>
          <p:cNvSpPr>
            <a:spLocks noChangeArrowheads="1"/>
          </p:cNvSpPr>
          <p:nvPr/>
        </p:nvSpPr>
        <p:spPr bwMode="auto">
          <a:xfrm>
            <a:off x="8226425" y="3176588"/>
            <a:ext cx="784225" cy="6921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c,e</a:t>
            </a:r>
          </a:p>
        </p:txBody>
      </p:sp>
      <p:sp>
        <p:nvSpPr>
          <p:cNvPr id="9224" name="Oval 8"/>
          <p:cNvSpPr>
            <a:spLocks noChangeArrowheads="1"/>
          </p:cNvSpPr>
          <p:nvPr/>
        </p:nvSpPr>
        <p:spPr bwMode="auto">
          <a:xfrm>
            <a:off x="7216775" y="2033588"/>
            <a:ext cx="727075" cy="7223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b,c,e</a:t>
            </a:r>
          </a:p>
        </p:txBody>
      </p:sp>
      <p:sp>
        <p:nvSpPr>
          <p:cNvPr id="9225" name="Oval 9"/>
          <p:cNvSpPr>
            <a:spLocks noChangeArrowheads="1"/>
          </p:cNvSpPr>
          <p:nvPr/>
        </p:nvSpPr>
        <p:spPr bwMode="auto">
          <a:xfrm>
            <a:off x="5600700" y="2073275"/>
            <a:ext cx="747713" cy="7223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a,b,e</a:t>
            </a: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6415088" y="2073275"/>
            <a:ext cx="749300" cy="7223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a,c,e</a:t>
            </a: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4819650" y="2073275"/>
            <a:ext cx="727075" cy="722313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a,b,e</a:t>
            </a: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24450" y="4243388"/>
            <a:ext cx="685800" cy="611187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5865813" y="4243388"/>
            <a:ext cx="684212" cy="6111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6607175" y="4243388"/>
            <a:ext cx="684213" cy="6111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9231" name="Oval 15"/>
          <p:cNvSpPr>
            <a:spLocks noChangeArrowheads="1"/>
          </p:cNvSpPr>
          <p:nvPr/>
        </p:nvSpPr>
        <p:spPr bwMode="auto">
          <a:xfrm>
            <a:off x="7350125" y="4243388"/>
            <a:ext cx="682625" cy="6111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9232" name="Oval 16"/>
          <p:cNvSpPr>
            <a:spLocks noChangeArrowheads="1"/>
          </p:cNvSpPr>
          <p:nvPr/>
        </p:nvSpPr>
        <p:spPr bwMode="auto">
          <a:xfrm>
            <a:off x="5962650" y="966788"/>
            <a:ext cx="838200" cy="838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a,b,c,e</a:t>
            </a: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496050" y="5462588"/>
            <a:ext cx="598488" cy="5334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{}</a:t>
            </a:r>
          </a:p>
        </p:txBody>
      </p:sp>
      <p:sp>
        <p:nvSpPr>
          <p:cNvPr id="611346" name="Rectangle 18"/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265113"/>
            <a:ext cx="8229600" cy="696912"/>
          </a:xfrm>
        </p:spPr>
        <p:txBody>
          <a:bodyPr/>
          <a:lstStyle/>
          <a:p>
            <a:pPr>
              <a:defRPr/>
            </a:pPr>
            <a:r>
              <a:rPr lang="en-US" altLang="zh-CN">
                <a:ea typeface="宋体" pitchFamily="2" charset="-122"/>
              </a:rPr>
              <a:t>FP-Growth</a:t>
            </a:r>
            <a:r>
              <a:rPr lang="zh-CN" altLang="en-US">
                <a:ea typeface="宋体" pitchFamily="2" charset="-122"/>
              </a:rPr>
              <a:t>算法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9235" name="Line 19"/>
          <p:cNvSpPr>
            <a:spLocks noChangeShapeType="1"/>
          </p:cNvSpPr>
          <p:nvPr/>
        </p:nvSpPr>
        <p:spPr bwMode="auto">
          <a:xfrm flipV="1">
            <a:off x="7105650" y="4929188"/>
            <a:ext cx="6096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36" name="Line 20"/>
          <p:cNvSpPr>
            <a:spLocks noChangeShapeType="1"/>
          </p:cNvSpPr>
          <p:nvPr/>
        </p:nvSpPr>
        <p:spPr bwMode="auto">
          <a:xfrm flipV="1">
            <a:off x="6877050" y="4852988"/>
            <a:ext cx="762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37" name="Line 21"/>
          <p:cNvSpPr>
            <a:spLocks noChangeShapeType="1"/>
          </p:cNvSpPr>
          <p:nvPr/>
        </p:nvSpPr>
        <p:spPr bwMode="auto">
          <a:xfrm flipH="1" flipV="1">
            <a:off x="6267450" y="4852988"/>
            <a:ext cx="3048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38" name="Line 22"/>
          <p:cNvSpPr>
            <a:spLocks noChangeShapeType="1"/>
          </p:cNvSpPr>
          <p:nvPr/>
        </p:nvSpPr>
        <p:spPr bwMode="auto">
          <a:xfrm flipH="1" flipV="1">
            <a:off x="5581650" y="4852988"/>
            <a:ext cx="9144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39" name="Line 23"/>
          <p:cNvSpPr>
            <a:spLocks noChangeShapeType="1"/>
          </p:cNvSpPr>
          <p:nvPr/>
        </p:nvSpPr>
        <p:spPr bwMode="auto">
          <a:xfrm flipH="1" flipV="1">
            <a:off x="4591050" y="3862388"/>
            <a:ext cx="533400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40" name="Line 24"/>
          <p:cNvSpPr>
            <a:spLocks noChangeShapeType="1"/>
          </p:cNvSpPr>
          <p:nvPr/>
        </p:nvSpPr>
        <p:spPr bwMode="auto">
          <a:xfrm flipH="1" flipV="1">
            <a:off x="5276850" y="3862388"/>
            <a:ext cx="762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41" name="Line 25"/>
          <p:cNvSpPr>
            <a:spLocks noChangeShapeType="1"/>
          </p:cNvSpPr>
          <p:nvPr/>
        </p:nvSpPr>
        <p:spPr bwMode="auto">
          <a:xfrm flipV="1">
            <a:off x="5657850" y="3862388"/>
            <a:ext cx="3810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42" name="Line 26"/>
          <p:cNvSpPr>
            <a:spLocks noChangeShapeType="1"/>
          </p:cNvSpPr>
          <p:nvPr/>
        </p:nvSpPr>
        <p:spPr bwMode="auto">
          <a:xfrm flipV="1">
            <a:off x="6267450" y="3862388"/>
            <a:ext cx="6096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43" name="Line 27"/>
          <p:cNvSpPr>
            <a:spLocks noChangeShapeType="1"/>
          </p:cNvSpPr>
          <p:nvPr/>
        </p:nvSpPr>
        <p:spPr bwMode="auto">
          <a:xfrm flipH="1" flipV="1">
            <a:off x="4667250" y="3862388"/>
            <a:ext cx="15240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44" name="Line 28"/>
          <p:cNvSpPr>
            <a:spLocks noChangeShapeType="1"/>
          </p:cNvSpPr>
          <p:nvPr/>
        </p:nvSpPr>
        <p:spPr bwMode="auto">
          <a:xfrm flipV="1">
            <a:off x="6343650" y="3862388"/>
            <a:ext cx="12192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45" name="Line 29"/>
          <p:cNvSpPr>
            <a:spLocks noChangeShapeType="1"/>
          </p:cNvSpPr>
          <p:nvPr/>
        </p:nvSpPr>
        <p:spPr bwMode="auto">
          <a:xfrm flipH="1" flipV="1">
            <a:off x="5429250" y="3862388"/>
            <a:ext cx="13716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46" name="Line 30"/>
          <p:cNvSpPr>
            <a:spLocks noChangeShapeType="1"/>
          </p:cNvSpPr>
          <p:nvPr/>
        </p:nvSpPr>
        <p:spPr bwMode="auto">
          <a:xfrm flipV="1">
            <a:off x="6953250" y="3862388"/>
            <a:ext cx="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47" name="Line 31"/>
          <p:cNvSpPr>
            <a:spLocks noChangeShapeType="1"/>
          </p:cNvSpPr>
          <p:nvPr/>
        </p:nvSpPr>
        <p:spPr bwMode="auto">
          <a:xfrm flipV="1">
            <a:off x="7181850" y="3862388"/>
            <a:ext cx="12192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48" name="Line 32"/>
          <p:cNvSpPr>
            <a:spLocks noChangeShapeType="1"/>
          </p:cNvSpPr>
          <p:nvPr/>
        </p:nvSpPr>
        <p:spPr bwMode="auto">
          <a:xfrm flipH="1" flipV="1">
            <a:off x="6191250" y="3862388"/>
            <a:ext cx="13716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49" name="Line 33"/>
          <p:cNvSpPr>
            <a:spLocks noChangeShapeType="1"/>
          </p:cNvSpPr>
          <p:nvPr/>
        </p:nvSpPr>
        <p:spPr bwMode="auto">
          <a:xfrm flipV="1">
            <a:off x="7715250" y="3862388"/>
            <a:ext cx="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50" name="Line 34"/>
          <p:cNvSpPr>
            <a:spLocks noChangeShapeType="1"/>
          </p:cNvSpPr>
          <p:nvPr/>
        </p:nvSpPr>
        <p:spPr bwMode="auto">
          <a:xfrm flipV="1">
            <a:off x="7867650" y="3862388"/>
            <a:ext cx="6096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51" name="Line 35"/>
          <p:cNvSpPr>
            <a:spLocks noChangeShapeType="1"/>
          </p:cNvSpPr>
          <p:nvPr/>
        </p:nvSpPr>
        <p:spPr bwMode="auto">
          <a:xfrm flipV="1">
            <a:off x="4438650" y="2719388"/>
            <a:ext cx="5334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52" name="Line 36"/>
          <p:cNvSpPr>
            <a:spLocks noChangeShapeType="1"/>
          </p:cNvSpPr>
          <p:nvPr/>
        </p:nvSpPr>
        <p:spPr bwMode="auto">
          <a:xfrm flipV="1">
            <a:off x="4438650" y="2795588"/>
            <a:ext cx="13716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53" name="Line 37"/>
          <p:cNvSpPr>
            <a:spLocks noChangeShapeType="1"/>
          </p:cNvSpPr>
          <p:nvPr/>
        </p:nvSpPr>
        <p:spPr bwMode="auto">
          <a:xfrm flipV="1">
            <a:off x="5124450" y="2795588"/>
            <a:ext cx="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54" name="Line 38"/>
          <p:cNvSpPr>
            <a:spLocks noChangeShapeType="1"/>
          </p:cNvSpPr>
          <p:nvPr/>
        </p:nvSpPr>
        <p:spPr bwMode="auto">
          <a:xfrm flipV="1">
            <a:off x="5200650" y="2795588"/>
            <a:ext cx="13716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55" name="Line 39"/>
          <p:cNvSpPr>
            <a:spLocks noChangeShapeType="1"/>
          </p:cNvSpPr>
          <p:nvPr/>
        </p:nvSpPr>
        <p:spPr bwMode="auto">
          <a:xfrm flipH="1" flipV="1">
            <a:off x="5962650" y="2795588"/>
            <a:ext cx="762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56" name="Line 40"/>
          <p:cNvSpPr>
            <a:spLocks noChangeShapeType="1"/>
          </p:cNvSpPr>
          <p:nvPr/>
        </p:nvSpPr>
        <p:spPr bwMode="auto">
          <a:xfrm flipV="1">
            <a:off x="6038850" y="2795588"/>
            <a:ext cx="6096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57" name="Line 41"/>
          <p:cNvSpPr>
            <a:spLocks noChangeShapeType="1"/>
          </p:cNvSpPr>
          <p:nvPr/>
        </p:nvSpPr>
        <p:spPr bwMode="auto">
          <a:xfrm flipH="1" flipV="1">
            <a:off x="5353050" y="2795588"/>
            <a:ext cx="16002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58" name="Line 42"/>
          <p:cNvSpPr>
            <a:spLocks noChangeShapeType="1"/>
          </p:cNvSpPr>
          <p:nvPr/>
        </p:nvSpPr>
        <p:spPr bwMode="auto">
          <a:xfrm flipV="1">
            <a:off x="6953250" y="2719388"/>
            <a:ext cx="4572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59" name="Line 43"/>
          <p:cNvSpPr>
            <a:spLocks noChangeShapeType="1"/>
          </p:cNvSpPr>
          <p:nvPr/>
        </p:nvSpPr>
        <p:spPr bwMode="auto">
          <a:xfrm flipH="1" flipV="1">
            <a:off x="6115050" y="2795588"/>
            <a:ext cx="14478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60" name="Line 44"/>
          <p:cNvSpPr>
            <a:spLocks noChangeShapeType="1"/>
          </p:cNvSpPr>
          <p:nvPr/>
        </p:nvSpPr>
        <p:spPr bwMode="auto">
          <a:xfrm flipV="1">
            <a:off x="7715250" y="2719388"/>
            <a:ext cx="762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61" name="Line 45"/>
          <p:cNvSpPr>
            <a:spLocks noChangeShapeType="1"/>
          </p:cNvSpPr>
          <p:nvPr/>
        </p:nvSpPr>
        <p:spPr bwMode="auto">
          <a:xfrm flipH="1" flipV="1">
            <a:off x="6953250" y="2795588"/>
            <a:ext cx="13716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62" name="Line 46"/>
          <p:cNvSpPr>
            <a:spLocks noChangeShapeType="1"/>
          </p:cNvSpPr>
          <p:nvPr/>
        </p:nvSpPr>
        <p:spPr bwMode="auto">
          <a:xfrm flipH="1" flipV="1">
            <a:off x="7867650" y="2719388"/>
            <a:ext cx="6858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63" name="Line 47"/>
          <p:cNvSpPr>
            <a:spLocks noChangeShapeType="1"/>
          </p:cNvSpPr>
          <p:nvPr/>
        </p:nvSpPr>
        <p:spPr bwMode="auto">
          <a:xfrm flipV="1">
            <a:off x="5353050" y="1652588"/>
            <a:ext cx="6858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64" name="Line 48"/>
          <p:cNvSpPr>
            <a:spLocks noChangeShapeType="1"/>
          </p:cNvSpPr>
          <p:nvPr/>
        </p:nvSpPr>
        <p:spPr bwMode="auto">
          <a:xfrm flipV="1">
            <a:off x="6115050" y="1804988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65" name="Line 49"/>
          <p:cNvSpPr>
            <a:spLocks noChangeShapeType="1"/>
          </p:cNvSpPr>
          <p:nvPr/>
        </p:nvSpPr>
        <p:spPr bwMode="auto">
          <a:xfrm flipH="1" flipV="1">
            <a:off x="6648450" y="1728788"/>
            <a:ext cx="762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66" name="Line 50"/>
          <p:cNvSpPr>
            <a:spLocks noChangeShapeType="1"/>
          </p:cNvSpPr>
          <p:nvPr/>
        </p:nvSpPr>
        <p:spPr bwMode="auto">
          <a:xfrm flipH="1" flipV="1">
            <a:off x="6800850" y="1652588"/>
            <a:ext cx="6096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67" name="Text Box 51"/>
          <p:cNvSpPr txBox="1">
            <a:spLocks noChangeArrowheads="1"/>
          </p:cNvSpPr>
          <p:nvPr/>
        </p:nvSpPr>
        <p:spPr bwMode="auto">
          <a:xfrm>
            <a:off x="269875" y="1778000"/>
            <a:ext cx="3352800" cy="13827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400" b="1">
                <a:ea typeface="宋体" panose="02010600030101010101" pitchFamily="2" charset="-122"/>
              </a:rPr>
              <a:t>Depth-first search</a:t>
            </a:r>
            <a:endParaRPr lang="en-US" altLang="zh-CN" sz="2400">
              <a:ea typeface="宋体" panose="02010600030101010101" pitchFamily="2" charset="-122"/>
            </a:endParaRPr>
          </a:p>
          <a:p>
            <a:pPr algn="l"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400">
                <a:ea typeface="宋体" panose="02010600030101010101" pitchFamily="2" charset="-122"/>
              </a:rPr>
              <a:t>Algorithm with </a:t>
            </a:r>
            <a:r>
              <a:rPr lang="en-US" altLang="zh-CN" sz="2400" b="1">
                <a:ea typeface="宋体" panose="02010600030101010101" pitchFamily="2" charset="-122"/>
              </a:rPr>
              <a:t>write</a:t>
            </a:r>
            <a:r>
              <a:rPr lang="en-US" altLang="zh-CN" sz="2400">
                <a:ea typeface="宋体" panose="02010600030101010101" pitchFamily="2" charset="-122"/>
              </a:rPr>
              <a:t> or </a:t>
            </a:r>
            <a:r>
              <a:rPr lang="en-US" altLang="zh-CN" sz="2400" b="1">
                <a:ea typeface="宋体" panose="02010600030101010101" pitchFamily="2" charset="-122"/>
              </a:rPr>
              <a:t>point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354" name="Rectangle 2"/>
          <p:cNvSpPr>
            <a:spLocks noGrp="1" noChangeArrowheads="1"/>
          </p:cNvSpPr>
          <p:nvPr>
            <p:ph type="title"/>
          </p:nvPr>
        </p:nvSpPr>
        <p:spPr>
          <a:xfrm>
            <a:off x="827088" y="260350"/>
            <a:ext cx="6121400" cy="838200"/>
          </a:xfrm>
        </p:spPr>
        <p:txBody>
          <a:bodyPr/>
          <a:lstStyle/>
          <a:p>
            <a:pPr>
              <a:defRPr/>
            </a:pPr>
            <a:r>
              <a:rPr lang="en-US" altLang="zh-CN" sz="3200">
                <a:ea typeface="宋体" pitchFamily="2" charset="-122"/>
              </a:rPr>
              <a:t>FP-Growth</a:t>
            </a:r>
            <a:r>
              <a:rPr lang="zh-CN" altLang="en-US" sz="3200">
                <a:ea typeface="宋体" pitchFamily="2" charset="-122"/>
              </a:rPr>
              <a:t>算法</a:t>
            </a:r>
            <a:endParaRPr lang="en-US" altLang="zh-CN" sz="3200">
              <a:ea typeface="宋体" pitchFamily="2" charset="-122"/>
            </a:endParaRPr>
          </a:p>
        </p:txBody>
      </p:sp>
      <p:sp>
        <p:nvSpPr>
          <p:cNvPr id="10243" name="Oval 3"/>
          <p:cNvSpPr>
            <a:spLocks noChangeArrowheads="1"/>
          </p:cNvSpPr>
          <p:nvPr/>
        </p:nvSpPr>
        <p:spPr bwMode="auto">
          <a:xfrm>
            <a:off x="5910263" y="3165475"/>
            <a:ext cx="782637" cy="6921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a,c</a:t>
            </a:r>
          </a:p>
        </p:txBody>
      </p:sp>
      <p:sp>
        <p:nvSpPr>
          <p:cNvPr id="10244" name="Oval 4"/>
          <p:cNvSpPr>
            <a:spLocks noChangeArrowheads="1"/>
          </p:cNvSpPr>
          <p:nvPr/>
        </p:nvSpPr>
        <p:spPr bwMode="auto">
          <a:xfrm>
            <a:off x="6748463" y="3165475"/>
            <a:ext cx="784225" cy="6921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a,e</a:t>
            </a:r>
          </a:p>
        </p:txBody>
      </p:sp>
      <p:sp>
        <p:nvSpPr>
          <p:cNvPr id="10245" name="Oval 5"/>
          <p:cNvSpPr>
            <a:spLocks noChangeArrowheads="1"/>
          </p:cNvSpPr>
          <p:nvPr/>
        </p:nvSpPr>
        <p:spPr bwMode="auto">
          <a:xfrm>
            <a:off x="8464550" y="3165475"/>
            <a:ext cx="784225" cy="6921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b,e</a:t>
            </a:r>
          </a:p>
        </p:txBody>
      </p:sp>
      <p:sp>
        <p:nvSpPr>
          <p:cNvPr id="10246" name="Oval 6"/>
          <p:cNvSpPr>
            <a:spLocks noChangeArrowheads="1"/>
          </p:cNvSpPr>
          <p:nvPr/>
        </p:nvSpPr>
        <p:spPr bwMode="auto">
          <a:xfrm>
            <a:off x="7616825" y="3165475"/>
            <a:ext cx="784225" cy="6921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b,c</a:t>
            </a:r>
          </a:p>
        </p:txBody>
      </p:sp>
      <p:sp>
        <p:nvSpPr>
          <p:cNvPr id="10247" name="Oval 7"/>
          <p:cNvSpPr>
            <a:spLocks noChangeArrowheads="1"/>
          </p:cNvSpPr>
          <p:nvPr/>
        </p:nvSpPr>
        <p:spPr bwMode="auto">
          <a:xfrm>
            <a:off x="5092700" y="3165475"/>
            <a:ext cx="760413" cy="6921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a,b</a:t>
            </a:r>
          </a:p>
        </p:txBody>
      </p:sp>
      <p:sp>
        <p:nvSpPr>
          <p:cNvPr id="10248" name="Oval 8"/>
          <p:cNvSpPr>
            <a:spLocks noChangeArrowheads="1"/>
          </p:cNvSpPr>
          <p:nvPr/>
        </p:nvSpPr>
        <p:spPr bwMode="auto">
          <a:xfrm>
            <a:off x="9337675" y="3160713"/>
            <a:ext cx="784225" cy="6921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c,e</a:t>
            </a:r>
          </a:p>
        </p:txBody>
      </p:sp>
      <p:sp>
        <p:nvSpPr>
          <p:cNvPr id="10249" name="Oval 9"/>
          <p:cNvSpPr>
            <a:spLocks noChangeArrowheads="1"/>
          </p:cNvSpPr>
          <p:nvPr/>
        </p:nvSpPr>
        <p:spPr bwMode="auto">
          <a:xfrm>
            <a:off x="8328025" y="2017713"/>
            <a:ext cx="727075" cy="7223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b,c,e</a:t>
            </a:r>
          </a:p>
        </p:txBody>
      </p:sp>
      <p:sp>
        <p:nvSpPr>
          <p:cNvPr id="10250" name="Oval 10"/>
          <p:cNvSpPr>
            <a:spLocks noChangeArrowheads="1"/>
          </p:cNvSpPr>
          <p:nvPr/>
        </p:nvSpPr>
        <p:spPr bwMode="auto">
          <a:xfrm>
            <a:off x="6711950" y="2057400"/>
            <a:ext cx="747713" cy="7223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a,b,e</a:t>
            </a:r>
          </a:p>
        </p:txBody>
      </p:sp>
      <p:sp>
        <p:nvSpPr>
          <p:cNvPr id="10251" name="Oval 11"/>
          <p:cNvSpPr>
            <a:spLocks noChangeArrowheads="1"/>
          </p:cNvSpPr>
          <p:nvPr/>
        </p:nvSpPr>
        <p:spPr bwMode="auto">
          <a:xfrm>
            <a:off x="7526338" y="2057400"/>
            <a:ext cx="749300" cy="7223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a,c,e</a:t>
            </a:r>
          </a:p>
        </p:txBody>
      </p:sp>
      <p:sp>
        <p:nvSpPr>
          <p:cNvPr id="10252" name="Oval 12"/>
          <p:cNvSpPr>
            <a:spLocks noChangeArrowheads="1"/>
          </p:cNvSpPr>
          <p:nvPr/>
        </p:nvSpPr>
        <p:spPr bwMode="auto">
          <a:xfrm>
            <a:off x="5930900" y="2057400"/>
            <a:ext cx="727075" cy="7223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a,b,e</a:t>
            </a:r>
          </a:p>
        </p:txBody>
      </p:sp>
      <p:sp>
        <p:nvSpPr>
          <p:cNvPr id="10253" name="Oval 13"/>
          <p:cNvSpPr>
            <a:spLocks noChangeArrowheads="1"/>
          </p:cNvSpPr>
          <p:nvPr/>
        </p:nvSpPr>
        <p:spPr bwMode="auto">
          <a:xfrm>
            <a:off x="6235700" y="4227513"/>
            <a:ext cx="685800" cy="6111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10254" name="Oval 14"/>
          <p:cNvSpPr>
            <a:spLocks noChangeArrowheads="1"/>
          </p:cNvSpPr>
          <p:nvPr/>
        </p:nvSpPr>
        <p:spPr bwMode="auto">
          <a:xfrm>
            <a:off x="6977063" y="4227513"/>
            <a:ext cx="684212" cy="6111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10255" name="Oval 15"/>
          <p:cNvSpPr>
            <a:spLocks noChangeArrowheads="1"/>
          </p:cNvSpPr>
          <p:nvPr/>
        </p:nvSpPr>
        <p:spPr bwMode="auto">
          <a:xfrm>
            <a:off x="7718425" y="4227513"/>
            <a:ext cx="684213" cy="6111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10256" name="Oval 16"/>
          <p:cNvSpPr>
            <a:spLocks noChangeArrowheads="1"/>
          </p:cNvSpPr>
          <p:nvPr/>
        </p:nvSpPr>
        <p:spPr bwMode="auto">
          <a:xfrm>
            <a:off x="8461375" y="4227513"/>
            <a:ext cx="682625" cy="6111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10257" name="Oval 17"/>
          <p:cNvSpPr>
            <a:spLocks noChangeArrowheads="1"/>
          </p:cNvSpPr>
          <p:nvPr/>
        </p:nvSpPr>
        <p:spPr bwMode="auto">
          <a:xfrm>
            <a:off x="7073900" y="950913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a,b,c,e</a:t>
            </a:r>
          </a:p>
        </p:txBody>
      </p:sp>
      <p:sp>
        <p:nvSpPr>
          <p:cNvPr id="10258" name="Oval 18"/>
          <p:cNvSpPr>
            <a:spLocks noChangeArrowheads="1"/>
          </p:cNvSpPr>
          <p:nvPr/>
        </p:nvSpPr>
        <p:spPr bwMode="auto">
          <a:xfrm>
            <a:off x="7607300" y="5446713"/>
            <a:ext cx="598488" cy="5334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{}</a:t>
            </a:r>
          </a:p>
        </p:txBody>
      </p:sp>
      <p:sp>
        <p:nvSpPr>
          <p:cNvPr id="10259" name="Line 19"/>
          <p:cNvSpPr>
            <a:spLocks noChangeShapeType="1"/>
          </p:cNvSpPr>
          <p:nvPr/>
        </p:nvSpPr>
        <p:spPr bwMode="auto">
          <a:xfrm flipV="1">
            <a:off x="8216900" y="4913313"/>
            <a:ext cx="6096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60" name="Line 20"/>
          <p:cNvSpPr>
            <a:spLocks noChangeShapeType="1"/>
          </p:cNvSpPr>
          <p:nvPr/>
        </p:nvSpPr>
        <p:spPr bwMode="auto">
          <a:xfrm flipV="1">
            <a:off x="7988300" y="4837113"/>
            <a:ext cx="762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61" name="Line 21"/>
          <p:cNvSpPr>
            <a:spLocks noChangeShapeType="1"/>
          </p:cNvSpPr>
          <p:nvPr/>
        </p:nvSpPr>
        <p:spPr bwMode="auto">
          <a:xfrm flipH="1" flipV="1">
            <a:off x="7378700" y="4837113"/>
            <a:ext cx="3048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62" name="Line 22"/>
          <p:cNvSpPr>
            <a:spLocks noChangeShapeType="1"/>
          </p:cNvSpPr>
          <p:nvPr/>
        </p:nvSpPr>
        <p:spPr bwMode="auto">
          <a:xfrm flipH="1" flipV="1">
            <a:off x="6692900" y="4837113"/>
            <a:ext cx="9144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63" name="Line 23"/>
          <p:cNvSpPr>
            <a:spLocks noChangeShapeType="1"/>
          </p:cNvSpPr>
          <p:nvPr/>
        </p:nvSpPr>
        <p:spPr bwMode="auto">
          <a:xfrm flipH="1" flipV="1">
            <a:off x="5702300" y="3846513"/>
            <a:ext cx="533400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64" name="Line 24"/>
          <p:cNvSpPr>
            <a:spLocks noChangeShapeType="1"/>
          </p:cNvSpPr>
          <p:nvPr/>
        </p:nvSpPr>
        <p:spPr bwMode="auto">
          <a:xfrm flipH="1" flipV="1">
            <a:off x="6388100" y="3846513"/>
            <a:ext cx="762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65" name="Line 25"/>
          <p:cNvSpPr>
            <a:spLocks noChangeShapeType="1"/>
          </p:cNvSpPr>
          <p:nvPr/>
        </p:nvSpPr>
        <p:spPr bwMode="auto">
          <a:xfrm flipV="1">
            <a:off x="6769100" y="3846513"/>
            <a:ext cx="3810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66" name="Line 26"/>
          <p:cNvSpPr>
            <a:spLocks noChangeShapeType="1"/>
          </p:cNvSpPr>
          <p:nvPr/>
        </p:nvSpPr>
        <p:spPr bwMode="auto">
          <a:xfrm flipV="1">
            <a:off x="7378700" y="3846513"/>
            <a:ext cx="6096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67" name="Line 27"/>
          <p:cNvSpPr>
            <a:spLocks noChangeShapeType="1"/>
          </p:cNvSpPr>
          <p:nvPr/>
        </p:nvSpPr>
        <p:spPr bwMode="auto">
          <a:xfrm flipH="1" flipV="1">
            <a:off x="5778500" y="3846513"/>
            <a:ext cx="15240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68" name="Line 28"/>
          <p:cNvSpPr>
            <a:spLocks noChangeShapeType="1"/>
          </p:cNvSpPr>
          <p:nvPr/>
        </p:nvSpPr>
        <p:spPr bwMode="auto">
          <a:xfrm flipV="1">
            <a:off x="7454900" y="3846513"/>
            <a:ext cx="12192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69" name="Line 29"/>
          <p:cNvSpPr>
            <a:spLocks noChangeShapeType="1"/>
          </p:cNvSpPr>
          <p:nvPr/>
        </p:nvSpPr>
        <p:spPr bwMode="auto">
          <a:xfrm flipH="1" flipV="1">
            <a:off x="6540500" y="3846513"/>
            <a:ext cx="13716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70" name="Line 30"/>
          <p:cNvSpPr>
            <a:spLocks noChangeShapeType="1"/>
          </p:cNvSpPr>
          <p:nvPr/>
        </p:nvSpPr>
        <p:spPr bwMode="auto">
          <a:xfrm flipV="1">
            <a:off x="8064500" y="3846513"/>
            <a:ext cx="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71" name="Line 31"/>
          <p:cNvSpPr>
            <a:spLocks noChangeShapeType="1"/>
          </p:cNvSpPr>
          <p:nvPr/>
        </p:nvSpPr>
        <p:spPr bwMode="auto">
          <a:xfrm flipV="1">
            <a:off x="8293100" y="3846513"/>
            <a:ext cx="12192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72" name="Line 32"/>
          <p:cNvSpPr>
            <a:spLocks noChangeShapeType="1"/>
          </p:cNvSpPr>
          <p:nvPr/>
        </p:nvSpPr>
        <p:spPr bwMode="auto">
          <a:xfrm flipH="1" flipV="1">
            <a:off x="7302500" y="3846513"/>
            <a:ext cx="13716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73" name="Line 33"/>
          <p:cNvSpPr>
            <a:spLocks noChangeShapeType="1"/>
          </p:cNvSpPr>
          <p:nvPr/>
        </p:nvSpPr>
        <p:spPr bwMode="auto">
          <a:xfrm flipV="1">
            <a:off x="8826500" y="3846513"/>
            <a:ext cx="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74" name="Line 34"/>
          <p:cNvSpPr>
            <a:spLocks noChangeShapeType="1"/>
          </p:cNvSpPr>
          <p:nvPr/>
        </p:nvSpPr>
        <p:spPr bwMode="auto">
          <a:xfrm flipV="1">
            <a:off x="8978900" y="3846513"/>
            <a:ext cx="6096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75" name="Line 35"/>
          <p:cNvSpPr>
            <a:spLocks noChangeShapeType="1"/>
          </p:cNvSpPr>
          <p:nvPr/>
        </p:nvSpPr>
        <p:spPr bwMode="auto">
          <a:xfrm flipV="1">
            <a:off x="5549900" y="2703513"/>
            <a:ext cx="5334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76" name="Line 36"/>
          <p:cNvSpPr>
            <a:spLocks noChangeShapeType="1"/>
          </p:cNvSpPr>
          <p:nvPr/>
        </p:nvSpPr>
        <p:spPr bwMode="auto">
          <a:xfrm flipV="1">
            <a:off x="5549900" y="2779713"/>
            <a:ext cx="13716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77" name="Line 37"/>
          <p:cNvSpPr>
            <a:spLocks noChangeShapeType="1"/>
          </p:cNvSpPr>
          <p:nvPr/>
        </p:nvSpPr>
        <p:spPr bwMode="auto">
          <a:xfrm flipV="1">
            <a:off x="6235700" y="2779713"/>
            <a:ext cx="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78" name="Line 38"/>
          <p:cNvSpPr>
            <a:spLocks noChangeShapeType="1"/>
          </p:cNvSpPr>
          <p:nvPr/>
        </p:nvSpPr>
        <p:spPr bwMode="auto">
          <a:xfrm flipV="1">
            <a:off x="6311900" y="2779713"/>
            <a:ext cx="13716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79" name="Line 39"/>
          <p:cNvSpPr>
            <a:spLocks noChangeShapeType="1"/>
          </p:cNvSpPr>
          <p:nvPr/>
        </p:nvSpPr>
        <p:spPr bwMode="auto">
          <a:xfrm flipH="1" flipV="1">
            <a:off x="7073900" y="2779713"/>
            <a:ext cx="762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80" name="Line 40"/>
          <p:cNvSpPr>
            <a:spLocks noChangeShapeType="1"/>
          </p:cNvSpPr>
          <p:nvPr/>
        </p:nvSpPr>
        <p:spPr bwMode="auto">
          <a:xfrm flipV="1">
            <a:off x="7150100" y="2779713"/>
            <a:ext cx="6096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81" name="Line 41"/>
          <p:cNvSpPr>
            <a:spLocks noChangeShapeType="1"/>
          </p:cNvSpPr>
          <p:nvPr/>
        </p:nvSpPr>
        <p:spPr bwMode="auto">
          <a:xfrm flipH="1" flipV="1">
            <a:off x="6464300" y="2779713"/>
            <a:ext cx="16002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82" name="Line 42"/>
          <p:cNvSpPr>
            <a:spLocks noChangeShapeType="1"/>
          </p:cNvSpPr>
          <p:nvPr/>
        </p:nvSpPr>
        <p:spPr bwMode="auto">
          <a:xfrm flipV="1">
            <a:off x="8064500" y="2703513"/>
            <a:ext cx="4572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83" name="Line 43"/>
          <p:cNvSpPr>
            <a:spLocks noChangeShapeType="1"/>
          </p:cNvSpPr>
          <p:nvPr/>
        </p:nvSpPr>
        <p:spPr bwMode="auto">
          <a:xfrm flipH="1" flipV="1">
            <a:off x="7226300" y="2779713"/>
            <a:ext cx="14478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84" name="Line 44"/>
          <p:cNvSpPr>
            <a:spLocks noChangeShapeType="1"/>
          </p:cNvSpPr>
          <p:nvPr/>
        </p:nvSpPr>
        <p:spPr bwMode="auto">
          <a:xfrm flipV="1">
            <a:off x="8826500" y="2703513"/>
            <a:ext cx="762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85" name="Line 45"/>
          <p:cNvSpPr>
            <a:spLocks noChangeShapeType="1"/>
          </p:cNvSpPr>
          <p:nvPr/>
        </p:nvSpPr>
        <p:spPr bwMode="auto">
          <a:xfrm flipH="1" flipV="1">
            <a:off x="8064500" y="2779713"/>
            <a:ext cx="13716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86" name="Line 46"/>
          <p:cNvSpPr>
            <a:spLocks noChangeShapeType="1"/>
          </p:cNvSpPr>
          <p:nvPr/>
        </p:nvSpPr>
        <p:spPr bwMode="auto">
          <a:xfrm flipH="1" flipV="1">
            <a:off x="8978900" y="2703513"/>
            <a:ext cx="6858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87" name="Line 47"/>
          <p:cNvSpPr>
            <a:spLocks noChangeShapeType="1"/>
          </p:cNvSpPr>
          <p:nvPr/>
        </p:nvSpPr>
        <p:spPr bwMode="auto">
          <a:xfrm flipV="1">
            <a:off x="6464300" y="1636713"/>
            <a:ext cx="6858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88" name="Line 48"/>
          <p:cNvSpPr>
            <a:spLocks noChangeShapeType="1"/>
          </p:cNvSpPr>
          <p:nvPr/>
        </p:nvSpPr>
        <p:spPr bwMode="auto">
          <a:xfrm flipV="1">
            <a:off x="7226300" y="1789113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89" name="Line 49"/>
          <p:cNvSpPr>
            <a:spLocks noChangeShapeType="1"/>
          </p:cNvSpPr>
          <p:nvPr/>
        </p:nvSpPr>
        <p:spPr bwMode="auto">
          <a:xfrm flipH="1" flipV="1">
            <a:off x="7759700" y="1712913"/>
            <a:ext cx="762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90" name="Line 50"/>
          <p:cNvSpPr>
            <a:spLocks noChangeShapeType="1"/>
          </p:cNvSpPr>
          <p:nvPr/>
        </p:nvSpPr>
        <p:spPr bwMode="auto">
          <a:xfrm flipH="1" flipV="1">
            <a:off x="7912100" y="1636713"/>
            <a:ext cx="6096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612403" name="Group 51"/>
          <p:cNvGraphicFramePr>
            <a:graphicFrameLocks noGrp="1"/>
          </p:cNvGraphicFramePr>
          <p:nvPr/>
        </p:nvGraphicFramePr>
        <p:xfrm>
          <a:off x="4386263" y="4916488"/>
          <a:ext cx="1524000" cy="131286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93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Items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93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a, c, 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93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b, c, 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93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a, b, c, 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1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b, 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311" name="Line 71"/>
          <p:cNvSpPr>
            <a:spLocks noChangeShapeType="1"/>
          </p:cNvSpPr>
          <p:nvPr/>
        </p:nvSpPr>
        <p:spPr bwMode="auto">
          <a:xfrm flipH="1" flipV="1">
            <a:off x="5935663" y="5718175"/>
            <a:ext cx="1655762" cy="444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612424" name="Group 72"/>
          <p:cNvGraphicFramePr>
            <a:graphicFrameLocks noGrp="1"/>
          </p:cNvGraphicFramePr>
          <p:nvPr/>
        </p:nvGraphicFramePr>
        <p:xfrm>
          <a:off x="2797175" y="3603625"/>
          <a:ext cx="1524000" cy="785814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Items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c, 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b, c, 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" name="Group 86"/>
          <p:cNvGrpSpPr>
            <a:grpSpLocks/>
          </p:cNvGrpSpPr>
          <p:nvPr/>
        </p:nvGrpSpPr>
        <p:grpSpPr bwMode="auto">
          <a:xfrm>
            <a:off x="4397375" y="4208463"/>
            <a:ext cx="2532063" cy="622300"/>
            <a:chOff x="2779" y="2651"/>
            <a:chExt cx="1595" cy="392"/>
          </a:xfrm>
        </p:grpSpPr>
        <p:sp>
          <p:nvSpPr>
            <p:cNvPr id="10348" name="Oval 87"/>
            <p:cNvSpPr>
              <a:spLocks noChangeArrowheads="1"/>
            </p:cNvSpPr>
            <p:nvPr/>
          </p:nvSpPr>
          <p:spPr bwMode="auto">
            <a:xfrm>
              <a:off x="3942" y="2658"/>
              <a:ext cx="432" cy="385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zh-CN" sz="2400"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0349" name="Line 88"/>
            <p:cNvSpPr>
              <a:spLocks noChangeShapeType="1"/>
            </p:cNvSpPr>
            <p:nvPr/>
          </p:nvSpPr>
          <p:spPr bwMode="auto">
            <a:xfrm flipH="1" flipV="1">
              <a:off x="2779" y="2651"/>
              <a:ext cx="1152" cy="1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" name="Group 89"/>
          <p:cNvGrpSpPr>
            <a:grpSpLocks/>
          </p:cNvGrpSpPr>
          <p:nvPr/>
        </p:nvGrpSpPr>
        <p:grpSpPr bwMode="auto">
          <a:xfrm>
            <a:off x="1547118" y="4433888"/>
            <a:ext cx="2736850" cy="1665287"/>
            <a:chOff x="1271" y="2793"/>
            <a:chExt cx="1367" cy="1049"/>
          </a:xfrm>
        </p:grpSpPr>
        <p:sp>
          <p:nvSpPr>
            <p:cNvPr id="10346" name="AutoShape 90"/>
            <p:cNvSpPr>
              <a:spLocks noChangeArrowheads="1"/>
            </p:cNvSpPr>
            <p:nvPr/>
          </p:nvSpPr>
          <p:spPr bwMode="auto">
            <a:xfrm rot="-5530939">
              <a:off x="1902" y="2944"/>
              <a:ext cx="887" cy="585"/>
            </a:xfrm>
            <a:custGeom>
              <a:avLst/>
              <a:gdLst>
                <a:gd name="T0" fmla="*/ 1 w 21600"/>
                <a:gd name="T1" fmla="*/ 0 h 21600"/>
                <a:gd name="T2" fmla="*/ 1 w 21600"/>
                <a:gd name="T3" fmla="*/ 0 h 21600"/>
                <a:gd name="T4" fmla="*/ 0 w 21600"/>
                <a:gd name="T5" fmla="*/ 0 h 21600"/>
                <a:gd name="T6" fmla="*/ 1 w 21600"/>
                <a:gd name="T7" fmla="*/ 0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19 w 21600"/>
                <a:gd name="T13" fmla="*/ 3618 h 21600"/>
                <a:gd name="T14" fmla="*/ 19067 w 21600"/>
                <a:gd name="T15" fmla="*/ 852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342" y="0"/>
                  </a:lnTo>
                  <a:lnTo>
                    <a:pt x="15342" y="3618"/>
                  </a:lnTo>
                  <a:lnTo>
                    <a:pt x="12427" y="3618"/>
                  </a:lnTo>
                  <a:cubicBezTo>
                    <a:pt x="5564" y="3618"/>
                    <a:pt x="0" y="7441"/>
                    <a:pt x="0" y="12158"/>
                  </a:cubicBezTo>
                  <a:lnTo>
                    <a:pt x="0" y="21600"/>
                  </a:lnTo>
                  <a:lnTo>
                    <a:pt x="5031" y="21600"/>
                  </a:lnTo>
                  <a:lnTo>
                    <a:pt x="5031" y="12158"/>
                  </a:lnTo>
                  <a:cubicBezTo>
                    <a:pt x="5031" y="10160"/>
                    <a:pt x="8342" y="8540"/>
                    <a:pt x="12427" y="8540"/>
                  </a:cubicBezTo>
                  <a:lnTo>
                    <a:pt x="15342" y="8540"/>
                  </a:lnTo>
                  <a:lnTo>
                    <a:pt x="15342" y="12158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0347" name="Text Box 91"/>
            <p:cNvSpPr txBox="1">
              <a:spLocks noChangeArrowheads="1"/>
            </p:cNvSpPr>
            <p:nvPr/>
          </p:nvSpPr>
          <p:spPr bwMode="auto">
            <a:xfrm>
              <a:off x="1271" y="3091"/>
              <a:ext cx="996" cy="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1600">
                  <a:latin typeface="Tahoma" panose="020B0604030504040204" pitchFamily="34" charset="0"/>
                  <a:ea typeface="宋体" panose="02010600030101010101" pitchFamily="2" charset="-122"/>
                </a:rPr>
                <a:t>all rows that contain  “a”.</a:t>
              </a:r>
            </a:p>
            <a:p>
              <a:pPr algn="l" eaLnBrk="1" hangingPunct="1">
                <a:spcBef>
                  <a:spcPct val="50000"/>
                </a:spcBef>
              </a:pPr>
              <a:r>
                <a:rPr lang="en-US" altLang="zh-CN" sz="1600" b="1">
                  <a:latin typeface="Tahoma" panose="020B0604030504040204" pitchFamily="34" charset="0"/>
                  <a:ea typeface="宋体" panose="02010600030101010101" pitchFamily="2" charset="-122"/>
                </a:rPr>
                <a:t>{a}-projected database</a:t>
              </a:r>
            </a:p>
          </p:txBody>
        </p:sp>
      </p:grpSp>
      <p:grpSp>
        <p:nvGrpSpPr>
          <p:cNvPr id="4" name="Group 92"/>
          <p:cNvGrpSpPr>
            <a:grpSpLocks/>
          </p:cNvGrpSpPr>
          <p:nvPr/>
        </p:nvGrpSpPr>
        <p:grpSpPr bwMode="auto">
          <a:xfrm>
            <a:off x="2540000" y="3090863"/>
            <a:ext cx="3321050" cy="773112"/>
            <a:chOff x="1600" y="1947"/>
            <a:chExt cx="2092" cy="487"/>
          </a:xfrm>
        </p:grpSpPr>
        <p:sp>
          <p:nvSpPr>
            <p:cNvPr id="10344" name="Oval 93"/>
            <p:cNvSpPr>
              <a:spLocks noChangeArrowheads="1"/>
            </p:cNvSpPr>
            <p:nvPr/>
          </p:nvSpPr>
          <p:spPr bwMode="auto">
            <a:xfrm>
              <a:off x="3213" y="1998"/>
              <a:ext cx="479" cy="43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zh-CN" sz="2400">
                  <a:ea typeface="宋体" panose="02010600030101010101" pitchFamily="2" charset="-122"/>
                </a:rPr>
                <a:t>a,b</a:t>
              </a:r>
            </a:p>
          </p:txBody>
        </p:sp>
        <p:sp>
          <p:nvSpPr>
            <p:cNvPr id="10345" name="Line 94"/>
            <p:cNvSpPr>
              <a:spLocks noChangeShapeType="1"/>
            </p:cNvSpPr>
            <p:nvPr/>
          </p:nvSpPr>
          <p:spPr bwMode="auto">
            <a:xfrm flipH="1" flipV="1">
              <a:off x="1600" y="1947"/>
              <a:ext cx="1609" cy="1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aphicFrame>
        <p:nvGraphicFramePr>
          <p:cNvPr id="612447" name="Group 95"/>
          <p:cNvGraphicFramePr>
            <a:graphicFrameLocks noGrp="1"/>
          </p:cNvGraphicFramePr>
          <p:nvPr/>
        </p:nvGraphicFramePr>
        <p:xfrm>
          <a:off x="1047750" y="2652713"/>
          <a:ext cx="1524000" cy="523876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Items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c, 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5" name="Group 106"/>
          <p:cNvGrpSpPr>
            <a:grpSpLocks/>
          </p:cNvGrpSpPr>
          <p:nvPr/>
        </p:nvGrpSpPr>
        <p:grpSpPr bwMode="auto">
          <a:xfrm>
            <a:off x="0" y="3212976"/>
            <a:ext cx="2736850" cy="1150618"/>
            <a:chOff x="0" y="1948"/>
            <a:chExt cx="1724" cy="887"/>
          </a:xfrm>
        </p:grpSpPr>
        <p:sp>
          <p:nvSpPr>
            <p:cNvPr id="10342" name="AutoShape 107"/>
            <p:cNvSpPr>
              <a:spLocks noChangeArrowheads="1"/>
            </p:cNvSpPr>
            <p:nvPr/>
          </p:nvSpPr>
          <p:spPr bwMode="auto">
            <a:xfrm rot="-5530939">
              <a:off x="911" y="2023"/>
              <a:ext cx="887" cy="738"/>
            </a:xfrm>
            <a:custGeom>
              <a:avLst/>
              <a:gdLst>
                <a:gd name="T0" fmla="*/ 1 w 21600"/>
                <a:gd name="T1" fmla="*/ 0 h 21600"/>
                <a:gd name="T2" fmla="*/ 1 w 21600"/>
                <a:gd name="T3" fmla="*/ 0 h 21600"/>
                <a:gd name="T4" fmla="*/ 0 w 21600"/>
                <a:gd name="T5" fmla="*/ 1 h 21600"/>
                <a:gd name="T6" fmla="*/ 1 w 21600"/>
                <a:gd name="T7" fmla="*/ 0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19 w 21600"/>
                <a:gd name="T13" fmla="*/ 3629 h 21600"/>
                <a:gd name="T14" fmla="*/ 19067 w 21600"/>
                <a:gd name="T15" fmla="*/ 854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342" y="0"/>
                  </a:lnTo>
                  <a:lnTo>
                    <a:pt x="15342" y="3618"/>
                  </a:lnTo>
                  <a:lnTo>
                    <a:pt x="12427" y="3618"/>
                  </a:lnTo>
                  <a:cubicBezTo>
                    <a:pt x="5564" y="3618"/>
                    <a:pt x="0" y="7441"/>
                    <a:pt x="0" y="12158"/>
                  </a:cubicBezTo>
                  <a:lnTo>
                    <a:pt x="0" y="21600"/>
                  </a:lnTo>
                  <a:lnTo>
                    <a:pt x="5031" y="21600"/>
                  </a:lnTo>
                  <a:lnTo>
                    <a:pt x="5031" y="12158"/>
                  </a:lnTo>
                  <a:cubicBezTo>
                    <a:pt x="5031" y="10160"/>
                    <a:pt x="8342" y="8540"/>
                    <a:pt x="12427" y="8540"/>
                  </a:cubicBezTo>
                  <a:lnTo>
                    <a:pt x="15342" y="8540"/>
                  </a:lnTo>
                  <a:lnTo>
                    <a:pt x="15342" y="12158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0343" name="Text Box 108"/>
            <p:cNvSpPr txBox="1">
              <a:spLocks noChangeArrowheads="1"/>
            </p:cNvSpPr>
            <p:nvPr/>
          </p:nvSpPr>
          <p:spPr bwMode="auto">
            <a:xfrm>
              <a:off x="0" y="2017"/>
              <a:ext cx="1256" cy="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1600">
                  <a:latin typeface="Tahoma" panose="020B0604030504040204" pitchFamily="34" charset="0"/>
                  <a:ea typeface="宋体" panose="02010600030101010101" pitchFamily="2" charset="-122"/>
                </a:rPr>
                <a:t>all rows that contain  “ab”.</a:t>
              </a:r>
            </a:p>
            <a:p>
              <a:pPr algn="l" eaLnBrk="1" hangingPunct="1">
                <a:spcBef>
                  <a:spcPct val="50000"/>
                </a:spcBef>
              </a:pPr>
              <a:r>
                <a:rPr lang="en-US" altLang="zh-CN" sz="1600" b="1">
                  <a:latin typeface="Tahoma" panose="020B0604030504040204" pitchFamily="34" charset="0"/>
                  <a:ea typeface="宋体" panose="02010600030101010101" pitchFamily="2" charset="-122"/>
                </a:rPr>
                <a:t>{ab}-projected database</a:t>
              </a:r>
            </a:p>
          </p:txBody>
        </p:sp>
      </p:grpSp>
      <p:sp>
        <p:nvSpPr>
          <p:cNvPr id="612461" name="Text Box 109"/>
          <p:cNvSpPr txBox="1">
            <a:spLocks noChangeArrowheads="1"/>
          </p:cNvSpPr>
          <p:nvPr/>
        </p:nvSpPr>
        <p:spPr bwMode="auto">
          <a:xfrm>
            <a:off x="1331913" y="1412875"/>
            <a:ext cx="4208462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1800" b="1">
                <a:latin typeface="Tahoma" panose="020B0604030504040204" pitchFamily="34" charset="0"/>
                <a:ea typeface="宋体" panose="02010600030101010101" pitchFamily="2" charset="-122"/>
              </a:rPr>
              <a:t>Note that we can know the number  of occurrence of “ab” by counting the number of “b” in the {a}-projected database 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2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2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2461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153400" cy="5105400"/>
          </a:xfrm>
          <a:noFill/>
        </p:spPr>
        <p:txBody>
          <a:bodyPr lIns="92075" tIns="46038" rIns="92075" bIns="46038"/>
          <a:lstStyle/>
          <a:p>
            <a:pPr marL="533400" indent="-533400" algn="just">
              <a:lnSpc>
                <a:spcPct val="110000"/>
              </a:lnSpc>
              <a:buClr>
                <a:srgbClr val="170981"/>
              </a:buClr>
              <a:buFont typeface="Monotype Sorts" pitchFamily="2" charset="2"/>
              <a:buAutoNum type="arabicPeriod"/>
            </a:pPr>
            <a:r>
              <a:rPr lang="zh-CN" altLang="en-US" sz="2400">
                <a:ea typeface="宋体" panose="02010600030101010101" pitchFamily="2" charset="-122"/>
              </a:rPr>
              <a:t>第一次扫描数据库：</a:t>
            </a:r>
          </a:p>
          <a:p>
            <a:pPr marL="533400" indent="-533400" algn="just">
              <a:lnSpc>
                <a:spcPct val="110000"/>
              </a:lnSpc>
              <a:buClr>
                <a:srgbClr val="170981"/>
              </a:buClr>
              <a:buFont typeface="Monotype Sorts" pitchFamily="2" charset="2"/>
              <a:buNone/>
            </a:pPr>
            <a:r>
              <a:rPr lang="zh-CN" altLang="en-US" sz="2400">
                <a:solidFill>
                  <a:schemeClr val="tx1"/>
                </a:solidFill>
                <a:ea typeface="宋体" panose="02010600030101010101" pitchFamily="2" charset="-122"/>
              </a:rPr>
              <a:t>		类似于</a:t>
            </a:r>
            <a:r>
              <a:rPr lang="en-US" altLang="zh-CN" sz="2400">
                <a:solidFill>
                  <a:schemeClr val="tx1"/>
                </a:solidFill>
                <a:ea typeface="宋体" panose="02010600030101010101" pitchFamily="2" charset="-122"/>
              </a:rPr>
              <a:t>Apriori</a:t>
            </a:r>
            <a:r>
              <a:rPr lang="zh-CN" altLang="en-US" sz="2400">
                <a:solidFill>
                  <a:schemeClr val="tx1"/>
                </a:solidFill>
                <a:ea typeface="宋体" panose="02010600030101010101" pitchFamily="2" charset="-122"/>
              </a:rPr>
              <a:t>算法，找出频繁的1-</a:t>
            </a:r>
            <a:r>
              <a:rPr lang="en-US" altLang="zh-CN" sz="2400">
                <a:solidFill>
                  <a:schemeClr val="tx1"/>
                </a:solidFill>
                <a:ea typeface="宋体" panose="02010600030101010101" pitchFamily="2" charset="-122"/>
              </a:rPr>
              <a:t>itemset</a:t>
            </a:r>
            <a:r>
              <a:rPr lang="zh-CN" altLang="en-US" sz="2400">
                <a:solidFill>
                  <a:schemeClr val="tx1"/>
                </a:solidFill>
                <a:ea typeface="宋体" panose="02010600030101010101" pitchFamily="2" charset="-122"/>
              </a:rPr>
              <a:t>和他们的计	数值， 将频繁项目按频度降序排列</a:t>
            </a:r>
          </a:p>
          <a:p>
            <a:pPr marL="533400" indent="-533400" algn="just">
              <a:lnSpc>
                <a:spcPct val="110000"/>
              </a:lnSpc>
              <a:buClr>
                <a:srgbClr val="170981"/>
              </a:buClr>
              <a:buFont typeface="Monotype Sorts" pitchFamily="2" charset="2"/>
              <a:buNone/>
            </a:pPr>
            <a:endParaRPr lang="zh-CN" altLang="en-US" sz="240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533400" indent="-533400" algn="just">
              <a:lnSpc>
                <a:spcPct val="110000"/>
              </a:lnSpc>
              <a:buClr>
                <a:srgbClr val="170981"/>
              </a:buClr>
              <a:buFont typeface="Monotype Sorts" pitchFamily="2" charset="2"/>
              <a:buNone/>
            </a:pPr>
            <a:r>
              <a:rPr lang="zh-CN" altLang="en-US" sz="2400">
                <a:ea typeface="宋体" panose="02010600030101010101" pitchFamily="2" charset="-122"/>
              </a:rPr>
              <a:t>2. 第二次扫描数据库：</a:t>
            </a:r>
          </a:p>
          <a:p>
            <a:pPr marL="533400" indent="-533400" algn="just">
              <a:lnSpc>
                <a:spcPct val="110000"/>
              </a:lnSpc>
              <a:buClr>
                <a:srgbClr val="170981"/>
              </a:buClr>
              <a:buFont typeface="Monotype Sorts" pitchFamily="2" charset="2"/>
              <a:buNone/>
            </a:pPr>
            <a:r>
              <a:rPr lang="zh-CN" altLang="en-US" sz="2400">
                <a:ea typeface="宋体" panose="02010600030101010101" pitchFamily="2" charset="-122"/>
                <a:cs typeface="Times New Roman" panose="02020603050405020304" pitchFamily="18" charset="0"/>
              </a:rPr>
              <a:t>	   </a:t>
            </a:r>
            <a:r>
              <a:rPr lang="zh-CN" altLang="en-US" sz="2400">
                <a:solidFill>
                  <a:schemeClr val="tx1"/>
                </a:solidFill>
                <a:ea typeface="宋体" panose="02010600030101010101" pitchFamily="2" charset="-122"/>
              </a:rPr>
              <a:t>构造</a:t>
            </a:r>
            <a:r>
              <a:rPr lang="en-US" altLang="zh-CN" sz="2400">
                <a:solidFill>
                  <a:schemeClr val="tx1"/>
                </a:solidFill>
                <a:ea typeface="宋体" panose="02010600030101010101" pitchFamily="2" charset="-122"/>
              </a:rPr>
              <a:t>fp-tree （</a:t>
            </a:r>
            <a:r>
              <a:rPr lang="zh-CN" altLang="en-US" sz="2400">
                <a:solidFill>
                  <a:schemeClr val="tx1"/>
                </a:solidFill>
                <a:ea typeface="宋体" panose="02010600030101010101" pitchFamily="2" charset="-122"/>
              </a:rPr>
              <a:t>频度从大到小）</a:t>
            </a:r>
          </a:p>
          <a:p>
            <a:pPr marL="533400" indent="-533400" algn="just">
              <a:lnSpc>
                <a:spcPct val="110000"/>
              </a:lnSpc>
              <a:buClr>
                <a:srgbClr val="170981"/>
              </a:buClr>
              <a:buFont typeface="Monotype Sorts" pitchFamily="2" charset="2"/>
              <a:buNone/>
            </a:pPr>
            <a:r>
              <a:rPr lang="zh-CN" altLang="en-US" sz="2400">
                <a:solidFill>
                  <a:schemeClr val="tx1"/>
                </a:solidFill>
                <a:ea typeface="宋体" panose="02010600030101010101" pitchFamily="2" charset="-122"/>
              </a:rPr>
              <a:t>	   挖掘该树（频度从小到大）</a:t>
            </a:r>
          </a:p>
          <a:p>
            <a:pPr marL="533400" indent="-533400" algn="just">
              <a:lnSpc>
                <a:spcPct val="110000"/>
              </a:lnSpc>
              <a:buClr>
                <a:srgbClr val="170981"/>
              </a:buClr>
              <a:buFont typeface="Monotype Sorts" pitchFamily="2" charset="2"/>
              <a:buNone/>
            </a:pPr>
            <a:r>
              <a:rPr lang="zh-CN" altLang="en-US" sz="2400">
                <a:ea typeface="宋体" panose="02010600030101010101" pitchFamily="2" charset="-122"/>
              </a:rPr>
              <a:t> </a:t>
            </a:r>
          </a:p>
          <a:p>
            <a:pPr marL="533400" indent="-533400">
              <a:lnSpc>
                <a:spcPct val="110000"/>
              </a:lnSpc>
              <a:buClr>
                <a:srgbClr val="170981"/>
              </a:buClr>
              <a:buFont typeface="Monotype Sorts" pitchFamily="2" charset="2"/>
              <a:buNone/>
            </a:pPr>
            <a:r>
              <a:rPr lang="zh-CN" altLang="en-US" sz="2400">
                <a:ea typeface="宋体" panose="02010600030101010101" pitchFamily="2" charset="-122"/>
              </a:rPr>
              <a:t> 注意：数据库大时，</a:t>
            </a:r>
            <a:r>
              <a:rPr lang="en-US" altLang="zh-CN" sz="2400">
                <a:ea typeface="宋体" panose="02010600030101010101" pitchFamily="2" charset="-122"/>
              </a:rPr>
              <a:t>fp-tree</a:t>
            </a:r>
            <a:r>
              <a:rPr lang="zh-CN" altLang="en-US" sz="2400">
                <a:ea typeface="宋体" panose="02010600030101010101" pitchFamily="2" charset="-122"/>
              </a:rPr>
              <a:t>可能在内存中装不下，需要</a:t>
            </a:r>
          </a:p>
          <a:p>
            <a:pPr marL="533400" indent="-533400">
              <a:lnSpc>
                <a:spcPct val="110000"/>
              </a:lnSpc>
              <a:buClr>
                <a:srgbClr val="170981"/>
              </a:buClr>
              <a:buFont typeface="Monotype Sorts" pitchFamily="2" charset="2"/>
              <a:buNone/>
            </a:pPr>
            <a:r>
              <a:rPr lang="zh-CN" altLang="en-US" sz="2400">
                <a:ea typeface="宋体" panose="02010600030101010101" pitchFamily="2" charset="-122"/>
              </a:rPr>
              <a:t>采取</a:t>
            </a:r>
            <a:r>
              <a:rPr lang="en-US" altLang="zh-CN" sz="2400">
                <a:ea typeface="宋体" panose="02010600030101010101" pitchFamily="2" charset="-122"/>
              </a:rPr>
              <a:t>partition</a:t>
            </a:r>
            <a:r>
              <a:rPr lang="zh-CN" altLang="en-US" sz="2400">
                <a:ea typeface="宋体" panose="02010600030101010101" pitchFamily="2" charset="-122"/>
              </a:rPr>
              <a:t>方法。</a:t>
            </a:r>
            <a:endParaRPr lang="en-US" altLang="zh-CN" sz="2400" u="sng">
              <a:ea typeface="宋体" panose="02010600030101010101" pitchFamily="2" charset="-122"/>
            </a:endParaRPr>
          </a:p>
        </p:txBody>
      </p:sp>
      <p:sp>
        <p:nvSpPr>
          <p:cNvPr id="615427" name="Rectangle 3"/>
          <p:cNvSpPr>
            <a:spLocks noChangeArrowheads="1"/>
          </p:cNvSpPr>
          <p:nvPr/>
        </p:nvSpPr>
        <p:spPr bwMode="auto">
          <a:xfrm>
            <a:off x="457200" y="457200"/>
            <a:ext cx="8229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FP-Growth</a:t>
            </a:r>
            <a:r>
              <a:rPr lang="zh-CN" altLang="en-US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算法</a:t>
            </a:r>
          </a:p>
        </p:txBody>
      </p:sp>
    </p:spTree>
  </p:cSld>
  <p:clrMapOvr>
    <a:masterClrMapping/>
  </p:clrMapOvr>
  <p:transition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45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8763000" cy="685800"/>
          </a:xfrm>
        </p:spPr>
        <p:txBody>
          <a:bodyPr/>
          <a:lstStyle/>
          <a:p>
            <a:pPr>
              <a:defRPr/>
            </a:pPr>
            <a:r>
              <a:rPr lang="en-US" altLang="zh-CN" sz="3200">
                <a:ea typeface="宋体" pitchFamily="2" charset="-122"/>
              </a:rPr>
              <a:t>Construct FP-tree from a Transaction Database</a:t>
            </a:r>
          </a:p>
        </p:txBody>
      </p:sp>
      <p:grpSp>
        <p:nvGrpSpPr>
          <p:cNvPr id="12291" name="Group 3"/>
          <p:cNvGrpSpPr>
            <a:grpSpLocks/>
          </p:cNvGrpSpPr>
          <p:nvPr/>
        </p:nvGrpSpPr>
        <p:grpSpPr bwMode="auto">
          <a:xfrm>
            <a:off x="4191000" y="2971800"/>
            <a:ext cx="4579938" cy="3624263"/>
            <a:chOff x="2496" y="1772"/>
            <a:chExt cx="2926" cy="2218"/>
          </a:xfrm>
        </p:grpSpPr>
        <p:sp>
          <p:nvSpPr>
            <p:cNvPr id="12296" name="Text Box 4"/>
            <p:cNvSpPr txBox="1">
              <a:spLocks noChangeArrowheads="1"/>
            </p:cNvSpPr>
            <p:nvPr/>
          </p:nvSpPr>
          <p:spPr bwMode="auto">
            <a:xfrm>
              <a:off x="4796" y="1772"/>
              <a:ext cx="282" cy="25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zh-CN" altLang="en-US" sz="2000">
                  <a:ea typeface="宋体" panose="02010600030101010101" pitchFamily="2" charset="-122"/>
                </a:rPr>
                <a:t>{}</a:t>
              </a:r>
            </a:p>
          </p:txBody>
        </p:sp>
        <p:sp>
          <p:nvSpPr>
            <p:cNvPr id="12297" name="Text Box 5"/>
            <p:cNvSpPr txBox="1">
              <a:spLocks noChangeArrowheads="1"/>
            </p:cNvSpPr>
            <p:nvPr/>
          </p:nvSpPr>
          <p:spPr bwMode="auto">
            <a:xfrm>
              <a:off x="4508" y="2205"/>
              <a:ext cx="305" cy="25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2000" i="1">
                  <a:ea typeface="宋体" panose="02010600030101010101" pitchFamily="2" charset="-122"/>
                </a:rPr>
                <a:t>f:4</a:t>
              </a:r>
            </a:p>
          </p:txBody>
        </p:sp>
        <p:sp>
          <p:nvSpPr>
            <p:cNvPr id="12298" name="Text Box 6"/>
            <p:cNvSpPr txBox="1">
              <a:spLocks noChangeArrowheads="1"/>
            </p:cNvSpPr>
            <p:nvPr/>
          </p:nvSpPr>
          <p:spPr bwMode="auto">
            <a:xfrm>
              <a:off x="5084" y="2205"/>
              <a:ext cx="333" cy="25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2000" i="1">
                  <a:ea typeface="宋体" panose="02010600030101010101" pitchFamily="2" charset="-122"/>
                </a:rPr>
                <a:t>c:1</a:t>
              </a:r>
            </a:p>
          </p:txBody>
        </p:sp>
        <p:sp>
          <p:nvSpPr>
            <p:cNvPr id="12299" name="Text Box 7"/>
            <p:cNvSpPr txBox="1">
              <a:spLocks noChangeArrowheads="1"/>
            </p:cNvSpPr>
            <p:nvPr/>
          </p:nvSpPr>
          <p:spPr bwMode="auto">
            <a:xfrm>
              <a:off x="5080" y="2588"/>
              <a:ext cx="342" cy="25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2000" i="1">
                  <a:ea typeface="宋体" panose="02010600030101010101" pitchFamily="2" charset="-122"/>
                </a:rPr>
                <a:t>b:1</a:t>
              </a:r>
            </a:p>
          </p:txBody>
        </p:sp>
        <p:sp>
          <p:nvSpPr>
            <p:cNvPr id="12300" name="Text Box 8"/>
            <p:cNvSpPr txBox="1">
              <a:spLocks noChangeArrowheads="1"/>
            </p:cNvSpPr>
            <p:nvPr/>
          </p:nvSpPr>
          <p:spPr bwMode="auto">
            <a:xfrm>
              <a:off x="5080" y="2971"/>
              <a:ext cx="342" cy="25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2000" i="1">
                  <a:ea typeface="宋体" panose="02010600030101010101" pitchFamily="2" charset="-122"/>
                </a:rPr>
                <a:t>p:1</a:t>
              </a:r>
            </a:p>
          </p:txBody>
        </p:sp>
        <p:cxnSp>
          <p:nvCxnSpPr>
            <p:cNvPr id="12301" name="AutoShape 9"/>
            <p:cNvCxnSpPr>
              <a:cxnSpLocks noChangeShapeType="1"/>
              <a:stCxn id="12298" idx="2"/>
              <a:endCxn id="12299" idx="0"/>
            </p:cNvCxnSpPr>
            <p:nvPr/>
          </p:nvCxnSpPr>
          <p:spPr bwMode="auto">
            <a:xfrm>
              <a:off x="5248" y="2458"/>
              <a:ext cx="1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02" name="AutoShape 10"/>
            <p:cNvCxnSpPr>
              <a:cxnSpLocks noChangeShapeType="1"/>
              <a:stCxn id="12299" idx="2"/>
              <a:endCxn id="12300" idx="0"/>
            </p:cNvCxnSpPr>
            <p:nvPr/>
          </p:nvCxnSpPr>
          <p:spPr bwMode="auto">
            <a:xfrm>
              <a:off x="5249" y="2842"/>
              <a:ext cx="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03" name="AutoShape 11"/>
            <p:cNvCxnSpPr>
              <a:cxnSpLocks noChangeShapeType="1"/>
              <a:stCxn id="12296" idx="2"/>
              <a:endCxn id="12298" idx="0"/>
            </p:cNvCxnSpPr>
            <p:nvPr/>
          </p:nvCxnSpPr>
          <p:spPr bwMode="auto">
            <a:xfrm>
              <a:off x="4935" y="2026"/>
              <a:ext cx="313" cy="182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04" name="AutoShape 12"/>
            <p:cNvCxnSpPr>
              <a:cxnSpLocks noChangeShapeType="1"/>
              <a:stCxn id="12296" idx="2"/>
              <a:endCxn id="12297" idx="0"/>
            </p:cNvCxnSpPr>
            <p:nvPr/>
          </p:nvCxnSpPr>
          <p:spPr bwMode="auto">
            <a:xfrm flipH="1">
              <a:off x="4659" y="2026"/>
              <a:ext cx="276" cy="182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305" name="Text Box 13"/>
            <p:cNvSpPr txBox="1">
              <a:spLocks noChangeArrowheads="1"/>
            </p:cNvSpPr>
            <p:nvPr/>
          </p:nvSpPr>
          <p:spPr bwMode="auto">
            <a:xfrm>
              <a:off x="4700" y="2588"/>
              <a:ext cx="342" cy="25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2000" i="1">
                  <a:ea typeface="宋体" panose="02010600030101010101" pitchFamily="2" charset="-122"/>
                </a:rPr>
                <a:t>b:1</a:t>
              </a:r>
            </a:p>
          </p:txBody>
        </p:sp>
        <p:sp>
          <p:nvSpPr>
            <p:cNvPr id="12306" name="Text Box 14"/>
            <p:cNvSpPr txBox="1">
              <a:spLocks noChangeArrowheads="1"/>
            </p:cNvSpPr>
            <p:nvPr/>
          </p:nvSpPr>
          <p:spPr bwMode="auto">
            <a:xfrm>
              <a:off x="4321" y="2588"/>
              <a:ext cx="332" cy="25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2000" i="1">
                  <a:ea typeface="宋体" panose="02010600030101010101" pitchFamily="2" charset="-122"/>
                </a:rPr>
                <a:t>c:3</a:t>
              </a:r>
            </a:p>
          </p:txBody>
        </p:sp>
        <p:cxnSp>
          <p:nvCxnSpPr>
            <p:cNvPr id="12307" name="AutoShape 15"/>
            <p:cNvCxnSpPr>
              <a:cxnSpLocks noChangeShapeType="1"/>
              <a:stCxn id="12297" idx="2"/>
              <a:endCxn id="12306" idx="0"/>
            </p:cNvCxnSpPr>
            <p:nvPr/>
          </p:nvCxnSpPr>
          <p:spPr bwMode="auto">
            <a:xfrm flipH="1">
              <a:off x="4485" y="2458"/>
              <a:ext cx="174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08" name="AutoShape 16"/>
            <p:cNvCxnSpPr>
              <a:cxnSpLocks noChangeShapeType="1"/>
              <a:stCxn id="12297" idx="2"/>
              <a:endCxn id="12305" idx="0"/>
            </p:cNvCxnSpPr>
            <p:nvPr/>
          </p:nvCxnSpPr>
          <p:spPr bwMode="auto">
            <a:xfrm>
              <a:off x="4659" y="2458"/>
              <a:ext cx="21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309" name="Text Box 17"/>
            <p:cNvSpPr txBox="1">
              <a:spLocks noChangeArrowheads="1"/>
            </p:cNvSpPr>
            <p:nvPr/>
          </p:nvSpPr>
          <p:spPr bwMode="auto">
            <a:xfrm>
              <a:off x="4315" y="2971"/>
              <a:ext cx="342" cy="25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2000" i="1">
                  <a:ea typeface="宋体" panose="02010600030101010101" pitchFamily="2" charset="-122"/>
                </a:rPr>
                <a:t>a:3</a:t>
              </a:r>
            </a:p>
          </p:txBody>
        </p:sp>
        <p:sp>
          <p:nvSpPr>
            <p:cNvPr id="12310" name="Text Box 18"/>
            <p:cNvSpPr txBox="1">
              <a:spLocks noChangeArrowheads="1"/>
            </p:cNvSpPr>
            <p:nvPr/>
          </p:nvSpPr>
          <p:spPr bwMode="auto">
            <a:xfrm>
              <a:off x="4556" y="3356"/>
              <a:ext cx="342" cy="25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2000" i="1">
                  <a:ea typeface="宋体" panose="02010600030101010101" pitchFamily="2" charset="-122"/>
                </a:rPr>
                <a:t>b:1</a:t>
              </a:r>
            </a:p>
          </p:txBody>
        </p:sp>
        <p:sp>
          <p:nvSpPr>
            <p:cNvPr id="12311" name="Text Box 19"/>
            <p:cNvSpPr txBox="1">
              <a:spLocks noChangeArrowheads="1"/>
            </p:cNvSpPr>
            <p:nvPr/>
          </p:nvSpPr>
          <p:spPr bwMode="auto">
            <a:xfrm>
              <a:off x="4130" y="3356"/>
              <a:ext cx="378" cy="25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2000" i="1">
                  <a:ea typeface="宋体" panose="02010600030101010101" pitchFamily="2" charset="-122"/>
                </a:rPr>
                <a:t>m:2</a:t>
              </a:r>
            </a:p>
          </p:txBody>
        </p:sp>
        <p:sp>
          <p:nvSpPr>
            <p:cNvPr id="12312" name="Text Box 20"/>
            <p:cNvSpPr txBox="1">
              <a:spLocks noChangeArrowheads="1"/>
            </p:cNvSpPr>
            <p:nvPr/>
          </p:nvSpPr>
          <p:spPr bwMode="auto">
            <a:xfrm>
              <a:off x="4148" y="3739"/>
              <a:ext cx="342" cy="25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2000" i="1">
                  <a:ea typeface="宋体" panose="02010600030101010101" pitchFamily="2" charset="-122"/>
                </a:rPr>
                <a:t>p:2</a:t>
              </a:r>
            </a:p>
          </p:txBody>
        </p:sp>
        <p:cxnSp>
          <p:nvCxnSpPr>
            <p:cNvPr id="12313" name="AutoShape 21"/>
            <p:cNvCxnSpPr>
              <a:cxnSpLocks noChangeShapeType="1"/>
              <a:stCxn id="12306" idx="2"/>
              <a:endCxn id="12309" idx="0"/>
            </p:cNvCxnSpPr>
            <p:nvPr/>
          </p:nvCxnSpPr>
          <p:spPr bwMode="auto">
            <a:xfrm>
              <a:off x="4485" y="2842"/>
              <a:ext cx="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14" name="AutoShape 22"/>
            <p:cNvCxnSpPr>
              <a:cxnSpLocks noChangeShapeType="1"/>
              <a:stCxn id="12309" idx="2"/>
              <a:endCxn id="12311" idx="0"/>
            </p:cNvCxnSpPr>
            <p:nvPr/>
          </p:nvCxnSpPr>
          <p:spPr bwMode="auto">
            <a:xfrm flipH="1">
              <a:off x="4317" y="3226"/>
              <a:ext cx="168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15" name="AutoShape 23"/>
            <p:cNvCxnSpPr>
              <a:cxnSpLocks noChangeShapeType="1"/>
              <a:stCxn id="12309" idx="2"/>
              <a:endCxn id="12310" idx="0"/>
            </p:cNvCxnSpPr>
            <p:nvPr/>
          </p:nvCxnSpPr>
          <p:spPr bwMode="auto">
            <a:xfrm>
              <a:off x="4485" y="3226"/>
              <a:ext cx="24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16" name="AutoShape 24"/>
            <p:cNvCxnSpPr>
              <a:cxnSpLocks noChangeShapeType="1"/>
              <a:stCxn id="12311" idx="2"/>
              <a:endCxn id="12312" idx="0"/>
            </p:cNvCxnSpPr>
            <p:nvPr/>
          </p:nvCxnSpPr>
          <p:spPr bwMode="auto">
            <a:xfrm>
              <a:off x="4317" y="3610"/>
              <a:ext cx="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317" name="Text Box 25"/>
            <p:cNvSpPr txBox="1">
              <a:spLocks noChangeArrowheads="1"/>
            </p:cNvSpPr>
            <p:nvPr/>
          </p:nvSpPr>
          <p:spPr bwMode="auto">
            <a:xfrm>
              <a:off x="4538" y="3739"/>
              <a:ext cx="378" cy="25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2000" i="1">
                  <a:ea typeface="宋体" panose="02010600030101010101" pitchFamily="2" charset="-122"/>
                </a:rPr>
                <a:t>m:1</a:t>
              </a:r>
            </a:p>
          </p:txBody>
        </p:sp>
        <p:cxnSp>
          <p:nvCxnSpPr>
            <p:cNvPr id="12318" name="AutoShape 26"/>
            <p:cNvCxnSpPr>
              <a:cxnSpLocks noChangeShapeType="1"/>
              <a:stCxn id="12310" idx="2"/>
              <a:endCxn id="12317" idx="0"/>
            </p:cNvCxnSpPr>
            <p:nvPr/>
          </p:nvCxnSpPr>
          <p:spPr bwMode="auto">
            <a:xfrm>
              <a:off x="4725" y="3610"/>
              <a:ext cx="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319" name="Text Box 27"/>
            <p:cNvSpPr txBox="1">
              <a:spLocks noChangeArrowheads="1"/>
            </p:cNvSpPr>
            <p:nvPr/>
          </p:nvSpPr>
          <p:spPr bwMode="auto">
            <a:xfrm>
              <a:off x="2496" y="1935"/>
              <a:ext cx="1625" cy="1577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>
                <a:lnSpc>
                  <a:spcPct val="90000"/>
                </a:lnSpc>
              </a:pPr>
              <a:r>
                <a:rPr lang="en-US" altLang="zh-CN" sz="2000" b="1">
                  <a:ea typeface="宋体" panose="02010600030101010101" pitchFamily="2" charset="-122"/>
                </a:rPr>
                <a:t>Header Table</a:t>
              </a:r>
            </a:p>
            <a:p>
              <a:pPr algn="l">
                <a:lnSpc>
                  <a:spcPct val="90000"/>
                </a:lnSpc>
              </a:pPr>
              <a:endParaRPr lang="en-US" altLang="zh-CN" sz="2000" b="1">
                <a:ea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2000" b="1" i="1" u="sng">
                  <a:ea typeface="宋体" panose="02010600030101010101" pitchFamily="2" charset="-122"/>
                </a:rPr>
                <a:t>Item  frequency  head </a:t>
              </a:r>
            </a:p>
            <a:p>
              <a:pPr algn="l">
                <a:lnSpc>
                  <a:spcPct val="90000"/>
                </a:lnSpc>
              </a:pPr>
              <a:r>
                <a:rPr lang="en-US" altLang="zh-CN" sz="2000" i="1">
                  <a:ea typeface="宋体" panose="02010600030101010101" pitchFamily="2" charset="-122"/>
                </a:rPr>
                <a:t> f	4</a:t>
              </a:r>
            </a:p>
            <a:p>
              <a:pPr algn="l">
                <a:lnSpc>
                  <a:spcPct val="90000"/>
                </a:lnSpc>
              </a:pPr>
              <a:r>
                <a:rPr lang="en-US" altLang="zh-CN" sz="2000" i="1">
                  <a:ea typeface="宋体" panose="02010600030101010101" pitchFamily="2" charset="-122"/>
                </a:rPr>
                <a:t>c	4</a:t>
              </a:r>
            </a:p>
            <a:p>
              <a:pPr algn="l">
                <a:lnSpc>
                  <a:spcPct val="90000"/>
                </a:lnSpc>
              </a:pPr>
              <a:r>
                <a:rPr lang="en-US" altLang="zh-CN" sz="2000" i="1">
                  <a:ea typeface="宋体" panose="02010600030101010101" pitchFamily="2" charset="-122"/>
                </a:rPr>
                <a:t>a	3</a:t>
              </a:r>
            </a:p>
            <a:p>
              <a:pPr algn="l">
                <a:lnSpc>
                  <a:spcPct val="90000"/>
                </a:lnSpc>
              </a:pPr>
              <a:r>
                <a:rPr lang="en-US" altLang="zh-CN" sz="2000" i="1">
                  <a:ea typeface="宋体" panose="02010600030101010101" pitchFamily="2" charset="-122"/>
                </a:rPr>
                <a:t>b	3</a:t>
              </a:r>
            </a:p>
            <a:p>
              <a:pPr algn="l">
                <a:lnSpc>
                  <a:spcPct val="90000"/>
                </a:lnSpc>
              </a:pPr>
              <a:r>
                <a:rPr lang="en-US" altLang="zh-CN" sz="2000" i="1">
                  <a:ea typeface="宋体" panose="02010600030101010101" pitchFamily="2" charset="-122"/>
                </a:rPr>
                <a:t>m	3</a:t>
              </a:r>
            </a:p>
            <a:p>
              <a:pPr algn="l">
                <a:lnSpc>
                  <a:spcPct val="90000"/>
                </a:lnSpc>
              </a:pPr>
              <a:r>
                <a:rPr lang="en-US" altLang="zh-CN" sz="2000" i="1">
                  <a:ea typeface="宋体" panose="02010600030101010101" pitchFamily="2" charset="-122"/>
                </a:rPr>
                <a:t>p	3</a:t>
              </a:r>
              <a:endParaRPr lang="en-US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12320" name="Freeform 28"/>
            <p:cNvSpPr>
              <a:spLocks/>
            </p:cNvSpPr>
            <p:nvPr/>
          </p:nvSpPr>
          <p:spPr bwMode="auto">
            <a:xfrm>
              <a:off x="3879" y="2341"/>
              <a:ext cx="672" cy="240"/>
            </a:xfrm>
            <a:custGeom>
              <a:avLst/>
              <a:gdLst>
                <a:gd name="T0" fmla="*/ 0 w 672"/>
                <a:gd name="T1" fmla="*/ 240 h 240"/>
                <a:gd name="T2" fmla="*/ 288 w 672"/>
                <a:gd name="T3" fmla="*/ 192 h 240"/>
                <a:gd name="T4" fmla="*/ 432 w 672"/>
                <a:gd name="T5" fmla="*/ 48 h 240"/>
                <a:gd name="T6" fmla="*/ 672 w 672"/>
                <a:gd name="T7" fmla="*/ 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2"/>
                <a:gd name="T13" fmla="*/ 0 h 240"/>
                <a:gd name="T14" fmla="*/ 672 w 672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2" h="240">
                  <a:moveTo>
                    <a:pt x="0" y="240"/>
                  </a:moveTo>
                  <a:cubicBezTo>
                    <a:pt x="108" y="232"/>
                    <a:pt x="216" y="224"/>
                    <a:pt x="288" y="192"/>
                  </a:cubicBezTo>
                  <a:cubicBezTo>
                    <a:pt x="360" y="160"/>
                    <a:pt x="368" y="80"/>
                    <a:pt x="432" y="48"/>
                  </a:cubicBezTo>
                  <a:cubicBezTo>
                    <a:pt x="496" y="16"/>
                    <a:pt x="584" y="8"/>
                    <a:pt x="672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2321" name="Freeform 29"/>
            <p:cNvSpPr>
              <a:spLocks/>
            </p:cNvSpPr>
            <p:nvPr/>
          </p:nvSpPr>
          <p:spPr bwMode="auto">
            <a:xfrm>
              <a:off x="3879" y="2725"/>
              <a:ext cx="432" cy="1"/>
            </a:xfrm>
            <a:custGeom>
              <a:avLst/>
              <a:gdLst>
                <a:gd name="T0" fmla="*/ 0 w 432"/>
                <a:gd name="T1" fmla="*/ 0 h 1"/>
                <a:gd name="T2" fmla="*/ 432 w 432"/>
                <a:gd name="T3" fmla="*/ 0 h 1"/>
                <a:gd name="T4" fmla="*/ 0 60000 65536"/>
                <a:gd name="T5" fmla="*/ 0 60000 65536"/>
                <a:gd name="T6" fmla="*/ 0 w 432"/>
                <a:gd name="T7" fmla="*/ 0 h 1"/>
                <a:gd name="T8" fmla="*/ 432 w 432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32" h="1">
                  <a:moveTo>
                    <a:pt x="0" y="0"/>
                  </a:moveTo>
                  <a:cubicBezTo>
                    <a:pt x="0" y="0"/>
                    <a:pt x="216" y="0"/>
                    <a:pt x="432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2322" name="Freeform 30"/>
            <p:cNvSpPr>
              <a:spLocks/>
            </p:cNvSpPr>
            <p:nvPr/>
          </p:nvSpPr>
          <p:spPr bwMode="auto">
            <a:xfrm>
              <a:off x="4599" y="2341"/>
              <a:ext cx="480" cy="384"/>
            </a:xfrm>
            <a:custGeom>
              <a:avLst/>
              <a:gdLst>
                <a:gd name="T0" fmla="*/ 0 w 480"/>
                <a:gd name="T1" fmla="*/ 384 h 384"/>
                <a:gd name="T2" fmla="*/ 48 w 480"/>
                <a:gd name="T3" fmla="*/ 336 h 384"/>
                <a:gd name="T4" fmla="*/ 240 w 480"/>
                <a:gd name="T5" fmla="*/ 96 h 384"/>
                <a:gd name="T6" fmla="*/ 480 w 480"/>
                <a:gd name="T7" fmla="*/ 0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0"/>
                <a:gd name="T13" fmla="*/ 0 h 384"/>
                <a:gd name="T14" fmla="*/ 480 w 480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0" h="384">
                  <a:moveTo>
                    <a:pt x="0" y="384"/>
                  </a:moveTo>
                  <a:cubicBezTo>
                    <a:pt x="4" y="384"/>
                    <a:pt x="8" y="384"/>
                    <a:pt x="48" y="336"/>
                  </a:cubicBezTo>
                  <a:cubicBezTo>
                    <a:pt x="88" y="288"/>
                    <a:pt x="168" y="152"/>
                    <a:pt x="240" y="96"/>
                  </a:cubicBezTo>
                  <a:cubicBezTo>
                    <a:pt x="312" y="40"/>
                    <a:pt x="396" y="20"/>
                    <a:pt x="480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2323" name="Freeform 31"/>
            <p:cNvSpPr>
              <a:spLocks/>
            </p:cNvSpPr>
            <p:nvPr/>
          </p:nvSpPr>
          <p:spPr bwMode="auto">
            <a:xfrm>
              <a:off x="3879" y="2928"/>
              <a:ext cx="432" cy="192"/>
            </a:xfrm>
            <a:custGeom>
              <a:avLst/>
              <a:gdLst>
                <a:gd name="T0" fmla="*/ 0 w 432"/>
                <a:gd name="T1" fmla="*/ 0 h 192"/>
                <a:gd name="T2" fmla="*/ 144 w 432"/>
                <a:gd name="T3" fmla="*/ 48 h 192"/>
                <a:gd name="T4" fmla="*/ 288 w 432"/>
                <a:gd name="T5" fmla="*/ 144 h 192"/>
                <a:gd name="T6" fmla="*/ 432 w 432"/>
                <a:gd name="T7" fmla="*/ 192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32"/>
                <a:gd name="T13" fmla="*/ 0 h 192"/>
                <a:gd name="T14" fmla="*/ 432 w 432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32" h="192">
                  <a:moveTo>
                    <a:pt x="0" y="0"/>
                  </a:moveTo>
                  <a:cubicBezTo>
                    <a:pt x="48" y="12"/>
                    <a:pt x="96" y="24"/>
                    <a:pt x="144" y="48"/>
                  </a:cubicBezTo>
                  <a:cubicBezTo>
                    <a:pt x="192" y="72"/>
                    <a:pt x="240" y="120"/>
                    <a:pt x="288" y="144"/>
                  </a:cubicBezTo>
                  <a:cubicBezTo>
                    <a:pt x="336" y="168"/>
                    <a:pt x="384" y="180"/>
                    <a:pt x="432" y="19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2324" name="Freeform 32"/>
            <p:cNvSpPr>
              <a:spLocks/>
            </p:cNvSpPr>
            <p:nvPr/>
          </p:nvSpPr>
          <p:spPr bwMode="auto">
            <a:xfrm>
              <a:off x="3888" y="3072"/>
              <a:ext cx="720" cy="384"/>
            </a:xfrm>
            <a:custGeom>
              <a:avLst/>
              <a:gdLst>
                <a:gd name="T0" fmla="*/ 0 w 720"/>
                <a:gd name="T1" fmla="*/ 0 h 384"/>
                <a:gd name="T2" fmla="*/ 240 w 720"/>
                <a:gd name="T3" fmla="*/ 48 h 384"/>
                <a:gd name="T4" fmla="*/ 528 w 720"/>
                <a:gd name="T5" fmla="*/ 288 h 384"/>
                <a:gd name="T6" fmla="*/ 720 w 720"/>
                <a:gd name="T7" fmla="*/ 384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20"/>
                <a:gd name="T13" fmla="*/ 0 h 384"/>
                <a:gd name="T14" fmla="*/ 720 w 720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20" h="384">
                  <a:moveTo>
                    <a:pt x="0" y="0"/>
                  </a:moveTo>
                  <a:cubicBezTo>
                    <a:pt x="76" y="0"/>
                    <a:pt x="152" y="0"/>
                    <a:pt x="240" y="48"/>
                  </a:cubicBezTo>
                  <a:cubicBezTo>
                    <a:pt x="328" y="96"/>
                    <a:pt x="448" y="232"/>
                    <a:pt x="528" y="288"/>
                  </a:cubicBezTo>
                  <a:cubicBezTo>
                    <a:pt x="608" y="344"/>
                    <a:pt x="664" y="364"/>
                    <a:pt x="720" y="384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2325" name="Freeform 33"/>
            <p:cNvSpPr>
              <a:spLocks/>
            </p:cNvSpPr>
            <p:nvPr/>
          </p:nvSpPr>
          <p:spPr bwMode="auto">
            <a:xfrm>
              <a:off x="4848" y="2832"/>
              <a:ext cx="56" cy="672"/>
            </a:xfrm>
            <a:custGeom>
              <a:avLst/>
              <a:gdLst>
                <a:gd name="T0" fmla="*/ 0 w 56"/>
                <a:gd name="T1" fmla="*/ 672 h 672"/>
                <a:gd name="T2" fmla="*/ 48 w 56"/>
                <a:gd name="T3" fmla="*/ 432 h 672"/>
                <a:gd name="T4" fmla="*/ 48 w 56"/>
                <a:gd name="T5" fmla="*/ 0 h 672"/>
                <a:gd name="T6" fmla="*/ 0 60000 65536"/>
                <a:gd name="T7" fmla="*/ 0 60000 65536"/>
                <a:gd name="T8" fmla="*/ 0 60000 65536"/>
                <a:gd name="T9" fmla="*/ 0 w 56"/>
                <a:gd name="T10" fmla="*/ 0 h 672"/>
                <a:gd name="T11" fmla="*/ 56 w 56"/>
                <a:gd name="T12" fmla="*/ 672 h 6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" h="672">
                  <a:moveTo>
                    <a:pt x="0" y="672"/>
                  </a:moveTo>
                  <a:cubicBezTo>
                    <a:pt x="20" y="608"/>
                    <a:pt x="40" y="544"/>
                    <a:pt x="48" y="432"/>
                  </a:cubicBezTo>
                  <a:cubicBezTo>
                    <a:pt x="56" y="320"/>
                    <a:pt x="52" y="160"/>
                    <a:pt x="48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2326" name="Line 34"/>
            <p:cNvSpPr>
              <a:spLocks noChangeShapeType="1"/>
            </p:cNvSpPr>
            <p:nvPr/>
          </p:nvSpPr>
          <p:spPr bwMode="auto">
            <a:xfrm>
              <a:off x="4983" y="2725"/>
              <a:ext cx="96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27" name="Freeform 35"/>
            <p:cNvSpPr>
              <a:spLocks/>
            </p:cNvSpPr>
            <p:nvPr/>
          </p:nvSpPr>
          <p:spPr bwMode="auto">
            <a:xfrm>
              <a:off x="3888" y="3264"/>
              <a:ext cx="288" cy="240"/>
            </a:xfrm>
            <a:custGeom>
              <a:avLst/>
              <a:gdLst>
                <a:gd name="T0" fmla="*/ 0 w 288"/>
                <a:gd name="T1" fmla="*/ 0 h 240"/>
                <a:gd name="T2" fmla="*/ 144 w 288"/>
                <a:gd name="T3" fmla="*/ 48 h 240"/>
                <a:gd name="T4" fmla="*/ 192 w 288"/>
                <a:gd name="T5" fmla="*/ 192 h 240"/>
                <a:gd name="T6" fmla="*/ 288 w 288"/>
                <a:gd name="T7" fmla="*/ 24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240"/>
                <a:gd name="T14" fmla="*/ 288 w 288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240">
                  <a:moveTo>
                    <a:pt x="0" y="0"/>
                  </a:moveTo>
                  <a:cubicBezTo>
                    <a:pt x="56" y="8"/>
                    <a:pt x="112" y="16"/>
                    <a:pt x="144" y="48"/>
                  </a:cubicBezTo>
                  <a:cubicBezTo>
                    <a:pt x="176" y="80"/>
                    <a:pt x="168" y="160"/>
                    <a:pt x="192" y="192"/>
                  </a:cubicBezTo>
                  <a:cubicBezTo>
                    <a:pt x="216" y="224"/>
                    <a:pt x="252" y="232"/>
                    <a:pt x="288" y="24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2328" name="Freeform 36"/>
            <p:cNvSpPr>
              <a:spLocks/>
            </p:cNvSpPr>
            <p:nvPr/>
          </p:nvSpPr>
          <p:spPr bwMode="auto">
            <a:xfrm>
              <a:off x="4464" y="3504"/>
              <a:ext cx="96" cy="384"/>
            </a:xfrm>
            <a:custGeom>
              <a:avLst/>
              <a:gdLst>
                <a:gd name="T0" fmla="*/ 0 w 96"/>
                <a:gd name="T1" fmla="*/ 0 h 384"/>
                <a:gd name="T2" fmla="*/ 48 w 96"/>
                <a:gd name="T3" fmla="*/ 96 h 384"/>
                <a:gd name="T4" fmla="*/ 48 w 96"/>
                <a:gd name="T5" fmla="*/ 288 h 384"/>
                <a:gd name="T6" fmla="*/ 96 w 96"/>
                <a:gd name="T7" fmla="*/ 384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"/>
                <a:gd name="T13" fmla="*/ 0 h 384"/>
                <a:gd name="T14" fmla="*/ 96 w 96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" h="384">
                  <a:moveTo>
                    <a:pt x="0" y="0"/>
                  </a:moveTo>
                  <a:cubicBezTo>
                    <a:pt x="20" y="24"/>
                    <a:pt x="40" y="48"/>
                    <a:pt x="48" y="96"/>
                  </a:cubicBezTo>
                  <a:cubicBezTo>
                    <a:pt x="56" y="144"/>
                    <a:pt x="40" y="240"/>
                    <a:pt x="48" y="288"/>
                  </a:cubicBezTo>
                  <a:cubicBezTo>
                    <a:pt x="56" y="336"/>
                    <a:pt x="76" y="360"/>
                    <a:pt x="96" y="384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2329" name="Freeform 37"/>
            <p:cNvSpPr>
              <a:spLocks/>
            </p:cNvSpPr>
            <p:nvPr/>
          </p:nvSpPr>
          <p:spPr bwMode="auto">
            <a:xfrm>
              <a:off x="3888" y="3456"/>
              <a:ext cx="288" cy="432"/>
            </a:xfrm>
            <a:custGeom>
              <a:avLst/>
              <a:gdLst>
                <a:gd name="T0" fmla="*/ 0 w 288"/>
                <a:gd name="T1" fmla="*/ 0 h 432"/>
                <a:gd name="T2" fmla="*/ 96 w 288"/>
                <a:gd name="T3" fmla="*/ 144 h 432"/>
                <a:gd name="T4" fmla="*/ 144 w 288"/>
                <a:gd name="T5" fmla="*/ 336 h 432"/>
                <a:gd name="T6" fmla="*/ 288 w 288"/>
                <a:gd name="T7" fmla="*/ 432 h 4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432"/>
                <a:gd name="T14" fmla="*/ 288 w 288"/>
                <a:gd name="T15" fmla="*/ 432 h 4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432">
                  <a:moveTo>
                    <a:pt x="0" y="0"/>
                  </a:moveTo>
                  <a:cubicBezTo>
                    <a:pt x="36" y="44"/>
                    <a:pt x="72" y="88"/>
                    <a:pt x="96" y="144"/>
                  </a:cubicBezTo>
                  <a:cubicBezTo>
                    <a:pt x="120" y="200"/>
                    <a:pt x="112" y="288"/>
                    <a:pt x="144" y="336"/>
                  </a:cubicBezTo>
                  <a:cubicBezTo>
                    <a:pt x="176" y="384"/>
                    <a:pt x="232" y="408"/>
                    <a:pt x="288" y="43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2330" name="Freeform 38"/>
            <p:cNvSpPr>
              <a:spLocks/>
            </p:cNvSpPr>
            <p:nvPr/>
          </p:nvSpPr>
          <p:spPr bwMode="auto">
            <a:xfrm>
              <a:off x="4464" y="3216"/>
              <a:ext cx="768" cy="672"/>
            </a:xfrm>
            <a:custGeom>
              <a:avLst/>
              <a:gdLst>
                <a:gd name="T0" fmla="*/ 0 w 768"/>
                <a:gd name="T1" fmla="*/ 672 h 672"/>
                <a:gd name="T2" fmla="*/ 96 w 768"/>
                <a:gd name="T3" fmla="*/ 528 h 672"/>
                <a:gd name="T4" fmla="*/ 528 w 768"/>
                <a:gd name="T5" fmla="*/ 384 h 672"/>
                <a:gd name="T6" fmla="*/ 768 w 768"/>
                <a:gd name="T7" fmla="*/ 0 h 6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8"/>
                <a:gd name="T13" fmla="*/ 0 h 672"/>
                <a:gd name="T14" fmla="*/ 768 w 768"/>
                <a:gd name="T15" fmla="*/ 672 h 6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8" h="672">
                  <a:moveTo>
                    <a:pt x="0" y="672"/>
                  </a:moveTo>
                  <a:cubicBezTo>
                    <a:pt x="4" y="624"/>
                    <a:pt x="8" y="576"/>
                    <a:pt x="96" y="528"/>
                  </a:cubicBezTo>
                  <a:cubicBezTo>
                    <a:pt x="184" y="480"/>
                    <a:pt x="416" y="472"/>
                    <a:pt x="528" y="384"/>
                  </a:cubicBezTo>
                  <a:cubicBezTo>
                    <a:pt x="640" y="296"/>
                    <a:pt x="704" y="148"/>
                    <a:pt x="768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12292" name="Text Box 39"/>
          <p:cNvSpPr txBox="1">
            <a:spLocks noChangeArrowheads="1"/>
          </p:cNvSpPr>
          <p:nvPr/>
        </p:nvSpPr>
        <p:spPr bwMode="auto">
          <a:xfrm>
            <a:off x="6705600" y="2362200"/>
            <a:ext cx="20970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lnSpc>
                <a:spcPct val="60000"/>
              </a:lnSpc>
              <a:spcBef>
                <a:spcPct val="50000"/>
              </a:spcBef>
            </a:pPr>
            <a:r>
              <a:rPr lang="en-US" altLang="zh-CN" sz="2000" b="1" i="1">
                <a:ea typeface="宋体" panose="02010600030101010101" pitchFamily="2" charset="-122"/>
              </a:rPr>
              <a:t>min_support = 3</a:t>
            </a:r>
            <a:endParaRPr lang="en-US" altLang="zh-CN" sz="2400" b="1" u="sng">
              <a:ea typeface="宋体" panose="02010600030101010101" pitchFamily="2" charset="-122"/>
            </a:endParaRPr>
          </a:p>
        </p:txBody>
      </p:sp>
      <p:sp>
        <p:nvSpPr>
          <p:cNvPr id="12293" name="Rectangle 40"/>
          <p:cNvSpPr>
            <a:spLocks noChangeArrowheads="1"/>
          </p:cNvSpPr>
          <p:nvPr/>
        </p:nvSpPr>
        <p:spPr bwMode="auto">
          <a:xfrm>
            <a:off x="914400" y="1676400"/>
            <a:ext cx="5956300" cy="158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lnSpc>
                <a:spcPct val="40000"/>
              </a:lnSpc>
              <a:spcBef>
                <a:spcPct val="50000"/>
              </a:spcBef>
            </a:pPr>
            <a:r>
              <a:rPr lang="en-US" altLang="zh-CN" sz="2000" b="1" i="1" u="sng">
                <a:ea typeface="宋体" panose="02010600030101010101" pitchFamily="2" charset="-122"/>
              </a:rPr>
              <a:t>TID		Items bought	  (ordered) frequent items</a:t>
            </a:r>
          </a:p>
          <a:p>
            <a:pPr algn="l">
              <a:lnSpc>
                <a:spcPct val="40000"/>
              </a:lnSpc>
              <a:spcBef>
                <a:spcPct val="50000"/>
              </a:spcBef>
            </a:pPr>
            <a:r>
              <a:rPr lang="en-US" altLang="zh-CN" sz="2000" b="1">
                <a:ea typeface="宋体" panose="02010600030101010101" pitchFamily="2" charset="-122"/>
              </a:rPr>
              <a:t>100		{</a:t>
            </a:r>
            <a:r>
              <a:rPr lang="en-US" altLang="zh-CN" sz="2000" b="1" i="1">
                <a:ea typeface="宋体" panose="02010600030101010101" pitchFamily="2" charset="-122"/>
              </a:rPr>
              <a:t>f, a, c, d, g, i, m, p</a:t>
            </a:r>
            <a:r>
              <a:rPr lang="en-US" altLang="zh-CN" sz="2000" b="1">
                <a:ea typeface="宋体" panose="02010600030101010101" pitchFamily="2" charset="-122"/>
              </a:rPr>
              <a:t>}</a:t>
            </a:r>
            <a:r>
              <a:rPr lang="en-US" altLang="zh-CN" sz="2000" b="1" i="1">
                <a:ea typeface="宋体" panose="02010600030101010101" pitchFamily="2" charset="-122"/>
              </a:rPr>
              <a:t>	</a:t>
            </a:r>
            <a:r>
              <a:rPr lang="en-US" altLang="zh-CN" sz="2000" b="1">
                <a:ea typeface="宋体" panose="02010600030101010101" pitchFamily="2" charset="-122"/>
              </a:rPr>
              <a:t>{</a:t>
            </a:r>
            <a:r>
              <a:rPr lang="en-US" altLang="zh-CN" sz="2000" b="1" i="1">
                <a:ea typeface="宋体" panose="02010600030101010101" pitchFamily="2" charset="-122"/>
              </a:rPr>
              <a:t>f, c, a, m, p</a:t>
            </a:r>
            <a:r>
              <a:rPr lang="en-US" altLang="zh-CN" sz="2000" b="1">
                <a:ea typeface="宋体" panose="02010600030101010101" pitchFamily="2" charset="-122"/>
              </a:rPr>
              <a:t>}</a:t>
            </a:r>
          </a:p>
          <a:p>
            <a:pPr algn="l">
              <a:lnSpc>
                <a:spcPct val="40000"/>
              </a:lnSpc>
              <a:spcBef>
                <a:spcPct val="50000"/>
              </a:spcBef>
            </a:pPr>
            <a:r>
              <a:rPr lang="en-US" altLang="zh-CN" sz="2000" b="1">
                <a:ea typeface="宋体" panose="02010600030101010101" pitchFamily="2" charset="-122"/>
              </a:rPr>
              <a:t>200		{</a:t>
            </a:r>
            <a:r>
              <a:rPr lang="en-US" altLang="zh-CN" sz="2000" b="1" i="1">
                <a:ea typeface="宋体" panose="02010600030101010101" pitchFamily="2" charset="-122"/>
              </a:rPr>
              <a:t>a, b, c, f, l, m, o</a:t>
            </a:r>
            <a:r>
              <a:rPr lang="en-US" altLang="zh-CN" sz="2000" b="1">
                <a:ea typeface="宋体" panose="02010600030101010101" pitchFamily="2" charset="-122"/>
              </a:rPr>
              <a:t>}</a:t>
            </a:r>
            <a:r>
              <a:rPr lang="en-US" altLang="zh-CN" sz="2000" b="1" i="1">
                <a:ea typeface="宋体" panose="02010600030101010101" pitchFamily="2" charset="-122"/>
              </a:rPr>
              <a:t>		</a:t>
            </a:r>
            <a:r>
              <a:rPr lang="en-US" altLang="zh-CN" sz="2000" b="1">
                <a:ea typeface="宋体" panose="02010600030101010101" pitchFamily="2" charset="-122"/>
              </a:rPr>
              <a:t>{</a:t>
            </a:r>
            <a:r>
              <a:rPr lang="en-US" altLang="zh-CN" sz="2000" b="1" i="1">
                <a:ea typeface="宋体" panose="02010600030101010101" pitchFamily="2" charset="-122"/>
              </a:rPr>
              <a:t>f, c, a, b, m</a:t>
            </a:r>
            <a:r>
              <a:rPr lang="en-US" altLang="zh-CN" sz="2000" b="1">
                <a:ea typeface="宋体" panose="02010600030101010101" pitchFamily="2" charset="-122"/>
              </a:rPr>
              <a:t>}</a:t>
            </a:r>
          </a:p>
          <a:p>
            <a:pPr algn="l">
              <a:lnSpc>
                <a:spcPct val="40000"/>
              </a:lnSpc>
              <a:spcBef>
                <a:spcPct val="50000"/>
              </a:spcBef>
            </a:pPr>
            <a:r>
              <a:rPr lang="en-US" altLang="zh-CN" sz="2000" b="1">
                <a:ea typeface="宋体" panose="02010600030101010101" pitchFamily="2" charset="-122"/>
              </a:rPr>
              <a:t>300	</a:t>
            </a:r>
            <a:r>
              <a:rPr lang="en-US" altLang="zh-CN" sz="2000" b="1" i="1">
                <a:ea typeface="宋体" panose="02010600030101010101" pitchFamily="2" charset="-122"/>
              </a:rPr>
              <a:t> 	</a:t>
            </a:r>
            <a:r>
              <a:rPr lang="en-US" altLang="zh-CN" sz="2000" b="1">
                <a:ea typeface="宋体" panose="02010600030101010101" pitchFamily="2" charset="-122"/>
              </a:rPr>
              <a:t>{</a:t>
            </a:r>
            <a:r>
              <a:rPr lang="en-US" altLang="zh-CN" sz="2000" b="1" i="1">
                <a:ea typeface="宋体" panose="02010600030101010101" pitchFamily="2" charset="-122"/>
              </a:rPr>
              <a:t>b, f, h, j, o, w</a:t>
            </a:r>
            <a:r>
              <a:rPr lang="en-US" altLang="zh-CN" sz="2000" b="1">
                <a:ea typeface="宋体" panose="02010600030101010101" pitchFamily="2" charset="-122"/>
              </a:rPr>
              <a:t>}</a:t>
            </a:r>
            <a:r>
              <a:rPr lang="en-US" altLang="zh-CN" sz="2000" b="1" i="1">
                <a:ea typeface="宋体" panose="02010600030101010101" pitchFamily="2" charset="-122"/>
              </a:rPr>
              <a:t>		</a:t>
            </a:r>
            <a:r>
              <a:rPr lang="en-US" altLang="zh-CN" sz="2000" b="1">
                <a:ea typeface="宋体" panose="02010600030101010101" pitchFamily="2" charset="-122"/>
              </a:rPr>
              <a:t>{</a:t>
            </a:r>
            <a:r>
              <a:rPr lang="en-US" altLang="zh-CN" sz="2000" b="1" i="1">
                <a:ea typeface="宋体" panose="02010600030101010101" pitchFamily="2" charset="-122"/>
              </a:rPr>
              <a:t>f, b</a:t>
            </a:r>
            <a:r>
              <a:rPr lang="en-US" altLang="zh-CN" sz="2000" b="1">
                <a:ea typeface="宋体" panose="02010600030101010101" pitchFamily="2" charset="-122"/>
              </a:rPr>
              <a:t>}</a:t>
            </a:r>
          </a:p>
          <a:p>
            <a:pPr algn="l">
              <a:lnSpc>
                <a:spcPct val="40000"/>
              </a:lnSpc>
              <a:spcBef>
                <a:spcPct val="50000"/>
              </a:spcBef>
            </a:pPr>
            <a:r>
              <a:rPr lang="en-US" altLang="zh-CN" sz="2000" b="1">
                <a:ea typeface="宋体" panose="02010600030101010101" pitchFamily="2" charset="-122"/>
              </a:rPr>
              <a:t>400	</a:t>
            </a:r>
            <a:r>
              <a:rPr lang="en-US" altLang="zh-CN" sz="2000" b="1" i="1">
                <a:ea typeface="宋体" panose="02010600030101010101" pitchFamily="2" charset="-122"/>
              </a:rPr>
              <a:t> 	</a:t>
            </a:r>
            <a:r>
              <a:rPr lang="en-US" altLang="zh-CN" sz="2000" b="1">
                <a:ea typeface="宋体" panose="02010600030101010101" pitchFamily="2" charset="-122"/>
              </a:rPr>
              <a:t>{</a:t>
            </a:r>
            <a:r>
              <a:rPr lang="en-US" altLang="zh-CN" sz="2000" b="1" i="1">
                <a:ea typeface="宋体" panose="02010600030101010101" pitchFamily="2" charset="-122"/>
              </a:rPr>
              <a:t>b, c, k, s, p</a:t>
            </a:r>
            <a:r>
              <a:rPr lang="en-US" altLang="zh-CN" sz="2000" b="1">
                <a:ea typeface="宋体" panose="02010600030101010101" pitchFamily="2" charset="-122"/>
              </a:rPr>
              <a:t>}</a:t>
            </a:r>
            <a:r>
              <a:rPr lang="en-US" altLang="zh-CN" sz="2000" b="1" i="1">
                <a:ea typeface="宋体" panose="02010600030101010101" pitchFamily="2" charset="-122"/>
              </a:rPr>
              <a:t>		</a:t>
            </a:r>
            <a:r>
              <a:rPr lang="en-US" altLang="zh-CN" sz="2000" b="1">
                <a:ea typeface="宋体" panose="02010600030101010101" pitchFamily="2" charset="-122"/>
              </a:rPr>
              <a:t>{</a:t>
            </a:r>
            <a:r>
              <a:rPr lang="en-US" altLang="zh-CN" sz="2000" b="1" i="1">
                <a:ea typeface="宋体" panose="02010600030101010101" pitchFamily="2" charset="-122"/>
              </a:rPr>
              <a:t>c, b, p</a:t>
            </a:r>
            <a:r>
              <a:rPr lang="en-US" altLang="zh-CN" sz="2000" b="1">
                <a:ea typeface="宋体" panose="02010600030101010101" pitchFamily="2" charset="-122"/>
              </a:rPr>
              <a:t>}</a:t>
            </a:r>
          </a:p>
          <a:p>
            <a:pPr algn="l">
              <a:lnSpc>
                <a:spcPct val="40000"/>
              </a:lnSpc>
              <a:spcBef>
                <a:spcPct val="50000"/>
              </a:spcBef>
            </a:pPr>
            <a:r>
              <a:rPr lang="en-US" altLang="zh-CN" sz="2000" b="1">
                <a:ea typeface="宋体" panose="02010600030101010101" pitchFamily="2" charset="-122"/>
              </a:rPr>
              <a:t>500</a:t>
            </a:r>
            <a:r>
              <a:rPr lang="en-US" altLang="zh-CN" sz="2000" b="1" i="1">
                <a:ea typeface="宋体" panose="02010600030101010101" pitchFamily="2" charset="-122"/>
              </a:rPr>
              <a:t>	 	</a:t>
            </a:r>
            <a:r>
              <a:rPr lang="en-US" altLang="zh-CN" sz="2000" b="1">
                <a:ea typeface="宋体" panose="02010600030101010101" pitchFamily="2" charset="-122"/>
              </a:rPr>
              <a:t>{</a:t>
            </a:r>
            <a:r>
              <a:rPr lang="en-US" altLang="zh-CN" sz="2000" b="1" i="1">
                <a:ea typeface="宋体" panose="02010600030101010101" pitchFamily="2" charset="-122"/>
              </a:rPr>
              <a:t>a, f, c, e, l, p, m, n</a:t>
            </a:r>
            <a:r>
              <a:rPr lang="en-US" altLang="zh-CN" sz="2000" b="1">
                <a:ea typeface="宋体" panose="02010600030101010101" pitchFamily="2" charset="-122"/>
              </a:rPr>
              <a:t>}</a:t>
            </a:r>
            <a:r>
              <a:rPr lang="en-US" altLang="zh-CN" sz="2000" b="1" i="1">
                <a:ea typeface="宋体" panose="02010600030101010101" pitchFamily="2" charset="-122"/>
              </a:rPr>
              <a:t>	</a:t>
            </a:r>
            <a:r>
              <a:rPr lang="en-US" altLang="zh-CN" sz="2000" b="1">
                <a:ea typeface="宋体" panose="02010600030101010101" pitchFamily="2" charset="-122"/>
              </a:rPr>
              <a:t>{</a:t>
            </a:r>
            <a:r>
              <a:rPr lang="en-US" altLang="zh-CN" sz="2000" b="1" i="1">
                <a:ea typeface="宋体" panose="02010600030101010101" pitchFamily="2" charset="-122"/>
              </a:rPr>
              <a:t>f, c, a, m, p</a:t>
            </a:r>
            <a:r>
              <a:rPr lang="en-US" altLang="zh-CN" sz="2000" b="1"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12294" name="Text Box 41"/>
          <p:cNvSpPr txBox="1">
            <a:spLocks noChangeArrowheads="1"/>
          </p:cNvSpPr>
          <p:nvPr/>
        </p:nvSpPr>
        <p:spPr bwMode="auto">
          <a:xfrm>
            <a:off x="304800" y="3429000"/>
            <a:ext cx="3810000" cy="223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  <a:buFontTx/>
              <a:buAutoNum type="arabicPeriod"/>
            </a:pPr>
            <a:r>
              <a:rPr lang="zh-CN" altLang="en-US" sz="2400">
                <a:latin typeface="Tahoma" panose="020B0604030504040204" pitchFamily="34" charset="0"/>
                <a:ea typeface="宋体" panose="02010600030101010101" pitchFamily="2" charset="-122"/>
              </a:rPr>
              <a:t>扫描数据库一遍，找到所有的频繁项目</a:t>
            </a:r>
            <a:endParaRPr lang="en-US" altLang="zh-CN" sz="240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algn="l" eaLnBrk="1" hangingPunct="1">
              <a:lnSpc>
                <a:spcPct val="80000"/>
              </a:lnSpc>
              <a:spcBef>
                <a:spcPct val="50000"/>
              </a:spcBef>
              <a:buFontTx/>
              <a:buAutoNum type="arabicPeriod"/>
            </a:pPr>
            <a:r>
              <a:rPr lang="zh-CN" altLang="en-US" sz="2400">
                <a:latin typeface="Tahoma" panose="020B0604030504040204" pitchFamily="34" charset="0"/>
                <a:ea typeface="宋体" panose="02010600030101010101" pitchFamily="2" charset="-122"/>
              </a:rPr>
              <a:t>将频繁项目按照降序排列，生成一个</a:t>
            </a:r>
            <a:r>
              <a:rPr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f-list</a:t>
            </a:r>
          </a:p>
          <a:p>
            <a:pPr algn="l" eaLnBrk="1" hangingPunct="1">
              <a:lnSpc>
                <a:spcPct val="80000"/>
              </a:lnSpc>
              <a:spcBef>
                <a:spcPct val="50000"/>
              </a:spcBef>
              <a:buFontTx/>
              <a:buAutoNum type="arabicPeriod"/>
            </a:pPr>
            <a:r>
              <a:rPr lang="zh-CN" altLang="en-US" sz="2400">
                <a:latin typeface="Tahoma" panose="020B0604030504040204" pitchFamily="34" charset="0"/>
                <a:ea typeface="宋体" panose="02010600030101010101" pitchFamily="2" charset="-122"/>
              </a:rPr>
              <a:t>再扫描数据库一遍，构造</a:t>
            </a:r>
            <a:r>
              <a:rPr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FP-Tree</a:t>
            </a:r>
          </a:p>
        </p:txBody>
      </p:sp>
      <p:sp>
        <p:nvSpPr>
          <p:cNvPr id="12295" name="Text Box 42"/>
          <p:cNvSpPr txBox="1">
            <a:spLocks noChangeArrowheads="1"/>
          </p:cNvSpPr>
          <p:nvPr/>
        </p:nvSpPr>
        <p:spPr bwMode="auto">
          <a:xfrm>
            <a:off x="3565525" y="6129338"/>
            <a:ext cx="2600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4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F-list</a:t>
            </a:r>
            <a:r>
              <a:rPr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=f-c-a-b-m-p</a:t>
            </a:r>
          </a:p>
        </p:txBody>
      </p:sp>
    </p:spTree>
  </p:cSld>
  <p:clrMapOvr>
    <a:masterClrMapping/>
  </p:clrMapOvr>
  <p:transition spd="med"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52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534400" cy="6858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zh-CN" altLang="en-US" sz="2800" dirty="0">
                <a:ea typeface="宋体" pitchFamily="2" charset="-122"/>
              </a:rPr>
              <a:t>条件模式基</a:t>
            </a:r>
            <a:endParaRPr lang="en-US" altLang="zh-CN" sz="2800" dirty="0">
              <a:ea typeface="宋体" pitchFamily="2" charset="-122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500188"/>
            <a:ext cx="8382000" cy="1433512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2100">
                <a:ea typeface="宋体" panose="02010600030101010101" pitchFamily="2" charset="-122"/>
              </a:rPr>
              <a:t>对所有的频繁项目，找到每一个项目在</a:t>
            </a:r>
            <a:r>
              <a:rPr lang="en-US" altLang="zh-CN" sz="2100">
                <a:ea typeface="宋体" panose="02010600030101010101" pitchFamily="2" charset="-122"/>
              </a:rPr>
              <a:t>FP-Tree</a:t>
            </a:r>
            <a:r>
              <a:rPr lang="zh-CN" altLang="en-US" sz="2100">
                <a:ea typeface="宋体" panose="02010600030101010101" pitchFamily="2" charset="-122"/>
              </a:rPr>
              <a:t>的所有前缀，构成每个项目的条件模式基（类似于条件或投影数据库，但去掉了部分不频繁的项目，如</a:t>
            </a:r>
            <a:r>
              <a:rPr lang="en-US" altLang="zh-CN" sz="2100">
                <a:ea typeface="宋体" panose="02010600030101010101" pitchFamily="2" charset="-122"/>
              </a:rPr>
              <a:t>g</a:t>
            </a:r>
            <a:r>
              <a:rPr lang="zh-CN" altLang="en-US" sz="2100">
                <a:ea typeface="宋体" panose="02010600030101010101" pitchFamily="2" charset="-122"/>
              </a:rPr>
              <a:t>，</a:t>
            </a:r>
            <a:r>
              <a:rPr lang="en-US" altLang="zh-CN" sz="2100">
                <a:ea typeface="宋体" panose="02010600030101010101" pitchFamily="2" charset="-122"/>
              </a:rPr>
              <a:t>i</a:t>
            </a:r>
            <a:r>
              <a:rPr lang="zh-CN" altLang="en-US" sz="2100">
                <a:ea typeface="宋体" panose="02010600030101010101" pitchFamily="2" charset="-122"/>
              </a:rPr>
              <a:t>等）</a:t>
            </a:r>
            <a:endParaRPr lang="en-US" altLang="zh-CN" sz="2100">
              <a:ea typeface="宋体" panose="02010600030101010101" pitchFamily="2" charset="-122"/>
            </a:endParaRPr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5461000" y="3667125"/>
            <a:ext cx="33274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zh-CN" sz="2000" b="1" i="1">
                <a:ea typeface="宋体" panose="02010600030101010101" pitchFamily="2" charset="-122"/>
              </a:rPr>
              <a:t>Conditional </a:t>
            </a:r>
            <a:r>
              <a:rPr lang="en-US" altLang="zh-CN" sz="2000" b="1">
                <a:ea typeface="宋体" panose="02010600030101010101" pitchFamily="2" charset="-122"/>
              </a:rPr>
              <a:t>pattern bases</a:t>
            </a:r>
          </a:p>
          <a:p>
            <a:pPr algn="l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i="1" u="sng">
                <a:ea typeface="宋体" panose="02010600030101010101" pitchFamily="2" charset="-122"/>
              </a:rPr>
              <a:t>item	cond. pattern base</a:t>
            </a:r>
          </a:p>
          <a:p>
            <a:pPr algn="l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i="1">
                <a:ea typeface="宋体" panose="02010600030101010101" pitchFamily="2" charset="-122"/>
              </a:rPr>
              <a:t>f</a:t>
            </a:r>
          </a:p>
          <a:p>
            <a:pPr algn="l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i="1">
                <a:ea typeface="宋体" panose="02010600030101010101" pitchFamily="2" charset="-122"/>
              </a:rPr>
              <a:t>c	f:3</a:t>
            </a:r>
          </a:p>
          <a:p>
            <a:pPr algn="l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i="1">
                <a:ea typeface="宋体" panose="02010600030101010101" pitchFamily="2" charset="-122"/>
              </a:rPr>
              <a:t>a	fc:3</a:t>
            </a:r>
          </a:p>
          <a:p>
            <a:pPr algn="l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i="1">
                <a:ea typeface="宋体" panose="02010600030101010101" pitchFamily="2" charset="-122"/>
              </a:rPr>
              <a:t>b	fca:1, f:1, c:1</a:t>
            </a:r>
          </a:p>
          <a:p>
            <a:pPr algn="l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i="1">
                <a:ea typeface="宋体" panose="02010600030101010101" pitchFamily="2" charset="-122"/>
              </a:rPr>
              <a:t>m	fca:2, fcab:1</a:t>
            </a:r>
          </a:p>
          <a:p>
            <a:pPr algn="l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i="1">
                <a:ea typeface="宋体" panose="02010600030101010101" pitchFamily="2" charset="-122"/>
              </a:rPr>
              <a:t>p	fcam:2, cb:1</a:t>
            </a:r>
          </a:p>
        </p:txBody>
      </p:sp>
      <p:grpSp>
        <p:nvGrpSpPr>
          <p:cNvPr id="13317" name="Group 5"/>
          <p:cNvGrpSpPr>
            <a:grpSpLocks/>
          </p:cNvGrpSpPr>
          <p:nvPr/>
        </p:nvGrpSpPr>
        <p:grpSpPr bwMode="auto">
          <a:xfrm>
            <a:off x="304800" y="3048000"/>
            <a:ext cx="4637088" cy="3525838"/>
            <a:chOff x="2496" y="1772"/>
            <a:chExt cx="2921" cy="2226"/>
          </a:xfrm>
        </p:grpSpPr>
        <p:sp>
          <p:nvSpPr>
            <p:cNvPr id="13318" name="Text Box 6"/>
            <p:cNvSpPr txBox="1">
              <a:spLocks noChangeArrowheads="1"/>
            </p:cNvSpPr>
            <p:nvPr/>
          </p:nvSpPr>
          <p:spPr bwMode="auto">
            <a:xfrm>
              <a:off x="4796" y="1772"/>
              <a:ext cx="278" cy="259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zh-CN" altLang="en-US" sz="2000">
                  <a:ea typeface="宋体" panose="02010600030101010101" pitchFamily="2" charset="-122"/>
                </a:rPr>
                <a:t>{}</a:t>
              </a:r>
            </a:p>
          </p:txBody>
        </p:sp>
        <p:sp>
          <p:nvSpPr>
            <p:cNvPr id="13319" name="Text Box 7"/>
            <p:cNvSpPr txBox="1">
              <a:spLocks noChangeArrowheads="1"/>
            </p:cNvSpPr>
            <p:nvPr/>
          </p:nvSpPr>
          <p:spPr bwMode="auto">
            <a:xfrm>
              <a:off x="4508" y="2205"/>
              <a:ext cx="301" cy="259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2000" i="1">
                  <a:ea typeface="宋体" panose="02010600030101010101" pitchFamily="2" charset="-122"/>
                </a:rPr>
                <a:t>f:4</a:t>
              </a:r>
            </a:p>
          </p:txBody>
        </p:sp>
        <p:sp>
          <p:nvSpPr>
            <p:cNvPr id="13320" name="Text Box 8"/>
            <p:cNvSpPr txBox="1">
              <a:spLocks noChangeArrowheads="1"/>
            </p:cNvSpPr>
            <p:nvPr/>
          </p:nvSpPr>
          <p:spPr bwMode="auto">
            <a:xfrm>
              <a:off x="5084" y="2205"/>
              <a:ext cx="328" cy="259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2000" i="1">
                  <a:ea typeface="宋体" panose="02010600030101010101" pitchFamily="2" charset="-122"/>
                </a:rPr>
                <a:t>c:1</a:t>
              </a:r>
            </a:p>
          </p:txBody>
        </p:sp>
        <p:sp>
          <p:nvSpPr>
            <p:cNvPr id="13321" name="Text Box 9"/>
            <p:cNvSpPr txBox="1">
              <a:spLocks noChangeArrowheads="1"/>
            </p:cNvSpPr>
            <p:nvPr/>
          </p:nvSpPr>
          <p:spPr bwMode="auto">
            <a:xfrm>
              <a:off x="5080" y="2588"/>
              <a:ext cx="337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2000" i="1">
                  <a:ea typeface="宋体" panose="02010600030101010101" pitchFamily="2" charset="-122"/>
                </a:rPr>
                <a:t>b:1</a:t>
              </a:r>
            </a:p>
          </p:txBody>
        </p:sp>
        <p:sp>
          <p:nvSpPr>
            <p:cNvPr id="13322" name="Text Box 10"/>
            <p:cNvSpPr txBox="1">
              <a:spLocks noChangeArrowheads="1"/>
            </p:cNvSpPr>
            <p:nvPr/>
          </p:nvSpPr>
          <p:spPr bwMode="auto">
            <a:xfrm>
              <a:off x="5080" y="2971"/>
              <a:ext cx="337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2000" i="1">
                  <a:ea typeface="宋体" panose="02010600030101010101" pitchFamily="2" charset="-122"/>
                </a:rPr>
                <a:t>p:1</a:t>
              </a:r>
            </a:p>
          </p:txBody>
        </p:sp>
        <p:cxnSp>
          <p:nvCxnSpPr>
            <p:cNvPr id="13323" name="AutoShape 11"/>
            <p:cNvCxnSpPr>
              <a:cxnSpLocks noChangeShapeType="1"/>
              <a:stCxn id="13320" idx="2"/>
              <a:endCxn id="13321" idx="0"/>
            </p:cNvCxnSpPr>
            <p:nvPr/>
          </p:nvCxnSpPr>
          <p:spPr bwMode="auto">
            <a:xfrm>
              <a:off x="5248" y="2458"/>
              <a:ext cx="1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24" name="AutoShape 12"/>
            <p:cNvCxnSpPr>
              <a:cxnSpLocks noChangeShapeType="1"/>
              <a:stCxn id="13321" idx="2"/>
              <a:endCxn id="13322" idx="0"/>
            </p:cNvCxnSpPr>
            <p:nvPr/>
          </p:nvCxnSpPr>
          <p:spPr bwMode="auto">
            <a:xfrm>
              <a:off x="5249" y="2842"/>
              <a:ext cx="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25" name="AutoShape 13"/>
            <p:cNvCxnSpPr>
              <a:cxnSpLocks noChangeShapeType="1"/>
              <a:stCxn id="13318" idx="2"/>
              <a:endCxn id="13320" idx="0"/>
            </p:cNvCxnSpPr>
            <p:nvPr/>
          </p:nvCxnSpPr>
          <p:spPr bwMode="auto">
            <a:xfrm>
              <a:off x="4935" y="2026"/>
              <a:ext cx="313" cy="182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26" name="AutoShape 14"/>
            <p:cNvCxnSpPr>
              <a:cxnSpLocks noChangeShapeType="1"/>
              <a:stCxn id="13318" idx="2"/>
              <a:endCxn id="13319" idx="0"/>
            </p:cNvCxnSpPr>
            <p:nvPr/>
          </p:nvCxnSpPr>
          <p:spPr bwMode="auto">
            <a:xfrm flipH="1">
              <a:off x="4659" y="2026"/>
              <a:ext cx="276" cy="182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327" name="Text Box 15"/>
            <p:cNvSpPr txBox="1">
              <a:spLocks noChangeArrowheads="1"/>
            </p:cNvSpPr>
            <p:nvPr/>
          </p:nvSpPr>
          <p:spPr bwMode="auto">
            <a:xfrm>
              <a:off x="4700" y="2588"/>
              <a:ext cx="337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2000" i="1">
                  <a:ea typeface="宋体" panose="02010600030101010101" pitchFamily="2" charset="-122"/>
                </a:rPr>
                <a:t>b:1</a:t>
              </a:r>
            </a:p>
          </p:txBody>
        </p:sp>
        <p:sp>
          <p:nvSpPr>
            <p:cNvPr id="13328" name="Text Box 16"/>
            <p:cNvSpPr txBox="1">
              <a:spLocks noChangeArrowheads="1"/>
            </p:cNvSpPr>
            <p:nvPr/>
          </p:nvSpPr>
          <p:spPr bwMode="auto">
            <a:xfrm>
              <a:off x="4321" y="2588"/>
              <a:ext cx="328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2000" i="1">
                  <a:ea typeface="宋体" panose="02010600030101010101" pitchFamily="2" charset="-122"/>
                </a:rPr>
                <a:t>c:3</a:t>
              </a:r>
            </a:p>
          </p:txBody>
        </p:sp>
        <p:cxnSp>
          <p:nvCxnSpPr>
            <p:cNvPr id="13329" name="AutoShape 17"/>
            <p:cNvCxnSpPr>
              <a:cxnSpLocks noChangeShapeType="1"/>
              <a:stCxn id="13319" idx="2"/>
              <a:endCxn id="13328" idx="0"/>
            </p:cNvCxnSpPr>
            <p:nvPr/>
          </p:nvCxnSpPr>
          <p:spPr bwMode="auto">
            <a:xfrm flipH="1">
              <a:off x="4485" y="2458"/>
              <a:ext cx="174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30" name="AutoShape 18"/>
            <p:cNvCxnSpPr>
              <a:cxnSpLocks noChangeShapeType="1"/>
              <a:stCxn id="13319" idx="2"/>
              <a:endCxn id="13327" idx="0"/>
            </p:cNvCxnSpPr>
            <p:nvPr/>
          </p:nvCxnSpPr>
          <p:spPr bwMode="auto">
            <a:xfrm>
              <a:off x="4659" y="2458"/>
              <a:ext cx="21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331" name="Text Box 19"/>
            <p:cNvSpPr txBox="1">
              <a:spLocks noChangeArrowheads="1"/>
            </p:cNvSpPr>
            <p:nvPr/>
          </p:nvSpPr>
          <p:spPr bwMode="auto">
            <a:xfrm>
              <a:off x="4316" y="2971"/>
              <a:ext cx="337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2000" i="1">
                  <a:ea typeface="宋体" panose="02010600030101010101" pitchFamily="2" charset="-122"/>
                </a:rPr>
                <a:t>a:3</a:t>
              </a:r>
            </a:p>
          </p:txBody>
        </p:sp>
        <p:sp>
          <p:nvSpPr>
            <p:cNvPr id="13332" name="Text Box 20"/>
            <p:cNvSpPr txBox="1">
              <a:spLocks noChangeArrowheads="1"/>
            </p:cNvSpPr>
            <p:nvPr/>
          </p:nvSpPr>
          <p:spPr bwMode="auto">
            <a:xfrm>
              <a:off x="4556" y="3356"/>
              <a:ext cx="337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2000" i="1">
                  <a:ea typeface="宋体" panose="02010600030101010101" pitchFamily="2" charset="-122"/>
                </a:rPr>
                <a:t>b:1</a:t>
              </a:r>
            </a:p>
          </p:txBody>
        </p:sp>
        <p:sp>
          <p:nvSpPr>
            <p:cNvPr id="13333" name="Text Box 21"/>
            <p:cNvSpPr txBox="1">
              <a:spLocks noChangeArrowheads="1"/>
            </p:cNvSpPr>
            <p:nvPr/>
          </p:nvSpPr>
          <p:spPr bwMode="auto">
            <a:xfrm>
              <a:off x="4130" y="3356"/>
              <a:ext cx="373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2000" i="1">
                  <a:ea typeface="宋体" panose="02010600030101010101" pitchFamily="2" charset="-122"/>
                </a:rPr>
                <a:t>m:2</a:t>
              </a:r>
            </a:p>
          </p:txBody>
        </p:sp>
        <p:sp>
          <p:nvSpPr>
            <p:cNvPr id="13334" name="Text Box 22"/>
            <p:cNvSpPr txBox="1">
              <a:spLocks noChangeArrowheads="1"/>
            </p:cNvSpPr>
            <p:nvPr/>
          </p:nvSpPr>
          <p:spPr bwMode="auto">
            <a:xfrm>
              <a:off x="4148" y="3739"/>
              <a:ext cx="337" cy="259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2000" i="1">
                  <a:ea typeface="宋体" panose="02010600030101010101" pitchFamily="2" charset="-122"/>
                </a:rPr>
                <a:t>p:2</a:t>
              </a:r>
            </a:p>
          </p:txBody>
        </p:sp>
        <p:cxnSp>
          <p:nvCxnSpPr>
            <p:cNvPr id="13335" name="AutoShape 23"/>
            <p:cNvCxnSpPr>
              <a:cxnSpLocks noChangeShapeType="1"/>
              <a:stCxn id="13328" idx="2"/>
              <a:endCxn id="13331" idx="0"/>
            </p:cNvCxnSpPr>
            <p:nvPr/>
          </p:nvCxnSpPr>
          <p:spPr bwMode="auto">
            <a:xfrm>
              <a:off x="4485" y="2842"/>
              <a:ext cx="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36" name="AutoShape 24"/>
            <p:cNvCxnSpPr>
              <a:cxnSpLocks noChangeShapeType="1"/>
              <a:stCxn id="13331" idx="2"/>
              <a:endCxn id="13333" idx="0"/>
            </p:cNvCxnSpPr>
            <p:nvPr/>
          </p:nvCxnSpPr>
          <p:spPr bwMode="auto">
            <a:xfrm flipH="1">
              <a:off x="4317" y="3226"/>
              <a:ext cx="168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37" name="AutoShape 25"/>
            <p:cNvCxnSpPr>
              <a:cxnSpLocks noChangeShapeType="1"/>
              <a:stCxn id="13331" idx="2"/>
              <a:endCxn id="13332" idx="0"/>
            </p:cNvCxnSpPr>
            <p:nvPr/>
          </p:nvCxnSpPr>
          <p:spPr bwMode="auto">
            <a:xfrm>
              <a:off x="4485" y="3226"/>
              <a:ext cx="24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38" name="AutoShape 26"/>
            <p:cNvCxnSpPr>
              <a:cxnSpLocks noChangeShapeType="1"/>
              <a:stCxn id="13333" idx="2"/>
              <a:endCxn id="13334" idx="0"/>
            </p:cNvCxnSpPr>
            <p:nvPr/>
          </p:nvCxnSpPr>
          <p:spPr bwMode="auto">
            <a:xfrm>
              <a:off x="4317" y="3610"/>
              <a:ext cx="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339" name="Text Box 27"/>
            <p:cNvSpPr txBox="1">
              <a:spLocks noChangeArrowheads="1"/>
            </p:cNvSpPr>
            <p:nvPr/>
          </p:nvSpPr>
          <p:spPr bwMode="auto">
            <a:xfrm>
              <a:off x="4538" y="3739"/>
              <a:ext cx="373" cy="259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2000" i="1">
                  <a:ea typeface="宋体" panose="02010600030101010101" pitchFamily="2" charset="-122"/>
                </a:rPr>
                <a:t>m:1</a:t>
              </a:r>
            </a:p>
          </p:txBody>
        </p:sp>
        <p:cxnSp>
          <p:nvCxnSpPr>
            <p:cNvPr id="13340" name="AutoShape 28"/>
            <p:cNvCxnSpPr>
              <a:cxnSpLocks noChangeShapeType="1"/>
              <a:stCxn id="13332" idx="2"/>
              <a:endCxn id="13339" idx="0"/>
            </p:cNvCxnSpPr>
            <p:nvPr/>
          </p:nvCxnSpPr>
          <p:spPr bwMode="auto">
            <a:xfrm>
              <a:off x="4725" y="3610"/>
              <a:ext cx="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341" name="Text Box 29"/>
            <p:cNvSpPr txBox="1">
              <a:spLocks noChangeArrowheads="1"/>
            </p:cNvSpPr>
            <p:nvPr/>
          </p:nvSpPr>
          <p:spPr bwMode="auto">
            <a:xfrm>
              <a:off x="2496" y="1935"/>
              <a:ext cx="1602" cy="1627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>
                <a:lnSpc>
                  <a:spcPct val="90000"/>
                </a:lnSpc>
              </a:pPr>
              <a:r>
                <a:rPr lang="en-US" altLang="zh-CN" sz="2000" b="1">
                  <a:ea typeface="宋体" panose="02010600030101010101" pitchFamily="2" charset="-122"/>
                </a:rPr>
                <a:t>Header Table</a:t>
              </a:r>
            </a:p>
            <a:p>
              <a:pPr algn="l">
                <a:lnSpc>
                  <a:spcPct val="90000"/>
                </a:lnSpc>
              </a:pPr>
              <a:endParaRPr lang="en-US" altLang="zh-CN" sz="2000" b="1">
                <a:ea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2000" b="1" i="1" u="sng">
                  <a:ea typeface="宋体" panose="02010600030101010101" pitchFamily="2" charset="-122"/>
                </a:rPr>
                <a:t>Item  frequency  head </a:t>
              </a:r>
            </a:p>
            <a:p>
              <a:pPr algn="l">
                <a:lnSpc>
                  <a:spcPct val="90000"/>
                </a:lnSpc>
              </a:pPr>
              <a:r>
                <a:rPr lang="en-US" altLang="zh-CN" sz="2000" i="1">
                  <a:ea typeface="宋体" panose="02010600030101010101" pitchFamily="2" charset="-122"/>
                </a:rPr>
                <a:t> f	4</a:t>
              </a:r>
            </a:p>
            <a:p>
              <a:pPr algn="l">
                <a:lnSpc>
                  <a:spcPct val="90000"/>
                </a:lnSpc>
              </a:pPr>
              <a:r>
                <a:rPr lang="en-US" altLang="zh-CN" sz="2000" i="1">
                  <a:ea typeface="宋体" panose="02010600030101010101" pitchFamily="2" charset="-122"/>
                </a:rPr>
                <a:t>c	4</a:t>
              </a:r>
            </a:p>
            <a:p>
              <a:pPr algn="l">
                <a:lnSpc>
                  <a:spcPct val="90000"/>
                </a:lnSpc>
              </a:pPr>
              <a:r>
                <a:rPr lang="en-US" altLang="zh-CN" sz="2000" i="1">
                  <a:ea typeface="宋体" panose="02010600030101010101" pitchFamily="2" charset="-122"/>
                </a:rPr>
                <a:t>a	3</a:t>
              </a:r>
            </a:p>
            <a:p>
              <a:pPr algn="l">
                <a:lnSpc>
                  <a:spcPct val="90000"/>
                </a:lnSpc>
              </a:pPr>
              <a:r>
                <a:rPr lang="en-US" altLang="zh-CN" sz="2000" i="1">
                  <a:ea typeface="宋体" panose="02010600030101010101" pitchFamily="2" charset="-122"/>
                </a:rPr>
                <a:t>b	3</a:t>
              </a:r>
            </a:p>
            <a:p>
              <a:pPr algn="l">
                <a:lnSpc>
                  <a:spcPct val="90000"/>
                </a:lnSpc>
              </a:pPr>
              <a:r>
                <a:rPr lang="en-US" altLang="zh-CN" sz="2000" i="1">
                  <a:ea typeface="宋体" panose="02010600030101010101" pitchFamily="2" charset="-122"/>
                </a:rPr>
                <a:t>m	3</a:t>
              </a:r>
            </a:p>
            <a:p>
              <a:pPr algn="l">
                <a:lnSpc>
                  <a:spcPct val="90000"/>
                </a:lnSpc>
              </a:pPr>
              <a:r>
                <a:rPr lang="en-US" altLang="zh-CN" sz="2000" i="1">
                  <a:ea typeface="宋体" panose="02010600030101010101" pitchFamily="2" charset="-122"/>
                </a:rPr>
                <a:t>p	3</a:t>
              </a:r>
              <a:endParaRPr lang="en-US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13342" name="Freeform 30"/>
            <p:cNvSpPr>
              <a:spLocks/>
            </p:cNvSpPr>
            <p:nvPr/>
          </p:nvSpPr>
          <p:spPr bwMode="auto">
            <a:xfrm>
              <a:off x="3879" y="2341"/>
              <a:ext cx="672" cy="240"/>
            </a:xfrm>
            <a:custGeom>
              <a:avLst/>
              <a:gdLst>
                <a:gd name="T0" fmla="*/ 0 w 672"/>
                <a:gd name="T1" fmla="*/ 240 h 240"/>
                <a:gd name="T2" fmla="*/ 288 w 672"/>
                <a:gd name="T3" fmla="*/ 192 h 240"/>
                <a:gd name="T4" fmla="*/ 432 w 672"/>
                <a:gd name="T5" fmla="*/ 48 h 240"/>
                <a:gd name="T6" fmla="*/ 672 w 672"/>
                <a:gd name="T7" fmla="*/ 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2"/>
                <a:gd name="T13" fmla="*/ 0 h 240"/>
                <a:gd name="T14" fmla="*/ 672 w 672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2" h="240">
                  <a:moveTo>
                    <a:pt x="0" y="240"/>
                  </a:moveTo>
                  <a:cubicBezTo>
                    <a:pt x="108" y="232"/>
                    <a:pt x="216" y="224"/>
                    <a:pt x="288" y="192"/>
                  </a:cubicBezTo>
                  <a:cubicBezTo>
                    <a:pt x="360" y="160"/>
                    <a:pt x="368" y="80"/>
                    <a:pt x="432" y="48"/>
                  </a:cubicBezTo>
                  <a:cubicBezTo>
                    <a:pt x="496" y="16"/>
                    <a:pt x="584" y="8"/>
                    <a:pt x="672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3343" name="Freeform 31"/>
            <p:cNvSpPr>
              <a:spLocks/>
            </p:cNvSpPr>
            <p:nvPr/>
          </p:nvSpPr>
          <p:spPr bwMode="auto">
            <a:xfrm>
              <a:off x="3879" y="2725"/>
              <a:ext cx="432" cy="1"/>
            </a:xfrm>
            <a:custGeom>
              <a:avLst/>
              <a:gdLst>
                <a:gd name="T0" fmla="*/ 0 w 432"/>
                <a:gd name="T1" fmla="*/ 0 h 1"/>
                <a:gd name="T2" fmla="*/ 432 w 432"/>
                <a:gd name="T3" fmla="*/ 0 h 1"/>
                <a:gd name="T4" fmla="*/ 0 60000 65536"/>
                <a:gd name="T5" fmla="*/ 0 60000 65536"/>
                <a:gd name="T6" fmla="*/ 0 w 432"/>
                <a:gd name="T7" fmla="*/ 0 h 1"/>
                <a:gd name="T8" fmla="*/ 432 w 432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32" h="1">
                  <a:moveTo>
                    <a:pt x="0" y="0"/>
                  </a:moveTo>
                  <a:cubicBezTo>
                    <a:pt x="0" y="0"/>
                    <a:pt x="216" y="0"/>
                    <a:pt x="432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3344" name="Freeform 32"/>
            <p:cNvSpPr>
              <a:spLocks/>
            </p:cNvSpPr>
            <p:nvPr/>
          </p:nvSpPr>
          <p:spPr bwMode="auto">
            <a:xfrm>
              <a:off x="4599" y="2341"/>
              <a:ext cx="480" cy="384"/>
            </a:xfrm>
            <a:custGeom>
              <a:avLst/>
              <a:gdLst>
                <a:gd name="T0" fmla="*/ 0 w 480"/>
                <a:gd name="T1" fmla="*/ 384 h 384"/>
                <a:gd name="T2" fmla="*/ 48 w 480"/>
                <a:gd name="T3" fmla="*/ 336 h 384"/>
                <a:gd name="T4" fmla="*/ 240 w 480"/>
                <a:gd name="T5" fmla="*/ 96 h 384"/>
                <a:gd name="T6" fmla="*/ 480 w 480"/>
                <a:gd name="T7" fmla="*/ 0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0"/>
                <a:gd name="T13" fmla="*/ 0 h 384"/>
                <a:gd name="T14" fmla="*/ 480 w 480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0" h="384">
                  <a:moveTo>
                    <a:pt x="0" y="384"/>
                  </a:moveTo>
                  <a:cubicBezTo>
                    <a:pt x="4" y="384"/>
                    <a:pt x="8" y="384"/>
                    <a:pt x="48" y="336"/>
                  </a:cubicBezTo>
                  <a:cubicBezTo>
                    <a:pt x="88" y="288"/>
                    <a:pt x="168" y="152"/>
                    <a:pt x="240" y="96"/>
                  </a:cubicBezTo>
                  <a:cubicBezTo>
                    <a:pt x="312" y="40"/>
                    <a:pt x="396" y="20"/>
                    <a:pt x="480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3345" name="Freeform 33"/>
            <p:cNvSpPr>
              <a:spLocks/>
            </p:cNvSpPr>
            <p:nvPr/>
          </p:nvSpPr>
          <p:spPr bwMode="auto">
            <a:xfrm>
              <a:off x="3879" y="2928"/>
              <a:ext cx="432" cy="192"/>
            </a:xfrm>
            <a:custGeom>
              <a:avLst/>
              <a:gdLst>
                <a:gd name="T0" fmla="*/ 0 w 432"/>
                <a:gd name="T1" fmla="*/ 0 h 192"/>
                <a:gd name="T2" fmla="*/ 144 w 432"/>
                <a:gd name="T3" fmla="*/ 48 h 192"/>
                <a:gd name="T4" fmla="*/ 288 w 432"/>
                <a:gd name="T5" fmla="*/ 144 h 192"/>
                <a:gd name="T6" fmla="*/ 432 w 432"/>
                <a:gd name="T7" fmla="*/ 192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32"/>
                <a:gd name="T13" fmla="*/ 0 h 192"/>
                <a:gd name="T14" fmla="*/ 432 w 432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32" h="192">
                  <a:moveTo>
                    <a:pt x="0" y="0"/>
                  </a:moveTo>
                  <a:cubicBezTo>
                    <a:pt x="48" y="12"/>
                    <a:pt x="96" y="24"/>
                    <a:pt x="144" y="48"/>
                  </a:cubicBezTo>
                  <a:cubicBezTo>
                    <a:pt x="192" y="72"/>
                    <a:pt x="240" y="120"/>
                    <a:pt x="288" y="144"/>
                  </a:cubicBezTo>
                  <a:cubicBezTo>
                    <a:pt x="336" y="168"/>
                    <a:pt x="384" y="180"/>
                    <a:pt x="432" y="19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3346" name="Freeform 34"/>
            <p:cNvSpPr>
              <a:spLocks/>
            </p:cNvSpPr>
            <p:nvPr/>
          </p:nvSpPr>
          <p:spPr bwMode="auto">
            <a:xfrm>
              <a:off x="3888" y="3072"/>
              <a:ext cx="720" cy="384"/>
            </a:xfrm>
            <a:custGeom>
              <a:avLst/>
              <a:gdLst>
                <a:gd name="T0" fmla="*/ 0 w 720"/>
                <a:gd name="T1" fmla="*/ 0 h 384"/>
                <a:gd name="T2" fmla="*/ 240 w 720"/>
                <a:gd name="T3" fmla="*/ 48 h 384"/>
                <a:gd name="T4" fmla="*/ 528 w 720"/>
                <a:gd name="T5" fmla="*/ 288 h 384"/>
                <a:gd name="T6" fmla="*/ 720 w 720"/>
                <a:gd name="T7" fmla="*/ 384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20"/>
                <a:gd name="T13" fmla="*/ 0 h 384"/>
                <a:gd name="T14" fmla="*/ 720 w 720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20" h="384">
                  <a:moveTo>
                    <a:pt x="0" y="0"/>
                  </a:moveTo>
                  <a:cubicBezTo>
                    <a:pt x="76" y="0"/>
                    <a:pt x="152" y="0"/>
                    <a:pt x="240" y="48"/>
                  </a:cubicBezTo>
                  <a:cubicBezTo>
                    <a:pt x="328" y="96"/>
                    <a:pt x="448" y="232"/>
                    <a:pt x="528" y="288"/>
                  </a:cubicBezTo>
                  <a:cubicBezTo>
                    <a:pt x="608" y="344"/>
                    <a:pt x="664" y="364"/>
                    <a:pt x="720" y="384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3347" name="Freeform 35"/>
            <p:cNvSpPr>
              <a:spLocks/>
            </p:cNvSpPr>
            <p:nvPr/>
          </p:nvSpPr>
          <p:spPr bwMode="auto">
            <a:xfrm>
              <a:off x="4848" y="2832"/>
              <a:ext cx="56" cy="672"/>
            </a:xfrm>
            <a:custGeom>
              <a:avLst/>
              <a:gdLst>
                <a:gd name="T0" fmla="*/ 0 w 56"/>
                <a:gd name="T1" fmla="*/ 672 h 672"/>
                <a:gd name="T2" fmla="*/ 48 w 56"/>
                <a:gd name="T3" fmla="*/ 432 h 672"/>
                <a:gd name="T4" fmla="*/ 48 w 56"/>
                <a:gd name="T5" fmla="*/ 0 h 672"/>
                <a:gd name="T6" fmla="*/ 0 60000 65536"/>
                <a:gd name="T7" fmla="*/ 0 60000 65536"/>
                <a:gd name="T8" fmla="*/ 0 60000 65536"/>
                <a:gd name="T9" fmla="*/ 0 w 56"/>
                <a:gd name="T10" fmla="*/ 0 h 672"/>
                <a:gd name="T11" fmla="*/ 56 w 56"/>
                <a:gd name="T12" fmla="*/ 672 h 6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" h="672">
                  <a:moveTo>
                    <a:pt x="0" y="672"/>
                  </a:moveTo>
                  <a:cubicBezTo>
                    <a:pt x="20" y="608"/>
                    <a:pt x="40" y="544"/>
                    <a:pt x="48" y="432"/>
                  </a:cubicBezTo>
                  <a:cubicBezTo>
                    <a:pt x="56" y="320"/>
                    <a:pt x="52" y="160"/>
                    <a:pt x="48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3348" name="Line 36"/>
            <p:cNvSpPr>
              <a:spLocks noChangeShapeType="1"/>
            </p:cNvSpPr>
            <p:nvPr/>
          </p:nvSpPr>
          <p:spPr bwMode="auto">
            <a:xfrm>
              <a:off x="4983" y="2725"/>
              <a:ext cx="96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49" name="Freeform 37"/>
            <p:cNvSpPr>
              <a:spLocks/>
            </p:cNvSpPr>
            <p:nvPr/>
          </p:nvSpPr>
          <p:spPr bwMode="auto">
            <a:xfrm>
              <a:off x="3888" y="3264"/>
              <a:ext cx="288" cy="240"/>
            </a:xfrm>
            <a:custGeom>
              <a:avLst/>
              <a:gdLst>
                <a:gd name="T0" fmla="*/ 0 w 288"/>
                <a:gd name="T1" fmla="*/ 0 h 240"/>
                <a:gd name="T2" fmla="*/ 144 w 288"/>
                <a:gd name="T3" fmla="*/ 48 h 240"/>
                <a:gd name="T4" fmla="*/ 192 w 288"/>
                <a:gd name="T5" fmla="*/ 192 h 240"/>
                <a:gd name="T6" fmla="*/ 288 w 288"/>
                <a:gd name="T7" fmla="*/ 24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240"/>
                <a:gd name="T14" fmla="*/ 288 w 288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240">
                  <a:moveTo>
                    <a:pt x="0" y="0"/>
                  </a:moveTo>
                  <a:cubicBezTo>
                    <a:pt x="56" y="8"/>
                    <a:pt x="112" y="16"/>
                    <a:pt x="144" y="48"/>
                  </a:cubicBezTo>
                  <a:cubicBezTo>
                    <a:pt x="176" y="80"/>
                    <a:pt x="168" y="160"/>
                    <a:pt x="192" y="192"/>
                  </a:cubicBezTo>
                  <a:cubicBezTo>
                    <a:pt x="216" y="224"/>
                    <a:pt x="252" y="232"/>
                    <a:pt x="288" y="24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3350" name="Freeform 38"/>
            <p:cNvSpPr>
              <a:spLocks/>
            </p:cNvSpPr>
            <p:nvPr/>
          </p:nvSpPr>
          <p:spPr bwMode="auto">
            <a:xfrm>
              <a:off x="4464" y="3504"/>
              <a:ext cx="96" cy="384"/>
            </a:xfrm>
            <a:custGeom>
              <a:avLst/>
              <a:gdLst>
                <a:gd name="T0" fmla="*/ 0 w 96"/>
                <a:gd name="T1" fmla="*/ 0 h 384"/>
                <a:gd name="T2" fmla="*/ 48 w 96"/>
                <a:gd name="T3" fmla="*/ 96 h 384"/>
                <a:gd name="T4" fmla="*/ 48 w 96"/>
                <a:gd name="T5" fmla="*/ 288 h 384"/>
                <a:gd name="T6" fmla="*/ 96 w 96"/>
                <a:gd name="T7" fmla="*/ 384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"/>
                <a:gd name="T13" fmla="*/ 0 h 384"/>
                <a:gd name="T14" fmla="*/ 96 w 96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" h="384">
                  <a:moveTo>
                    <a:pt x="0" y="0"/>
                  </a:moveTo>
                  <a:cubicBezTo>
                    <a:pt x="20" y="24"/>
                    <a:pt x="40" y="48"/>
                    <a:pt x="48" y="96"/>
                  </a:cubicBezTo>
                  <a:cubicBezTo>
                    <a:pt x="56" y="144"/>
                    <a:pt x="40" y="240"/>
                    <a:pt x="48" y="288"/>
                  </a:cubicBezTo>
                  <a:cubicBezTo>
                    <a:pt x="56" y="336"/>
                    <a:pt x="76" y="360"/>
                    <a:pt x="96" y="384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3351" name="Freeform 39"/>
            <p:cNvSpPr>
              <a:spLocks/>
            </p:cNvSpPr>
            <p:nvPr/>
          </p:nvSpPr>
          <p:spPr bwMode="auto">
            <a:xfrm>
              <a:off x="3888" y="3456"/>
              <a:ext cx="288" cy="432"/>
            </a:xfrm>
            <a:custGeom>
              <a:avLst/>
              <a:gdLst>
                <a:gd name="T0" fmla="*/ 0 w 288"/>
                <a:gd name="T1" fmla="*/ 0 h 432"/>
                <a:gd name="T2" fmla="*/ 96 w 288"/>
                <a:gd name="T3" fmla="*/ 144 h 432"/>
                <a:gd name="T4" fmla="*/ 144 w 288"/>
                <a:gd name="T5" fmla="*/ 336 h 432"/>
                <a:gd name="T6" fmla="*/ 288 w 288"/>
                <a:gd name="T7" fmla="*/ 432 h 4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432"/>
                <a:gd name="T14" fmla="*/ 288 w 288"/>
                <a:gd name="T15" fmla="*/ 432 h 4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432">
                  <a:moveTo>
                    <a:pt x="0" y="0"/>
                  </a:moveTo>
                  <a:cubicBezTo>
                    <a:pt x="36" y="44"/>
                    <a:pt x="72" y="88"/>
                    <a:pt x="96" y="144"/>
                  </a:cubicBezTo>
                  <a:cubicBezTo>
                    <a:pt x="120" y="200"/>
                    <a:pt x="112" y="288"/>
                    <a:pt x="144" y="336"/>
                  </a:cubicBezTo>
                  <a:cubicBezTo>
                    <a:pt x="176" y="384"/>
                    <a:pt x="232" y="408"/>
                    <a:pt x="288" y="43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3352" name="Freeform 40"/>
            <p:cNvSpPr>
              <a:spLocks/>
            </p:cNvSpPr>
            <p:nvPr/>
          </p:nvSpPr>
          <p:spPr bwMode="auto">
            <a:xfrm>
              <a:off x="4464" y="3216"/>
              <a:ext cx="768" cy="672"/>
            </a:xfrm>
            <a:custGeom>
              <a:avLst/>
              <a:gdLst>
                <a:gd name="T0" fmla="*/ 0 w 768"/>
                <a:gd name="T1" fmla="*/ 672 h 672"/>
                <a:gd name="T2" fmla="*/ 96 w 768"/>
                <a:gd name="T3" fmla="*/ 528 h 672"/>
                <a:gd name="T4" fmla="*/ 528 w 768"/>
                <a:gd name="T5" fmla="*/ 384 h 672"/>
                <a:gd name="T6" fmla="*/ 768 w 768"/>
                <a:gd name="T7" fmla="*/ 0 h 6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8"/>
                <a:gd name="T13" fmla="*/ 0 h 672"/>
                <a:gd name="T14" fmla="*/ 768 w 768"/>
                <a:gd name="T15" fmla="*/ 672 h 6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8" h="672">
                  <a:moveTo>
                    <a:pt x="0" y="672"/>
                  </a:moveTo>
                  <a:cubicBezTo>
                    <a:pt x="4" y="624"/>
                    <a:pt x="8" y="576"/>
                    <a:pt x="96" y="528"/>
                  </a:cubicBezTo>
                  <a:cubicBezTo>
                    <a:pt x="184" y="480"/>
                    <a:pt x="416" y="472"/>
                    <a:pt x="528" y="384"/>
                  </a:cubicBezTo>
                  <a:cubicBezTo>
                    <a:pt x="640" y="296"/>
                    <a:pt x="704" y="148"/>
                    <a:pt x="768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med"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5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6096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zh-CN" altLang="en-US" sz="2800" dirty="0">
                <a:ea typeface="宋体" pitchFamily="2" charset="-122"/>
              </a:rPr>
              <a:t>递归构造条件模式基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2775" y="1600200"/>
            <a:ext cx="8048625" cy="12573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用每一个项目的条件模式基作为输入，递归</a:t>
            </a:r>
            <a:r>
              <a:rPr lang="en-US" altLang="zh-CN">
                <a:ea typeface="宋体" panose="02010600030101010101" pitchFamily="2" charset="-122"/>
              </a:rPr>
              <a:t>FP-Growth</a:t>
            </a:r>
            <a:r>
              <a:rPr lang="zh-CN" altLang="en-US">
                <a:ea typeface="宋体" panose="02010600030101010101" pitchFamily="2" charset="-122"/>
              </a:rPr>
              <a:t>算法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4714875" y="3429000"/>
            <a:ext cx="3276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1800" b="1" i="1">
                <a:ea typeface="宋体" panose="02010600030101010101" pitchFamily="2" charset="-122"/>
              </a:rPr>
              <a:t>m-conditional </a:t>
            </a:r>
            <a:r>
              <a:rPr lang="en-US" altLang="zh-CN" sz="1800" b="1">
                <a:ea typeface="宋体" panose="02010600030101010101" pitchFamily="2" charset="-122"/>
              </a:rPr>
              <a:t>pattern base:</a:t>
            </a:r>
          </a:p>
          <a:p>
            <a:pPr lvl="1" algn="l"/>
            <a:r>
              <a:rPr lang="en-US" altLang="zh-CN" sz="1800" b="1" i="1">
                <a:ea typeface="宋体" panose="02010600030101010101" pitchFamily="2" charset="-122"/>
              </a:rPr>
              <a:t>fca:2, fcab:1</a:t>
            </a:r>
          </a:p>
        </p:txBody>
      </p:sp>
      <p:grpSp>
        <p:nvGrpSpPr>
          <p:cNvPr id="14341" name="Group 5"/>
          <p:cNvGrpSpPr>
            <a:grpSpLocks/>
          </p:cNvGrpSpPr>
          <p:nvPr/>
        </p:nvGrpSpPr>
        <p:grpSpPr bwMode="auto">
          <a:xfrm>
            <a:off x="4643438" y="4143375"/>
            <a:ext cx="2298700" cy="2324100"/>
            <a:chOff x="3312" y="2736"/>
            <a:chExt cx="1448" cy="1464"/>
          </a:xfrm>
        </p:grpSpPr>
        <p:grpSp>
          <p:nvGrpSpPr>
            <p:cNvPr id="14380" name="Group 6"/>
            <p:cNvGrpSpPr>
              <a:grpSpLocks/>
            </p:cNvGrpSpPr>
            <p:nvPr/>
          </p:nvGrpSpPr>
          <p:grpSpPr bwMode="auto">
            <a:xfrm>
              <a:off x="3792" y="2736"/>
              <a:ext cx="329" cy="1297"/>
              <a:chOff x="2282" y="2456"/>
              <a:chExt cx="329" cy="1297"/>
            </a:xfrm>
          </p:grpSpPr>
          <p:sp>
            <p:nvSpPr>
              <p:cNvPr id="14382" name="Text Box 7"/>
              <p:cNvSpPr txBox="1">
                <a:spLocks noChangeArrowheads="1"/>
              </p:cNvSpPr>
              <p:nvPr/>
            </p:nvSpPr>
            <p:spPr bwMode="auto">
              <a:xfrm>
                <a:off x="2312" y="2456"/>
                <a:ext cx="27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/>
                <a:r>
                  <a:rPr lang="zh-CN" altLang="en-US" sz="2000">
                    <a:ea typeface="宋体" panose="02010600030101010101" pitchFamily="2" charset="-122"/>
                  </a:rPr>
                  <a:t>{}</a:t>
                </a:r>
              </a:p>
            </p:txBody>
          </p:sp>
          <p:sp>
            <p:nvSpPr>
              <p:cNvPr id="14383" name="Text Box 8"/>
              <p:cNvSpPr txBox="1">
                <a:spLocks noChangeArrowheads="1"/>
              </p:cNvSpPr>
              <p:nvPr/>
            </p:nvSpPr>
            <p:spPr bwMode="auto">
              <a:xfrm>
                <a:off x="2300" y="2840"/>
                <a:ext cx="29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/>
                <a:r>
                  <a:rPr lang="en-US" altLang="zh-CN" sz="2000" i="1">
                    <a:ea typeface="宋体" panose="02010600030101010101" pitchFamily="2" charset="-122"/>
                  </a:rPr>
                  <a:t>f:3</a:t>
                </a:r>
              </a:p>
            </p:txBody>
          </p:sp>
          <p:sp>
            <p:nvSpPr>
              <p:cNvPr id="14384" name="Text Box 9"/>
              <p:cNvSpPr txBox="1">
                <a:spLocks noChangeArrowheads="1"/>
              </p:cNvSpPr>
              <p:nvPr/>
            </p:nvSpPr>
            <p:spPr bwMode="auto">
              <a:xfrm>
                <a:off x="2287" y="3167"/>
                <a:ext cx="32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/>
                <a:r>
                  <a:rPr lang="en-US" altLang="zh-CN" sz="2000" i="1">
                    <a:ea typeface="宋体" panose="02010600030101010101" pitchFamily="2" charset="-122"/>
                  </a:rPr>
                  <a:t>c:3</a:t>
                </a:r>
              </a:p>
            </p:txBody>
          </p:sp>
          <p:sp>
            <p:nvSpPr>
              <p:cNvPr id="14385" name="Text Box 10"/>
              <p:cNvSpPr txBox="1">
                <a:spLocks noChangeArrowheads="1"/>
              </p:cNvSpPr>
              <p:nvPr/>
            </p:nvSpPr>
            <p:spPr bwMode="auto">
              <a:xfrm>
                <a:off x="2282" y="3503"/>
                <a:ext cx="32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/>
                <a:r>
                  <a:rPr lang="en-US" altLang="zh-CN" sz="2000" i="1">
                    <a:ea typeface="宋体" panose="02010600030101010101" pitchFamily="2" charset="-122"/>
                  </a:rPr>
                  <a:t>a:3</a:t>
                </a:r>
              </a:p>
            </p:txBody>
          </p:sp>
          <p:cxnSp>
            <p:nvCxnSpPr>
              <p:cNvPr id="14386" name="AutoShape 11"/>
              <p:cNvCxnSpPr>
                <a:cxnSpLocks noChangeShapeType="1"/>
                <a:stCxn id="14382" idx="2"/>
                <a:endCxn id="14383" idx="0"/>
              </p:cNvCxnSpPr>
              <p:nvPr/>
            </p:nvCxnSpPr>
            <p:spPr bwMode="auto">
              <a:xfrm>
                <a:off x="2447" y="2706"/>
                <a:ext cx="0" cy="134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4387" name="AutoShape 12"/>
              <p:cNvCxnSpPr>
                <a:cxnSpLocks noChangeShapeType="1"/>
                <a:stCxn id="14383" idx="2"/>
                <a:endCxn id="14384" idx="0"/>
              </p:cNvCxnSpPr>
              <p:nvPr/>
            </p:nvCxnSpPr>
            <p:spPr bwMode="auto">
              <a:xfrm>
                <a:off x="2447" y="3090"/>
                <a:ext cx="0" cy="77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4388" name="AutoShape 13"/>
              <p:cNvCxnSpPr>
                <a:cxnSpLocks noChangeShapeType="1"/>
                <a:stCxn id="14384" idx="2"/>
                <a:endCxn id="14385" idx="0"/>
              </p:cNvCxnSpPr>
              <p:nvPr/>
            </p:nvCxnSpPr>
            <p:spPr bwMode="auto">
              <a:xfrm>
                <a:off x="2447" y="3417"/>
                <a:ext cx="0" cy="86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4381" name="Text Box 14"/>
            <p:cNvSpPr txBox="1">
              <a:spLocks noChangeArrowheads="1"/>
            </p:cNvSpPr>
            <p:nvPr/>
          </p:nvSpPr>
          <p:spPr bwMode="auto">
            <a:xfrm>
              <a:off x="3312" y="3969"/>
              <a:ext cx="14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1800" b="1" i="1">
                  <a:ea typeface="宋体" panose="02010600030101010101" pitchFamily="2" charset="-122"/>
                </a:rPr>
                <a:t>m-conditional </a:t>
              </a:r>
              <a:r>
                <a:rPr lang="en-US" altLang="zh-CN" sz="1800" b="1">
                  <a:ea typeface="宋体" panose="02010600030101010101" pitchFamily="2" charset="-122"/>
                </a:rPr>
                <a:t>FP-tree</a:t>
              </a:r>
              <a:endParaRPr lang="en-US" altLang="zh-CN" sz="1800" b="1" i="1">
                <a:ea typeface="宋体" panose="02010600030101010101" pitchFamily="2" charset="-122"/>
              </a:endParaRPr>
            </a:p>
          </p:txBody>
        </p:sp>
      </p:grpSp>
      <p:sp>
        <p:nvSpPr>
          <p:cNvPr id="14342" name="Text Box 16"/>
          <p:cNvSpPr txBox="1">
            <a:spLocks noChangeArrowheads="1"/>
          </p:cNvSpPr>
          <p:nvPr/>
        </p:nvSpPr>
        <p:spPr bwMode="auto">
          <a:xfrm>
            <a:off x="4929188" y="4643438"/>
            <a:ext cx="590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400" b="1">
                <a:ea typeface="宋体" panose="02010600030101010101" pitchFamily="2" charset="-122"/>
                <a:sym typeface="Wingdings 3" panose="05040102010807070707" pitchFamily="18" charset="2"/>
              </a:rPr>
              <a:t></a:t>
            </a:r>
            <a:endParaRPr lang="zh-CN" altLang="en-US" sz="2400" b="1">
              <a:ea typeface="宋体" panose="02010600030101010101" pitchFamily="2" charset="-122"/>
            </a:endParaRPr>
          </a:p>
        </p:txBody>
      </p:sp>
      <p:sp>
        <p:nvSpPr>
          <p:cNvPr id="14343" name="Rectangle 17"/>
          <p:cNvSpPr>
            <a:spLocks noChangeArrowheads="1"/>
          </p:cNvSpPr>
          <p:nvPr/>
        </p:nvSpPr>
        <p:spPr bwMode="auto">
          <a:xfrm>
            <a:off x="5929313" y="4643438"/>
            <a:ext cx="496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400" b="1">
                <a:ea typeface="宋体" panose="02010600030101010101" pitchFamily="2" charset="-122"/>
                <a:sym typeface="Wingdings 3" panose="05040102010807070707" pitchFamily="18" charset="2"/>
              </a:rPr>
              <a:t></a:t>
            </a:r>
          </a:p>
        </p:txBody>
      </p:sp>
      <p:sp>
        <p:nvSpPr>
          <p:cNvPr id="14344" name="Text Box 18"/>
          <p:cNvSpPr txBox="1">
            <a:spLocks noChangeArrowheads="1"/>
          </p:cNvSpPr>
          <p:nvPr/>
        </p:nvSpPr>
        <p:spPr bwMode="auto">
          <a:xfrm>
            <a:off x="3892550" y="3595688"/>
            <a:ext cx="441325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zh-CN" altLang="en-US" sz="2000">
                <a:ea typeface="宋体" panose="02010600030101010101" pitchFamily="2" charset="-122"/>
              </a:rPr>
              <a:t>{}</a:t>
            </a:r>
          </a:p>
        </p:txBody>
      </p:sp>
      <p:sp>
        <p:nvSpPr>
          <p:cNvPr id="14345" name="Text Box 19"/>
          <p:cNvSpPr txBox="1">
            <a:spLocks noChangeArrowheads="1"/>
          </p:cNvSpPr>
          <p:nvPr/>
        </p:nvSpPr>
        <p:spPr bwMode="auto">
          <a:xfrm>
            <a:off x="3430588" y="4140200"/>
            <a:ext cx="477837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solidFill>
                  <a:schemeClr val="hlink"/>
                </a:solidFill>
                <a:ea typeface="宋体" panose="02010600030101010101" pitchFamily="2" charset="-122"/>
              </a:rPr>
              <a:t>f:4</a:t>
            </a:r>
          </a:p>
        </p:txBody>
      </p:sp>
      <p:sp>
        <p:nvSpPr>
          <p:cNvPr id="14346" name="Text Box 20"/>
          <p:cNvSpPr txBox="1">
            <a:spLocks noChangeArrowheads="1"/>
          </p:cNvSpPr>
          <p:nvPr/>
        </p:nvSpPr>
        <p:spPr bwMode="auto">
          <a:xfrm>
            <a:off x="4351338" y="4140200"/>
            <a:ext cx="520700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ea typeface="宋体" panose="02010600030101010101" pitchFamily="2" charset="-122"/>
              </a:rPr>
              <a:t>c:1</a:t>
            </a:r>
          </a:p>
        </p:txBody>
      </p:sp>
      <p:sp>
        <p:nvSpPr>
          <p:cNvPr id="14347" name="Text Box 21"/>
          <p:cNvSpPr txBox="1">
            <a:spLocks noChangeArrowheads="1"/>
          </p:cNvSpPr>
          <p:nvPr/>
        </p:nvSpPr>
        <p:spPr bwMode="auto">
          <a:xfrm>
            <a:off x="4343400" y="4622800"/>
            <a:ext cx="533400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ea typeface="宋体" panose="02010600030101010101" pitchFamily="2" charset="-122"/>
              </a:rPr>
              <a:t>b:1</a:t>
            </a:r>
          </a:p>
        </p:txBody>
      </p:sp>
      <p:sp>
        <p:nvSpPr>
          <p:cNvPr id="14348" name="Text Box 22"/>
          <p:cNvSpPr txBox="1">
            <a:spLocks noChangeArrowheads="1"/>
          </p:cNvSpPr>
          <p:nvPr/>
        </p:nvSpPr>
        <p:spPr bwMode="auto">
          <a:xfrm>
            <a:off x="4343400" y="5105400"/>
            <a:ext cx="533400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ea typeface="宋体" panose="02010600030101010101" pitchFamily="2" charset="-122"/>
              </a:rPr>
              <a:t>p:1</a:t>
            </a:r>
          </a:p>
        </p:txBody>
      </p:sp>
      <p:cxnSp>
        <p:nvCxnSpPr>
          <p:cNvPr id="14349" name="AutoShape 23"/>
          <p:cNvCxnSpPr>
            <a:cxnSpLocks noChangeShapeType="1"/>
            <a:stCxn id="14346" idx="2"/>
            <a:endCxn id="14347" idx="0"/>
          </p:cNvCxnSpPr>
          <p:nvPr/>
        </p:nvCxnSpPr>
        <p:spPr bwMode="auto">
          <a:xfrm>
            <a:off x="4613275" y="4459288"/>
            <a:ext cx="1588" cy="168275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50" name="AutoShape 24"/>
          <p:cNvCxnSpPr>
            <a:cxnSpLocks noChangeShapeType="1"/>
            <a:stCxn id="14347" idx="2"/>
            <a:endCxn id="14348" idx="0"/>
          </p:cNvCxnSpPr>
          <p:nvPr/>
        </p:nvCxnSpPr>
        <p:spPr bwMode="auto">
          <a:xfrm>
            <a:off x="4614863" y="4941888"/>
            <a:ext cx="0" cy="169862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51" name="AutoShape 25"/>
          <p:cNvCxnSpPr>
            <a:cxnSpLocks noChangeShapeType="1"/>
            <a:stCxn id="14344" idx="2"/>
            <a:endCxn id="14346" idx="0"/>
          </p:cNvCxnSpPr>
          <p:nvPr/>
        </p:nvCxnSpPr>
        <p:spPr bwMode="auto">
          <a:xfrm>
            <a:off x="4113213" y="3914775"/>
            <a:ext cx="500062" cy="230188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52" name="AutoShape 26"/>
          <p:cNvCxnSpPr>
            <a:cxnSpLocks noChangeShapeType="1"/>
            <a:stCxn id="14344" idx="2"/>
            <a:endCxn id="14345" idx="0"/>
          </p:cNvCxnSpPr>
          <p:nvPr/>
        </p:nvCxnSpPr>
        <p:spPr bwMode="auto">
          <a:xfrm flipH="1">
            <a:off x="3671888" y="3914775"/>
            <a:ext cx="441325" cy="230188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53" name="Text Box 27"/>
          <p:cNvSpPr txBox="1">
            <a:spLocks noChangeArrowheads="1"/>
          </p:cNvSpPr>
          <p:nvPr/>
        </p:nvSpPr>
        <p:spPr bwMode="auto">
          <a:xfrm>
            <a:off x="3736975" y="4622800"/>
            <a:ext cx="534988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ea typeface="宋体" panose="02010600030101010101" pitchFamily="2" charset="-122"/>
              </a:rPr>
              <a:t>b:1</a:t>
            </a:r>
          </a:p>
        </p:txBody>
      </p:sp>
      <p:sp>
        <p:nvSpPr>
          <p:cNvPr id="14354" name="Text Box 28"/>
          <p:cNvSpPr txBox="1">
            <a:spLocks noChangeArrowheads="1"/>
          </p:cNvSpPr>
          <p:nvPr/>
        </p:nvSpPr>
        <p:spPr bwMode="auto">
          <a:xfrm>
            <a:off x="3133725" y="4622800"/>
            <a:ext cx="519113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solidFill>
                  <a:schemeClr val="hlink"/>
                </a:solidFill>
                <a:ea typeface="宋体" panose="02010600030101010101" pitchFamily="2" charset="-122"/>
              </a:rPr>
              <a:t>c:3</a:t>
            </a:r>
          </a:p>
        </p:txBody>
      </p:sp>
      <p:cxnSp>
        <p:nvCxnSpPr>
          <p:cNvPr id="14355" name="AutoShape 29"/>
          <p:cNvCxnSpPr>
            <a:cxnSpLocks noChangeShapeType="1"/>
            <a:stCxn id="14345" idx="2"/>
            <a:endCxn id="14354" idx="0"/>
          </p:cNvCxnSpPr>
          <p:nvPr/>
        </p:nvCxnSpPr>
        <p:spPr bwMode="auto">
          <a:xfrm flipH="1">
            <a:off x="3394075" y="4459288"/>
            <a:ext cx="277813" cy="168275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56" name="AutoShape 30"/>
          <p:cNvCxnSpPr>
            <a:cxnSpLocks noChangeShapeType="1"/>
            <a:stCxn id="14345" idx="2"/>
            <a:endCxn id="14353" idx="0"/>
          </p:cNvCxnSpPr>
          <p:nvPr/>
        </p:nvCxnSpPr>
        <p:spPr bwMode="auto">
          <a:xfrm>
            <a:off x="3671888" y="4459288"/>
            <a:ext cx="334962" cy="168275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57" name="Text Box 31"/>
          <p:cNvSpPr txBox="1">
            <a:spLocks noChangeArrowheads="1"/>
          </p:cNvSpPr>
          <p:nvPr/>
        </p:nvSpPr>
        <p:spPr bwMode="auto">
          <a:xfrm>
            <a:off x="3124200" y="5105400"/>
            <a:ext cx="534988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solidFill>
                  <a:schemeClr val="hlink"/>
                </a:solidFill>
                <a:ea typeface="宋体" panose="02010600030101010101" pitchFamily="2" charset="-122"/>
              </a:rPr>
              <a:t>a:3</a:t>
            </a:r>
          </a:p>
        </p:txBody>
      </p:sp>
      <p:sp>
        <p:nvSpPr>
          <p:cNvPr id="14358" name="Text Box 32"/>
          <p:cNvSpPr txBox="1">
            <a:spLocks noChangeArrowheads="1"/>
          </p:cNvSpPr>
          <p:nvPr/>
        </p:nvSpPr>
        <p:spPr bwMode="auto">
          <a:xfrm>
            <a:off x="3506788" y="5588000"/>
            <a:ext cx="534987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solidFill>
                  <a:schemeClr val="hlink"/>
                </a:solidFill>
                <a:ea typeface="宋体" panose="02010600030101010101" pitchFamily="2" charset="-122"/>
              </a:rPr>
              <a:t>b:1</a:t>
            </a:r>
          </a:p>
        </p:txBody>
      </p:sp>
      <p:sp>
        <p:nvSpPr>
          <p:cNvPr id="14359" name="Text Box 33"/>
          <p:cNvSpPr txBox="1">
            <a:spLocks noChangeArrowheads="1"/>
          </p:cNvSpPr>
          <p:nvPr/>
        </p:nvSpPr>
        <p:spPr bwMode="auto">
          <a:xfrm>
            <a:off x="2822575" y="5588000"/>
            <a:ext cx="592138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solidFill>
                  <a:schemeClr val="hlink"/>
                </a:solidFill>
                <a:ea typeface="宋体" panose="02010600030101010101" pitchFamily="2" charset="-122"/>
              </a:rPr>
              <a:t>m:2</a:t>
            </a:r>
          </a:p>
        </p:txBody>
      </p:sp>
      <p:sp>
        <p:nvSpPr>
          <p:cNvPr id="14360" name="Text Box 34"/>
          <p:cNvSpPr txBox="1">
            <a:spLocks noChangeArrowheads="1"/>
          </p:cNvSpPr>
          <p:nvPr/>
        </p:nvSpPr>
        <p:spPr bwMode="auto">
          <a:xfrm>
            <a:off x="2855913" y="6072188"/>
            <a:ext cx="536575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ea typeface="宋体" panose="02010600030101010101" pitchFamily="2" charset="-122"/>
              </a:rPr>
              <a:t>p:2</a:t>
            </a:r>
          </a:p>
        </p:txBody>
      </p:sp>
      <p:cxnSp>
        <p:nvCxnSpPr>
          <p:cNvPr id="14361" name="AutoShape 35"/>
          <p:cNvCxnSpPr>
            <a:cxnSpLocks noChangeShapeType="1"/>
            <a:stCxn id="14354" idx="2"/>
            <a:endCxn id="14357" idx="0"/>
          </p:cNvCxnSpPr>
          <p:nvPr/>
        </p:nvCxnSpPr>
        <p:spPr bwMode="auto">
          <a:xfrm>
            <a:off x="3394075" y="4941888"/>
            <a:ext cx="0" cy="169862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62" name="AutoShape 36"/>
          <p:cNvCxnSpPr>
            <a:cxnSpLocks noChangeShapeType="1"/>
            <a:stCxn id="14357" idx="2"/>
            <a:endCxn id="14359" idx="0"/>
          </p:cNvCxnSpPr>
          <p:nvPr/>
        </p:nvCxnSpPr>
        <p:spPr bwMode="auto">
          <a:xfrm flipH="1">
            <a:off x="3124200" y="5426075"/>
            <a:ext cx="269875" cy="168275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63" name="AutoShape 37"/>
          <p:cNvCxnSpPr>
            <a:cxnSpLocks noChangeShapeType="1"/>
            <a:stCxn id="14357" idx="2"/>
            <a:endCxn id="14358" idx="0"/>
          </p:cNvCxnSpPr>
          <p:nvPr/>
        </p:nvCxnSpPr>
        <p:spPr bwMode="auto">
          <a:xfrm>
            <a:off x="3394075" y="5426075"/>
            <a:ext cx="382588" cy="168275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64" name="AutoShape 38"/>
          <p:cNvCxnSpPr>
            <a:cxnSpLocks noChangeShapeType="1"/>
            <a:stCxn id="14359" idx="2"/>
            <a:endCxn id="14360" idx="0"/>
          </p:cNvCxnSpPr>
          <p:nvPr/>
        </p:nvCxnSpPr>
        <p:spPr bwMode="auto">
          <a:xfrm>
            <a:off x="3124200" y="5908675"/>
            <a:ext cx="0" cy="168275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65" name="Text Box 39"/>
          <p:cNvSpPr txBox="1">
            <a:spLocks noChangeArrowheads="1"/>
          </p:cNvSpPr>
          <p:nvPr/>
        </p:nvSpPr>
        <p:spPr bwMode="auto">
          <a:xfrm>
            <a:off x="3478213" y="6072188"/>
            <a:ext cx="593725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solidFill>
                  <a:schemeClr val="hlink"/>
                </a:solidFill>
                <a:ea typeface="宋体" panose="02010600030101010101" pitchFamily="2" charset="-122"/>
              </a:rPr>
              <a:t>m:1</a:t>
            </a:r>
          </a:p>
        </p:txBody>
      </p:sp>
      <p:cxnSp>
        <p:nvCxnSpPr>
          <p:cNvPr id="14366" name="AutoShape 40"/>
          <p:cNvCxnSpPr>
            <a:cxnSpLocks noChangeShapeType="1"/>
            <a:stCxn id="14358" idx="2"/>
            <a:endCxn id="14365" idx="0"/>
          </p:cNvCxnSpPr>
          <p:nvPr/>
        </p:nvCxnSpPr>
        <p:spPr bwMode="auto">
          <a:xfrm>
            <a:off x="3776663" y="5908675"/>
            <a:ext cx="0" cy="168275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67" name="Text Box 41"/>
          <p:cNvSpPr txBox="1">
            <a:spLocks noChangeArrowheads="1"/>
          </p:cNvSpPr>
          <p:nvPr/>
        </p:nvSpPr>
        <p:spPr bwMode="auto">
          <a:xfrm>
            <a:off x="214313" y="3824288"/>
            <a:ext cx="2543175" cy="23018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lnSpc>
                <a:spcPct val="90000"/>
              </a:lnSpc>
            </a:pPr>
            <a:r>
              <a:rPr lang="en-US" altLang="zh-CN" sz="2000" b="1">
                <a:ea typeface="宋体" panose="02010600030101010101" pitchFamily="2" charset="-122"/>
              </a:rPr>
              <a:t>Header Table</a:t>
            </a:r>
          </a:p>
          <a:p>
            <a:pPr algn="l">
              <a:lnSpc>
                <a:spcPct val="90000"/>
              </a:lnSpc>
            </a:pPr>
            <a:r>
              <a:rPr lang="en-US" altLang="zh-CN" sz="2000" b="1" i="1" u="sng">
                <a:ea typeface="宋体" panose="02010600030101010101" pitchFamily="2" charset="-122"/>
              </a:rPr>
              <a:t>Item  frequency  head </a:t>
            </a:r>
          </a:p>
          <a:p>
            <a:pPr algn="l">
              <a:lnSpc>
                <a:spcPct val="9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 f	4</a:t>
            </a:r>
          </a:p>
          <a:p>
            <a:pPr algn="l">
              <a:lnSpc>
                <a:spcPct val="9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c	4</a:t>
            </a:r>
          </a:p>
          <a:p>
            <a:pPr algn="l">
              <a:lnSpc>
                <a:spcPct val="9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a	3</a:t>
            </a:r>
          </a:p>
          <a:p>
            <a:pPr algn="l">
              <a:lnSpc>
                <a:spcPct val="9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b	3</a:t>
            </a:r>
          </a:p>
          <a:p>
            <a:pPr algn="l">
              <a:lnSpc>
                <a:spcPct val="9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m	3</a:t>
            </a:r>
          </a:p>
          <a:p>
            <a:pPr algn="l">
              <a:lnSpc>
                <a:spcPct val="9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p	3</a:t>
            </a:r>
            <a:endParaRPr lang="en-US" altLang="zh-CN" sz="2000">
              <a:ea typeface="宋体" panose="02010600030101010101" pitchFamily="2" charset="-122"/>
            </a:endParaRPr>
          </a:p>
        </p:txBody>
      </p:sp>
      <p:sp>
        <p:nvSpPr>
          <p:cNvPr id="14368" name="Freeform 42"/>
          <p:cNvSpPr>
            <a:spLocks/>
          </p:cNvSpPr>
          <p:nvPr/>
        </p:nvSpPr>
        <p:spPr bwMode="auto">
          <a:xfrm>
            <a:off x="2424113" y="4311650"/>
            <a:ext cx="1074737" cy="301625"/>
          </a:xfrm>
          <a:custGeom>
            <a:avLst/>
            <a:gdLst>
              <a:gd name="T0" fmla="*/ 0 w 672"/>
              <a:gd name="T1" fmla="*/ 379073563 h 240"/>
              <a:gd name="T2" fmla="*/ 736645783 w 672"/>
              <a:gd name="T3" fmla="*/ 303258804 h 240"/>
              <a:gd name="T4" fmla="*/ 1104967175 w 672"/>
              <a:gd name="T5" fmla="*/ 75814701 h 240"/>
              <a:gd name="T6" fmla="*/ 1718838894 w 672"/>
              <a:gd name="T7" fmla="*/ 0 h 240"/>
              <a:gd name="T8" fmla="*/ 0 60000 65536"/>
              <a:gd name="T9" fmla="*/ 0 60000 65536"/>
              <a:gd name="T10" fmla="*/ 0 60000 65536"/>
              <a:gd name="T11" fmla="*/ 0 60000 65536"/>
              <a:gd name="T12" fmla="*/ 0 w 672"/>
              <a:gd name="T13" fmla="*/ 0 h 240"/>
              <a:gd name="T14" fmla="*/ 672 w 672"/>
              <a:gd name="T15" fmla="*/ 240 h 2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2" h="240">
                <a:moveTo>
                  <a:pt x="0" y="240"/>
                </a:moveTo>
                <a:cubicBezTo>
                  <a:pt x="108" y="232"/>
                  <a:pt x="216" y="224"/>
                  <a:pt x="288" y="192"/>
                </a:cubicBezTo>
                <a:cubicBezTo>
                  <a:pt x="360" y="160"/>
                  <a:pt x="368" y="80"/>
                  <a:pt x="432" y="48"/>
                </a:cubicBezTo>
                <a:cubicBezTo>
                  <a:pt x="496" y="16"/>
                  <a:pt x="584" y="8"/>
                  <a:pt x="672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369" name="Freeform 43"/>
          <p:cNvSpPr>
            <a:spLocks/>
          </p:cNvSpPr>
          <p:nvPr/>
        </p:nvSpPr>
        <p:spPr bwMode="auto">
          <a:xfrm>
            <a:off x="2424113" y="4795838"/>
            <a:ext cx="690562" cy="0"/>
          </a:xfrm>
          <a:custGeom>
            <a:avLst/>
            <a:gdLst>
              <a:gd name="T0" fmla="*/ 0 w 432"/>
              <a:gd name="T1" fmla="*/ 0 h 1"/>
              <a:gd name="T2" fmla="*/ 1103879430 w 432"/>
              <a:gd name="T3" fmla="*/ 0 h 1"/>
              <a:gd name="T4" fmla="*/ 0 60000 65536"/>
              <a:gd name="T5" fmla="*/ 0 60000 65536"/>
              <a:gd name="T6" fmla="*/ 0 w 432"/>
              <a:gd name="T7" fmla="*/ 0 h 1"/>
              <a:gd name="T8" fmla="*/ 432 w 432"/>
              <a:gd name="T9" fmla="*/ 0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32" h="1">
                <a:moveTo>
                  <a:pt x="0" y="0"/>
                </a:moveTo>
                <a:cubicBezTo>
                  <a:pt x="0" y="0"/>
                  <a:pt x="216" y="0"/>
                  <a:pt x="432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370" name="Freeform 44"/>
          <p:cNvSpPr>
            <a:spLocks/>
          </p:cNvSpPr>
          <p:nvPr/>
        </p:nvSpPr>
        <p:spPr bwMode="auto">
          <a:xfrm>
            <a:off x="3575050" y="4311650"/>
            <a:ext cx="768350" cy="484188"/>
          </a:xfrm>
          <a:custGeom>
            <a:avLst/>
            <a:gdLst>
              <a:gd name="T0" fmla="*/ 0 w 480"/>
              <a:gd name="T1" fmla="*/ 610515639 h 384"/>
              <a:gd name="T2" fmla="*/ 122992044 w 480"/>
              <a:gd name="T3" fmla="*/ 534201834 h 384"/>
              <a:gd name="T4" fmla="*/ 614960171 w 480"/>
              <a:gd name="T5" fmla="*/ 152628910 h 384"/>
              <a:gd name="T6" fmla="*/ 1229920343 w 480"/>
              <a:gd name="T7" fmla="*/ 0 h 384"/>
              <a:gd name="T8" fmla="*/ 0 60000 65536"/>
              <a:gd name="T9" fmla="*/ 0 60000 65536"/>
              <a:gd name="T10" fmla="*/ 0 60000 65536"/>
              <a:gd name="T11" fmla="*/ 0 60000 65536"/>
              <a:gd name="T12" fmla="*/ 0 w 480"/>
              <a:gd name="T13" fmla="*/ 0 h 384"/>
              <a:gd name="T14" fmla="*/ 480 w 480"/>
              <a:gd name="T15" fmla="*/ 384 h 3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80" h="384">
                <a:moveTo>
                  <a:pt x="0" y="384"/>
                </a:moveTo>
                <a:cubicBezTo>
                  <a:pt x="4" y="384"/>
                  <a:pt x="8" y="384"/>
                  <a:pt x="48" y="336"/>
                </a:cubicBezTo>
                <a:cubicBezTo>
                  <a:pt x="88" y="288"/>
                  <a:pt x="168" y="152"/>
                  <a:pt x="240" y="96"/>
                </a:cubicBezTo>
                <a:cubicBezTo>
                  <a:pt x="312" y="40"/>
                  <a:pt x="396" y="20"/>
                  <a:pt x="480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371" name="Freeform 45"/>
          <p:cNvSpPr>
            <a:spLocks/>
          </p:cNvSpPr>
          <p:nvPr/>
        </p:nvSpPr>
        <p:spPr bwMode="auto">
          <a:xfrm>
            <a:off x="2424113" y="5051425"/>
            <a:ext cx="690562" cy="241300"/>
          </a:xfrm>
          <a:custGeom>
            <a:avLst/>
            <a:gdLst>
              <a:gd name="T0" fmla="*/ 0 w 432"/>
              <a:gd name="T1" fmla="*/ 0 h 192"/>
              <a:gd name="T2" fmla="*/ 367959244 w 432"/>
              <a:gd name="T3" fmla="*/ 75814696 h 192"/>
              <a:gd name="T4" fmla="*/ 735920086 w 432"/>
              <a:gd name="T5" fmla="*/ 227444108 h 192"/>
              <a:gd name="T6" fmla="*/ 1103879430 w 432"/>
              <a:gd name="T7" fmla="*/ 303258784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432"/>
              <a:gd name="T13" fmla="*/ 0 h 192"/>
              <a:gd name="T14" fmla="*/ 432 w 432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" h="192">
                <a:moveTo>
                  <a:pt x="0" y="0"/>
                </a:moveTo>
                <a:cubicBezTo>
                  <a:pt x="48" y="12"/>
                  <a:pt x="96" y="24"/>
                  <a:pt x="144" y="48"/>
                </a:cubicBezTo>
                <a:cubicBezTo>
                  <a:pt x="192" y="72"/>
                  <a:pt x="240" y="120"/>
                  <a:pt x="288" y="144"/>
                </a:cubicBezTo>
                <a:cubicBezTo>
                  <a:pt x="336" y="168"/>
                  <a:pt x="384" y="180"/>
                  <a:pt x="432" y="192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372" name="Freeform 46"/>
          <p:cNvSpPr>
            <a:spLocks/>
          </p:cNvSpPr>
          <p:nvPr/>
        </p:nvSpPr>
        <p:spPr bwMode="auto">
          <a:xfrm>
            <a:off x="2439988" y="5232400"/>
            <a:ext cx="1149350" cy="482600"/>
          </a:xfrm>
          <a:custGeom>
            <a:avLst/>
            <a:gdLst>
              <a:gd name="T0" fmla="*/ 0 w 720"/>
              <a:gd name="T1" fmla="*/ 0 h 384"/>
              <a:gd name="T2" fmla="*/ 611577109 w 720"/>
              <a:gd name="T3" fmla="*/ 75814696 h 384"/>
              <a:gd name="T4" fmla="*/ 1345468961 w 720"/>
              <a:gd name="T5" fmla="*/ 454888216 h 384"/>
              <a:gd name="T6" fmla="*/ 1834729930 w 720"/>
              <a:gd name="T7" fmla="*/ 606517568 h 384"/>
              <a:gd name="T8" fmla="*/ 0 60000 65536"/>
              <a:gd name="T9" fmla="*/ 0 60000 65536"/>
              <a:gd name="T10" fmla="*/ 0 60000 65536"/>
              <a:gd name="T11" fmla="*/ 0 60000 65536"/>
              <a:gd name="T12" fmla="*/ 0 w 720"/>
              <a:gd name="T13" fmla="*/ 0 h 384"/>
              <a:gd name="T14" fmla="*/ 720 w 720"/>
              <a:gd name="T15" fmla="*/ 384 h 3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20" h="384">
                <a:moveTo>
                  <a:pt x="0" y="0"/>
                </a:moveTo>
                <a:cubicBezTo>
                  <a:pt x="76" y="0"/>
                  <a:pt x="152" y="0"/>
                  <a:pt x="240" y="48"/>
                </a:cubicBezTo>
                <a:cubicBezTo>
                  <a:pt x="328" y="96"/>
                  <a:pt x="448" y="232"/>
                  <a:pt x="528" y="288"/>
                </a:cubicBezTo>
                <a:cubicBezTo>
                  <a:pt x="608" y="344"/>
                  <a:pt x="664" y="364"/>
                  <a:pt x="720" y="384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373" name="Freeform 47"/>
          <p:cNvSpPr>
            <a:spLocks/>
          </p:cNvSpPr>
          <p:nvPr/>
        </p:nvSpPr>
        <p:spPr bwMode="auto">
          <a:xfrm>
            <a:off x="3973513" y="4929188"/>
            <a:ext cx="90487" cy="846137"/>
          </a:xfrm>
          <a:custGeom>
            <a:avLst/>
            <a:gdLst>
              <a:gd name="T0" fmla="*/ 0 w 56"/>
              <a:gd name="T1" fmla="*/ 1065398474 h 672"/>
              <a:gd name="T2" fmla="*/ 125324511 w 56"/>
              <a:gd name="T3" fmla="*/ 684898861 h 672"/>
              <a:gd name="T4" fmla="*/ 125324511 w 56"/>
              <a:gd name="T5" fmla="*/ 0 h 672"/>
              <a:gd name="T6" fmla="*/ 0 60000 65536"/>
              <a:gd name="T7" fmla="*/ 0 60000 65536"/>
              <a:gd name="T8" fmla="*/ 0 60000 65536"/>
              <a:gd name="T9" fmla="*/ 0 w 56"/>
              <a:gd name="T10" fmla="*/ 0 h 672"/>
              <a:gd name="T11" fmla="*/ 56 w 56"/>
              <a:gd name="T12" fmla="*/ 672 h 67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6" h="672">
                <a:moveTo>
                  <a:pt x="0" y="672"/>
                </a:moveTo>
                <a:cubicBezTo>
                  <a:pt x="20" y="608"/>
                  <a:pt x="40" y="544"/>
                  <a:pt x="48" y="432"/>
                </a:cubicBezTo>
                <a:cubicBezTo>
                  <a:pt x="56" y="320"/>
                  <a:pt x="52" y="160"/>
                  <a:pt x="48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374" name="Line 48"/>
          <p:cNvSpPr>
            <a:spLocks noChangeShapeType="1"/>
          </p:cNvSpPr>
          <p:nvPr/>
        </p:nvSpPr>
        <p:spPr bwMode="auto">
          <a:xfrm>
            <a:off x="4189413" y="4795838"/>
            <a:ext cx="153987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75" name="Freeform 49"/>
          <p:cNvSpPr>
            <a:spLocks/>
          </p:cNvSpPr>
          <p:nvPr/>
        </p:nvSpPr>
        <p:spPr bwMode="auto">
          <a:xfrm>
            <a:off x="2439988" y="5473700"/>
            <a:ext cx="460375" cy="301625"/>
          </a:xfrm>
          <a:custGeom>
            <a:avLst/>
            <a:gdLst>
              <a:gd name="T0" fmla="*/ 0 w 288"/>
              <a:gd name="T1" fmla="*/ 0 h 240"/>
              <a:gd name="T2" fmla="*/ 367961057 w 288"/>
              <a:gd name="T3" fmla="*/ 75814701 h 240"/>
              <a:gd name="T4" fmla="*/ 490614276 w 288"/>
              <a:gd name="T5" fmla="*/ 303258804 h 240"/>
              <a:gd name="T6" fmla="*/ 735920515 w 288"/>
              <a:gd name="T7" fmla="*/ 379073563 h 240"/>
              <a:gd name="T8" fmla="*/ 0 60000 65536"/>
              <a:gd name="T9" fmla="*/ 0 60000 65536"/>
              <a:gd name="T10" fmla="*/ 0 60000 65536"/>
              <a:gd name="T11" fmla="*/ 0 60000 65536"/>
              <a:gd name="T12" fmla="*/ 0 w 288"/>
              <a:gd name="T13" fmla="*/ 0 h 240"/>
              <a:gd name="T14" fmla="*/ 288 w 288"/>
              <a:gd name="T15" fmla="*/ 240 h 2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88" h="240">
                <a:moveTo>
                  <a:pt x="0" y="0"/>
                </a:moveTo>
                <a:cubicBezTo>
                  <a:pt x="56" y="8"/>
                  <a:pt x="112" y="16"/>
                  <a:pt x="144" y="48"/>
                </a:cubicBezTo>
                <a:cubicBezTo>
                  <a:pt x="176" y="80"/>
                  <a:pt x="168" y="160"/>
                  <a:pt x="192" y="192"/>
                </a:cubicBezTo>
                <a:cubicBezTo>
                  <a:pt x="216" y="224"/>
                  <a:pt x="252" y="232"/>
                  <a:pt x="288" y="24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376" name="Freeform 50"/>
          <p:cNvSpPr>
            <a:spLocks/>
          </p:cNvSpPr>
          <p:nvPr/>
        </p:nvSpPr>
        <p:spPr bwMode="auto">
          <a:xfrm>
            <a:off x="3359150" y="5775325"/>
            <a:ext cx="153988" cy="484188"/>
          </a:xfrm>
          <a:custGeom>
            <a:avLst/>
            <a:gdLst>
              <a:gd name="T0" fmla="*/ 0 w 96"/>
              <a:gd name="T1" fmla="*/ 0 h 384"/>
              <a:gd name="T2" fmla="*/ 123501595 w 96"/>
              <a:gd name="T3" fmla="*/ 152628910 h 384"/>
              <a:gd name="T4" fmla="*/ 123501595 w 96"/>
              <a:gd name="T5" fmla="*/ 457886769 h 384"/>
              <a:gd name="T6" fmla="*/ 247003190 w 96"/>
              <a:gd name="T7" fmla="*/ 610515639 h 384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384"/>
              <a:gd name="T14" fmla="*/ 96 w 96"/>
              <a:gd name="T15" fmla="*/ 384 h 3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384">
                <a:moveTo>
                  <a:pt x="0" y="0"/>
                </a:moveTo>
                <a:cubicBezTo>
                  <a:pt x="20" y="24"/>
                  <a:pt x="40" y="48"/>
                  <a:pt x="48" y="96"/>
                </a:cubicBezTo>
                <a:cubicBezTo>
                  <a:pt x="56" y="144"/>
                  <a:pt x="40" y="240"/>
                  <a:pt x="48" y="288"/>
                </a:cubicBezTo>
                <a:cubicBezTo>
                  <a:pt x="56" y="336"/>
                  <a:pt x="76" y="360"/>
                  <a:pt x="96" y="384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377" name="Freeform 51"/>
          <p:cNvSpPr>
            <a:spLocks/>
          </p:cNvSpPr>
          <p:nvPr/>
        </p:nvSpPr>
        <p:spPr bwMode="auto">
          <a:xfrm>
            <a:off x="2439988" y="5715000"/>
            <a:ext cx="460375" cy="544513"/>
          </a:xfrm>
          <a:custGeom>
            <a:avLst/>
            <a:gdLst>
              <a:gd name="T0" fmla="*/ 0 w 288"/>
              <a:gd name="T1" fmla="*/ 0 h 432"/>
              <a:gd name="T2" fmla="*/ 245306339 w 288"/>
              <a:gd name="T3" fmla="*/ 228776143 h 432"/>
              <a:gd name="T4" fmla="*/ 367961057 w 288"/>
              <a:gd name="T5" fmla="*/ 533811814 h 432"/>
              <a:gd name="T6" fmla="*/ 735920515 w 288"/>
              <a:gd name="T7" fmla="*/ 686329767 h 432"/>
              <a:gd name="T8" fmla="*/ 0 60000 65536"/>
              <a:gd name="T9" fmla="*/ 0 60000 65536"/>
              <a:gd name="T10" fmla="*/ 0 60000 65536"/>
              <a:gd name="T11" fmla="*/ 0 60000 65536"/>
              <a:gd name="T12" fmla="*/ 0 w 288"/>
              <a:gd name="T13" fmla="*/ 0 h 432"/>
              <a:gd name="T14" fmla="*/ 288 w 288"/>
              <a:gd name="T15" fmla="*/ 432 h 4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88" h="432">
                <a:moveTo>
                  <a:pt x="0" y="0"/>
                </a:moveTo>
                <a:cubicBezTo>
                  <a:pt x="36" y="44"/>
                  <a:pt x="72" y="88"/>
                  <a:pt x="96" y="144"/>
                </a:cubicBezTo>
                <a:cubicBezTo>
                  <a:pt x="120" y="200"/>
                  <a:pt x="112" y="288"/>
                  <a:pt x="144" y="336"/>
                </a:cubicBezTo>
                <a:cubicBezTo>
                  <a:pt x="176" y="384"/>
                  <a:pt x="232" y="408"/>
                  <a:pt x="288" y="432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378" name="Freeform 52"/>
          <p:cNvSpPr>
            <a:spLocks/>
          </p:cNvSpPr>
          <p:nvPr/>
        </p:nvSpPr>
        <p:spPr bwMode="auto">
          <a:xfrm>
            <a:off x="3359150" y="5413375"/>
            <a:ext cx="1228725" cy="846138"/>
          </a:xfrm>
          <a:custGeom>
            <a:avLst/>
            <a:gdLst>
              <a:gd name="T0" fmla="*/ 0 w 768"/>
              <a:gd name="T1" fmla="*/ 1065400992 h 672"/>
              <a:gd name="T2" fmla="*/ 245730623 w 768"/>
              <a:gd name="T3" fmla="*/ 837101206 h 672"/>
              <a:gd name="T4" fmla="*/ 1351515875 w 768"/>
              <a:gd name="T5" fmla="*/ 608800005 h 672"/>
              <a:gd name="T6" fmla="*/ 1965840182 w 768"/>
              <a:gd name="T7" fmla="*/ 0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768"/>
              <a:gd name="T13" fmla="*/ 0 h 672"/>
              <a:gd name="T14" fmla="*/ 768 w 768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68" h="672">
                <a:moveTo>
                  <a:pt x="0" y="672"/>
                </a:moveTo>
                <a:cubicBezTo>
                  <a:pt x="4" y="624"/>
                  <a:pt x="8" y="576"/>
                  <a:pt x="96" y="528"/>
                </a:cubicBezTo>
                <a:cubicBezTo>
                  <a:pt x="184" y="480"/>
                  <a:pt x="416" y="472"/>
                  <a:pt x="528" y="384"/>
                </a:cubicBezTo>
                <a:cubicBezTo>
                  <a:pt x="640" y="296"/>
                  <a:pt x="704" y="148"/>
                  <a:pt x="768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379" name="Rectangle 4"/>
          <p:cNvSpPr>
            <a:spLocks noChangeArrowheads="1"/>
          </p:cNvSpPr>
          <p:nvPr/>
        </p:nvSpPr>
        <p:spPr bwMode="auto">
          <a:xfrm>
            <a:off x="6315075" y="4079875"/>
            <a:ext cx="3357563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zh-CN" sz="2000" b="1" i="1">
                <a:ea typeface="宋体" panose="02010600030101010101" pitchFamily="2" charset="-122"/>
              </a:rPr>
              <a:t>Conditional </a:t>
            </a:r>
            <a:r>
              <a:rPr lang="en-US" altLang="zh-CN" sz="2000" b="1">
                <a:ea typeface="宋体" panose="02010600030101010101" pitchFamily="2" charset="-122"/>
              </a:rPr>
              <a:t>pattern bases</a:t>
            </a:r>
          </a:p>
          <a:p>
            <a:pPr algn="l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i="1" u="sng">
                <a:ea typeface="宋体" panose="02010600030101010101" pitchFamily="2" charset="-122"/>
              </a:rPr>
              <a:t>item	cond. pattern base</a:t>
            </a:r>
          </a:p>
          <a:p>
            <a:pPr algn="l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i="1">
                <a:ea typeface="宋体" panose="02010600030101010101" pitchFamily="2" charset="-122"/>
              </a:rPr>
              <a:t>mf</a:t>
            </a:r>
          </a:p>
          <a:p>
            <a:pPr algn="l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i="1">
                <a:ea typeface="宋体" panose="02010600030101010101" pitchFamily="2" charset="-122"/>
              </a:rPr>
              <a:t>mc         f:3 </a:t>
            </a:r>
          </a:p>
          <a:p>
            <a:pPr algn="l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i="1">
                <a:ea typeface="宋体" panose="02010600030101010101" pitchFamily="2" charset="-122"/>
              </a:rPr>
              <a:t>ma	fc:3</a:t>
            </a:r>
          </a:p>
          <a:p>
            <a:pPr algn="l">
              <a:lnSpc>
                <a:spcPct val="80000"/>
              </a:lnSpc>
              <a:spcBef>
                <a:spcPct val="50000"/>
              </a:spcBef>
            </a:pPr>
            <a:endParaRPr lang="en-US" altLang="zh-CN" sz="2000" b="1" i="1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5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6096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zh-CN" altLang="en-US" sz="2800" dirty="0">
                <a:ea typeface="宋体" pitchFamily="2" charset="-122"/>
              </a:rPr>
              <a:t>递归构造条件模式基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2775" y="1600200"/>
            <a:ext cx="8048625" cy="12573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用每一个项目的条件模式基作为输入，递归</a:t>
            </a:r>
            <a:r>
              <a:rPr lang="en-US" altLang="zh-CN">
                <a:ea typeface="宋体" panose="02010600030101010101" pitchFamily="2" charset="-122"/>
              </a:rPr>
              <a:t>FP-Growth</a:t>
            </a:r>
            <a:r>
              <a:rPr lang="zh-CN" altLang="en-US">
                <a:ea typeface="宋体" panose="02010600030101010101" pitchFamily="2" charset="-122"/>
              </a:rPr>
              <a:t>算法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5181600" y="3429000"/>
            <a:ext cx="3276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1800" b="1" i="1">
                <a:ea typeface="宋体" panose="02010600030101010101" pitchFamily="2" charset="-122"/>
              </a:rPr>
              <a:t>ma-conditional </a:t>
            </a:r>
            <a:r>
              <a:rPr lang="en-US" altLang="zh-CN" sz="1800" b="1">
                <a:ea typeface="宋体" panose="02010600030101010101" pitchFamily="2" charset="-122"/>
              </a:rPr>
              <a:t>pattern base:</a:t>
            </a:r>
          </a:p>
          <a:p>
            <a:pPr lvl="1" algn="l"/>
            <a:r>
              <a:rPr lang="en-US" altLang="zh-CN" sz="1800" b="1" i="1">
                <a:ea typeface="宋体" panose="02010600030101010101" pitchFamily="2" charset="-122"/>
              </a:rPr>
              <a:t>fc:3</a:t>
            </a:r>
          </a:p>
        </p:txBody>
      </p:sp>
      <p:grpSp>
        <p:nvGrpSpPr>
          <p:cNvPr id="15365" name="Group 5"/>
          <p:cNvGrpSpPr>
            <a:grpSpLocks/>
          </p:cNvGrpSpPr>
          <p:nvPr/>
        </p:nvGrpSpPr>
        <p:grpSpPr bwMode="auto">
          <a:xfrm>
            <a:off x="4572000" y="4343400"/>
            <a:ext cx="2430463" cy="2303463"/>
            <a:chOff x="3312" y="2736"/>
            <a:chExt cx="1531" cy="1451"/>
          </a:xfrm>
        </p:grpSpPr>
        <p:grpSp>
          <p:nvGrpSpPr>
            <p:cNvPr id="15404" name="Group 6"/>
            <p:cNvGrpSpPr>
              <a:grpSpLocks/>
            </p:cNvGrpSpPr>
            <p:nvPr/>
          </p:nvGrpSpPr>
          <p:grpSpPr bwMode="auto">
            <a:xfrm>
              <a:off x="3797" y="2736"/>
              <a:ext cx="320" cy="961"/>
              <a:chOff x="2287" y="2456"/>
              <a:chExt cx="320" cy="961"/>
            </a:xfrm>
          </p:grpSpPr>
          <p:sp>
            <p:nvSpPr>
              <p:cNvPr id="15406" name="Text Box 7"/>
              <p:cNvSpPr txBox="1">
                <a:spLocks noChangeArrowheads="1"/>
              </p:cNvSpPr>
              <p:nvPr/>
            </p:nvSpPr>
            <p:spPr bwMode="auto">
              <a:xfrm>
                <a:off x="2312" y="2456"/>
                <a:ext cx="27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/>
                <a:r>
                  <a:rPr lang="zh-CN" altLang="en-US" sz="2000">
                    <a:ea typeface="宋体" panose="02010600030101010101" pitchFamily="2" charset="-122"/>
                  </a:rPr>
                  <a:t>{}</a:t>
                </a:r>
              </a:p>
            </p:txBody>
          </p:sp>
          <p:sp>
            <p:nvSpPr>
              <p:cNvPr id="15407" name="Text Box 8"/>
              <p:cNvSpPr txBox="1">
                <a:spLocks noChangeArrowheads="1"/>
              </p:cNvSpPr>
              <p:nvPr/>
            </p:nvSpPr>
            <p:spPr bwMode="auto">
              <a:xfrm>
                <a:off x="2300" y="2825"/>
                <a:ext cx="29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/>
                <a:r>
                  <a:rPr lang="en-US" altLang="zh-CN" sz="2000" i="1">
                    <a:ea typeface="宋体" panose="02010600030101010101" pitchFamily="2" charset="-122"/>
                  </a:rPr>
                  <a:t>f:3</a:t>
                </a:r>
              </a:p>
            </p:txBody>
          </p:sp>
          <p:sp>
            <p:nvSpPr>
              <p:cNvPr id="15408" name="Text Box 9"/>
              <p:cNvSpPr txBox="1">
                <a:spLocks noChangeArrowheads="1"/>
              </p:cNvSpPr>
              <p:nvPr/>
            </p:nvSpPr>
            <p:spPr bwMode="auto">
              <a:xfrm>
                <a:off x="2287" y="3167"/>
                <a:ext cx="32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/>
                <a:r>
                  <a:rPr lang="en-US" altLang="zh-CN" sz="2000" i="1">
                    <a:ea typeface="宋体" panose="02010600030101010101" pitchFamily="2" charset="-122"/>
                  </a:rPr>
                  <a:t>c:3</a:t>
                </a:r>
              </a:p>
            </p:txBody>
          </p:sp>
          <p:cxnSp>
            <p:nvCxnSpPr>
              <p:cNvPr id="15409" name="AutoShape 11"/>
              <p:cNvCxnSpPr>
                <a:cxnSpLocks noChangeShapeType="1"/>
                <a:stCxn id="15406" idx="2"/>
                <a:endCxn id="15407" idx="0"/>
              </p:cNvCxnSpPr>
              <p:nvPr/>
            </p:nvCxnSpPr>
            <p:spPr bwMode="auto">
              <a:xfrm rot="5400000">
                <a:off x="2387" y="2765"/>
                <a:ext cx="119" cy="1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410" name="AutoShape 12"/>
              <p:cNvCxnSpPr>
                <a:cxnSpLocks noChangeShapeType="1"/>
                <a:stCxn id="15407" idx="2"/>
                <a:endCxn id="15408" idx="0"/>
              </p:cNvCxnSpPr>
              <p:nvPr/>
            </p:nvCxnSpPr>
            <p:spPr bwMode="auto">
              <a:xfrm rot="16200000" flipH="1">
                <a:off x="2401" y="3121"/>
                <a:ext cx="92" cy="1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5405" name="Text Box 14"/>
            <p:cNvSpPr txBox="1">
              <a:spLocks noChangeArrowheads="1"/>
            </p:cNvSpPr>
            <p:nvPr/>
          </p:nvSpPr>
          <p:spPr bwMode="auto">
            <a:xfrm>
              <a:off x="3312" y="3954"/>
              <a:ext cx="153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1800" b="1" i="1">
                  <a:ea typeface="宋体" panose="02010600030101010101" pitchFamily="2" charset="-122"/>
                </a:rPr>
                <a:t>ma-conditional </a:t>
              </a:r>
              <a:r>
                <a:rPr lang="en-US" altLang="zh-CN" sz="1800" b="1">
                  <a:ea typeface="宋体" panose="02010600030101010101" pitchFamily="2" charset="-122"/>
                </a:rPr>
                <a:t>FP-tree</a:t>
              </a:r>
              <a:endParaRPr lang="en-US" altLang="zh-CN" sz="1800" b="1" i="1">
                <a:ea typeface="宋体" panose="02010600030101010101" pitchFamily="2" charset="-122"/>
              </a:endParaRPr>
            </a:p>
          </p:txBody>
        </p:sp>
      </p:grpSp>
      <p:sp>
        <p:nvSpPr>
          <p:cNvPr id="15366" name="Text Box 16"/>
          <p:cNvSpPr txBox="1">
            <a:spLocks noChangeArrowheads="1"/>
          </p:cNvSpPr>
          <p:nvPr/>
        </p:nvSpPr>
        <p:spPr bwMode="auto">
          <a:xfrm>
            <a:off x="5105400" y="4724400"/>
            <a:ext cx="590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400" b="1">
                <a:ea typeface="宋体" panose="02010600030101010101" pitchFamily="2" charset="-122"/>
                <a:sym typeface="Wingdings 3" panose="05040102010807070707" pitchFamily="18" charset="2"/>
              </a:rPr>
              <a:t></a:t>
            </a:r>
            <a:endParaRPr lang="zh-CN" altLang="en-US" sz="2400" b="1">
              <a:ea typeface="宋体" panose="02010600030101010101" pitchFamily="2" charset="-122"/>
            </a:endParaRPr>
          </a:p>
        </p:txBody>
      </p:sp>
      <p:sp>
        <p:nvSpPr>
          <p:cNvPr id="15367" name="Rectangle 17"/>
          <p:cNvSpPr>
            <a:spLocks noChangeArrowheads="1"/>
          </p:cNvSpPr>
          <p:nvPr/>
        </p:nvSpPr>
        <p:spPr bwMode="auto">
          <a:xfrm>
            <a:off x="5715000" y="4786313"/>
            <a:ext cx="496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400" b="1">
                <a:ea typeface="宋体" panose="02010600030101010101" pitchFamily="2" charset="-122"/>
                <a:sym typeface="Wingdings 3" panose="05040102010807070707" pitchFamily="18" charset="2"/>
              </a:rPr>
              <a:t></a:t>
            </a:r>
          </a:p>
        </p:txBody>
      </p:sp>
      <p:sp>
        <p:nvSpPr>
          <p:cNvPr id="15368" name="Text Box 18"/>
          <p:cNvSpPr txBox="1">
            <a:spLocks noChangeArrowheads="1"/>
          </p:cNvSpPr>
          <p:nvPr/>
        </p:nvSpPr>
        <p:spPr bwMode="auto">
          <a:xfrm>
            <a:off x="3892550" y="3595688"/>
            <a:ext cx="441325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zh-CN" altLang="en-US" sz="2000">
                <a:ea typeface="宋体" panose="02010600030101010101" pitchFamily="2" charset="-122"/>
              </a:rPr>
              <a:t>{}</a:t>
            </a:r>
          </a:p>
        </p:txBody>
      </p:sp>
      <p:sp>
        <p:nvSpPr>
          <p:cNvPr id="15369" name="Text Box 19"/>
          <p:cNvSpPr txBox="1">
            <a:spLocks noChangeArrowheads="1"/>
          </p:cNvSpPr>
          <p:nvPr/>
        </p:nvSpPr>
        <p:spPr bwMode="auto">
          <a:xfrm>
            <a:off x="3430588" y="4140200"/>
            <a:ext cx="477837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solidFill>
                  <a:schemeClr val="hlink"/>
                </a:solidFill>
                <a:ea typeface="宋体" panose="02010600030101010101" pitchFamily="2" charset="-122"/>
              </a:rPr>
              <a:t>f:4</a:t>
            </a:r>
          </a:p>
        </p:txBody>
      </p:sp>
      <p:sp>
        <p:nvSpPr>
          <p:cNvPr id="15370" name="Text Box 20"/>
          <p:cNvSpPr txBox="1">
            <a:spLocks noChangeArrowheads="1"/>
          </p:cNvSpPr>
          <p:nvPr/>
        </p:nvSpPr>
        <p:spPr bwMode="auto">
          <a:xfrm>
            <a:off x="4351338" y="4140200"/>
            <a:ext cx="520700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ea typeface="宋体" panose="02010600030101010101" pitchFamily="2" charset="-122"/>
              </a:rPr>
              <a:t>c:1</a:t>
            </a:r>
          </a:p>
        </p:txBody>
      </p:sp>
      <p:sp>
        <p:nvSpPr>
          <p:cNvPr id="15371" name="Text Box 21"/>
          <p:cNvSpPr txBox="1">
            <a:spLocks noChangeArrowheads="1"/>
          </p:cNvSpPr>
          <p:nvPr/>
        </p:nvSpPr>
        <p:spPr bwMode="auto">
          <a:xfrm>
            <a:off x="4343400" y="4622800"/>
            <a:ext cx="533400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ea typeface="宋体" panose="02010600030101010101" pitchFamily="2" charset="-122"/>
              </a:rPr>
              <a:t>b:1</a:t>
            </a:r>
          </a:p>
        </p:txBody>
      </p:sp>
      <p:sp>
        <p:nvSpPr>
          <p:cNvPr id="15372" name="Text Box 22"/>
          <p:cNvSpPr txBox="1">
            <a:spLocks noChangeArrowheads="1"/>
          </p:cNvSpPr>
          <p:nvPr/>
        </p:nvSpPr>
        <p:spPr bwMode="auto">
          <a:xfrm>
            <a:off x="4343400" y="5105400"/>
            <a:ext cx="533400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ea typeface="宋体" panose="02010600030101010101" pitchFamily="2" charset="-122"/>
              </a:rPr>
              <a:t>p:1</a:t>
            </a:r>
          </a:p>
        </p:txBody>
      </p:sp>
      <p:cxnSp>
        <p:nvCxnSpPr>
          <p:cNvPr id="15373" name="AutoShape 23"/>
          <p:cNvCxnSpPr>
            <a:cxnSpLocks noChangeShapeType="1"/>
            <a:stCxn id="15370" idx="2"/>
            <a:endCxn id="15371" idx="0"/>
          </p:cNvCxnSpPr>
          <p:nvPr/>
        </p:nvCxnSpPr>
        <p:spPr bwMode="auto">
          <a:xfrm>
            <a:off x="4613275" y="4459288"/>
            <a:ext cx="1588" cy="168275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74" name="AutoShape 24"/>
          <p:cNvCxnSpPr>
            <a:cxnSpLocks noChangeShapeType="1"/>
            <a:stCxn id="15371" idx="2"/>
            <a:endCxn id="15372" idx="0"/>
          </p:cNvCxnSpPr>
          <p:nvPr/>
        </p:nvCxnSpPr>
        <p:spPr bwMode="auto">
          <a:xfrm>
            <a:off x="4614863" y="4941888"/>
            <a:ext cx="0" cy="169862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75" name="AutoShape 25"/>
          <p:cNvCxnSpPr>
            <a:cxnSpLocks noChangeShapeType="1"/>
            <a:stCxn id="15368" idx="2"/>
            <a:endCxn id="15370" idx="0"/>
          </p:cNvCxnSpPr>
          <p:nvPr/>
        </p:nvCxnSpPr>
        <p:spPr bwMode="auto">
          <a:xfrm>
            <a:off x="4113213" y="3914775"/>
            <a:ext cx="500062" cy="230188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76" name="AutoShape 26"/>
          <p:cNvCxnSpPr>
            <a:cxnSpLocks noChangeShapeType="1"/>
            <a:stCxn id="15368" idx="2"/>
            <a:endCxn id="15369" idx="0"/>
          </p:cNvCxnSpPr>
          <p:nvPr/>
        </p:nvCxnSpPr>
        <p:spPr bwMode="auto">
          <a:xfrm flipH="1">
            <a:off x="3671888" y="3914775"/>
            <a:ext cx="441325" cy="230188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377" name="Text Box 27"/>
          <p:cNvSpPr txBox="1">
            <a:spLocks noChangeArrowheads="1"/>
          </p:cNvSpPr>
          <p:nvPr/>
        </p:nvSpPr>
        <p:spPr bwMode="auto">
          <a:xfrm>
            <a:off x="3736975" y="4622800"/>
            <a:ext cx="534988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ea typeface="宋体" panose="02010600030101010101" pitchFamily="2" charset="-122"/>
              </a:rPr>
              <a:t>b:1</a:t>
            </a:r>
          </a:p>
        </p:txBody>
      </p:sp>
      <p:sp>
        <p:nvSpPr>
          <p:cNvPr id="15378" name="Text Box 28"/>
          <p:cNvSpPr txBox="1">
            <a:spLocks noChangeArrowheads="1"/>
          </p:cNvSpPr>
          <p:nvPr/>
        </p:nvSpPr>
        <p:spPr bwMode="auto">
          <a:xfrm>
            <a:off x="3133725" y="4622800"/>
            <a:ext cx="519113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solidFill>
                  <a:schemeClr val="hlink"/>
                </a:solidFill>
                <a:ea typeface="宋体" panose="02010600030101010101" pitchFamily="2" charset="-122"/>
              </a:rPr>
              <a:t>c:3</a:t>
            </a:r>
          </a:p>
        </p:txBody>
      </p:sp>
      <p:cxnSp>
        <p:nvCxnSpPr>
          <p:cNvPr id="15379" name="AutoShape 29"/>
          <p:cNvCxnSpPr>
            <a:cxnSpLocks noChangeShapeType="1"/>
            <a:stCxn id="15369" idx="2"/>
            <a:endCxn id="15378" idx="0"/>
          </p:cNvCxnSpPr>
          <p:nvPr/>
        </p:nvCxnSpPr>
        <p:spPr bwMode="auto">
          <a:xfrm flipH="1">
            <a:off x="3394075" y="4459288"/>
            <a:ext cx="277813" cy="168275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0" name="AutoShape 30"/>
          <p:cNvCxnSpPr>
            <a:cxnSpLocks noChangeShapeType="1"/>
            <a:stCxn id="15369" idx="2"/>
            <a:endCxn id="15377" idx="0"/>
          </p:cNvCxnSpPr>
          <p:nvPr/>
        </p:nvCxnSpPr>
        <p:spPr bwMode="auto">
          <a:xfrm>
            <a:off x="3671888" y="4459288"/>
            <a:ext cx="334962" cy="168275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381" name="Text Box 31"/>
          <p:cNvSpPr txBox="1">
            <a:spLocks noChangeArrowheads="1"/>
          </p:cNvSpPr>
          <p:nvPr/>
        </p:nvSpPr>
        <p:spPr bwMode="auto">
          <a:xfrm>
            <a:off x="3124200" y="5105400"/>
            <a:ext cx="534988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solidFill>
                  <a:schemeClr val="hlink"/>
                </a:solidFill>
                <a:ea typeface="宋体" panose="02010600030101010101" pitchFamily="2" charset="-122"/>
              </a:rPr>
              <a:t>a:3</a:t>
            </a:r>
          </a:p>
        </p:txBody>
      </p:sp>
      <p:sp>
        <p:nvSpPr>
          <p:cNvPr id="15382" name="Text Box 32"/>
          <p:cNvSpPr txBox="1">
            <a:spLocks noChangeArrowheads="1"/>
          </p:cNvSpPr>
          <p:nvPr/>
        </p:nvSpPr>
        <p:spPr bwMode="auto">
          <a:xfrm>
            <a:off x="3506788" y="5588000"/>
            <a:ext cx="534987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solidFill>
                  <a:schemeClr val="hlink"/>
                </a:solidFill>
                <a:ea typeface="宋体" panose="02010600030101010101" pitchFamily="2" charset="-122"/>
              </a:rPr>
              <a:t>b:1</a:t>
            </a:r>
          </a:p>
        </p:txBody>
      </p:sp>
      <p:sp>
        <p:nvSpPr>
          <p:cNvPr id="15383" name="Text Box 33"/>
          <p:cNvSpPr txBox="1">
            <a:spLocks noChangeArrowheads="1"/>
          </p:cNvSpPr>
          <p:nvPr/>
        </p:nvSpPr>
        <p:spPr bwMode="auto">
          <a:xfrm>
            <a:off x="2822575" y="5588000"/>
            <a:ext cx="592138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solidFill>
                  <a:schemeClr val="hlink"/>
                </a:solidFill>
                <a:ea typeface="宋体" panose="02010600030101010101" pitchFamily="2" charset="-122"/>
              </a:rPr>
              <a:t>m:2</a:t>
            </a:r>
          </a:p>
        </p:txBody>
      </p:sp>
      <p:sp>
        <p:nvSpPr>
          <p:cNvPr id="15384" name="Text Box 34"/>
          <p:cNvSpPr txBox="1">
            <a:spLocks noChangeArrowheads="1"/>
          </p:cNvSpPr>
          <p:nvPr/>
        </p:nvSpPr>
        <p:spPr bwMode="auto">
          <a:xfrm>
            <a:off x="2855913" y="6072188"/>
            <a:ext cx="536575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ea typeface="宋体" panose="02010600030101010101" pitchFamily="2" charset="-122"/>
              </a:rPr>
              <a:t>p:2</a:t>
            </a:r>
          </a:p>
        </p:txBody>
      </p:sp>
      <p:cxnSp>
        <p:nvCxnSpPr>
          <p:cNvPr id="15385" name="AutoShape 35"/>
          <p:cNvCxnSpPr>
            <a:cxnSpLocks noChangeShapeType="1"/>
            <a:stCxn id="15378" idx="2"/>
            <a:endCxn id="15381" idx="0"/>
          </p:cNvCxnSpPr>
          <p:nvPr/>
        </p:nvCxnSpPr>
        <p:spPr bwMode="auto">
          <a:xfrm>
            <a:off x="3394075" y="4941888"/>
            <a:ext cx="0" cy="169862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6" name="AutoShape 36"/>
          <p:cNvCxnSpPr>
            <a:cxnSpLocks noChangeShapeType="1"/>
            <a:stCxn id="15381" idx="2"/>
            <a:endCxn id="15383" idx="0"/>
          </p:cNvCxnSpPr>
          <p:nvPr/>
        </p:nvCxnSpPr>
        <p:spPr bwMode="auto">
          <a:xfrm flipH="1">
            <a:off x="3124200" y="5426075"/>
            <a:ext cx="269875" cy="168275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7" name="AutoShape 37"/>
          <p:cNvCxnSpPr>
            <a:cxnSpLocks noChangeShapeType="1"/>
            <a:stCxn id="15381" idx="2"/>
            <a:endCxn id="15382" idx="0"/>
          </p:cNvCxnSpPr>
          <p:nvPr/>
        </p:nvCxnSpPr>
        <p:spPr bwMode="auto">
          <a:xfrm>
            <a:off x="3394075" y="5426075"/>
            <a:ext cx="382588" cy="168275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8" name="AutoShape 38"/>
          <p:cNvCxnSpPr>
            <a:cxnSpLocks noChangeShapeType="1"/>
            <a:stCxn id="15383" idx="2"/>
            <a:endCxn id="15384" idx="0"/>
          </p:cNvCxnSpPr>
          <p:nvPr/>
        </p:nvCxnSpPr>
        <p:spPr bwMode="auto">
          <a:xfrm>
            <a:off x="3124200" y="5908675"/>
            <a:ext cx="0" cy="168275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389" name="Text Box 39"/>
          <p:cNvSpPr txBox="1">
            <a:spLocks noChangeArrowheads="1"/>
          </p:cNvSpPr>
          <p:nvPr/>
        </p:nvSpPr>
        <p:spPr bwMode="auto">
          <a:xfrm>
            <a:off x="3478213" y="6072188"/>
            <a:ext cx="593725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solidFill>
                  <a:schemeClr val="hlink"/>
                </a:solidFill>
                <a:ea typeface="宋体" panose="02010600030101010101" pitchFamily="2" charset="-122"/>
              </a:rPr>
              <a:t>m:1</a:t>
            </a:r>
          </a:p>
        </p:txBody>
      </p:sp>
      <p:cxnSp>
        <p:nvCxnSpPr>
          <p:cNvPr id="15390" name="AutoShape 40"/>
          <p:cNvCxnSpPr>
            <a:cxnSpLocks noChangeShapeType="1"/>
            <a:stCxn id="15382" idx="2"/>
            <a:endCxn id="15389" idx="0"/>
          </p:cNvCxnSpPr>
          <p:nvPr/>
        </p:nvCxnSpPr>
        <p:spPr bwMode="auto">
          <a:xfrm>
            <a:off x="3776663" y="5908675"/>
            <a:ext cx="0" cy="168275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391" name="Text Box 41"/>
          <p:cNvSpPr txBox="1">
            <a:spLocks noChangeArrowheads="1"/>
          </p:cNvSpPr>
          <p:nvPr/>
        </p:nvSpPr>
        <p:spPr bwMode="auto">
          <a:xfrm>
            <a:off x="214313" y="3824288"/>
            <a:ext cx="2543175" cy="23018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lnSpc>
                <a:spcPct val="90000"/>
              </a:lnSpc>
            </a:pPr>
            <a:r>
              <a:rPr lang="en-US" altLang="zh-CN" sz="2000" b="1">
                <a:ea typeface="宋体" panose="02010600030101010101" pitchFamily="2" charset="-122"/>
              </a:rPr>
              <a:t>Header Table</a:t>
            </a:r>
          </a:p>
          <a:p>
            <a:pPr algn="l">
              <a:lnSpc>
                <a:spcPct val="90000"/>
              </a:lnSpc>
            </a:pPr>
            <a:r>
              <a:rPr lang="en-US" altLang="zh-CN" sz="2000" b="1" i="1" u="sng">
                <a:ea typeface="宋体" panose="02010600030101010101" pitchFamily="2" charset="-122"/>
              </a:rPr>
              <a:t>Item  frequency  head </a:t>
            </a:r>
          </a:p>
          <a:p>
            <a:pPr algn="l">
              <a:lnSpc>
                <a:spcPct val="9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 f	4</a:t>
            </a:r>
          </a:p>
          <a:p>
            <a:pPr algn="l">
              <a:lnSpc>
                <a:spcPct val="9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c	4</a:t>
            </a:r>
          </a:p>
          <a:p>
            <a:pPr algn="l">
              <a:lnSpc>
                <a:spcPct val="9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a	3</a:t>
            </a:r>
          </a:p>
          <a:p>
            <a:pPr algn="l">
              <a:lnSpc>
                <a:spcPct val="9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b	3</a:t>
            </a:r>
          </a:p>
          <a:p>
            <a:pPr algn="l">
              <a:lnSpc>
                <a:spcPct val="9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m	3</a:t>
            </a:r>
          </a:p>
          <a:p>
            <a:pPr algn="l">
              <a:lnSpc>
                <a:spcPct val="9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p	3</a:t>
            </a:r>
            <a:endParaRPr lang="en-US" altLang="zh-CN" sz="2000">
              <a:ea typeface="宋体" panose="02010600030101010101" pitchFamily="2" charset="-122"/>
            </a:endParaRPr>
          </a:p>
        </p:txBody>
      </p:sp>
      <p:sp>
        <p:nvSpPr>
          <p:cNvPr id="15392" name="Freeform 42"/>
          <p:cNvSpPr>
            <a:spLocks/>
          </p:cNvSpPr>
          <p:nvPr/>
        </p:nvSpPr>
        <p:spPr bwMode="auto">
          <a:xfrm>
            <a:off x="2424113" y="4311650"/>
            <a:ext cx="1074737" cy="301625"/>
          </a:xfrm>
          <a:custGeom>
            <a:avLst/>
            <a:gdLst>
              <a:gd name="T0" fmla="*/ 0 w 672"/>
              <a:gd name="T1" fmla="*/ 379073563 h 240"/>
              <a:gd name="T2" fmla="*/ 736645783 w 672"/>
              <a:gd name="T3" fmla="*/ 303258804 h 240"/>
              <a:gd name="T4" fmla="*/ 1104967175 w 672"/>
              <a:gd name="T5" fmla="*/ 75814701 h 240"/>
              <a:gd name="T6" fmla="*/ 1718838894 w 672"/>
              <a:gd name="T7" fmla="*/ 0 h 240"/>
              <a:gd name="T8" fmla="*/ 0 60000 65536"/>
              <a:gd name="T9" fmla="*/ 0 60000 65536"/>
              <a:gd name="T10" fmla="*/ 0 60000 65536"/>
              <a:gd name="T11" fmla="*/ 0 60000 65536"/>
              <a:gd name="T12" fmla="*/ 0 w 672"/>
              <a:gd name="T13" fmla="*/ 0 h 240"/>
              <a:gd name="T14" fmla="*/ 672 w 672"/>
              <a:gd name="T15" fmla="*/ 240 h 2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2" h="240">
                <a:moveTo>
                  <a:pt x="0" y="240"/>
                </a:moveTo>
                <a:cubicBezTo>
                  <a:pt x="108" y="232"/>
                  <a:pt x="216" y="224"/>
                  <a:pt x="288" y="192"/>
                </a:cubicBezTo>
                <a:cubicBezTo>
                  <a:pt x="360" y="160"/>
                  <a:pt x="368" y="80"/>
                  <a:pt x="432" y="48"/>
                </a:cubicBezTo>
                <a:cubicBezTo>
                  <a:pt x="496" y="16"/>
                  <a:pt x="584" y="8"/>
                  <a:pt x="672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5393" name="Freeform 43"/>
          <p:cNvSpPr>
            <a:spLocks/>
          </p:cNvSpPr>
          <p:nvPr/>
        </p:nvSpPr>
        <p:spPr bwMode="auto">
          <a:xfrm>
            <a:off x="2424113" y="4795838"/>
            <a:ext cx="690562" cy="0"/>
          </a:xfrm>
          <a:custGeom>
            <a:avLst/>
            <a:gdLst>
              <a:gd name="T0" fmla="*/ 0 w 432"/>
              <a:gd name="T1" fmla="*/ 0 h 1"/>
              <a:gd name="T2" fmla="*/ 1103879430 w 432"/>
              <a:gd name="T3" fmla="*/ 0 h 1"/>
              <a:gd name="T4" fmla="*/ 0 60000 65536"/>
              <a:gd name="T5" fmla="*/ 0 60000 65536"/>
              <a:gd name="T6" fmla="*/ 0 w 432"/>
              <a:gd name="T7" fmla="*/ 0 h 1"/>
              <a:gd name="T8" fmla="*/ 432 w 432"/>
              <a:gd name="T9" fmla="*/ 0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32" h="1">
                <a:moveTo>
                  <a:pt x="0" y="0"/>
                </a:moveTo>
                <a:cubicBezTo>
                  <a:pt x="0" y="0"/>
                  <a:pt x="216" y="0"/>
                  <a:pt x="432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5394" name="Freeform 44"/>
          <p:cNvSpPr>
            <a:spLocks/>
          </p:cNvSpPr>
          <p:nvPr/>
        </p:nvSpPr>
        <p:spPr bwMode="auto">
          <a:xfrm>
            <a:off x="3575050" y="4311650"/>
            <a:ext cx="768350" cy="484188"/>
          </a:xfrm>
          <a:custGeom>
            <a:avLst/>
            <a:gdLst>
              <a:gd name="T0" fmla="*/ 0 w 480"/>
              <a:gd name="T1" fmla="*/ 610515639 h 384"/>
              <a:gd name="T2" fmla="*/ 122992044 w 480"/>
              <a:gd name="T3" fmla="*/ 534201834 h 384"/>
              <a:gd name="T4" fmla="*/ 614960171 w 480"/>
              <a:gd name="T5" fmla="*/ 152628910 h 384"/>
              <a:gd name="T6" fmla="*/ 1229920343 w 480"/>
              <a:gd name="T7" fmla="*/ 0 h 384"/>
              <a:gd name="T8" fmla="*/ 0 60000 65536"/>
              <a:gd name="T9" fmla="*/ 0 60000 65536"/>
              <a:gd name="T10" fmla="*/ 0 60000 65536"/>
              <a:gd name="T11" fmla="*/ 0 60000 65536"/>
              <a:gd name="T12" fmla="*/ 0 w 480"/>
              <a:gd name="T13" fmla="*/ 0 h 384"/>
              <a:gd name="T14" fmla="*/ 480 w 480"/>
              <a:gd name="T15" fmla="*/ 384 h 3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80" h="384">
                <a:moveTo>
                  <a:pt x="0" y="384"/>
                </a:moveTo>
                <a:cubicBezTo>
                  <a:pt x="4" y="384"/>
                  <a:pt x="8" y="384"/>
                  <a:pt x="48" y="336"/>
                </a:cubicBezTo>
                <a:cubicBezTo>
                  <a:pt x="88" y="288"/>
                  <a:pt x="168" y="152"/>
                  <a:pt x="240" y="96"/>
                </a:cubicBezTo>
                <a:cubicBezTo>
                  <a:pt x="312" y="40"/>
                  <a:pt x="396" y="20"/>
                  <a:pt x="480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5395" name="Freeform 45"/>
          <p:cNvSpPr>
            <a:spLocks/>
          </p:cNvSpPr>
          <p:nvPr/>
        </p:nvSpPr>
        <p:spPr bwMode="auto">
          <a:xfrm>
            <a:off x="2424113" y="5051425"/>
            <a:ext cx="690562" cy="241300"/>
          </a:xfrm>
          <a:custGeom>
            <a:avLst/>
            <a:gdLst>
              <a:gd name="T0" fmla="*/ 0 w 432"/>
              <a:gd name="T1" fmla="*/ 0 h 192"/>
              <a:gd name="T2" fmla="*/ 367959244 w 432"/>
              <a:gd name="T3" fmla="*/ 75814696 h 192"/>
              <a:gd name="T4" fmla="*/ 735920086 w 432"/>
              <a:gd name="T5" fmla="*/ 227444108 h 192"/>
              <a:gd name="T6" fmla="*/ 1103879430 w 432"/>
              <a:gd name="T7" fmla="*/ 303258784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432"/>
              <a:gd name="T13" fmla="*/ 0 h 192"/>
              <a:gd name="T14" fmla="*/ 432 w 432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" h="192">
                <a:moveTo>
                  <a:pt x="0" y="0"/>
                </a:moveTo>
                <a:cubicBezTo>
                  <a:pt x="48" y="12"/>
                  <a:pt x="96" y="24"/>
                  <a:pt x="144" y="48"/>
                </a:cubicBezTo>
                <a:cubicBezTo>
                  <a:pt x="192" y="72"/>
                  <a:pt x="240" y="120"/>
                  <a:pt x="288" y="144"/>
                </a:cubicBezTo>
                <a:cubicBezTo>
                  <a:pt x="336" y="168"/>
                  <a:pt x="384" y="180"/>
                  <a:pt x="432" y="192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5396" name="Freeform 46"/>
          <p:cNvSpPr>
            <a:spLocks/>
          </p:cNvSpPr>
          <p:nvPr/>
        </p:nvSpPr>
        <p:spPr bwMode="auto">
          <a:xfrm>
            <a:off x="2439988" y="5232400"/>
            <a:ext cx="1149350" cy="482600"/>
          </a:xfrm>
          <a:custGeom>
            <a:avLst/>
            <a:gdLst>
              <a:gd name="T0" fmla="*/ 0 w 720"/>
              <a:gd name="T1" fmla="*/ 0 h 384"/>
              <a:gd name="T2" fmla="*/ 611577109 w 720"/>
              <a:gd name="T3" fmla="*/ 75814696 h 384"/>
              <a:gd name="T4" fmla="*/ 1345468961 w 720"/>
              <a:gd name="T5" fmla="*/ 454888216 h 384"/>
              <a:gd name="T6" fmla="*/ 1834729930 w 720"/>
              <a:gd name="T7" fmla="*/ 606517568 h 384"/>
              <a:gd name="T8" fmla="*/ 0 60000 65536"/>
              <a:gd name="T9" fmla="*/ 0 60000 65536"/>
              <a:gd name="T10" fmla="*/ 0 60000 65536"/>
              <a:gd name="T11" fmla="*/ 0 60000 65536"/>
              <a:gd name="T12" fmla="*/ 0 w 720"/>
              <a:gd name="T13" fmla="*/ 0 h 384"/>
              <a:gd name="T14" fmla="*/ 720 w 720"/>
              <a:gd name="T15" fmla="*/ 384 h 3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20" h="384">
                <a:moveTo>
                  <a:pt x="0" y="0"/>
                </a:moveTo>
                <a:cubicBezTo>
                  <a:pt x="76" y="0"/>
                  <a:pt x="152" y="0"/>
                  <a:pt x="240" y="48"/>
                </a:cubicBezTo>
                <a:cubicBezTo>
                  <a:pt x="328" y="96"/>
                  <a:pt x="448" y="232"/>
                  <a:pt x="528" y="288"/>
                </a:cubicBezTo>
                <a:cubicBezTo>
                  <a:pt x="608" y="344"/>
                  <a:pt x="664" y="364"/>
                  <a:pt x="720" y="384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5397" name="Freeform 47"/>
          <p:cNvSpPr>
            <a:spLocks/>
          </p:cNvSpPr>
          <p:nvPr/>
        </p:nvSpPr>
        <p:spPr bwMode="auto">
          <a:xfrm>
            <a:off x="3973513" y="4929188"/>
            <a:ext cx="90487" cy="846137"/>
          </a:xfrm>
          <a:custGeom>
            <a:avLst/>
            <a:gdLst>
              <a:gd name="T0" fmla="*/ 0 w 56"/>
              <a:gd name="T1" fmla="*/ 1065398474 h 672"/>
              <a:gd name="T2" fmla="*/ 125324511 w 56"/>
              <a:gd name="T3" fmla="*/ 684898861 h 672"/>
              <a:gd name="T4" fmla="*/ 125324511 w 56"/>
              <a:gd name="T5" fmla="*/ 0 h 672"/>
              <a:gd name="T6" fmla="*/ 0 60000 65536"/>
              <a:gd name="T7" fmla="*/ 0 60000 65536"/>
              <a:gd name="T8" fmla="*/ 0 60000 65536"/>
              <a:gd name="T9" fmla="*/ 0 w 56"/>
              <a:gd name="T10" fmla="*/ 0 h 672"/>
              <a:gd name="T11" fmla="*/ 56 w 56"/>
              <a:gd name="T12" fmla="*/ 672 h 67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6" h="672">
                <a:moveTo>
                  <a:pt x="0" y="672"/>
                </a:moveTo>
                <a:cubicBezTo>
                  <a:pt x="20" y="608"/>
                  <a:pt x="40" y="544"/>
                  <a:pt x="48" y="432"/>
                </a:cubicBezTo>
                <a:cubicBezTo>
                  <a:pt x="56" y="320"/>
                  <a:pt x="52" y="160"/>
                  <a:pt x="48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5398" name="Line 48"/>
          <p:cNvSpPr>
            <a:spLocks noChangeShapeType="1"/>
          </p:cNvSpPr>
          <p:nvPr/>
        </p:nvSpPr>
        <p:spPr bwMode="auto">
          <a:xfrm>
            <a:off x="4189413" y="4795838"/>
            <a:ext cx="153987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99" name="Freeform 49"/>
          <p:cNvSpPr>
            <a:spLocks/>
          </p:cNvSpPr>
          <p:nvPr/>
        </p:nvSpPr>
        <p:spPr bwMode="auto">
          <a:xfrm>
            <a:off x="2439988" y="5473700"/>
            <a:ext cx="460375" cy="301625"/>
          </a:xfrm>
          <a:custGeom>
            <a:avLst/>
            <a:gdLst>
              <a:gd name="T0" fmla="*/ 0 w 288"/>
              <a:gd name="T1" fmla="*/ 0 h 240"/>
              <a:gd name="T2" fmla="*/ 367961057 w 288"/>
              <a:gd name="T3" fmla="*/ 75814701 h 240"/>
              <a:gd name="T4" fmla="*/ 490614276 w 288"/>
              <a:gd name="T5" fmla="*/ 303258804 h 240"/>
              <a:gd name="T6" fmla="*/ 735920515 w 288"/>
              <a:gd name="T7" fmla="*/ 379073563 h 240"/>
              <a:gd name="T8" fmla="*/ 0 60000 65536"/>
              <a:gd name="T9" fmla="*/ 0 60000 65536"/>
              <a:gd name="T10" fmla="*/ 0 60000 65536"/>
              <a:gd name="T11" fmla="*/ 0 60000 65536"/>
              <a:gd name="T12" fmla="*/ 0 w 288"/>
              <a:gd name="T13" fmla="*/ 0 h 240"/>
              <a:gd name="T14" fmla="*/ 288 w 288"/>
              <a:gd name="T15" fmla="*/ 240 h 2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88" h="240">
                <a:moveTo>
                  <a:pt x="0" y="0"/>
                </a:moveTo>
                <a:cubicBezTo>
                  <a:pt x="56" y="8"/>
                  <a:pt x="112" y="16"/>
                  <a:pt x="144" y="48"/>
                </a:cubicBezTo>
                <a:cubicBezTo>
                  <a:pt x="176" y="80"/>
                  <a:pt x="168" y="160"/>
                  <a:pt x="192" y="192"/>
                </a:cubicBezTo>
                <a:cubicBezTo>
                  <a:pt x="216" y="224"/>
                  <a:pt x="252" y="232"/>
                  <a:pt x="288" y="24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5400" name="Freeform 50"/>
          <p:cNvSpPr>
            <a:spLocks/>
          </p:cNvSpPr>
          <p:nvPr/>
        </p:nvSpPr>
        <p:spPr bwMode="auto">
          <a:xfrm>
            <a:off x="3359150" y="5775325"/>
            <a:ext cx="153988" cy="484188"/>
          </a:xfrm>
          <a:custGeom>
            <a:avLst/>
            <a:gdLst>
              <a:gd name="T0" fmla="*/ 0 w 96"/>
              <a:gd name="T1" fmla="*/ 0 h 384"/>
              <a:gd name="T2" fmla="*/ 123501595 w 96"/>
              <a:gd name="T3" fmla="*/ 152628910 h 384"/>
              <a:gd name="T4" fmla="*/ 123501595 w 96"/>
              <a:gd name="T5" fmla="*/ 457886769 h 384"/>
              <a:gd name="T6" fmla="*/ 247003190 w 96"/>
              <a:gd name="T7" fmla="*/ 610515639 h 384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384"/>
              <a:gd name="T14" fmla="*/ 96 w 96"/>
              <a:gd name="T15" fmla="*/ 384 h 3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384">
                <a:moveTo>
                  <a:pt x="0" y="0"/>
                </a:moveTo>
                <a:cubicBezTo>
                  <a:pt x="20" y="24"/>
                  <a:pt x="40" y="48"/>
                  <a:pt x="48" y="96"/>
                </a:cubicBezTo>
                <a:cubicBezTo>
                  <a:pt x="56" y="144"/>
                  <a:pt x="40" y="240"/>
                  <a:pt x="48" y="288"/>
                </a:cubicBezTo>
                <a:cubicBezTo>
                  <a:pt x="56" y="336"/>
                  <a:pt x="76" y="360"/>
                  <a:pt x="96" y="384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5401" name="Freeform 51"/>
          <p:cNvSpPr>
            <a:spLocks/>
          </p:cNvSpPr>
          <p:nvPr/>
        </p:nvSpPr>
        <p:spPr bwMode="auto">
          <a:xfrm>
            <a:off x="2439988" y="5715000"/>
            <a:ext cx="460375" cy="544513"/>
          </a:xfrm>
          <a:custGeom>
            <a:avLst/>
            <a:gdLst>
              <a:gd name="T0" fmla="*/ 0 w 288"/>
              <a:gd name="T1" fmla="*/ 0 h 432"/>
              <a:gd name="T2" fmla="*/ 245306339 w 288"/>
              <a:gd name="T3" fmla="*/ 228776143 h 432"/>
              <a:gd name="T4" fmla="*/ 367961057 w 288"/>
              <a:gd name="T5" fmla="*/ 533811814 h 432"/>
              <a:gd name="T6" fmla="*/ 735920515 w 288"/>
              <a:gd name="T7" fmla="*/ 686329767 h 432"/>
              <a:gd name="T8" fmla="*/ 0 60000 65536"/>
              <a:gd name="T9" fmla="*/ 0 60000 65536"/>
              <a:gd name="T10" fmla="*/ 0 60000 65536"/>
              <a:gd name="T11" fmla="*/ 0 60000 65536"/>
              <a:gd name="T12" fmla="*/ 0 w 288"/>
              <a:gd name="T13" fmla="*/ 0 h 432"/>
              <a:gd name="T14" fmla="*/ 288 w 288"/>
              <a:gd name="T15" fmla="*/ 432 h 4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88" h="432">
                <a:moveTo>
                  <a:pt x="0" y="0"/>
                </a:moveTo>
                <a:cubicBezTo>
                  <a:pt x="36" y="44"/>
                  <a:pt x="72" y="88"/>
                  <a:pt x="96" y="144"/>
                </a:cubicBezTo>
                <a:cubicBezTo>
                  <a:pt x="120" y="200"/>
                  <a:pt x="112" y="288"/>
                  <a:pt x="144" y="336"/>
                </a:cubicBezTo>
                <a:cubicBezTo>
                  <a:pt x="176" y="384"/>
                  <a:pt x="232" y="408"/>
                  <a:pt x="288" y="432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5402" name="Freeform 52"/>
          <p:cNvSpPr>
            <a:spLocks/>
          </p:cNvSpPr>
          <p:nvPr/>
        </p:nvSpPr>
        <p:spPr bwMode="auto">
          <a:xfrm>
            <a:off x="3359150" y="5413375"/>
            <a:ext cx="1228725" cy="846138"/>
          </a:xfrm>
          <a:custGeom>
            <a:avLst/>
            <a:gdLst>
              <a:gd name="T0" fmla="*/ 0 w 768"/>
              <a:gd name="T1" fmla="*/ 1065400992 h 672"/>
              <a:gd name="T2" fmla="*/ 245730623 w 768"/>
              <a:gd name="T3" fmla="*/ 837101206 h 672"/>
              <a:gd name="T4" fmla="*/ 1351515875 w 768"/>
              <a:gd name="T5" fmla="*/ 608800005 h 672"/>
              <a:gd name="T6" fmla="*/ 1965840182 w 768"/>
              <a:gd name="T7" fmla="*/ 0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768"/>
              <a:gd name="T13" fmla="*/ 0 h 672"/>
              <a:gd name="T14" fmla="*/ 768 w 768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68" h="672">
                <a:moveTo>
                  <a:pt x="0" y="672"/>
                </a:moveTo>
                <a:cubicBezTo>
                  <a:pt x="4" y="624"/>
                  <a:pt x="8" y="576"/>
                  <a:pt x="96" y="528"/>
                </a:cubicBezTo>
                <a:cubicBezTo>
                  <a:pt x="184" y="480"/>
                  <a:pt x="416" y="472"/>
                  <a:pt x="528" y="384"/>
                </a:cubicBezTo>
                <a:cubicBezTo>
                  <a:pt x="640" y="296"/>
                  <a:pt x="704" y="148"/>
                  <a:pt x="768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5403" name="Rectangle 4"/>
          <p:cNvSpPr>
            <a:spLocks noChangeArrowheads="1"/>
          </p:cNvSpPr>
          <p:nvPr/>
        </p:nvSpPr>
        <p:spPr bwMode="auto">
          <a:xfrm>
            <a:off x="6072188" y="4286250"/>
            <a:ext cx="3357562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zh-CN" sz="2000" b="1" i="1">
                <a:ea typeface="宋体" panose="02010600030101010101" pitchFamily="2" charset="-122"/>
              </a:rPr>
              <a:t>Conditional </a:t>
            </a:r>
            <a:r>
              <a:rPr lang="en-US" altLang="zh-CN" sz="2000" b="1">
                <a:ea typeface="宋体" panose="02010600030101010101" pitchFamily="2" charset="-122"/>
              </a:rPr>
              <a:t>pattern bases</a:t>
            </a:r>
          </a:p>
          <a:p>
            <a:pPr algn="l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i="1" u="sng">
                <a:ea typeface="宋体" panose="02010600030101010101" pitchFamily="2" charset="-122"/>
              </a:rPr>
              <a:t>item	cond. pattern base</a:t>
            </a:r>
          </a:p>
          <a:p>
            <a:pPr algn="l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i="1">
                <a:ea typeface="宋体" panose="02010600030101010101" pitchFamily="2" charset="-122"/>
              </a:rPr>
              <a:t>maf</a:t>
            </a:r>
          </a:p>
          <a:p>
            <a:pPr algn="l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i="1">
                <a:ea typeface="宋体" panose="02010600030101010101" pitchFamily="2" charset="-122"/>
              </a:rPr>
              <a:t>mac         f:3 </a:t>
            </a:r>
          </a:p>
          <a:p>
            <a:pPr algn="l">
              <a:lnSpc>
                <a:spcPct val="80000"/>
              </a:lnSpc>
              <a:spcBef>
                <a:spcPct val="50000"/>
              </a:spcBef>
            </a:pPr>
            <a:endParaRPr lang="en-US" altLang="zh-CN" sz="2000" b="1" i="1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5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6096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zh-CN" altLang="en-US" sz="2800" dirty="0">
                <a:ea typeface="宋体" pitchFamily="2" charset="-122"/>
              </a:rPr>
              <a:t>递归构造条件模式基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2775" y="1600200"/>
            <a:ext cx="8048625" cy="12573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用每一个项目的条件模式基作为输入，递归</a:t>
            </a:r>
            <a:r>
              <a:rPr lang="en-US" altLang="zh-CN">
                <a:ea typeface="宋体" panose="02010600030101010101" pitchFamily="2" charset="-122"/>
              </a:rPr>
              <a:t>FP-Growth</a:t>
            </a:r>
            <a:r>
              <a:rPr lang="zh-CN" altLang="en-US">
                <a:ea typeface="宋体" panose="02010600030101010101" pitchFamily="2" charset="-122"/>
              </a:rPr>
              <a:t>算法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5181600" y="3429000"/>
            <a:ext cx="3276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1800" b="1" i="1">
                <a:ea typeface="宋体" panose="02010600030101010101" pitchFamily="2" charset="-122"/>
              </a:rPr>
              <a:t>mac-conditional </a:t>
            </a:r>
            <a:r>
              <a:rPr lang="en-US" altLang="zh-CN" sz="1800" b="1">
                <a:ea typeface="宋体" panose="02010600030101010101" pitchFamily="2" charset="-122"/>
              </a:rPr>
              <a:t>pattern base:</a:t>
            </a:r>
          </a:p>
          <a:p>
            <a:pPr lvl="1" algn="l"/>
            <a:r>
              <a:rPr lang="en-US" altLang="zh-CN" sz="1800" b="1" i="1">
                <a:ea typeface="宋体" panose="02010600030101010101" pitchFamily="2" charset="-122"/>
              </a:rPr>
              <a:t>f:3</a:t>
            </a:r>
          </a:p>
        </p:txBody>
      </p:sp>
      <p:grpSp>
        <p:nvGrpSpPr>
          <p:cNvPr id="16389" name="Group 5"/>
          <p:cNvGrpSpPr>
            <a:grpSpLocks/>
          </p:cNvGrpSpPr>
          <p:nvPr/>
        </p:nvGrpSpPr>
        <p:grpSpPr bwMode="auto">
          <a:xfrm>
            <a:off x="4643438" y="4343400"/>
            <a:ext cx="2533650" cy="2327275"/>
            <a:chOff x="3312" y="2736"/>
            <a:chExt cx="1596" cy="1466"/>
          </a:xfrm>
        </p:grpSpPr>
        <p:grpSp>
          <p:nvGrpSpPr>
            <p:cNvPr id="16428" name="Group 6"/>
            <p:cNvGrpSpPr>
              <a:grpSpLocks/>
            </p:cNvGrpSpPr>
            <p:nvPr/>
          </p:nvGrpSpPr>
          <p:grpSpPr bwMode="auto">
            <a:xfrm>
              <a:off x="3810" y="2736"/>
              <a:ext cx="293" cy="634"/>
              <a:chOff x="2300" y="2456"/>
              <a:chExt cx="293" cy="634"/>
            </a:xfrm>
          </p:grpSpPr>
          <p:sp>
            <p:nvSpPr>
              <p:cNvPr id="16430" name="Text Box 7"/>
              <p:cNvSpPr txBox="1">
                <a:spLocks noChangeArrowheads="1"/>
              </p:cNvSpPr>
              <p:nvPr/>
            </p:nvSpPr>
            <p:spPr bwMode="auto">
              <a:xfrm>
                <a:off x="2312" y="2456"/>
                <a:ext cx="27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/>
                <a:r>
                  <a:rPr lang="zh-CN" altLang="en-US" sz="2000">
                    <a:ea typeface="宋体" panose="02010600030101010101" pitchFamily="2" charset="-122"/>
                  </a:rPr>
                  <a:t>{}</a:t>
                </a:r>
              </a:p>
            </p:txBody>
          </p:sp>
          <p:sp>
            <p:nvSpPr>
              <p:cNvPr id="16431" name="Text Box 8"/>
              <p:cNvSpPr txBox="1">
                <a:spLocks noChangeArrowheads="1"/>
              </p:cNvSpPr>
              <p:nvPr/>
            </p:nvSpPr>
            <p:spPr bwMode="auto">
              <a:xfrm>
                <a:off x="2300" y="2840"/>
                <a:ext cx="29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/>
                <a:r>
                  <a:rPr lang="en-US" altLang="zh-CN" sz="2000" i="1">
                    <a:ea typeface="宋体" panose="02010600030101010101" pitchFamily="2" charset="-122"/>
                  </a:rPr>
                  <a:t>f:3</a:t>
                </a:r>
              </a:p>
            </p:txBody>
          </p:sp>
          <p:cxnSp>
            <p:nvCxnSpPr>
              <p:cNvPr id="16432" name="AutoShape 11"/>
              <p:cNvCxnSpPr>
                <a:cxnSpLocks noChangeShapeType="1"/>
                <a:stCxn id="16430" idx="2"/>
                <a:endCxn id="16431" idx="0"/>
              </p:cNvCxnSpPr>
              <p:nvPr/>
            </p:nvCxnSpPr>
            <p:spPr bwMode="auto">
              <a:xfrm>
                <a:off x="2447" y="2706"/>
                <a:ext cx="0" cy="134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6429" name="Text Box 14"/>
            <p:cNvSpPr txBox="1">
              <a:spLocks noChangeArrowheads="1"/>
            </p:cNvSpPr>
            <p:nvPr/>
          </p:nvSpPr>
          <p:spPr bwMode="auto">
            <a:xfrm>
              <a:off x="3312" y="3969"/>
              <a:ext cx="159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zh-CN" sz="1800" b="1" i="1">
                  <a:ea typeface="宋体" panose="02010600030101010101" pitchFamily="2" charset="-122"/>
                </a:rPr>
                <a:t>mac-conditional </a:t>
              </a:r>
              <a:r>
                <a:rPr lang="en-US" altLang="zh-CN" sz="1800" b="1">
                  <a:ea typeface="宋体" panose="02010600030101010101" pitchFamily="2" charset="-122"/>
                </a:rPr>
                <a:t>FP-tree</a:t>
              </a:r>
              <a:endParaRPr lang="en-US" altLang="zh-CN" sz="1800" b="1" i="1">
                <a:ea typeface="宋体" panose="02010600030101010101" pitchFamily="2" charset="-122"/>
              </a:endParaRPr>
            </a:p>
          </p:txBody>
        </p:sp>
      </p:grpSp>
      <p:sp>
        <p:nvSpPr>
          <p:cNvPr id="16390" name="Text Box 16"/>
          <p:cNvSpPr txBox="1">
            <a:spLocks noChangeArrowheads="1"/>
          </p:cNvSpPr>
          <p:nvPr/>
        </p:nvSpPr>
        <p:spPr bwMode="auto">
          <a:xfrm>
            <a:off x="5105400" y="4724400"/>
            <a:ext cx="590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400" b="1">
                <a:ea typeface="宋体" panose="02010600030101010101" pitchFamily="2" charset="-122"/>
                <a:sym typeface="Wingdings 3" panose="05040102010807070707" pitchFamily="18" charset="2"/>
              </a:rPr>
              <a:t></a:t>
            </a:r>
            <a:endParaRPr lang="zh-CN" altLang="en-US" sz="2400" b="1">
              <a:ea typeface="宋体" panose="02010600030101010101" pitchFamily="2" charset="-122"/>
            </a:endParaRPr>
          </a:p>
        </p:txBody>
      </p:sp>
      <p:sp>
        <p:nvSpPr>
          <p:cNvPr id="16391" name="Rectangle 17"/>
          <p:cNvSpPr>
            <a:spLocks noChangeArrowheads="1"/>
          </p:cNvSpPr>
          <p:nvPr/>
        </p:nvSpPr>
        <p:spPr bwMode="auto">
          <a:xfrm>
            <a:off x="5786438" y="4876800"/>
            <a:ext cx="496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400" b="1">
                <a:ea typeface="宋体" panose="02010600030101010101" pitchFamily="2" charset="-122"/>
                <a:sym typeface="Wingdings 3" panose="05040102010807070707" pitchFamily="18" charset="2"/>
              </a:rPr>
              <a:t></a:t>
            </a:r>
          </a:p>
        </p:txBody>
      </p:sp>
      <p:sp>
        <p:nvSpPr>
          <p:cNvPr id="16392" name="Text Box 18"/>
          <p:cNvSpPr txBox="1">
            <a:spLocks noChangeArrowheads="1"/>
          </p:cNvSpPr>
          <p:nvPr/>
        </p:nvSpPr>
        <p:spPr bwMode="auto">
          <a:xfrm>
            <a:off x="3892550" y="3595688"/>
            <a:ext cx="441325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zh-CN" altLang="en-US" sz="2000">
                <a:ea typeface="宋体" panose="02010600030101010101" pitchFamily="2" charset="-122"/>
              </a:rPr>
              <a:t>{}</a:t>
            </a:r>
          </a:p>
        </p:txBody>
      </p:sp>
      <p:sp>
        <p:nvSpPr>
          <p:cNvPr id="16393" name="Text Box 19"/>
          <p:cNvSpPr txBox="1">
            <a:spLocks noChangeArrowheads="1"/>
          </p:cNvSpPr>
          <p:nvPr/>
        </p:nvSpPr>
        <p:spPr bwMode="auto">
          <a:xfrm>
            <a:off x="3430588" y="4140200"/>
            <a:ext cx="477837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solidFill>
                  <a:schemeClr val="hlink"/>
                </a:solidFill>
                <a:ea typeface="宋体" panose="02010600030101010101" pitchFamily="2" charset="-122"/>
              </a:rPr>
              <a:t>f:4</a:t>
            </a:r>
          </a:p>
        </p:txBody>
      </p:sp>
      <p:sp>
        <p:nvSpPr>
          <p:cNvPr id="16394" name="Text Box 20"/>
          <p:cNvSpPr txBox="1">
            <a:spLocks noChangeArrowheads="1"/>
          </p:cNvSpPr>
          <p:nvPr/>
        </p:nvSpPr>
        <p:spPr bwMode="auto">
          <a:xfrm>
            <a:off x="4351338" y="4140200"/>
            <a:ext cx="520700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ea typeface="宋体" panose="02010600030101010101" pitchFamily="2" charset="-122"/>
              </a:rPr>
              <a:t>c:1</a:t>
            </a:r>
          </a:p>
        </p:txBody>
      </p:sp>
      <p:sp>
        <p:nvSpPr>
          <p:cNvPr id="16395" name="Text Box 21"/>
          <p:cNvSpPr txBox="1">
            <a:spLocks noChangeArrowheads="1"/>
          </p:cNvSpPr>
          <p:nvPr/>
        </p:nvSpPr>
        <p:spPr bwMode="auto">
          <a:xfrm>
            <a:off x="4343400" y="4622800"/>
            <a:ext cx="533400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ea typeface="宋体" panose="02010600030101010101" pitchFamily="2" charset="-122"/>
              </a:rPr>
              <a:t>b:1</a:t>
            </a:r>
          </a:p>
        </p:txBody>
      </p:sp>
      <p:sp>
        <p:nvSpPr>
          <p:cNvPr id="16396" name="Text Box 22"/>
          <p:cNvSpPr txBox="1">
            <a:spLocks noChangeArrowheads="1"/>
          </p:cNvSpPr>
          <p:nvPr/>
        </p:nvSpPr>
        <p:spPr bwMode="auto">
          <a:xfrm>
            <a:off x="4343400" y="5105400"/>
            <a:ext cx="533400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ea typeface="宋体" panose="02010600030101010101" pitchFamily="2" charset="-122"/>
              </a:rPr>
              <a:t>p:1</a:t>
            </a:r>
          </a:p>
        </p:txBody>
      </p:sp>
      <p:cxnSp>
        <p:nvCxnSpPr>
          <p:cNvPr id="16397" name="AutoShape 23"/>
          <p:cNvCxnSpPr>
            <a:cxnSpLocks noChangeShapeType="1"/>
            <a:stCxn id="16394" idx="2"/>
            <a:endCxn id="16395" idx="0"/>
          </p:cNvCxnSpPr>
          <p:nvPr/>
        </p:nvCxnSpPr>
        <p:spPr bwMode="auto">
          <a:xfrm>
            <a:off x="4613275" y="4459288"/>
            <a:ext cx="1588" cy="168275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98" name="AutoShape 24"/>
          <p:cNvCxnSpPr>
            <a:cxnSpLocks noChangeShapeType="1"/>
            <a:stCxn id="16395" idx="2"/>
            <a:endCxn id="16396" idx="0"/>
          </p:cNvCxnSpPr>
          <p:nvPr/>
        </p:nvCxnSpPr>
        <p:spPr bwMode="auto">
          <a:xfrm>
            <a:off x="4614863" y="4941888"/>
            <a:ext cx="0" cy="169862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99" name="AutoShape 25"/>
          <p:cNvCxnSpPr>
            <a:cxnSpLocks noChangeShapeType="1"/>
            <a:stCxn id="16392" idx="2"/>
            <a:endCxn id="16394" idx="0"/>
          </p:cNvCxnSpPr>
          <p:nvPr/>
        </p:nvCxnSpPr>
        <p:spPr bwMode="auto">
          <a:xfrm>
            <a:off x="4113213" y="3914775"/>
            <a:ext cx="500062" cy="230188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0" name="AutoShape 26"/>
          <p:cNvCxnSpPr>
            <a:cxnSpLocks noChangeShapeType="1"/>
            <a:stCxn id="16392" idx="2"/>
            <a:endCxn id="16393" idx="0"/>
          </p:cNvCxnSpPr>
          <p:nvPr/>
        </p:nvCxnSpPr>
        <p:spPr bwMode="auto">
          <a:xfrm flipH="1">
            <a:off x="3671888" y="3914775"/>
            <a:ext cx="441325" cy="230188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01" name="Text Box 27"/>
          <p:cNvSpPr txBox="1">
            <a:spLocks noChangeArrowheads="1"/>
          </p:cNvSpPr>
          <p:nvPr/>
        </p:nvSpPr>
        <p:spPr bwMode="auto">
          <a:xfrm>
            <a:off x="3736975" y="4622800"/>
            <a:ext cx="534988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ea typeface="宋体" panose="02010600030101010101" pitchFamily="2" charset="-122"/>
              </a:rPr>
              <a:t>b:1</a:t>
            </a:r>
          </a:p>
        </p:txBody>
      </p:sp>
      <p:sp>
        <p:nvSpPr>
          <p:cNvPr id="16402" name="Text Box 28"/>
          <p:cNvSpPr txBox="1">
            <a:spLocks noChangeArrowheads="1"/>
          </p:cNvSpPr>
          <p:nvPr/>
        </p:nvSpPr>
        <p:spPr bwMode="auto">
          <a:xfrm>
            <a:off x="3133725" y="4622800"/>
            <a:ext cx="519113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solidFill>
                  <a:schemeClr val="hlink"/>
                </a:solidFill>
                <a:ea typeface="宋体" panose="02010600030101010101" pitchFamily="2" charset="-122"/>
              </a:rPr>
              <a:t>c:3</a:t>
            </a:r>
          </a:p>
        </p:txBody>
      </p:sp>
      <p:cxnSp>
        <p:nvCxnSpPr>
          <p:cNvPr id="16403" name="AutoShape 29"/>
          <p:cNvCxnSpPr>
            <a:cxnSpLocks noChangeShapeType="1"/>
            <a:stCxn id="16393" idx="2"/>
            <a:endCxn id="16402" idx="0"/>
          </p:cNvCxnSpPr>
          <p:nvPr/>
        </p:nvCxnSpPr>
        <p:spPr bwMode="auto">
          <a:xfrm flipH="1">
            <a:off x="3394075" y="4459288"/>
            <a:ext cx="277813" cy="168275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4" name="AutoShape 30"/>
          <p:cNvCxnSpPr>
            <a:cxnSpLocks noChangeShapeType="1"/>
            <a:stCxn id="16393" idx="2"/>
            <a:endCxn id="16401" idx="0"/>
          </p:cNvCxnSpPr>
          <p:nvPr/>
        </p:nvCxnSpPr>
        <p:spPr bwMode="auto">
          <a:xfrm>
            <a:off x="3671888" y="4459288"/>
            <a:ext cx="334962" cy="168275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05" name="Text Box 31"/>
          <p:cNvSpPr txBox="1">
            <a:spLocks noChangeArrowheads="1"/>
          </p:cNvSpPr>
          <p:nvPr/>
        </p:nvSpPr>
        <p:spPr bwMode="auto">
          <a:xfrm>
            <a:off x="3124200" y="5105400"/>
            <a:ext cx="534988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solidFill>
                  <a:schemeClr val="hlink"/>
                </a:solidFill>
                <a:ea typeface="宋体" panose="02010600030101010101" pitchFamily="2" charset="-122"/>
              </a:rPr>
              <a:t>a:3</a:t>
            </a:r>
          </a:p>
        </p:txBody>
      </p:sp>
      <p:sp>
        <p:nvSpPr>
          <p:cNvPr id="16406" name="Text Box 32"/>
          <p:cNvSpPr txBox="1">
            <a:spLocks noChangeArrowheads="1"/>
          </p:cNvSpPr>
          <p:nvPr/>
        </p:nvSpPr>
        <p:spPr bwMode="auto">
          <a:xfrm>
            <a:off x="3506788" y="5588000"/>
            <a:ext cx="534987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solidFill>
                  <a:schemeClr val="hlink"/>
                </a:solidFill>
                <a:ea typeface="宋体" panose="02010600030101010101" pitchFamily="2" charset="-122"/>
              </a:rPr>
              <a:t>b:1</a:t>
            </a:r>
          </a:p>
        </p:txBody>
      </p:sp>
      <p:sp>
        <p:nvSpPr>
          <p:cNvPr id="16407" name="Text Box 33"/>
          <p:cNvSpPr txBox="1">
            <a:spLocks noChangeArrowheads="1"/>
          </p:cNvSpPr>
          <p:nvPr/>
        </p:nvSpPr>
        <p:spPr bwMode="auto">
          <a:xfrm>
            <a:off x="2822575" y="5588000"/>
            <a:ext cx="592138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solidFill>
                  <a:schemeClr val="hlink"/>
                </a:solidFill>
                <a:ea typeface="宋体" panose="02010600030101010101" pitchFamily="2" charset="-122"/>
              </a:rPr>
              <a:t>m:2</a:t>
            </a:r>
          </a:p>
        </p:txBody>
      </p:sp>
      <p:sp>
        <p:nvSpPr>
          <p:cNvPr id="16408" name="Text Box 34"/>
          <p:cNvSpPr txBox="1">
            <a:spLocks noChangeArrowheads="1"/>
          </p:cNvSpPr>
          <p:nvPr/>
        </p:nvSpPr>
        <p:spPr bwMode="auto">
          <a:xfrm>
            <a:off x="2855913" y="6072188"/>
            <a:ext cx="536575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ea typeface="宋体" panose="02010600030101010101" pitchFamily="2" charset="-122"/>
              </a:rPr>
              <a:t>p:2</a:t>
            </a:r>
          </a:p>
        </p:txBody>
      </p:sp>
      <p:cxnSp>
        <p:nvCxnSpPr>
          <p:cNvPr id="16409" name="AutoShape 35"/>
          <p:cNvCxnSpPr>
            <a:cxnSpLocks noChangeShapeType="1"/>
            <a:stCxn id="16402" idx="2"/>
            <a:endCxn id="16405" idx="0"/>
          </p:cNvCxnSpPr>
          <p:nvPr/>
        </p:nvCxnSpPr>
        <p:spPr bwMode="auto">
          <a:xfrm>
            <a:off x="3394075" y="4941888"/>
            <a:ext cx="0" cy="169862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10" name="AutoShape 36"/>
          <p:cNvCxnSpPr>
            <a:cxnSpLocks noChangeShapeType="1"/>
            <a:stCxn id="16405" idx="2"/>
            <a:endCxn id="16407" idx="0"/>
          </p:cNvCxnSpPr>
          <p:nvPr/>
        </p:nvCxnSpPr>
        <p:spPr bwMode="auto">
          <a:xfrm flipH="1">
            <a:off x="3124200" y="5426075"/>
            <a:ext cx="269875" cy="168275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11" name="AutoShape 37"/>
          <p:cNvCxnSpPr>
            <a:cxnSpLocks noChangeShapeType="1"/>
            <a:stCxn id="16405" idx="2"/>
            <a:endCxn id="16406" idx="0"/>
          </p:cNvCxnSpPr>
          <p:nvPr/>
        </p:nvCxnSpPr>
        <p:spPr bwMode="auto">
          <a:xfrm>
            <a:off x="3394075" y="5426075"/>
            <a:ext cx="382588" cy="168275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12" name="AutoShape 38"/>
          <p:cNvCxnSpPr>
            <a:cxnSpLocks noChangeShapeType="1"/>
            <a:stCxn id="16407" idx="2"/>
            <a:endCxn id="16408" idx="0"/>
          </p:cNvCxnSpPr>
          <p:nvPr/>
        </p:nvCxnSpPr>
        <p:spPr bwMode="auto">
          <a:xfrm>
            <a:off x="3124200" y="5908675"/>
            <a:ext cx="0" cy="168275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13" name="Text Box 39"/>
          <p:cNvSpPr txBox="1">
            <a:spLocks noChangeArrowheads="1"/>
          </p:cNvSpPr>
          <p:nvPr/>
        </p:nvSpPr>
        <p:spPr bwMode="auto">
          <a:xfrm>
            <a:off x="3478213" y="6072188"/>
            <a:ext cx="593725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solidFill>
                  <a:schemeClr val="hlink"/>
                </a:solidFill>
                <a:ea typeface="宋体" panose="02010600030101010101" pitchFamily="2" charset="-122"/>
              </a:rPr>
              <a:t>m:1</a:t>
            </a:r>
          </a:p>
        </p:txBody>
      </p:sp>
      <p:cxnSp>
        <p:nvCxnSpPr>
          <p:cNvPr id="16414" name="AutoShape 40"/>
          <p:cNvCxnSpPr>
            <a:cxnSpLocks noChangeShapeType="1"/>
            <a:stCxn id="16406" idx="2"/>
            <a:endCxn id="16413" idx="0"/>
          </p:cNvCxnSpPr>
          <p:nvPr/>
        </p:nvCxnSpPr>
        <p:spPr bwMode="auto">
          <a:xfrm>
            <a:off x="3776663" y="5908675"/>
            <a:ext cx="0" cy="168275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15" name="Text Box 41"/>
          <p:cNvSpPr txBox="1">
            <a:spLocks noChangeArrowheads="1"/>
          </p:cNvSpPr>
          <p:nvPr/>
        </p:nvSpPr>
        <p:spPr bwMode="auto">
          <a:xfrm>
            <a:off x="214313" y="3824288"/>
            <a:ext cx="2543175" cy="23018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lnSpc>
                <a:spcPct val="90000"/>
              </a:lnSpc>
            </a:pPr>
            <a:r>
              <a:rPr lang="en-US" altLang="zh-CN" sz="2000" b="1">
                <a:ea typeface="宋体" panose="02010600030101010101" pitchFamily="2" charset="-122"/>
              </a:rPr>
              <a:t>Header Table</a:t>
            </a:r>
          </a:p>
          <a:p>
            <a:pPr algn="l">
              <a:lnSpc>
                <a:spcPct val="90000"/>
              </a:lnSpc>
            </a:pPr>
            <a:r>
              <a:rPr lang="en-US" altLang="zh-CN" sz="2000" b="1" i="1" u="sng">
                <a:ea typeface="宋体" panose="02010600030101010101" pitchFamily="2" charset="-122"/>
              </a:rPr>
              <a:t>Item  frequency  head </a:t>
            </a:r>
          </a:p>
          <a:p>
            <a:pPr algn="l">
              <a:lnSpc>
                <a:spcPct val="9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 f	4</a:t>
            </a:r>
          </a:p>
          <a:p>
            <a:pPr algn="l">
              <a:lnSpc>
                <a:spcPct val="9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c	4</a:t>
            </a:r>
          </a:p>
          <a:p>
            <a:pPr algn="l">
              <a:lnSpc>
                <a:spcPct val="9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a	3</a:t>
            </a:r>
          </a:p>
          <a:p>
            <a:pPr algn="l">
              <a:lnSpc>
                <a:spcPct val="9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b	3</a:t>
            </a:r>
          </a:p>
          <a:p>
            <a:pPr algn="l">
              <a:lnSpc>
                <a:spcPct val="9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m	3</a:t>
            </a:r>
          </a:p>
          <a:p>
            <a:pPr algn="l">
              <a:lnSpc>
                <a:spcPct val="9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p	3</a:t>
            </a:r>
            <a:endParaRPr lang="en-US" altLang="zh-CN" sz="2000">
              <a:ea typeface="宋体" panose="02010600030101010101" pitchFamily="2" charset="-122"/>
            </a:endParaRPr>
          </a:p>
        </p:txBody>
      </p:sp>
      <p:sp>
        <p:nvSpPr>
          <p:cNvPr id="16416" name="Freeform 42"/>
          <p:cNvSpPr>
            <a:spLocks/>
          </p:cNvSpPr>
          <p:nvPr/>
        </p:nvSpPr>
        <p:spPr bwMode="auto">
          <a:xfrm>
            <a:off x="2424113" y="4311650"/>
            <a:ext cx="1074737" cy="301625"/>
          </a:xfrm>
          <a:custGeom>
            <a:avLst/>
            <a:gdLst>
              <a:gd name="T0" fmla="*/ 0 w 672"/>
              <a:gd name="T1" fmla="*/ 379073563 h 240"/>
              <a:gd name="T2" fmla="*/ 736645783 w 672"/>
              <a:gd name="T3" fmla="*/ 303258804 h 240"/>
              <a:gd name="T4" fmla="*/ 1104967175 w 672"/>
              <a:gd name="T5" fmla="*/ 75814701 h 240"/>
              <a:gd name="T6" fmla="*/ 1718838894 w 672"/>
              <a:gd name="T7" fmla="*/ 0 h 240"/>
              <a:gd name="T8" fmla="*/ 0 60000 65536"/>
              <a:gd name="T9" fmla="*/ 0 60000 65536"/>
              <a:gd name="T10" fmla="*/ 0 60000 65536"/>
              <a:gd name="T11" fmla="*/ 0 60000 65536"/>
              <a:gd name="T12" fmla="*/ 0 w 672"/>
              <a:gd name="T13" fmla="*/ 0 h 240"/>
              <a:gd name="T14" fmla="*/ 672 w 672"/>
              <a:gd name="T15" fmla="*/ 240 h 2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2" h="240">
                <a:moveTo>
                  <a:pt x="0" y="240"/>
                </a:moveTo>
                <a:cubicBezTo>
                  <a:pt x="108" y="232"/>
                  <a:pt x="216" y="224"/>
                  <a:pt x="288" y="192"/>
                </a:cubicBezTo>
                <a:cubicBezTo>
                  <a:pt x="360" y="160"/>
                  <a:pt x="368" y="80"/>
                  <a:pt x="432" y="48"/>
                </a:cubicBezTo>
                <a:cubicBezTo>
                  <a:pt x="496" y="16"/>
                  <a:pt x="584" y="8"/>
                  <a:pt x="672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417" name="Freeform 43"/>
          <p:cNvSpPr>
            <a:spLocks/>
          </p:cNvSpPr>
          <p:nvPr/>
        </p:nvSpPr>
        <p:spPr bwMode="auto">
          <a:xfrm>
            <a:off x="2424113" y="4795838"/>
            <a:ext cx="690562" cy="0"/>
          </a:xfrm>
          <a:custGeom>
            <a:avLst/>
            <a:gdLst>
              <a:gd name="T0" fmla="*/ 0 w 432"/>
              <a:gd name="T1" fmla="*/ 0 h 1"/>
              <a:gd name="T2" fmla="*/ 1103879430 w 432"/>
              <a:gd name="T3" fmla="*/ 0 h 1"/>
              <a:gd name="T4" fmla="*/ 0 60000 65536"/>
              <a:gd name="T5" fmla="*/ 0 60000 65536"/>
              <a:gd name="T6" fmla="*/ 0 w 432"/>
              <a:gd name="T7" fmla="*/ 0 h 1"/>
              <a:gd name="T8" fmla="*/ 432 w 432"/>
              <a:gd name="T9" fmla="*/ 0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32" h="1">
                <a:moveTo>
                  <a:pt x="0" y="0"/>
                </a:moveTo>
                <a:cubicBezTo>
                  <a:pt x="0" y="0"/>
                  <a:pt x="216" y="0"/>
                  <a:pt x="432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418" name="Freeform 44"/>
          <p:cNvSpPr>
            <a:spLocks/>
          </p:cNvSpPr>
          <p:nvPr/>
        </p:nvSpPr>
        <p:spPr bwMode="auto">
          <a:xfrm>
            <a:off x="3575050" y="4311650"/>
            <a:ext cx="768350" cy="484188"/>
          </a:xfrm>
          <a:custGeom>
            <a:avLst/>
            <a:gdLst>
              <a:gd name="T0" fmla="*/ 0 w 480"/>
              <a:gd name="T1" fmla="*/ 610515639 h 384"/>
              <a:gd name="T2" fmla="*/ 122992044 w 480"/>
              <a:gd name="T3" fmla="*/ 534201834 h 384"/>
              <a:gd name="T4" fmla="*/ 614960171 w 480"/>
              <a:gd name="T5" fmla="*/ 152628910 h 384"/>
              <a:gd name="T6" fmla="*/ 1229920343 w 480"/>
              <a:gd name="T7" fmla="*/ 0 h 384"/>
              <a:gd name="T8" fmla="*/ 0 60000 65536"/>
              <a:gd name="T9" fmla="*/ 0 60000 65536"/>
              <a:gd name="T10" fmla="*/ 0 60000 65536"/>
              <a:gd name="T11" fmla="*/ 0 60000 65536"/>
              <a:gd name="T12" fmla="*/ 0 w 480"/>
              <a:gd name="T13" fmla="*/ 0 h 384"/>
              <a:gd name="T14" fmla="*/ 480 w 480"/>
              <a:gd name="T15" fmla="*/ 384 h 3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80" h="384">
                <a:moveTo>
                  <a:pt x="0" y="384"/>
                </a:moveTo>
                <a:cubicBezTo>
                  <a:pt x="4" y="384"/>
                  <a:pt x="8" y="384"/>
                  <a:pt x="48" y="336"/>
                </a:cubicBezTo>
                <a:cubicBezTo>
                  <a:pt x="88" y="288"/>
                  <a:pt x="168" y="152"/>
                  <a:pt x="240" y="96"/>
                </a:cubicBezTo>
                <a:cubicBezTo>
                  <a:pt x="312" y="40"/>
                  <a:pt x="396" y="20"/>
                  <a:pt x="480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419" name="Freeform 45"/>
          <p:cNvSpPr>
            <a:spLocks/>
          </p:cNvSpPr>
          <p:nvPr/>
        </p:nvSpPr>
        <p:spPr bwMode="auto">
          <a:xfrm>
            <a:off x="2424113" y="5051425"/>
            <a:ext cx="690562" cy="241300"/>
          </a:xfrm>
          <a:custGeom>
            <a:avLst/>
            <a:gdLst>
              <a:gd name="T0" fmla="*/ 0 w 432"/>
              <a:gd name="T1" fmla="*/ 0 h 192"/>
              <a:gd name="T2" fmla="*/ 367959244 w 432"/>
              <a:gd name="T3" fmla="*/ 75814696 h 192"/>
              <a:gd name="T4" fmla="*/ 735920086 w 432"/>
              <a:gd name="T5" fmla="*/ 227444108 h 192"/>
              <a:gd name="T6" fmla="*/ 1103879430 w 432"/>
              <a:gd name="T7" fmla="*/ 303258784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432"/>
              <a:gd name="T13" fmla="*/ 0 h 192"/>
              <a:gd name="T14" fmla="*/ 432 w 432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" h="192">
                <a:moveTo>
                  <a:pt x="0" y="0"/>
                </a:moveTo>
                <a:cubicBezTo>
                  <a:pt x="48" y="12"/>
                  <a:pt x="96" y="24"/>
                  <a:pt x="144" y="48"/>
                </a:cubicBezTo>
                <a:cubicBezTo>
                  <a:pt x="192" y="72"/>
                  <a:pt x="240" y="120"/>
                  <a:pt x="288" y="144"/>
                </a:cubicBezTo>
                <a:cubicBezTo>
                  <a:pt x="336" y="168"/>
                  <a:pt x="384" y="180"/>
                  <a:pt x="432" y="192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420" name="Freeform 46"/>
          <p:cNvSpPr>
            <a:spLocks/>
          </p:cNvSpPr>
          <p:nvPr/>
        </p:nvSpPr>
        <p:spPr bwMode="auto">
          <a:xfrm>
            <a:off x="2439988" y="5232400"/>
            <a:ext cx="1149350" cy="482600"/>
          </a:xfrm>
          <a:custGeom>
            <a:avLst/>
            <a:gdLst>
              <a:gd name="T0" fmla="*/ 0 w 720"/>
              <a:gd name="T1" fmla="*/ 0 h 384"/>
              <a:gd name="T2" fmla="*/ 611577109 w 720"/>
              <a:gd name="T3" fmla="*/ 75814696 h 384"/>
              <a:gd name="T4" fmla="*/ 1345468961 w 720"/>
              <a:gd name="T5" fmla="*/ 454888216 h 384"/>
              <a:gd name="T6" fmla="*/ 1834729930 w 720"/>
              <a:gd name="T7" fmla="*/ 606517568 h 384"/>
              <a:gd name="T8" fmla="*/ 0 60000 65536"/>
              <a:gd name="T9" fmla="*/ 0 60000 65536"/>
              <a:gd name="T10" fmla="*/ 0 60000 65536"/>
              <a:gd name="T11" fmla="*/ 0 60000 65536"/>
              <a:gd name="T12" fmla="*/ 0 w 720"/>
              <a:gd name="T13" fmla="*/ 0 h 384"/>
              <a:gd name="T14" fmla="*/ 720 w 720"/>
              <a:gd name="T15" fmla="*/ 384 h 3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20" h="384">
                <a:moveTo>
                  <a:pt x="0" y="0"/>
                </a:moveTo>
                <a:cubicBezTo>
                  <a:pt x="76" y="0"/>
                  <a:pt x="152" y="0"/>
                  <a:pt x="240" y="48"/>
                </a:cubicBezTo>
                <a:cubicBezTo>
                  <a:pt x="328" y="96"/>
                  <a:pt x="448" y="232"/>
                  <a:pt x="528" y="288"/>
                </a:cubicBezTo>
                <a:cubicBezTo>
                  <a:pt x="608" y="344"/>
                  <a:pt x="664" y="364"/>
                  <a:pt x="720" y="384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421" name="Freeform 47"/>
          <p:cNvSpPr>
            <a:spLocks/>
          </p:cNvSpPr>
          <p:nvPr/>
        </p:nvSpPr>
        <p:spPr bwMode="auto">
          <a:xfrm>
            <a:off x="3973513" y="4929188"/>
            <a:ext cx="90487" cy="846137"/>
          </a:xfrm>
          <a:custGeom>
            <a:avLst/>
            <a:gdLst>
              <a:gd name="T0" fmla="*/ 0 w 56"/>
              <a:gd name="T1" fmla="*/ 1065398474 h 672"/>
              <a:gd name="T2" fmla="*/ 125324511 w 56"/>
              <a:gd name="T3" fmla="*/ 684898861 h 672"/>
              <a:gd name="T4" fmla="*/ 125324511 w 56"/>
              <a:gd name="T5" fmla="*/ 0 h 672"/>
              <a:gd name="T6" fmla="*/ 0 60000 65536"/>
              <a:gd name="T7" fmla="*/ 0 60000 65536"/>
              <a:gd name="T8" fmla="*/ 0 60000 65536"/>
              <a:gd name="T9" fmla="*/ 0 w 56"/>
              <a:gd name="T10" fmla="*/ 0 h 672"/>
              <a:gd name="T11" fmla="*/ 56 w 56"/>
              <a:gd name="T12" fmla="*/ 672 h 67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6" h="672">
                <a:moveTo>
                  <a:pt x="0" y="672"/>
                </a:moveTo>
                <a:cubicBezTo>
                  <a:pt x="20" y="608"/>
                  <a:pt x="40" y="544"/>
                  <a:pt x="48" y="432"/>
                </a:cubicBezTo>
                <a:cubicBezTo>
                  <a:pt x="56" y="320"/>
                  <a:pt x="52" y="160"/>
                  <a:pt x="48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422" name="Line 48"/>
          <p:cNvSpPr>
            <a:spLocks noChangeShapeType="1"/>
          </p:cNvSpPr>
          <p:nvPr/>
        </p:nvSpPr>
        <p:spPr bwMode="auto">
          <a:xfrm>
            <a:off x="4189413" y="4795838"/>
            <a:ext cx="153987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23" name="Freeform 49"/>
          <p:cNvSpPr>
            <a:spLocks/>
          </p:cNvSpPr>
          <p:nvPr/>
        </p:nvSpPr>
        <p:spPr bwMode="auto">
          <a:xfrm>
            <a:off x="2439988" y="5473700"/>
            <a:ext cx="460375" cy="301625"/>
          </a:xfrm>
          <a:custGeom>
            <a:avLst/>
            <a:gdLst>
              <a:gd name="T0" fmla="*/ 0 w 288"/>
              <a:gd name="T1" fmla="*/ 0 h 240"/>
              <a:gd name="T2" fmla="*/ 367961057 w 288"/>
              <a:gd name="T3" fmla="*/ 75814701 h 240"/>
              <a:gd name="T4" fmla="*/ 490614276 w 288"/>
              <a:gd name="T5" fmla="*/ 303258804 h 240"/>
              <a:gd name="T6" fmla="*/ 735920515 w 288"/>
              <a:gd name="T7" fmla="*/ 379073563 h 240"/>
              <a:gd name="T8" fmla="*/ 0 60000 65536"/>
              <a:gd name="T9" fmla="*/ 0 60000 65536"/>
              <a:gd name="T10" fmla="*/ 0 60000 65536"/>
              <a:gd name="T11" fmla="*/ 0 60000 65536"/>
              <a:gd name="T12" fmla="*/ 0 w 288"/>
              <a:gd name="T13" fmla="*/ 0 h 240"/>
              <a:gd name="T14" fmla="*/ 288 w 288"/>
              <a:gd name="T15" fmla="*/ 240 h 2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88" h="240">
                <a:moveTo>
                  <a:pt x="0" y="0"/>
                </a:moveTo>
                <a:cubicBezTo>
                  <a:pt x="56" y="8"/>
                  <a:pt x="112" y="16"/>
                  <a:pt x="144" y="48"/>
                </a:cubicBezTo>
                <a:cubicBezTo>
                  <a:pt x="176" y="80"/>
                  <a:pt x="168" y="160"/>
                  <a:pt x="192" y="192"/>
                </a:cubicBezTo>
                <a:cubicBezTo>
                  <a:pt x="216" y="224"/>
                  <a:pt x="252" y="232"/>
                  <a:pt x="288" y="24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424" name="Freeform 50"/>
          <p:cNvSpPr>
            <a:spLocks/>
          </p:cNvSpPr>
          <p:nvPr/>
        </p:nvSpPr>
        <p:spPr bwMode="auto">
          <a:xfrm>
            <a:off x="3359150" y="5775325"/>
            <a:ext cx="153988" cy="484188"/>
          </a:xfrm>
          <a:custGeom>
            <a:avLst/>
            <a:gdLst>
              <a:gd name="T0" fmla="*/ 0 w 96"/>
              <a:gd name="T1" fmla="*/ 0 h 384"/>
              <a:gd name="T2" fmla="*/ 123501595 w 96"/>
              <a:gd name="T3" fmla="*/ 152628910 h 384"/>
              <a:gd name="T4" fmla="*/ 123501595 w 96"/>
              <a:gd name="T5" fmla="*/ 457886769 h 384"/>
              <a:gd name="T6" fmla="*/ 247003190 w 96"/>
              <a:gd name="T7" fmla="*/ 610515639 h 384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384"/>
              <a:gd name="T14" fmla="*/ 96 w 96"/>
              <a:gd name="T15" fmla="*/ 384 h 3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384">
                <a:moveTo>
                  <a:pt x="0" y="0"/>
                </a:moveTo>
                <a:cubicBezTo>
                  <a:pt x="20" y="24"/>
                  <a:pt x="40" y="48"/>
                  <a:pt x="48" y="96"/>
                </a:cubicBezTo>
                <a:cubicBezTo>
                  <a:pt x="56" y="144"/>
                  <a:pt x="40" y="240"/>
                  <a:pt x="48" y="288"/>
                </a:cubicBezTo>
                <a:cubicBezTo>
                  <a:pt x="56" y="336"/>
                  <a:pt x="76" y="360"/>
                  <a:pt x="96" y="384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425" name="Freeform 51"/>
          <p:cNvSpPr>
            <a:spLocks/>
          </p:cNvSpPr>
          <p:nvPr/>
        </p:nvSpPr>
        <p:spPr bwMode="auto">
          <a:xfrm>
            <a:off x="2439988" y="5715000"/>
            <a:ext cx="460375" cy="544513"/>
          </a:xfrm>
          <a:custGeom>
            <a:avLst/>
            <a:gdLst>
              <a:gd name="T0" fmla="*/ 0 w 288"/>
              <a:gd name="T1" fmla="*/ 0 h 432"/>
              <a:gd name="T2" fmla="*/ 245306339 w 288"/>
              <a:gd name="T3" fmla="*/ 228776143 h 432"/>
              <a:gd name="T4" fmla="*/ 367961057 w 288"/>
              <a:gd name="T5" fmla="*/ 533811814 h 432"/>
              <a:gd name="T6" fmla="*/ 735920515 w 288"/>
              <a:gd name="T7" fmla="*/ 686329767 h 432"/>
              <a:gd name="T8" fmla="*/ 0 60000 65536"/>
              <a:gd name="T9" fmla="*/ 0 60000 65536"/>
              <a:gd name="T10" fmla="*/ 0 60000 65536"/>
              <a:gd name="T11" fmla="*/ 0 60000 65536"/>
              <a:gd name="T12" fmla="*/ 0 w 288"/>
              <a:gd name="T13" fmla="*/ 0 h 432"/>
              <a:gd name="T14" fmla="*/ 288 w 288"/>
              <a:gd name="T15" fmla="*/ 432 h 4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88" h="432">
                <a:moveTo>
                  <a:pt x="0" y="0"/>
                </a:moveTo>
                <a:cubicBezTo>
                  <a:pt x="36" y="44"/>
                  <a:pt x="72" y="88"/>
                  <a:pt x="96" y="144"/>
                </a:cubicBezTo>
                <a:cubicBezTo>
                  <a:pt x="120" y="200"/>
                  <a:pt x="112" y="288"/>
                  <a:pt x="144" y="336"/>
                </a:cubicBezTo>
                <a:cubicBezTo>
                  <a:pt x="176" y="384"/>
                  <a:pt x="232" y="408"/>
                  <a:pt x="288" y="432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426" name="Freeform 52"/>
          <p:cNvSpPr>
            <a:spLocks/>
          </p:cNvSpPr>
          <p:nvPr/>
        </p:nvSpPr>
        <p:spPr bwMode="auto">
          <a:xfrm>
            <a:off x="3359150" y="5413375"/>
            <a:ext cx="1228725" cy="846138"/>
          </a:xfrm>
          <a:custGeom>
            <a:avLst/>
            <a:gdLst>
              <a:gd name="T0" fmla="*/ 0 w 768"/>
              <a:gd name="T1" fmla="*/ 1065400992 h 672"/>
              <a:gd name="T2" fmla="*/ 245730623 w 768"/>
              <a:gd name="T3" fmla="*/ 837101206 h 672"/>
              <a:gd name="T4" fmla="*/ 1351515875 w 768"/>
              <a:gd name="T5" fmla="*/ 608800005 h 672"/>
              <a:gd name="T6" fmla="*/ 1965840182 w 768"/>
              <a:gd name="T7" fmla="*/ 0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768"/>
              <a:gd name="T13" fmla="*/ 0 h 672"/>
              <a:gd name="T14" fmla="*/ 768 w 768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68" h="672">
                <a:moveTo>
                  <a:pt x="0" y="672"/>
                </a:moveTo>
                <a:cubicBezTo>
                  <a:pt x="4" y="624"/>
                  <a:pt x="8" y="576"/>
                  <a:pt x="96" y="528"/>
                </a:cubicBezTo>
                <a:cubicBezTo>
                  <a:pt x="184" y="480"/>
                  <a:pt x="416" y="472"/>
                  <a:pt x="528" y="384"/>
                </a:cubicBezTo>
                <a:cubicBezTo>
                  <a:pt x="640" y="296"/>
                  <a:pt x="704" y="148"/>
                  <a:pt x="768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427" name="Rectangle 4"/>
          <p:cNvSpPr>
            <a:spLocks noChangeArrowheads="1"/>
          </p:cNvSpPr>
          <p:nvPr/>
        </p:nvSpPr>
        <p:spPr bwMode="auto">
          <a:xfrm>
            <a:off x="6072188" y="4357688"/>
            <a:ext cx="3357562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zh-CN" sz="2000" b="1" i="1">
                <a:ea typeface="宋体" panose="02010600030101010101" pitchFamily="2" charset="-122"/>
              </a:rPr>
              <a:t>Conditional </a:t>
            </a:r>
            <a:r>
              <a:rPr lang="en-US" altLang="zh-CN" sz="2000" b="1">
                <a:ea typeface="宋体" panose="02010600030101010101" pitchFamily="2" charset="-122"/>
              </a:rPr>
              <a:t>pattern bases</a:t>
            </a:r>
          </a:p>
          <a:p>
            <a:pPr algn="l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i="1" u="sng">
                <a:ea typeface="宋体" panose="02010600030101010101" pitchFamily="2" charset="-122"/>
              </a:rPr>
              <a:t>item	cond. pattern base</a:t>
            </a:r>
          </a:p>
          <a:p>
            <a:pPr algn="l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i="1">
                <a:ea typeface="宋体" panose="02010600030101010101" pitchFamily="2" charset="-122"/>
              </a:rPr>
              <a:t>macf</a:t>
            </a:r>
          </a:p>
          <a:p>
            <a:pPr algn="l">
              <a:lnSpc>
                <a:spcPct val="80000"/>
              </a:lnSpc>
              <a:spcBef>
                <a:spcPct val="50000"/>
              </a:spcBef>
            </a:pPr>
            <a:endParaRPr lang="en-US" altLang="zh-CN" sz="2000" b="1" i="1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5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6096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zh-CN" altLang="en-US" sz="2800" dirty="0">
                <a:ea typeface="宋体" pitchFamily="2" charset="-122"/>
              </a:rPr>
              <a:t>递归构造条件模式基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2775" y="1600200"/>
            <a:ext cx="8048625" cy="12573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用每一个项目的条件模式基作为输入，递归</a:t>
            </a:r>
            <a:r>
              <a:rPr lang="en-US" altLang="zh-CN">
                <a:ea typeface="宋体" panose="02010600030101010101" pitchFamily="2" charset="-122"/>
              </a:rPr>
              <a:t>FP-Growth</a:t>
            </a:r>
            <a:r>
              <a:rPr lang="zh-CN" altLang="en-US">
                <a:ea typeface="宋体" panose="02010600030101010101" pitchFamily="2" charset="-122"/>
              </a:rPr>
              <a:t>算法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7412" name="Rectangle 15"/>
          <p:cNvSpPr>
            <a:spLocks noChangeArrowheads="1"/>
          </p:cNvSpPr>
          <p:nvPr/>
        </p:nvSpPr>
        <p:spPr bwMode="auto">
          <a:xfrm>
            <a:off x="5643563" y="4143375"/>
            <a:ext cx="2571750" cy="180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lnSpc>
                <a:spcPct val="70000"/>
              </a:lnSpc>
              <a:spcBef>
                <a:spcPct val="50000"/>
              </a:spcBef>
            </a:pPr>
            <a:r>
              <a:rPr lang="en-US" altLang="zh-CN" sz="1800" b="1">
                <a:ea typeface="宋体" panose="02010600030101010101" pitchFamily="2" charset="-122"/>
              </a:rPr>
              <a:t>All frequent patterns relate to</a:t>
            </a:r>
            <a:r>
              <a:rPr lang="en-US" altLang="zh-CN" sz="1800" b="1" i="1">
                <a:ea typeface="宋体" panose="02010600030101010101" pitchFamily="2" charset="-122"/>
              </a:rPr>
              <a:t> m</a:t>
            </a:r>
          </a:p>
          <a:p>
            <a:pPr algn="l">
              <a:lnSpc>
                <a:spcPct val="70000"/>
              </a:lnSpc>
              <a:spcBef>
                <a:spcPct val="50000"/>
              </a:spcBef>
            </a:pPr>
            <a:r>
              <a:rPr lang="en-US" altLang="zh-CN" sz="1800" b="1" i="1">
                <a:ea typeface="宋体" panose="02010600030101010101" pitchFamily="2" charset="-122"/>
              </a:rPr>
              <a:t>m, </a:t>
            </a:r>
          </a:p>
          <a:p>
            <a:pPr algn="l">
              <a:lnSpc>
                <a:spcPct val="70000"/>
              </a:lnSpc>
              <a:spcBef>
                <a:spcPct val="50000"/>
              </a:spcBef>
            </a:pPr>
            <a:r>
              <a:rPr lang="en-US" altLang="zh-CN" sz="1800" b="1" i="1">
                <a:ea typeface="宋体" panose="02010600030101010101" pitchFamily="2" charset="-122"/>
              </a:rPr>
              <a:t>fm, cm, am, </a:t>
            </a:r>
          </a:p>
          <a:p>
            <a:pPr algn="l">
              <a:lnSpc>
                <a:spcPct val="70000"/>
              </a:lnSpc>
              <a:spcBef>
                <a:spcPct val="50000"/>
              </a:spcBef>
            </a:pPr>
            <a:r>
              <a:rPr lang="en-US" altLang="zh-CN" sz="1800" b="1" i="1">
                <a:ea typeface="宋体" panose="02010600030101010101" pitchFamily="2" charset="-122"/>
              </a:rPr>
              <a:t>fcm, fam, cam, </a:t>
            </a:r>
          </a:p>
          <a:p>
            <a:pPr algn="l">
              <a:lnSpc>
                <a:spcPct val="70000"/>
              </a:lnSpc>
              <a:spcBef>
                <a:spcPct val="50000"/>
              </a:spcBef>
            </a:pPr>
            <a:r>
              <a:rPr lang="en-US" altLang="zh-CN" sz="1800" b="1" i="1">
                <a:ea typeface="宋体" panose="02010600030101010101" pitchFamily="2" charset="-122"/>
              </a:rPr>
              <a:t>fcam</a:t>
            </a:r>
          </a:p>
        </p:txBody>
      </p:sp>
      <p:sp>
        <p:nvSpPr>
          <p:cNvPr id="17413" name="Text Box 16"/>
          <p:cNvSpPr txBox="1">
            <a:spLocks noChangeArrowheads="1"/>
          </p:cNvSpPr>
          <p:nvPr/>
        </p:nvSpPr>
        <p:spPr bwMode="auto">
          <a:xfrm>
            <a:off x="5105400" y="4724400"/>
            <a:ext cx="590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400" b="1">
                <a:ea typeface="宋体" panose="02010600030101010101" pitchFamily="2" charset="-122"/>
                <a:sym typeface="Wingdings 3" panose="05040102010807070707" pitchFamily="18" charset="2"/>
              </a:rPr>
              <a:t></a:t>
            </a:r>
            <a:endParaRPr lang="zh-CN" altLang="en-US" sz="2400" b="1">
              <a:ea typeface="宋体" panose="02010600030101010101" pitchFamily="2" charset="-122"/>
            </a:endParaRPr>
          </a:p>
        </p:txBody>
      </p:sp>
      <p:sp>
        <p:nvSpPr>
          <p:cNvPr id="17414" name="Text Box 18"/>
          <p:cNvSpPr txBox="1">
            <a:spLocks noChangeArrowheads="1"/>
          </p:cNvSpPr>
          <p:nvPr/>
        </p:nvSpPr>
        <p:spPr bwMode="auto">
          <a:xfrm>
            <a:off x="3892550" y="3595688"/>
            <a:ext cx="441325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zh-CN" altLang="en-US" sz="2000">
                <a:ea typeface="宋体" panose="02010600030101010101" pitchFamily="2" charset="-122"/>
              </a:rPr>
              <a:t>{}</a:t>
            </a:r>
          </a:p>
        </p:txBody>
      </p:sp>
      <p:sp>
        <p:nvSpPr>
          <p:cNvPr id="17415" name="Text Box 19"/>
          <p:cNvSpPr txBox="1">
            <a:spLocks noChangeArrowheads="1"/>
          </p:cNvSpPr>
          <p:nvPr/>
        </p:nvSpPr>
        <p:spPr bwMode="auto">
          <a:xfrm>
            <a:off x="3430588" y="4140200"/>
            <a:ext cx="477837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solidFill>
                  <a:schemeClr val="hlink"/>
                </a:solidFill>
                <a:ea typeface="宋体" panose="02010600030101010101" pitchFamily="2" charset="-122"/>
              </a:rPr>
              <a:t>f:4</a:t>
            </a:r>
          </a:p>
        </p:txBody>
      </p:sp>
      <p:sp>
        <p:nvSpPr>
          <p:cNvPr id="17416" name="Text Box 20"/>
          <p:cNvSpPr txBox="1">
            <a:spLocks noChangeArrowheads="1"/>
          </p:cNvSpPr>
          <p:nvPr/>
        </p:nvSpPr>
        <p:spPr bwMode="auto">
          <a:xfrm>
            <a:off x="4351338" y="4140200"/>
            <a:ext cx="520700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ea typeface="宋体" panose="02010600030101010101" pitchFamily="2" charset="-122"/>
              </a:rPr>
              <a:t>c:1</a:t>
            </a:r>
          </a:p>
        </p:txBody>
      </p:sp>
      <p:sp>
        <p:nvSpPr>
          <p:cNvPr id="17417" name="Text Box 21"/>
          <p:cNvSpPr txBox="1">
            <a:spLocks noChangeArrowheads="1"/>
          </p:cNvSpPr>
          <p:nvPr/>
        </p:nvSpPr>
        <p:spPr bwMode="auto">
          <a:xfrm>
            <a:off x="4343400" y="4622800"/>
            <a:ext cx="533400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ea typeface="宋体" panose="02010600030101010101" pitchFamily="2" charset="-122"/>
              </a:rPr>
              <a:t>b:1</a:t>
            </a:r>
          </a:p>
        </p:txBody>
      </p:sp>
      <p:sp>
        <p:nvSpPr>
          <p:cNvPr id="17418" name="Text Box 22"/>
          <p:cNvSpPr txBox="1">
            <a:spLocks noChangeArrowheads="1"/>
          </p:cNvSpPr>
          <p:nvPr/>
        </p:nvSpPr>
        <p:spPr bwMode="auto">
          <a:xfrm>
            <a:off x="4343400" y="5105400"/>
            <a:ext cx="533400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ea typeface="宋体" panose="02010600030101010101" pitchFamily="2" charset="-122"/>
              </a:rPr>
              <a:t>p:1</a:t>
            </a:r>
          </a:p>
        </p:txBody>
      </p:sp>
      <p:cxnSp>
        <p:nvCxnSpPr>
          <p:cNvPr id="17419" name="AutoShape 23"/>
          <p:cNvCxnSpPr>
            <a:cxnSpLocks noChangeShapeType="1"/>
            <a:stCxn id="17416" idx="2"/>
            <a:endCxn id="17417" idx="0"/>
          </p:cNvCxnSpPr>
          <p:nvPr/>
        </p:nvCxnSpPr>
        <p:spPr bwMode="auto">
          <a:xfrm>
            <a:off x="4613275" y="4459288"/>
            <a:ext cx="1588" cy="168275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20" name="AutoShape 24"/>
          <p:cNvCxnSpPr>
            <a:cxnSpLocks noChangeShapeType="1"/>
            <a:stCxn id="17417" idx="2"/>
            <a:endCxn id="17418" idx="0"/>
          </p:cNvCxnSpPr>
          <p:nvPr/>
        </p:nvCxnSpPr>
        <p:spPr bwMode="auto">
          <a:xfrm>
            <a:off x="4614863" y="4941888"/>
            <a:ext cx="0" cy="169862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21" name="AutoShape 25"/>
          <p:cNvCxnSpPr>
            <a:cxnSpLocks noChangeShapeType="1"/>
            <a:stCxn id="17414" idx="2"/>
            <a:endCxn id="17416" idx="0"/>
          </p:cNvCxnSpPr>
          <p:nvPr/>
        </p:nvCxnSpPr>
        <p:spPr bwMode="auto">
          <a:xfrm>
            <a:off x="4113213" y="3914775"/>
            <a:ext cx="500062" cy="230188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22" name="AutoShape 26"/>
          <p:cNvCxnSpPr>
            <a:cxnSpLocks noChangeShapeType="1"/>
            <a:stCxn id="17414" idx="2"/>
            <a:endCxn id="17415" idx="0"/>
          </p:cNvCxnSpPr>
          <p:nvPr/>
        </p:nvCxnSpPr>
        <p:spPr bwMode="auto">
          <a:xfrm flipH="1">
            <a:off x="3671888" y="3914775"/>
            <a:ext cx="441325" cy="230188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23" name="Text Box 27"/>
          <p:cNvSpPr txBox="1">
            <a:spLocks noChangeArrowheads="1"/>
          </p:cNvSpPr>
          <p:nvPr/>
        </p:nvSpPr>
        <p:spPr bwMode="auto">
          <a:xfrm>
            <a:off x="3736975" y="4622800"/>
            <a:ext cx="534988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ea typeface="宋体" panose="02010600030101010101" pitchFamily="2" charset="-122"/>
              </a:rPr>
              <a:t>b:1</a:t>
            </a:r>
          </a:p>
        </p:txBody>
      </p:sp>
      <p:sp>
        <p:nvSpPr>
          <p:cNvPr id="17424" name="Text Box 28"/>
          <p:cNvSpPr txBox="1">
            <a:spLocks noChangeArrowheads="1"/>
          </p:cNvSpPr>
          <p:nvPr/>
        </p:nvSpPr>
        <p:spPr bwMode="auto">
          <a:xfrm>
            <a:off x="3133725" y="4622800"/>
            <a:ext cx="519113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solidFill>
                  <a:schemeClr val="hlink"/>
                </a:solidFill>
                <a:ea typeface="宋体" panose="02010600030101010101" pitchFamily="2" charset="-122"/>
              </a:rPr>
              <a:t>c:3</a:t>
            </a:r>
          </a:p>
        </p:txBody>
      </p:sp>
      <p:cxnSp>
        <p:nvCxnSpPr>
          <p:cNvPr id="17425" name="AutoShape 29"/>
          <p:cNvCxnSpPr>
            <a:cxnSpLocks noChangeShapeType="1"/>
            <a:stCxn id="17415" idx="2"/>
            <a:endCxn id="17424" idx="0"/>
          </p:cNvCxnSpPr>
          <p:nvPr/>
        </p:nvCxnSpPr>
        <p:spPr bwMode="auto">
          <a:xfrm flipH="1">
            <a:off x="3394075" y="4459288"/>
            <a:ext cx="277813" cy="168275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26" name="AutoShape 30"/>
          <p:cNvCxnSpPr>
            <a:cxnSpLocks noChangeShapeType="1"/>
            <a:stCxn id="17415" idx="2"/>
            <a:endCxn id="17423" idx="0"/>
          </p:cNvCxnSpPr>
          <p:nvPr/>
        </p:nvCxnSpPr>
        <p:spPr bwMode="auto">
          <a:xfrm>
            <a:off x="3671888" y="4459288"/>
            <a:ext cx="334962" cy="168275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27" name="Text Box 31"/>
          <p:cNvSpPr txBox="1">
            <a:spLocks noChangeArrowheads="1"/>
          </p:cNvSpPr>
          <p:nvPr/>
        </p:nvSpPr>
        <p:spPr bwMode="auto">
          <a:xfrm>
            <a:off x="3124200" y="5105400"/>
            <a:ext cx="534988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solidFill>
                  <a:schemeClr val="hlink"/>
                </a:solidFill>
                <a:ea typeface="宋体" panose="02010600030101010101" pitchFamily="2" charset="-122"/>
              </a:rPr>
              <a:t>a:3</a:t>
            </a:r>
          </a:p>
        </p:txBody>
      </p:sp>
      <p:sp>
        <p:nvSpPr>
          <p:cNvPr id="17428" name="Text Box 32"/>
          <p:cNvSpPr txBox="1">
            <a:spLocks noChangeArrowheads="1"/>
          </p:cNvSpPr>
          <p:nvPr/>
        </p:nvSpPr>
        <p:spPr bwMode="auto">
          <a:xfrm>
            <a:off x="3506788" y="5588000"/>
            <a:ext cx="534987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solidFill>
                  <a:schemeClr val="hlink"/>
                </a:solidFill>
                <a:ea typeface="宋体" panose="02010600030101010101" pitchFamily="2" charset="-122"/>
              </a:rPr>
              <a:t>b:1</a:t>
            </a:r>
          </a:p>
        </p:txBody>
      </p:sp>
      <p:sp>
        <p:nvSpPr>
          <p:cNvPr id="17429" name="Text Box 33"/>
          <p:cNvSpPr txBox="1">
            <a:spLocks noChangeArrowheads="1"/>
          </p:cNvSpPr>
          <p:nvPr/>
        </p:nvSpPr>
        <p:spPr bwMode="auto">
          <a:xfrm>
            <a:off x="2822575" y="5588000"/>
            <a:ext cx="592138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solidFill>
                  <a:schemeClr val="hlink"/>
                </a:solidFill>
                <a:ea typeface="宋体" panose="02010600030101010101" pitchFamily="2" charset="-122"/>
              </a:rPr>
              <a:t>m:2</a:t>
            </a:r>
          </a:p>
        </p:txBody>
      </p:sp>
      <p:sp>
        <p:nvSpPr>
          <p:cNvPr id="17430" name="Text Box 34"/>
          <p:cNvSpPr txBox="1">
            <a:spLocks noChangeArrowheads="1"/>
          </p:cNvSpPr>
          <p:nvPr/>
        </p:nvSpPr>
        <p:spPr bwMode="auto">
          <a:xfrm>
            <a:off x="2855913" y="6072188"/>
            <a:ext cx="536575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ea typeface="宋体" panose="02010600030101010101" pitchFamily="2" charset="-122"/>
              </a:rPr>
              <a:t>p:2</a:t>
            </a:r>
          </a:p>
        </p:txBody>
      </p:sp>
      <p:cxnSp>
        <p:nvCxnSpPr>
          <p:cNvPr id="17431" name="AutoShape 35"/>
          <p:cNvCxnSpPr>
            <a:cxnSpLocks noChangeShapeType="1"/>
            <a:stCxn id="17424" idx="2"/>
            <a:endCxn id="17427" idx="0"/>
          </p:cNvCxnSpPr>
          <p:nvPr/>
        </p:nvCxnSpPr>
        <p:spPr bwMode="auto">
          <a:xfrm>
            <a:off x="3394075" y="4941888"/>
            <a:ext cx="0" cy="169862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32" name="AutoShape 36"/>
          <p:cNvCxnSpPr>
            <a:cxnSpLocks noChangeShapeType="1"/>
            <a:stCxn id="17427" idx="2"/>
            <a:endCxn id="17429" idx="0"/>
          </p:cNvCxnSpPr>
          <p:nvPr/>
        </p:nvCxnSpPr>
        <p:spPr bwMode="auto">
          <a:xfrm flipH="1">
            <a:off x="3124200" y="5426075"/>
            <a:ext cx="269875" cy="168275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33" name="AutoShape 37"/>
          <p:cNvCxnSpPr>
            <a:cxnSpLocks noChangeShapeType="1"/>
            <a:stCxn id="17427" idx="2"/>
            <a:endCxn id="17428" idx="0"/>
          </p:cNvCxnSpPr>
          <p:nvPr/>
        </p:nvCxnSpPr>
        <p:spPr bwMode="auto">
          <a:xfrm>
            <a:off x="3394075" y="5426075"/>
            <a:ext cx="382588" cy="168275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34" name="AutoShape 38"/>
          <p:cNvCxnSpPr>
            <a:cxnSpLocks noChangeShapeType="1"/>
            <a:stCxn id="17429" idx="2"/>
            <a:endCxn id="17430" idx="0"/>
          </p:cNvCxnSpPr>
          <p:nvPr/>
        </p:nvCxnSpPr>
        <p:spPr bwMode="auto">
          <a:xfrm>
            <a:off x="3124200" y="5908675"/>
            <a:ext cx="0" cy="168275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35" name="Text Box 39"/>
          <p:cNvSpPr txBox="1">
            <a:spLocks noChangeArrowheads="1"/>
          </p:cNvSpPr>
          <p:nvPr/>
        </p:nvSpPr>
        <p:spPr bwMode="auto">
          <a:xfrm>
            <a:off x="3478213" y="6072188"/>
            <a:ext cx="593725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i="1">
                <a:solidFill>
                  <a:schemeClr val="hlink"/>
                </a:solidFill>
                <a:ea typeface="宋体" panose="02010600030101010101" pitchFamily="2" charset="-122"/>
              </a:rPr>
              <a:t>m:1</a:t>
            </a:r>
          </a:p>
        </p:txBody>
      </p:sp>
      <p:cxnSp>
        <p:nvCxnSpPr>
          <p:cNvPr id="17436" name="AutoShape 40"/>
          <p:cNvCxnSpPr>
            <a:cxnSpLocks noChangeShapeType="1"/>
            <a:stCxn id="17428" idx="2"/>
            <a:endCxn id="17435" idx="0"/>
          </p:cNvCxnSpPr>
          <p:nvPr/>
        </p:nvCxnSpPr>
        <p:spPr bwMode="auto">
          <a:xfrm>
            <a:off x="3776663" y="5908675"/>
            <a:ext cx="0" cy="168275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37" name="Text Box 41"/>
          <p:cNvSpPr txBox="1">
            <a:spLocks noChangeArrowheads="1"/>
          </p:cNvSpPr>
          <p:nvPr/>
        </p:nvSpPr>
        <p:spPr bwMode="auto">
          <a:xfrm>
            <a:off x="214313" y="3824288"/>
            <a:ext cx="2543175" cy="23018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lnSpc>
                <a:spcPct val="90000"/>
              </a:lnSpc>
            </a:pPr>
            <a:r>
              <a:rPr lang="en-US" altLang="zh-CN" sz="2000" b="1">
                <a:ea typeface="宋体" panose="02010600030101010101" pitchFamily="2" charset="-122"/>
              </a:rPr>
              <a:t>Header Table</a:t>
            </a:r>
          </a:p>
          <a:p>
            <a:pPr algn="l">
              <a:lnSpc>
                <a:spcPct val="90000"/>
              </a:lnSpc>
            </a:pPr>
            <a:r>
              <a:rPr lang="en-US" altLang="zh-CN" sz="2000" b="1" i="1" u="sng">
                <a:ea typeface="宋体" panose="02010600030101010101" pitchFamily="2" charset="-122"/>
              </a:rPr>
              <a:t>Item  frequency  head </a:t>
            </a:r>
          </a:p>
          <a:p>
            <a:pPr algn="l">
              <a:lnSpc>
                <a:spcPct val="9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 f	4</a:t>
            </a:r>
          </a:p>
          <a:p>
            <a:pPr algn="l">
              <a:lnSpc>
                <a:spcPct val="9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c	4</a:t>
            </a:r>
          </a:p>
          <a:p>
            <a:pPr algn="l">
              <a:lnSpc>
                <a:spcPct val="9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a	3</a:t>
            </a:r>
          </a:p>
          <a:p>
            <a:pPr algn="l">
              <a:lnSpc>
                <a:spcPct val="9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b	3</a:t>
            </a:r>
          </a:p>
          <a:p>
            <a:pPr algn="l">
              <a:lnSpc>
                <a:spcPct val="9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m	3</a:t>
            </a:r>
          </a:p>
          <a:p>
            <a:pPr algn="l">
              <a:lnSpc>
                <a:spcPct val="9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p	3</a:t>
            </a:r>
            <a:endParaRPr lang="en-US" altLang="zh-CN" sz="2000">
              <a:ea typeface="宋体" panose="02010600030101010101" pitchFamily="2" charset="-122"/>
            </a:endParaRPr>
          </a:p>
        </p:txBody>
      </p:sp>
      <p:sp>
        <p:nvSpPr>
          <p:cNvPr id="17438" name="Freeform 42"/>
          <p:cNvSpPr>
            <a:spLocks/>
          </p:cNvSpPr>
          <p:nvPr/>
        </p:nvSpPr>
        <p:spPr bwMode="auto">
          <a:xfrm>
            <a:off x="2424113" y="4311650"/>
            <a:ext cx="1074737" cy="301625"/>
          </a:xfrm>
          <a:custGeom>
            <a:avLst/>
            <a:gdLst>
              <a:gd name="T0" fmla="*/ 0 w 672"/>
              <a:gd name="T1" fmla="*/ 379073563 h 240"/>
              <a:gd name="T2" fmla="*/ 736645783 w 672"/>
              <a:gd name="T3" fmla="*/ 303258804 h 240"/>
              <a:gd name="T4" fmla="*/ 1104967175 w 672"/>
              <a:gd name="T5" fmla="*/ 75814701 h 240"/>
              <a:gd name="T6" fmla="*/ 1718838894 w 672"/>
              <a:gd name="T7" fmla="*/ 0 h 240"/>
              <a:gd name="T8" fmla="*/ 0 60000 65536"/>
              <a:gd name="T9" fmla="*/ 0 60000 65536"/>
              <a:gd name="T10" fmla="*/ 0 60000 65536"/>
              <a:gd name="T11" fmla="*/ 0 60000 65536"/>
              <a:gd name="T12" fmla="*/ 0 w 672"/>
              <a:gd name="T13" fmla="*/ 0 h 240"/>
              <a:gd name="T14" fmla="*/ 672 w 672"/>
              <a:gd name="T15" fmla="*/ 240 h 2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2" h="240">
                <a:moveTo>
                  <a:pt x="0" y="240"/>
                </a:moveTo>
                <a:cubicBezTo>
                  <a:pt x="108" y="232"/>
                  <a:pt x="216" y="224"/>
                  <a:pt x="288" y="192"/>
                </a:cubicBezTo>
                <a:cubicBezTo>
                  <a:pt x="360" y="160"/>
                  <a:pt x="368" y="80"/>
                  <a:pt x="432" y="48"/>
                </a:cubicBezTo>
                <a:cubicBezTo>
                  <a:pt x="496" y="16"/>
                  <a:pt x="584" y="8"/>
                  <a:pt x="672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439" name="Freeform 43"/>
          <p:cNvSpPr>
            <a:spLocks/>
          </p:cNvSpPr>
          <p:nvPr/>
        </p:nvSpPr>
        <p:spPr bwMode="auto">
          <a:xfrm>
            <a:off x="2424113" y="4795838"/>
            <a:ext cx="690562" cy="0"/>
          </a:xfrm>
          <a:custGeom>
            <a:avLst/>
            <a:gdLst>
              <a:gd name="T0" fmla="*/ 0 w 432"/>
              <a:gd name="T1" fmla="*/ 0 h 1"/>
              <a:gd name="T2" fmla="*/ 1103879430 w 432"/>
              <a:gd name="T3" fmla="*/ 0 h 1"/>
              <a:gd name="T4" fmla="*/ 0 60000 65536"/>
              <a:gd name="T5" fmla="*/ 0 60000 65536"/>
              <a:gd name="T6" fmla="*/ 0 w 432"/>
              <a:gd name="T7" fmla="*/ 0 h 1"/>
              <a:gd name="T8" fmla="*/ 432 w 432"/>
              <a:gd name="T9" fmla="*/ 0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32" h="1">
                <a:moveTo>
                  <a:pt x="0" y="0"/>
                </a:moveTo>
                <a:cubicBezTo>
                  <a:pt x="0" y="0"/>
                  <a:pt x="216" y="0"/>
                  <a:pt x="432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440" name="Freeform 44"/>
          <p:cNvSpPr>
            <a:spLocks/>
          </p:cNvSpPr>
          <p:nvPr/>
        </p:nvSpPr>
        <p:spPr bwMode="auto">
          <a:xfrm>
            <a:off x="3575050" y="4311650"/>
            <a:ext cx="768350" cy="484188"/>
          </a:xfrm>
          <a:custGeom>
            <a:avLst/>
            <a:gdLst>
              <a:gd name="T0" fmla="*/ 0 w 480"/>
              <a:gd name="T1" fmla="*/ 610515639 h 384"/>
              <a:gd name="T2" fmla="*/ 122992044 w 480"/>
              <a:gd name="T3" fmla="*/ 534201834 h 384"/>
              <a:gd name="T4" fmla="*/ 614960171 w 480"/>
              <a:gd name="T5" fmla="*/ 152628910 h 384"/>
              <a:gd name="T6" fmla="*/ 1229920343 w 480"/>
              <a:gd name="T7" fmla="*/ 0 h 384"/>
              <a:gd name="T8" fmla="*/ 0 60000 65536"/>
              <a:gd name="T9" fmla="*/ 0 60000 65536"/>
              <a:gd name="T10" fmla="*/ 0 60000 65536"/>
              <a:gd name="T11" fmla="*/ 0 60000 65536"/>
              <a:gd name="T12" fmla="*/ 0 w 480"/>
              <a:gd name="T13" fmla="*/ 0 h 384"/>
              <a:gd name="T14" fmla="*/ 480 w 480"/>
              <a:gd name="T15" fmla="*/ 384 h 3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80" h="384">
                <a:moveTo>
                  <a:pt x="0" y="384"/>
                </a:moveTo>
                <a:cubicBezTo>
                  <a:pt x="4" y="384"/>
                  <a:pt x="8" y="384"/>
                  <a:pt x="48" y="336"/>
                </a:cubicBezTo>
                <a:cubicBezTo>
                  <a:pt x="88" y="288"/>
                  <a:pt x="168" y="152"/>
                  <a:pt x="240" y="96"/>
                </a:cubicBezTo>
                <a:cubicBezTo>
                  <a:pt x="312" y="40"/>
                  <a:pt x="396" y="20"/>
                  <a:pt x="480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441" name="Freeform 45"/>
          <p:cNvSpPr>
            <a:spLocks/>
          </p:cNvSpPr>
          <p:nvPr/>
        </p:nvSpPr>
        <p:spPr bwMode="auto">
          <a:xfrm>
            <a:off x="2424113" y="5051425"/>
            <a:ext cx="690562" cy="241300"/>
          </a:xfrm>
          <a:custGeom>
            <a:avLst/>
            <a:gdLst>
              <a:gd name="T0" fmla="*/ 0 w 432"/>
              <a:gd name="T1" fmla="*/ 0 h 192"/>
              <a:gd name="T2" fmla="*/ 367959244 w 432"/>
              <a:gd name="T3" fmla="*/ 75814696 h 192"/>
              <a:gd name="T4" fmla="*/ 735920086 w 432"/>
              <a:gd name="T5" fmla="*/ 227444108 h 192"/>
              <a:gd name="T6" fmla="*/ 1103879430 w 432"/>
              <a:gd name="T7" fmla="*/ 303258784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432"/>
              <a:gd name="T13" fmla="*/ 0 h 192"/>
              <a:gd name="T14" fmla="*/ 432 w 432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" h="192">
                <a:moveTo>
                  <a:pt x="0" y="0"/>
                </a:moveTo>
                <a:cubicBezTo>
                  <a:pt x="48" y="12"/>
                  <a:pt x="96" y="24"/>
                  <a:pt x="144" y="48"/>
                </a:cubicBezTo>
                <a:cubicBezTo>
                  <a:pt x="192" y="72"/>
                  <a:pt x="240" y="120"/>
                  <a:pt x="288" y="144"/>
                </a:cubicBezTo>
                <a:cubicBezTo>
                  <a:pt x="336" y="168"/>
                  <a:pt x="384" y="180"/>
                  <a:pt x="432" y="192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442" name="Freeform 46"/>
          <p:cNvSpPr>
            <a:spLocks/>
          </p:cNvSpPr>
          <p:nvPr/>
        </p:nvSpPr>
        <p:spPr bwMode="auto">
          <a:xfrm>
            <a:off x="2439988" y="5232400"/>
            <a:ext cx="1149350" cy="482600"/>
          </a:xfrm>
          <a:custGeom>
            <a:avLst/>
            <a:gdLst>
              <a:gd name="T0" fmla="*/ 0 w 720"/>
              <a:gd name="T1" fmla="*/ 0 h 384"/>
              <a:gd name="T2" fmla="*/ 611577109 w 720"/>
              <a:gd name="T3" fmla="*/ 75814696 h 384"/>
              <a:gd name="T4" fmla="*/ 1345468961 w 720"/>
              <a:gd name="T5" fmla="*/ 454888216 h 384"/>
              <a:gd name="T6" fmla="*/ 1834729930 w 720"/>
              <a:gd name="T7" fmla="*/ 606517568 h 384"/>
              <a:gd name="T8" fmla="*/ 0 60000 65536"/>
              <a:gd name="T9" fmla="*/ 0 60000 65536"/>
              <a:gd name="T10" fmla="*/ 0 60000 65536"/>
              <a:gd name="T11" fmla="*/ 0 60000 65536"/>
              <a:gd name="T12" fmla="*/ 0 w 720"/>
              <a:gd name="T13" fmla="*/ 0 h 384"/>
              <a:gd name="T14" fmla="*/ 720 w 720"/>
              <a:gd name="T15" fmla="*/ 384 h 3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20" h="384">
                <a:moveTo>
                  <a:pt x="0" y="0"/>
                </a:moveTo>
                <a:cubicBezTo>
                  <a:pt x="76" y="0"/>
                  <a:pt x="152" y="0"/>
                  <a:pt x="240" y="48"/>
                </a:cubicBezTo>
                <a:cubicBezTo>
                  <a:pt x="328" y="96"/>
                  <a:pt x="448" y="232"/>
                  <a:pt x="528" y="288"/>
                </a:cubicBezTo>
                <a:cubicBezTo>
                  <a:pt x="608" y="344"/>
                  <a:pt x="664" y="364"/>
                  <a:pt x="720" y="384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443" name="Freeform 47"/>
          <p:cNvSpPr>
            <a:spLocks/>
          </p:cNvSpPr>
          <p:nvPr/>
        </p:nvSpPr>
        <p:spPr bwMode="auto">
          <a:xfrm>
            <a:off x="3973513" y="4929188"/>
            <a:ext cx="90487" cy="846137"/>
          </a:xfrm>
          <a:custGeom>
            <a:avLst/>
            <a:gdLst>
              <a:gd name="T0" fmla="*/ 0 w 56"/>
              <a:gd name="T1" fmla="*/ 1065398474 h 672"/>
              <a:gd name="T2" fmla="*/ 125324511 w 56"/>
              <a:gd name="T3" fmla="*/ 684898861 h 672"/>
              <a:gd name="T4" fmla="*/ 125324511 w 56"/>
              <a:gd name="T5" fmla="*/ 0 h 672"/>
              <a:gd name="T6" fmla="*/ 0 60000 65536"/>
              <a:gd name="T7" fmla="*/ 0 60000 65536"/>
              <a:gd name="T8" fmla="*/ 0 60000 65536"/>
              <a:gd name="T9" fmla="*/ 0 w 56"/>
              <a:gd name="T10" fmla="*/ 0 h 672"/>
              <a:gd name="T11" fmla="*/ 56 w 56"/>
              <a:gd name="T12" fmla="*/ 672 h 67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6" h="672">
                <a:moveTo>
                  <a:pt x="0" y="672"/>
                </a:moveTo>
                <a:cubicBezTo>
                  <a:pt x="20" y="608"/>
                  <a:pt x="40" y="544"/>
                  <a:pt x="48" y="432"/>
                </a:cubicBezTo>
                <a:cubicBezTo>
                  <a:pt x="56" y="320"/>
                  <a:pt x="52" y="160"/>
                  <a:pt x="48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444" name="Line 48"/>
          <p:cNvSpPr>
            <a:spLocks noChangeShapeType="1"/>
          </p:cNvSpPr>
          <p:nvPr/>
        </p:nvSpPr>
        <p:spPr bwMode="auto">
          <a:xfrm>
            <a:off x="4189413" y="4795838"/>
            <a:ext cx="153987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45" name="Freeform 49"/>
          <p:cNvSpPr>
            <a:spLocks/>
          </p:cNvSpPr>
          <p:nvPr/>
        </p:nvSpPr>
        <p:spPr bwMode="auto">
          <a:xfrm>
            <a:off x="2439988" y="5473700"/>
            <a:ext cx="460375" cy="301625"/>
          </a:xfrm>
          <a:custGeom>
            <a:avLst/>
            <a:gdLst>
              <a:gd name="T0" fmla="*/ 0 w 288"/>
              <a:gd name="T1" fmla="*/ 0 h 240"/>
              <a:gd name="T2" fmla="*/ 367961057 w 288"/>
              <a:gd name="T3" fmla="*/ 75814701 h 240"/>
              <a:gd name="T4" fmla="*/ 490614276 w 288"/>
              <a:gd name="T5" fmla="*/ 303258804 h 240"/>
              <a:gd name="T6" fmla="*/ 735920515 w 288"/>
              <a:gd name="T7" fmla="*/ 379073563 h 240"/>
              <a:gd name="T8" fmla="*/ 0 60000 65536"/>
              <a:gd name="T9" fmla="*/ 0 60000 65536"/>
              <a:gd name="T10" fmla="*/ 0 60000 65536"/>
              <a:gd name="T11" fmla="*/ 0 60000 65536"/>
              <a:gd name="T12" fmla="*/ 0 w 288"/>
              <a:gd name="T13" fmla="*/ 0 h 240"/>
              <a:gd name="T14" fmla="*/ 288 w 288"/>
              <a:gd name="T15" fmla="*/ 240 h 2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88" h="240">
                <a:moveTo>
                  <a:pt x="0" y="0"/>
                </a:moveTo>
                <a:cubicBezTo>
                  <a:pt x="56" y="8"/>
                  <a:pt x="112" y="16"/>
                  <a:pt x="144" y="48"/>
                </a:cubicBezTo>
                <a:cubicBezTo>
                  <a:pt x="176" y="80"/>
                  <a:pt x="168" y="160"/>
                  <a:pt x="192" y="192"/>
                </a:cubicBezTo>
                <a:cubicBezTo>
                  <a:pt x="216" y="224"/>
                  <a:pt x="252" y="232"/>
                  <a:pt x="288" y="24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446" name="Freeform 50"/>
          <p:cNvSpPr>
            <a:spLocks/>
          </p:cNvSpPr>
          <p:nvPr/>
        </p:nvSpPr>
        <p:spPr bwMode="auto">
          <a:xfrm>
            <a:off x="3359150" y="5775325"/>
            <a:ext cx="153988" cy="484188"/>
          </a:xfrm>
          <a:custGeom>
            <a:avLst/>
            <a:gdLst>
              <a:gd name="T0" fmla="*/ 0 w 96"/>
              <a:gd name="T1" fmla="*/ 0 h 384"/>
              <a:gd name="T2" fmla="*/ 123501595 w 96"/>
              <a:gd name="T3" fmla="*/ 152628910 h 384"/>
              <a:gd name="T4" fmla="*/ 123501595 w 96"/>
              <a:gd name="T5" fmla="*/ 457886769 h 384"/>
              <a:gd name="T6" fmla="*/ 247003190 w 96"/>
              <a:gd name="T7" fmla="*/ 610515639 h 384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384"/>
              <a:gd name="T14" fmla="*/ 96 w 96"/>
              <a:gd name="T15" fmla="*/ 384 h 3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384">
                <a:moveTo>
                  <a:pt x="0" y="0"/>
                </a:moveTo>
                <a:cubicBezTo>
                  <a:pt x="20" y="24"/>
                  <a:pt x="40" y="48"/>
                  <a:pt x="48" y="96"/>
                </a:cubicBezTo>
                <a:cubicBezTo>
                  <a:pt x="56" y="144"/>
                  <a:pt x="40" y="240"/>
                  <a:pt x="48" y="288"/>
                </a:cubicBezTo>
                <a:cubicBezTo>
                  <a:pt x="56" y="336"/>
                  <a:pt x="76" y="360"/>
                  <a:pt x="96" y="384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447" name="Freeform 51"/>
          <p:cNvSpPr>
            <a:spLocks/>
          </p:cNvSpPr>
          <p:nvPr/>
        </p:nvSpPr>
        <p:spPr bwMode="auto">
          <a:xfrm>
            <a:off x="2439988" y="5715000"/>
            <a:ext cx="460375" cy="544513"/>
          </a:xfrm>
          <a:custGeom>
            <a:avLst/>
            <a:gdLst>
              <a:gd name="T0" fmla="*/ 0 w 288"/>
              <a:gd name="T1" fmla="*/ 0 h 432"/>
              <a:gd name="T2" fmla="*/ 245306339 w 288"/>
              <a:gd name="T3" fmla="*/ 228776143 h 432"/>
              <a:gd name="T4" fmla="*/ 367961057 w 288"/>
              <a:gd name="T5" fmla="*/ 533811814 h 432"/>
              <a:gd name="T6" fmla="*/ 735920515 w 288"/>
              <a:gd name="T7" fmla="*/ 686329767 h 432"/>
              <a:gd name="T8" fmla="*/ 0 60000 65536"/>
              <a:gd name="T9" fmla="*/ 0 60000 65536"/>
              <a:gd name="T10" fmla="*/ 0 60000 65536"/>
              <a:gd name="T11" fmla="*/ 0 60000 65536"/>
              <a:gd name="T12" fmla="*/ 0 w 288"/>
              <a:gd name="T13" fmla="*/ 0 h 432"/>
              <a:gd name="T14" fmla="*/ 288 w 288"/>
              <a:gd name="T15" fmla="*/ 432 h 4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88" h="432">
                <a:moveTo>
                  <a:pt x="0" y="0"/>
                </a:moveTo>
                <a:cubicBezTo>
                  <a:pt x="36" y="44"/>
                  <a:pt x="72" y="88"/>
                  <a:pt x="96" y="144"/>
                </a:cubicBezTo>
                <a:cubicBezTo>
                  <a:pt x="120" y="200"/>
                  <a:pt x="112" y="288"/>
                  <a:pt x="144" y="336"/>
                </a:cubicBezTo>
                <a:cubicBezTo>
                  <a:pt x="176" y="384"/>
                  <a:pt x="232" y="408"/>
                  <a:pt x="288" y="432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448" name="Freeform 52"/>
          <p:cNvSpPr>
            <a:spLocks/>
          </p:cNvSpPr>
          <p:nvPr/>
        </p:nvSpPr>
        <p:spPr bwMode="auto">
          <a:xfrm>
            <a:off x="3359150" y="5413375"/>
            <a:ext cx="1228725" cy="846138"/>
          </a:xfrm>
          <a:custGeom>
            <a:avLst/>
            <a:gdLst>
              <a:gd name="T0" fmla="*/ 0 w 768"/>
              <a:gd name="T1" fmla="*/ 1065400992 h 672"/>
              <a:gd name="T2" fmla="*/ 245730623 w 768"/>
              <a:gd name="T3" fmla="*/ 837101206 h 672"/>
              <a:gd name="T4" fmla="*/ 1351515875 w 768"/>
              <a:gd name="T5" fmla="*/ 608800005 h 672"/>
              <a:gd name="T6" fmla="*/ 1965840182 w 768"/>
              <a:gd name="T7" fmla="*/ 0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768"/>
              <a:gd name="T13" fmla="*/ 0 h 672"/>
              <a:gd name="T14" fmla="*/ 768 w 768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68" h="672">
                <a:moveTo>
                  <a:pt x="0" y="672"/>
                </a:moveTo>
                <a:cubicBezTo>
                  <a:pt x="4" y="624"/>
                  <a:pt x="8" y="576"/>
                  <a:pt x="96" y="528"/>
                </a:cubicBezTo>
                <a:cubicBezTo>
                  <a:pt x="184" y="480"/>
                  <a:pt x="416" y="472"/>
                  <a:pt x="528" y="384"/>
                </a:cubicBezTo>
                <a:cubicBezTo>
                  <a:pt x="640" y="296"/>
                  <a:pt x="704" y="148"/>
                  <a:pt x="768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843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构造</a:t>
            </a:r>
            <a:r>
              <a:rPr lang="en-US" altLang="zh-CN">
                <a:ea typeface="宋体" panose="02010600030101010101" pitchFamily="2" charset="-122"/>
              </a:rPr>
              <a:t>FP-tree</a:t>
            </a:r>
          </a:p>
          <a:p>
            <a:pPr lvl="1"/>
            <a:r>
              <a:rPr lang="zh-CN" altLang="en-US">
                <a:ea typeface="宋体" panose="02010600030101010101" pitchFamily="2" charset="-122"/>
              </a:rPr>
              <a:t>为了快速生成各个频繁集合的投影数据库，避免顺序扫描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buFont typeface="Monotype Sorts" pitchFamily="2" charset="2"/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挖掘</a:t>
            </a:r>
            <a:r>
              <a:rPr lang="en-US" altLang="zh-CN">
                <a:ea typeface="宋体" panose="02010600030101010101" pitchFamily="2" charset="-122"/>
              </a:rPr>
              <a:t>FP-tree</a:t>
            </a:r>
          </a:p>
          <a:p>
            <a:pPr lvl="1"/>
            <a:r>
              <a:rPr lang="zh-CN" altLang="en-US">
                <a:ea typeface="宋体" panose="02010600030101010101" pitchFamily="2" charset="-122"/>
              </a:rPr>
              <a:t>就是一个按照深度优先顺序生成投影数据库的过程。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zh-CN" altLang="en-US">
                <a:ea typeface="宋体" panose="02010600030101010101" pitchFamily="2" charset="-122"/>
              </a:rPr>
              <a:t>每一个需要为其生成投影数据库的集合，都是频繁集。不频繁集在构造</a:t>
            </a:r>
            <a:r>
              <a:rPr lang="en-US" altLang="zh-CN">
                <a:ea typeface="宋体" panose="02010600030101010101" pitchFamily="2" charset="-122"/>
              </a:rPr>
              <a:t>FP-Tree</a:t>
            </a:r>
            <a:r>
              <a:rPr lang="zh-CN" altLang="en-US">
                <a:ea typeface="宋体" panose="02010600030101010101" pitchFamily="2" charset="-122"/>
              </a:rPr>
              <a:t>时就过滤掉了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zh-CN" altLang="en-US">
                <a:ea typeface="宋体" panose="02010600030101010101" pitchFamily="2" charset="-122"/>
              </a:rPr>
              <a:t>当递归结束时，只要把所有的频繁集合并就是最后的所有频繁集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474" name="Rectangle 2"/>
          <p:cNvSpPr>
            <a:spLocks noGrp="1" noChangeArrowheads="1"/>
          </p:cNvSpPr>
          <p:nvPr>
            <p:ph type="title"/>
          </p:nvPr>
        </p:nvSpPr>
        <p:spPr>
          <a:xfrm>
            <a:off x="625475" y="438150"/>
            <a:ext cx="8064500" cy="781050"/>
          </a:xfrm>
        </p:spPr>
        <p:txBody>
          <a:bodyPr/>
          <a:lstStyle/>
          <a:p>
            <a:pPr>
              <a:defRPr/>
            </a:pPr>
            <a:r>
              <a:rPr lang="en-US" altLang="zh-CN" sz="3200">
                <a:ea typeface="宋体" pitchFamily="2" charset="-122"/>
              </a:rPr>
              <a:t>Benefits of the FP-tree Structure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610600" cy="5029200"/>
          </a:xfrm>
          <a:noFill/>
        </p:spPr>
        <p:txBody>
          <a:bodyPr/>
          <a:lstStyle/>
          <a:p>
            <a:r>
              <a:rPr lang="en-US" altLang="zh-CN" sz="2400">
                <a:ea typeface="宋体" panose="02010600030101010101" pitchFamily="2" charset="-122"/>
              </a:rPr>
              <a:t>Completeness </a:t>
            </a: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Preserve complete information for frequent pattern mining</a:t>
            </a: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Never break a long pattern of any transaction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Compactness</a:t>
            </a: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Reduce irrelevant info</a:t>
            </a:r>
            <a:r>
              <a:rPr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—</a:t>
            </a:r>
            <a:r>
              <a:rPr lang="en-US" altLang="zh-CN" sz="2000">
                <a:ea typeface="宋体" panose="02010600030101010101" pitchFamily="2" charset="-122"/>
              </a:rPr>
              <a:t>infrequent items are gone</a:t>
            </a: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Items in frequency descending order: the more frequently occurring, the more likely to be shared</a:t>
            </a: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Never be larger than the original database (not count node-links and the </a:t>
            </a:r>
            <a:r>
              <a:rPr lang="en-US" altLang="zh-CN" sz="2000" i="1">
                <a:ea typeface="宋体" panose="02010600030101010101" pitchFamily="2" charset="-122"/>
              </a:rPr>
              <a:t>count</a:t>
            </a:r>
            <a:r>
              <a:rPr lang="en-US" altLang="zh-CN" sz="2000">
                <a:ea typeface="宋体" panose="02010600030101010101" pitchFamily="2" charset="-122"/>
              </a:rPr>
              <a:t> field)</a:t>
            </a: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For Connect-4 DB, compression ratio could be over 100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itchFamily="2" charset="-122"/>
              </a:rPr>
              <a:t>Partition Patterns and Databases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743075"/>
            <a:ext cx="8382000" cy="465772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Frequent patterns can be partitioned into subsets according to f-list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F-list=f-c-a-b-m-p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Patterns containing p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Patterns having m but no p</a:t>
            </a:r>
          </a:p>
          <a:p>
            <a:pPr lvl="1"/>
            <a:r>
              <a:rPr lang="en-US" altLang="zh-CN">
                <a:latin typeface="Tahoma" panose="020B0604030504040204" pitchFamily="34" charset="0"/>
                <a:ea typeface="宋体" panose="02010600030101010101" pitchFamily="2" charset="-122"/>
              </a:rPr>
              <a:t>…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Patterns having c but no a nor b, m, p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Pattern f</a:t>
            </a:r>
          </a:p>
          <a:p>
            <a:r>
              <a:rPr lang="en-US" altLang="zh-CN">
                <a:ea typeface="宋体" panose="02010600030101010101" pitchFamily="2" charset="-122"/>
              </a:rPr>
              <a:t>Completeness and non-redundency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5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158163" cy="8382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altLang="zh-CN" sz="2800">
                <a:ea typeface="宋体" pitchFamily="2" charset="-122"/>
              </a:rPr>
              <a:t>FP-Growth vs. Apriori: Scalability With the Support Threshold</a:t>
            </a:r>
          </a:p>
        </p:txBody>
      </p:sp>
      <p:graphicFrame>
        <p:nvGraphicFramePr>
          <p:cNvPr id="1026" name="Object 3"/>
          <p:cNvGraphicFramePr>
            <a:graphicFrameLocks noChangeAspect="1"/>
          </p:cNvGraphicFramePr>
          <p:nvPr/>
        </p:nvGraphicFramePr>
        <p:xfrm>
          <a:off x="914400" y="1981200"/>
          <a:ext cx="7620000" cy="455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Chart" r:id="rId3" imgW="4600996" imgH="3286426" progId="Excel.Chart.8">
                  <p:embed/>
                </p:oleObj>
              </mc:Choice>
              <mc:Fallback>
                <p:oleObj name="Chart" r:id="rId3" imgW="4600996" imgH="3286426" progId="Excel.Char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981200"/>
                        <a:ext cx="7620000" cy="455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3810000" y="1981200"/>
            <a:ext cx="2892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400">
                <a:ea typeface="宋体" panose="02010600030101010101" pitchFamily="2" charset="-122"/>
              </a:rPr>
              <a:t>Data set T25I20D10K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itchFamily="2" charset="-122"/>
              </a:rPr>
              <a:t>VIPER vs. FP-Growth: Comparision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628775"/>
            <a:ext cx="8353425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itchFamily="2" charset="-122"/>
              </a:rPr>
              <a:t>VIPER vs. FP-Growth: Comparision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773238"/>
            <a:ext cx="8353425" cy="381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83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88913"/>
            <a:ext cx="8567738" cy="1025525"/>
          </a:xfrm>
        </p:spPr>
        <p:txBody>
          <a:bodyPr/>
          <a:lstStyle/>
          <a:p>
            <a:pPr>
              <a:defRPr/>
            </a:pPr>
            <a:r>
              <a:rPr lang="en-US" altLang="zh-CN" sz="2800">
                <a:ea typeface="宋体" pitchFamily="2" charset="-122"/>
              </a:rPr>
              <a:t>Why would write-based algorithms be faster ?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484313"/>
            <a:ext cx="8116888" cy="10048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400">
                <a:ea typeface="宋体" panose="02010600030101010101" pitchFamily="2" charset="-122"/>
              </a:rPr>
              <a:t>Read-based FPM algorithms like Apriori algorithm which will </a:t>
            </a:r>
            <a:r>
              <a:rPr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“</a:t>
            </a:r>
            <a:r>
              <a:rPr lang="en-US" altLang="zh-CN" sz="2400">
                <a:ea typeface="宋体" panose="02010600030101010101" pitchFamily="2" charset="-122"/>
              </a:rPr>
              <a:t>forget</a:t>
            </a:r>
            <a:r>
              <a:rPr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”</a:t>
            </a:r>
            <a:r>
              <a:rPr lang="en-US" altLang="zh-CN" sz="2400">
                <a:ea typeface="宋体" panose="02010600030101010101" pitchFamily="2" charset="-122"/>
              </a:rPr>
              <a:t> its previous processing. Eg. let the frequent itemset {a,b,c,d,e} be frequent. Let </a:t>
            </a:r>
            <a:r>
              <a:rPr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‘</a:t>
            </a:r>
            <a:r>
              <a:rPr lang="en-US" altLang="zh-CN" sz="2400">
                <a:ea typeface="宋体" panose="02010600030101010101" pitchFamily="2" charset="-122"/>
              </a:rPr>
              <a:t>s look at a record containing {a,b,c}.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400">
                <a:ea typeface="宋体" panose="02010600030101010101" pitchFamily="2" charset="-122"/>
              </a:rPr>
              <a:t> 	 </a:t>
            </a:r>
            <a:r>
              <a:rPr lang="en-US" altLang="zh-CN" sz="1800">
                <a:ea typeface="宋体" panose="02010600030101010101" pitchFamily="2" charset="-122"/>
              </a:rPr>
              <a:t>Level           		Candidate          	Record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800">
                <a:ea typeface="宋体" panose="02010600030101010101" pitchFamily="2" charset="-122"/>
              </a:rPr>
              <a:t>	1-itemset		 {a} 	     	{TID=10: a,  b,  c}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800">
                <a:ea typeface="宋体" panose="02010600030101010101" pitchFamily="2" charset="-122"/>
              </a:rPr>
              <a:t>	2-itemset		 {a,b}	     	{TID=10: a,  b,  c}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800">
                <a:ea typeface="宋体" panose="02010600030101010101" pitchFamily="2" charset="-122"/>
              </a:rPr>
              <a:t>	3-itemset		 {a,b,c}	     	{TID=10: a,  b,  c}</a:t>
            </a:r>
          </a:p>
          <a:p>
            <a:pPr>
              <a:lnSpc>
                <a:spcPct val="90000"/>
              </a:lnSpc>
            </a:pPr>
            <a:r>
              <a:rPr lang="en-US" altLang="zh-CN" sz="2400">
                <a:ea typeface="宋体" panose="02010600030101010101" pitchFamily="2" charset="-122"/>
              </a:rPr>
              <a:t>Write-based FPM avoid this repeated scanning by doing depth first search</a:t>
            </a:r>
          </a:p>
        </p:txBody>
      </p:sp>
      <p:sp>
        <p:nvSpPr>
          <p:cNvPr id="23556" name="Line 4"/>
          <p:cNvSpPr>
            <a:spLocks noChangeShapeType="1"/>
          </p:cNvSpPr>
          <p:nvPr/>
        </p:nvSpPr>
        <p:spPr bwMode="auto">
          <a:xfrm flipH="1">
            <a:off x="6578600" y="3011488"/>
            <a:ext cx="838200" cy="152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57" name="Text Box 5"/>
          <p:cNvSpPr txBox="1">
            <a:spLocks noChangeArrowheads="1"/>
          </p:cNvSpPr>
          <p:nvPr/>
        </p:nvSpPr>
        <p:spPr bwMode="auto">
          <a:xfrm>
            <a:off x="7340600" y="2782888"/>
            <a:ext cx="91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1600">
                <a:ea typeface="宋体" panose="02010600030101010101" pitchFamily="2" charset="-122"/>
              </a:rPr>
              <a:t>scanned</a:t>
            </a:r>
          </a:p>
        </p:txBody>
      </p:sp>
      <p:sp>
        <p:nvSpPr>
          <p:cNvPr id="23558" name="Line 6"/>
          <p:cNvSpPr>
            <a:spLocks noChangeShapeType="1"/>
          </p:cNvSpPr>
          <p:nvPr/>
        </p:nvSpPr>
        <p:spPr bwMode="auto">
          <a:xfrm flipH="1">
            <a:off x="6635750" y="3236913"/>
            <a:ext cx="866775" cy="254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59" name="Text Box 7"/>
          <p:cNvSpPr txBox="1">
            <a:spLocks noChangeArrowheads="1"/>
          </p:cNvSpPr>
          <p:nvPr/>
        </p:nvSpPr>
        <p:spPr bwMode="auto">
          <a:xfrm>
            <a:off x="7654925" y="3084513"/>
            <a:ext cx="91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1600">
                <a:ea typeface="宋体" panose="02010600030101010101" pitchFamily="2" charset="-122"/>
              </a:rPr>
              <a:t>scanned</a:t>
            </a:r>
          </a:p>
        </p:txBody>
      </p:sp>
      <p:sp>
        <p:nvSpPr>
          <p:cNvPr id="23560" name="Line 8"/>
          <p:cNvSpPr>
            <a:spLocks noChangeShapeType="1"/>
          </p:cNvSpPr>
          <p:nvPr/>
        </p:nvSpPr>
        <p:spPr bwMode="auto">
          <a:xfrm flipH="1">
            <a:off x="7034213" y="3236913"/>
            <a:ext cx="468312" cy="254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61" name="Line 9"/>
          <p:cNvSpPr>
            <a:spLocks noChangeShapeType="1"/>
          </p:cNvSpPr>
          <p:nvPr/>
        </p:nvSpPr>
        <p:spPr bwMode="auto">
          <a:xfrm flipH="1">
            <a:off x="6588125" y="3738563"/>
            <a:ext cx="838200" cy="152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62" name="Text Box 10"/>
          <p:cNvSpPr txBox="1">
            <a:spLocks noChangeArrowheads="1"/>
          </p:cNvSpPr>
          <p:nvPr/>
        </p:nvSpPr>
        <p:spPr bwMode="auto">
          <a:xfrm>
            <a:off x="7578725" y="3586163"/>
            <a:ext cx="91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1600">
                <a:ea typeface="宋体" panose="02010600030101010101" pitchFamily="2" charset="-122"/>
              </a:rPr>
              <a:t>scanned</a:t>
            </a:r>
          </a:p>
        </p:txBody>
      </p:sp>
      <p:sp>
        <p:nvSpPr>
          <p:cNvPr id="23563" name="Line 11"/>
          <p:cNvSpPr>
            <a:spLocks noChangeShapeType="1"/>
          </p:cNvSpPr>
          <p:nvPr/>
        </p:nvSpPr>
        <p:spPr bwMode="auto">
          <a:xfrm flipH="1">
            <a:off x="7045325" y="3738563"/>
            <a:ext cx="381000" cy="152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64" name="Line 12"/>
          <p:cNvSpPr>
            <a:spLocks noChangeShapeType="1"/>
          </p:cNvSpPr>
          <p:nvPr/>
        </p:nvSpPr>
        <p:spPr bwMode="auto">
          <a:xfrm flipH="1">
            <a:off x="7415213" y="3770313"/>
            <a:ext cx="11112" cy="1968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65" name="Rectangle 13"/>
          <p:cNvSpPr>
            <a:spLocks noChangeArrowheads="1"/>
          </p:cNvSpPr>
          <p:nvPr/>
        </p:nvSpPr>
        <p:spPr bwMode="auto">
          <a:xfrm>
            <a:off x="395288" y="5157788"/>
            <a:ext cx="8170862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lnSpc>
                <a:spcPct val="55000"/>
              </a:lnSpc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800">
                <a:latin typeface="Tahoma" panose="020B0604030504040204" pitchFamily="34" charset="0"/>
                <a:ea typeface="宋体" panose="02010600030101010101" pitchFamily="2" charset="-122"/>
              </a:rPr>
              <a:t>	</a:t>
            </a:r>
            <a:r>
              <a:rPr lang="en-US" altLang="zh-CN" sz="1800">
                <a:latin typeface="Tahoma" panose="020B0604030504040204" pitchFamily="34" charset="0"/>
                <a:ea typeface="宋体" panose="02010600030101010101" pitchFamily="2" charset="-122"/>
              </a:rPr>
              <a:t>Level           		Candidate          	Record</a:t>
            </a:r>
          </a:p>
          <a:p>
            <a:pPr algn="l" eaLnBrk="1" hangingPunct="1">
              <a:lnSpc>
                <a:spcPct val="55000"/>
              </a:lnSpc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>
                <a:latin typeface="Tahoma" panose="020B0604030504040204" pitchFamily="34" charset="0"/>
                <a:ea typeface="宋体" panose="02010600030101010101" pitchFamily="2" charset="-122"/>
              </a:rPr>
              <a:t>	1-itemset		 {a} 	     	{TID=10: a,  b,  c}</a:t>
            </a:r>
          </a:p>
          <a:p>
            <a:pPr algn="l" eaLnBrk="1" hangingPunct="1">
              <a:lnSpc>
                <a:spcPct val="55000"/>
              </a:lnSpc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>
                <a:latin typeface="Tahoma" panose="020B0604030504040204" pitchFamily="34" charset="0"/>
                <a:ea typeface="宋体" panose="02010600030101010101" pitchFamily="2" charset="-122"/>
              </a:rPr>
              <a:t>	2-itemset		 {a,b}	     	{TID=10: b,  c}</a:t>
            </a:r>
          </a:p>
          <a:p>
            <a:pPr algn="l" eaLnBrk="1" hangingPunct="1">
              <a:lnSpc>
                <a:spcPct val="55000"/>
              </a:lnSpc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>
                <a:latin typeface="Tahoma" panose="020B0604030504040204" pitchFamily="34" charset="0"/>
                <a:ea typeface="宋体" panose="02010600030101010101" pitchFamily="2" charset="-122"/>
              </a:rPr>
              <a:t>	3-itemset		 {a,b,c}	     	{TID=10: c}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3200">
                <a:ea typeface="宋体" pitchFamily="2" charset="-122"/>
              </a:rPr>
              <a:t>Why would write-based algorithms be faster ?</a:t>
            </a:r>
            <a:endParaRPr lang="zh-CN" altLang="en-US" sz="3200">
              <a:ea typeface="宋体" pitchFamily="2" charset="-122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557338"/>
            <a:ext cx="8353425" cy="484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930" name="Rectangle 2"/>
          <p:cNvSpPr>
            <a:spLocks noGrp="1" noChangeArrowheads="1"/>
          </p:cNvSpPr>
          <p:nvPr>
            <p:ph type="title"/>
          </p:nvPr>
        </p:nvSpPr>
        <p:spPr>
          <a:xfrm>
            <a:off x="968375" y="260350"/>
            <a:ext cx="7793038" cy="633413"/>
          </a:xfrm>
        </p:spPr>
        <p:txBody>
          <a:bodyPr/>
          <a:lstStyle/>
          <a:p>
            <a:pPr>
              <a:defRPr/>
            </a:pPr>
            <a:r>
              <a:rPr lang="en-US" altLang="zh-CN">
                <a:ea typeface="宋体" pitchFamily="2" charset="-122"/>
              </a:rPr>
              <a:t>However......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557338"/>
            <a:ext cx="6084887" cy="9032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1800">
                <a:ea typeface="宋体" panose="02010600030101010101" pitchFamily="2" charset="-122"/>
              </a:rPr>
              <a:t>Write-based algorithm usually pay a higher cost in term of </a:t>
            </a:r>
            <a:r>
              <a:rPr lang="en-US" altLang="zh-CN" sz="1800">
                <a:solidFill>
                  <a:schemeClr val="hlink"/>
                </a:solidFill>
                <a:ea typeface="宋体" panose="02010600030101010101" pitchFamily="2" charset="-122"/>
              </a:rPr>
              <a:t>space complexity.</a:t>
            </a:r>
          </a:p>
          <a:p>
            <a:pPr>
              <a:lnSpc>
                <a:spcPct val="90000"/>
              </a:lnSpc>
            </a:pPr>
            <a:r>
              <a:rPr lang="en-US" altLang="zh-CN" sz="1800">
                <a:ea typeface="宋体" panose="02010600030101010101" pitchFamily="2" charset="-122"/>
              </a:rPr>
              <a:t>Projected databases are materialize for </a:t>
            </a:r>
            <a:r>
              <a:rPr lang="en-US" altLang="zh-CN" sz="1800">
                <a:solidFill>
                  <a:schemeClr val="hlink"/>
                </a:solidFill>
                <a:ea typeface="宋体" panose="02010600030101010101" pitchFamily="2" charset="-122"/>
              </a:rPr>
              <a:t>all the red circles</a:t>
            </a:r>
            <a:r>
              <a:rPr lang="en-US" altLang="zh-CN" sz="1800">
                <a:ea typeface="宋体" panose="02010600030101010101" pitchFamily="2" charset="-122"/>
              </a:rPr>
              <a:t> on the way to getting the </a:t>
            </a:r>
            <a:r>
              <a:rPr lang="en-US" altLang="zh-CN" sz="1800" b="0">
                <a:ea typeface="宋体" panose="02010600030101010101" pitchFamily="2" charset="-122"/>
              </a:rPr>
              <a:t>{a,b} projected</a:t>
            </a:r>
            <a:r>
              <a:rPr lang="en-US" altLang="zh-CN" sz="1800">
                <a:ea typeface="宋体" panose="02010600030101010101" pitchFamily="2" charset="-122"/>
              </a:rPr>
              <a:t> database.</a:t>
            </a:r>
          </a:p>
        </p:txBody>
      </p:sp>
      <p:sp>
        <p:nvSpPr>
          <p:cNvPr id="25604" name="Oval 4"/>
          <p:cNvSpPr>
            <a:spLocks noChangeArrowheads="1"/>
          </p:cNvSpPr>
          <p:nvPr/>
        </p:nvSpPr>
        <p:spPr bwMode="auto">
          <a:xfrm>
            <a:off x="5910263" y="3322638"/>
            <a:ext cx="782637" cy="69215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a,c</a:t>
            </a:r>
          </a:p>
        </p:txBody>
      </p:sp>
      <p:sp>
        <p:nvSpPr>
          <p:cNvPr id="25605" name="Oval 5"/>
          <p:cNvSpPr>
            <a:spLocks noChangeArrowheads="1"/>
          </p:cNvSpPr>
          <p:nvPr/>
        </p:nvSpPr>
        <p:spPr bwMode="auto">
          <a:xfrm>
            <a:off x="6748463" y="3322638"/>
            <a:ext cx="784225" cy="69215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a,e</a:t>
            </a:r>
          </a:p>
        </p:txBody>
      </p:sp>
      <p:sp>
        <p:nvSpPr>
          <p:cNvPr id="25606" name="Oval 6"/>
          <p:cNvSpPr>
            <a:spLocks noChangeArrowheads="1"/>
          </p:cNvSpPr>
          <p:nvPr/>
        </p:nvSpPr>
        <p:spPr bwMode="auto">
          <a:xfrm>
            <a:off x="8464550" y="3322638"/>
            <a:ext cx="784225" cy="6921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b,e</a:t>
            </a:r>
          </a:p>
        </p:txBody>
      </p:sp>
      <p:sp>
        <p:nvSpPr>
          <p:cNvPr id="25607" name="Oval 7"/>
          <p:cNvSpPr>
            <a:spLocks noChangeArrowheads="1"/>
          </p:cNvSpPr>
          <p:nvPr/>
        </p:nvSpPr>
        <p:spPr bwMode="auto">
          <a:xfrm>
            <a:off x="7616825" y="3322638"/>
            <a:ext cx="784225" cy="6921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b,c</a:t>
            </a:r>
          </a:p>
        </p:txBody>
      </p:sp>
      <p:sp>
        <p:nvSpPr>
          <p:cNvPr id="25608" name="Oval 8"/>
          <p:cNvSpPr>
            <a:spLocks noChangeArrowheads="1"/>
          </p:cNvSpPr>
          <p:nvPr/>
        </p:nvSpPr>
        <p:spPr bwMode="auto">
          <a:xfrm>
            <a:off x="5092700" y="3322638"/>
            <a:ext cx="760413" cy="6921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a,b</a:t>
            </a:r>
          </a:p>
        </p:txBody>
      </p:sp>
      <p:sp>
        <p:nvSpPr>
          <p:cNvPr id="25609" name="Oval 9"/>
          <p:cNvSpPr>
            <a:spLocks noChangeArrowheads="1"/>
          </p:cNvSpPr>
          <p:nvPr/>
        </p:nvSpPr>
        <p:spPr bwMode="auto">
          <a:xfrm>
            <a:off x="9337675" y="3317875"/>
            <a:ext cx="784225" cy="6921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c,e</a:t>
            </a:r>
          </a:p>
        </p:txBody>
      </p:sp>
      <p:sp>
        <p:nvSpPr>
          <p:cNvPr id="25610" name="Oval 10"/>
          <p:cNvSpPr>
            <a:spLocks noChangeArrowheads="1"/>
          </p:cNvSpPr>
          <p:nvPr/>
        </p:nvSpPr>
        <p:spPr bwMode="auto">
          <a:xfrm>
            <a:off x="8328025" y="2174875"/>
            <a:ext cx="727075" cy="7223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b,c,e</a:t>
            </a:r>
          </a:p>
        </p:txBody>
      </p:sp>
      <p:sp>
        <p:nvSpPr>
          <p:cNvPr id="25611" name="Oval 11"/>
          <p:cNvSpPr>
            <a:spLocks noChangeArrowheads="1"/>
          </p:cNvSpPr>
          <p:nvPr/>
        </p:nvSpPr>
        <p:spPr bwMode="auto">
          <a:xfrm>
            <a:off x="6711950" y="2214563"/>
            <a:ext cx="747713" cy="7223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a,b,e</a:t>
            </a:r>
          </a:p>
        </p:txBody>
      </p:sp>
      <p:sp>
        <p:nvSpPr>
          <p:cNvPr id="25612" name="Oval 12"/>
          <p:cNvSpPr>
            <a:spLocks noChangeArrowheads="1"/>
          </p:cNvSpPr>
          <p:nvPr/>
        </p:nvSpPr>
        <p:spPr bwMode="auto">
          <a:xfrm>
            <a:off x="7526338" y="2214563"/>
            <a:ext cx="749300" cy="7223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a,c,e</a:t>
            </a:r>
          </a:p>
        </p:txBody>
      </p:sp>
      <p:sp>
        <p:nvSpPr>
          <p:cNvPr id="25613" name="Oval 13"/>
          <p:cNvSpPr>
            <a:spLocks noChangeArrowheads="1"/>
          </p:cNvSpPr>
          <p:nvPr/>
        </p:nvSpPr>
        <p:spPr bwMode="auto">
          <a:xfrm>
            <a:off x="5930900" y="2214563"/>
            <a:ext cx="727075" cy="7223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a,b,e</a:t>
            </a:r>
          </a:p>
        </p:txBody>
      </p:sp>
      <p:sp>
        <p:nvSpPr>
          <p:cNvPr id="25614" name="Oval 14"/>
          <p:cNvSpPr>
            <a:spLocks noChangeArrowheads="1"/>
          </p:cNvSpPr>
          <p:nvPr/>
        </p:nvSpPr>
        <p:spPr bwMode="auto">
          <a:xfrm>
            <a:off x="6235700" y="4384675"/>
            <a:ext cx="685800" cy="61118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25615" name="Oval 15"/>
          <p:cNvSpPr>
            <a:spLocks noChangeArrowheads="1"/>
          </p:cNvSpPr>
          <p:nvPr/>
        </p:nvSpPr>
        <p:spPr bwMode="auto">
          <a:xfrm>
            <a:off x="6977063" y="4384675"/>
            <a:ext cx="684212" cy="611188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25616" name="Oval 16"/>
          <p:cNvSpPr>
            <a:spLocks noChangeArrowheads="1"/>
          </p:cNvSpPr>
          <p:nvPr/>
        </p:nvSpPr>
        <p:spPr bwMode="auto">
          <a:xfrm>
            <a:off x="7718425" y="4384675"/>
            <a:ext cx="684213" cy="611188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25617" name="Oval 17"/>
          <p:cNvSpPr>
            <a:spLocks noChangeArrowheads="1"/>
          </p:cNvSpPr>
          <p:nvPr/>
        </p:nvSpPr>
        <p:spPr bwMode="auto">
          <a:xfrm>
            <a:off x="8461375" y="4384675"/>
            <a:ext cx="682625" cy="611188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25618" name="Oval 18"/>
          <p:cNvSpPr>
            <a:spLocks noChangeArrowheads="1"/>
          </p:cNvSpPr>
          <p:nvPr/>
        </p:nvSpPr>
        <p:spPr bwMode="auto">
          <a:xfrm>
            <a:off x="7073900" y="1108075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a,b,c,e</a:t>
            </a:r>
          </a:p>
        </p:txBody>
      </p:sp>
      <p:sp>
        <p:nvSpPr>
          <p:cNvPr id="25619" name="Oval 19"/>
          <p:cNvSpPr>
            <a:spLocks noChangeArrowheads="1"/>
          </p:cNvSpPr>
          <p:nvPr/>
        </p:nvSpPr>
        <p:spPr bwMode="auto">
          <a:xfrm>
            <a:off x="7607300" y="5603875"/>
            <a:ext cx="598488" cy="5334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{}</a:t>
            </a:r>
          </a:p>
        </p:txBody>
      </p:sp>
      <p:sp>
        <p:nvSpPr>
          <p:cNvPr id="25620" name="Line 20"/>
          <p:cNvSpPr>
            <a:spLocks noChangeShapeType="1"/>
          </p:cNvSpPr>
          <p:nvPr/>
        </p:nvSpPr>
        <p:spPr bwMode="auto">
          <a:xfrm flipV="1">
            <a:off x="8216900" y="5070475"/>
            <a:ext cx="6096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21" name="Line 21"/>
          <p:cNvSpPr>
            <a:spLocks noChangeShapeType="1"/>
          </p:cNvSpPr>
          <p:nvPr/>
        </p:nvSpPr>
        <p:spPr bwMode="auto">
          <a:xfrm flipV="1">
            <a:off x="7988300" y="4994275"/>
            <a:ext cx="762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22" name="Line 22"/>
          <p:cNvSpPr>
            <a:spLocks noChangeShapeType="1"/>
          </p:cNvSpPr>
          <p:nvPr/>
        </p:nvSpPr>
        <p:spPr bwMode="auto">
          <a:xfrm flipH="1" flipV="1">
            <a:off x="7378700" y="4994275"/>
            <a:ext cx="3048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23" name="Line 23"/>
          <p:cNvSpPr>
            <a:spLocks noChangeShapeType="1"/>
          </p:cNvSpPr>
          <p:nvPr/>
        </p:nvSpPr>
        <p:spPr bwMode="auto">
          <a:xfrm flipH="1" flipV="1">
            <a:off x="6692900" y="4994275"/>
            <a:ext cx="9144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24" name="Line 24"/>
          <p:cNvSpPr>
            <a:spLocks noChangeShapeType="1"/>
          </p:cNvSpPr>
          <p:nvPr/>
        </p:nvSpPr>
        <p:spPr bwMode="auto">
          <a:xfrm flipH="1" flipV="1">
            <a:off x="5702300" y="4003675"/>
            <a:ext cx="533400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25" name="Line 25"/>
          <p:cNvSpPr>
            <a:spLocks noChangeShapeType="1"/>
          </p:cNvSpPr>
          <p:nvPr/>
        </p:nvSpPr>
        <p:spPr bwMode="auto">
          <a:xfrm flipH="1" flipV="1">
            <a:off x="6388100" y="4003675"/>
            <a:ext cx="762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26" name="Line 26"/>
          <p:cNvSpPr>
            <a:spLocks noChangeShapeType="1"/>
          </p:cNvSpPr>
          <p:nvPr/>
        </p:nvSpPr>
        <p:spPr bwMode="auto">
          <a:xfrm flipV="1">
            <a:off x="6769100" y="4003675"/>
            <a:ext cx="3810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27" name="Line 27"/>
          <p:cNvSpPr>
            <a:spLocks noChangeShapeType="1"/>
          </p:cNvSpPr>
          <p:nvPr/>
        </p:nvSpPr>
        <p:spPr bwMode="auto">
          <a:xfrm flipV="1">
            <a:off x="7378700" y="4003675"/>
            <a:ext cx="6096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28" name="Line 28"/>
          <p:cNvSpPr>
            <a:spLocks noChangeShapeType="1"/>
          </p:cNvSpPr>
          <p:nvPr/>
        </p:nvSpPr>
        <p:spPr bwMode="auto">
          <a:xfrm flipH="1" flipV="1">
            <a:off x="5778500" y="4003675"/>
            <a:ext cx="15240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29" name="Line 29"/>
          <p:cNvSpPr>
            <a:spLocks noChangeShapeType="1"/>
          </p:cNvSpPr>
          <p:nvPr/>
        </p:nvSpPr>
        <p:spPr bwMode="auto">
          <a:xfrm flipV="1">
            <a:off x="7454900" y="4003675"/>
            <a:ext cx="12192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30" name="Line 30"/>
          <p:cNvSpPr>
            <a:spLocks noChangeShapeType="1"/>
          </p:cNvSpPr>
          <p:nvPr/>
        </p:nvSpPr>
        <p:spPr bwMode="auto">
          <a:xfrm flipH="1" flipV="1">
            <a:off x="6540500" y="4003675"/>
            <a:ext cx="13716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31" name="Line 31"/>
          <p:cNvSpPr>
            <a:spLocks noChangeShapeType="1"/>
          </p:cNvSpPr>
          <p:nvPr/>
        </p:nvSpPr>
        <p:spPr bwMode="auto">
          <a:xfrm flipV="1">
            <a:off x="8064500" y="4003675"/>
            <a:ext cx="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32" name="Line 32"/>
          <p:cNvSpPr>
            <a:spLocks noChangeShapeType="1"/>
          </p:cNvSpPr>
          <p:nvPr/>
        </p:nvSpPr>
        <p:spPr bwMode="auto">
          <a:xfrm flipV="1">
            <a:off x="8293100" y="4003675"/>
            <a:ext cx="12192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33" name="Line 33"/>
          <p:cNvSpPr>
            <a:spLocks noChangeShapeType="1"/>
          </p:cNvSpPr>
          <p:nvPr/>
        </p:nvSpPr>
        <p:spPr bwMode="auto">
          <a:xfrm flipH="1" flipV="1">
            <a:off x="7302500" y="4003675"/>
            <a:ext cx="13716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34" name="Line 34"/>
          <p:cNvSpPr>
            <a:spLocks noChangeShapeType="1"/>
          </p:cNvSpPr>
          <p:nvPr/>
        </p:nvSpPr>
        <p:spPr bwMode="auto">
          <a:xfrm flipV="1">
            <a:off x="8826500" y="4003675"/>
            <a:ext cx="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35" name="Line 35"/>
          <p:cNvSpPr>
            <a:spLocks noChangeShapeType="1"/>
          </p:cNvSpPr>
          <p:nvPr/>
        </p:nvSpPr>
        <p:spPr bwMode="auto">
          <a:xfrm flipV="1">
            <a:off x="8978900" y="4003675"/>
            <a:ext cx="6096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36" name="Line 36"/>
          <p:cNvSpPr>
            <a:spLocks noChangeShapeType="1"/>
          </p:cNvSpPr>
          <p:nvPr/>
        </p:nvSpPr>
        <p:spPr bwMode="auto">
          <a:xfrm flipV="1">
            <a:off x="5549900" y="2860675"/>
            <a:ext cx="5334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37" name="Line 37"/>
          <p:cNvSpPr>
            <a:spLocks noChangeShapeType="1"/>
          </p:cNvSpPr>
          <p:nvPr/>
        </p:nvSpPr>
        <p:spPr bwMode="auto">
          <a:xfrm flipV="1">
            <a:off x="5549900" y="2936875"/>
            <a:ext cx="13716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38" name="Line 38"/>
          <p:cNvSpPr>
            <a:spLocks noChangeShapeType="1"/>
          </p:cNvSpPr>
          <p:nvPr/>
        </p:nvSpPr>
        <p:spPr bwMode="auto">
          <a:xfrm flipV="1">
            <a:off x="6235700" y="2936875"/>
            <a:ext cx="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39" name="Line 39"/>
          <p:cNvSpPr>
            <a:spLocks noChangeShapeType="1"/>
          </p:cNvSpPr>
          <p:nvPr/>
        </p:nvSpPr>
        <p:spPr bwMode="auto">
          <a:xfrm flipV="1">
            <a:off x="6311900" y="2936875"/>
            <a:ext cx="13716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40" name="Line 40"/>
          <p:cNvSpPr>
            <a:spLocks noChangeShapeType="1"/>
          </p:cNvSpPr>
          <p:nvPr/>
        </p:nvSpPr>
        <p:spPr bwMode="auto">
          <a:xfrm flipH="1" flipV="1">
            <a:off x="7073900" y="2936875"/>
            <a:ext cx="762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41" name="Line 41"/>
          <p:cNvSpPr>
            <a:spLocks noChangeShapeType="1"/>
          </p:cNvSpPr>
          <p:nvPr/>
        </p:nvSpPr>
        <p:spPr bwMode="auto">
          <a:xfrm flipV="1">
            <a:off x="7150100" y="2936875"/>
            <a:ext cx="6096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42" name="Line 42"/>
          <p:cNvSpPr>
            <a:spLocks noChangeShapeType="1"/>
          </p:cNvSpPr>
          <p:nvPr/>
        </p:nvSpPr>
        <p:spPr bwMode="auto">
          <a:xfrm flipH="1" flipV="1">
            <a:off x="6464300" y="2936875"/>
            <a:ext cx="16002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43" name="Line 43"/>
          <p:cNvSpPr>
            <a:spLocks noChangeShapeType="1"/>
          </p:cNvSpPr>
          <p:nvPr/>
        </p:nvSpPr>
        <p:spPr bwMode="auto">
          <a:xfrm flipV="1">
            <a:off x="8064500" y="2860675"/>
            <a:ext cx="4572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44" name="Line 44"/>
          <p:cNvSpPr>
            <a:spLocks noChangeShapeType="1"/>
          </p:cNvSpPr>
          <p:nvPr/>
        </p:nvSpPr>
        <p:spPr bwMode="auto">
          <a:xfrm flipH="1" flipV="1">
            <a:off x="7226300" y="2936875"/>
            <a:ext cx="14478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45" name="Line 45"/>
          <p:cNvSpPr>
            <a:spLocks noChangeShapeType="1"/>
          </p:cNvSpPr>
          <p:nvPr/>
        </p:nvSpPr>
        <p:spPr bwMode="auto">
          <a:xfrm flipV="1">
            <a:off x="8826500" y="2860675"/>
            <a:ext cx="762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46" name="Line 46"/>
          <p:cNvSpPr>
            <a:spLocks noChangeShapeType="1"/>
          </p:cNvSpPr>
          <p:nvPr/>
        </p:nvSpPr>
        <p:spPr bwMode="auto">
          <a:xfrm flipH="1" flipV="1">
            <a:off x="8064500" y="2936875"/>
            <a:ext cx="13716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47" name="Line 47"/>
          <p:cNvSpPr>
            <a:spLocks noChangeShapeType="1"/>
          </p:cNvSpPr>
          <p:nvPr/>
        </p:nvSpPr>
        <p:spPr bwMode="auto">
          <a:xfrm flipH="1" flipV="1">
            <a:off x="8978900" y="2860675"/>
            <a:ext cx="6858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48" name="Line 48"/>
          <p:cNvSpPr>
            <a:spLocks noChangeShapeType="1"/>
          </p:cNvSpPr>
          <p:nvPr/>
        </p:nvSpPr>
        <p:spPr bwMode="auto">
          <a:xfrm flipV="1">
            <a:off x="6464300" y="1793875"/>
            <a:ext cx="6858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49" name="Line 49"/>
          <p:cNvSpPr>
            <a:spLocks noChangeShapeType="1"/>
          </p:cNvSpPr>
          <p:nvPr/>
        </p:nvSpPr>
        <p:spPr bwMode="auto">
          <a:xfrm flipV="1">
            <a:off x="7226300" y="1946275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50" name="Line 50"/>
          <p:cNvSpPr>
            <a:spLocks noChangeShapeType="1"/>
          </p:cNvSpPr>
          <p:nvPr/>
        </p:nvSpPr>
        <p:spPr bwMode="auto">
          <a:xfrm flipH="1" flipV="1">
            <a:off x="7759700" y="1870075"/>
            <a:ext cx="762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51" name="Line 51"/>
          <p:cNvSpPr>
            <a:spLocks noChangeShapeType="1"/>
          </p:cNvSpPr>
          <p:nvPr/>
        </p:nvSpPr>
        <p:spPr bwMode="auto">
          <a:xfrm flipH="1" flipV="1">
            <a:off x="7912100" y="1793875"/>
            <a:ext cx="6096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636980" name="Group 52"/>
          <p:cNvGraphicFramePr>
            <a:graphicFrameLocks noGrp="1"/>
          </p:cNvGraphicFramePr>
          <p:nvPr/>
        </p:nvGraphicFramePr>
        <p:xfrm>
          <a:off x="4386263" y="5073650"/>
          <a:ext cx="1524000" cy="1312865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Items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a, c, 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b, c, 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a, b, c, 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b, 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672" name="Line 72"/>
          <p:cNvSpPr>
            <a:spLocks noChangeShapeType="1"/>
          </p:cNvSpPr>
          <p:nvPr/>
        </p:nvSpPr>
        <p:spPr bwMode="auto">
          <a:xfrm flipH="1" flipV="1">
            <a:off x="5935663" y="5875338"/>
            <a:ext cx="1655762" cy="444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637001" name="Group 73"/>
          <p:cNvGraphicFramePr>
            <a:graphicFrameLocks noGrp="1"/>
          </p:cNvGraphicFramePr>
          <p:nvPr/>
        </p:nvGraphicFramePr>
        <p:xfrm>
          <a:off x="2797175" y="3760788"/>
          <a:ext cx="1524000" cy="785811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93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Items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93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c, 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93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b, c, 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5687" name="Group 87"/>
          <p:cNvGrpSpPr>
            <a:grpSpLocks/>
          </p:cNvGrpSpPr>
          <p:nvPr/>
        </p:nvGrpSpPr>
        <p:grpSpPr bwMode="auto">
          <a:xfrm>
            <a:off x="4397375" y="4365625"/>
            <a:ext cx="2532063" cy="622300"/>
            <a:chOff x="2779" y="2651"/>
            <a:chExt cx="1595" cy="392"/>
          </a:xfrm>
        </p:grpSpPr>
        <p:sp>
          <p:nvSpPr>
            <p:cNvPr id="25708" name="Oval 88"/>
            <p:cNvSpPr>
              <a:spLocks noChangeArrowheads="1"/>
            </p:cNvSpPr>
            <p:nvPr/>
          </p:nvSpPr>
          <p:spPr bwMode="auto">
            <a:xfrm>
              <a:off x="3942" y="2658"/>
              <a:ext cx="432" cy="385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zh-CN" sz="2400"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5709" name="Line 89"/>
            <p:cNvSpPr>
              <a:spLocks noChangeShapeType="1"/>
            </p:cNvSpPr>
            <p:nvPr/>
          </p:nvSpPr>
          <p:spPr bwMode="auto">
            <a:xfrm flipH="1" flipV="1">
              <a:off x="2779" y="2651"/>
              <a:ext cx="1152" cy="1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5688" name="Group 90"/>
          <p:cNvGrpSpPr>
            <a:grpSpLocks/>
          </p:cNvGrpSpPr>
          <p:nvPr/>
        </p:nvGrpSpPr>
        <p:grpSpPr bwMode="auto">
          <a:xfrm>
            <a:off x="1450975" y="4591050"/>
            <a:ext cx="2736850" cy="1665288"/>
            <a:chOff x="1271" y="2793"/>
            <a:chExt cx="1367" cy="1049"/>
          </a:xfrm>
        </p:grpSpPr>
        <p:sp>
          <p:nvSpPr>
            <p:cNvPr id="25706" name="AutoShape 91"/>
            <p:cNvSpPr>
              <a:spLocks noChangeArrowheads="1"/>
            </p:cNvSpPr>
            <p:nvPr/>
          </p:nvSpPr>
          <p:spPr bwMode="auto">
            <a:xfrm rot="-5530939">
              <a:off x="1902" y="2944"/>
              <a:ext cx="887" cy="585"/>
            </a:xfrm>
            <a:custGeom>
              <a:avLst/>
              <a:gdLst>
                <a:gd name="T0" fmla="*/ 1 w 21600"/>
                <a:gd name="T1" fmla="*/ 0 h 21600"/>
                <a:gd name="T2" fmla="*/ 1 w 21600"/>
                <a:gd name="T3" fmla="*/ 0 h 21600"/>
                <a:gd name="T4" fmla="*/ 0 w 21600"/>
                <a:gd name="T5" fmla="*/ 0 h 21600"/>
                <a:gd name="T6" fmla="*/ 1 w 21600"/>
                <a:gd name="T7" fmla="*/ 0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19 w 21600"/>
                <a:gd name="T13" fmla="*/ 3618 h 21600"/>
                <a:gd name="T14" fmla="*/ 19067 w 21600"/>
                <a:gd name="T15" fmla="*/ 852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342" y="0"/>
                  </a:lnTo>
                  <a:lnTo>
                    <a:pt x="15342" y="3618"/>
                  </a:lnTo>
                  <a:lnTo>
                    <a:pt x="12427" y="3618"/>
                  </a:lnTo>
                  <a:cubicBezTo>
                    <a:pt x="5564" y="3618"/>
                    <a:pt x="0" y="7441"/>
                    <a:pt x="0" y="12158"/>
                  </a:cubicBezTo>
                  <a:lnTo>
                    <a:pt x="0" y="21600"/>
                  </a:lnTo>
                  <a:lnTo>
                    <a:pt x="5031" y="21600"/>
                  </a:lnTo>
                  <a:lnTo>
                    <a:pt x="5031" y="12158"/>
                  </a:lnTo>
                  <a:cubicBezTo>
                    <a:pt x="5031" y="10160"/>
                    <a:pt x="8342" y="8540"/>
                    <a:pt x="12427" y="8540"/>
                  </a:cubicBezTo>
                  <a:lnTo>
                    <a:pt x="15342" y="8540"/>
                  </a:lnTo>
                  <a:lnTo>
                    <a:pt x="15342" y="12158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707" name="Text Box 92"/>
            <p:cNvSpPr txBox="1">
              <a:spLocks noChangeArrowheads="1"/>
            </p:cNvSpPr>
            <p:nvPr/>
          </p:nvSpPr>
          <p:spPr bwMode="auto">
            <a:xfrm>
              <a:off x="1271" y="3091"/>
              <a:ext cx="996" cy="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1600">
                  <a:latin typeface="Tahoma" panose="020B0604030504040204" pitchFamily="34" charset="0"/>
                  <a:ea typeface="宋体" panose="02010600030101010101" pitchFamily="2" charset="-122"/>
                </a:rPr>
                <a:t>all rows that contain  “a”.</a:t>
              </a:r>
            </a:p>
            <a:p>
              <a:pPr algn="l" eaLnBrk="1" hangingPunct="1">
                <a:spcBef>
                  <a:spcPct val="50000"/>
                </a:spcBef>
              </a:pPr>
              <a:r>
                <a:rPr lang="en-US" altLang="zh-CN" sz="1600" b="1">
                  <a:latin typeface="Tahoma" panose="020B0604030504040204" pitchFamily="34" charset="0"/>
                  <a:ea typeface="宋体" panose="02010600030101010101" pitchFamily="2" charset="-122"/>
                </a:rPr>
                <a:t>{a}-projected database</a:t>
              </a:r>
            </a:p>
          </p:txBody>
        </p:sp>
      </p:grpSp>
      <p:grpSp>
        <p:nvGrpSpPr>
          <p:cNvPr id="25689" name="Group 93"/>
          <p:cNvGrpSpPr>
            <a:grpSpLocks/>
          </p:cNvGrpSpPr>
          <p:nvPr/>
        </p:nvGrpSpPr>
        <p:grpSpPr bwMode="auto">
          <a:xfrm>
            <a:off x="2540000" y="3248025"/>
            <a:ext cx="3321050" cy="773113"/>
            <a:chOff x="1600" y="1947"/>
            <a:chExt cx="2092" cy="487"/>
          </a:xfrm>
        </p:grpSpPr>
        <p:sp>
          <p:nvSpPr>
            <p:cNvPr id="25704" name="Oval 94"/>
            <p:cNvSpPr>
              <a:spLocks noChangeArrowheads="1"/>
            </p:cNvSpPr>
            <p:nvPr/>
          </p:nvSpPr>
          <p:spPr bwMode="auto">
            <a:xfrm>
              <a:off x="3213" y="1998"/>
              <a:ext cx="479" cy="43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zh-CN" sz="2400">
                  <a:ea typeface="宋体" panose="02010600030101010101" pitchFamily="2" charset="-122"/>
                </a:rPr>
                <a:t>a,b</a:t>
              </a:r>
            </a:p>
          </p:txBody>
        </p:sp>
        <p:sp>
          <p:nvSpPr>
            <p:cNvPr id="25705" name="Line 95"/>
            <p:cNvSpPr>
              <a:spLocks noChangeShapeType="1"/>
            </p:cNvSpPr>
            <p:nvPr/>
          </p:nvSpPr>
          <p:spPr bwMode="auto">
            <a:xfrm flipH="1" flipV="1">
              <a:off x="1600" y="1947"/>
              <a:ext cx="1609" cy="1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aphicFrame>
        <p:nvGraphicFramePr>
          <p:cNvPr id="637024" name="Group 96"/>
          <p:cNvGraphicFramePr>
            <a:graphicFrameLocks noGrp="1"/>
          </p:cNvGraphicFramePr>
          <p:nvPr/>
        </p:nvGraphicFramePr>
        <p:xfrm>
          <a:off x="1047750" y="2809875"/>
          <a:ext cx="1524000" cy="523876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Items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c, 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5701" name="Group 107"/>
          <p:cNvGrpSpPr>
            <a:grpSpLocks/>
          </p:cNvGrpSpPr>
          <p:nvPr/>
        </p:nvGrpSpPr>
        <p:grpSpPr bwMode="auto">
          <a:xfrm>
            <a:off x="0" y="3249613"/>
            <a:ext cx="2736850" cy="1408112"/>
            <a:chOff x="0" y="1948"/>
            <a:chExt cx="1724" cy="887"/>
          </a:xfrm>
        </p:grpSpPr>
        <p:sp>
          <p:nvSpPr>
            <p:cNvPr id="25702" name="AutoShape 108"/>
            <p:cNvSpPr>
              <a:spLocks noChangeArrowheads="1"/>
            </p:cNvSpPr>
            <p:nvPr/>
          </p:nvSpPr>
          <p:spPr bwMode="auto">
            <a:xfrm rot="-5530939">
              <a:off x="911" y="2023"/>
              <a:ext cx="887" cy="738"/>
            </a:xfrm>
            <a:custGeom>
              <a:avLst/>
              <a:gdLst>
                <a:gd name="T0" fmla="*/ 1 w 21600"/>
                <a:gd name="T1" fmla="*/ 0 h 21600"/>
                <a:gd name="T2" fmla="*/ 1 w 21600"/>
                <a:gd name="T3" fmla="*/ 0 h 21600"/>
                <a:gd name="T4" fmla="*/ 0 w 21600"/>
                <a:gd name="T5" fmla="*/ 1 h 21600"/>
                <a:gd name="T6" fmla="*/ 1 w 21600"/>
                <a:gd name="T7" fmla="*/ 0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19 w 21600"/>
                <a:gd name="T13" fmla="*/ 3629 h 21600"/>
                <a:gd name="T14" fmla="*/ 19067 w 21600"/>
                <a:gd name="T15" fmla="*/ 854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342" y="0"/>
                  </a:lnTo>
                  <a:lnTo>
                    <a:pt x="15342" y="3618"/>
                  </a:lnTo>
                  <a:lnTo>
                    <a:pt x="12427" y="3618"/>
                  </a:lnTo>
                  <a:cubicBezTo>
                    <a:pt x="5564" y="3618"/>
                    <a:pt x="0" y="7441"/>
                    <a:pt x="0" y="12158"/>
                  </a:cubicBezTo>
                  <a:lnTo>
                    <a:pt x="0" y="21600"/>
                  </a:lnTo>
                  <a:lnTo>
                    <a:pt x="5031" y="21600"/>
                  </a:lnTo>
                  <a:lnTo>
                    <a:pt x="5031" y="12158"/>
                  </a:lnTo>
                  <a:cubicBezTo>
                    <a:pt x="5031" y="10160"/>
                    <a:pt x="8342" y="8540"/>
                    <a:pt x="12427" y="8540"/>
                  </a:cubicBezTo>
                  <a:lnTo>
                    <a:pt x="15342" y="8540"/>
                  </a:lnTo>
                  <a:lnTo>
                    <a:pt x="15342" y="12158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703" name="Text Box 109"/>
            <p:cNvSpPr txBox="1">
              <a:spLocks noChangeArrowheads="1"/>
            </p:cNvSpPr>
            <p:nvPr/>
          </p:nvSpPr>
          <p:spPr bwMode="auto">
            <a:xfrm>
              <a:off x="0" y="2017"/>
              <a:ext cx="1256" cy="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1600">
                  <a:latin typeface="Tahoma" panose="020B0604030504040204" pitchFamily="34" charset="0"/>
                  <a:ea typeface="宋体" panose="02010600030101010101" pitchFamily="2" charset="-122"/>
                </a:rPr>
                <a:t>all rows that contain  “ab”.</a:t>
              </a:r>
            </a:p>
            <a:p>
              <a:pPr algn="l" eaLnBrk="1" hangingPunct="1">
                <a:spcBef>
                  <a:spcPct val="50000"/>
                </a:spcBef>
              </a:pPr>
              <a:r>
                <a:rPr lang="en-US" altLang="zh-CN" sz="1600" b="1">
                  <a:latin typeface="Tahoma" panose="020B0604030504040204" pitchFamily="34" charset="0"/>
                  <a:ea typeface="宋体" panose="02010600030101010101" pitchFamily="2" charset="-122"/>
                </a:rPr>
                <a:t>{ab}-projected database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graphicFrame>
        <p:nvGraphicFramePr>
          <p:cNvPr id="637955" name="Group 3"/>
          <p:cNvGraphicFramePr>
            <a:graphicFrameLocks noGrp="1"/>
          </p:cNvGraphicFramePr>
          <p:nvPr/>
        </p:nvGraphicFramePr>
        <p:xfrm>
          <a:off x="3835400" y="1600200"/>
          <a:ext cx="1524000" cy="1312865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Items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a, c, d, 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b, c, 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a, b, c, 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b, 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647" name="Line 23"/>
          <p:cNvSpPr>
            <a:spLocks noChangeShapeType="1"/>
          </p:cNvSpPr>
          <p:nvPr/>
        </p:nvSpPr>
        <p:spPr bwMode="auto">
          <a:xfrm flipH="1">
            <a:off x="2743200" y="2897188"/>
            <a:ext cx="1684338" cy="855662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648" name="Line 24"/>
          <p:cNvSpPr>
            <a:spLocks noChangeShapeType="1"/>
          </p:cNvSpPr>
          <p:nvPr/>
        </p:nvSpPr>
        <p:spPr bwMode="auto">
          <a:xfrm>
            <a:off x="4427538" y="2940050"/>
            <a:ext cx="203200" cy="842963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649" name="Line 25"/>
          <p:cNvSpPr>
            <a:spLocks noChangeShapeType="1"/>
          </p:cNvSpPr>
          <p:nvPr/>
        </p:nvSpPr>
        <p:spPr bwMode="auto">
          <a:xfrm>
            <a:off x="4470400" y="2925763"/>
            <a:ext cx="2235200" cy="88423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650" name="Line 26"/>
          <p:cNvSpPr>
            <a:spLocks noChangeShapeType="1"/>
          </p:cNvSpPr>
          <p:nvPr/>
        </p:nvSpPr>
        <p:spPr bwMode="auto">
          <a:xfrm>
            <a:off x="4586288" y="2970213"/>
            <a:ext cx="3948112" cy="62388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637979" name="Group 27"/>
          <p:cNvGraphicFramePr>
            <a:graphicFrameLocks noGrp="1"/>
          </p:cNvGraphicFramePr>
          <p:nvPr/>
        </p:nvGraphicFramePr>
        <p:xfrm>
          <a:off x="1911350" y="3797300"/>
          <a:ext cx="1524000" cy="769939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0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Items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c, 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b, c, 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37993" name="Group 41"/>
          <p:cNvGraphicFramePr>
            <a:graphicFrameLocks noGrp="1"/>
          </p:cNvGraphicFramePr>
          <p:nvPr/>
        </p:nvGraphicFramePr>
        <p:xfrm>
          <a:off x="4076700" y="3825875"/>
          <a:ext cx="1524000" cy="1050927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1051723089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286051354"/>
                    </a:ext>
                  </a:extLst>
                </a:gridCol>
              </a:tblGrid>
              <a:tr h="2619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Items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1869522"/>
                  </a:ext>
                </a:extLst>
              </a:tr>
              <a:tr h="2619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c, 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201853"/>
                  </a:ext>
                </a:extLst>
              </a:tr>
              <a:tr h="2619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c, 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8657275"/>
                  </a:ext>
                </a:extLst>
              </a:tr>
              <a:tr h="2651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6806268"/>
                  </a:ext>
                </a:extLst>
              </a:tr>
            </a:tbl>
          </a:graphicData>
        </a:graphic>
      </p:graphicFrame>
      <p:graphicFrame>
        <p:nvGraphicFramePr>
          <p:cNvPr id="638010" name="Group 58"/>
          <p:cNvGraphicFramePr>
            <a:graphicFrameLocks noGrp="1"/>
          </p:cNvGraphicFramePr>
          <p:nvPr/>
        </p:nvGraphicFramePr>
        <p:xfrm>
          <a:off x="5846763" y="4016375"/>
          <a:ext cx="1450975" cy="1193800"/>
        </p:xfrm>
        <a:graphic>
          <a:graphicData uri="http://schemas.openxmlformats.org/drawingml/2006/table">
            <a:tbl>
              <a:tblPr/>
              <a:tblGrid>
                <a:gridCol w="508000">
                  <a:extLst>
                    <a:ext uri="{9D8B030D-6E8A-4147-A177-3AD203B41FA5}">
                      <a16:colId xmlns:a16="http://schemas.microsoft.com/office/drawing/2014/main" val="2002425196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2130297561"/>
                    </a:ext>
                  </a:extLst>
                </a:gridCol>
              </a:tblGrid>
              <a:tr h="2984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Items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5064448"/>
                  </a:ext>
                </a:extLst>
              </a:tr>
              <a:tr h="2984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d,f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5823794"/>
                  </a:ext>
                </a:extLst>
              </a:tr>
              <a:tr h="2984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715343"/>
                  </a:ext>
                </a:extLst>
              </a:tr>
              <a:tr h="2984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5279397"/>
                  </a:ext>
                </a:extLst>
              </a:tr>
            </a:tbl>
          </a:graphicData>
        </a:graphic>
      </p:graphicFrame>
      <p:graphicFrame>
        <p:nvGraphicFramePr>
          <p:cNvPr id="638027" name="Group 75"/>
          <p:cNvGraphicFramePr>
            <a:graphicFrameLocks noGrp="1"/>
          </p:cNvGraphicFramePr>
          <p:nvPr/>
        </p:nvGraphicFramePr>
        <p:xfrm>
          <a:off x="7442200" y="3727450"/>
          <a:ext cx="1524000" cy="1050926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Items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1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716" name="Line 92"/>
          <p:cNvSpPr>
            <a:spLocks noChangeShapeType="1"/>
          </p:cNvSpPr>
          <p:nvPr/>
        </p:nvSpPr>
        <p:spPr bwMode="auto">
          <a:xfrm flipH="1">
            <a:off x="1393825" y="4565650"/>
            <a:ext cx="1103313" cy="84137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717" name="Line 93"/>
          <p:cNvSpPr>
            <a:spLocks noChangeShapeType="1"/>
          </p:cNvSpPr>
          <p:nvPr/>
        </p:nvSpPr>
        <p:spPr bwMode="auto">
          <a:xfrm flipH="1">
            <a:off x="2482850" y="4595813"/>
            <a:ext cx="42863" cy="7810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718" name="Text Box 94"/>
          <p:cNvSpPr txBox="1">
            <a:spLocks noChangeArrowheads="1"/>
          </p:cNvSpPr>
          <p:nvPr/>
        </p:nvSpPr>
        <p:spPr bwMode="auto">
          <a:xfrm>
            <a:off x="2830513" y="2954338"/>
            <a:ext cx="420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26719" name="Text Box 95"/>
          <p:cNvSpPr txBox="1">
            <a:spLocks noChangeArrowheads="1"/>
          </p:cNvSpPr>
          <p:nvPr/>
        </p:nvSpPr>
        <p:spPr bwMode="auto">
          <a:xfrm>
            <a:off x="4071938" y="3222625"/>
            <a:ext cx="420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26720" name="Text Box 96"/>
          <p:cNvSpPr txBox="1">
            <a:spLocks noChangeArrowheads="1"/>
          </p:cNvSpPr>
          <p:nvPr/>
        </p:nvSpPr>
        <p:spPr bwMode="auto">
          <a:xfrm>
            <a:off x="5197475" y="3171825"/>
            <a:ext cx="420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26721" name="Text Box 97"/>
          <p:cNvSpPr txBox="1">
            <a:spLocks noChangeArrowheads="1"/>
          </p:cNvSpPr>
          <p:nvPr/>
        </p:nvSpPr>
        <p:spPr bwMode="auto">
          <a:xfrm>
            <a:off x="6494463" y="2801938"/>
            <a:ext cx="420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26722" name="Text Box 98"/>
          <p:cNvSpPr txBox="1">
            <a:spLocks noChangeArrowheads="1"/>
          </p:cNvSpPr>
          <p:nvPr/>
        </p:nvSpPr>
        <p:spPr bwMode="auto">
          <a:xfrm>
            <a:off x="2054225" y="4775200"/>
            <a:ext cx="5667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ac</a:t>
            </a:r>
          </a:p>
        </p:txBody>
      </p:sp>
      <p:sp>
        <p:nvSpPr>
          <p:cNvPr id="26723" name="Text Box 99"/>
          <p:cNvSpPr txBox="1">
            <a:spLocks noChangeArrowheads="1"/>
          </p:cNvSpPr>
          <p:nvPr/>
        </p:nvSpPr>
        <p:spPr bwMode="auto">
          <a:xfrm>
            <a:off x="1162050" y="4652963"/>
            <a:ext cx="565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ab</a:t>
            </a:r>
          </a:p>
        </p:txBody>
      </p:sp>
      <p:sp>
        <p:nvSpPr>
          <p:cNvPr id="26724" name="Line 100"/>
          <p:cNvSpPr>
            <a:spLocks noChangeShapeType="1"/>
          </p:cNvSpPr>
          <p:nvPr/>
        </p:nvSpPr>
        <p:spPr bwMode="auto">
          <a:xfrm>
            <a:off x="2554288" y="4638675"/>
            <a:ext cx="1320800" cy="63817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725" name="Text Box 101"/>
          <p:cNvSpPr txBox="1">
            <a:spLocks noChangeArrowheads="1"/>
          </p:cNvSpPr>
          <p:nvPr/>
        </p:nvSpPr>
        <p:spPr bwMode="auto">
          <a:xfrm>
            <a:off x="3338513" y="4665663"/>
            <a:ext cx="5667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ae</a:t>
            </a:r>
          </a:p>
        </p:txBody>
      </p:sp>
      <p:graphicFrame>
        <p:nvGraphicFramePr>
          <p:cNvPr id="638054" name="Group 102"/>
          <p:cNvGraphicFramePr>
            <a:graphicFrameLocks noGrp="1"/>
          </p:cNvGraphicFramePr>
          <p:nvPr/>
        </p:nvGraphicFramePr>
        <p:xfrm>
          <a:off x="350838" y="5430838"/>
          <a:ext cx="1524000" cy="523876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Items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c, 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38094" name="Group 142"/>
          <p:cNvGraphicFramePr>
            <a:graphicFrameLocks noGrp="1"/>
          </p:cNvGraphicFramePr>
          <p:nvPr/>
        </p:nvGraphicFramePr>
        <p:xfrm>
          <a:off x="2049463" y="5402263"/>
          <a:ext cx="1158875" cy="918402"/>
        </p:xfrm>
        <a:graphic>
          <a:graphicData uri="http://schemas.openxmlformats.org/drawingml/2006/table">
            <a:tbl>
              <a:tblPr/>
              <a:tblGrid>
                <a:gridCol w="493712">
                  <a:extLst>
                    <a:ext uri="{9D8B030D-6E8A-4147-A177-3AD203B41FA5}">
                      <a16:colId xmlns:a16="http://schemas.microsoft.com/office/drawing/2014/main" val="610500164"/>
                    </a:ext>
                  </a:extLst>
                </a:gridCol>
                <a:gridCol w="665163">
                  <a:extLst>
                    <a:ext uri="{9D8B030D-6E8A-4147-A177-3AD203B41FA5}">
                      <a16:colId xmlns:a16="http://schemas.microsoft.com/office/drawing/2014/main" val="214717386"/>
                    </a:ext>
                  </a:extLst>
                </a:gridCol>
              </a:tblGrid>
              <a:tr h="2619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Items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1318473"/>
                  </a:ext>
                </a:extLst>
              </a:tr>
              <a:tr h="2619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2619047"/>
                  </a:ext>
                </a:extLst>
              </a:tr>
              <a:tr h="2619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595189"/>
                  </a:ext>
                </a:extLst>
              </a:tr>
            </a:tbl>
          </a:graphicData>
        </a:graphic>
      </p:graphicFrame>
      <p:graphicFrame>
        <p:nvGraphicFramePr>
          <p:cNvPr id="638095" name="Group 143"/>
          <p:cNvGraphicFramePr>
            <a:graphicFrameLocks noGrp="1"/>
          </p:cNvGraphicFramePr>
          <p:nvPr/>
        </p:nvGraphicFramePr>
        <p:xfrm>
          <a:off x="3667125" y="5351463"/>
          <a:ext cx="1158875" cy="656464"/>
        </p:xfrm>
        <a:graphic>
          <a:graphicData uri="http://schemas.openxmlformats.org/drawingml/2006/table">
            <a:tbl>
              <a:tblPr/>
              <a:tblGrid>
                <a:gridCol w="493713">
                  <a:extLst>
                    <a:ext uri="{9D8B030D-6E8A-4147-A177-3AD203B41FA5}">
                      <a16:colId xmlns:a16="http://schemas.microsoft.com/office/drawing/2014/main" val="569413420"/>
                    </a:ext>
                  </a:extLst>
                </a:gridCol>
                <a:gridCol w="665162">
                  <a:extLst>
                    <a:ext uri="{9D8B030D-6E8A-4147-A177-3AD203B41FA5}">
                      <a16:colId xmlns:a16="http://schemas.microsoft.com/office/drawing/2014/main" val="1594545639"/>
                    </a:ext>
                  </a:extLst>
                </a:gridCol>
              </a:tblGrid>
              <a:tr h="2619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Items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945653"/>
                  </a:ext>
                </a:extLst>
              </a:tr>
              <a:tr h="2619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0591954"/>
                  </a:ext>
                </a:extLst>
              </a:tr>
            </a:tbl>
          </a:graphicData>
        </a:graphic>
      </p:graphicFrame>
      <p:sp>
        <p:nvSpPr>
          <p:cNvPr id="26762" name="Line 138"/>
          <p:cNvSpPr>
            <a:spLocks noChangeShapeType="1"/>
          </p:cNvSpPr>
          <p:nvPr/>
        </p:nvSpPr>
        <p:spPr bwMode="auto">
          <a:xfrm flipH="1">
            <a:off x="465138" y="6018213"/>
            <a:ext cx="376237" cy="449262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763" name="Line 139"/>
          <p:cNvSpPr>
            <a:spLocks noChangeShapeType="1"/>
          </p:cNvSpPr>
          <p:nvPr/>
        </p:nvSpPr>
        <p:spPr bwMode="auto">
          <a:xfrm>
            <a:off x="928688" y="6018213"/>
            <a:ext cx="377825" cy="506412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764" name="Text Box 140"/>
          <p:cNvSpPr txBox="1">
            <a:spLocks noChangeArrowheads="1"/>
          </p:cNvSpPr>
          <p:nvPr/>
        </p:nvSpPr>
        <p:spPr bwMode="auto">
          <a:xfrm>
            <a:off x="0" y="6038850"/>
            <a:ext cx="782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abc</a:t>
            </a:r>
          </a:p>
        </p:txBody>
      </p:sp>
      <p:sp>
        <p:nvSpPr>
          <p:cNvPr id="26765" name="Text Box 141"/>
          <p:cNvSpPr txBox="1">
            <a:spLocks noChangeArrowheads="1"/>
          </p:cNvSpPr>
          <p:nvPr/>
        </p:nvSpPr>
        <p:spPr bwMode="auto">
          <a:xfrm>
            <a:off x="1171575" y="6024563"/>
            <a:ext cx="798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abe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itchFamily="2" charset="-122"/>
              </a:rPr>
              <a:t>No candidates ?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8025" y="1341438"/>
            <a:ext cx="8116888" cy="4243387"/>
          </a:xfrm>
        </p:spPr>
        <p:txBody>
          <a:bodyPr/>
          <a:lstStyle/>
          <a:p>
            <a:endParaRPr lang="en-US" altLang="zh-CN" sz="1800">
              <a:ea typeface="宋体" panose="02010600030101010101" pitchFamily="2" charset="-122"/>
            </a:endParaRPr>
          </a:p>
          <a:p>
            <a:r>
              <a:rPr lang="en-US" altLang="zh-CN" sz="1800">
                <a:ea typeface="宋体" panose="02010600030101010101" pitchFamily="2" charset="-122"/>
              </a:rPr>
              <a:t>There are claims that write-based algorithm are faster because they don</a:t>
            </a:r>
            <a:r>
              <a:rPr lang="en-US" altLang="zh-CN" sz="1800">
                <a:latin typeface="Tahoma" panose="020B0604030504040204" pitchFamily="34" charset="0"/>
                <a:ea typeface="宋体" panose="02010600030101010101" pitchFamily="2" charset="-122"/>
              </a:rPr>
              <a:t>’</a:t>
            </a:r>
            <a:r>
              <a:rPr lang="en-US" altLang="zh-CN" sz="1800">
                <a:ea typeface="宋体" panose="02010600030101010101" pitchFamily="2" charset="-122"/>
              </a:rPr>
              <a:t>t generate candidates. This is not true in general. Example, if minsup is 30%, then all the items in the {a}-projected database are false candidates ! (i.e. {a,b}, {a,c}, {a,d}, {a,e}, {a,f} and {a,g} are never frequent </a:t>
            </a:r>
          </a:p>
          <a:p>
            <a:endParaRPr lang="zh-CN" altLang="en-US" sz="1800">
              <a:ea typeface="宋体" panose="02010600030101010101" pitchFamily="2" charset="-122"/>
            </a:endParaRPr>
          </a:p>
        </p:txBody>
      </p:sp>
      <p:graphicFrame>
        <p:nvGraphicFramePr>
          <p:cNvPr id="638980" name="Group 4"/>
          <p:cNvGraphicFramePr>
            <a:graphicFrameLocks noGrp="1"/>
          </p:cNvGraphicFramePr>
          <p:nvPr/>
        </p:nvGraphicFramePr>
        <p:xfrm>
          <a:off x="1498600" y="3044825"/>
          <a:ext cx="1524000" cy="3059114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62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4F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Items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4F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a, c, 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b, c, 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a, b, c, 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a, 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b,c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a,g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7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f, g,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e, 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a,b ,g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b, 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7690" name="Line 42"/>
          <p:cNvSpPr>
            <a:spLocks noChangeShapeType="1"/>
          </p:cNvSpPr>
          <p:nvPr/>
        </p:nvSpPr>
        <p:spPr bwMode="auto">
          <a:xfrm flipV="1">
            <a:off x="3106738" y="4586288"/>
            <a:ext cx="1914525" cy="1428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639019" name="Group 43"/>
          <p:cNvGraphicFramePr>
            <a:graphicFrameLocks noGrp="1"/>
          </p:cNvGraphicFramePr>
          <p:nvPr/>
        </p:nvGraphicFramePr>
        <p:xfrm>
          <a:off x="5249863" y="3602038"/>
          <a:ext cx="1524000" cy="1665288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106404119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43667706"/>
                    </a:ext>
                  </a:extLst>
                </a:gridCol>
              </a:tblGrid>
              <a:tr h="2762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4FCE4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Items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4F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693481"/>
                  </a:ext>
                </a:extLst>
              </a:tr>
              <a:tr h="2746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c, 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113870"/>
                  </a:ext>
                </a:extLst>
              </a:tr>
              <a:tr h="2762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b, c, 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5628260"/>
                  </a:ext>
                </a:extLst>
              </a:tr>
              <a:tr h="2794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8936737"/>
                  </a:ext>
                </a:extLst>
              </a:tr>
              <a:tr h="2794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792487"/>
                  </a:ext>
                </a:extLst>
              </a:tr>
              <a:tr h="2794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buFont typeface="Monotype Sorts" pitchFamily="2" charset="2"/>
                        <a:defRPr sz="2400" b="1">
                          <a:solidFill>
                            <a:srgbClr val="17098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90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b, 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2229199"/>
                  </a:ext>
                </a:extLst>
              </a:tr>
            </a:tbl>
          </a:graphicData>
        </a:graphic>
      </p:graphicFrame>
      <p:sp>
        <p:nvSpPr>
          <p:cNvPr id="27714" name="Text Box 66"/>
          <p:cNvSpPr txBox="1">
            <a:spLocks noChangeArrowheads="1"/>
          </p:cNvSpPr>
          <p:nvPr/>
        </p:nvSpPr>
        <p:spPr bwMode="auto">
          <a:xfrm>
            <a:off x="3236913" y="3887788"/>
            <a:ext cx="18145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1800">
                <a:latin typeface="Tahoma" panose="020B0604030504040204" pitchFamily="34" charset="0"/>
                <a:ea typeface="宋体" panose="02010600030101010101" pitchFamily="2" charset="-122"/>
              </a:rPr>
              <a:t>{a}-projection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382000" cy="669925"/>
          </a:xfrm>
        </p:spPr>
        <p:txBody>
          <a:bodyPr/>
          <a:lstStyle/>
          <a:p>
            <a:pPr>
              <a:defRPr/>
            </a:pPr>
            <a:r>
              <a:rPr lang="en-US" altLang="zh-CN">
                <a:ea typeface="宋体" pitchFamily="2" charset="-122"/>
              </a:rPr>
              <a:t>So far, we covered</a:t>
            </a:r>
          </a:p>
        </p:txBody>
      </p:sp>
      <p:graphicFrame>
        <p:nvGraphicFramePr>
          <p:cNvPr id="647210" name="Group 42"/>
          <p:cNvGraphicFramePr>
            <a:graphicFrameLocks noGrp="1"/>
          </p:cNvGraphicFramePr>
          <p:nvPr/>
        </p:nvGraphicFramePr>
        <p:xfrm>
          <a:off x="611188" y="1628775"/>
          <a:ext cx="8077200" cy="4710184"/>
        </p:xfrm>
        <a:graphic>
          <a:graphicData uri="http://schemas.openxmlformats.org/drawingml/2006/table">
            <a:tbl>
              <a:tblPr/>
              <a:tblGrid>
                <a:gridCol w="2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0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8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03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17098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Read-based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Write-based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Point-based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1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Association Mining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Apriori[AgSr94]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VIPER[SHSB00]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FPGrowth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[HaPe00]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17098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64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Sub-Graph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Mining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AGM[PKDD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ahoma"/>
                          <a:ea typeface="宋体" pitchFamily="2" charset="-122"/>
                        </a:rPr>
                        <a:t>’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00] 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FSG[ICDM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ahoma"/>
                          <a:ea typeface="宋体" pitchFamily="2" charset="-122"/>
                        </a:rPr>
                        <a:t>’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01]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Mofa[ICDM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ahoma"/>
                          <a:ea typeface="宋体" pitchFamily="2" charset="-122"/>
                        </a:rPr>
                        <a:t>’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02]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gSpan[ICDM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ahoma"/>
                          <a:ea typeface="宋体" pitchFamily="2" charset="-122"/>
                        </a:rPr>
                        <a:t>’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02]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17098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0963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Sequential Pattern Discovery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GSP[AgSr96]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PrefixSpan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[PHPC01]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17098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4353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Iceberg Cube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Apriori[AgSr94]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17098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17098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BUC[BeRa99], H-cubing [HPDW01]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17098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707" name="Line 35"/>
          <p:cNvSpPr>
            <a:spLocks noChangeShapeType="1"/>
          </p:cNvSpPr>
          <p:nvPr/>
        </p:nvSpPr>
        <p:spPr bwMode="auto">
          <a:xfrm flipV="1">
            <a:off x="2700338" y="2492375"/>
            <a:ext cx="1871662" cy="5048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08" name="Line 36"/>
          <p:cNvSpPr>
            <a:spLocks noChangeShapeType="1"/>
          </p:cNvSpPr>
          <p:nvPr/>
        </p:nvSpPr>
        <p:spPr bwMode="auto">
          <a:xfrm flipH="1" flipV="1">
            <a:off x="2627313" y="2420938"/>
            <a:ext cx="1873250" cy="5762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09" name="Line 37"/>
          <p:cNvSpPr>
            <a:spLocks noChangeShapeType="1"/>
          </p:cNvSpPr>
          <p:nvPr/>
        </p:nvSpPr>
        <p:spPr bwMode="auto">
          <a:xfrm flipV="1">
            <a:off x="2759075" y="3168650"/>
            <a:ext cx="1871663" cy="5048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10" name="Line 38"/>
          <p:cNvSpPr>
            <a:spLocks noChangeShapeType="1"/>
          </p:cNvSpPr>
          <p:nvPr/>
        </p:nvSpPr>
        <p:spPr bwMode="auto">
          <a:xfrm flipH="1" flipV="1">
            <a:off x="2686050" y="3097213"/>
            <a:ext cx="1873250" cy="5762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11" name="Line 39"/>
          <p:cNvSpPr>
            <a:spLocks noChangeShapeType="1"/>
          </p:cNvSpPr>
          <p:nvPr/>
        </p:nvSpPr>
        <p:spPr bwMode="auto">
          <a:xfrm flipV="1">
            <a:off x="2775596" y="4005253"/>
            <a:ext cx="1871662" cy="5048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12" name="Line 40"/>
          <p:cNvSpPr>
            <a:spLocks noChangeShapeType="1"/>
          </p:cNvSpPr>
          <p:nvPr/>
        </p:nvSpPr>
        <p:spPr bwMode="auto">
          <a:xfrm flipH="1" flipV="1">
            <a:off x="2702571" y="3933816"/>
            <a:ext cx="1873250" cy="5762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39"/>
          <p:cNvSpPr>
            <a:spLocks noChangeShapeType="1"/>
          </p:cNvSpPr>
          <p:nvPr/>
        </p:nvSpPr>
        <p:spPr bwMode="auto">
          <a:xfrm flipV="1">
            <a:off x="4933057" y="2492375"/>
            <a:ext cx="1871662" cy="5048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Line 40"/>
          <p:cNvSpPr>
            <a:spLocks noChangeShapeType="1"/>
          </p:cNvSpPr>
          <p:nvPr/>
        </p:nvSpPr>
        <p:spPr bwMode="auto">
          <a:xfrm flipH="1" flipV="1">
            <a:off x="4860032" y="2420938"/>
            <a:ext cx="1873250" cy="5762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4800" y="1752600"/>
            <a:ext cx="8534400" cy="4572000"/>
          </a:xfrm>
        </p:spPr>
        <p:txBody>
          <a:bodyPr/>
          <a:lstStyle/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关联规则</a:t>
            </a:r>
          </a:p>
          <a:p>
            <a:pPr lvl="1"/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Write-based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DFS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</a:p>
          <a:p>
            <a:pPr lvl="2"/>
            <a:r>
              <a:rPr lang="en-US" altLang="zh-CN">
                <a:ea typeface="宋体" panose="02010600030101010101" pitchFamily="2" charset="-122"/>
              </a:rPr>
              <a:t>VIPER</a:t>
            </a:r>
          </a:p>
          <a:p>
            <a:pPr lvl="3"/>
            <a:r>
              <a:rPr lang="en-US" altLang="zh-CN">
                <a:ea typeface="宋体" panose="02010600030101010101" pitchFamily="2" charset="-122"/>
              </a:rPr>
              <a:t>Implement DFS with bitmap compression of data in vertical format</a:t>
            </a:r>
          </a:p>
          <a:p>
            <a:pPr lvl="2"/>
            <a:r>
              <a:rPr lang="en-US" altLang="zh-CN">
                <a:ea typeface="宋体" panose="02010600030101010101" pitchFamily="2" charset="-122"/>
              </a:rPr>
              <a:t>FP-Growth</a:t>
            </a:r>
            <a:r>
              <a:rPr lang="zh-CN" altLang="en-US">
                <a:ea typeface="宋体" panose="02010600030101010101" pitchFamily="2" charset="-122"/>
              </a:rPr>
              <a:t>算法</a:t>
            </a:r>
          </a:p>
          <a:p>
            <a:pPr lvl="3"/>
            <a:r>
              <a:rPr lang="en-US" altLang="zh-CN">
                <a:ea typeface="宋体" panose="02010600030101010101" pitchFamily="2" charset="-122"/>
              </a:rPr>
              <a:t>Implement DFS using a tree structure in horizontal format</a:t>
            </a:r>
          </a:p>
          <a:p>
            <a:pPr lvl="2"/>
            <a:endParaRPr lang="en-US" altLang="zh-CN">
              <a:ea typeface="宋体" panose="02010600030101010101" pitchFamily="2" charset="-122"/>
            </a:endParaRPr>
          </a:p>
          <a:p>
            <a:pPr lvl="2"/>
            <a:r>
              <a:rPr lang="en-US" altLang="zh-CN">
                <a:solidFill>
                  <a:schemeClr val="folHlink"/>
                </a:solidFill>
                <a:ea typeface="宋体" panose="02010600030101010101" pitchFamily="2" charset="-122"/>
              </a:rPr>
              <a:t>FP-Growth based sub-graph mining</a:t>
            </a:r>
            <a:endParaRPr lang="zh-CN" altLang="en-US">
              <a:solidFill>
                <a:schemeClr val="folHlink"/>
              </a:solidFill>
              <a:ea typeface="宋体" panose="02010600030101010101" pitchFamily="2" charset="-122"/>
            </a:endParaRPr>
          </a:p>
          <a:p>
            <a:pPr lvl="3">
              <a:buFont typeface="Monotype Sorts" pitchFamily="2" charset="2"/>
              <a:buNone/>
            </a:pPr>
            <a:endParaRPr lang="zh-CN" altLang="en-US" b="1">
              <a:solidFill>
                <a:schemeClr val="folHlink"/>
              </a:solidFill>
              <a:ea typeface="宋体" panose="02010600030101010101" pitchFamily="2" charset="-122"/>
            </a:endParaRPr>
          </a:p>
        </p:txBody>
      </p:sp>
      <p:sp>
        <p:nvSpPr>
          <p:cNvPr id="668675" name="Rectangle 3"/>
          <p:cNvSpPr>
            <a:spLocks noChangeArrowheads="1"/>
          </p:cNvSpPr>
          <p:nvPr/>
        </p:nvSpPr>
        <p:spPr bwMode="auto">
          <a:xfrm>
            <a:off x="762000" y="0"/>
            <a:ext cx="809625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b"/>
          <a:lstStyle/>
          <a:p>
            <a:pPr marL="0" lvl="1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zh-CN" altLang="en-US" sz="4400">
                <a:effectLst>
                  <a:outerShdw blurRad="38100" dist="38100" dir="2700000" algn="tl">
                    <a:srgbClr val="FFFFFF"/>
                  </a:outerShdw>
                </a:effectLst>
                <a:ea typeface="宋体" pitchFamily="2" charset="-122"/>
              </a:rPr>
              <a:t>本讲内容</a:t>
            </a:r>
            <a:endParaRPr lang="en-US" altLang="zh-CN" sz="4400">
              <a:effectLst>
                <a:outerShdw blurRad="38100" dist="38100" dir="2700000" algn="tl">
                  <a:srgbClr val="FFFFFF"/>
                </a:outerShdw>
              </a:effectLst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8675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3200">
                <a:ea typeface="宋体" pitchFamily="2" charset="-122"/>
              </a:rPr>
              <a:t>Sub-Graph Mining---pattern growth method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307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628775"/>
            <a:ext cx="8353425" cy="4913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itchFamily="2" charset="-122"/>
              </a:rPr>
              <a:t>Mofa (ICDM’02)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317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628775"/>
            <a:ext cx="8353425" cy="40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93038" cy="609600"/>
          </a:xfrm>
        </p:spPr>
        <p:txBody>
          <a:bodyPr/>
          <a:lstStyle/>
          <a:p>
            <a:pPr>
              <a:defRPr/>
            </a:pPr>
            <a:r>
              <a:rPr lang="en-US" altLang="zh-CN">
                <a:ea typeface="宋体" pitchFamily="2" charset="-122"/>
              </a:rPr>
              <a:t>gSpan </a:t>
            </a:r>
            <a:r>
              <a:rPr lang="en-US" altLang="zh-CN" sz="2800">
                <a:ea typeface="宋体" pitchFamily="2" charset="-122"/>
              </a:rPr>
              <a:t>(Yan &amp; Han, ICDM</a:t>
            </a:r>
            <a:r>
              <a:rPr lang="en-US" altLang="zh-CN" sz="2800">
                <a:latin typeface="Tahoma"/>
                <a:ea typeface="宋体" pitchFamily="2" charset="-122"/>
              </a:rPr>
              <a:t>’</a:t>
            </a:r>
            <a:r>
              <a:rPr lang="en-US" altLang="zh-CN" sz="2800">
                <a:ea typeface="宋体" pitchFamily="2" charset="-122"/>
              </a:rPr>
              <a:t>02)</a:t>
            </a:r>
          </a:p>
        </p:txBody>
      </p:sp>
      <p:sp>
        <p:nvSpPr>
          <p:cNvPr id="32771" name="Rectangle 3"/>
          <p:cNvSpPr>
            <a:spLocks noChangeArrowheads="1"/>
          </p:cNvSpPr>
          <p:nvPr/>
        </p:nvSpPr>
        <p:spPr bwMode="auto">
          <a:xfrm>
            <a:off x="1219200" y="2362200"/>
            <a:ext cx="4572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G</a:t>
            </a:r>
            <a:r>
              <a:rPr lang="en-US" altLang="zh-CN" sz="1600" b="1"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685800" y="1905000"/>
            <a:ext cx="1860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(K-1)  edges</a:t>
            </a:r>
          </a:p>
        </p:txBody>
      </p:sp>
      <p:sp>
        <p:nvSpPr>
          <p:cNvPr id="32773" name="AutoShape 5"/>
          <p:cNvSpPr>
            <a:spLocks noChangeArrowheads="1"/>
          </p:cNvSpPr>
          <p:nvPr/>
        </p:nvSpPr>
        <p:spPr bwMode="auto">
          <a:xfrm>
            <a:off x="1981200" y="2514600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2774" name="Rectangle 6"/>
          <p:cNvSpPr>
            <a:spLocks noChangeArrowheads="1"/>
          </p:cNvSpPr>
          <p:nvPr/>
        </p:nvSpPr>
        <p:spPr bwMode="auto">
          <a:xfrm>
            <a:off x="2743200" y="1981200"/>
            <a:ext cx="4572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G</a:t>
            </a:r>
            <a:r>
              <a:rPr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lang="en-US" altLang="zh-CN" sz="20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5" name="Text Box 7"/>
          <p:cNvSpPr txBox="1">
            <a:spLocks noChangeArrowheads="1"/>
          </p:cNvSpPr>
          <p:nvPr/>
        </p:nvSpPr>
        <p:spPr bwMode="auto">
          <a:xfrm>
            <a:off x="2438400" y="1524000"/>
            <a:ext cx="1252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K edges</a:t>
            </a:r>
          </a:p>
        </p:txBody>
      </p:sp>
      <p:sp>
        <p:nvSpPr>
          <p:cNvPr id="32776" name="AutoShape 8"/>
          <p:cNvSpPr>
            <a:spLocks noChangeArrowheads="1"/>
          </p:cNvSpPr>
          <p:nvPr/>
        </p:nvSpPr>
        <p:spPr bwMode="auto">
          <a:xfrm>
            <a:off x="3505200" y="2514600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2777" name="Rectangle 9"/>
          <p:cNvSpPr>
            <a:spLocks noChangeArrowheads="1"/>
          </p:cNvSpPr>
          <p:nvPr/>
        </p:nvSpPr>
        <p:spPr bwMode="auto">
          <a:xfrm>
            <a:off x="2743200" y="3962400"/>
            <a:ext cx="4572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G</a:t>
            </a:r>
            <a:r>
              <a:rPr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n</a:t>
            </a:r>
            <a:endParaRPr lang="en-US" altLang="zh-CN" sz="20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8" name="Text Box 10"/>
          <p:cNvSpPr txBox="1">
            <a:spLocks noChangeArrowheads="1"/>
          </p:cNvSpPr>
          <p:nvPr/>
        </p:nvSpPr>
        <p:spPr bwMode="auto">
          <a:xfrm>
            <a:off x="2725738" y="3048000"/>
            <a:ext cx="4746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…</a:t>
            </a:r>
          </a:p>
        </p:txBody>
      </p:sp>
      <p:sp>
        <p:nvSpPr>
          <p:cNvPr id="32779" name="Rectangle 11"/>
          <p:cNvSpPr>
            <a:spLocks noChangeArrowheads="1"/>
          </p:cNvSpPr>
          <p:nvPr/>
        </p:nvSpPr>
        <p:spPr bwMode="auto">
          <a:xfrm>
            <a:off x="2743200" y="2590800"/>
            <a:ext cx="4572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G</a:t>
            </a:r>
            <a:r>
              <a:rPr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  <a:endParaRPr lang="en-US" altLang="zh-CN" sz="20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80" name="Text Box 12"/>
          <p:cNvSpPr txBox="1">
            <a:spLocks noChangeArrowheads="1"/>
          </p:cNvSpPr>
          <p:nvPr/>
        </p:nvSpPr>
        <p:spPr bwMode="auto">
          <a:xfrm>
            <a:off x="4251325" y="1809750"/>
            <a:ext cx="3611563" cy="26638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Enumerate G</a:t>
            </a:r>
            <a:r>
              <a:rPr lang="en-US" altLang="zh-CN" sz="2000"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</a:t>
            </a:r>
            <a:r>
              <a:rPr lang="en-US" altLang="zh-CN" sz="1800"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</a:p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in the graph dataset; </a:t>
            </a:r>
          </a:p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At the same time,</a:t>
            </a:r>
          </a:p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Count the frequency </a:t>
            </a:r>
          </a:p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of G</a:t>
            </a:r>
            <a:r>
              <a:rPr lang="en-US" altLang="zh-CN" sz="2000"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G</a:t>
            </a:r>
            <a:r>
              <a:rPr lang="en-US" altLang="zh-CN" sz="2000"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… G</a:t>
            </a:r>
            <a:r>
              <a:rPr lang="en-US" altLang="zh-CN" sz="2000"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</a:p>
          <a:p>
            <a:pPr algn="l"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2781" name="AutoShape 13"/>
          <p:cNvSpPr>
            <a:spLocks noChangeArrowheads="1"/>
          </p:cNvSpPr>
          <p:nvPr/>
        </p:nvSpPr>
        <p:spPr bwMode="auto">
          <a:xfrm rot="5400000">
            <a:off x="5715000" y="4762500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2782" name="Text Box 14"/>
          <p:cNvSpPr txBox="1">
            <a:spLocks noChangeArrowheads="1"/>
          </p:cNvSpPr>
          <p:nvPr/>
        </p:nvSpPr>
        <p:spPr bwMode="auto">
          <a:xfrm>
            <a:off x="4191000" y="5335588"/>
            <a:ext cx="3695700" cy="9556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Output Frequent Ones</a:t>
            </a:r>
          </a:p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in G</a:t>
            </a:r>
            <a:r>
              <a:rPr lang="en-US" altLang="zh-CN" sz="2000"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G</a:t>
            </a:r>
            <a:r>
              <a:rPr lang="en-US" altLang="zh-CN" sz="2000"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…, G</a:t>
            </a:r>
            <a:r>
              <a:rPr lang="en-US" altLang="zh-CN" sz="2000"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32783" name="AutoShape 15"/>
          <p:cNvCxnSpPr>
            <a:cxnSpLocks noChangeShapeType="1"/>
          </p:cNvCxnSpPr>
          <p:nvPr/>
        </p:nvCxnSpPr>
        <p:spPr bwMode="auto">
          <a:xfrm rot="5400000" flipH="1">
            <a:off x="1181100" y="3162300"/>
            <a:ext cx="2971800" cy="2438400"/>
          </a:xfrm>
          <a:prstGeom prst="bentConnector3">
            <a:avLst>
              <a:gd name="adj1" fmla="val -1444"/>
            </a:avLst>
          </a:prstGeom>
          <a:noFill/>
          <a:ln w="41275">
            <a:solidFill>
              <a:srgbClr val="3366FF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itchFamily="2" charset="-122"/>
              </a:rPr>
              <a:t>gSpan (cont.)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14513"/>
            <a:ext cx="8153400" cy="4443412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zh-CN" sz="2400">
                <a:ea typeface="宋体" panose="02010600030101010101" pitchFamily="2" charset="-122"/>
              </a:rPr>
              <a:t>gSpan extends a k-edge graph to a (k+1)-edge graph by adding one edge</a:t>
            </a:r>
          </a:p>
          <a:p>
            <a:pPr>
              <a:lnSpc>
                <a:spcPct val="130000"/>
              </a:lnSpc>
            </a:pPr>
            <a:r>
              <a:rPr lang="en-US" altLang="zh-CN" sz="2400">
                <a:ea typeface="宋体" panose="02010600030101010101" pitchFamily="2" charset="-122"/>
              </a:rPr>
              <a:t>gSpan chooses only one depth-first search tree in a graph which produces the minimum DFS code, the canonical label of the graph</a:t>
            </a:r>
          </a:p>
          <a:p>
            <a:pPr>
              <a:lnSpc>
                <a:spcPct val="130000"/>
              </a:lnSpc>
            </a:pPr>
            <a:r>
              <a:rPr lang="en-US" altLang="zh-CN" sz="2400">
                <a:ea typeface="宋体" panose="02010600030101010101" pitchFamily="2" charset="-122"/>
              </a:rPr>
              <a:t>gSpan only adds new edges on the vertices along the right-most path of the depth-first search tree</a:t>
            </a: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itchFamily="2" charset="-122"/>
              </a:rPr>
              <a:t>Right-Most Extension</a:t>
            </a:r>
          </a:p>
        </p:txBody>
      </p:sp>
      <p:sp>
        <p:nvSpPr>
          <p:cNvPr id="34819" name="Oval 3"/>
          <p:cNvSpPr>
            <a:spLocks noChangeArrowheads="1"/>
          </p:cNvSpPr>
          <p:nvPr/>
        </p:nvSpPr>
        <p:spPr bwMode="auto">
          <a:xfrm>
            <a:off x="2232025" y="2286000"/>
            <a:ext cx="381000" cy="381000"/>
          </a:xfrm>
          <a:prstGeom prst="ellipse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20" name="Oval 4"/>
          <p:cNvSpPr>
            <a:spLocks noChangeArrowheads="1"/>
          </p:cNvSpPr>
          <p:nvPr/>
        </p:nvSpPr>
        <p:spPr bwMode="auto">
          <a:xfrm>
            <a:off x="2232025" y="3733800"/>
            <a:ext cx="381000" cy="381000"/>
          </a:xfrm>
          <a:prstGeom prst="ellipse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21" name="Oval 5"/>
          <p:cNvSpPr>
            <a:spLocks noChangeArrowheads="1"/>
          </p:cNvSpPr>
          <p:nvPr/>
        </p:nvSpPr>
        <p:spPr bwMode="auto">
          <a:xfrm>
            <a:off x="2232025" y="2971800"/>
            <a:ext cx="381000" cy="381000"/>
          </a:xfrm>
          <a:prstGeom prst="ellipse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22" name="Oval 6"/>
          <p:cNvSpPr>
            <a:spLocks noChangeArrowheads="1"/>
          </p:cNvSpPr>
          <p:nvPr/>
        </p:nvSpPr>
        <p:spPr bwMode="auto">
          <a:xfrm>
            <a:off x="2232025" y="4495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23" name="Oval 7"/>
          <p:cNvSpPr>
            <a:spLocks noChangeArrowheads="1"/>
          </p:cNvSpPr>
          <p:nvPr/>
        </p:nvSpPr>
        <p:spPr bwMode="auto">
          <a:xfrm>
            <a:off x="3146425" y="4267200"/>
            <a:ext cx="381000" cy="381000"/>
          </a:xfrm>
          <a:prstGeom prst="ellipse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24" name="Line 8"/>
          <p:cNvSpPr>
            <a:spLocks noChangeShapeType="1"/>
          </p:cNvSpPr>
          <p:nvPr/>
        </p:nvSpPr>
        <p:spPr bwMode="auto">
          <a:xfrm>
            <a:off x="2416175" y="2667000"/>
            <a:ext cx="0" cy="3048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5" name="Line 9"/>
          <p:cNvSpPr>
            <a:spLocks noChangeShapeType="1"/>
          </p:cNvSpPr>
          <p:nvPr/>
        </p:nvSpPr>
        <p:spPr bwMode="auto">
          <a:xfrm>
            <a:off x="2416175" y="3352800"/>
            <a:ext cx="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6" name="Line 10"/>
          <p:cNvSpPr>
            <a:spLocks noChangeShapeType="1"/>
          </p:cNvSpPr>
          <p:nvPr/>
        </p:nvSpPr>
        <p:spPr bwMode="auto">
          <a:xfrm>
            <a:off x="2416175" y="4114800"/>
            <a:ext cx="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7" name="Line 11"/>
          <p:cNvSpPr>
            <a:spLocks noChangeShapeType="1"/>
          </p:cNvSpPr>
          <p:nvPr/>
        </p:nvSpPr>
        <p:spPr bwMode="auto">
          <a:xfrm>
            <a:off x="2613025" y="39624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8" name="Text Box 12"/>
          <p:cNvSpPr txBox="1">
            <a:spLocks noChangeArrowheads="1"/>
          </p:cNvSpPr>
          <p:nvPr/>
        </p:nvSpPr>
        <p:spPr bwMode="auto">
          <a:xfrm>
            <a:off x="2300288" y="5715000"/>
            <a:ext cx="4206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Low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Backward-edge extension</a:t>
            </a:r>
          </a:p>
        </p:txBody>
      </p:sp>
      <p:sp>
        <p:nvSpPr>
          <p:cNvPr id="34829" name="Text Box 13"/>
          <p:cNvSpPr txBox="1">
            <a:spLocks noChangeArrowheads="1"/>
          </p:cNvSpPr>
          <p:nvPr/>
        </p:nvSpPr>
        <p:spPr bwMode="auto">
          <a:xfrm>
            <a:off x="2292350" y="5086350"/>
            <a:ext cx="644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Low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(a)</a:t>
            </a:r>
          </a:p>
        </p:txBody>
      </p:sp>
      <p:sp>
        <p:nvSpPr>
          <p:cNvPr id="34830" name="Text Box 14"/>
          <p:cNvSpPr txBox="1">
            <a:spLocks noChangeArrowheads="1"/>
          </p:cNvSpPr>
          <p:nvPr/>
        </p:nvSpPr>
        <p:spPr bwMode="auto">
          <a:xfrm>
            <a:off x="5594350" y="5086350"/>
            <a:ext cx="654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Low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(b)</a:t>
            </a:r>
          </a:p>
        </p:txBody>
      </p:sp>
      <p:sp>
        <p:nvSpPr>
          <p:cNvPr id="34831" name="Text Box 15"/>
          <p:cNvSpPr txBox="1">
            <a:spLocks noChangeArrowheads="1"/>
          </p:cNvSpPr>
          <p:nvPr/>
        </p:nvSpPr>
        <p:spPr bwMode="auto">
          <a:xfrm>
            <a:off x="1851025" y="205740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34832" name="Text Box 16"/>
          <p:cNvSpPr txBox="1">
            <a:spLocks noChangeArrowheads="1"/>
          </p:cNvSpPr>
          <p:nvPr/>
        </p:nvSpPr>
        <p:spPr bwMode="auto">
          <a:xfrm>
            <a:off x="1854200" y="274320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4833" name="Text Box 17"/>
          <p:cNvSpPr txBox="1">
            <a:spLocks noChangeArrowheads="1"/>
          </p:cNvSpPr>
          <p:nvPr/>
        </p:nvSpPr>
        <p:spPr bwMode="auto">
          <a:xfrm>
            <a:off x="1854200" y="348615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34834" name="Text Box 18"/>
          <p:cNvSpPr txBox="1">
            <a:spLocks noChangeArrowheads="1"/>
          </p:cNvSpPr>
          <p:nvPr/>
        </p:nvSpPr>
        <p:spPr bwMode="auto">
          <a:xfrm>
            <a:off x="990600" y="403860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34835" name="Text Box 19"/>
          <p:cNvSpPr txBox="1">
            <a:spLocks noChangeArrowheads="1"/>
          </p:cNvSpPr>
          <p:nvPr/>
        </p:nvSpPr>
        <p:spPr bwMode="auto">
          <a:xfrm>
            <a:off x="1905000" y="4357688"/>
            <a:ext cx="377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34836" name="Oval 20"/>
          <p:cNvSpPr>
            <a:spLocks noChangeArrowheads="1"/>
          </p:cNvSpPr>
          <p:nvPr/>
        </p:nvSpPr>
        <p:spPr bwMode="auto">
          <a:xfrm>
            <a:off x="1292225" y="42672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37" name="Text Box 21"/>
          <p:cNvSpPr txBox="1">
            <a:spLocks noChangeArrowheads="1"/>
          </p:cNvSpPr>
          <p:nvPr/>
        </p:nvSpPr>
        <p:spPr bwMode="auto">
          <a:xfrm>
            <a:off x="2743200" y="411480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34838" name="Line 22"/>
          <p:cNvSpPr>
            <a:spLocks noChangeShapeType="1"/>
          </p:cNvSpPr>
          <p:nvPr/>
        </p:nvSpPr>
        <p:spPr bwMode="auto">
          <a:xfrm flipH="1">
            <a:off x="1673225" y="39624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39" name="Oval 23"/>
          <p:cNvSpPr>
            <a:spLocks noChangeArrowheads="1"/>
          </p:cNvSpPr>
          <p:nvPr/>
        </p:nvSpPr>
        <p:spPr bwMode="auto">
          <a:xfrm>
            <a:off x="5715000" y="2286000"/>
            <a:ext cx="381000" cy="381000"/>
          </a:xfrm>
          <a:prstGeom prst="ellipse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40" name="Oval 24"/>
          <p:cNvSpPr>
            <a:spLocks noChangeArrowheads="1"/>
          </p:cNvSpPr>
          <p:nvPr/>
        </p:nvSpPr>
        <p:spPr bwMode="auto">
          <a:xfrm>
            <a:off x="5715000" y="3733800"/>
            <a:ext cx="381000" cy="381000"/>
          </a:xfrm>
          <a:prstGeom prst="ellipse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41" name="Oval 25"/>
          <p:cNvSpPr>
            <a:spLocks noChangeArrowheads="1"/>
          </p:cNvSpPr>
          <p:nvPr/>
        </p:nvSpPr>
        <p:spPr bwMode="auto">
          <a:xfrm>
            <a:off x="5715000" y="2971800"/>
            <a:ext cx="381000" cy="381000"/>
          </a:xfrm>
          <a:prstGeom prst="ellipse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42" name="Oval 26"/>
          <p:cNvSpPr>
            <a:spLocks noChangeArrowheads="1"/>
          </p:cNvSpPr>
          <p:nvPr/>
        </p:nvSpPr>
        <p:spPr bwMode="auto">
          <a:xfrm>
            <a:off x="5715000" y="4495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43" name="Oval 27"/>
          <p:cNvSpPr>
            <a:spLocks noChangeArrowheads="1"/>
          </p:cNvSpPr>
          <p:nvPr/>
        </p:nvSpPr>
        <p:spPr bwMode="auto">
          <a:xfrm>
            <a:off x="6629400" y="4267200"/>
            <a:ext cx="381000" cy="381000"/>
          </a:xfrm>
          <a:prstGeom prst="ellipse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44" name="Line 28"/>
          <p:cNvSpPr>
            <a:spLocks noChangeShapeType="1"/>
          </p:cNvSpPr>
          <p:nvPr/>
        </p:nvSpPr>
        <p:spPr bwMode="auto">
          <a:xfrm>
            <a:off x="5899150" y="2667000"/>
            <a:ext cx="0" cy="3048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45" name="Line 29"/>
          <p:cNvSpPr>
            <a:spLocks noChangeShapeType="1"/>
          </p:cNvSpPr>
          <p:nvPr/>
        </p:nvSpPr>
        <p:spPr bwMode="auto">
          <a:xfrm>
            <a:off x="5899150" y="3352800"/>
            <a:ext cx="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46" name="Line 30"/>
          <p:cNvSpPr>
            <a:spLocks noChangeShapeType="1"/>
          </p:cNvSpPr>
          <p:nvPr/>
        </p:nvSpPr>
        <p:spPr bwMode="auto">
          <a:xfrm>
            <a:off x="5899150" y="4114800"/>
            <a:ext cx="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47" name="Line 31"/>
          <p:cNvSpPr>
            <a:spLocks noChangeShapeType="1"/>
          </p:cNvSpPr>
          <p:nvPr/>
        </p:nvSpPr>
        <p:spPr bwMode="auto">
          <a:xfrm>
            <a:off x="6096000" y="39624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48" name="Text Box 32"/>
          <p:cNvSpPr txBox="1">
            <a:spLocks noChangeArrowheads="1"/>
          </p:cNvSpPr>
          <p:nvPr/>
        </p:nvSpPr>
        <p:spPr bwMode="auto">
          <a:xfrm>
            <a:off x="5334000" y="205740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34849" name="Text Box 33"/>
          <p:cNvSpPr txBox="1">
            <a:spLocks noChangeArrowheads="1"/>
          </p:cNvSpPr>
          <p:nvPr/>
        </p:nvSpPr>
        <p:spPr bwMode="auto">
          <a:xfrm>
            <a:off x="5337175" y="274320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4850" name="Text Box 34"/>
          <p:cNvSpPr txBox="1">
            <a:spLocks noChangeArrowheads="1"/>
          </p:cNvSpPr>
          <p:nvPr/>
        </p:nvSpPr>
        <p:spPr bwMode="auto">
          <a:xfrm>
            <a:off x="5337175" y="348615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34851" name="Text Box 35"/>
          <p:cNvSpPr txBox="1">
            <a:spLocks noChangeArrowheads="1"/>
          </p:cNvSpPr>
          <p:nvPr/>
        </p:nvSpPr>
        <p:spPr bwMode="auto">
          <a:xfrm>
            <a:off x="4473575" y="403860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34852" name="Text Box 36"/>
          <p:cNvSpPr txBox="1">
            <a:spLocks noChangeArrowheads="1"/>
          </p:cNvSpPr>
          <p:nvPr/>
        </p:nvSpPr>
        <p:spPr bwMode="auto">
          <a:xfrm>
            <a:off x="5387975" y="4357688"/>
            <a:ext cx="377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34853" name="Oval 37"/>
          <p:cNvSpPr>
            <a:spLocks noChangeArrowheads="1"/>
          </p:cNvSpPr>
          <p:nvPr/>
        </p:nvSpPr>
        <p:spPr bwMode="auto">
          <a:xfrm>
            <a:off x="4775200" y="42672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54" name="Text Box 38"/>
          <p:cNvSpPr txBox="1">
            <a:spLocks noChangeArrowheads="1"/>
          </p:cNvSpPr>
          <p:nvPr/>
        </p:nvSpPr>
        <p:spPr bwMode="auto">
          <a:xfrm>
            <a:off x="6226175" y="411480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34855" name="Line 39"/>
          <p:cNvSpPr>
            <a:spLocks noChangeShapeType="1"/>
          </p:cNvSpPr>
          <p:nvPr/>
        </p:nvSpPr>
        <p:spPr bwMode="auto">
          <a:xfrm flipH="1">
            <a:off x="5156200" y="39624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56" name="Line 40"/>
          <p:cNvSpPr>
            <a:spLocks noChangeShapeType="1"/>
          </p:cNvSpPr>
          <p:nvPr/>
        </p:nvSpPr>
        <p:spPr bwMode="auto">
          <a:xfrm>
            <a:off x="6096000" y="2514600"/>
            <a:ext cx="762000" cy="1752600"/>
          </a:xfrm>
          <a:prstGeom prst="line">
            <a:avLst/>
          </a:prstGeom>
          <a:noFill/>
          <a:ln w="5080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57" name="Line 41"/>
          <p:cNvSpPr>
            <a:spLocks noChangeShapeType="1"/>
          </p:cNvSpPr>
          <p:nvPr/>
        </p:nvSpPr>
        <p:spPr bwMode="auto">
          <a:xfrm>
            <a:off x="6096000" y="3276600"/>
            <a:ext cx="609600" cy="990600"/>
          </a:xfrm>
          <a:prstGeom prst="line">
            <a:avLst/>
          </a:prstGeom>
          <a:noFill/>
          <a:ln w="5080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58" name="AutoShape 42"/>
          <p:cNvSpPr>
            <a:spLocks noChangeArrowheads="1"/>
          </p:cNvSpPr>
          <p:nvPr/>
        </p:nvSpPr>
        <p:spPr bwMode="auto">
          <a:xfrm>
            <a:off x="3810000" y="3200400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itchFamily="2" charset="-122"/>
              </a:rPr>
              <a:t>Right-Most Extension (cont.)</a:t>
            </a:r>
          </a:p>
        </p:txBody>
      </p:sp>
      <p:sp>
        <p:nvSpPr>
          <p:cNvPr id="35843" name="Oval 3"/>
          <p:cNvSpPr>
            <a:spLocks noChangeArrowheads="1"/>
          </p:cNvSpPr>
          <p:nvPr/>
        </p:nvSpPr>
        <p:spPr bwMode="auto">
          <a:xfrm>
            <a:off x="2232025" y="2286000"/>
            <a:ext cx="381000" cy="381000"/>
          </a:xfrm>
          <a:prstGeom prst="ellipse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44" name="Oval 4"/>
          <p:cNvSpPr>
            <a:spLocks noChangeArrowheads="1"/>
          </p:cNvSpPr>
          <p:nvPr/>
        </p:nvSpPr>
        <p:spPr bwMode="auto">
          <a:xfrm>
            <a:off x="2232025" y="3733800"/>
            <a:ext cx="381000" cy="381000"/>
          </a:xfrm>
          <a:prstGeom prst="ellipse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45" name="Oval 5"/>
          <p:cNvSpPr>
            <a:spLocks noChangeArrowheads="1"/>
          </p:cNvSpPr>
          <p:nvPr/>
        </p:nvSpPr>
        <p:spPr bwMode="auto">
          <a:xfrm>
            <a:off x="2232025" y="2971800"/>
            <a:ext cx="381000" cy="381000"/>
          </a:xfrm>
          <a:prstGeom prst="ellipse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46" name="Oval 6"/>
          <p:cNvSpPr>
            <a:spLocks noChangeArrowheads="1"/>
          </p:cNvSpPr>
          <p:nvPr/>
        </p:nvSpPr>
        <p:spPr bwMode="auto">
          <a:xfrm>
            <a:off x="2232025" y="4495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47" name="Oval 7"/>
          <p:cNvSpPr>
            <a:spLocks noChangeArrowheads="1"/>
          </p:cNvSpPr>
          <p:nvPr/>
        </p:nvSpPr>
        <p:spPr bwMode="auto">
          <a:xfrm>
            <a:off x="3146425" y="4267200"/>
            <a:ext cx="381000" cy="381000"/>
          </a:xfrm>
          <a:prstGeom prst="ellipse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48" name="Line 8"/>
          <p:cNvSpPr>
            <a:spLocks noChangeShapeType="1"/>
          </p:cNvSpPr>
          <p:nvPr/>
        </p:nvSpPr>
        <p:spPr bwMode="auto">
          <a:xfrm>
            <a:off x="2416175" y="2667000"/>
            <a:ext cx="0" cy="3048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49" name="Line 9"/>
          <p:cNvSpPr>
            <a:spLocks noChangeShapeType="1"/>
          </p:cNvSpPr>
          <p:nvPr/>
        </p:nvSpPr>
        <p:spPr bwMode="auto">
          <a:xfrm>
            <a:off x="2416175" y="3352800"/>
            <a:ext cx="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50" name="Line 10"/>
          <p:cNvSpPr>
            <a:spLocks noChangeShapeType="1"/>
          </p:cNvSpPr>
          <p:nvPr/>
        </p:nvSpPr>
        <p:spPr bwMode="auto">
          <a:xfrm>
            <a:off x="2416175" y="4114800"/>
            <a:ext cx="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51" name="Line 11"/>
          <p:cNvSpPr>
            <a:spLocks noChangeShapeType="1"/>
          </p:cNvSpPr>
          <p:nvPr/>
        </p:nvSpPr>
        <p:spPr bwMode="auto">
          <a:xfrm>
            <a:off x="2613025" y="39624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52" name="Text Box 12"/>
          <p:cNvSpPr txBox="1">
            <a:spLocks noChangeArrowheads="1"/>
          </p:cNvSpPr>
          <p:nvPr/>
        </p:nvSpPr>
        <p:spPr bwMode="auto">
          <a:xfrm>
            <a:off x="2362200" y="5729288"/>
            <a:ext cx="39766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Low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Forward-edge extension</a:t>
            </a:r>
          </a:p>
        </p:txBody>
      </p:sp>
      <p:sp>
        <p:nvSpPr>
          <p:cNvPr id="35853" name="Text Box 13"/>
          <p:cNvSpPr txBox="1">
            <a:spLocks noChangeArrowheads="1"/>
          </p:cNvSpPr>
          <p:nvPr/>
        </p:nvSpPr>
        <p:spPr bwMode="auto">
          <a:xfrm>
            <a:off x="2292350" y="5086350"/>
            <a:ext cx="644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Low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(a)</a:t>
            </a:r>
          </a:p>
        </p:txBody>
      </p:sp>
      <p:sp>
        <p:nvSpPr>
          <p:cNvPr id="35854" name="Text Box 14"/>
          <p:cNvSpPr txBox="1">
            <a:spLocks noChangeArrowheads="1"/>
          </p:cNvSpPr>
          <p:nvPr/>
        </p:nvSpPr>
        <p:spPr bwMode="auto">
          <a:xfrm>
            <a:off x="5594350" y="5086350"/>
            <a:ext cx="654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Low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(b)</a:t>
            </a:r>
          </a:p>
        </p:txBody>
      </p:sp>
      <p:sp>
        <p:nvSpPr>
          <p:cNvPr id="35855" name="Text Box 15"/>
          <p:cNvSpPr txBox="1">
            <a:spLocks noChangeArrowheads="1"/>
          </p:cNvSpPr>
          <p:nvPr/>
        </p:nvSpPr>
        <p:spPr bwMode="auto">
          <a:xfrm>
            <a:off x="1851025" y="205740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35856" name="Text Box 16"/>
          <p:cNvSpPr txBox="1">
            <a:spLocks noChangeArrowheads="1"/>
          </p:cNvSpPr>
          <p:nvPr/>
        </p:nvSpPr>
        <p:spPr bwMode="auto">
          <a:xfrm>
            <a:off x="1854200" y="274320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5857" name="Text Box 17"/>
          <p:cNvSpPr txBox="1">
            <a:spLocks noChangeArrowheads="1"/>
          </p:cNvSpPr>
          <p:nvPr/>
        </p:nvSpPr>
        <p:spPr bwMode="auto">
          <a:xfrm>
            <a:off x="1854200" y="348615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35858" name="Text Box 18"/>
          <p:cNvSpPr txBox="1">
            <a:spLocks noChangeArrowheads="1"/>
          </p:cNvSpPr>
          <p:nvPr/>
        </p:nvSpPr>
        <p:spPr bwMode="auto">
          <a:xfrm>
            <a:off x="990600" y="403860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35859" name="Text Box 19"/>
          <p:cNvSpPr txBox="1">
            <a:spLocks noChangeArrowheads="1"/>
          </p:cNvSpPr>
          <p:nvPr/>
        </p:nvSpPr>
        <p:spPr bwMode="auto">
          <a:xfrm>
            <a:off x="1905000" y="4357688"/>
            <a:ext cx="377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35860" name="Oval 20"/>
          <p:cNvSpPr>
            <a:spLocks noChangeArrowheads="1"/>
          </p:cNvSpPr>
          <p:nvPr/>
        </p:nvSpPr>
        <p:spPr bwMode="auto">
          <a:xfrm>
            <a:off x="1292225" y="42672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61" name="Text Box 21"/>
          <p:cNvSpPr txBox="1">
            <a:spLocks noChangeArrowheads="1"/>
          </p:cNvSpPr>
          <p:nvPr/>
        </p:nvSpPr>
        <p:spPr bwMode="auto">
          <a:xfrm>
            <a:off x="2743200" y="411480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35862" name="Line 22"/>
          <p:cNvSpPr>
            <a:spLocks noChangeShapeType="1"/>
          </p:cNvSpPr>
          <p:nvPr/>
        </p:nvSpPr>
        <p:spPr bwMode="auto">
          <a:xfrm flipH="1">
            <a:off x="1673225" y="39624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63" name="Oval 23"/>
          <p:cNvSpPr>
            <a:spLocks noChangeArrowheads="1"/>
          </p:cNvSpPr>
          <p:nvPr/>
        </p:nvSpPr>
        <p:spPr bwMode="auto">
          <a:xfrm>
            <a:off x="5715000" y="2286000"/>
            <a:ext cx="381000" cy="381000"/>
          </a:xfrm>
          <a:prstGeom prst="ellipse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64" name="Oval 24"/>
          <p:cNvSpPr>
            <a:spLocks noChangeArrowheads="1"/>
          </p:cNvSpPr>
          <p:nvPr/>
        </p:nvSpPr>
        <p:spPr bwMode="auto">
          <a:xfrm>
            <a:off x="5715000" y="3733800"/>
            <a:ext cx="381000" cy="381000"/>
          </a:xfrm>
          <a:prstGeom prst="ellipse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65" name="Oval 25"/>
          <p:cNvSpPr>
            <a:spLocks noChangeArrowheads="1"/>
          </p:cNvSpPr>
          <p:nvPr/>
        </p:nvSpPr>
        <p:spPr bwMode="auto">
          <a:xfrm>
            <a:off x="5715000" y="2971800"/>
            <a:ext cx="381000" cy="381000"/>
          </a:xfrm>
          <a:prstGeom prst="ellipse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66" name="Oval 26"/>
          <p:cNvSpPr>
            <a:spLocks noChangeArrowheads="1"/>
          </p:cNvSpPr>
          <p:nvPr/>
        </p:nvSpPr>
        <p:spPr bwMode="auto">
          <a:xfrm>
            <a:off x="5715000" y="4495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67" name="Oval 27"/>
          <p:cNvSpPr>
            <a:spLocks noChangeArrowheads="1"/>
          </p:cNvSpPr>
          <p:nvPr/>
        </p:nvSpPr>
        <p:spPr bwMode="auto">
          <a:xfrm>
            <a:off x="6629400" y="4267200"/>
            <a:ext cx="381000" cy="381000"/>
          </a:xfrm>
          <a:prstGeom prst="ellipse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68" name="Line 28"/>
          <p:cNvSpPr>
            <a:spLocks noChangeShapeType="1"/>
          </p:cNvSpPr>
          <p:nvPr/>
        </p:nvSpPr>
        <p:spPr bwMode="auto">
          <a:xfrm>
            <a:off x="5899150" y="2667000"/>
            <a:ext cx="0" cy="3048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69" name="Line 29"/>
          <p:cNvSpPr>
            <a:spLocks noChangeShapeType="1"/>
          </p:cNvSpPr>
          <p:nvPr/>
        </p:nvSpPr>
        <p:spPr bwMode="auto">
          <a:xfrm>
            <a:off x="5899150" y="3352800"/>
            <a:ext cx="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70" name="Line 30"/>
          <p:cNvSpPr>
            <a:spLocks noChangeShapeType="1"/>
          </p:cNvSpPr>
          <p:nvPr/>
        </p:nvSpPr>
        <p:spPr bwMode="auto">
          <a:xfrm>
            <a:off x="5899150" y="4114800"/>
            <a:ext cx="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71" name="Line 31"/>
          <p:cNvSpPr>
            <a:spLocks noChangeShapeType="1"/>
          </p:cNvSpPr>
          <p:nvPr/>
        </p:nvSpPr>
        <p:spPr bwMode="auto">
          <a:xfrm>
            <a:off x="6096000" y="39624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72" name="Text Box 32"/>
          <p:cNvSpPr txBox="1">
            <a:spLocks noChangeArrowheads="1"/>
          </p:cNvSpPr>
          <p:nvPr/>
        </p:nvSpPr>
        <p:spPr bwMode="auto">
          <a:xfrm>
            <a:off x="5334000" y="205740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35873" name="Text Box 33"/>
          <p:cNvSpPr txBox="1">
            <a:spLocks noChangeArrowheads="1"/>
          </p:cNvSpPr>
          <p:nvPr/>
        </p:nvSpPr>
        <p:spPr bwMode="auto">
          <a:xfrm>
            <a:off x="5337175" y="274320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5874" name="Text Box 34"/>
          <p:cNvSpPr txBox="1">
            <a:spLocks noChangeArrowheads="1"/>
          </p:cNvSpPr>
          <p:nvPr/>
        </p:nvSpPr>
        <p:spPr bwMode="auto">
          <a:xfrm>
            <a:off x="5337175" y="348615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35875" name="Text Box 35"/>
          <p:cNvSpPr txBox="1">
            <a:spLocks noChangeArrowheads="1"/>
          </p:cNvSpPr>
          <p:nvPr/>
        </p:nvSpPr>
        <p:spPr bwMode="auto">
          <a:xfrm>
            <a:off x="4473575" y="403860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35876" name="Text Box 36"/>
          <p:cNvSpPr txBox="1">
            <a:spLocks noChangeArrowheads="1"/>
          </p:cNvSpPr>
          <p:nvPr/>
        </p:nvSpPr>
        <p:spPr bwMode="auto">
          <a:xfrm>
            <a:off x="5387975" y="4357688"/>
            <a:ext cx="377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35877" name="Oval 37"/>
          <p:cNvSpPr>
            <a:spLocks noChangeArrowheads="1"/>
          </p:cNvSpPr>
          <p:nvPr/>
        </p:nvSpPr>
        <p:spPr bwMode="auto">
          <a:xfrm>
            <a:off x="4775200" y="42672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78" name="Text Box 38"/>
          <p:cNvSpPr txBox="1">
            <a:spLocks noChangeArrowheads="1"/>
          </p:cNvSpPr>
          <p:nvPr/>
        </p:nvSpPr>
        <p:spPr bwMode="auto">
          <a:xfrm>
            <a:off x="6226175" y="411480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35879" name="Line 39"/>
          <p:cNvSpPr>
            <a:spLocks noChangeShapeType="1"/>
          </p:cNvSpPr>
          <p:nvPr/>
        </p:nvSpPr>
        <p:spPr bwMode="auto">
          <a:xfrm flipH="1">
            <a:off x="5156200" y="39624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80" name="Line 40"/>
          <p:cNvSpPr>
            <a:spLocks noChangeShapeType="1"/>
          </p:cNvSpPr>
          <p:nvPr/>
        </p:nvSpPr>
        <p:spPr bwMode="auto">
          <a:xfrm>
            <a:off x="6096000" y="2514600"/>
            <a:ext cx="838200" cy="228600"/>
          </a:xfrm>
          <a:prstGeom prst="line">
            <a:avLst/>
          </a:prstGeom>
          <a:noFill/>
          <a:ln w="5080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81" name="AutoShape 41"/>
          <p:cNvSpPr>
            <a:spLocks noChangeArrowheads="1"/>
          </p:cNvSpPr>
          <p:nvPr/>
        </p:nvSpPr>
        <p:spPr bwMode="auto">
          <a:xfrm>
            <a:off x="3733800" y="3200400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5882" name="Oval 42"/>
          <p:cNvSpPr>
            <a:spLocks noChangeArrowheads="1"/>
          </p:cNvSpPr>
          <p:nvPr/>
        </p:nvSpPr>
        <p:spPr bwMode="auto">
          <a:xfrm>
            <a:off x="6934200" y="2590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83" name="Line 43"/>
          <p:cNvSpPr>
            <a:spLocks noChangeShapeType="1"/>
          </p:cNvSpPr>
          <p:nvPr/>
        </p:nvSpPr>
        <p:spPr bwMode="auto">
          <a:xfrm>
            <a:off x="6096000" y="3200400"/>
            <a:ext cx="838200" cy="228600"/>
          </a:xfrm>
          <a:prstGeom prst="line">
            <a:avLst/>
          </a:prstGeom>
          <a:noFill/>
          <a:ln w="5080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84" name="Oval 44"/>
          <p:cNvSpPr>
            <a:spLocks noChangeArrowheads="1"/>
          </p:cNvSpPr>
          <p:nvPr/>
        </p:nvSpPr>
        <p:spPr bwMode="auto">
          <a:xfrm>
            <a:off x="6934200" y="32766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85" name="Line 45"/>
          <p:cNvSpPr>
            <a:spLocks noChangeShapeType="1"/>
          </p:cNvSpPr>
          <p:nvPr/>
        </p:nvSpPr>
        <p:spPr bwMode="auto">
          <a:xfrm>
            <a:off x="6096000" y="3810000"/>
            <a:ext cx="838200" cy="228600"/>
          </a:xfrm>
          <a:prstGeom prst="line">
            <a:avLst/>
          </a:prstGeom>
          <a:noFill/>
          <a:ln w="5080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86" name="Oval 46"/>
          <p:cNvSpPr>
            <a:spLocks noChangeArrowheads="1"/>
          </p:cNvSpPr>
          <p:nvPr/>
        </p:nvSpPr>
        <p:spPr bwMode="auto">
          <a:xfrm>
            <a:off x="6934200" y="38862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87" name="Line 47"/>
          <p:cNvSpPr>
            <a:spLocks noChangeShapeType="1"/>
          </p:cNvSpPr>
          <p:nvPr/>
        </p:nvSpPr>
        <p:spPr bwMode="auto">
          <a:xfrm>
            <a:off x="7010400" y="4495800"/>
            <a:ext cx="838200" cy="228600"/>
          </a:xfrm>
          <a:prstGeom prst="line">
            <a:avLst/>
          </a:prstGeom>
          <a:noFill/>
          <a:ln w="5080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88" name="Oval 48"/>
          <p:cNvSpPr>
            <a:spLocks noChangeArrowheads="1"/>
          </p:cNvSpPr>
          <p:nvPr/>
        </p:nvSpPr>
        <p:spPr bwMode="auto">
          <a:xfrm>
            <a:off x="7848600" y="45720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itchFamily="2" charset="-122"/>
              </a:rPr>
              <a:t>Avoid Duplicate Extension</a:t>
            </a:r>
          </a:p>
        </p:txBody>
      </p:sp>
      <p:sp>
        <p:nvSpPr>
          <p:cNvPr id="36867" name="Oval 3"/>
          <p:cNvSpPr>
            <a:spLocks noChangeArrowheads="1"/>
          </p:cNvSpPr>
          <p:nvPr/>
        </p:nvSpPr>
        <p:spPr bwMode="auto">
          <a:xfrm>
            <a:off x="2514600" y="21336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68" name="Oval 4"/>
          <p:cNvSpPr>
            <a:spLocks noChangeArrowheads="1"/>
          </p:cNvSpPr>
          <p:nvPr/>
        </p:nvSpPr>
        <p:spPr bwMode="auto">
          <a:xfrm>
            <a:off x="2514600" y="35814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69" name="Oval 5"/>
          <p:cNvSpPr>
            <a:spLocks noChangeArrowheads="1"/>
          </p:cNvSpPr>
          <p:nvPr/>
        </p:nvSpPr>
        <p:spPr bwMode="auto">
          <a:xfrm>
            <a:off x="2514600" y="28194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70" name="Oval 6"/>
          <p:cNvSpPr>
            <a:spLocks noChangeArrowheads="1"/>
          </p:cNvSpPr>
          <p:nvPr/>
        </p:nvSpPr>
        <p:spPr bwMode="auto">
          <a:xfrm>
            <a:off x="2514600" y="43434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71" name="Oval 7"/>
          <p:cNvSpPr>
            <a:spLocks noChangeArrowheads="1"/>
          </p:cNvSpPr>
          <p:nvPr/>
        </p:nvSpPr>
        <p:spPr bwMode="auto">
          <a:xfrm>
            <a:off x="3429000" y="41148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72" name="Line 8"/>
          <p:cNvSpPr>
            <a:spLocks noChangeShapeType="1"/>
          </p:cNvSpPr>
          <p:nvPr/>
        </p:nvSpPr>
        <p:spPr bwMode="auto">
          <a:xfrm>
            <a:off x="2698750" y="2514600"/>
            <a:ext cx="0" cy="3048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3" name="Line 9"/>
          <p:cNvSpPr>
            <a:spLocks noChangeShapeType="1"/>
          </p:cNvSpPr>
          <p:nvPr/>
        </p:nvSpPr>
        <p:spPr bwMode="auto">
          <a:xfrm>
            <a:off x="2698750" y="3200400"/>
            <a:ext cx="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4" name="Line 10"/>
          <p:cNvSpPr>
            <a:spLocks noChangeShapeType="1"/>
          </p:cNvSpPr>
          <p:nvPr/>
        </p:nvSpPr>
        <p:spPr bwMode="auto">
          <a:xfrm>
            <a:off x="2698750" y="3962400"/>
            <a:ext cx="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5" name="Line 11"/>
          <p:cNvSpPr>
            <a:spLocks noChangeShapeType="1"/>
          </p:cNvSpPr>
          <p:nvPr/>
        </p:nvSpPr>
        <p:spPr bwMode="auto">
          <a:xfrm>
            <a:off x="2895600" y="38100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6" name="Oval 12"/>
          <p:cNvSpPr>
            <a:spLocks noChangeArrowheads="1"/>
          </p:cNvSpPr>
          <p:nvPr/>
        </p:nvSpPr>
        <p:spPr bwMode="auto">
          <a:xfrm>
            <a:off x="1574800" y="4114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77" name="Line 13"/>
          <p:cNvSpPr>
            <a:spLocks noChangeShapeType="1"/>
          </p:cNvSpPr>
          <p:nvPr/>
        </p:nvSpPr>
        <p:spPr bwMode="auto">
          <a:xfrm flipH="1">
            <a:off x="1955800" y="38100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8" name="Line 14"/>
          <p:cNvSpPr>
            <a:spLocks noChangeShapeType="1"/>
          </p:cNvSpPr>
          <p:nvPr/>
        </p:nvSpPr>
        <p:spPr bwMode="auto">
          <a:xfrm flipH="1">
            <a:off x="1803400" y="2438400"/>
            <a:ext cx="762000" cy="1676400"/>
          </a:xfrm>
          <a:prstGeom prst="line">
            <a:avLst/>
          </a:prstGeom>
          <a:noFill/>
          <a:ln w="317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6879" name="Line 15"/>
          <p:cNvSpPr>
            <a:spLocks noChangeShapeType="1"/>
          </p:cNvSpPr>
          <p:nvPr/>
        </p:nvSpPr>
        <p:spPr bwMode="auto">
          <a:xfrm>
            <a:off x="2870200" y="3048000"/>
            <a:ext cx="685800" cy="1066800"/>
          </a:xfrm>
          <a:prstGeom prst="line">
            <a:avLst/>
          </a:prstGeom>
          <a:noFill/>
          <a:ln w="31750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6880" name="Text Box 16"/>
          <p:cNvSpPr txBox="1">
            <a:spLocks noChangeArrowheads="1"/>
          </p:cNvSpPr>
          <p:nvPr/>
        </p:nvSpPr>
        <p:spPr bwMode="auto">
          <a:xfrm>
            <a:off x="1727200" y="2859088"/>
            <a:ext cx="557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(1)</a:t>
            </a:r>
          </a:p>
        </p:txBody>
      </p:sp>
      <p:sp>
        <p:nvSpPr>
          <p:cNvPr id="36881" name="Text Box 17"/>
          <p:cNvSpPr txBox="1">
            <a:spLocks noChangeArrowheads="1"/>
          </p:cNvSpPr>
          <p:nvPr/>
        </p:nvSpPr>
        <p:spPr bwMode="auto">
          <a:xfrm>
            <a:off x="3200400" y="3200400"/>
            <a:ext cx="557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(2)</a:t>
            </a:r>
          </a:p>
        </p:txBody>
      </p:sp>
      <p:sp>
        <p:nvSpPr>
          <p:cNvPr id="36882" name="Oval 18"/>
          <p:cNvSpPr>
            <a:spLocks noChangeArrowheads="1"/>
          </p:cNvSpPr>
          <p:nvPr/>
        </p:nvSpPr>
        <p:spPr bwMode="auto">
          <a:xfrm>
            <a:off x="5791200" y="21336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83" name="Oval 19"/>
          <p:cNvSpPr>
            <a:spLocks noChangeArrowheads="1"/>
          </p:cNvSpPr>
          <p:nvPr/>
        </p:nvSpPr>
        <p:spPr bwMode="auto">
          <a:xfrm>
            <a:off x="5791200" y="35814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84" name="Oval 20"/>
          <p:cNvSpPr>
            <a:spLocks noChangeArrowheads="1"/>
          </p:cNvSpPr>
          <p:nvPr/>
        </p:nvSpPr>
        <p:spPr bwMode="auto">
          <a:xfrm>
            <a:off x="5791200" y="28194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85" name="Oval 21"/>
          <p:cNvSpPr>
            <a:spLocks noChangeArrowheads="1"/>
          </p:cNvSpPr>
          <p:nvPr/>
        </p:nvSpPr>
        <p:spPr bwMode="auto">
          <a:xfrm>
            <a:off x="5791200" y="43434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86" name="Oval 22"/>
          <p:cNvSpPr>
            <a:spLocks noChangeArrowheads="1"/>
          </p:cNvSpPr>
          <p:nvPr/>
        </p:nvSpPr>
        <p:spPr bwMode="auto">
          <a:xfrm>
            <a:off x="6705600" y="41148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87" name="Line 23"/>
          <p:cNvSpPr>
            <a:spLocks noChangeShapeType="1"/>
          </p:cNvSpPr>
          <p:nvPr/>
        </p:nvSpPr>
        <p:spPr bwMode="auto">
          <a:xfrm>
            <a:off x="5975350" y="2514600"/>
            <a:ext cx="0" cy="3048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88" name="Line 24"/>
          <p:cNvSpPr>
            <a:spLocks noChangeShapeType="1"/>
          </p:cNvSpPr>
          <p:nvPr/>
        </p:nvSpPr>
        <p:spPr bwMode="auto">
          <a:xfrm>
            <a:off x="5975350" y="3200400"/>
            <a:ext cx="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89" name="Line 25"/>
          <p:cNvSpPr>
            <a:spLocks noChangeShapeType="1"/>
          </p:cNvSpPr>
          <p:nvPr/>
        </p:nvSpPr>
        <p:spPr bwMode="auto">
          <a:xfrm>
            <a:off x="5975350" y="3962400"/>
            <a:ext cx="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90" name="Line 26"/>
          <p:cNvSpPr>
            <a:spLocks noChangeShapeType="1"/>
          </p:cNvSpPr>
          <p:nvPr/>
        </p:nvSpPr>
        <p:spPr bwMode="auto">
          <a:xfrm>
            <a:off x="6172200" y="38100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91" name="Oval 27"/>
          <p:cNvSpPr>
            <a:spLocks noChangeArrowheads="1"/>
          </p:cNvSpPr>
          <p:nvPr/>
        </p:nvSpPr>
        <p:spPr bwMode="auto">
          <a:xfrm>
            <a:off x="4851400" y="4114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92" name="Line 28"/>
          <p:cNvSpPr>
            <a:spLocks noChangeShapeType="1"/>
          </p:cNvSpPr>
          <p:nvPr/>
        </p:nvSpPr>
        <p:spPr bwMode="auto">
          <a:xfrm flipH="1">
            <a:off x="5232400" y="38100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93" name="Line 29"/>
          <p:cNvSpPr>
            <a:spLocks noChangeShapeType="1"/>
          </p:cNvSpPr>
          <p:nvPr/>
        </p:nvSpPr>
        <p:spPr bwMode="auto">
          <a:xfrm flipH="1">
            <a:off x="5080000" y="2438400"/>
            <a:ext cx="762000" cy="1676400"/>
          </a:xfrm>
          <a:prstGeom prst="line">
            <a:avLst/>
          </a:prstGeom>
          <a:noFill/>
          <a:ln w="31750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6894" name="Line 30"/>
          <p:cNvSpPr>
            <a:spLocks noChangeShapeType="1"/>
          </p:cNvSpPr>
          <p:nvPr/>
        </p:nvSpPr>
        <p:spPr bwMode="auto">
          <a:xfrm>
            <a:off x="6172200" y="3048000"/>
            <a:ext cx="660400" cy="1066800"/>
          </a:xfrm>
          <a:prstGeom prst="line">
            <a:avLst/>
          </a:prstGeom>
          <a:noFill/>
          <a:ln w="317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6895" name="Text Box 31"/>
          <p:cNvSpPr txBox="1">
            <a:spLocks noChangeArrowheads="1"/>
          </p:cNvSpPr>
          <p:nvPr/>
        </p:nvSpPr>
        <p:spPr bwMode="auto">
          <a:xfrm>
            <a:off x="5003800" y="2859088"/>
            <a:ext cx="557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(2)</a:t>
            </a:r>
          </a:p>
        </p:txBody>
      </p:sp>
      <p:sp>
        <p:nvSpPr>
          <p:cNvPr id="36896" name="Text Box 32"/>
          <p:cNvSpPr txBox="1">
            <a:spLocks noChangeArrowheads="1"/>
          </p:cNvSpPr>
          <p:nvPr/>
        </p:nvSpPr>
        <p:spPr bwMode="auto">
          <a:xfrm>
            <a:off x="6527800" y="3200400"/>
            <a:ext cx="557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(1)</a:t>
            </a:r>
          </a:p>
        </p:txBody>
      </p:sp>
      <p:sp>
        <p:nvSpPr>
          <p:cNvPr id="36897" name="Text Box 33"/>
          <p:cNvSpPr txBox="1">
            <a:spLocks noChangeArrowheads="1"/>
          </p:cNvSpPr>
          <p:nvPr/>
        </p:nvSpPr>
        <p:spPr bwMode="auto">
          <a:xfrm>
            <a:off x="709613" y="5105400"/>
            <a:ext cx="8129587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They are the same graph, but they grow in different ways.  </a:t>
            </a:r>
          </a:p>
          <a:p>
            <a:pPr algn="l" eaLnBrk="1" hangingPunct="1"/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The cost to detect them is huge if there are lots of such </a:t>
            </a:r>
          </a:p>
          <a:p>
            <a:pPr algn="l" eaLnBrk="1" hangingPunct="1"/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duplicate growths.</a:t>
            </a: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itchFamily="2" charset="-122"/>
              </a:rPr>
              <a:t>Right-most Extension</a:t>
            </a:r>
          </a:p>
        </p:txBody>
      </p:sp>
      <p:sp>
        <p:nvSpPr>
          <p:cNvPr id="37891" name="Oval 3"/>
          <p:cNvSpPr>
            <a:spLocks noChangeArrowheads="1"/>
          </p:cNvSpPr>
          <p:nvPr/>
        </p:nvSpPr>
        <p:spPr bwMode="auto">
          <a:xfrm>
            <a:off x="1447800" y="21336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2" name="Oval 4"/>
          <p:cNvSpPr>
            <a:spLocks noChangeArrowheads="1"/>
          </p:cNvSpPr>
          <p:nvPr/>
        </p:nvSpPr>
        <p:spPr bwMode="auto">
          <a:xfrm>
            <a:off x="1447800" y="35814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3" name="Oval 5"/>
          <p:cNvSpPr>
            <a:spLocks noChangeArrowheads="1"/>
          </p:cNvSpPr>
          <p:nvPr/>
        </p:nvSpPr>
        <p:spPr bwMode="auto">
          <a:xfrm>
            <a:off x="1447800" y="28194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4" name="Oval 6"/>
          <p:cNvSpPr>
            <a:spLocks noChangeArrowheads="1"/>
          </p:cNvSpPr>
          <p:nvPr/>
        </p:nvSpPr>
        <p:spPr bwMode="auto">
          <a:xfrm>
            <a:off x="1447800" y="43434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5" name="Oval 7"/>
          <p:cNvSpPr>
            <a:spLocks noChangeArrowheads="1"/>
          </p:cNvSpPr>
          <p:nvPr/>
        </p:nvSpPr>
        <p:spPr bwMode="auto">
          <a:xfrm>
            <a:off x="2362200" y="41148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6" name="Line 8"/>
          <p:cNvSpPr>
            <a:spLocks noChangeShapeType="1"/>
          </p:cNvSpPr>
          <p:nvPr/>
        </p:nvSpPr>
        <p:spPr bwMode="auto">
          <a:xfrm>
            <a:off x="1631950" y="2514600"/>
            <a:ext cx="0" cy="3048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897" name="Line 9"/>
          <p:cNvSpPr>
            <a:spLocks noChangeShapeType="1"/>
          </p:cNvSpPr>
          <p:nvPr/>
        </p:nvSpPr>
        <p:spPr bwMode="auto">
          <a:xfrm>
            <a:off x="1631950" y="3200400"/>
            <a:ext cx="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898" name="Line 10"/>
          <p:cNvSpPr>
            <a:spLocks noChangeShapeType="1"/>
          </p:cNvSpPr>
          <p:nvPr/>
        </p:nvSpPr>
        <p:spPr bwMode="auto">
          <a:xfrm>
            <a:off x="1631950" y="3962400"/>
            <a:ext cx="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899" name="Line 11"/>
          <p:cNvSpPr>
            <a:spLocks noChangeShapeType="1"/>
          </p:cNvSpPr>
          <p:nvPr/>
        </p:nvSpPr>
        <p:spPr bwMode="auto">
          <a:xfrm>
            <a:off x="1828800" y="38100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00" name="Oval 12"/>
          <p:cNvSpPr>
            <a:spLocks noChangeArrowheads="1"/>
          </p:cNvSpPr>
          <p:nvPr/>
        </p:nvSpPr>
        <p:spPr bwMode="auto">
          <a:xfrm>
            <a:off x="508000" y="4114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901" name="Line 13"/>
          <p:cNvSpPr>
            <a:spLocks noChangeShapeType="1"/>
          </p:cNvSpPr>
          <p:nvPr/>
        </p:nvSpPr>
        <p:spPr bwMode="auto">
          <a:xfrm flipH="1">
            <a:off x="889000" y="38100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02" name="Line 14"/>
          <p:cNvSpPr>
            <a:spLocks noChangeShapeType="1"/>
          </p:cNvSpPr>
          <p:nvPr/>
        </p:nvSpPr>
        <p:spPr bwMode="auto">
          <a:xfrm flipH="1">
            <a:off x="736600" y="2438400"/>
            <a:ext cx="762000" cy="1676400"/>
          </a:xfrm>
          <a:prstGeom prst="line">
            <a:avLst/>
          </a:prstGeom>
          <a:noFill/>
          <a:ln w="317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7903" name="Line 15"/>
          <p:cNvSpPr>
            <a:spLocks noChangeShapeType="1"/>
          </p:cNvSpPr>
          <p:nvPr/>
        </p:nvSpPr>
        <p:spPr bwMode="auto">
          <a:xfrm>
            <a:off x="1803400" y="3048000"/>
            <a:ext cx="685800" cy="1066800"/>
          </a:xfrm>
          <a:prstGeom prst="line">
            <a:avLst/>
          </a:prstGeom>
          <a:noFill/>
          <a:ln w="31750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7904" name="Text Box 16"/>
          <p:cNvSpPr txBox="1">
            <a:spLocks noChangeArrowheads="1"/>
          </p:cNvSpPr>
          <p:nvPr/>
        </p:nvSpPr>
        <p:spPr bwMode="auto">
          <a:xfrm>
            <a:off x="660400" y="2859088"/>
            <a:ext cx="557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(1)</a:t>
            </a:r>
          </a:p>
        </p:txBody>
      </p:sp>
      <p:sp>
        <p:nvSpPr>
          <p:cNvPr id="37905" name="Text Box 17"/>
          <p:cNvSpPr txBox="1">
            <a:spLocks noChangeArrowheads="1"/>
          </p:cNvSpPr>
          <p:nvPr/>
        </p:nvSpPr>
        <p:spPr bwMode="auto">
          <a:xfrm>
            <a:off x="2133600" y="3200400"/>
            <a:ext cx="557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(2)</a:t>
            </a:r>
          </a:p>
        </p:txBody>
      </p:sp>
      <p:sp>
        <p:nvSpPr>
          <p:cNvPr id="37906" name="Oval 18"/>
          <p:cNvSpPr>
            <a:spLocks noChangeArrowheads="1"/>
          </p:cNvSpPr>
          <p:nvPr/>
        </p:nvSpPr>
        <p:spPr bwMode="auto">
          <a:xfrm>
            <a:off x="4368800" y="21336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907" name="Oval 19"/>
          <p:cNvSpPr>
            <a:spLocks noChangeArrowheads="1"/>
          </p:cNvSpPr>
          <p:nvPr/>
        </p:nvSpPr>
        <p:spPr bwMode="auto">
          <a:xfrm>
            <a:off x="4368800" y="35814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908" name="Oval 20"/>
          <p:cNvSpPr>
            <a:spLocks noChangeArrowheads="1"/>
          </p:cNvSpPr>
          <p:nvPr/>
        </p:nvSpPr>
        <p:spPr bwMode="auto">
          <a:xfrm>
            <a:off x="4368800" y="28194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909" name="Oval 21"/>
          <p:cNvSpPr>
            <a:spLocks noChangeArrowheads="1"/>
          </p:cNvSpPr>
          <p:nvPr/>
        </p:nvSpPr>
        <p:spPr bwMode="auto">
          <a:xfrm>
            <a:off x="4368800" y="43434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910" name="Oval 22"/>
          <p:cNvSpPr>
            <a:spLocks noChangeArrowheads="1"/>
          </p:cNvSpPr>
          <p:nvPr/>
        </p:nvSpPr>
        <p:spPr bwMode="auto">
          <a:xfrm>
            <a:off x="5283200" y="41148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911" name="Line 23"/>
          <p:cNvSpPr>
            <a:spLocks noChangeShapeType="1"/>
          </p:cNvSpPr>
          <p:nvPr/>
        </p:nvSpPr>
        <p:spPr bwMode="auto">
          <a:xfrm>
            <a:off x="4552950" y="2514600"/>
            <a:ext cx="0" cy="3048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12" name="Line 24"/>
          <p:cNvSpPr>
            <a:spLocks noChangeShapeType="1"/>
          </p:cNvSpPr>
          <p:nvPr/>
        </p:nvSpPr>
        <p:spPr bwMode="auto">
          <a:xfrm>
            <a:off x="4552950" y="3200400"/>
            <a:ext cx="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13" name="Line 25"/>
          <p:cNvSpPr>
            <a:spLocks noChangeShapeType="1"/>
          </p:cNvSpPr>
          <p:nvPr/>
        </p:nvSpPr>
        <p:spPr bwMode="auto">
          <a:xfrm>
            <a:off x="4552950" y="3962400"/>
            <a:ext cx="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14" name="Line 26"/>
          <p:cNvSpPr>
            <a:spLocks noChangeShapeType="1"/>
          </p:cNvSpPr>
          <p:nvPr/>
        </p:nvSpPr>
        <p:spPr bwMode="auto">
          <a:xfrm>
            <a:off x="4749800" y="38100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15" name="Oval 27"/>
          <p:cNvSpPr>
            <a:spLocks noChangeArrowheads="1"/>
          </p:cNvSpPr>
          <p:nvPr/>
        </p:nvSpPr>
        <p:spPr bwMode="auto">
          <a:xfrm>
            <a:off x="3429000" y="4114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916" name="Line 28"/>
          <p:cNvSpPr>
            <a:spLocks noChangeShapeType="1"/>
          </p:cNvSpPr>
          <p:nvPr/>
        </p:nvSpPr>
        <p:spPr bwMode="auto">
          <a:xfrm flipH="1">
            <a:off x="3810000" y="38100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17" name="Line 29"/>
          <p:cNvSpPr>
            <a:spLocks noChangeShapeType="1"/>
          </p:cNvSpPr>
          <p:nvPr/>
        </p:nvSpPr>
        <p:spPr bwMode="auto">
          <a:xfrm>
            <a:off x="4749800" y="3048000"/>
            <a:ext cx="660400" cy="1066800"/>
          </a:xfrm>
          <a:prstGeom prst="line">
            <a:avLst/>
          </a:prstGeom>
          <a:noFill/>
          <a:ln w="317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7918" name="Text Box 30"/>
          <p:cNvSpPr txBox="1">
            <a:spLocks noChangeArrowheads="1"/>
          </p:cNvSpPr>
          <p:nvPr/>
        </p:nvSpPr>
        <p:spPr bwMode="auto">
          <a:xfrm>
            <a:off x="5105400" y="3200400"/>
            <a:ext cx="557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(1)</a:t>
            </a:r>
          </a:p>
        </p:txBody>
      </p:sp>
      <p:sp>
        <p:nvSpPr>
          <p:cNvPr id="37919" name="Oval 31"/>
          <p:cNvSpPr>
            <a:spLocks noChangeArrowheads="1"/>
          </p:cNvSpPr>
          <p:nvPr/>
        </p:nvSpPr>
        <p:spPr bwMode="auto">
          <a:xfrm>
            <a:off x="7162800" y="21336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920" name="Oval 32"/>
          <p:cNvSpPr>
            <a:spLocks noChangeArrowheads="1"/>
          </p:cNvSpPr>
          <p:nvPr/>
        </p:nvSpPr>
        <p:spPr bwMode="auto">
          <a:xfrm>
            <a:off x="7162800" y="35814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921" name="Oval 33"/>
          <p:cNvSpPr>
            <a:spLocks noChangeArrowheads="1"/>
          </p:cNvSpPr>
          <p:nvPr/>
        </p:nvSpPr>
        <p:spPr bwMode="auto">
          <a:xfrm>
            <a:off x="7162800" y="28194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922" name="Oval 34"/>
          <p:cNvSpPr>
            <a:spLocks noChangeArrowheads="1"/>
          </p:cNvSpPr>
          <p:nvPr/>
        </p:nvSpPr>
        <p:spPr bwMode="auto">
          <a:xfrm>
            <a:off x="7162800" y="43434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923" name="Oval 35"/>
          <p:cNvSpPr>
            <a:spLocks noChangeArrowheads="1"/>
          </p:cNvSpPr>
          <p:nvPr/>
        </p:nvSpPr>
        <p:spPr bwMode="auto">
          <a:xfrm>
            <a:off x="8077200" y="41148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924" name="Line 36"/>
          <p:cNvSpPr>
            <a:spLocks noChangeShapeType="1"/>
          </p:cNvSpPr>
          <p:nvPr/>
        </p:nvSpPr>
        <p:spPr bwMode="auto">
          <a:xfrm>
            <a:off x="7346950" y="2514600"/>
            <a:ext cx="0" cy="3048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25" name="Line 37"/>
          <p:cNvSpPr>
            <a:spLocks noChangeShapeType="1"/>
          </p:cNvSpPr>
          <p:nvPr/>
        </p:nvSpPr>
        <p:spPr bwMode="auto">
          <a:xfrm>
            <a:off x="7346950" y="3200400"/>
            <a:ext cx="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26" name="Line 38"/>
          <p:cNvSpPr>
            <a:spLocks noChangeShapeType="1"/>
          </p:cNvSpPr>
          <p:nvPr/>
        </p:nvSpPr>
        <p:spPr bwMode="auto">
          <a:xfrm>
            <a:off x="7346950" y="3962400"/>
            <a:ext cx="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27" name="Line 39"/>
          <p:cNvSpPr>
            <a:spLocks noChangeShapeType="1"/>
          </p:cNvSpPr>
          <p:nvPr/>
        </p:nvSpPr>
        <p:spPr bwMode="auto">
          <a:xfrm>
            <a:off x="7543800" y="38100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28" name="Oval 40"/>
          <p:cNvSpPr>
            <a:spLocks noChangeArrowheads="1"/>
          </p:cNvSpPr>
          <p:nvPr/>
        </p:nvSpPr>
        <p:spPr bwMode="auto">
          <a:xfrm>
            <a:off x="6223000" y="4114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929" name="Line 41"/>
          <p:cNvSpPr>
            <a:spLocks noChangeShapeType="1"/>
          </p:cNvSpPr>
          <p:nvPr/>
        </p:nvSpPr>
        <p:spPr bwMode="auto">
          <a:xfrm flipH="1">
            <a:off x="6604000" y="38100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30" name="Line 42"/>
          <p:cNvSpPr>
            <a:spLocks noChangeShapeType="1"/>
          </p:cNvSpPr>
          <p:nvPr/>
        </p:nvSpPr>
        <p:spPr bwMode="auto">
          <a:xfrm flipH="1">
            <a:off x="6451600" y="2438400"/>
            <a:ext cx="762000" cy="1676400"/>
          </a:xfrm>
          <a:prstGeom prst="line">
            <a:avLst/>
          </a:prstGeom>
          <a:noFill/>
          <a:ln w="31750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7931" name="Line 43"/>
          <p:cNvSpPr>
            <a:spLocks noChangeShapeType="1"/>
          </p:cNvSpPr>
          <p:nvPr/>
        </p:nvSpPr>
        <p:spPr bwMode="auto">
          <a:xfrm>
            <a:off x="7543800" y="3048000"/>
            <a:ext cx="660400" cy="1066800"/>
          </a:xfrm>
          <a:prstGeom prst="line">
            <a:avLst/>
          </a:prstGeom>
          <a:noFill/>
          <a:ln w="317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7932" name="Text Box 44"/>
          <p:cNvSpPr txBox="1">
            <a:spLocks noChangeArrowheads="1"/>
          </p:cNvSpPr>
          <p:nvPr/>
        </p:nvSpPr>
        <p:spPr bwMode="auto">
          <a:xfrm>
            <a:off x="6375400" y="2859088"/>
            <a:ext cx="557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(2)</a:t>
            </a:r>
          </a:p>
        </p:txBody>
      </p:sp>
      <p:sp>
        <p:nvSpPr>
          <p:cNvPr id="37933" name="Text Box 45"/>
          <p:cNvSpPr txBox="1">
            <a:spLocks noChangeArrowheads="1"/>
          </p:cNvSpPr>
          <p:nvPr/>
        </p:nvSpPr>
        <p:spPr bwMode="auto">
          <a:xfrm>
            <a:off x="7899400" y="3200400"/>
            <a:ext cx="557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(1)</a:t>
            </a:r>
          </a:p>
        </p:txBody>
      </p:sp>
      <p:sp>
        <p:nvSpPr>
          <p:cNvPr id="37934" name="Line 46"/>
          <p:cNvSpPr>
            <a:spLocks noChangeShapeType="1"/>
          </p:cNvSpPr>
          <p:nvPr/>
        </p:nvSpPr>
        <p:spPr bwMode="auto">
          <a:xfrm>
            <a:off x="5715000" y="1905000"/>
            <a:ext cx="2971800" cy="3276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7935" name="Line 47"/>
          <p:cNvSpPr>
            <a:spLocks noChangeShapeType="1"/>
          </p:cNvSpPr>
          <p:nvPr/>
        </p:nvSpPr>
        <p:spPr bwMode="auto">
          <a:xfrm flipH="1">
            <a:off x="5867400" y="1752600"/>
            <a:ext cx="2590800" cy="358140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7936" name="Text Box 48"/>
          <p:cNvSpPr txBox="1">
            <a:spLocks noChangeArrowheads="1"/>
          </p:cNvSpPr>
          <p:nvPr/>
        </p:nvSpPr>
        <p:spPr bwMode="auto">
          <a:xfrm>
            <a:off x="5297488" y="5715000"/>
            <a:ext cx="38465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We will never generate this</a:t>
            </a:r>
          </a:p>
        </p:txBody>
      </p:sp>
      <p:sp>
        <p:nvSpPr>
          <p:cNvPr id="37937" name="Rectangle 49"/>
          <p:cNvSpPr>
            <a:spLocks noChangeArrowheads="1"/>
          </p:cNvSpPr>
          <p:nvPr/>
        </p:nvSpPr>
        <p:spPr bwMode="auto">
          <a:xfrm>
            <a:off x="838200" y="4876800"/>
            <a:ext cx="4114800" cy="1370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Theorem: </a:t>
            </a:r>
          </a:p>
          <a:p>
            <a:pPr lvl="1" algn="l" eaLnBrk="1" hangingPunct="1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Any graph can be grown by right-most extension</a:t>
            </a: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itchFamily="2" charset="-122"/>
              </a:rPr>
              <a:t>Search Space in gSpan</a:t>
            </a:r>
          </a:p>
        </p:txBody>
      </p:sp>
      <p:sp>
        <p:nvSpPr>
          <p:cNvPr id="38915" name="Oval 3"/>
          <p:cNvSpPr>
            <a:spLocks noChangeArrowheads="1"/>
          </p:cNvSpPr>
          <p:nvPr/>
        </p:nvSpPr>
        <p:spPr bwMode="auto">
          <a:xfrm>
            <a:off x="5233988" y="1905000"/>
            <a:ext cx="3048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8916" name="Oval 4"/>
          <p:cNvSpPr>
            <a:spLocks noChangeArrowheads="1"/>
          </p:cNvSpPr>
          <p:nvPr/>
        </p:nvSpPr>
        <p:spPr bwMode="auto">
          <a:xfrm>
            <a:off x="3786188" y="2514600"/>
            <a:ext cx="3048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8917" name="Oval 5"/>
          <p:cNvSpPr>
            <a:spLocks noChangeArrowheads="1"/>
          </p:cNvSpPr>
          <p:nvPr/>
        </p:nvSpPr>
        <p:spPr bwMode="auto">
          <a:xfrm>
            <a:off x="5233988" y="2514600"/>
            <a:ext cx="3048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8918" name="Oval 6"/>
          <p:cNvSpPr>
            <a:spLocks noChangeArrowheads="1"/>
          </p:cNvSpPr>
          <p:nvPr/>
        </p:nvSpPr>
        <p:spPr bwMode="auto">
          <a:xfrm>
            <a:off x="7291388" y="2514600"/>
            <a:ext cx="3048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8919" name="Text Box 7"/>
          <p:cNvSpPr txBox="1">
            <a:spLocks noChangeArrowheads="1"/>
          </p:cNvSpPr>
          <p:nvPr/>
        </p:nvSpPr>
        <p:spPr bwMode="auto">
          <a:xfrm>
            <a:off x="5995988" y="2286000"/>
            <a:ext cx="50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38920" name="Line 8"/>
          <p:cNvSpPr>
            <a:spLocks noChangeShapeType="1"/>
          </p:cNvSpPr>
          <p:nvPr/>
        </p:nvSpPr>
        <p:spPr bwMode="auto">
          <a:xfrm flipH="1">
            <a:off x="4014788" y="2057400"/>
            <a:ext cx="1219200" cy="457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21" name="Line 9"/>
          <p:cNvSpPr>
            <a:spLocks noChangeShapeType="1"/>
          </p:cNvSpPr>
          <p:nvPr/>
        </p:nvSpPr>
        <p:spPr bwMode="auto">
          <a:xfrm>
            <a:off x="5386388" y="2133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22" name="Line 10"/>
          <p:cNvSpPr>
            <a:spLocks noChangeShapeType="1"/>
          </p:cNvSpPr>
          <p:nvPr/>
        </p:nvSpPr>
        <p:spPr bwMode="auto">
          <a:xfrm>
            <a:off x="5462588" y="21336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23" name="Line 11"/>
          <p:cNvSpPr>
            <a:spLocks noChangeShapeType="1"/>
          </p:cNvSpPr>
          <p:nvPr/>
        </p:nvSpPr>
        <p:spPr bwMode="auto">
          <a:xfrm>
            <a:off x="5538788" y="2057400"/>
            <a:ext cx="1828800" cy="457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24" name="Oval 12"/>
          <p:cNvSpPr>
            <a:spLocks noChangeArrowheads="1"/>
          </p:cNvSpPr>
          <p:nvPr/>
        </p:nvSpPr>
        <p:spPr bwMode="auto">
          <a:xfrm>
            <a:off x="2719388" y="3352800"/>
            <a:ext cx="3048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8925" name="Oval 13"/>
          <p:cNvSpPr>
            <a:spLocks noChangeArrowheads="1"/>
          </p:cNvSpPr>
          <p:nvPr/>
        </p:nvSpPr>
        <p:spPr bwMode="auto">
          <a:xfrm>
            <a:off x="3481388" y="3352800"/>
            <a:ext cx="3048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8926" name="Oval 14"/>
          <p:cNvSpPr>
            <a:spLocks noChangeArrowheads="1"/>
          </p:cNvSpPr>
          <p:nvPr/>
        </p:nvSpPr>
        <p:spPr bwMode="auto">
          <a:xfrm>
            <a:off x="5005388" y="3352800"/>
            <a:ext cx="3048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8927" name="Text Box 15"/>
          <p:cNvSpPr txBox="1">
            <a:spLocks noChangeArrowheads="1"/>
          </p:cNvSpPr>
          <p:nvPr/>
        </p:nvSpPr>
        <p:spPr bwMode="auto">
          <a:xfrm>
            <a:off x="3938588" y="3138488"/>
            <a:ext cx="50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38928" name="Oval 16"/>
          <p:cNvSpPr>
            <a:spLocks noChangeArrowheads="1"/>
          </p:cNvSpPr>
          <p:nvPr/>
        </p:nvSpPr>
        <p:spPr bwMode="auto">
          <a:xfrm>
            <a:off x="5538788" y="3352800"/>
            <a:ext cx="3048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8929" name="Text Box 17"/>
          <p:cNvSpPr txBox="1">
            <a:spLocks noChangeArrowheads="1"/>
          </p:cNvSpPr>
          <p:nvPr/>
        </p:nvSpPr>
        <p:spPr bwMode="auto">
          <a:xfrm>
            <a:off x="6148388" y="3138488"/>
            <a:ext cx="50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38930" name="Line 18"/>
          <p:cNvSpPr>
            <a:spLocks noChangeShapeType="1"/>
          </p:cNvSpPr>
          <p:nvPr/>
        </p:nvSpPr>
        <p:spPr bwMode="auto">
          <a:xfrm flipH="1">
            <a:off x="2947988" y="2743200"/>
            <a:ext cx="91440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31" name="Line 19"/>
          <p:cNvSpPr>
            <a:spLocks noChangeShapeType="1"/>
          </p:cNvSpPr>
          <p:nvPr/>
        </p:nvSpPr>
        <p:spPr bwMode="auto">
          <a:xfrm flipH="1">
            <a:off x="3557588" y="2743200"/>
            <a:ext cx="30480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32" name="Line 20"/>
          <p:cNvSpPr>
            <a:spLocks noChangeShapeType="1"/>
          </p:cNvSpPr>
          <p:nvPr/>
        </p:nvSpPr>
        <p:spPr bwMode="auto">
          <a:xfrm>
            <a:off x="3938588" y="2743200"/>
            <a:ext cx="22860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33" name="Line 21"/>
          <p:cNvSpPr>
            <a:spLocks noChangeShapeType="1"/>
          </p:cNvSpPr>
          <p:nvPr/>
        </p:nvSpPr>
        <p:spPr bwMode="auto">
          <a:xfrm flipH="1">
            <a:off x="5157788" y="2743200"/>
            <a:ext cx="22860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34" name="Line 22"/>
          <p:cNvSpPr>
            <a:spLocks noChangeShapeType="1"/>
          </p:cNvSpPr>
          <p:nvPr/>
        </p:nvSpPr>
        <p:spPr bwMode="auto">
          <a:xfrm>
            <a:off x="5386388" y="2743200"/>
            <a:ext cx="30480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35" name="Line 23"/>
          <p:cNvSpPr>
            <a:spLocks noChangeShapeType="1"/>
          </p:cNvSpPr>
          <p:nvPr/>
        </p:nvSpPr>
        <p:spPr bwMode="auto">
          <a:xfrm>
            <a:off x="5462588" y="2743200"/>
            <a:ext cx="83820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36" name="Text Box 24"/>
          <p:cNvSpPr txBox="1">
            <a:spLocks noChangeArrowheads="1"/>
          </p:cNvSpPr>
          <p:nvPr/>
        </p:nvSpPr>
        <p:spPr bwMode="auto">
          <a:xfrm>
            <a:off x="2109788" y="2262188"/>
            <a:ext cx="1119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1-edge</a:t>
            </a:r>
            <a:endParaRPr lang="en-US" altLang="zh-CN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937" name="Text Box 25"/>
          <p:cNvSpPr txBox="1">
            <a:spLocks noChangeArrowheads="1"/>
          </p:cNvSpPr>
          <p:nvPr/>
        </p:nvSpPr>
        <p:spPr bwMode="auto">
          <a:xfrm>
            <a:off x="1347788" y="3100388"/>
            <a:ext cx="1119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2-edge</a:t>
            </a:r>
            <a:endParaRPr lang="en-US" altLang="zh-CN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938" name="Oval 26"/>
          <p:cNvSpPr>
            <a:spLocks noChangeArrowheads="1"/>
          </p:cNvSpPr>
          <p:nvPr/>
        </p:nvSpPr>
        <p:spPr bwMode="auto">
          <a:xfrm>
            <a:off x="2033588" y="4114800"/>
            <a:ext cx="3048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8939" name="Oval 27"/>
          <p:cNvSpPr>
            <a:spLocks noChangeArrowheads="1"/>
          </p:cNvSpPr>
          <p:nvPr/>
        </p:nvSpPr>
        <p:spPr bwMode="auto">
          <a:xfrm>
            <a:off x="2795588" y="4114800"/>
            <a:ext cx="3048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8940" name="Text Box 28"/>
          <p:cNvSpPr txBox="1">
            <a:spLocks noChangeArrowheads="1"/>
          </p:cNvSpPr>
          <p:nvPr/>
        </p:nvSpPr>
        <p:spPr bwMode="auto">
          <a:xfrm>
            <a:off x="3252788" y="3900488"/>
            <a:ext cx="50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38941" name="Line 29"/>
          <p:cNvSpPr>
            <a:spLocks noChangeShapeType="1"/>
          </p:cNvSpPr>
          <p:nvPr/>
        </p:nvSpPr>
        <p:spPr bwMode="auto">
          <a:xfrm flipH="1">
            <a:off x="2262188" y="3581400"/>
            <a:ext cx="45720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42" name="Line 30"/>
          <p:cNvSpPr>
            <a:spLocks noChangeShapeType="1"/>
          </p:cNvSpPr>
          <p:nvPr/>
        </p:nvSpPr>
        <p:spPr bwMode="auto">
          <a:xfrm>
            <a:off x="2871788" y="3581400"/>
            <a:ext cx="7620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43" name="Line 31"/>
          <p:cNvSpPr>
            <a:spLocks noChangeShapeType="1"/>
          </p:cNvSpPr>
          <p:nvPr/>
        </p:nvSpPr>
        <p:spPr bwMode="auto">
          <a:xfrm>
            <a:off x="2947988" y="358140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44" name="Text Box 32"/>
          <p:cNvSpPr txBox="1">
            <a:spLocks noChangeArrowheads="1"/>
          </p:cNvSpPr>
          <p:nvPr/>
        </p:nvSpPr>
        <p:spPr bwMode="auto">
          <a:xfrm>
            <a:off x="990600" y="3962400"/>
            <a:ext cx="1119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3-edge</a:t>
            </a:r>
            <a:endParaRPr lang="en-US" altLang="zh-CN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945" name="Oval 33"/>
          <p:cNvSpPr>
            <a:spLocks noChangeArrowheads="1"/>
          </p:cNvSpPr>
          <p:nvPr/>
        </p:nvSpPr>
        <p:spPr bwMode="auto">
          <a:xfrm>
            <a:off x="4573588" y="4038600"/>
            <a:ext cx="3048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8946" name="Oval 34"/>
          <p:cNvSpPr>
            <a:spLocks noChangeArrowheads="1"/>
          </p:cNvSpPr>
          <p:nvPr/>
        </p:nvSpPr>
        <p:spPr bwMode="auto">
          <a:xfrm>
            <a:off x="5335588" y="4038600"/>
            <a:ext cx="3048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8947" name="Text Box 35"/>
          <p:cNvSpPr txBox="1">
            <a:spLocks noChangeArrowheads="1"/>
          </p:cNvSpPr>
          <p:nvPr/>
        </p:nvSpPr>
        <p:spPr bwMode="auto">
          <a:xfrm>
            <a:off x="5792788" y="3824288"/>
            <a:ext cx="50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38948" name="Line 36"/>
          <p:cNvSpPr>
            <a:spLocks noChangeShapeType="1"/>
          </p:cNvSpPr>
          <p:nvPr/>
        </p:nvSpPr>
        <p:spPr bwMode="auto">
          <a:xfrm flipH="1">
            <a:off x="4700588" y="3581400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49" name="Line 37"/>
          <p:cNvSpPr>
            <a:spLocks noChangeShapeType="1"/>
          </p:cNvSpPr>
          <p:nvPr/>
        </p:nvSpPr>
        <p:spPr bwMode="auto">
          <a:xfrm>
            <a:off x="5157788" y="3581400"/>
            <a:ext cx="304800" cy="457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50" name="Oval 38"/>
          <p:cNvSpPr>
            <a:spLocks noChangeArrowheads="1"/>
          </p:cNvSpPr>
          <p:nvPr/>
        </p:nvSpPr>
        <p:spPr bwMode="auto">
          <a:xfrm>
            <a:off x="1296988" y="4953000"/>
            <a:ext cx="3048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8951" name="Oval 39"/>
          <p:cNvSpPr>
            <a:spLocks noChangeArrowheads="1"/>
          </p:cNvSpPr>
          <p:nvPr/>
        </p:nvSpPr>
        <p:spPr bwMode="auto">
          <a:xfrm>
            <a:off x="2058988" y="4953000"/>
            <a:ext cx="3048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8952" name="Text Box 40"/>
          <p:cNvSpPr txBox="1">
            <a:spLocks noChangeArrowheads="1"/>
          </p:cNvSpPr>
          <p:nvPr/>
        </p:nvSpPr>
        <p:spPr bwMode="auto">
          <a:xfrm>
            <a:off x="2516188" y="4738688"/>
            <a:ext cx="50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38953" name="Line 41"/>
          <p:cNvSpPr>
            <a:spLocks noChangeShapeType="1"/>
          </p:cNvSpPr>
          <p:nvPr/>
        </p:nvSpPr>
        <p:spPr bwMode="auto">
          <a:xfrm flipH="1">
            <a:off x="1500188" y="43434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54" name="Line 42"/>
          <p:cNvSpPr>
            <a:spLocks noChangeShapeType="1"/>
          </p:cNvSpPr>
          <p:nvPr/>
        </p:nvSpPr>
        <p:spPr bwMode="auto">
          <a:xfrm>
            <a:off x="2185988" y="4343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55" name="Line 43"/>
          <p:cNvSpPr>
            <a:spLocks noChangeShapeType="1"/>
          </p:cNvSpPr>
          <p:nvPr/>
        </p:nvSpPr>
        <p:spPr bwMode="auto">
          <a:xfrm>
            <a:off x="2262188" y="43434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56" name="Text Box 44"/>
          <p:cNvSpPr txBox="1">
            <a:spLocks noChangeArrowheads="1"/>
          </p:cNvSpPr>
          <p:nvPr/>
        </p:nvSpPr>
        <p:spPr bwMode="auto">
          <a:xfrm>
            <a:off x="1220788" y="5257800"/>
            <a:ext cx="50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38957" name="Oval 45"/>
          <p:cNvSpPr>
            <a:spLocks noChangeArrowheads="1"/>
          </p:cNvSpPr>
          <p:nvPr/>
        </p:nvSpPr>
        <p:spPr bwMode="auto">
          <a:xfrm>
            <a:off x="4116388" y="4938713"/>
            <a:ext cx="3048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8958" name="Oval 46"/>
          <p:cNvSpPr>
            <a:spLocks noChangeArrowheads="1"/>
          </p:cNvSpPr>
          <p:nvPr/>
        </p:nvSpPr>
        <p:spPr bwMode="auto">
          <a:xfrm>
            <a:off x="4878388" y="4938713"/>
            <a:ext cx="3048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8959" name="Text Box 47"/>
          <p:cNvSpPr txBox="1">
            <a:spLocks noChangeArrowheads="1"/>
          </p:cNvSpPr>
          <p:nvPr/>
        </p:nvSpPr>
        <p:spPr bwMode="auto">
          <a:xfrm>
            <a:off x="5335588" y="4724400"/>
            <a:ext cx="50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38960" name="Line 48"/>
          <p:cNvSpPr>
            <a:spLocks noChangeShapeType="1"/>
          </p:cNvSpPr>
          <p:nvPr/>
        </p:nvSpPr>
        <p:spPr bwMode="auto">
          <a:xfrm flipH="1">
            <a:off x="4319588" y="4267200"/>
            <a:ext cx="381000" cy="685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61" name="Line 49"/>
          <p:cNvSpPr>
            <a:spLocks noChangeShapeType="1"/>
          </p:cNvSpPr>
          <p:nvPr/>
        </p:nvSpPr>
        <p:spPr bwMode="auto">
          <a:xfrm>
            <a:off x="4700588" y="4267200"/>
            <a:ext cx="304800" cy="685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62" name="Line 50"/>
          <p:cNvSpPr>
            <a:spLocks noChangeShapeType="1"/>
          </p:cNvSpPr>
          <p:nvPr/>
        </p:nvSpPr>
        <p:spPr bwMode="auto">
          <a:xfrm>
            <a:off x="4776788" y="4267200"/>
            <a:ext cx="685800" cy="762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63" name="Text Box 51"/>
          <p:cNvSpPr txBox="1">
            <a:spLocks noChangeArrowheads="1"/>
          </p:cNvSpPr>
          <p:nvPr/>
        </p:nvSpPr>
        <p:spPr bwMode="auto">
          <a:xfrm>
            <a:off x="4659313" y="3124200"/>
            <a:ext cx="422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G</a:t>
            </a:r>
            <a:endParaRPr lang="en-US" altLang="zh-CN" sz="20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964" name="Text Box 52"/>
          <p:cNvSpPr txBox="1">
            <a:spLocks noChangeArrowheads="1"/>
          </p:cNvSpPr>
          <p:nvPr/>
        </p:nvSpPr>
        <p:spPr bwMode="auto">
          <a:xfrm>
            <a:off x="4014788" y="3886200"/>
            <a:ext cx="584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G</a:t>
            </a:r>
            <a:r>
              <a:rPr lang="en-US" altLang="zh-CN" sz="20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8965" name="Text Box 53"/>
          <p:cNvSpPr txBox="1">
            <a:spLocks noChangeArrowheads="1"/>
          </p:cNvSpPr>
          <p:nvPr/>
        </p:nvSpPr>
        <p:spPr bwMode="auto">
          <a:xfrm>
            <a:off x="6350000" y="3886200"/>
            <a:ext cx="584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G</a:t>
            </a:r>
            <a:r>
              <a:rPr lang="en-US" altLang="zh-CN" sz="2000" b="1">
                <a:latin typeface="Tahoma" panose="020B0604030504040204" pitchFamily="34" charset="0"/>
                <a:ea typeface="宋体" panose="02010600030101010101" pitchFamily="2" charset="-122"/>
              </a:rPr>
              <a:t>n</a:t>
            </a: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021638" cy="762000"/>
          </a:xfrm>
        </p:spPr>
        <p:txBody>
          <a:bodyPr/>
          <a:lstStyle/>
          <a:p>
            <a:pPr>
              <a:defRPr/>
            </a:pPr>
            <a:r>
              <a:rPr lang="en-US" altLang="zh-CN">
                <a:ea typeface="宋体" pitchFamily="2" charset="-122"/>
              </a:rPr>
              <a:t>DFS Code</a:t>
            </a:r>
          </a:p>
        </p:txBody>
      </p:sp>
      <p:grpSp>
        <p:nvGrpSpPr>
          <p:cNvPr id="2055" name="Group 20"/>
          <p:cNvGrpSpPr>
            <a:grpSpLocks/>
          </p:cNvGrpSpPr>
          <p:nvPr/>
        </p:nvGrpSpPr>
        <p:grpSpPr bwMode="auto">
          <a:xfrm>
            <a:off x="2339975" y="2586038"/>
            <a:ext cx="4916488" cy="1390650"/>
            <a:chOff x="2064" y="1332"/>
            <a:chExt cx="3097" cy="876"/>
          </a:xfrm>
        </p:grpSpPr>
        <p:sp>
          <p:nvSpPr>
            <p:cNvPr id="2082" name="Oval 21"/>
            <p:cNvSpPr>
              <a:spLocks noChangeArrowheads="1"/>
            </p:cNvSpPr>
            <p:nvPr/>
          </p:nvSpPr>
          <p:spPr bwMode="auto">
            <a:xfrm>
              <a:off x="2208" y="1536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zh-CN" sz="2800">
                  <a:latin typeface="Tahoma" panose="020B0604030504040204" pitchFamily="34" charset="0"/>
                  <a:ea typeface="宋体" panose="02010600030101010101" pitchFamily="2" charset="-122"/>
                </a:rPr>
                <a:t>X</a:t>
              </a:r>
            </a:p>
          </p:txBody>
        </p:sp>
        <p:grpSp>
          <p:nvGrpSpPr>
            <p:cNvPr id="2083" name="Group 22"/>
            <p:cNvGrpSpPr>
              <a:grpSpLocks/>
            </p:cNvGrpSpPr>
            <p:nvPr/>
          </p:nvGrpSpPr>
          <p:grpSpPr bwMode="auto">
            <a:xfrm>
              <a:off x="2064" y="1680"/>
              <a:ext cx="384" cy="528"/>
              <a:chOff x="2064" y="1680"/>
              <a:chExt cx="384" cy="528"/>
            </a:xfrm>
          </p:grpSpPr>
          <p:sp>
            <p:nvSpPr>
              <p:cNvPr id="2085" name="Oval 23"/>
              <p:cNvSpPr>
                <a:spLocks noChangeArrowheads="1"/>
              </p:cNvSpPr>
              <p:nvPr/>
            </p:nvSpPr>
            <p:spPr bwMode="auto">
              <a:xfrm>
                <a:off x="2208" y="1968"/>
                <a:ext cx="240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altLang="zh-CN" sz="2800">
                    <a:latin typeface="Tahoma" panose="020B0604030504040204" pitchFamily="34" charset="0"/>
                    <a:ea typeface="宋体" panose="02010600030101010101" pitchFamily="2" charset="-122"/>
                  </a:rPr>
                  <a:t>X</a:t>
                </a:r>
              </a:p>
            </p:txBody>
          </p:sp>
          <p:sp>
            <p:nvSpPr>
              <p:cNvPr id="2086" name="Line 24"/>
              <p:cNvSpPr>
                <a:spLocks noChangeShapeType="1"/>
              </p:cNvSpPr>
              <p:nvPr/>
            </p:nvSpPr>
            <p:spPr bwMode="auto">
              <a:xfrm>
                <a:off x="2324" y="1776"/>
                <a:ext cx="0" cy="192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87" name="Text Box 25"/>
              <p:cNvSpPr txBox="1">
                <a:spLocks noChangeArrowheads="1"/>
              </p:cNvSpPr>
              <p:nvPr/>
            </p:nvSpPr>
            <p:spPr bwMode="auto">
              <a:xfrm>
                <a:off x="2064" y="1680"/>
                <a:ext cx="23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1" hangingPunct="1"/>
                <a:r>
                  <a:rPr lang="en-US" altLang="zh-CN" sz="2800">
                    <a:latin typeface="Tahoma" panose="020B0604030504040204" pitchFamily="34" charset="0"/>
                    <a:ea typeface="宋体" panose="02010600030101010101" pitchFamily="2" charset="-122"/>
                  </a:rPr>
                  <a:t>a</a:t>
                </a:r>
              </a:p>
            </p:txBody>
          </p:sp>
        </p:grpSp>
        <p:sp>
          <p:nvSpPr>
            <p:cNvPr id="2084" name="Text Box 26"/>
            <p:cNvSpPr txBox="1">
              <a:spLocks noChangeArrowheads="1"/>
            </p:cNvSpPr>
            <p:nvPr/>
          </p:nvSpPr>
          <p:spPr bwMode="auto">
            <a:xfrm>
              <a:off x="3590" y="1332"/>
              <a:ext cx="157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/>
              <a:r>
                <a:rPr lang="en-US" altLang="zh-CN" sz="2800">
                  <a:latin typeface="Tahoma" panose="020B0604030504040204" pitchFamily="34" charset="0"/>
                  <a:ea typeface="宋体" panose="02010600030101010101" pitchFamily="2" charset="-122"/>
                </a:rPr>
                <a:t>e0: (0,1,X,a,X)</a:t>
              </a:r>
            </a:p>
          </p:txBody>
        </p:sp>
      </p:grpSp>
      <p:grpSp>
        <p:nvGrpSpPr>
          <p:cNvPr id="2056" name="Group 27"/>
          <p:cNvGrpSpPr>
            <a:grpSpLocks/>
          </p:cNvGrpSpPr>
          <p:nvPr/>
        </p:nvGrpSpPr>
        <p:grpSpPr bwMode="auto">
          <a:xfrm>
            <a:off x="2416175" y="3290888"/>
            <a:ext cx="4854575" cy="1447800"/>
            <a:chOff x="2112" y="1776"/>
            <a:chExt cx="3058" cy="912"/>
          </a:xfrm>
        </p:grpSpPr>
        <p:grpSp>
          <p:nvGrpSpPr>
            <p:cNvPr id="2077" name="Group 28"/>
            <p:cNvGrpSpPr>
              <a:grpSpLocks/>
            </p:cNvGrpSpPr>
            <p:nvPr/>
          </p:nvGrpSpPr>
          <p:grpSpPr bwMode="auto">
            <a:xfrm>
              <a:off x="2112" y="2121"/>
              <a:ext cx="336" cy="567"/>
              <a:chOff x="2112" y="2121"/>
              <a:chExt cx="336" cy="567"/>
            </a:xfrm>
          </p:grpSpPr>
          <p:sp>
            <p:nvSpPr>
              <p:cNvPr id="2079" name="Oval 29"/>
              <p:cNvSpPr>
                <a:spLocks noChangeArrowheads="1"/>
              </p:cNvSpPr>
              <p:nvPr/>
            </p:nvSpPr>
            <p:spPr bwMode="auto">
              <a:xfrm>
                <a:off x="2208" y="2448"/>
                <a:ext cx="240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altLang="zh-CN" sz="2800">
                    <a:latin typeface="Tahoma" panose="020B0604030504040204" pitchFamily="34" charset="0"/>
                    <a:ea typeface="宋体" panose="02010600030101010101" pitchFamily="2" charset="-122"/>
                  </a:rPr>
                  <a:t>Y</a:t>
                </a:r>
              </a:p>
            </p:txBody>
          </p:sp>
          <p:sp>
            <p:nvSpPr>
              <p:cNvPr id="2080" name="Line 30"/>
              <p:cNvSpPr>
                <a:spLocks noChangeShapeType="1"/>
              </p:cNvSpPr>
              <p:nvPr/>
            </p:nvSpPr>
            <p:spPr bwMode="auto">
              <a:xfrm>
                <a:off x="2324" y="2208"/>
                <a:ext cx="0" cy="240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81" name="Text Box 31"/>
              <p:cNvSpPr txBox="1">
                <a:spLocks noChangeArrowheads="1"/>
              </p:cNvSpPr>
              <p:nvPr/>
            </p:nvSpPr>
            <p:spPr bwMode="auto">
              <a:xfrm>
                <a:off x="2112" y="2121"/>
                <a:ext cx="23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1" hangingPunct="1"/>
                <a:r>
                  <a:rPr lang="en-US" altLang="zh-CN" sz="2800">
                    <a:latin typeface="Tahoma" panose="020B0604030504040204" pitchFamily="34" charset="0"/>
                    <a:ea typeface="宋体" panose="02010600030101010101" pitchFamily="2" charset="-122"/>
                  </a:rPr>
                  <a:t>a</a:t>
                </a:r>
              </a:p>
            </p:txBody>
          </p:sp>
        </p:grpSp>
        <p:sp>
          <p:nvSpPr>
            <p:cNvPr id="2078" name="Text Box 32"/>
            <p:cNvSpPr txBox="1">
              <a:spLocks noChangeArrowheads="1"/>
            </p:cNvSpPr>
            <p:nvPr/>
          </p:nvSpPr>
          <p:spPr bwMode="auto">
            <a:xfrm>
              <a:off x="3600" y="1776"/>
              <a:ext cx="157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/>
              <a:r>
                <a:rPr lang="en-US" altLang="zh-CN" sz="2800">
                  <a:latin typeface="Tahoma" panose="020B0604030504040204" pitchFamily="34" charset="0"/>
                  <a:ea typeface="宋体" panose="02010600030101010101" pitchFamily="2" charset="-122"/>
                </a:rPr>
                <a:t>e1: (1,2,X,a,Y)</a:t>
              </a:r>
            </a:p>
          </p:txBody>
        </p:sp>
      </p:grpSp>
      <p:grpSp>
        <p:nvGrpSpPr>
          <p:cNvPr id="2057" name="Group 33"/>
          <p:cNvGrpSpPr>
            <a:grpSpLocks/>
          </p:cNvGrpSpPr>
          <p:nvPr/>
        </p:nvGrpSpPr>
        <p:grpSpPr bwMode="auto">
          <a:xfrm>
            <a:off x="2949575" y="3214688"/>
            <a:ext cx="4330700" cy="1295400"/>
            <a:chOff x="2448" y="1728"/>
            <a:chExt cx="2728" cy="816"/>
          </a:xfrm>
        </p:grpSpPr>
        <p:grpSp>
          <p:nvGrpSpPr>
            <p:cNvPr id="2073" name="Group 34"/>
            <p:cNvGrpSpPr>
              <a:grpSpLocks/>
            </p:cNvGrpSpPr>
            <p:nvPr/>
          </p:nvGrpSpPr>
          <p:grpSpPr bwMode="auto">
            <a:xfrm>
              <a:off x="2448" y="1728"/>
              <a:ext cx="480" cy="816"/>
              <a:chOff x="2448" y="1728"/>
              <a:chExt cx="480" cy="816"/>
            </a:xfrm>
          </p:grpSpPr>
          <p:sp>
            <p:nvSpPr>
              <p:cNvPr id="2075" name="Freeform 35"/>
              <p:cNvSpPr>
                <a:spLocks/>
              </p:cNvSpPr>
              <p:nvPr/>
            </p:nvSpPr>
            <p:spPr bwMode="auto">
              <a:xfrm>
                <a:off x="2448" y="1728"/>
                <a:ext cx="240" cy="816"/>
              </a:xfrm>
              <a:custGeom>
                <a:avLst/>
                <a:gdLst>
                  <a:gd name="T0" fmla="*/ 0 w 240"/>
                  <a:gd name="T1" fmla="*/ 816 h 816"/>
                  <a:gd name="T2" fmla="*/ 240 w 240"/>
                  <a:gd name="T3" fmla="*/ 288 h 816"/>
                  <a:gd name="T4" fmla="*/ 0 w 240"/>
                  <a:gd name="T5" fmla="*/ 0 h 816"/>
                  <a:gd name="T6" fmla="*/ 0 60000 65536"/>
                  <a:gd name="T7" fmla="*/ 0 60000 65536"/>
                  <a:gd name="T8" fmla="*/ 0 60000 65536"/>
                  <a:gd name="T9" fmla="*/ 0 w 240"/>
                  <a:gd name="T10" fmla="*/ 0 h 816"/>
                  <a:gd name="T11" fmla="*/ 240 w 240"/>
                  <a:gd name="T12" fmla="*/ 816 h 81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0" h="816">
                    <a:moveTo>
                      <a:pt x="0" y="816"/>
                    </a:moveTo>
                    <a:cubicBezTo>
                      <a:pt x="120" y="620"/>
                      <a:pt x="240" y="424"/>
                      <a:pt x="240" y="288"/>
                    </a:cubicBezTo>
                    <a:cubicBezTo>
                      <a:pt x="240" y="152"/>
                      <a:pt x="120" y="76"/>
                      <a:pt x="0" y="0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076" name="Text Box 36"/>
              <p:cNvSpPr txBox="1">
                <a:spLocks noChangeArrowheads="1"/>
              </p:cNvSpPr>
              <p:nvPr/>
            </p:nvSpPr>
            <p:spPr bwMode="auto">
              <a:xfrm>
                <a:off x="2688" y="1728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1" hangingPunct="1"/>
                <a:r>
                  <a:rPr lang="en-US" altLang="zh-CN" sz="2800">
                    <a:latin typeface="Tahoma" panose="020B0604030504040204" pitchFamily="34" charset="0"/>
                    <a:ea typeface="宋体" panose="02010600030101010101" pitchFamily="2" charset="-122"/>
                  </a:rPr>
                  <a:t>b</a:t>
                </a:r>
              </a:p>
            </p:txBody>
          </p:sp>
        </p:grpSp>
        <p:sp>
          <p:nvSpPr>
            <p:cNvPr id="2074" name="Text Box 37"/>
            <p:cNvSpPr txBox="1">
              <a:spLocks noChangeArrowheads="1"/>
            </p:cNvSpPr>
            <p:nvPr/>
          </p:nvSpPr>
          <p:spPr bwMode="auto">
            <a:xfrm>
              <a:off x="3600" y="2217"/>
              <a:ext cx="157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/>
              <a:r>
                <a:rPr lang="en-US" altLang="zh-CN" sz="2800">
                  <a:latin typeface="Tahoma" panose="020B0604030504040204" pitchFamily="34" charset="0"/>
                  <a:ea typeface="宋体" panose="02010600030101010101" pitchFamily="2" charset="-122"/>
                </a:rPr>
                <a:t>e2: (2,0,Y,b,X)</a:t>
              </a:r>
            </a:p>
          </p:txBody>
        </p:sp>
      </p:grpSp>
      <p:grpSp>
        <p:nvGrpSpPr>
          <p:cNvPr id="2058" name="Group 38"/>
          <p:cNvGrpSpPr>
            <a:grpSpLocks/>
          </p:cNvGrpSpPr>
          <p:nvPr/>
        </p:nvGrpSpPr>
        <p:grpSpPr bwMode="auto">
          <a:xfrm>
            <a:off x="2416175" y="4586288"/>
            <a:ext cx="4857750" cy="914400"/>
            <a:chOff x="2112" y="2592"/>
            <a:chExt cx="3060" cy="576"/>
          </a:xfrm>
        </p:grpSpPr>
        <p:sp>
          <p:nvSpPr>
            <p:cNvPr id="2069" name="Oval 39"/>
            <p:cNvSpPr>
              <a:spLocks noChangeArrowheads="1"/>
            </p:cNvSpPr>
            <p:nvPr/>
          </p:nvSpPr>
          <p:spPr bwMode="auto">
            <a:xfrm>
              <a:off x="2208" y="2928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zh-CN" sz="2800">
                  <a:latin typeface="Tahoma" panose="020B0604030504040204" pitchFamily="34" charset="0"/>
                  <a:ea typeface="宋体" panose="02010600030101010101" pitchFamily="2" charset="-122"/>
                </a:rPr>
                <a:t>Z</a:t>
              </a:r>
            </a:p>
          </p:txBody>
        </p:sp>
        <p:sp>
          <p:nvSpPr>
            <p:cNvPr id="2070" name="Line 40"/>
            <p:cNvSpPr>
              <a:spLocks noChangeShapeType="1"/>
            </p:cNvSpPr>
            <p:nvPr/>
          </p:nvSpPr>
          <p:spPr bwMode="auto">
            <a:xfrm>
              <a:off x="2324" y="2688"/>
              <a:ext cx="0" cy="24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71" name="Text Box 41"/>
            <p:cNvSpPr txBox="1">
              <a:spLocks noChangeArrowheads="1"/>
            </p:cNvSpPr>
            <p:nvPr/>
          </p:nvSpPr>
          <p:spPr bwMode="auto">
            <a:xfrm>
              <a:off x="2112" y="2640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/>
              <a:r>
                <a:rPr lang="en-US" altLang="zh-CN" sz="2800">
                  <a:latin typeface="Tahoma" panose="020B0604030504040204" pitchFamily="34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072" name="Text Box 42"/>
            <p:cNvSpPr txBox="1">
              <a:spLocks noChangeArrowheads="1"/>
            </p:cNvSpPr>
            <p:nvPr/>
          </p:nvSpPr>
          <p:spPr bwMode="auto">
            <a:xfrm>
              <a:off x="3600" y="2592"/>
              <a:ext cx="15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/>
              <a:r>
                <a:rPr lang="en-US" altLang="zh-CN" sz="2800">
                  <a:latin typeface="Tahoma" panose="020B0604030504040204" pitchFamily="34" charset="0"/>
                  <a:ea typeface="宋体" panose="02010600030101010101" pitchFamily="2" charset="-122"/>
                </a:rPr>
                <a:t>e3: (2,3,Y,b,Z)</a:t>
              </a:r>
            </a:p>
          </p:txBody>
        </p:sp>
      </p:grpSp>
      <p:grpSp>
        <p:nvGrpSpPr>
          <p:cNvPr id="2059" name="Group 43"/>
          <p:cNvGrpSpPr>
            <a:grpSpLocks/>
          </p:cNvGrpSpPr>
          <p:nvPr/>
        </p:nvGrpSpPr>
        <p:grpSpPr bwMode="auto">
          <a:xfrm>
            <a:off x="1763713" y="3290888"/>
            <a:ext cx="5476875" cy="2500312"/>
            <a:chOff x="1701" y="1776"/>
            <a:chExt cx="3450" cy="1575"/>
          </a:xfrm>
        </p:grpSpPr>
        <p:sp>
          <p:nvSpPr>
            <p:cNvPr id="2066" name="Freeform 44"/>
            <p:cNvSpPr>
              <a:spLocks/>
            </p:cNvSpPr>
            <p:nvPr/>
          </p:nvSpPr>
          <p:spPr bwMode="auto">
            <a:xfrm>
              <a:off x="1920" y="1776"/>
              <a:ext cx="288" cy="1248"/>
            </a:xfrm>
            <a:custGeom>
              <a:avLst/>
              <a:gdLst>
                <a:gd name="T0" fmla="*/ 247 w 336"/>
                <a:gd name="T1" fmla="*/ 1202 h 1296"/>
                <a:gd name="T2" fmla="*/ 0 w 336"/>
                <a:gd name="T3" fmla="*/ 534 h 1296"/>
                <a:gd name="T4" fmla="*/ 247 w 336"/>
                <a:gd name="T5" fmla="*/ 0 h 1296"/>
                <a:gd name="T6" fmla="*/ 0 60000 65536"/>
                <a:gd name="T7" fmla="*/ 0 60000 65536"/>
                <a:gd name="T8" fmla="*/ 0 60000 65536"/>
                <a:gd name="T9" fmla="*/ 0 w 336"/>
                <a:gd name="T10" fmla="*/ 0 h 1296"/>
                <a:gd name="T11" fmla="*/ 336 w 336"/>
                <a:gd name="T12" fmla="*/ 1296 h 12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6" h="1296">
                  <a:moveTo>
                    <a:pt x="336" y="1296"/>
                  </a:moveTo>
                  <a:cubicBezTo>
                    <a:pt x="168" y="1044"/>
                    <a:pt x="0" y="792"/>
                    <a:pt x="0" y="576"/>
                  </a:cubicBezTo>
                  <a:cubicBezTo>
                    <a:pt x="0" y="360"/>
                    <a:pt x="280" y="96"/>
                    <a:pt x="336" y="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067" name="Text Box 45"/>
            <p:cNvSpPr txBox="1">
              <a:spLocks noChangeArrowheads="1"/>
            </p:cNvSpPr>
            <p:nvPr/>
          </p:nvSpPr>
          <p:spPr bwMode="auto">
            <a:xfrm>
              <a:off x="1701" y="2160"/>
              <a:ext cx="21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/>
              <a:r>
                <a:rPr lang="en-US" altLang="zh-CN" sz="2800">
                  <a:latin typeface="Tahoma" panose="020B0604030504040204" pitchFamily="34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2068" name="Text Box 46"/>
            <p:cNvSpPr txBox="1">
              <a:spLocks noChangeArrowheads="1"/>
            </p:cNvSpPr>
            <p:nvPr/>
          </p:nvSpPr>
          <p:spPr bwMode="auto">
            <a:xfrm>
              <a:off x="3600" y="3024"/>
              <a:ext cx="1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/>
              <a:r>
                <a:rPr lang="en-US" altLang="zh-CN" sz="2800" dirty="0">
                  <a:latin typeface="Tahoma" panose="020B0604030504040204" pitchFamily="34" charset="0"/>
                  <a:ea typeface="宋体" panose="02010600030101010101" pitchFamily="2" charset="-122"/>
                </a:rPr>
                <a:t>e4: (3,0,Z,c,X)</a:t>
              </a:r>
            </a:p>
          </p:txBody>
        </p:sp>
      </p:grpSp>
      <p:grpSp>
        <p:nvGrpSpPr>
          <p:cNvPr id="2060" name="Group 47"/>
          <p:cNvGrpSpPr>
            <a:grpSpLocks/>
          </p:cNvGrpSpPr>
          <p:nvPr/>
        </p:nvGrpSpPr>
        <p:grpSpPr bwMode="auto">
          <a:xfrm>
            <a:off x="2949575" y="4357688"/>
            <a:ext cx="4321175" cy="2043112"/>
            <a:chOff x="2448" y="2448"/>
            <a:chExt cx="2722" cy="1287"/>
          </a:xfrm>
        </p:grpSpPr>
        <p:sp>
          <p:nvSpPr>
            <p:cNvPr id="2062" name="Oval 48"/>
            <p:cNvSpPr>
              <a:spLocks noChangeArrowheads="1"/>
            </p:cNvSpPr>
            <p:nvPr/>
          </p:nvSpPr>
          <p:spPr bwMode="auto">
            <a:xfrm>
              <a:off x="2784" y="278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zh-CN" sz="2800">
                  <a:latin typeface="Tahoma" panose="020B0604030504040204" pitchFamily="34" charset="0"/>
                  <a:ea typeface="宋体" panose="02010600030101010101" pitchFamily="2" charset="-122"/>
                </a:rPr>
                <a:t>Z</a:t>
              </a:r>
            </a:p>
          </p:txBody>
        </p:sp>
        <p:sp>
          <p:nvSpPr>
            <p:cNvPr id="2063" name="Line 49"/>
            <p:cNvSpPr>
              <a:spLocks noChangeShapeType="1"/>
            </p:cNvSpPr>
            <p:nvPr/>
          </p:nvSpPr>
          <p:spPr bwMode="auto">
            <a:xfrm>
              <a:off x="2448" y="2592"/>
              <a:ext cx="336" cy="24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64" name="Text Box 50"/>
            <p:cNvSpPr txBox="1">
              <a:spLocks noChangeArrowheads="1"/>
            </p:cNvSpPr>
            <p:nvPr/>
          </p:nvSpPr>
          <p:spPr bwMode="auto">
            <a:xfrm>
              <a:off x="2544" y="2448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/>
              <a:r>
                <a:rPr lang="en-US" altLang="zh-CN" sz="2800">
                  <a:latin typeface="Tahoma" panose="020B0604030504040204" pitchFamily="34" charset="0"/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2065" name="Text Box 51"/>
            <p:cNvSpPr txBox="1">
              <a:spLocks noChangeArrowheads="1"/>
            </p:cNvSpPr>
            <p:nvPr/>
          </p:nvSpPr>
          <p:spPr bwMode="auto">
            <a:xfrm>
              <a:off x="3600" y="3408"/>
              <a:ext cx="157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/>
              <a:r>
                <a:rPr lang="en-US" altLang="zh-CN" sz="2800">
                  <a:latin typeface="Tahoma" panose="020B0604030504040204" pitchFamily="34" charset="0"/>
                  <a:ea typeface="宋体" panose="02010600030101010101" pitchFamily="2" charset="-122"/>
                </a:rPr>
                <a:t>e5: (2,4,Y,d,Z)</a:t>
              </a:r>
            </a:p>
          </p:txBody>
        </p:sp>
      </p:grpSp>
      <p:sp>
        <p:nvSpPr>
          <p:cNvPr id="2061" name="Text Box 52"/>
          <p:cNvSpPr txBox="1">
            <a:spLocks noChangeArrowheads="1"/>
          </p:cNvSpPr>
          <p:nvPr/>
        </p:nvSpPr>
        <p:spPr bwMode="auto">
          <a:xfrm>
            <a:off x="395288" y="1268413"/>
            <a:ext cx="7510462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Flatten a graph into a sequence such that any </a:t>
            </a:r>
          </a:p>
          <a:p>
            <a:pPr algn="l" eaLnBrk="1" hangingPunct="1"/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right-most extension takes place in the end of </a:t>
            </a:r>
          </a:p>
          <a:p>
            <a:pPr algn="l" eaLnBrk="1" hangingPunct="1"/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the sequence.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50" name="Ink 5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955925" y="3027363"/>
              <a:ext cx="125413" cy="187325"/>
            </p14:xfrm>
          </p:contentPart>
        </mc:Choice>
        <mc:Fallback xmlns="">
          <p:pic>
            <p:nvPicPr>
              <p:cNvPr id="2050" name="Ink 5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38266" y="3009711"/>
                <a:ext cx="160730" cy="2226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051" name="Ink 5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911475" y="3714750"/>
              <a:ext cx="177800" cy="277813"/>
            </p14:xfrm>
          </p:contentPart>
        </mc:Choice>
        <mc:Fallback xmlns="">
          <p:pic>
            <p:nvPicPr>
              <p:cNvPr id="2051" name="Ink 5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93839" y="3697117"/>
                <a:ext cx="213072" cy="3130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052" name="Ink 5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884488" y="4670425"/>
              <a:ext cx="204787" cy="277813"/>
            </p14:xfrm>
          </p:contentPart>
        </mc:Choice>
        <mc:Fallback xmlns="">
          <p:pic>
            <p:nvPicPr>
              <p:cNvPr id="2052" name="Ink 5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866853" y="4652792"/>
                <a:ext cx="240058" cy="3130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053" name="Ink 5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857500" y="5464175"/>
              <a:ext cx="241300" cy="304800"/>
            </p14:xfrm>
          </p:contentPart>
        </mc:Choice>
        <mc:Fallback xmlns="">
          <p:pic>
            <p:nvPicPr>
              <p:cNvPr id="2053" name="Ink 5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839853" y="5446542"/>
                <a:ext cx="276595" cy="340066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itchFamily="2" charset="-122"/>
              </a:rPr>
              <a:t>DFS Code (cont.)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sz="2400">
                <a:ea typeface="宋体" panose="02010600030101010101" pitchFamily="2" charset="-122"/>
                <a:sym typeface="Wingdings" panose="05000000000000000000" pitchFamily="2" charset="2"/>
              </a:rPr>
              <a:t>We call a graph with a DFS tree subscripted by </a:t>
            </a:r>
            <a:r>
              <a:rPr lang="en-US" altLang="zh-CN" sz="2400" b="0">
                <a:ea typeface="宋体" panose="02010600030101010101" pitchFamily="2" charset="-122"/>
                <a:sym typeface="Wingdings" panose="05000000000000000000" pitchFamily="2" charset="2"/>
              </a:rPr>
              <a:t>subscripted graph</a:t>
            </a:r>
            <a:endParaRPr lang="en-US" altLang="zh-CN" sz="2400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>
                <a:ea typeface="宋体" panose="02010600030101010101" pitchFamily="2" charset="-122"/>
              </a:rPr>
              <a:t>DFS Code </a:t>
            </a:r>
            <a:r>
              <a:rPr lang="en-US" altLang="zh-CN" sz="2400">
                <a:ea typeface="宋体" panose="02010600030101010101" pitchFamily="2" charset="-122"/>
                <a:sym typeface="Wingdings" panose="05000000000000000000" pitchFamily="2" charset="2"/>
              </a:rPr>
              <a:t> subscripted graph</a:t>
            </a:r>
            <a:endParaRPr lang="en-US" altLang="zh-CN" sz="2400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>
                <a:ea typeface="宋体" panose="02010600030101010101" pitchFamily="2" charset="-122"/>
              </a:rPr>
              <a:t>Actually, the construction of DFS Code is a right-most extension procedure to extend a graph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We call a subscripting which can generate the minimum DFS code by a base subscripting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We only conduct right-most extension on this base subscriptig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Base subscripting  + one edge right-most extension </a:t>
            </a:r>
            <a:r>
              <a:rPr lang="en-US" altLang="zh-CN" sz="2400" b="0">
                <a:ea typeface="宋体" panose="02010600030101010101" pitchFamily="2" charset="-122"/>
              </a:rPr>
              <a:t>MAY NOT</a:t>
            </a:r>
            <a:r>
              <a:rPr lang="en-US" altLang="zh-CN" sz="2400">
                <a:ea typeface="宋体" panose="02010600030101010101" pitchFamily="2" charset="-122"/>
              </a:rPr>
              <a:t> be another base subscripting</a:t>
            </a: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3200">
                <a:ea typeface="宋体" pitchFamily="2" charset="-122"/>
              </a:rPr>
              <a:t>Reduce the Number of G</a:t>
            </a:r>
            <a:r>
              <a:rPr lang="en-US" altLang="zh-CN" sz="1800">
                <a:ea typeface="宋体" pitchFamily="2" charset="-122"/>
              </a:rPr>
              <a:t>1</a:t>
            </a:r>
            <a:r>
              <a:rPr lang="en-US" altLang="zh-CN" sz="3200">
                <a:ea typeface="宋体" pitchFamily="2" charset="-122"/>
              </a:rPr>
              <a:t>, </a:t>
            </a:r>
            <a:r>
              <a:rPr lang="en-US" altLang="zh-CN" sz="3200">
                <a:latin typeface="Tahoma"/>
                <a:ea typeface="宋体" pitchFamily="2" charset="-122"/>
              </a:rPr>
              <a:t>…</a:t>
            </a:r>
            <a:r>
              <a:rPr lang="en-US" altLang="zh-CN" sz="3200">
                <a:ea typeface="宋体" pitchFamily="2" charset="-122"/>
              </a:rPr>
              <a:t> G</a:t>
            </a:r>
            <a:r>
              <a:rPr lang="en-US" altLang="zh-CN" sz="1800">
                <a:ea typeface="宋体" pitchFamily="2" charset="-122"/>
              </a:rPr>
              <a:t>n</a:t>
            </a:r>
          </a:p>
        </p:txBody>
      </p:sp>
      <p:sp>
        <p:nvSpPr>
          <p:cNvPr id="40963" name="Oval 3"/>
          <p:cNvSpPr>
            <a:spLocks noChangeArrowheads="1"/>
          </p:cNvSpPr>
          <p:nvPr/>
        </p:nvSpPr>
        <p:spPr bwMode="auto">
          <a:xfrm>
            <a:off x="1905000" y="25908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64" name="Oval 4"/>
          <p:cNvSpPr>
            <a:spLocks noChangeArrowheads="1"/>
          </p:cNvSpPr>
          <p:nvPr/>
        </p:nvSpPr>
        <p:spPr bwMode="auto">
          <a:xfrm>
            <a:off x="1905000" y="40386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65" name="Oval 5"/>
          <p:cNvSpPr>
            <a:spLocks noChangeArrowheads="1"/>
          </p:cNvSpPr>
          <p:nvPr/>
        </p:nvSpPr>
        <p:spPr bwMode="auto">
          <a:xfrm>
            <a:off x="1905000" y="32766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66" name="Oval 6"/>
          <p:cNvSpPr>
            <a:spLocks noChangeArrowheads="1"/>
          </p:cNvSpPr>
          <p:nvPr/>
        </p:nvSpPr>
        <p:spPr bwMode="auto">
          <a:xfrm>
            <a:off x="1905000" y="48006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67" name="Oval 7"/>
          <p:cNvSpPr>
            <a:spLocks noChangeArrowheads="1"/>
          </p:cNvSpPr>
          <p:nvPr/>
        </p:nvSpPr>
        <p:spPr bwMode="auto">
          <a:xfrm>
            <a:off x="2819400" y="45720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68" name="Line 8"/>
          <p:cNvSpPr>
            <a:spLocks noChangeShapeType="1"/>
          </p:cNvSpPr>
          <p:nvPr/>
        </p:nvSpPr>
        <p:spPr bwMode="auto">
          <a:xfrm>
            <a:off x="2089150" y="2971800"/>
            <a:ext cx="0" cy="3048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9" name="Line 9"/>
          <p:cNvSpPr>
            <a:spLocks noChangeShapeType="1"/>
          </p:cNvSpPr>
          <p:nvPr/>
        </p:nvSpPr>
        <p:spPr bwMode="auto">
          <a:xfrm>
            <a:off x="2089150" y="3657600"/>
            <a:ext cx="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0" name="Line 10"/>
          <p:cNvSpPr>
            <a:spLocks noChangeShapeType="1"/>
          </p:cNvSpPr>
          <p:nvPr/>
        </p:nvSpPr>
        <p:spPr bwMode="auto">
          <a:xfrm>
            <a:off x="2089150" y="4419600"/>
            <a:ext cx="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1" name="Line 11"/>
          <p:cNvSpPr>
            <a:spLocks noChangeShapeType="1"/>
          </p:cNvSpPr>
          <p:nvPr/>
        </p:nvSpPr>
        <p:spPr bwMode="auto">
          <a:xfrm>
            <a:off x="2286000" y="42672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2" name="Oval 12"/>
          <p:cNvSpPr>
            <a:spLocks noChangeArrowheads="1"/>
          </p:cNvSpPr>
          <p:nvPr/>
        </p:nvSpPr>
        <p:spPr bwMode="auto">
          <a:xfrm>
            <a:off x="965200" y="45720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73" name="Line 13"/>
          <p:cNvSpPr>
            <a:spLocks noChangeShapeType="1"/>
          </p:cNvSpPr>
          <p:nvPr/>
        </p:nvSpPr>
        <p:spPr bwMode="auto">
          <a:xfrm flipH="1">
            <a:off x="1346200" y="42672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4" name="Oval 14"/>
          <p:cNvSpPr>
            <a:spLocks noChangeArrowheads="1"/>
          </p:cNvSpPr>
          <p:nvPr/>
        </p:nvSpPr>
        <p:spPr bwMode="auto">
          <a:xfrm>
            <a:off x="5562600" y="25908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75" name="Oval 15"/>
          <p:cNvSpPr>
            <a:spLocks noChangeArrowheads="1"/>
          </p:cNvSpPr>
          <p:nvPr/>
        </p:nvSpPr>
        <p:spPr bwMode="auto">
          <a:xfrm>
            <a:off x="5562600" y="40386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76" name="Oval 16"/>
          <p:cNvSpPr>
            <a:spLocks noChangeArrowheads="1"/>
          </p:cNvSpPr>
          <p:nvPr/>
        </p:nvSpPr>
        <p:spPr bwMode="auto">
          <a:xfrm>
            <a:off x="5562600" y="32766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77" name="Oval 17"/>
          <p:cNvSpPr>
            <a:spLocks noChangeArrowheads="1"/>
          </p:cNvSpPr>
          <p:nvPr/>
        </p:nvSpPr>
        <p:spPr bwMode="auto">
          <a:xfrm>
            <a:off x="5562600" y="48006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78" name="Oval 18"/>
          <p:cNvSpPr>
            <a:spLocks noChangeArrowheads="1"/>
          </p:cNvSpPr>
          <p:nvPr/>
        </p:nvSpPr>
        <p:spPr bwMode="auto">
          <a:xfrm>
            <a:off x="6477000" y="45720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79" name="Line 19"/>
          <p:cNvSpPr>
            <a:spLocks noChangeShapeType="1"/>
          </p:cNvSpPr>
          <p:nvPr/>
        </p:nvSpPr>
        <p:spPr bwMode="auto">
          <a:xfrm>
            <a:off x="5746750" y="2971800"/>
            <a:ext cx="0" cy="3048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80" name="Line 20"/>
          <p:cNvSpPr>
            <a:spLocks noChangeShapeType="1"/>
          </p:cNvSpPr>
          <p:nvPr/>
        </p:nvSpPr>
        <p:spPr bwMode="auto">
          <a:xfrm>
            <a:off x="5746750" y="3657600"/>
            <a:ext cx="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81" name="Line 21"/>
          <p:cNvSpPr>
            <a:spLocks noChangeShapeType="1"/>
          </p:cNvSpPr>
          <p:nvPr/>
        </p:nvSpPr>
        <p:spPr bwMode="auto">
          <a:xfrm>
            <a:off x="5746750" y="4419600"/>
            <a:ext cx="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82" name="Line 22"/>
          <p:cNvSpPr>
            <a:spLocks noChangeShapeType="1"/>
          </p:cNvSpPr>
          <p:nvPr/>
        </p:nvSpPr>
        <p:spPr bwMode="auto">
          <a:xfrm>
            <a:off x="5943600" y="42672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83" name="Text Box 23"/>
          <p:cNvSpPr txBox="1">
            <a:spLocks noChangeArrowheads="1"/>
          </p:cNvSpPr>
          <p:nvPr/>
        </p:nvSpPr>
        <p:spPr bwMode="auto">
          <a:xfrm>
            <a:off x="4114800" y="5715000"/>
            <a:ext cx="2632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Low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#= 6 + 10 =16</a:t>
            </a:r>
          </a:p>
        </p:txBody>
      </p:sp>
      <p:sp>
        <p:nvSpPr>
          <p:cNvPr id="40984" name="Text Box 24"/>
          <p:cNvSpPr txBox="1">
            <a:spLocks noChangeArrowheads="1"/>
          </p:cNvSpPr>
          <p:nvPr/>
        </p:nvSpPr>
        <p:spPr bwMode="auto">
          <a:xfrm>
            <a:off x="5181600" y="236220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40985" name="Text Box 25"/>
          <p:cNvSpPr txBox="1">
            <a:spLocks noChangeArrowheads="1"/>
          </p:cNvSpPr>
          <p:nvPr/>
        </p:nvSpPr>
        <p:spPr bwMode="auto">
          <a:xfrm>
            <a:off x="5184775" y="304800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40986" name="Text Box 26"/>
          <p:cNvSpPr txBox="1">
            <a:spLocks noChangeArrowheads="1"/>
          </p:cNvSpPr>
          <p:nvPr/>
        </p:nvSpPr>
        <p:spPr bwMode="auto">
          <a:xfrm>
            <a:off x="5184775" y="379095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40987" name="Text Box 27"/>
          <p:cNvSpPr txBox="1">
            <a:spLocks noChangeArrowheads="1"/>
          </p:cNvSpPr>
          <p:nvPr/>
        </p:nvSpPr>
        <p:spPr bwMode="auto">
          <a:xfrm>
            <a:off x="4321175" y="434340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40988" name="Text Box 28"/>
          <p:cNvSpPr txBox="1">
            <a:spLocks noChangeArrowheads="1"/>
          </p:cNvSpPr>
          <p:nvPr/>
        </p:nvSpPr>
        <p:spPr bwMode="auto">
          <a:xfrm>
            <a:off x="5235575" y="4662488"/>
            <a:ext cx="377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40989" name="Oval 29"/>
          <p:cNvSpPr>
            <a:spLocks noChangeArrowheads="1"/>
          </p:cNvSpPr>
          <p:nvPr/>
        </p:nvSpPr>
        <p:spPr bwMode="auto">
          <a:xfrm>
            <a:off x="4622800" y="45720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90" name="Text Box 30"/>
          <p:cNvSpPr txBox="1">
            <a:spLocks noChangeArrowheads="1"/>
          </p:cNvSpPr>
          <p:nvPr/>
        </p:nvSpPr>
        <p:spPr bwMode="auto">
          <a:xfrm>
            <a:off x="6073775" y="4419600"/>
            <a:ext cx="37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40991" name="Line 31"/>
          <p:cNvSpPr>
            <a:spLocks noChangeShapeType="1"/>
          </p:cNvSpPr>
          <p:nvPr/>
        </p:nvSpPr>
        <p:spPr bwMode="auto">
          <a:xfrm flipH="1">
            <a:off x="5003800" y="42672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92" name="Line 32"/>
          <p:cNvSpPr>
            <a:spLocks noChangeShapeType="1"/>
          </p:cNvSpPr>
          <p:nvPr/>
        </p:nvSpPr>
        <p:spPr bwMode="auto">
          <a:xfrm flipV="1">
            <a:off x="5867400" y="2286000"/>
            <a:ext cx="533400" cy="3810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0993" name="Line 33"/>
          <p:cNvSpPr>
            <a:spLocks noChangeShapeType="1"/>
          </p:cNvSpPr>
          <p:nvPr/>
        </p:nvSpPr>
        <p:spPr bwMode="auto">
          <a:xfrm flipV="1">
            <a:off x="5943600" y="3048000"/>
            <a:ext cx="533400" cy="3810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0994" name="Line 34"/>
          <p:cNvSpPr>
            <a:spLocks noChangeShapeType="1"/>
          </p:cNvSpPr>
          <p:nvPr/>
        </p:nvSpPr>
        <p:spPr bwMode="auto">
          <a:xfrm flipV="1">
            <a:off x="5867400" y="3733800"/>
            <a:ext cx="533400" cy="3810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0995" name="Line 35"/>
          <p:cNvSpPr>
            <a:spLocks noChangeShapeType="1"/>
          </p:cNvSpPr>
          <p:nvPr/>
        </p:nvSpPr>
        <p:spPr bwMode="auto">
          <a:xfrm flipV="1">
            <a:off x="6858000" y="4343400"/>
            <a:ext cx="533400" cy="3810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0996" name="Line 36"/>
          <p:cNvSpPr>
            <a:spLocks noChangeShapeType="1"/>
          </p:cNvSpPr>
          <p:nvPr/>
        </p:nvSpPr>
        <p:spPr bwMode="auto">
          <a:xfrm flipH="1" flipV="1">
            <a:off x="4191000" y="4038600"/>
            <a:ext cx="609600" cy="533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0997" name="Line 37"/>
          <p:cNvSpPr>
            <a:spLocks noChangeShapeType="1"/>
          </p:cNvSpPr>
          <p:nvPr/>
        </p:nvSpPr>
        <p:spPr bwMode="auto">
          <a:xfrm flipH="1">
            <a:off x="5029200" y="5105400"/>
            <a:ext cx="609600" cy="3810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0998" name="Freeform 38"/>
          <p:cNvSpPr>
            <a:spLocks/>
          </p:cNvSpPr>
          <p:nvPr/>
        </p:nvSpPr>
        <p:spPr bwMode="auto">
          <a:xfrm>
            <a:off x="4940300" y="2819400"/>
            <a:ext cx="622300" cy="1371600"/>
          </a:xfrm>
          <a:custGeom>
            <a:avLst/>
            <a:gdLst>
              <a:gd name="T0" fmla="*/ 866933877 w 392"/>
              <a:gd name="T1" fmla="*/ 0 h 912"/>
              <a:gd name="T2" fmla="*/ 20161250 w 392"/>
              <a:gd name="T3" fmla="*/ 977122239 h 912"/>
              <a:gd name="T4" fmla="*/ 987901339 w 392"/>
              <a:gd name="T5" fmla="*/ 2062814410 h 912"/>
              <a:gd name="T6" fmla="*/ 0 60000 65536"/>
              <a:gd name="T7" fmla="*/ 0 60000 65536"/>
              <a:gd name="T8" fmla="*/ 0 60000 65536"/>
              <a:gd name="T9" fmla="*/ 0 w 392"/>
              <a:gd name="T10" fmla="*/ 0 h 912"/>
              <a:gd name="T11" fmla="*/ 392 w 392"/>
              <a:gd name="T12" fmla="*/ 912 h 9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92" h="912">
                <a:moveTo>
                  <a:pt x="344" y="0"/>
                </a:moveTo>
                <a:cubicBezTo>
                  <a:pt x="172" y="140"/>
                  <a:pt x="0" y="280"/>
                  <a:pt x="8" y="432"/>
                </a:cubicBezTo>
                <a:cubicBezTo>
                  <a:pt x="16" y="584"/>
                  <a:pt x="328" y="832"/>
                  <a:pt x="392" y="912"/>
                </a:cubicBezTo>
              </a:path>
            </a:pathLst>
          </a:custGeom>
          <a:noFill/>
          <a:ln w="25400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0999" name="Freeform 39"/>
          <p:cNvSpPr>
            <a:spLocks/>
          </p:cNvSpPr>
          <p:nvPr/>
        </p:nvSpPr>
        <p:spPr bwMode="auto">
          <a:xfrm>
            <a:off x="5943600" y="2743200"/>
            <a:ext cx="1054100" cy="1905000"/>
          </a:xfrm>
          <a:custGeom>
            <a:avLst/>
            <a:gdLst>
              <a:gd name="T0" fmla="*/ 0 w 664"/>
              <a:gd name="T1" fmla="*/ 0 h 1200"/>
              <a:gd name="T2" fmla="*/ 1451609863 w 664"/>
              <a:gd name="T3" fmla="*/ 967740003 h 1200"/>
              <a:gd name="T4" fmla="*/ 1330642408 w 664"/>
              <a:gd name="T5" fmla="*/ 2147483647 h 1200"/>
              <a:gd name="T6" fmla="*/ 0 60000 65536"/>
              <a:gd name="T7" fmla="*/ 0 60000 65536"/>
              <a:gd name="T8" fmla="*/ 0 60000 65536"/>
              <a:gd name="T9" fmla="*/ 0 w 664"/>
              <a:gd name="T10" fmla="*/ 0 h 1200"/>
              <a:gd name="T11" fmla="*/ 664 w 664"/>
              <a:gd name="T12" fmla="*/ 1200 h 1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64" h="1200">
                <a:moveTo>
                  <a:pt x="0" y="0"/>
                </a:moveTo>
                <a:cubicBezTo>
                  <a:pt x="244" y="92"/>
                  <a:pt x="488" y="184"/>
                  <a:pt x="576" y="384"/>
                </a:cubicBezTo>
                <a:cubicBezTo>
                  <a:pt x="664" y="584"/>
                  <a:pt x="596" y="892"/>
                  <a:pt x="528" y="1200"/>
                </a:cubicBezTo>
              </a:path>
            </a:pathLst>
          </a:custGeom>
          <a:noFill/>
          <a:ln w="25400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itchFamily="2" charset="-122"/>
              </a:rPr>
              <a:t>Right-Most Extension (cont.)</a:t>
            </a:r>
          </a:p>
        </p:txBody>
      </p:sp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1143000" y="2057400"/>
            <a:ext cx="45005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Low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Number of Extensions = 16</a:t>
            </a:r>
          </a:p>
        </p:txBody>
      </p:sp>
      <p:sp>
        <p:nvSpPr>
          <p:cNvPr id="41988" name="AutoShape 4"/>
          <p:cNvSpPr>
            <a:spLocks noChangeArrowheads="1"/>
          </p:cNvSpPr>
          <p:nvPr/>
        </p:nvSpPr>
        <p:spPr bwMode="auto">
          <a:xfrm rot="2226497">
            <a:off x="3810000" y="3733800"/>
            <a:ext cx="1524000" cy="457200"/>
          </a:xfrm>
          <a:prstGeom prst="rightArrow">
            <a:avLst>
              <a:gd name="adj1" fmla="val 50000"/>
              <a:gd name="adj2" fmla="val 8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1989" name="Text Box 5"/>
          <p:cNvSpPr txBox="1">
            <a:spLocks noChangeArrowheads="1"/>
          </p:cNvSpPr>
          <p:nvPr/>
        </p:nvSpPr>
        <p:spPr bwMode="auto">
          <a:xfrm>
            <a:off x="4038600" y="5105400"/>
            <a:ext cx="43068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Low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Number of Extensions = 6</a:t>
            </a:r>
          </a:p>
        </p:txBody>
      </p:sp>
      <p:sp>
        <p:nvSpPr>
          <p:cNvPr id="41990" name="Text Box 6"/>
          <p:cNvSpPr txBox="1">
            <a:spLocks noChangeArrowheads="1"/>
          </p:cNvSpPr>
          <p:nvPr/>
        </p:nvSpPr>
        <p:spPr bwMode="auto">
          <a:xfrm>
            <a:off x="4953000" y="3276600"/>
            <a:ext cx="34178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Low" eaLnBrk="1" hangingPunct="1"/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right-most extension</a:t>
            </a: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382000" cy="669925"/>
          </a:xfrm>
        </p:spPr>
        <p:txBody>
          <a:bodyPr/>
          <a:lstStyle/>
          <a:p>
            <a:pPr>
              <a:defRPr/>
            </a:pPr>
            <a:r>
              <a:rPr lang="en-US" altLang="zh-CN">
                <a:ea typeface="宋体" pitchFamily="2" charset="-122"/>
              </a:rPr>
              <a:t>So far, we covered</a:t>
            </a:r>
          </a:p>
        </p:txBody>
      </p:sp>
      <p:graphicFrame>
        <p:nvGraphicFramePr>
          <p:cNvPr id="672771" name="Group 3"/>
          <p:cNvGraphicFramePr>
            <a:graphicFrameLocks noGrp="1"/>
          </p:cNvGraphicFramePr>
          <p:nvPr/>
        </p:nvGraphicFramePr>
        <p:xfrm>
          <a:off x="611188" y="1628775"/>
          <a:ext cx="8077200" cy="4710184"/>
        </p:xfrm>
        <a:graphic>
          <a:graphicData uri="http://schemas.openxmlformats.org/drawingml/2006/table">
            <a:tbl>
              <a:tblPr/>
              <a:tblGrid>
                <a:gridCol w="2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0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8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03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17098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Read-based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Write-based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Point-based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1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Association Mining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Apriori[AgSr94]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VIPER[SHSB00]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FPGrowth [HaPe00]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17098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64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Sub-Graph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Mining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AGM[PKDD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ahoma"/>
                          <a:ea typeface="宋体" pitchFamily="2" charset="-122"/>
                        </a:rPr>
                        <a:t>’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00] 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FSG[ICDM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ahoma"/>
                          <a:ea typeface="宋体" pitchFamily="2" charset="-122"/>
                        </a:rPr>
                        <a:t>’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01]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Mofa[ICDM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ahoma"/>
                          <a:ea typeface="宋体" pitchFamily="2" charset="-122"/>
                        </a:rPr>
                        <a:t>’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02]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gSpan[ICDM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ahoma"/>
                          <a:ea typeface="宋体" pitchFamily="2" charset="-122"/>
                        </a:rPr>
                        <a:t>’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02]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17098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0963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Sequential Pattern Discovery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GSP[AgSr96]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PrefixSpan [PHPC01]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17098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4353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Iceberg Cube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Apriori[AgSr94]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17098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17098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BUC[BeRa99], H-cubing [HPDW01]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17098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3043" name="Line 35"/>
          <p:cNvSpPr>
            <a:spLocks noChangeShapeType="1"/>
          </p:cNvSpPr>
          <p:nvPr/>
        </p:nvSpPr>
        <p:spPr bwMode="auto">
          <a:xfrm flipV="1">
            <a:off x="2700338" y="2492375"/>
            <a:ext cx="1871662" cy="5048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44" name="Line 36"/>
          <p:cNvSpPr>
            <a:spLocks noChangeShapeType="1"/>
          </p:cNvSpPr>
          <p:nvPr/>
        </p:nvSpPr>
        <p:spPr bwMode="auto">
          <a:xfrm flipH="1" flipV="1">
            <a:off x="2627313" y="2420938"/>
            <a:ext cx="1873250" cy="5762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45" name="Line 37"/>
          <p:cNvSpPr>
            <a:spLocks noChangeShapeType="1"/>
          </p:cNvSpPr>
          <p:nvPr/>
        </p:nvSpPr>
        <p:spPr bwMode="auto">
          <a:xfrm flipV="1">
            <a:off x="2759075" y="3168650"/>
            <a:ext cx="1871663" cy="5048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46" name="Line 38"/>
          <p:cNvSpPr>
            <a:spLocks noChangeShapeType="1"/>
          </p:cNvSpPr>
          <p:nvPr/>
        </p:nvSpPr>
        <p:spPr bwMode="auto">
          <a:xfrm flipH="1" flipV="1">
            <a:off x="2686050" y="3097213"/>
            <a:ext cx="1873250" cy="5762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47" name="Line 39"/>
          <p:cNvSpPr>
            <a:spLocks noChangeShapeType="1"/>
          </p:cNvSpPr>
          <p:nvPr/>
        </p:nvSpPr>
        <p:spPr bwMode="auto">
          <a:xfrm flipV="1">
            <a:off x="4745038" y="2492375"/>
            <a:ext cx="1871662" cy="5048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48" name="Line 40"/>
          <p:cNvSpPr>
            <a:spLocks noChangeShapeType="1"/>
          </p:cNvSpPr>
          <p:nvPr/>
        </p:nvSpPr>
        <p:spPr bwMode="auto">
          <a:xfrm flipH="1" flipV="1">
            <a:off x="4672013" y="2420938"/>
            <a:ext cx="1873250" cy="5762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49" name="Line 41"/>
          <p:cNvSpPr>
            <a:spLocks noChangeShapeType="1"/>
          </p:cNvSpPr>
          <p:nvPr/>
        </p:nvSpPr>
        <p:spPr bwMode="auto">
          <a:xfrm flipV="1">
            <a:off x="2873375" y="4032250"/>
            <a:ext cx="1871663" cy="5048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50" name="Line 42"/>
          <p:cNvSpPr>
            <a:spLocks noChangeShapeType="1"/>
          </p:cNvSpPr>
          <p:nvPr/>
        </p:nvSpPr>
        <p:spPr bwMode="auto">
          <a:xfrm flipH="1" flipV="1">
            <a:off x="2800350" y="3960812"/>
            <a:ext cx="1873250" cy="5762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37"/>
          <p:cNvSpPr>
            <a:spLocks noChangeShapeType="1"/>
          </p:cNvSpPr>
          <p:nvPr/>
        </p:nvSpPr>
        <p:spPr bwMode="auto">
          <a:xfrm flipV="1">
            <a:off x="4860032" y="3248850"/>
            <a:ext cx="1871663" cy="5048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38"/>
          <p:cNvSpPr>
            <a:spLocks noChangeShapeType="1"/>
          </p:cNvSpPr>
          <p:nvPr/>
        </p:nvSpPr>
        <p:spPr bwMode="auto">
          <a:xfrm flipH="1" flipV="1">
            <a:off x="4787007" y="3177413"/>
            <a:ext cx="1873250" cy="5762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823913" y="217488"/>
            <a:ext cx="8126412" cy="1025525"/>
          </a:xfrm>
        </p:spPr>
        <p:txBody>
          <a:bodyPr/>
          <a:lstStyle/>
          <a:p>
            <a:pPr>
              <a:defRPr/>
            </a:pPr>
            <a:r>
              <a:rPr lang="en-US" altLang="zh-CN">
                <a:ea typeface="宋体" pitchFamily="2" charset="-122"/>
              </a:rPr>
              <a:t>PrefixSpan: Example of Write-based Method</a:t>
            </a:r>
          </a:p>
        </p:txBody>
      </p:sp>
      <p:graphicFrame>
        <p:nvGraphicFramePr>
          <p:cNvPr id="650243" name="Group 3"/>
          <p:cNvGraphicFramePr>
            <a:graphicFrameLocks noGrp="1"/>
          </p:cNvGraphicFramePr>
          <p:nvPr/>
        </p:nvGraphicFramePr>
        <p:xfrm>
          <a:off x="3200400" y="1752600"/>
          <a:ext cx="1905000" cy="1219200"/>
        </p:xfrm>
        <a:graphic>
          <a:graphicData uri="http://schemas.openxmlformats.org/drawingml/2006/table">
            <a:tbl>
              <a:tblPr/>
              <a:tblGrid>
                <a:gridCol w="458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6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7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sequence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&lt;a(abc)(ac)d(cf)&gt;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&lt;(ad)c(bc)(ae)&gt;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&lt;(ef)(ab)(df)cb&gt;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7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&lt;eg(af)cbc&gt;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959" name="Text Box 23"/>
          <p:cNvSpPr txBox="1">
            <a:spLocks noChangeArrowheads="1"/>
          </p:cNvSpPr>
          <p:nvPr/>
        </p:nvSpPr>
        <p:spPr bwMode="auto">
          <a:xfrm>
            <a:off x="3733800" y="1344613"/>
            <a:ext cx="647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SDB</a:t>
            </a:r>
          </a:p>
        </p:txBody>
      </p:sp>
      <p:sp>
        <p:nvSpPr>
          <p:cNvPr id="39960" name="Text Box 24"/>
          <p:cNvSpPr txBox="1">
            <a:spLocks noChangeArrowheads="1"/>
          </p:cNvSpPr>
          <p:nvPr/>
        </p:nvSpPr>
        <p:spPr bwMode="auto">
          <a:xfrm>
            <a:off x="5318125" y="1784350"/>
            <a:ext cx="35639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1800">
                <a:latin typeface="Tahoma" panose="020B0604030504040204" pitchFamily="34" charset="0"/>
                <a:ea typeface="宋体" panose="02010600030101010101" pitchFamily="2" charset="-122"/>
              </a:rPr>
              <a:t>Length-1 sequential patterns</a:t>
            </a:r>
          </a:p>
          <a:p>
            <a:pPr algn="l" eaLnBrk="1" hangingPunct="1"/>
            <a:r>
              <a:rPr lang="en-US" altLang="zh-CN" sz="1800">
                <a:latin typeface="Tahoma" panose="020B0604030504040204" pitchFamily="34" charset="0"/>
                <a:ea typeface="宋体" panose="02010600030101010101" pitchFamily="2" charset="-122"/>
              </a:rPr>
              <a:t>&lt;a&gt;, &lt;b&gt;, &lt;c&gt;, &lt;d&gt;, &lt;e&gt;, &lt;f&gt;</a:t>
            </a:r>
          </a:p>
        </p:txBody>
      </p:sp>
      <p:sp>
        <p:nvSpPr>
          <p:cNvPr id="39961" name="Text Box 25"/>
          <p:cNvSpPr txBox="1">
            <a:spLocks noChangeArrowheads="1"/>
          </p:cNvSpPr>
          <p:nvPr/>
        </p:nvSpPr>
        <p:spPr bwMode="auto">
          <a:xfrm>
            <a:off x="304800" y="3581400"/>
            <a:ext cx="2673350" cy="148431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1800" u="sng">
                <a:latin typeface="Tahoma" panose="020B0604030504040204" pitchFamily="34" charset="0"/>
                <a:ea typeface="宋体" panose="02010600030101010101" pitchFamily="2" charset="-122"/>
              </a:rPr>
              <a:t>&lt;a&gt;-projected database</a:t>
            </a:r>
          </a:p>
          <a:p>
            <a:pPr algn="l" eaLnBrk="1" hangingPunct="1"/>
            <a:r>
              <a:rPr lang="en-US" altLang="zh-CN" sz="1800">
                <a:latin typeface="Tahoma" panose="020B0604030504040204" pitchFamily="34" charset="0"/>
                <a:ea typeface="宋体" panose="02010600030101010101" pitchFamily="2" charset="-122"/>
              </a:rPr>
              <a:t>&lt;(abc)(ac)d(cf)&gt;</a:t>
            </a:r>
          </a:p>
          <a:p>
            <a:pPr algn="l" eaLnBrk="1" hangingPunct="1"/>
            <a:r>
              <a:rPr lang="en-US" altLang="zh-CN" sz="1800">
                <a:latin typeface="Tahoma" panose="020B0604030504040204" pitchFamily="34" charset="0"/>
                <a:ea typeface="宋体" panose="02010600030101010101" pitchFamily="2" charset="-122"/>
              </a:rPr>
              <a:t>&lt;(_d)c(bc)(ae)&gt;</a:t>
            </a:r>
          </a:p>
          <a:p>
            <a:pPr algn="l" eaLnBrk="1" hangingPunct="1"/>
            <a:r>
              <a:rPr lang="en-US" altLang="zh-CN" sz="1800">
                <a:latin typeface="Tahoma" panose="020B0604030504040204" pitchFamily="34" charset="0"/>
                <a:ea typeface="宋体" panose="02010600030101010101" pitchFamily="2" charset="-122"/>
              </a:rPr>
              <a:t>&lt;(_b)(df)cb&gt;</a:t>
            </a:r>
          </a:p>
          <a:p>
            <a:pPr algn="l" eaLnBrk="1" hangingPunct="1"/>
            <a:r>
              <a:rPr lang="en-US" altLang="zh-CN" sz="1800">
                <a:latin typeface="Tahoma" panose="020B0604030504040204" pitchFamily="34" charset="0"/>
                <a:ea typeface="宋体" panose="02010600030101010101" pitchFamily="2" charset="-122"/>
              </a:rPr>
              <a:t>&lt;(_f)cbc&gt;</a:t>
            </a:r>
          </a:p>
        </p:txBody>
      </p:sp>
      <p:sp>
        <p:nvSpPr>
          <p:cNvPr id="39962" name="Text Box 26"/>
          <p:cNvSpPr txBox="1">
            <a:spLocks noChangeArrowheads="1"/>
          </p:cNvSpPr>
          <p:nvPr/>
        </p:nvSpPr>
        <p:spPr bwMode="auto">
          <a:xfrm>
            <a:off x="3048000" y="3886200"/>
            <a:ext cx="2189163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Length-2 sequential</a:t>
            </a:r>
          </a:p>
          <a:p>
            <a:pPr algn="l" eaLnBrk="1" hangingPunct="1"/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patterns</a:t>
            </a:r>
          </a:p>
          <a:p>
            <a:pPr algn="l" eaLnBrk="1" hangingPunct="1"/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&lt;aa&gt;, &lt;ab&gt;, &lt;(ab)&gt;,</a:t>
            </a:r>
          </a:p>
          <a:p>
            <a:pPr algn="l" eaLnBrk="1" hangingPunct="1"/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&lt;ac&gt;, &lt;ad&gt;, &lt;af&gt;</a:t>
            </a:r>
          </a:p>
        </p:txBody>
      </p:sp>
      <p:sp>
        <p:nvSpPr>
          <p:cNvPr id="39963" name="Line 27"/>
          <p:cNvSpPr>
            <a:spLocks noChangeShapeType="1"/>
          </p:cNvSpPr>
          <p:nvPr/>
        </p:nvSpPr>
        <p:spPr bwMode="auto">
          <a:xfrm flipH="1">
            <a:off x="1524000" y="3124200"/>
            <a:ext cx="2438400" cy="457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9964" name="Text Box 28"/>
          <p:cNvSpPr txBox="1">
            <a:spLocks noChangeArrowheads="1"/>
          </p:cNvSpPr>
          <p:nvPr/>
        </p:nvSpPr>
        <p:spPr bwMode="auto">
          <a:xfrm>
            <a:off x="609600" y="3048000"/>
            <a:ext cx="20447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1800">
                <a:latin typeface="Tahoma" panose="020B0604030504040204" pitchFamily="34" charset="0"/>
                <a:ea typeface="宋体" panose="02010600030101010101" pitchFamily="2" charset="-122"/>
              </a:rPr>
              <a:t>Having prefix &lt;a&gt;</a:t>
            </a:r>
          </a:p>
        </p:txBody>
      </p:sp>
      <p:sp>
        <p:nvSpPr>
          <p:cNvPr id="39965" name="Text Box 29"/>
          <p:cNvSpPr txBox="1">
            <a:spLocks noChangeArrowheads="1"/>
          </p:cNvSpPr>
          <p:nvPr/>
        </p:nvSpPr>
        <p:spPr bwMode="auto">
          <a:xfrm>
            <a:off x="228600" y="5281613"/>
            <a:ext cx="19383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Having prefix &lt;aa&gt;</a:t>
            </a:r>
          </a:p>
        </p:txBody>
      </p:sp>
      <p:sp>
        <p:nvSpPr>
          <p:cNvPr id="39966" name="Text Box 30"/>
          <p:cNvSpPr txBox="1">
            <a:spLocks noChangeArrowheads="1"/>
          </p:cNvSpPr>
          <p:nvPr/>
        </p:nvSpPr>
        <p:spPr bwMode="auto">
          <a:xfrm>
            <a:off x="212725" y="5846763"/>
            <a:ext cx="1484313" cy="3492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1600" u="sng">
                <a:latin typeface="Tahoma" panose="020B0604030504040204" pitchFamily="34" charset="0"/>
                <a:ea typeface="宋体" panose="02010600030101010101" pitchFamily="2" charset="-122"/>
              </a:rPr>
              <a:t>&lt;aa&gt;-proj. db</a:t>
            </a:r>
          </a:p>
        </p:txBody>
      </p:sp>
      <p:sp>
        <p:nvSpPr>
          <p:cNvPr id="39967" name="Line 31"/>
          <p:cNvSpPr>
            <a:spLocks noChangeShapeType="1"/>
          </p:cNvSpPr>
          <p:nvPr/>
        </p:nvSpPr>
        <p:spPr bwMode="auto">
          <a:xfrm flipH="1">
            <a:off x="914400" y="5029200"/>
            <a:ext cx="609600" cy="838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9968" name="Text Box 32"/>
          <p:cNvSpPr txBox="1">
            <a:spLocks noChangeArrowheads="1"/>
          </p:cNvSpPr>
          <p:nvPr/>
        </p:nvSpPr>
        <p:spPr bwMode="auto">
          <a:xfrm>
            <a:off x="1828800" y="5791200"/>
            <a:ext cx="433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…</a:t>
            </a:r>
          </a:p>
        </p:txBody>
      </p:sp>
      <p:sp>
        <p:nvSpPr>
          <p:cNvPr id="39969" name="Text Box 33"/>
          <p:cNvSpPr txBox="1">
            <a:spLocks noChangeArrowheads="1"/>
          </p:cNvSpPr>
          <p:nvPr/>
        </p:nvSpPr>
        <p:spPr bwMode="auto">
          <a:xfrm>
            <a:off x="2286000" y="5867400"/>
            <a:ext cx="1443038" cy="3492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1600" u="sng">
                <a:latin typeface="Tahoma" panose="020B0604030504040204" pitchFamily="34" charset="0"/>
                <a:ea typeface="宋体" panose="02010600030101010101" pitchFamily="2" charset="-122"/>
              </a:rPr>
              <a:t>&lt;af&gt;-proj. db</a:t>
            </a:r>
          </a:p>
        </p:txBody>
      </p:sp>
      <p:sp>
        <p:nvSpPr>
          <p:cNvPr id="39970" name="Line 34"/>
          <p:cNvSpPr>
            <a:spLocks noChangeShapeType="1"/>
          </p:cNvSpPr>
          <p:nvPr/>
        </p:nvSpPr>
        <p:spPr bwMode="auto">
          <a:xfrm>
            <a:off x="1905000" y="5029200"/>
            <a:ext cx="1143000" cy="838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9971" name="Text Box 35"/>
          <p:cNvSpPr txBox="1">
            <a:spLocks noChangeArrowheads="1"/>
          </p:cNvSpPr>
          <p:nvPr/>
        </p:nvSpPr>
        <p:spPr bwMode="auto">
          <a:xfrm>
            <a:off x="2133600" y="5334000"/>
            <a:ext cx="18970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Having prefix &lt;af&gt;</a:t>
            </a:r>
          </a:p>
        </p:txBody>
      </p:sp>
      <p:sp>
        <p:nvSpPr>
          <p:cNvPr id="39972" name="Text Box 36"/>
          <p:cNvSpPr txBox="1">
            <a:spLocks noChangeArrowheads="1"/>
          </p:cNvSpPr>
          <p:nvPr/>
        </p:nvSpPr>
        <p:spPr bwMode="auto">
          <a:xfrm>
            <a:off x="5029200" y="3657600"/>
            <a:ext cx="2679700" cy="38576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1800" u="sng">
                <a:latin typeface="Tahoma" panose="020B0604030504040204" pitchFamily="34" charset="0"/>
                <a:ea typeface="宋体" panose="02010600030101010101" pitchFamily="2" charset="-122"/>
              </a:rPr>
              <a:t>&lt;b&gt;-projected database</a:t>
            </a:r>
          </a:p>
        </p:txBody>
      </p:sp>
      <p:sp>
        <p:nvSpPr>
          <p:cNvPr id="39973" name="Text Box 37"/>
          <p:cNvSpPr txBox="1">
            <a:spLocks noChangeArrowheads="1"/>
          </p:cNvSpPr>
          <p:nvPr/>
        </p:nvSpPr>
        <p:spPr bwMode="auto">
          <a:xfrm>
            <a:off x="8229600" y="3657600"/>
            <a:ext cx="433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…</a:t>
            </a:r>
          </a:p>
        </p:txBody>
      </p:sp>
      <p:sp>
        <p:nvSpPr>
          <p:cNvPr id="39974" name="Line 38"/>
          <p:cNvSpPr>
            <a:spLocks noChangeShapeType="1"/>
          </p:cNvSpPr>
          <p:nvPr/>
        </p:nvSpPr>
        <p:spPr bwMode="auto">
          <a:xfrm>
            <a:off x="4191000" y="3124200"/>
            <a:ext cx="220980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9975" name="Line 39"/>
          <p:cNvSpPr>
            <a:spLocks noChangeShapeType="1"/>
          </p:cNvSpPr>
          <p:nvPr/>
        </p:nvSpPr>
        <p:spPr bwMode="auto">
          <a:xfrm>
            <a:off x="4572000" y="3124200"/>
            <a:ext cx="381000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9976" name="Text Box 40"/>
          <p:cNvSpPr txBox="1">
            <a:spLocks noChangeArrowheads="1"/>
          </p:cNvSpPr>
          <p:nvPr/>
        </p:nvSpPr>
        <p:spPr bwMode="auto">
          <a:xfrm>
            <a:off x="3276600" y="3276600"/>
            <a:ext cx="2051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1800">
                <a:latin typeface="Tahoma" panose="020B0604030504040204" pitchFamily="34" charset="0"/>
                <a:ea typeface="宋体" panose="02010600030101010101" pitchFamily="2" charset="-122"/>
              </a:rPr>
              <a:t>Having prefix &lt;b&gt;</a:t>
            </a:r>
          </a:p>
        </p:txBody>
      </p:sp>
      <p:sp>
        <p:nvSpPr>
          <p:cNvPr id="39977" name="Text Box 41"/>
          <p:cNvSpPr txBox="1">
            <a:spLocks noChangeArrowheads="1"/>
          </p:cNvSpPr>
          <p:nvPr/>
        </p:nvSpPr>
        <p:spPr bwMode="auto">
          <a:xfrm>
            <a:off x="5791200" y="2971800"/>
            <a:ext cx="29051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1800">
                <a:latin typeface="Tahoma" panose="020B0604030504040204" pitchFamily="34" charset="0"/>
                <a:ea typeface="宋体" panose="02010600030101010101" pitchFamily="2" charset="-122"/>
              </a:rPr>
              <a:t>Having prefix &lt;c&gt;, …, &lt;f&gt;</a:t>
            </a:r>
          </a:p>
        </p:txBody>
      </p:sp>
      <p:sp>
        <p:nvSpPr>
          <p:cNvPr id="39978" name="Line 42"/>
          <p:cNvSpPr>
            <a:spLocks noChangeShapeType="1"/>
          </p:cNvSpPr>
          <p:nvPr/>
        </p:nvSpPr>
        <p:spPr bwMode="auto">
          <a:xfrm flipH="1">
            <a:off x="5638800" y="403860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9979" name="Line 43"/>
          <p:cNvSpPr>
            <a:spLocks noChangeShapeType="1"/>
          </p:cNvSpPr>
          <p:nvPr/>
        </p:nvSpPr>
        <p:spPr bwMode="auto">
          <a:xfrm>
            <a:off x="6324600" y="4038600"/>
            <a:ext cx="381000" cy="685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9980" name="Text Box 44"/>
          <p:cNvSpPr txBox="1">
            <a:spLocks noChangeArrowheads="1"/>
          </p:cNvSpPr>
          <p:nvPr/>
        </p:nvSpPr>
        <p:spPr bwMode="auto">
          <a:xfrm>
            <a:off x="5791200" y="4724400"/>
            <a:ext cx="777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… …</a:t>
            </a:r>
          </a:p>
        </p:txBody>
      </p:sp>
    </p:spTree>
    <p:extLst>
      <p:ext uri="{BB962C8B-B14F-4D97-AF65-F5344CB8AC3E}">
        <p14:creationId xmlns:p14="http://schemas.microsoft.com/office/powerpoint/2010/main" val="1337383237"/>
      </p:ext>
    </p:extLst>
  </p:cSld>
  <p:clrMapOvr>
    <a:masterClrMapping/>
  </p:clrMapOvr>
  <p:transition>
    <p:zo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B35F9D-6B53-4A76-AC3E-733525709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寻找频繁序列 </a:t>
            </a:r>
            <a:r>
              <a:rPr lang="en-US" altLang="zh-CN" dirty="0"/>
              <a:t>– </a:t>
            </a:r>
            <a:r>
              <a:rPr lang="zh-CN" altLang="en-US" dirty="0"/>
              <a:t>朴素算法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658C4D2-1718-481F-A8E9-7EF8163BA1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1800" dirty="0"/>
                  <a:t>对于每条序列数据，找出它所有的子序列（找出所有可能的子序列）</a:t>
                </a:r>
                <a:endParaRPr lang="en-US" altLang="zh-CN" sz="1800" dirty="0"/>
              </a:p>
              <a:p>
                <a:r>
                  <a:rPr lang="zh-CN" altLang="en-US" sz="1800" dirty="0"/>
                  <a:t>扫描数据库，计算每一条子序列</a:t>
                </a:r>
                <a:r>
                  <a:rPr lang="en-US" altLang="zh-CN" sz="1800" dirty="0"/>
                  <a:t>s</a:t>
                </a:r>
                <a:r>
                  <a:rPr lang="zh-CN" altLang="en-US" sz="1800" dirty="0"/>
                  <a:t>的支持度</a:t>
                </a:r>
                <a:endParaRPr lang="en-US" altLang="zh-CN" sz="1800" dirty="0"/>
              </a:p>
              <a:p>
                <a:r>
                  <a:rPr lang="zh-CN" altLang="en-US" sz="1800" dirty="0"/>
                  <a:t>若大于用户给定的最小支持度，则</a:t>
                </a:r>
                <a:r>
                  <a:rPr lang="en-US" altLang="zh-CN" sz="1800" dirty="0"/>
                  <a:t>s</a:t>
                </a:r>
                <a:r>
                  <a:rPr lang="zh-CN" altLang="en-US" sz="1800" dirty="0"/>
                  <a:t>是一条频繁序列</a:t>
                </a:r>
                <a:endParaRPr lang="en-US" altLang="zh-CN" sz="1800" dirty="0"/>
              </a:p>
              <a:p>
                <a:endParaRPr lang="en-US" altLang="zh-CN" sz="1800" dirty="0"/>
              </a:p>
              <a:p>
                <a:r>
                  <a:rPr lang="zh-CN" altLang="en-US" sz="1800" dirty="0"/>
                  <a:t>记序列数据平均长度为</a:t>
                </a:r>
                <a:r>
                  <a:rPr lang="en-US" altLang="zh-CN" sz="1800" dirty="0"/>
                  <a:t>l</a:t>
                </a:r>
                <a:r>
                  <a:rPr lang="zh-CN" altLang="en-US" sz="1800" dirty="0"/>
                  <a:t>，共有</a:t>
                </a:r>
                <a:r>
                  <a:rPr lang="en-US" altLang="zh-CN" sz="1800" dirty="0"/>
                  <a:t>n</a:t>
                </a:r>
                <a:r>
                  <a:rPr lang="zh-CN" altLang="en-US" sz="1800" dirty="0"/>
                  <a:t>条序列数据</a:t>
                </a:r>
                <a:endParaRPr lang="en-US" altLang="zh-CN" sz="1800" dirty="0"/>
              </a:p>
              <a:p>
                <a:r>
                  <a:rPr lang="zh-CN" altLang="en-US" sz="1800" dirty="0"/>
                  <a:t>时间复杂度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b="0" i="1" dirty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altLang="zh-CN" sz="1800" b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b="0" i="1"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lang="en-US" altLang="zh-CN" sz="18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b="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1800" b="0" i="1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US" altLang="zh-CN" sz="1800" b="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sz="1800" b="0" i="1">
                        <a:latin typeface="Cambria Math" panose="02040503050406030204" pitchFamily="18" charset="0"/>
                      </a:rPr>
                      <m:t>𝑛𝑙</m:t>
                    </m:r>
                    <m:r>
                      <a:rPr lang="en-US" altLang="zh-CN" sz="1800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800" dirty="0"/>
              </a:p>
              <a:p>
                <a:r>
                  <a:rPr lang="en-US" altLang="zh-CN" sz="3000" dirty="0"/>
                  <a:t>Too SLOW~~~~~~~~~</a:t>
                </a:r>
                <a:endParaRPr lang="zh-CN" altLang="en-US" sz="30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658C4D2-1718-481F-A8E9-7EF8163BA1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59" t="-10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3141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2ED7D1-50F5-4251-910B-DE5071EC5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寻找频繁序列 </a:t>
            </a:r>
            <a:r>
              <a:rPr lang="en-US" altLang="zh-CN" dirty="0"/>
              <a:t>– </a:t>
            </a:r>
            <a:r>
              <a:rPr lang="zh-CN" altLang="en-US" dirty="0"/>
              <a:t>优化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220B35-AE66-4251-B26C-96539C35C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慢在哪里？</a:t>
            </a:r>
            <a:endParaRPr lang="en-US" altLang="zh-CN" dirty="0"/>
          </a:p>
          <a:p>
            <a:r>
              <a:rPr lang="zh-CN" altLang="en-US" b="1" dirty="0"/>
              <a:t>枚举太多</a:t>
            </a:r>
            <a:r>
              <a:rPr lang="zh-CN" altLang="en-US" dirty="0"/>
              <a:t>非频繁的子序列</a:t>
            </a:r>
            <a:endParaRPr lang="en-US" altLang="zh-CN" dirty="0"/>
          </a:p>
          <a:p>
            <a:pPr lvl="1"/>
            <a:r>
              <a:rPr lang="en-US" altLang="zh-CN" dirty="0"/>
              <a:t>&lt;</a:t>
            </a:r>
            <a:r>
              <a:rPr lang="en-US" altLang="zh-CN" dirty="0" err="1"/>
              <a:t>cba</a:t>
            </a:r>
            <a:r>
              <a:rPr lang="en-US" altLang="zh-CN" dirty="0"/>
              <a:t>&gt;</a:t>
            </a:r>
          </a:p>
          <a:p>
            <a:pPr lvl="1"/>
            <a:r>
              <a:rPr lang="en-US" altLang="zh-CN" dirty="0"/>
              <a:t>&lt;</a:t>
            </a:r>
            <a:r>
              <a:rPr lang="en-US" altLang="zh-CN" dirty="0" err="1"/>
              <a:t>eg</a:t>
            </a:r>
            <a:r>
              <a:rPr lang="en-US" altLang="zh-CN" dirty="0"/>
              <a:t>&gt;</a:t>
            </a:r>
          </a:p>
          <a:p>
            <a:pPr lvl="1"/>
            <a:r>
              <a:rPr lang="en-US" altLang="zh-CN" dirty="0"/>
              <a:t>&lt;gf&gt;</a:t>
            </a:r>
          </a:p>
          <a:p>
            <a:pPr lvl="1"/>
            <a:r>
              <a:rPr lang="en-US" altLang="zh-CN" dirty="0"/>
              <a:t>……</a:t>
            </a:r>
          </a:p>
          <a:p>
            <a:pPr lvl="1"/>
            <a:r>
              <a:rPr lang="zh-CN" altLang="en-US" dirty="0"/>
              <a:t>甚至</a:t>
            </a:r>
            <a:r>
              <a:rPr lang="en-US" altLang="zh-CN" dirty="0"/>
              <a:t>&lt;g&gt;</a:t>
            </a:r>
            <a:r>
              <a:rPr lang="zh-CN" altLang="en-US" dirty="0"/>
              <a:t>本身就不是频繁序列</a:t>
            </a:r>
          </a:p>
        </p:txBody>
      </p:sp>
      <p:graphicFrame>
        <p:nvGraphicFramePr>
          <p:cNvPr id="4" name="表格 5">
            <a:extLst>
              <a:ext uri="{FF2B5EF4-FFF2-40B4-BE49-F238E27FC236}">
                <a16:creationId xmlns:a16="http://schemas.microsoft.com/office/drawing/2014/main" id="{E1A8B732-7C88-4560-97D5-594429B114B6}"/>
              </a:ext>
            </a:extLst>
          </p:cNvPr>
          <p:cNvGraphicFramePr>
            <a:graphicFrameLocks noGrp="1"/>
          </p:cNvGraphicFramePr>
          <p:nvPr/>
        </p:nvGraphicFramePr>
        <p:xfrm>
          <a:off x="5243745" y="2686050"/>
          <a:ext cx="2484586" cy="14859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7068">
                  <a:extLst>
                    <a:ext uri="{9D8B030D-6E8A-4147-A177-3AD203B41FA5}">
                      <a16:colId xmlns:a16="http://schemas.microsoft.com/office/drawing/2014/main" val="517240342"/>
                    </a:ext>
                  </a:extLst>
                </a:gridCol>
                <a:gridCol w="1877518">
                  <a:extLst>
                    <a:ext uri="{9D8B030D-6E8A-4147-A177-3AD203B41FA5}">
                      <a16:colId xmlns:a16="http://schemas.microsoft.com/office/drawing/2014/main" val="151886849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SID</a:t>
                      </a:r>
                      <a:endParaRPr lang="zh-CN" altLang="en-US" sz="1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sequence</a:t>
                      </a:r>
                      <a:endParaRPr lang="zh-CN" altLang="en-US" sz="1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8262411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&lt;a(</a:t>
                      </a:r>
                      <a:r>
                        <a:rPr lang="en-US" altLang="zh-CN" sz="1500" b="1" u="none" dirty="0" err="1">
                          <a:solidFill>
                            <a:schemeClr val="tx1"/>
                          </a:solidFill>
                        </a:rPr>
                        <a:t>abc</a:t>
                      </a:r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)(ac)d(</a:t>
                      </a:r>
                      <a:r>
                        <a:rPr lang="en-US" altLang="zh-CN" sz="1500" b="1" u="none" dirty="0" err="1">
                          <a:solidFill>
                            <a:schemeClr val="tx1"/>
                          </a:solidFill>
                        </a:rPr>
                        <a:t>cf</a:t>
                      </a:r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)&gt;</a:t>
                      </a:r>
                      <a:endParaRPr lang="zh-CN" altLang="en-US" sz="1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67190899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zh-CN" altLang="en-US" sz="1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&lt;(ad)c(</a:t>
                      </a:r>
                      <a:r>
                        <a:rPr lang="en-US" altLang="zh-CN" sz="1500" b="1" u="none" dirty="0" err="1">
                          <a:solidFill>
                            <a:schemeClr val="tx1"/>
                          </a:solidFill>
                        </a:rPr>
                        <a:t>bc</a:t>
                      </a:r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)(ae)&gt;</a:t>
                      </a:r>
                      <a:endParaRPr lang="zh-CN" altLang="en-US" sz="1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39316948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CN" altLang="en-US" sz="1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&lt;(</a:t>
                      </a:r>
                      <a:r>
                        <a:rPr lang="en-US" altLang="zh-CN" sz="1500" b="1" u="none" dirty="0" err="1">
                          <a:solidFill>
                            <a:schemeClr val="tx1"/>
                          </a:solidFill>
                        </a:rPr>
                        <a:t>ef</a:t>
                      </a:r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)(ab)(df)</a:t>
                      </a:r>
                      <a:r>
                        <a:rPr lang="en-US" altLang="zh-CN" sz="1500" b="1" u="none" dirty="0" err="1">
                          <a:solidFill>
                            <a:schemeClr val="tx1"/>
                          </a:solidFill>
                        </a:rPr>
                        <a:t>cb</a:t>
                      </a:r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&gt;</a:t>
                      </a:r>
                      <a:endParaRPr lang="zh-CN" altLang="en-US" sz="1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682869768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CN" altLang="en-US" sz="1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altLang="zh-CN" sz="1500" b="1" u="none" dirty="0" err="1">
                          <a:solidFill>
                            <a:schemeClr val="tx1"/>
                          </a:solidFill>
                        </a:rPr>
                        <a:t>eg</a:t>
                      </a:r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zh-CN" sz="1500" b="1" u="none" dirty="0" err="1">
                          <a:solidFill>
                            <a:schemeClr val="tx1"/>
                          </a:solidFill>
                        </a:rPr>
                        <a:t>af</a:t>
                      </a:r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en-US" altLang="zh-CN" sz="1500" b="1" u="none" dirty="0" err="1">
                          <a:solidFill>
                            <a:schemeClr val="tx1"/>
                          </a:solidFill>
                        </a:rPr>
                        <a:t>cbc</a:t>
                      </a:r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&gt;</a:t>
                      </a:r>
                      <a:endParaRPr lang="zh-CN" altLang="en-US" sz="1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75547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4720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25E6A2-37E4-4423-90D8-B9E62EFCB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寻找频繁序列 </a:t>
            </a:r>
            <a:r>
              <a:rPr lang="en-US" altLang="zh-CN" dirty="0"/>
              <a:t>– </a:t>
            </a:r>
            <a:r>
              <a:rPr lang="zh-CN" altLang="en-US" dirty="0"/>
              <a:t>优化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3468F6-D0AB-4485-8571-F11CDA1C0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观察</a:t>
            </a:r>
            <a:r>
              <a:rPr lang="en-US" altLang="zh-CN" dirty="0"/>
              <a:t>&lt;g&gt;</a:t>
            </a:r>
            <a:r>
              <a:rPr lang="zh-CN" altLang="en-US" dirty="0"/>
              <a:t>和</a:t>
            </a:r>
            <a:r>
              <a:rPr lang="en-US" altLang="zh-CN" dirty="0"/>
              <a:t>&lt;gf&gt;</a:t>
            </a:r>
          </a:p>
          <a:p>
            <a:r>
              <a:rPr lang="zh-CN" altLang="en-US" dirty="0"/>
              <a:t>他们都不是频繁序列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&lt;g&gt;</a:t>
            </a:r>
            <a:r>
              <a:rPr lang="zh-CN" altLang="en-US" dirty="0"/>
              <a:t>是</a:t>
            </a:r>
            <a:r>
              <a:rPr lang="en-US" altLang="zh-CN" dirty="0"/>
              <a:t>&lt;gf&gt;</a:t>
            </a:r>
            <a:r>
              <a:rPr lang="zh-CN" altLang="en-US" dirty="0"/>
              <a:t>的前缀</a:t>
            </a:r>
            <a:endParaRPr lang="en-US" altLang="zh-CN" dirty="0"/>
          </a:p>
          <a:p>
            <a:r>
              <a:rPr lang="zh-CN" altLang="en-US" dirty="0"/>
              <a:t>前缀都不是频繁序列</a:t>
            </a:r>
            <a:endParaRPr lang="en-US" altLang="zh-CN" dirty="0"/>
          </a:p>
          <a:p>
            <a:r>
              <a:rPr lang="zh-CN" altLang="en-US" dirty="0"/>
              <a:t>整体可能是频繁序列吗？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利用前缀，在枚举过程中，去除不必要的子序列（剪枝）</a:t>
            </a:r>
          </a:p>
        </p:txBody>
      </p:sp>
      <p:graphicFrame>
        <p:nvGraphicFramePr>
          <p:cNvPr id="4" name="表格 5">
            <a:extLst>
              <a:ext uri="{FF2B5EF4-FFF2-40B4-BE49-F238E27FC236}">
                <a16:creationId xmlns:a16="http://schemas.microsoft.com/office/drawing/2014/main" id="{DCE47DB0-4F20-425B-A5C1-C51AEE36FB94}"/>
              </a:ext>
            </a:extLst>
          </p:cNvPr>
          <p:cNvGraphicFramePr>
            <a:graphicFrameLocks noGrp="1"/>
          </p:cNvGraphicFramePr>
          <p:nvPr/>
        </p:nvGraphicFramePr>
        <p:xfrm>
          <a:off x="5243745" y="2686050"/>
          <a:ext cx="2484586" cy="14859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7068">
                  <a:extLst>
                    <a:ext uri="{9D8B030D-6E8A-4147-A177-3AD203B41FA5}">
                      <a16:colId xmlns:a16="http://schemas.microsoft.com/office/drawing/2014/main" val="517240342"/>
                    </a:ext>
                  </a:extLst>
                </a:gridCol>
                <a:gridCol w="1877518">
                  <a:extLst>
                    <a:ext uri="{9D8B030D-6E8A-4147-A177-3AD203B41FA5}">
                      <a16:colId xmlns:a16="http://schemas.microsoft.com/office/drawing/2014/main" val="151886849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SID</a:t>
                      </a:r>
                      <a:endParaRPr lang="zh-CN" altLang="en-US" sz="1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sequence</a:t>
                      </a:r>
                      <a:endParaRPr lang="zh-CN" altLang="en-US" sz="1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8262411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&lt;a(</a:t>
                      </a:r>
                      <a:r>
                        <a:rPr lang="en-US" altLang="zh-CN" sz="1500" b="1" u="none" dirty="0" err="1">
                          <a:solidFill>
                            <a:schemeClr val="tx1"/>
                          </a:solidFill>
                        </a:rPr>
                        <a:t>abc</a:t>
                      </a:r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)(ac)d(</a:t>
                      </a:r>
                      <a:r>
                        <a:rPr lang="en-US" altLang="zh-CN" sz="1500" b="1" u="none" dirty="0" err="1">
                          <a:solidFill>
                            <a:schemeClr val="tx1"/>
                          </a:solidFill>
                        </a:rPr>
                        <a:t>cf</a:t>
                      </a:r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)&gt;</a:t>
                      </a:r>
                      <a:endParaRPr lang="zh-CN" altLang="en-US" sz="1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67190899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zh-CN" altLang="en-US" sz="1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&lt;(ad)c(</a:t>
                      </a:r>
                      <a:r>
                        <a:rPr lang="en-US" altLang="zh-CN" sz="1500" b="1" u="none" dirty="0" err="1">
                          <a:solidFill>
                            <a:schemeClr val="tx1"/>
                          </a:solidFill>
                        </a:rPr>
                        <a:t>bc</a:t>
                      </a:r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)(ae)&gt;</a:t>
                      </a:r>
                      <a:endParaRPr lang="zh-CN" altLang="en-US" sz="1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39316948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CN" altLang="en-US" sz="1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&lt;(</a:t>
                      </a:r>
                      <a:r>
                        <a:rPr lang="en-US" altLang="zh-CN" sz="1500" b="1" u="none" dirty="0" err="1">
                          <a:solidFill>
                            <a:schemeClr val="tx1"/>
                          </a:solidFill>
                        </a:rPr>
                        <a:t>ef</a:t>
                      </a:r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)(ab)(df)</a:t>
                      </a:r>
                      <a:r>
                        <a:rPr lang="en-US" altLang="zh-CN" sz="1500" b="1" u="none" dirty="0" err="1">
                          <a:solidFill>
                            <a:schemeClr val="tx1"/>
                          </a:solidFill>
                        </a:rPr>
                        <a:t>cb</a:t>
                      </a:r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&gt;</a:t>
                      </a:r>
                      <a:endParaRPr lang="zh-CN" altLang="en-US" sz="1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682869768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CN" altLang="en-US" sz="1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altLang="zh-CN" sz="1500" b="1" u="none" dirty="0" err="1">
                          <a:solidFill>
                            <a:schemeClr val="tx1"/>
                          </a:solidFill>
                        </a:rPr>
                        <a:t>eg</a:t>
                      </a:r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zh-CN" sz="1500" b="1" u="none" dirty="0" err="1">
                          <a:solidFill>
                            <a:schemeClr val="tx1"/>
                          </a:solidFill>
                        </a:rPr>
                        <a:t>af</a:t>
                      </a:r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en-US" altLang="zh-CN" sz="1500" b="1" u="none" dirty="0" err="1">
                          <a:solidFill>
                            <a:schemeClr val="tx1"/>
                          </a:solidFill>
                        </a:rPr>
                        <a:t>cbc</a:t>
                      </a:r>
                      <a:r>
                        <a:rPr lang="en-US" altLang="zh-CN" sz="1500" b="1" u="none" dirty="0">
                          <a:solidFill>
                            <a:schemeClr val="tx1"/>
                          </a:solidFill>
                        </a:rPr>
                        <a:t>&gt;</a:t>
                      </a:r>
                      <a:endParaRPr lang="zh-CN" altLang="en-US" sz="1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75547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2682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BE276B-FFF8-417C-866B-D36A71AFE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PrefixSpan</a:t>
            </a:r>
            <a:r>
              <a:rPr lang="zh-CN" altLang="en-US" dirty="0"/>
              <a:t>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189E4E-C7B2-4B70-B04D-5C034AC0F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Prefix-Projected Pattern Growth</a:t>
            </a:r>
            <a:r>
              <a:rPr lang="zh-CN" altLang="en-US" dirty="0"/>
              <a:t>，前缀投影的模式挖掘。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S</a:t>
            </a:r>
            <a:r>
              <a:rPr lang="zh-CN" altLang="en-US" dirty="0"/>
              <a:t>的投影：在某序列数据中，</a:t>
            </a:r>
            <a:r>
              <a:rPr lang="zh-CN" altLang="en-US" b="1" dirty="0"/>
              <a:t>以</a:t>
            </a:r>
            <a:r>
              <a:rPr lang="en-US" altLang="zh-CN" b="1" dirty="0"/>
              <a:t>S</a:t>
            </a:r>
            <a:r>
              <a:rPr lang="zh-CN" altLang="en-US" b="1" dirty="0"/>
              <a:t>为</a:t>
            </a:r>
            <a:r>
              <a:rPr lang="zh-CN" altLang="en-US" b="1" u="sng" dirty="0"/>
              <a:t>前缀</a:t>
            </a:r>
            <a:r>
              <a:rPr lang="zh-CN" altLang="en-US" b="1" dirty="0"/>
              <a:t>的最长子序列的</a:t>
            </a:r>
            <a:r>
              <a:rPr lang="zh-CN" altLang="en-US" b="1" u="sng" dirty="0"/>
              <a:t>后缀</a:t>
            </a:r>
            <a:endParaRPr lang="en-US" altLang="zh-CN" b="1" u="sng" dirty="0"/>
          </a:p>
          <a:p>
            <a:r>
              <a:rPr lang="zh-CN" altLang="en-US" dirty="0"/>
              <a:t>以序列数据</a:t>
            </a:r>
            <a:r>
              <a:rPr lang="en-US" altLang="zh-CN" dirty="0"/>
              <a:t>&lt;a(</a:t>
            </a:r>
            <a:r>
              <a:rPr lang="en-US" altLang="zh-CN" dirty="0" err="1"/>
              <a:t>abc</a:t>
            </a:r>
            <a:r>
              <a:rPr lang="en-US" altLang="zh-CN" dirty="0"/>
              <a:t>)(ac)d(</a:t>
            </a:r>
            <a:r>
              <a:rPr lang="en-US" altLang="zh-CN" dirty="0" err="1"/>
              <a:t>cf</a:t>
            </a:r>
            <a:r>
              <a:rPr lang="en-US" altLang="zh-CN" dirty="0"/>
              <a:t>)&gt;</a:t>
            </a:r>
            <a:r>
              <a:rPr lang="zh-CN" altLang="en-US" dirty="0"/>
              <a:t>为例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F43577B0-E400-4C3F-9E7D-3DB22F53CE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007455"/>
              </p:ext>
            </p:extLst>
          </p:nvPr>
        </p:nvGraphicFramePr>
        <p:xfrm>
          <a:off x="1524000" y="4899620"/>
          <a:ext cx="6096000" cy="14097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74495706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74578299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zh-CN" altLang="en-US" sz="1400" b="1" dirty="0"/>
                        <a:t>前缀</a:t>
                      </a:r>
                      <a:r>
                        <a:rPr lang="en-US" altLang="zh-CN" sz="1400" b="1" dirty="0"/>
                        <a:t>S</a:t>
                      </a:r>
                      <a:endParaRPr lang="zh-CN" alt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S</a:t>
                      </a:r>
                      <a:r>
                        <a:rPr lang="zh-CN" altLang="en-US" sz="1400" b="1" dirty="0"/>
                        <a:t>的投影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52257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&lt;a&gt;</a:t>
                      </a:r>
                      <a:endParaRPr lang="zh-CN" alt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&lt;(</a:t>
                      </a:r>
                      <a:r>
                        <a:rPr lang="en-US" altLang="zh-CN" sz="1400" b="1" dirty="0" err="1"/>
                        <a:t>abc</a:t>
                      </a:r>
                      <a:r>
                        <a:rPr lang="en-US" altLang="zh-CN" sz="1400" b="1" dirty="0"/>
                        <a:t>)(ac)d(</a:t>
                      </a:r>
                      <a:r>
                        <a:rPr lang="en-US" altLang="zh-CN" sz="1400" b="1" dirty="0" err="1"/>
                        <a:t>cf</a:t>
                      </a:r>
                      <a:r>
                        <a:rPr lang="en-US" altLang="zh-CN" sz="1400" b="1" dirty="0"/>
                        <a:t>)&gt;</a:t>
                      </a:r>
                      <a:endParaRPr lang="zh-CN" altLang="en-US" sz="14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6990796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&lt;aa&gt;</a:t>
                      </a:r>
                      <a:endParaRPr lang="zh-CN" alt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&lt;(_</a:t>
                      </a:r>
                      <a:r>
                        <a:rPr lang="en-US" altLang="zh-CN" sz="1400" b="1" dirty="0" err="1"/>
                        <a:t>bc</a:t>
                      </a:r>
                      <a:r>
                        <a:rPr lang="en-US" altLang="zh-CN" sz="1400" b="1" dirty="0"/>
                        <a:t>)(ac)d(</a:t>
                      </a:r>
                      <a:r>
                        <a:rPr lang="en-US" altLang="zh-CN" sz="1400" b="1" dirty="0" err="1"/>
                        <a:t>cf</a:t>
                      </a:r>
                      <a:r>
                        <a:rPr lang="en-US" altLang="zh-CN" sz="1400" b="1" dirty="0"/>
                        <a:t>)&gt;</a:t>
                      </a:r>
                      <a:endParaRPr lang="zh-CN" altLang="en-US" sz="14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8388925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&lt;ab&gt;</a:t>
                      </a:r>
                      <a:endParaRPr lang="zh-CN" alt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&lt;(_c)(ac)d(</a:t>
                      </a:r>
                      <a:r>
                        <a:rPr lang="en-US" altLang="zh-CN" sz="1400" b="1" dirty="0" err="1"/>
                        <a:t>cf</a:t>
                      </a:r>
                      <a:r>
                        <a:rPr lang="en-US" altLang="zh-CN" sz="1400" b="1" dirty="0"/>
                        <a:t>)&gt;</a:t>
                      </a:r>
                      <a:endParaRPr lang="zh-CN" altLang="en-US" sz="14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74000107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&lt;cd&gt;</a:t>
                      </a:r>
                      <a:endParaRPr lang="zh-CN" alt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&lt;(</a:t>
                      </a:r>
                      <a:r>
                        <a:rPr lang="en-US" altLang="zh-CN" sz="1400" b="1" dirty="0" err="1"/>
                        <a:t>cf</a:t>
                      </a:r>
                      <a:r>
                        <a:rPr lang="en-US" altLang="zh-CN" sz="1400" b="1" dirty="0"/>
                        <a:t>)&gt;</a:t>
                      </a:r>
                      <a:endParaRPr lang="zh-CN" altLang="en-US" sz="14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62611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79225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>
            <a:extLst>
              <a:ext uri="{FF2B5EF4-FFF2-40B4-BE49-F238E27FC236}">
                <a16:creationId xmlns:a16="http://schemas.microsoft.com/office/drawing/2014/main" id="{E9191A9B-F31D-4F5B-B30A-4BD206F03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1914525"/>
            <a:ext cx="4896544" cy="3366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7E5F9F2-9B00-4262-985A-0D44100A4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PrefixSpan</a:t>
            </a:r>
            <a:r>
              <a:rPr lang="zh-CN" altLang="en-US" dirty="0"/>
              <a:t>算法 </a:t>
            </a:r>
            <a:r>
              <a:rPr lang="en-US" altLang="zh-CN" dirty="0"/>
              <a:t>– </a:t>
            </a:r>
            <a:r>
              <a:rPr lang="zh-CN" altLang="en-US" dirty="0"/>
              <a:t>流程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26B450-8140-44FE-BD49-24211DC35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39" y="1967891"/>
            <a:ext cx="7886700" cy="3774282"/>
          </a:xfrm>
        </p:spPr>
        <p:txBody>
          <a:bodyPr>
            <a:normAutofit/>
          </a:bodyPr>
          <a:lstStyle/>
          <a:p>
            <a:r>
              <a:rPr lang="zh-CN" altLang="en-US" sz="1500" dirty="0"/>
              <a:t>先找长度为</a:t>
            </a:r>
            <a:r>
              <a:rPr lang="en-US" altLang="zh-CN" sz="1500" dirty="0"/>
              <a:t>1</a:t>
            </a:r>
            <a:r>
              <a:rPr lang="zh-CN" altLang="en-US" sz="1500" dirty="0"/>
              <a:t>的子序列</a:t>
            </a:r>
            <a:endParaRPr lang="en-US" altLang="zh-CN" sz="1500" dirty="0"/>
          </a:p>
          <a:p>
            <a:r>
              <a:rPr lang="zh-CN" altLang="en-US" sz="1500" dirty="0"/>
              <a:t>筛出其中的频繁序列，称他们为</a:t>
            </a:r>
            <a:r>
              <a:rPr lang="en-US" altLang="zh-CN" sz="1500" dirty="0"/>
              <a:t>S1</a:t>
            </a:r>
          </a:p>
          <a:p>
            <a:r>
              <a:rPr lang="zh-CN" altLang="en-US" sz="1500" dirty="0"/>
              <a:t>计算每个</a:t>
            </a:r>
            <a:r>
              <a:rPr lang="en-US" altLang="zh-CN" sz="1500" dirty="0"/>
              <a:t>S1</a:t>
            </a:r>
            <a:r>
              <a:rPr lang="zh-CN" altLang="en-US" sz="1500" dirty="0"/>
              <a:t>在每条序列数据中的投影</a:t>
            </a:r>
            <a:endParaRPr lang="en-US" altLang="zh-CN" sz="1500" dirty="0"/>
          </a:p>
          <a:p>
            <a:r>
              <a:rPr lang="zh-CN" altLang="en-US" sz="1500" dirty="0"/>
              <a:t>对于每个</a:t>
            </a:r>
            <a:r>
              <a:rPr lang="en-US" altLang="zh-CN" sz="1500" dirty="0"/>
              <a:t>S1</a:t>
            </a:r>
            <a:r>
              <a:rPr lang="zh-CN" altLang="en-US" sz="1500" dirty="0"/>
              <a:t>，在其投影中找一个字母连上它</a:t>
            </a:r>
            <a:endParaRPr lang="en-US" altLang="zh-CN" sz="1500" dirty="0"/>
          </a:p>
          <a:p>
            <a:endParaRPr lang="en-US" altLang="zh-CN" sz="1500" dirty="0"/>
          </a:p>
          <a:p>
            <a:r>
              <a:rPr lang="zh-CN" altLang="en-US" sz="1500" dirty="0"/>
              <a:t>得到长度为</a:t>
            </a:r>
            <a:r>
              <a:rPr lang="en-US" altLang="zh-CN" sz="1500" dirty="0"/>
              <a:t>2</a:t>
            </a:r>
            <a:r>
              <a:rPr lang="zh-CN" altLang="en-US" sz="1500" dirty="0"/>
              <a:t>的子序列</a:t>
            </a:r>
            <a:endParaRPr lang="en-US" altLang="zh-CN" sz="1500" dirty="0"/>
          </a:p>
          <a:p>
            <a:r>
              <a:rPr lang="zh-CN" altLang="en-US" sz="1500" dirty="0"/>
              <a:t>筛出其中的频繁序列，称他们为</a:t>
            </a:r>
            <a:r>
              <a:rPr lang="en-US" altLang="zh-CN" sz="1500" dirty="0"/>
              <a:t>S2</a:t>
            </a:r>
          </a:p>
          <a:p>
            <a:r>
              <a:rPr lang="zh-CN" altLang="en-US" sz="1500" dirty="0"/>
              <a:t>计算每个</a:t>
            </a:r>
            <a:r>
              <a:rPr lang="en-US" altLang="zh-CN" sz="1500" dirty="0"/>
              <a:t>S2</a:t>
            </a:r>
            <a:r>
              <a:rPr lang="zh-CN" altLang="en-US" sz="1500" dirty="0"/>
              <a:t>在每条序列数据中的投影</a:t>
            </a:r>
            <a:endParaRPr lang="en-US" altLang="zh-CN" sz="1500" dirty="0"/>
          </a:p>
          <a:p>
            <a:r>
              <a:rPr lang="zh-CN" altLang="en-US" sz="1500" dirty="0"/>
              <a:t>对于每个</a:t>
            </a:r>
            <a:r>
              <a:rPr lang="en-US" altLang="zh-CN" sz="1500" dirty="0"/>
              <a:t>S2</a:t>
            </a:r>
            <a:r>
              <a:rPr lang="zh-CN" altLang="en-US" sz="1500" dirty="0"/>
              <a:t>，在其投影中找一个字母连上它</a:t>
            </a:r>
            <a:endParaRPr lang="en-US" altLang="zh-CN" sz="1500" dirty="0"/>
          </a:p>
          <a:p>
            <a:endParaRPr lang="en-US" altLang="zh-CN" sz="1500" dirty="0"/>
          </a:p>
          <a:p>
            <a:r>
              <a:rPr lang="en-US" altLang="zh-CN" sz="1500" dirty="0"/>
              <a:t>……</a:t>
            </a:r>
          </a:p>
          <a:p>
            <a:r>
              <a:rPr lang="zh-CN" altLang="en-US" sz="1500" dirty="0"/>
              <a:t>直到某次已经没有频繁序列，算法结束</a:t>
            </a:r>
            <a:endParaRPr lang="en-US" altLang="zh-CN" sz="1500" dirty="0"/>
          </a:p>
          <a:p>
            <a:endParaRPr lang="en-US" altLang="zh-CN" sz="1500" dirty="0"/>
          </a:p>
          <a:p>
            <a:endParaRPr lang="zh-CN" altLang="en-US" sz="1500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027D4C0-2EA3-4EB3-8D86-D29A2A5132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7700" y="33147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 sz="2700"/>
          </a:p>
        </p:txBody>
      </p:sp>
    </p:spTree>
    <p:extLst>
      <p:ext uri="{BB962C8B-B14F-4D97-AF65-F5344CB8AC3E}">
        <p14:creationId xmlns:p14="http://schemas.microsoft.com/office/powerpoint/2010/main" val="2696593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E99ADDF7-6F40-449E-884F-AEC62A5FF5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" b="47587"/>
          <a:stretch/>
        </p:blipFill>
        <p:spPr bwMode="auto">
          <a:xfrm>
            <a:off x="4355976" y="1914526"/>
            <a:ext cx="4732679" cy="1764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936CD67-20BB-423D-9814-E49621E14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PrefixSpan</a:t>
            </a:r>
            <a:r>
              <a:rPr lang="zh-CN" altLang="en-US" dirty="0"/>
              <a:t>算法 </a:t>
            </a:r>
            <a:r>
              <a:rPr lang="en-US" altLang="zh-CN" dirty="0"/>
              <a:t>– </a:t>
            </a:r>
            <a:r>
              <a:rPr lang="zh-CN" altLang="en-US" dirty="0"/>
              <a:t>流程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D8480C-2175-4238-B421-C2BFEE46C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583" y="2181499"/>
            <a:ext cx="7886700" cy="3500438"/>
          </a:xfrm>
        </p:spPr>
        <p:txBody>
          <a:bodyPr>
            <a:normAutofit/>
          </a:bodyPr>
          <a:lstStyle/>
          <a:p>
            <a:r>
              <a:rPr lang="zh-CN" altLang="en-US" sz="1500" dirty="0"/>
              <a:t>以</a:t>
            </a:r>
            <a:r>
              <a:rPr lang="en-US" altLang="zh-CN" sz="1500" dirty="0"/>
              <a:t>&lt;d&gt;</a:t>
            </a:r>
            <a:r>
              <a:rPr lang="zh-CN" altLang="en-US" sz="1500" dirty="0"/>
              <a:t>为例运行算法</a:t>
            </a:r>
            <a:endParaRPr lang="en-US" altLang="zh-CN" sz="1500" dirty="0"/>
          </a:p>
          <a:p>
            <a:pPr marL="0" indent="0">
              <a:buNone/>
            </a:pPr>
            <a:r>
              <a:rPr lang="zh-CN" altLang="en-US" sz="1500" dirty="0"/>
              <a:t>①</a:t>
            </a:r>
            <a:r>
              <a:rPr lang="en-US" altLang="zh-CN" sz="1500" dirty="0"/>
              <a:t> </a:t>
            </a:r>
            <a:r>
              <a:rPr lang="en-US" altLang="zh-CN" sz="1500" dirty="0">
                <a:solidFill>
                  <a:srgbClr val="FF0000"/>
                </a:solidFill>
              </a:rPr>
              <a:t>&lt;d&gt;</a:t>
            </a:r>
          </a:p>
          <a:p>
            <a:pPr marL="0" indent="0">
              <a:buNone/>
            </a:pPr>
            <a:endParaRPr lang="en-US" altLang="zh-CN" sz="15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sz="1500" dirty="0"/>
              <a:t>② </a:t>
            </a:r>
            <a:r>
              <a:rPr lang="en-US" altLang="zh-CN" sz="1500" dirty="0">
                <a:solidFill>
                  <a:srgbClr val="FF0000"/>
                </a:solidFill>
              </a:rPr>
              <a:t>&lt;d&gt;</a:t>
            </a:r>
            <a:r>
              <a:rPr lang="zh-CN" altLang="en-US" sz="1500" dirty="0">
                <a:solidFill>
                  <a:srgbClr val="FF0000"/>
                </a:solidFill>
              </a:rPr>
              <a:t>：</a:t>
            </a:r>
            <a:r>
              <a:rPr lang="en-US" altLang="zh-CN" sz="1500" dirty="0">
                <a:solidFill>
                  <a:srgbClr val="FF0000"/>
                </a:solidFill>
              </a:rPr>
              <a:t>	&lt;dc&gt; </a:t>
            </a:r>
            <a:r>
              <a:rPr lang="en-US" altLang="zh-CN" sz="1500" dirty="0"/>
              <a:t>&lt;df&gt; </a:t>
            </a:r>
            <a:r>
              <a:rPr lang="en-US" altLang="zh-CN" sz="1500" dirty="0">
                <a:solidFill>
                  <a:srgbClr val="FF0000"/>
                </a:solidFill>
              </a:rPr>
              <a:t>&lt;</a:t>
            </a:r>
            <a:r>
              <a:rPr lang="en-US" altLang="zh-CN" sz="1500" dirty="0" err="1">
                <a:solidFill>
                  <a:srgbClr val="FF0000"/>
                </a:solidFill>
              </a:rPr>
              <a:t>db</a:t>
            </a:r>
            <a:r>
              <a:rPr lang="en-US" altLang="zh-CN" sz="1500" dirty="0">
                <a:solidFill>
                  <a:srgbClr val="FF0000"/>
                </a:solidFill>
              </a:rPr>
              <a:t>&gt; </a:t>
            </a:r>
            <a:r>
              <a:rPr lang="en-US" altLang="zh-CN" sz="1500" dirty="0"/>
              <a:t>&lt;da&gt; &lt;de&gt; &lt;(df)&gt;</a:t>
            </a:r>
          </a:p>
          <a:p>
            <a:pPr marL="0" indent="0">
              <a:buNone/>
            </a:pPr>
            <a:endParaRPr lang="en-US" altLang="zh-CN" sz="1500" dirty="0"/>
          </a:p>
          <a:p>
            <a:pPr marL="0" indent="0">
              <a:buNone/>
            </a:pPr>
            <a:r>
              <a:rPr lang="zh-CN" altLang="en-US" sz="1500" dirty="0"/>
              <a:t>③ </a:t>
            </a:r>
            <a:r>
              <a:rPr lang="en-US" altLang="zh-CN" sz="1500" dirty="0">
                <a:solidFill>
                  <a:srgbClr val="FF0000"/>
                </a:solidFill>
              </a:rPr>
              <a:t>&lt;dc&gt;</a:t>
            </a:r>
            <a:r>
              <a:rPr lang="zh-CN" altLang="en-US" sz="1500" dirty="0">
                <a:solidFill>
                  <a:srgbClr val="FF0000"/>
                </a:solidFill>
              </a:rPr>
              <a:t>：</a:t>
            </a:r>
            <a:r>
              <a:rPr lang="en-US" altLang="zh-CN" sz="1500" dirty="0">
                <a:solidFill>
                  <a:srgbClr val="FF0000"/>
                </a:solidFill>
              </a:rPr>
              <a:t>	</a:t>
            </a:r>
            <a:r>
              <a:rPr lang="en-US" altLang="zh-CN" sz="1500" dirty="0"/>
              <a:t>&lt;d(</a:t>
            </a:r>
            <a:r>
              <a:rPr lang="en-US" altLang="zh-CN" sz="1500" dirty="0" err="1"/>
              <a:t>cf</a:t>
            </a:r>
            <a:r>
              <a:rPr lang="en-US" altLang="zh-CN" sz="1500" dirty="0"/>
              <a:t>)&gt; </a:t>
            </a:r>
            <a:r>
              <a:rPr lang="en-US" altLang="zh-CN" sz="1500" dirty="0">
                <a:solidFill>
                  <a:srgbClr val="FF0000"/>
                </a:solidFill>
              </a:rPr>
              <a:t>&lt;</a:t>
            </a:r>
            <a:r>
              <a:rPr lang="en-US" altLang="zh-CN" sz="1500" dirty="0" err="1">
                <a:solidFill>
                  <a:srgbClr val="FF0000"/>
                </a:solidFill>
              </a:rPr>
              <a:t>dcb</a:t>
            </a:r>
            <a:r>
              <a:rPr lang="en-US" altLang="zh-CN" sz="1500" dirty="0">
                <a:solidFill>
                  <a:srgbClr val="FF0000"/>
                </a:solidFill>
              </a:rPr>
              <a:t>&gt; </a:t>
            </a:r>
            <a:r>
              <a:rPr lang="en-US" altLang="zh-CN" sz="1500" dirty="0"/>
              <a:t>&lt;</a:t>
            </a:r>
            <a:r>
              <a:rPr lang="en-US" altLang="zh-CN" sz="1500" dirty="0" err="1"/>
              <a:t>dca</a:t>
            </a:r>
            <a:r>
              <a:rPr lang="en-US" altLang="zh-CN" sz="1500" dirty="0"/>
              <a:t>&gt; &lt;</a:t>
            </a:r>
            <a:r>
              <a:rPr lang="en-US" altLang="zh-CN" sz="1500" dirty="0" err="1"/>
              <a:t>dce</a:t>
            </a:r>
            <a:r>
              <a:rPr lang="en-US" altLang="zh-CN" sz="1500" dirty="0"/>
              <a:t>&gt;</a:t>
            </a:r>
          </a:p>
          <a:p>
            <a:pPr marL="0" indent="0">
              <a:buNone/>
            </a:pPr>
            <a:r>
              <a:rPr lang="zh-CN" altLang="en-US" sz="1500" dirty="0"/>
              <a:t>③ </a:t>
            </a:r>
            <a:r>
              <a:rPr lang="en-US" altLang="zh-CN" sz="1500" dirty="0">
                <a:solidFill>
                  <a:srgbClr val="FF0000"/>
                </a:solidFill>
              </a:rPr>
              <a:t>&lt;</a:t>
            </a:r>
            <a:r>
              <a:rPr lang="en-US" altLang="zh-CN" sz="1500" dirty="0" err="1">
                <a:solidFill>
                  <a:srgbClr val="FF0000"/>
                </a:solidFill>
              </a:rPr>
              <a:t>db</a:t>
            </a:r>
            <a:r>
              <a:rPr lang="en-US" altLang="zh-CN" sz="1500" dirty="0">
                <a:solidFill>
                  <a:srgbClr val="FF0000"/>
                </a:solidFill>
              </a:rPr>
              <a:t>&gt;</a:t>
            </a:r>
            <a:r>
              <a:rPr lang="zh-CN" altLang="en-US" sz="1500" dirty="0">
                <a:solidFill>
                  <a:srgbClr val="FF0000"/>
                </a:solidFill>
              </a:rPr>
              <a:t>：</a:t>
            </a:r>
            <a:r>
              <a:rPr lang="en-US" altLang="zh-CN" sz="1500" dirty="0">
                <a:solidFill>
                  <a:srgbClr val="FF0000"/>
                </a:solidFill>
              </a:rPr>
              <a:t>	</a:t>
            </a:r>
            <a:r>
              <a:rPr lang="en-US" altLang="zh-CN" sz="1500" dirty="0"/>
              <a:t>&lt;d(</a:t>
            </a:r>
            <a:r>
              <a:rPr lang="en-US" altLang="zh-CN" sz="1500" dirty="0" err="1"/>
              <a:t>bc</a:t>
            </a:r>
            <a:r>
              <a:rPr lang="en-US" altLang="zh-CN" sz="1500" dirty="0"/>
              <a:t>)&gt; &lt;dba&gt; &lt;</a:t>
            </a:r>
            <a:r>
              <a:rPr lang="en-US" altLang="zh-CN" sz="1500" dirty="0" err="1"/>
              <a:t>dbe</a:t>
            </a:r>
            <a:r>
              <a:rPr lang="en-US" altLang="zh-CN" sz="1500" dirty="0"/>
              <a:t>&gt;</a:t>
            </a:r>
          </a:p>
          <a:p>
            <a:pPr marL="0" indent="0">
              <a:buNone/>
            </a:pPr>
            <a:endParaRPr lang="en-US" altLang="zh-CN" sz="1500" dirty="0"/>
          </a:p>
          <a:p>
            <a:pPr marL="0" indent="0">
              <a:buNone/>
            </a:pPr>
            <a:r>
              <a:rPr lang="zh-CN" altLang="en-US" sz="1500" dirty="0"/>
              <a:t>④</a:t>
            </a:r>
            <a:r>
              <a:rPr lang="en-US" altLang="zh-CN" sz="1500" dirty="0">
                <a:solidFill>
                  <a:srgbClr val="FF0000"/>
                </a:solidFill>
              </a:rPr>
              <a:t>&lt;</a:t>
            </a:r>
            <a:r>
              <a:rPr lang="en-US" altLang="zh-CN" sz="1500" dirty="0" err="1">
                <a:solidFill>
                  <a:srgbClr val="FF0000"/>
                </a:solidFill>
              </a:rPr>
              <a:t>dcb</a:t>
            </a:r>
            <a:r>
              <a:rPr lang="en-US" altLang="zh-CN" sz="1500" dirty="0">
                <a:solidFill>
                  <a:srgbClr val="FF0000"/>
                </a:solidFill>
              </a:rPr>
              <a:t>&gt;</a:t>
            </a:r>
            <a:r>
              <a:rPr lang="zh-CN" altLang="en-US" sz="1500" dirty="0">
                <a:solidFill>
                  <a:srgbClr val="FF0000"/>
                </a:solidFill>
              </a:rPr>
              <a:t>：</a:t>
            </a:r>
            <a:r>
              <a:rPr lang="en-US" altLang="zh-CN" sz="1500" dirty="0">
                <a:solidFill>
                  <a:srgbClr val="FF0000"/>
                </a:solidFill>
              </a:rPr>
              <a:t>	</a:t>
            </a:r>
            <a:r>
              <a:rPr lang="en-US" altLang="zh-CN" sz="1500" dirty="0"/>
              <a:t>&lt;dc(</a:t>
            </a:r>
            <a:r>
              <a:rPr lang="en-US" altLang="zh-CN" sz="1500" dirty="0" err="1"/>
              <a:t>bc</a:t>
            </a:r>
            <a:r>
              <a:rPr lang="en-US" altLang="zh-CN" sz="1500" dirty="0"/>
              <a:t>)&gt; &lt;</a:t>
            </a:r>
            <a:r>
              <a:rPr lang="en-US" altLang="zh-CN" sz="1500" dirty="0" err="1"/>
              <a:t>dcba</a:t>
            </a:r>
            <a:r>
              <a:rPr lang="en-US" altLang="zh-CN" sz="1500" dirty="0"/>
              <a:t>&gt; &lt;</a:t>
            </a:r>
            <a:r>
              <a:rPr lang="en-US" altLang="zh-CN" sz="1500" dirty="0" err="1"/>
              <a:t>dcbe</a:t>
            </a:r>
            <a:r>
              <a:rPr lang="en-US" altLang="zh-CN" sz="1500" dirty="0"/>
              <a:t>&gt;</a:t>
            </a:r>
          </a:p>
          <a:p>
            <a:pPr marL="0" indent="0">
              <a:buNone/>
            </a:pPr>
            <a:endParaRPr lang="en-US" altLang="zh-CN" sz="1500" dirty="0"/>
          </a:p>
          <a:p>
            <a:pPr marL="0" indent="0">
              <a:buNone/>
            </a:pPr>
            <a:r>
              <a:rPr lang="zh-CN" altLang="en-US" sz="1500" dirty="0"/>
              <a:t>找不出更长的频繁序列，算法的</a:t>
            </a:r>
            <a:r>
              <a:rPr lang="en-US" altLang="zh-CN" sz="1500" dirty="0"/>
              <a:t>&lt;d&gt;</a:t>
            </a:r>
            <a:r>
              <a:rPr lang="zh-CN" altLang="en-US" sz="1500" dirty="0"/>
              <a:t>分支结束。</a:t>
            </a: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FCA60A5D-C57C-41DF-BC3C-ABFADDC8CFF6}"/>
              </a:ext>
            </a:extLst>
          </p:cNvPr>
          <p:cNvGraphicFramePr>
            <a:graphicFrameLocks noGrp="1"/>
          </p:cNvGraphicFramePr>
          <p:nvPr/>
        </p:nvGraphicFramePr>
        <p:xfrm>
          <a:off x="5592979" y="4157735"/>
          <a:ext cx="1662884" cy="112776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662884">
                  <a:extLst>
                    <a:ext uri="{9D8B030D-6E8A-4147-A177-3AD203B41FA5}">
                      <a16:colId xmlns:a16="http://schemas.microsoft.com/office/drawing/2014/main" val="1046222366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&lt;d&gt;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4227669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&lt;(</a:t>
                      </a:r>
                      <a:r>
                        <a:rPr lang="en-US" altLang="zh-CN" sz="1400" dirty="0" err="1"/>
                        <a:t>cf</a:t>
                      </a:r>
                      <a:r>
                        <a:rPr lang="en-US" altLang="zh-CN" sz="1400" dirty="0"/>
                        <a:t>)&gt;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0300976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&lt;c(</a:t>
                      </a:r>
                      <a:r>
                        <a:rPr lang="en-US" altLang="zh-CN" sz="1400" dirty="0" err="1"/>
                        <a:t>bc</a:t>
                      </a:r>
                      <a:r>
                        <a:rPr lang="en-US" altLang="zh-CN" sz="1400" dirty="0"/>
                        <a:t>)(ae)&gt;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868127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&lt;(_f)</a:t>
                      </a:r>
                      <a:r>
                        <a:rPr lang="en-US" altLang="zh-CN" sz="1400" dirty="0" err="1"/>
                        <a:t>cb</a:t>
                      </a:r>
                      <a:r>
                        <a:rPr lang="en-US" altLang="zh-CN" sz="1400" dirty="0"/>
                        <a:t>&gt;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18798592"/>
                  </a:ext>
                </a:extLst>
              </a:tr>
            </a:tbl>
          </a:graphicData>
        </a:graphic>
      </p:graphicFrame>
      <p:graphicFrame>
        <p:nvGraphicFramePr>
          <p:cNvPr id="8" name="表格 6">
            <a:extLst>
              <a:ext uri="{FF2B5EF4-FFF2-40B4-BE49-F238E27FC236}">
                <a16:creationId xmlns:a16="http://schemas.microsoft.com/office/drawing/2014/main" id="{73CE3DC6-66A2-4AD5-9BDB-73284D816873}"/>
              </a:ext>
            </a:extLst>
          </p:cNvPr>
          <p:cNvGraphicFramePr>
            <a:graphicFrameLocks noGrp="1"/>
          </p:cNvGraphicFramePr>
          <p:nvPr/>
        </p:nvGraphicFramePr>
        <p:xfrm>
          <a:off x="5592979" y="4157735"/>
          <a:ext cx="1662884" cy="112776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662884">
                  <a:extLst>
                    <a:ext uri="{9D8B030D-6E8A-4147-A177-3AD203B41FA5}">
                      <a16:colId xmlns:a16="http://schemas.microsoft.com/office/drawing/2014/main" val="1046222366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&lt;dc&gt;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4227669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&lt;(_f)&gt;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0300976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&lt;(</a:t>
                      </a:r>
                      <a:r>
                        <a:rPr lang="en-US" altLang="zh-CN" sz="1400" dirty="0" err="1"/>
                        <a:t>bc</a:t>
                      </a:r>
                      <a:r>
                        <a:rPr lang="en-US" altLang="zh-CN" sz="1400" dirty="0"/>
                        <a:t>)(ae)&gt;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868127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&lt;b&gt;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18798592"/>
                  </a:ext>
                </a:extLst>
              </a:tr>
            </a:tbl>
          </a:graphicData>
        </a:graphic>
      </p:graphicFrame>
      <p:graphicFrame>
        <p:nvGraphicFramePr>
          <p:cNvPr id="9" name="表格 6">
            <a:extLst>
              <a:ext uri="{FF2B5EF4-FFF2-40B4-BE49-F238E27FC236}">
                <a16:creationId xmlns:a16="http://schemas.microsoft.com/office/drawing/2014/main" id="{3AB9336E-6117-40EA-B936-4608BDCE8B14}"/>
              </a:ext>
            </a:extLst>
          </p:cNvPr>
          <p:cNvGraphicFramePr>
            <a:graphicFrameLocks noGrp="1"/>
          </p:cNvGraphicFramePr>
          <p:nvPr/>
        </p:nvGraphicFramePr>
        <p:xfrm>
          <a:off x="5592979" y="4157735"/>
          <a:ext cx="1662884" cy="56388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662884">
                  <a:extLst>
                    <a:ext uri="{9D8B030D-6E8A-4147-A177-3AD203B41FA5}">
                      <a16:colId xmlns:a16="http://schemas.microsoft.com/office/drawing/2014/main" val="1046222366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&lt;</a:t>
                      </a:r>
                      <a:r>
                        <a:rPr lang="en-US" altLang="zh-CN" sz="1400" dirty="0" err="1"/>
                        <a:t>db</a:t>
                      </a:r>
                      <a:r>
                        <a:rPr lang="en-US" altLang="zh-CN" sz="1400" dirty="0"/>
                        <a:t>&gt;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4227669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&lt;(_c)(ae)&gt;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8681271"/>
                  </a:ext>
                </a:extLst>
              </a:tr>
            </a:tbl>
          </a:graphicData>
        </a:graphic>
      </p:graphicFrame>
      <p:graphicFrame>
        <p:nvGraphicFramePr>
          <p:cNvPr id="10" name="表格 6">
            <a:extLst>
              <a:ext uri="{FF2B5EF4-FFF2-40B4-BE49-F238E27FC236}">
                <a16:creationId xmlns:a16="http://schemas.microsoft.com/office/drawing/2014/main" id="{2CAF261A-4363-462C-889B-0F303ECD51C7}"/>
              </a:ext>
            </a:extLst>
          </p:cNvPr>
          <p:cNvGraphicFramePr>
            <a:graphicFrameLocks noGrp="1"/>
          </p:cNvGraphicFramePr>
          <p:nvPr/>
        </p:nvGraphicFramePr>
        <p:xfrm>
          <a:off x="5592979" y="4157735"/>
          <a:ext cx="1662884" cy="56388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662884">
                  <a:extLst>
                    <a:ext uri="{9D8B030D-6E8A-4147-A177-3AD203B41FA5}">
                      <a16:colId xmlns:a16="http://schemas.microsoft.com/office/drawing/2014/main" val="1046222366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&lt;</a:t>
                      </a:r>
                      <a:r>
                        <a:rPr lang="en-US" altLang="zh-CN" sz="1400" dirty="0" err="1"/>
                        <a:t>dcb</a:t>
                      </a:r>
                      <a:r>
                        <a:rPr lang="en-US" altLang="zh-CN" sz="1400" dirty="0"/>
                        <a:t>&gt;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4227669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&lt;(_c)(ae)&gt;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8681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7551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EFA3F5-0361-474C-89B5-F3BAA9515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PrefixSpan</a:t>
            </a:r>
            <a:r>
              <a:rPr lang="zh-CN" altLang="en-US" dirty="0"/>
              <a:t>算法 </a:t>
            </a:r>
            <a:r>
              <a:rPr lang="en-US" altLang="zh-CN" dirty="0"/>
              <a:t>– </a:t>
            </a:r>
            <a:r>
              <a:rPr lang="zh-CN" altLang="en-US" dirty="0"/>
              <a:t>流程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F7F3F3-C64F-4731-83E7-2877EE498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用类似的方法可以找出其他以</a:t>
            </a:r>
            <a:r>
              <a:rPr lang="en-US" altLang="zh-CN" dirty="0"/>
              <a:t>&lt;a&gt; &lt;b&gt; &lt;c&gt; &lt;e&gt; &lt;f&gt;</a:t>
            </a:r>
            <a:r>
              <a:rPr lang="zh-CN" altLang="en-US" dirty="0"/>
              <a:t>为前缀的频繁序列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169528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4B03AD-6413-4E09-ACA1-EC1BEBC03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PrefixSpan</a:t>
            </a:r>
            <a:r>
              <a:rPr lang="zh-CN" altLang="en-US" dirty="0"/>
              <a:t>算法 </a:t>
            </a:r>
            <a:r>
              <a:rPr lang="en-US" altLang="zh-CN" dirty="0"/>
              <a:t>– </a:t>
            </a:r>
            <a:r>
              <a:rPr lang="zh-CN" altLang="en-US" dirty="0"/>
              <a:t>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299E0E-DA05-4DDB-AA85-435F67D44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72816"/>
            <a:ext cx="7886700" cy="3628130"/>
          </a:xfrm>
        </p:spPr>
        <p:txBody>
          <a:bodyPr>
            <a:normAutofit/>
          </a:bodyPr>
          <a:lstStyle/>
          <a:p>
            <a:r>
              <a:rPr lang="zh-CN" altLang="en-US" sz="1800" dirty="0"/>
              <a:t>基于一个直观思想：</a:t>
            </a:r>
            <a:endParaRPr lang="en-US" altLang="zh-CN" sz="1800" dirty="0"/>
          </a:p>
          <a:p>
            <a:r>
              <a:rPr lang="zh-CN" altLang="en-US" sz="1800" dirty="0"/>
              <a:t>若</a:t>
            </a:r>
            <a:r>
              <a:rPr lang="en-US" altLang="zh-CN" sz="1800" dirty="0"/>
              <a:t>S</a:t>
            </a:r>
            <a:r>
              <a:rPr lang="zh-CN" altLang="en-US" sz="1800" dirty="0"/>
              <a:t>都不是频繁序列，则以</a:t>
            </a:r>
            <a:r>
              <a:rPr lang="en-US" altLang="zh-CN" sz="1800" dirty="0"/>
              <a:t>S</a:t>
            </a:r>
            <a:r>
              <a:rPr lang="zh-CN" altLang="en-US" sz="1800" dirty="0"/>
              <a:t>为前缀的子序列更不可能是频繁序列</a:t>
            </a:r>
            <a:endParaRPr lang="en-US" altLang="zh-CN" sz="1800" dirty="0"/>
          </a:p>
          <a:p>
            <a:r>
              <a:rPr lang="zh-CN" altLang="en-US" sz="1800" dirty="0"/>
              <a:t>与朴素算法比较：</a:t>
            </a:r>
            <a:endParaRPr lang="en-US" altLang="zh-CN" sz="1800" dirty="0"/>
          </a:p>
          <a:p>
            <a:endParaRPr lang="en-US" altLang="zh-CN" sz="1800" dirty="0"/>
          </a:p>
          <a:p>
            <a:endParaRPr lang="en-US" altLang="zh-CN" sz="1800" dirty="0"/>
          </a:p>
          <a:p>
            <a:endParaRPr lang="en-US" altLang="zh-CN" sz="1800" dirty="0"/>
          </a:p>
          <a:p>
            <a:endParaRPr lang="en-US" altLang="zh-CN" sz="1800" dirty="0"/>
          </a:p>
          <a:p>
            <a:endParaRPr lang="en-US" altLang="zh-CN" sz="1800" dirty="0"/>
          </a:p>
          <a:p>
            <a:r>
              <a:rPr lang="zh-CN" altLang="en-US" sz="1800" dirty="0"/>
              <a:t>与其他算法（</a:t>
            </a:r>
            <a:r>
              <a:rPr lang="en-US" altLang="zh-CN" sz="1800" dirty="0"/>
              <a:t>GSP</a:t>
            </a:r>
            <a:r>
              <a:rPr lang="zh-CN" altLang="en-US" sz="1800" dirty="0"/>
              <a:t>、</a:t>
            </a:r>
            <a:r>
              <a:rPr lang="en-US" altLang="zh-CN" sz="1800" dirty="0" err="1"/>
              <a:t>FreeSpan</a:t>
            </a:r>
            <a:r>
              <a:rPr lang="zh-CN" altLang="en-US" sz="1800" dirty="0"/>
              <a:t>）比较：</a:t>
            </a:r>
            <a:endParaRPr lang="en-US" altLang="zh-CN" sz="1800" dirty="0"/>
          </a:p>
          <a:p>
            <a:r>
              <a:rPr lang="zh-CN" altLang="en-US" sz="1800" dirty="0"/>
              <a:t>优势较大，主要在于投影数据集合收缩较快</a:t>
            </a:r>
            <a:endParaRPr lang="en-US" altLang="zh-CN" sz="1800" dirty="0"/>
          </a:p>
          <a:p>
            <a:endParaRPr lang="en-US" altLang="zh-CN" sz="1800" dirty="0"/>
          </a:p>
          <a:p>
            <a:endParaRPr lang="en-US" altLang="zh-CN" dirty="0"/>
          </a:p>
          <a:p>
            <a:endParaRPr lang="en-US" altLang="zh-CN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14E645A5-F019-4296-A733-EA55D2ADBF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632620"/>
              </p:ext>
            </p:extLst>
          </p:nvPr>
        </p:nvGraphicFramePr>
        <p:xfrm>
          <a:off x="708286" y="2905082"/>
          <a:ext cx="7727429" cy="14516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7129">
                  <a:extLst>
                    <a:ext uri="{9D8B030D-6E8A-4147-A177-3AD203B41FA5}">
                      <a16:colId xmlns:a16="http://schemas.microsoft.com/office/drawing/2014/main" val="1347320105"/>
                    </a:ext>
                  </a:extLst>
                </a:gridCol>
                <a:gridCol w="3411847">
                  <a:extLst>
                    <a:ext uri="{9D8B030D-6E8A-4147-A177-3AD203B41FA5}">
                      <a16:colId xmlns:a16="http://schemas.microsoft.com/office/drawing/2014/main" val="2283601513"/>
                    </a:ext>
                  </a:extLst>
                </a:gridCol>
                <a:gridCol w="3188453">
                  <a:extLst>
                    <a:ext uri="{9D8B030D-6E8A-4147-A177-3AD203B41FA5}">
                      <a16:colId xmlns:a16="http://schemas.microsoft.com/office/drawing/2014/main" val="185613685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 err="1"/>
                        <a:t>PrefixSpan</a:t>
                      </a:r>
                      <a:endParaRPr lang="zh-CN" altLang="en-US" sz="12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/>
                        <a:t>朴素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75614074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r>
                        <a:rPr lang="zh-CN" altLang="en-US" sz="1200" b="1" dirty="0"/>
                        <a:t>枚举子序列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/>
                        <a:t>长度增加，子序列数量急剧增长</a:t>
                      </a:r>
                      <a:endParaRPr lang="en-US" altLang="zh-CN" sz="1200" dirty="0"/>
                    </a:p>
                    <a:p>
                      <a:r>
                        <a:rPr lang="zh-CN" altLang="en-US" sz="1200" dirty="0"/>
                        <a:t>更难成为频繁序列，</a:t>
                      </a:r>
                      <a:r>
                        <a:rPr lang="zh-CN" altLang="en-US" sz="1200" b="1" dirty="0"/>
                        <a:t>大量子序列被筛去</a:t>
                      </a:r>
                      <a:endParaRPr lang="en-US" altLang="zh-CN" sz="1200" b="1" dirty="0"/>
                    </a:p>
                    <a:p>
                      <a:r>
                        <a:rPr lang="zh-CN" altLang="en-US" sz="1200" dirty="0"/>
                        <a:t>开销保持稳定较小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长度增加，子序列数量急剧增长</a:t>
                      </a:r>
                      <a:endParaRPr lang="en-US" altLang="zh-CN" sz="1200" dirty="0"/>
                    </a:p>
                    <a:p>
                      <a:r>
                        <a:rPr lang="zh-CN" altLang="en-US" sz="1200" b="1" dirty="0"/>
                        <a:t>没有筛去无用子序列</a:t>
                      </a:r>
                      <a:r>
                        <a:rPr lang="zh-CN" altLang="en-US" sz="1200" dirty="0"/>
                        <a:t>（剪枝）</a:t>
                      </a:r>
                      <a:endParaRPr lang="en-US" altLang="zh-CN" sz="1200" dirty="0"/>
                    </a:p>
                    <a:p>
                      <a:r>
                        <a:rPr lang="zh-CN" altLang="en-US" sz="1200" dirty="0"/>
                        <a:t>开销极大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60090503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zh-CN" altLang="en-US" sz="1200" b="1" dirty="0"/>
                        <a:t>检验频繁序列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/>
                        <a:t>只在每条序列数据的投影里匹配</a:t>
                      </a:r>
                      <a:r>
                        <a:rPr lang="zh-CN" altLang="en-US" sz="1200" dirty="0"/>
                        <a:t>，开销不断缩小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/>
                        <a:t>在每条完整的序列数据里匹配</a:t>
                      </a:r>
                      <a:r>
                        <a:rPr lang="zh-CN" altLang="en-US" sz="1200" dirty="0"/>
                        <a:t>，开销大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9269179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zh-CN" altLang="en-US" sz="1200" b="1" dirty="0"/>
                        <a:t>总结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时空开销小，算法结束快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时空开销大，运行时间长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019752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132523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28912F-60CF-4928-B51F-640814239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PrefixSpan</a:t>
            </a:r>
            <a:r>
              <a:rPr lang="zh-CN" altLang="en-US" dirty="0"/>
              <a:t>算法 </a:t>
            </a:r>
            <a:r>
              <a:rPr lang="en-US" altLang="zh-CN" dirty="0"/>
              <a:t>– </a:t>
            </a:r>
            <a:r>
              <a:rPr lang="zh-CN" altLang="en-US" dirty="0"/>
              <a:t>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460149-2128-44B6-8586-45CC14864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PrefixSpan</a:t>
            </a:r>
            <a:r>
              <a:rPr lang="zh-CN" altLang="en-US" dirty="0"/>
              <a:t>算法的时间复杂度并没有减小</a:t>
            </a:r>
            <a:endParaRPr lang="en-US" altLang="zh-CN" dirty="0"/>
          </a:p>
          <a:p>
            <a:r>
              <a:rPr lang="zh-CN" altLang="en-US" dirty="0"/>
              <a:t>只是因为筛去无用子序列从而在实际应用中表现较好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/>
              <a:t>极端情形：</a:t>
            </a:r>
            <a:endParaRPr lang="en-US" altLang="zh-CN" dirty="0"/>
          </a:p>
          <a:p>
            <a:r>
              <a:rPr lang="zh-CN" altLang="en-US" dirty="0"/>
              <a:t>每条序列数据都只有微小差别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现实中很难出现</a:t>
            </a:r>
            <a:endParaRPr lang="en-US" altLang="zh-CN" dirty="0"/>
          </a:p>
          <a:p>
            <a:r>
              <a:rPr lang="zh-CN" altLang="en-US" dirty="0"/>
              <a:t>高度相似的采样可以被合并处理</a:t>
            </a:r>
          </a:p>
        </p:txBody>
      </p:sp>
    </p:spTree>
    <p:extLst>
      <p:ext uri="{BB962C8B-B14F-4D97-AF65-F5344CB8AC3E}">
        <p14:creationId xmlns:p14="http://schemas.microsoft.com/office/powerpoint/2010/main" val="618960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1894DD89-85B9-408B-AA14-E210B4FECB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58"/>
          <a:stretch/>
        </p:blipFill>
        <p:spPr bwMode="auto">
          <a:xfrm>
            <a:off x="5403777" y="3858221"/>
            <a:ext cx="3021632" cy="1654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5CB8E02-F860-4BD1-A6A9-B5D9E3394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PrefixSpan</a:t>
            </a:r>
            <a:r>
              <a:rPr lang="zh-CN" altLang="en-US" dirty="0"/>
              <a:t>算法 </a:t>
            </a:r>
            <a:r>
              <a:rPr lang="en-US" altLang="zh-CN" dirty="0"/>
              <a:t>– </a:t>
            </a:r>
            <a:r>
              <a:rPr lang="zh-CN" altLang="en-US" dirty="0"/>
              <a:t>拓展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7BD6C1-0301-450B-9ABE-66E2D5DCD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dirty="0" err="1"/>
              <a:t>PrefixSpan</a:t>
            </a:r>
            <a:r>
              <a:rPr lang="zh-CN" altLang="en-US" sz="1800" dirty="0"/>
              <a:t>具有很好的可并行性</a:t>
            </a:r>
            <a:endParaRPr lang="en-US" altLang="zh-CN" sz="1800" dirty="0"/>
          </a:p>
          <a:p>
            <a:r>
              <a:rPr lang="zh-CN" altLang="en-US" sz="1800" dirty="0"/>
              <a:t>例如：以</a:t>
            </a:r>
            <a:r>
              <a:rPr lang="en-US" altLang="zh-CN" sz="1800" dirty="0"/>
              <a:t>&lt;a&gt;</a:t>
            </a:r>
            <a:r>
              <a:rPr lang="zh-CN" altLang="en-US" sz="1800" dirty="0"/>
              <a:t>和</a:t>
            </a:r>
            <a:r>
              <a:rPr lang="en-US" altLang="zh-CN" sz="1800" dirty="0"/>
              <a:t>&lt;d&gt;</a:t>
            </a:r>
            <a:r>
              <a:rPr lang="zh-CN" altLang="en-US" sz="1800" dirty="0"/>
              <a:t>为前缀的子序列是不同（独立）的</a:t>
            </a:r>
            <a:endParaRPr lang="en-US" altLang="zh-CN" sz="1800" dirty="0"/>
          </a:p>
          <a:p>
            <a:r>
              <a:rPr lang="zh-CN" altLang="en-US" sz="1800" dirty="0"/>
              <a:t>因此，可以并行搜索以其为前缀的频繁序列</a:t>
            </a:r>
            <a:endParaRPr lang="en-US" altLang="zh-CN" sz="1800" dirty="0"/>
          </a:p>
          <a:p>
            <a:endParaRPr lang="en-US" altLang="zh-CN" sz="1800" dirty="0"/>
          </a:p>
          <a:p>
            <a:r>
              <a:rPr lang="zh-CN" altLang="en-US" sz="1800" dirty="0"/>
              <a:t>在分布式大数据平台中能够很好地提升性能</a:t>
            </a:r>
            <a:endParaRPr lang="en-US" altLang="zh-CN" sz="1800" dirty="0"/>
          </a:p>
          <a:p>
            <a:r>
              <a:rPr lang="zh-CN" altLang="en-US" sz="1800" dirty="0"/>
              <a:t>例如：</a:t>
            </a:r>
            <a:r>
              <a:rPr lang="en-US" altLang="zh-CN" sz="1800" dirty="0" err="1"/>
              <a:t>Spart</a:t>
            </a:r>
            <a:r>
              <a:rPr lang="zh-CN" altLang="en-US" sz="1800" dirty="0"/>
              <a:t>的</a:t>
            </a:r>
            <a:r>
              <a:rPr lang="en-US" altLang="zh-CN" sz="1800" dirty="0" err="1"/>
              <a:t>Mllib</a:t>
            </a:r>
            <a:endParaRPr lang="en-US" altLang="zh-CN" sz="1800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665610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382000" cy="669925"/>
          </a:xfrm>
        </p:spPr>
        <p:txBody>
          <a:bodyPr/>
          <a:lstStyle/>
          <a:p>
            <a:pPr>
              <a:defRPr/>
            </a:pPr>
            <a:r>
              <a:rPr lang="en-US" altLang="zh-CN">
                <a:ea typeface="宋体" pitchFamily="2" charset="-122"/>
              </a:rPr>
              <a:t>So far, we covered</a:t>
            </a:r>
          </a:p>
        </p:txBody>
      </p:sp>
      <p:graphicFrame>
        <p:nvGraphicFramePr>
          <p:cNvPr id="672771" name="Group 3"/>
          <p:cNvGraphicFramePr>
            <a:graphicFrameLocks noGrp="1"/>
          </p:cNvGraphicFramePr>
          <p:nvPr/>
        </p:nvGraphicFramePr>
        <p:xfrm>
          <a:off x="611188" y="1628775"/>
          <a:ext cx="8077200" cy="4710184"/>
        </p:xfrm>
        <a:graphic>
          <a:graphicData uri="http://schemas.openxmlformats.org/drawingml/2006/table">
            <a:tbl>
              <a:tblPr/>
              <a:tblGrid>
                <a:gridCol w="2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0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8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03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17098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Read-based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Write-based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Point-based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1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Association Mining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Apriori[AgSr94]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VIPER[SHSB00]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FPGrowth [HaPe00]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17098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64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Sub-Graph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Mining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AGM[PKDD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ahoma"/>
                          <a:ea typeface="宋体" pitchFamily="2" charset="-122"/>
                        </a:rPr>
                        <a:t>’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00] 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FSG[ICDM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ahoma"/>
                          <a:ea typeface="宋体" pitchFamily="2" charset="-122"/>
                        </a:rPr>
                        <a:t>’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01]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Mofa[ICDM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ahoma"/>
                          <a:ea typeface="宋体" pitchFamily="2" charset="-122"/>
                        </a:rPr>
                        <a:t>’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02]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gSpan[ICDM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ahoma"/>
                          <a:ea typeface="宋体" pitchFamily="2" charset="-122"/>
                        </a:rPr>
                        <a:t>’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02]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17098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0963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Sequential Pattern Discovery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GSP[AgSr96]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PrefixSpan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[PHPC01]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17098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4353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Iceberg Cube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Apriori[AgSr94]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17098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17098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7098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BUC[BeRa99], H-cubing [HPDW01]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17098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3043" name="Line 35"/>
          <p:cNvSpPr>
            <a:spLocks noChangeShapeType="1"/>
          </p:cNvSpPr>
          <p:nvPr/>
        </p:nvSpPr>
        <p:spPr bwMode="auto">
          <a:xfrm flipV="1">
            <a:off x="2700338" y="2492375"/>
            <a:ext cx="1871662" cy="5048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44" name="Line 36"/>
          <p:cNvSpPr>
            <a:spLocks noChangeShapeType="1"/>
          </p:cNvSpPr>
          <p:nvPr/>
        </p:nvSpPr>
        <p:spPr bwMode="auto">
          <a:xfrm flipH="1" flipV="1">
            <a:off x="2627313" y="2420938"/>
            <a:ext cx="1873250" cy="5762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45" name="Line 37"/>
          <p:cNvSpPr>
            <a:spLocks noChangeShapeType="1"/>
          </p:cNvSpPr>
          <p:nvPr/>
        </p:nvSpPr>
        <p:spPr bwMode="auto">
          <a:xfrm flipV="1">
            <a:off x="2759075" y="3168650"/>
            <a:ext cx="1871663" cy="5048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46" name="Line 38"/>
          <p:cNvSpPr>
            <a:spLocks noChangeShapeType="1"/>
          </p:cNvSpPr>
          <p:nvPr/>
        </p:nvSpPr>
        <p:spPr bwMode="auto">
          <a:xfrm flipH="1" flipV="1">
            <a:off x="2686050" y="3097213"/>
            <a:ext cx="1873250" cy="5762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47" name="Line 39"/>
          <p:cNvSpPr>
            <a:spLocks noChangeShapeType="1"/>
          </p:cNvSpPr>
          <p:nvPr/>
        </p:nvSpPr>
        <p:spPr bwMode="auto">
          <a:xfrm flipV="1">
            <a:off x="4745038" y="2492375"/>
            <a:ext cx="1871662" cy="5048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48" name="Line 40"/>
          <p:cNvSpPr>
            <a:spLocks noChangeShapeType="1"/>
          </p:cNvSpPr>
          <p:nvPr/>
        </p:nvSpPr>
        <p:spPr bwMode="auto">
          <a:xfrm flipH="1" flipV="1">
            <a:off x="4672013" y="2420938"/>
            <a:ext cx="1873250" cy="5762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49" name="Line 41"/>
          <p:cNvSpPr>
            <a:spLocks noChangeShapeType="1"/>
          </p:cNvSpPr>
          <p:nvPr/>
        </p:nvSpPr>
        <p:spPr bwMode="auto">
          <a:xfrm flipV="1">
            <a:off x="2873375" y="4032250"/>
            <a:ext cx="1871663" cy="5048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50" name="Line 42"/>
          <p:cNvSpPr>
            <a:spLocks noChangeShapeType="1"/>
          </p:cNvSpPr>
          <p:nvPr/>
        </p:nvSpPr>
        <p:spPr bwMode="auto">
          <a:xfrm flipH="1" flipV="1">
            <a:off x="2800350" y="3960812"/>
            <a:ext cx="1873250" cy="5762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39"/>
          <p:cNvSpPr>
            <a:spLocks noChangeShapeType="1"/>
          </p:cNvSpPr>
          <p:nvPr/>
        </p:nvSpPr>
        <p:spPr bwMode="auto">
          <a:xfrm flipV="1">
            <a:off x="4933057" y="3168650"/>
            <a:ext cx="1871662" cy="5048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40"/>
          <p:cNvSpPr>
            <a:spLocks noChangeShapeType="1"/>
          </p:cNvSpPr>
          <p:nvPr/>
        </p:nvSpPr>
        <p:spPr bwMode="auto">
          <a:xfrm flipH="1" flipV="1">
            <a:off x="4860032" y="3097213"/>
            <a:ext cx="1873250" cy="5762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39"/>
          <p:cNvSpPr>
            <a:spLocks noChangeShapeType="1"/>
          </p:cNvSpPr>
          <p:nvPr/>
        </p:nvSpPr>
        <p:spPr bwMode="auto">
          <a:xfrm flipV="1">
            <a:off x="5062537" y="4090171"/>
            <a:ext cx="1871662" cy="5048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40"/>
          <p:cNvSpPr>
            <a:spLocks noChangeShapeType="1"/>
          </p:cNvSpPr>
          <p:nvPr/>
        </p:nvSpPr>
        <p:spPr bwMode="auto">
          <a:xfrm flipH="1" flipV="1">
            <a:off x="4989512" y="4018734"/>
            <a:ext cx="1873250" cy="5762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6042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关联规则应用案例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《</a:t>
            </a:r>
            <a:r>
              <a:rPr lang="en-US" altLang="zh-CN" dirty="0"/>
              <a:t>PR-Miner: Automatically Extracting Implicit Programming Rules and Detecting Violations in Large Software Code </a:t>
            </a:r>
            <a:r>
              <a:rPr lang="zh-CN" altLang="zh-CN" dirty="0"/>
              <a:t>》</a:t>
            </a:r>
            <a:r>
              <a:rPr lang="zh-CN" altLang="en-US" dirty="0"/>
              <a:t>应用</a:t>
            </a:r>
            <a:r>
              <a:rPr lang="zh-CN" altLang="zh-CN" dirty="0"/>
              <a:t>正关联规则在大型软件代码</a:t>
            </a:r>
            <a:r>
              <a:rPr lang="zh-CN" altLang="en-US" dirty="0"/>
              <a:t>中</a:t>
            </a:r>
            <a:r>
              <a:rPr lang="zh-CN" altLang="zh-CN" dirty="0"/>
              <a:t>进行漏洞检测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《</a:t>
            </a:r>
            <a:r>
              <a:rPr lang="en-US" altLang="zh-CN" dirty="0"/>
              <a:t>NAR-Miner: Discovering Negative Association Rules from </a:t>
            </a:r>
            <a:r>
              <a:rPr lang="en-US" altLang="zh-CN" dirty="0" err="1"/>
              <a:t>Codefor</a:t>
            </a:r>
            <a:r>
              <a:rPr lang="en-US" altLang="zh-CN" dirty="0"/>
              <a:t> Bug Detection</a:t>
            </a:r>
            <a:r>
              <a:rPr lang="zh-CN" altLang="zh-CN" dirty="0"/>
              <a:t>》</a:t>
            </a:r>
            <a:r>
              <a:rPr lang="zh-CN" altLang="en-US" dirty="0"/>
              <a:t>应用</a:t>
            </a:r>
            <a:r>
              <a:rPr lang="zh-CN" altLang="zh-CN" dirty="0"/>
              <a:t>负关联规则在大型软件代码</a:t>
            </a:r>
            <a:r>
              <a:rPr lang="zh-CN" altLang="en-US" dirty="0"/>
              <a:t>中</a:t>
            </a:r>
            <a:r>
              <a:rPr lang="zh-CN" altLang="zh-CN" dirty="0"/>
              <a:t>进行漏洞检测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511491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关联规则应用案例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0" y="1600200"/>
            <a:ext cx="8583488" cy="4800600"/>
          </a:xfrm>
        </p:spPr>
        <p:txBody>
          <a:bodyPr/>
          <a:lstStyle/>
          <a:p>
            <a:r>
              <a:rPr lang="zh-CN" altLang="zh-CN" dirty="0"/>
              <a:t>程序遵循编程规则，如对于</a:t>
            </a:r>
            <a:r>
              <a:rPr lang="en-US" altLang="zh-CN" dirty="0"/>
              <a:t>lock</a:t>
            </a:r>
            <a:r>
              <a:rPr lang="zh-CN" altLang="zh-CN" dirty="0"/>
              <a:t>与</a:t>
            </a:r>
            <a:r>
              <a:rPr lang="en-US" altLang="zh-CN" dirty="0"/>
              <a:t>unlock</a:t>
            </a:r>
            <a:r>
              <a:rPr lang="zh-CN" altLang="zh-CN" dirty="0"/>
              <a:t>函数对，调用</a:t>
            </a:r>
            <a:r>
              <a:rPr lang="en-US" altLang="zh-CN" dirty="0"/>
              <a:t>lock</a:t>
            </a:r>
            <a:r>
              <a:rPr lang="zh-CN" altLang="zh-CN" dirty="0"/>
              <a:t>后需要调用</a:t>
            </a:r>
            <a:r>
              <a:rPr lang="en-US" altLang="zh-CN" dirty="0"/>
              <a:t>unlock</a:t>
            </a:r>
          </a:p>
          <a:p>
            <a:r>
              <a:rPr lang="zh-CN" altLang="zh-CN" dirty="0"/>
              <a:t>除了明显的编程规则外，在规模庞大的软件代码中还存在许多更复杂的隐式编程规则，规则涉及的程序元素（函数，变量，数据类型等）也更多</a:t>
            </a:r>
            <a:endParaRPr lang="en-US" altLang="zh-CN" dirty="0"/>
          </a:p>
          <a:p>
            <a:r>
              <a:rPr lang="zh-CN" altLang="zh-CN" dirty="0"/>
              <a:t>在源代码中，这些程序元素经常一起出现。当程序元素（函数）</a:t>
            </a:r>
            <a:r>
              <a:rPr lang="en-US" altLang="zh-CN" dirty="0"/>
              <a:t>A</a:t>
            </a:r>
            <a:r>
              <a:rPr lang="zh-CN" altLang="zh-CN" dirty="0"/>
              <a:t>出现时，元素</a:t>
            </a:r>
            <a:r>
              <a:rPr lang="en-US" altLang="zh-CN" dirty="0"/>
              <a:t>B</a:t>
            </a:r>
            <a:r>
              <a:rPr lang="zh-CN" altLang="zh-CN" dirty="0"/>
              <a:t>也应该出现。因此，如果一个函数违反了规则</a:t>
            </a:r>
            <a:r>
              <a:rPr lang="en-US" altLang="zh-CN" dirty="0"/>
              <a:t>(</a:t>
            </a:r>
            <a:r>
              <a:rPr lang="zh-CN" altLang="zh-CN" dirty="0"/>
              <a:t>即，包含一个</a:t>
            </a:r>
            <a:r>
              <a:rPr lang="en-US" altLang="zh-CN" dirty="0"/>
              <a:t>A</a:t>
            </a:r>
            <a:r>
              <a:rPr lang="zh-CN" altLang="zh-CN" dirty="0"/>
              <a:t>而不包含一个</a:t>
            </a:r>
            <a:r>
              <a:rPr lang="en-US" altLang="zh-CN" dirty="0"/>
              <a:t>B)</a:t>
            </a:r>
            <a:r>
              <a:rPr lang="zh-CN" altLang="zh-CN" dirty="0"/>
              <a:t>，那么就有可能出现潜在的</a:t>
            </a:r>
            <a:r>
              <a:rPr lang="en-US" altLang="zh-CN" dirty="0"/>
              <a:t>bug</a:t>
            </a:r>
          </a:p>
          <a:p>
            <a:r>
              <a:rPr lang="zh-CN" altLang="zh-CN" dirty="0"/>
              <a:t>这种关系表现为一种正相关的模式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107045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关联规则应用案例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而在实际的编程中，同时存在负相关规则：当</a:t>
            </a:r>
            <a:r>
              <a:rPr lang="en-US" altLang="zh-CN" dirty="0"/>
              <a:t>A</a:t>
            </a:r>
            <a:r>
              <a:rPr lang="zh-CN" altLang="zh-CN" dirty="0"/>
              <a:t>出现时，</a:t>
            </a:r>
            <a:r>
              <a:rPr lang="en-US" altLang="zh-CN" dirty="0"/>
              <a:t>B</a:t>
            </a:r>
            <a:r>
              <a:rPr lang="zh-CN" altLang="zh-CN" dirty="0"/>
              <a:t>不应该出现，反之亦然</a:t>
            </a:r>
            <a:endParaRPr lang="en-US" altLang="zh-CN" dirty="0"/>
          </a:p>
          <a:p>
            <a:r>
              <a:rPr lang="zh-CN" altLang="zh-CN" dirty="0"/>
              <a:t>一个负相关的规则反映了</a:t>
            </a:r>
            <a:r>
              <a:rPr lang="en-US" altLang="zh-CN" dirty="0"/>
              <a:t>A</a:t>
            </a:r>
            <a:r>
              <a:rPr lang="zh-CN" altLang="zh-CN" dirty="0"/>
              <a:t>和</a:t>
            </a:r>
            <a:r>
              <a:rPr lang="en-US" altLang="zh-CN" dirty="0"/>
              <a:t>B</a:t>
            </a:r>
            <a:r>
              <a:rPr lang="zh-CN" altLang="zh-CN" dirty="0"/>
              <a:t>之间相互压制或相互冲突的关系，</a:t>
            </a:r>
            <a:r>
              <a:rPr lang="en-US" altLang="zh-CN" dirty="0"/>
              <a:t>A</a:t>
            </a:r>
            <a:r>
              <a:rPr lang="zh-CN" altLang="zh-CN" dirty="0"/>
              <a:t>、</a:t>
            </a:r>
            <a:r>
              <a:rPr lang="en-US" altLang="zh-CN" dirty="0"/>
              <a:t>B</a:t>
            </a:r>
            <a:r>
              <a:rPr lang="zh-CN" altLang="zh-CN" dirty="0"/>
              <a:t>很少同时出现，违反负规则也可能导致</a:t>
            </a:r>
            <a:r>
              <a:rPr lang="en-US" altLang="zh-CN" dirty="0"/>
              <a:t>bug</a:t>
            </a:r>
          </a:p>
          <a:p>
            <a:r>
              <a:rPr lang="zh-CN" altLang="zh-CN" dirty="0"/>
              <a:t>因此，就需要通过相应的方式自动地从大型系统源代码中提取正、负关联规则，并检测它们的违规</a:t>
            </a:r>
            <a:r>
              <a:rPr lang="zh-CN" altLang="en-US" dirty="0"/>
              <a:t>从而</a:t>
            </a:r>
            <a:r>
              <a:rPr lang="zh-CN" altLang="zh-CN" dirty="0"/>
              <a:t>发现</a:t>
            </a:r>
            <a:r>
              <a:rPr lang="en-US" altLang="zh-CN" dirty="0"/>
              <a:t>bug</a:t>
            </a:r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958454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关联规则应用案例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使用正关联规则进行代码检测的流程图如下</a:t>
            </a:r>
            <a:r>
              <a:rPr lang="en-US" altLang="zh-CN" dirty="0"/>
              <a:t>:</a:t>
            </a:r>
            <a:endParaRPr lang="zh-CN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2420888"/>
            <a:ext cx="6192688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78078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关联规则应用案例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例如，</a:t>
            </a:r>
            <a:r>
              <a:rPr lang="zh-CN" altLang="en-US" dirty="0"/>
              <a:t>用频繁模式挖掘算法</a:t>
            </a:r>
            <a:r>
              <a:rPr lang="zh-CN" altLang="zh-CN" dirty="0"/>
              <a:t>可以找到</a:t>
            </a:r>
            <a:r>
              <a:rPr lang="en-US" altLang="zh-CN" dirty="0"/>
              <a:t>{spin lock </a:t>
            </a:r>
            <a:r>
              <a:rPr lang="en-US" altLang="zh-CN" dirty="0" err="1"/>
              <a:t>irqsave</a:t>
            </a:r>
            <a:r>
              <a:rPr lang="en-US" altLang="zh-CN" dirty="0"/>
              <a:t>, spin unlock </a:t>
            </a:r>
            <a:r>
              <a:rPr lang="en-US" altLang="zh-CN" dirty="0" err="1"/>
              <a:t>irqrestore</a:t>
            </a:r>
            <a:r>
              <a:rPr lang="en-US" altLang="zh-CN" dirty="0"/>
              <a:t>} </a:t>
            </a:r>
            <a:r>
              <a:rPr lang="zh-CN" altLang="zh-CN" dirty="0"/>
              <a:t>是一种</a:t>
            </a:r>
            <a:r>
              <a:rPr lang="zh-CN" altLang="en-US" dirty="0"/>
              <a:t>频繁</a:t>
            </a:r>
            <a:r>
              <a:rPr lang="zh-CN" altLang="zh-CN" dirty="0"/>
              <a:t>编程模式，它在</a:t>
            </a:r>
            <a:r>
              <a:rPr lang="en-US" altLang="zh-CN" dirty="0"/>
              <a:t>Linux</a:t>
            </a:r>
            <a:r>
              <a:rPr lang="zh-CN" altLang="zh-CN" dirty="0"/>
              <a:t>源代码中出现了</a:t>
            </a:r>
            <a:r>
              <a:rPr lang="en-US" altLang="zh-CN" dirty="0"/>
              <a:t>3600</a:t>
            </a:r>
            <a:r>
              <a:rPr lang="zh-CN" altLang="zh-CN" dirty="0"/>
              <a:t>多次</a:t>
            </a:r>
            <a:endParaRPr lang="en-US" altLang="zh-CN" dirty="0"/>
          </a:p>
          <a:p>
            <a:pPr marL="0" indent="0">
              <a:buNone/>
            </a:pPr>
            <a:endParaRPr lang="zh-CN" altLang="zh-CN" dirty="0"/>
          </a:p>
          <a:p>
            <a:r>
              <a:rPr lang="zh-CN" altLang="zh-CN" dirty="0"/>
              <a:t>将生成</a:t>
            </a:r>
            <a:r>
              <a:rPr lang="zh-CN" altLang="en-US" dirty="0"/>
              <a:t>频繁</a:t>
            </a:r>
            <a:r>
              <a:rPr lang="zh-CN" altLang="zh-CN" dirty="0"/>
              <a:t>编程模式的问题转换为频繁项集挖掘问题</a:t>
            </a:r>
            <a:r>
              <a:rPr lang="zh-CN" altLang="en-US" dirty="0"/>
              <a:t>，步骤如下：</a:t>
            </a:r>
          </a:p>
        </p:txBody>
      </p:sp>
    </p:spTree>
    <p:extLst>
      <p:ext uri="{BB962C8B-B14F-4D97-AF65-F5344CB8AC3E}">
        <p14:creationId xmlns:p14="http://schemas.microsoft.com/office/powerpoint/2010/main" val="366376424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关联规则应用案例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1</a:t>
            </a:r>
            <a:r>
              <a:rPr lang="zh-CN" altLang="zh-CN" dirty="0"/>
              <a:t>、使用</a:t>
            </a:r>
            <a:r>
              <a:rPr lang="en-US" altLang="zh-CN" dirty="0"/>
              <a:t>GCC</a:t>
            </a:r>
            <a:r>
              <a:rPr lang="zh-CN" altLang="zh-CN" dirty="0"/>
              <a:t>编译程序，获取程序中间表示形式 </a:t>
            </a:r>
            <a:endParaRPr lang="en-US" altLang="zh-CN" dirty="0"/>
          </a:p>
          <a:p>
            <a:pPr marL="0" indent="0">
              <a:buNone/>
            </a:pP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zh-CN" dirty="0"/>
              <a:t>、以函数</a:t>
            </a:r>
            <a:r>
              <a:rPr lang="en-US" altLang="zh-CN" dirty="0"/>
              <a:t>(</a:t>
            </a:r>
            <a:r>
              <a:rPr lang="zh-CN" altLang="zh-CN" dirty="0"/>
              <a:t>将函数而不是基本块转换为</a:t>
            </a:r>
            <a:r>
              <a:rPr lang="en-US" altLang="zh-CN" dirty="0" err="1"/>
              <a:t>itemset</a:t>
            </a:r>
            <a:r>
              <a:rPr lang="zh-CN" altLang="zh-CN" dirty="0"/>
              <a:t>的原因是，大多数编程规则通常发生在函数的范围内</a:t>
            </a:r>
            <a:r>
              <a:rPr lang="en-US" altLang="zh-CN" dirty="0"/>
              <a:t>)</a:t>
            </a:r>
            <a:r>
              <a:rPr lang="zh-CN" altLang="zh-CN" dirty="0"/>
              <a:t>为单位，对程序元素（包括标识符名称、数据类型名称、关键字、操作符、控制结构等。）进行</a:t>
            </a:r>
            <a:r>
              <a:rPr lang="en-US" altLang="zh-CN" dirty="0"/>
              <a:t>hash</a:t>
            </a:r>
            <a:r>
              <a:rPr lang="zh-CN" altLang="zh-CN" dirty="0"/>
              <a:t>操作，将每一个函数映射成为一个包含程序元素</a:t>
            </a:r>
            <a:r>
              <a:rPr lang="en-US" altLang="zh-CN" dirty="0"/>
              <a:t>hash</a:t>
            </a:r>
            <a:r>
              <a:rPr lang="zh-CN" altLang="zh-CN" dirty="0"/>
              <a:t>值的项集 </a:t>
            </a:r>
            <a:endParaRPr lang="en-US" altLang="zh-CN" dirty="0"/>
          </a:p>
          <a:p>
            <a:pPr marL="0" indent="0">
              <a:buNone/>
            </a:pP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3</a:t>
            </a:r>
            <a:r>
              <a:rPr lang="zh-CN" altLang="zh-CN" dirty="0"/>
              <a:t>、对得到的项集数据库进行频繁项集挖掘 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8123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关联规则应用案例</a:t>
            </a:r>
            <a:r>
              <a:rPr lang="en-US" altLang="zh-CN" dirty="0"/>
              <a:t>1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55576" y="1772816"/>
            <a:ext cx="6943725" cy="401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01313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关联规则应用案例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仅提取</a:t>
            </a:r>
            <a:r>
              <a:rPr lang="zh-CN" altLang="en-US" dirty="0"/>
              <a:t>频繁</a:t>
            </a:r>
            <a:r>
              <a:rPr lang="zh-CN" altLang="zh-CN" dirty="0"/>
              <a:t>编程模式是不够的，模式可能会导致许多不同的规则。因此，还需要根据条件概率</a:t>
            </a:r>
            <a:r>
              <a:rPr lang="zh-CN" altLang="en-US" dirty="0"/>
              <a:t>（置信度）由频繁</a:t>
            </a:r>
            <a:r>
              <a:rPr lang="zh-CN" altLang="zh-CN" dirty="0"/>
              <a:t>模式生成</a:t>
            </a:r>
            <a:r>
              <a:rPr lang="zh-CN" altLang="en-US" dirty="0"/>
              <a:t>关联</a:t>
            </a:r>
            <a:r>
              <a:rPr lang="zh-CN" altLang="zh-CN" dirty="0"/>
              <a:t>规则。</a:t>
            </a:r>
          </a:p>
          <a:p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3573016"/>
            <a:ext cx="7560840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6859067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A55D79-1FFC-D442-B5A2-3EF203F4A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应用案例</a:t>
            </a:r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B1D4D8-53A7-C24C-A122-9563818E1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200"/>
            <a:ext cx="9036496" cy="4800600"/>
          </a:xfrm>
        </p:spPr>
        <p:txBody>
          <a:bodyPr/>
          <a:lstStyle/>
          <a:p>
            <a:r>
              <a:rPr lang="zh-CN" altLang="en-US" sz="2400" b="0" dirty="0"/>
              <a:t>工业界里面经常需要做一些实时大规模的数据分析，比如传感器网络的</a:t>
            </a:r>
            <a:r>
              <a:rPr lang="en" altLang="zh-CN" sz="2400" b="0" dirty="0"/>
              <a:t>Anomaly Detection</a:t>
            </a:r>
            <a:r>
              <a:rPr lang="zh-CN" altLang="en-US" sz="2400" b="0" dirty="0"/>
              <a:t>及对应的</a:t>
            </a:r>
            <a:r>
              <a:rPr lang="en" altLang="zh-CN" sz="2400" b="0" dirty="0"/>
              <a:t>root cause</a:t>
            </a:r>
            <a:r>
              <a:rPr lang="zh-CN" altLang="en" sz="2400" b="0" dirty="0"/>
              <a:t>，</a:t>
            </a:r>
            <a:r>
              <a:rPr lang="zh-CN" altLang="en-US" sz="2400" b="0" dirty="0"/>
              <a:t>或者找有特定行为模式的用户群体的共性做特征抽取，或是在大规模</a:t>
            </a:r>
            <a:r>
              <a:rPr lang="en" altLang="zh-CN" sz="2400" b="0" dirty="0"/>
              <a:t>data stream</a:t>
            </a:r>
            <a:r>
              <a:rPr lang="zh-CN" altLang="en-US" sz="2400" b="0" dirty="0"/>
              <a:t>中发现新的</a:t>
            </a:r>
            <a:r>
              <a:rPr lang="en" altLang="zh-CN" sz="2400" b="0" dirty="0"/>
              <a:t>trend</a:t>
            </a:r>
            <a:r>
              <a:rPr lang="zh-CN" altLang="en" sz="2400" b="0" dirty="0"/>
              <a:t>，</a:t>
            </a:r>
            <a:r>
              <a:rPr lang="zh-CN" altLang="en-US" sz="2400" b="0" dirty="0"/>
              <a:t>等等</a:t>
            </a:r>
            <a:endParaRPr lang="en-US" altLang="zh-CN" sz="2400" b="0" dirty="0"/>
          </a:p>
          <a:p>
            <a:endParaRPr lang="en-US" altLang="zh-CN" sz="2400" b="0" dirty="0"/>
          </a:p>
          <a:p>
            <a:r>
              <a:rPr lang="en-US" altLang="zh-CN" sz="2400" b="0" dirty="0"/>
              <a:t>Stanford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DAWN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project</a:t>
            </a:r>
            <a:r>
              <a:rPr lang="zh-CN" altLang="en-US" sz="2400" b="0" dirty="0"/>
              <a:t>：</a:t>
            </a:r>
            <a:r>
              <a:rPr lang="en-US" altLang="zh-CN" sz="2400" b="0" dirty="0">
                <a:hlinkClick r:id="rId2"/>
              </a:rPr>
              <a:t>https://dawn.cs.stanford.edu/projects/</a:t>
            </a:r>
            <a:endParaRPr lang="en-US" altLang="zh-CN" sz="2400" b="0" dirty="0"/>
          </a:p>
          <a:p>
            <a:endParaRPr lang="en-US" altLang="zh-CN" sz="2400" b="0" dirty="0"/>
          </a:p>
          <a:p>
            <a:pPr algn="just"/>
            <a:r>
              <a:rPr lang="en" altLang="zh-CN" sz="2400" b="0" dirty="0" err="1"/>
              <a:t>MacroBase</a:t>
            </a:r>
            <a:r>
              <a:rPr lang="en" altLang="zh-CN" sz="2400" b="0" dirty="0"/>
              <a:t> </a:t>
            </a:r>
            <a:r>
              <a:rPr lang="zh-CN" altLang="en" sz="2400" b="0" dirty="0"/>
              <a:t>系统</a:t>
            </a:r>
            <a:r>
              <a:rPr lang="zh-CN" altLang="en-US" sz="2400" b="0" dirty="0"/>
              <a:t>：</a:t>
            </a:r>
            <a:r>
              <a:rPr lang="en" altLang="zh-CN" sz="2400" b="0" dirty="0"/>
              <a:t>is a new </a:t>
            </a:r>
            <a:r>
              <a:rPr lang="en" altLang="zh-CN" sz="2400" dirty="0"/>
              <a:t>analytic monitoring engine designed to prioritize human attention in large-scale datasets and data streams</a:t>
            </a:r>
            <a:r>
              <a:rPr lang="en" altLang="zh-CN" sz="2400" b="0" dirty="0"/>
              <a:t>. Unlike a traditional analytics engine, </a:t>
            </a:r>
            <a:r>
              <a:rPr lang="en" altLang="zh-CN" sz="2400" b="0" dirty="0" err="1"/>
              <a:t>MacroBase</a:t>
            </a:r>
            <a:r>
              <a:rPr lang="en" altLang="zh-CN" sz="2400" b="0" dirty="0"/>
              <a:t> is specialized for one task: </a:t>
            </a:r>
            <a:r>
              <a:rPr lang="en" altLang="zh-CN" sz="2400" b="0" dirty="0">
                <a:highlight>
                  <a:srgbClr val="FFFF00"/>
                </a:highlight>
              </a:rPr>
              <a:t>finding and explaining unusual or interesting trends</a:t>
            </a:r>
            <a:r>
              <a:rPr lang="en" altLang="zh-CN" sz="2400" b="0" dirty="0"/>
              <a:t> in data.</a:t>
            </a:r>
            <a:endParaRPr lang="zh-CN" altLang="en-US" sz="2400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3460680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05AE36-7538-794D-BA02-5BDF0C6D2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应用案例</a:t>
            </a:r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A7FEB4-A2BE-4244-A0A4-A9067DA4C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Demonstration: </a:t>
            </a:r>
            <a:r>
              <a:rPr lang="en-US" altLang="zh-CN" dirty="0" err="1"/>
              <a:t>MacroBase</a:t>
            </a:r>
            <a:r>
              <a:rPr lang="en-US" altLang="zh-CN" dirty="0"/>
              <a:t>, A Fast Data Analysis Engine</a:t>
            </a:r>
            <a:br>
              <a:rPr lang="en-US" altLang="zh-CN" dirty="0"/>
            </a:br>
            <a:r>
              <a:rPr lang="en-US" altLang="zh-CN" dirty="0"/>
              <a:t>{Peter </a:t>
            </a:r>
            <a:r>
              <a:rPr lang="en-US" altLang="zh-CN" dirty="0" err="1"/>
              <a:t>Bailis</a:t>
            </a:r>
            <a:r>
              <a:rPr lang="en-US" altLang="zh-CN" dirty="0"/>
              <a:t>, Edward Gan, and </a:t>
            </a:r>
            <a:r>
              <a:rPr lang="en-US" altLang="zh-CN" dirty="0" err="1"/>
              <a:t>Kexin</a:t>
            </a:r>
            <a:r>
              <a:rPr lang="en-US" altLang="zh-CN" dirty="0"/>
              <a:t> Rong, </a:t>
            </a:r>
            <a:r>
              <a:rPr lang="en-US" altLang="zh-CN" dirty="0" err="1"/>
              <a:t>Sahaana</a:t>
            </a:r>
            <a:r>
              <a:rPr lang="en-US" altLang="zh-CN" dirty="0"/>
              <a:t> Suri}</a:t>
            </a:r>
            <a:br>
              <a:rPr lang="en-US" altLang="zh-CN" dirty="0"/>
            </a:br>
            <a:r>
              <a:rPr lang="en-US" altLang="zh-CN" i="1" dirty="0"/>
              <a:t>SIGMOD</a:t>
            </a:r>
            <a:r>
              <a:rPr lang="en-US" altLang="zh-CN" dirty="0"/>
              <a:t> 2017 (Demo)</a:t>
            </a:r>
            <a:endParaRPr lang="zh-CN" altLang="zh-CN" dirty="0"/>
          </a:p>
          <a:p>
            <a:r>
              <a:rPr lang="en-US" altLang="zh-CN" u="sng" dirty="0">
                <a:hlinkClick r:id="rId2"/>
              </a:rPr>
              <a:t>MacroBase: Prioritizing Attention in Fast Data</a:t>
            </a:r>
            <a:br>
              <a:rPr lang="en-US" altLang="zh-CN" dirty="0"/>
            </a:br>
            <a:r>
              <a:rPr lang="en-US" altLang="zh-CN" dirty="0"/>
              <a:t>{Peter </a:t>
            </a:r>
            <a:r>
              <a:rPr lang="en-US" altLang="zh-CN" dirty="0" err="1"/>
              <a:t>Bailis</a:t>
            </a:r>
            <a:r>
              <a:rPr lang="en-US" altLang="zh-CN" dirty="0"/>
              <a:t>, Edward Gan, Samuel Madden, Deepak Narayanan, </a:t>
            </a:r>
            <a:r>
              <a:rPr lang="en-US" altLang="zh-CN" dirty="0" err="1"/>
              <a:t>Kexin</a:t>
            </a:r>
            <a:r>
              <a:rPr lang="en-US" altLang="zh-CN" dirty="0"/>
              <a:t> Rong, </a:t>
            </a:r>
            <a:r>
              <a:rPr lang="en-US" altLang="zh-CN" dirty="0" err="1"/>
              <a:t>Sahaana</a:t>
            </a:r>
            <a:r>
              <a:rPr lang="en-US" altLang="zh-CN" dirty="0"/>
              <a:t> Suri}</a:t>
            </a:r>
            <a:br>
              <a:rPr lang="en-US" altLang="zh-CN" dirty="0"/>
            </a:br>
            <a:r>
              <a:rPr lang="en-US" altLang="zh-CN" i="1" dirty="0"/>
              <a:t>SIGMOD</a:t>
            </a:r>
            <a:r>
              <a:rPr lang="en-US" altLang="zh-CN" dirty="0"/>
              <a:t> 2017 Awarded “Best of SIGMOD 2017”. [</a:t>
            </a:r>
            <a:r>
              <a:rPr lang="en-US" altLang="zh-CN" u="sng" dirty="0">
                <a:hlinkClick r:id="rId3"/>
              </a:rPr>
              <a:t>code</a:t>
            </a:r>
            <a:r>
              <a:rPr lang="en-US" altLang="zh-CN" dirty="0"/>
              <a:t>]</a:t>
            </a:r>
            <a:endParaRPr lang="zh-CN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198274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FD9D6C-73CE-3949-AC73-7C57D2F21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应用案例</a:t>
            </a:r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3D7FDA-BE3D-094B-BEDF-175A10512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zh-CN" b="0" dirty="0" err="1"/>
              <a:t>MacroBase</a:t>
            </a:r>
            <a:r>
              <a:rPr lang="en" altLang="zh-CN" b="0" dirty="0"/>
              <a:t> </a:t>
            </a:r>
            <a:r>
              <a:rPr lang="zh-CN" altLang="en-US" b="0" dirty="0"/>
              <a:t>是一个流数据系统，它的输入是一个</a:t>
            </a:r>
            <a:r>
              <a:rPr lang="en" altLang="zh-CN" b="0" dirty="0"/>
              <a:t>Point</a:t>
            </a:r>
            <a:r>
              <a:rPr lang="zh-CN" altLang="en-US" b="0" dirty="0"/>
              <a:t>的时间序列。每个</a:t>
            </a:r>
            <a:r>
              <a:rPr lang="en" altLang="zh-CN" b="0" dirty="0"/>
              <a:t>Point</a:t>
            </a:r>
            <a:r>
              <a:rPr lang="zh-CN" altLang="en-US" b="0" dirty="0"/>
              <a:t>有：</a:t>
            </a:r>
          </a:p>
          <a:p>
            <a:pPr lvl="1"/>
            <a:r>
              <a:rPr lang="en" altLang="zh-CN" b="0" dirty="0"/>
              <a:t>Array&lt;Metric&gt;: Metric</a:t>
            </a:r>
            <a:r>
              <a:rPr lang="zh-CN" altLang="en-US" b="0" dirty="0"/>
              <a:t>是用于检测这个</a:t>
            </a:r>
            <a:r>
              <a:rPr lang="en" altLang="zh-CN" b="0" dirty="0"/>
              <a:t>Point</a:t>
            </a:r>
            <a:r>
              <a:rPr lang="zh-CN" altLang="en-US" b="0" dirty="0"/>
              <a:t>是否异常的，例子包括</a:t>
            </a:r>
            <a:r>
              <a:rPr lang="en" altLang="zh-CN" b="0" dirty="0"/>
              <a:t>Latency</a:t>
            </a:r>
            <a:r>
              <a:rPr lang="zh-CN" altLang="en" b="0" dirty="0"/>
              <a:t>， </a:t>
            </a:r>
            <a:r>
              <a:rPr lang="en" altLang="zh-CN" b="0" dirty="0"/>
              <a:t>Error Rate</a:t>
            </a:r>
            <a:r>
              <a:rPr lang="zh-CN" altLang="en" b="0" dirty="0"/>
              <a:t>，</a:t>
            </a:r>
            <a:r>
              <a:rPr lang="zh-CN" altLang="en-US" b="0" dirty="0"/>
              <a:t>环境温度等等</a:t>
            </a:r>
          </a:p>
          <a:p>
            <a:pPr lvl="1"/>
            <a:r>
              <a:rPr lang="en" altLang="zh-CN" b="0" dirty="0"/>
              <a:t>Array&lt;Attribute&gt;: </a:t>
            </a:r>
            <a:r>
              <a:rPr lang="zh-CN" altLang="en-US" b="0" dirty="0"/>
              <a:t>用于描述产生这个</a:t>
            </a:r>
            <a:r>
              <a:rPr lang="en" altLang="zh-CN" b="0" dirty="0"/>
              <a:t>Point</a:t>
            </a:r>
            <a:r>
              <a:rPr lang="zh-CN" altLang="en-US" b="0" dirty="0"/>
              <a:t>的</a:t>
            </a:r>
            <a:r>
              <a:rPr lang="zh-CN" altLang="en" b="0" dirty="0"/>
              <a:t>对象</a:t>
            </a:r>
            <a:r>
              <a:rPr lang="zh-CN" altLang="en-US" b="0" dirty="0"/>
              <a:t>本身的属性，用于归因。例子包括：机器型号，服务器操作系统版本，传感器版本，数据中心所属的</a:t>
            </a:r>
            <a:r>
              <a:rPr lang="en" altLang="zh-CN" b="0" dirty="0"/>
              <a:t>Region</a:t>
            </a:r>
            <a:r>
              <a:rPr lang="zh-CN" altLang="en" b="0" dirty="0"/>
              <a:t>，</a:t>
            </a:r>
            <a:r>
              <a:rPr lang="zh-CN" altLang="en-US" b="0" dirty="0"/>
              <a:t>手机</a:t>
            </a:r>
            <a:r>
              <a:rPr lang="en" altLang="zh-CN" b="0" dirty="0"/>
              <a:t>App</a:t>
            </a:r>
            <a:r>
              <a:rPr lang="zh-CN" altLang="en-US" b="0" dirty="0"/>
              <a:t>的版本，等等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547434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114C12-2028-5E43-9DAA-5D5752066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应用案例</a:t>
            </a:r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97287C-F5E6-204E-BE41-A6D738BFC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zh-CN" b="0" dirty="0" err="1"/>
              <a:t>MacroBase</a:t>
            </a:r>
            <a:r>
              <a:rPr lang="zh-CN" altLang="en" b="0" dirty="0"/>
              <a:t>系统</a:t>
            </a:r>
            <a:r>
              <a:rPr lang="zh-CN" altLang="en-US" b="0" dirty="0"/>
              <a:t>的输出是一个排序好的</a:t>
            </a:r>
            <a:r>
              <a:rPr lang="en" altLang="zh-CN" b="0" dirty="0"/>
              <a:t>Explanation</a:t>
            </a:r>
            <a:r>
              <a:rPr lang="zh-CN" altLang="en" b="0" dirty="0"/>
              <a:t>，</a:t>
            </a:r>
            <a:r>
              <a:rPr lang="zh-CN" altLang="en-US" b="0" dirty="0"/>
              <a:t>每个</a:t>
            </a:r>
            <a:r>
              <a:rPr lang="en" altLang="zh-CN" b="0" dirty="0"/>
              <a:t>Explanation</a:t>
            </a:r>
            <a:r>
              <a:rPr lang="zh-CN" altLang="en-US" b="0" dirty="0"/>
              <a:t>会解释某个</a:t>
            </a:r>
            <a:r>
              <a:rPr lang="en-US" altLang="zh-CN" b="0" dirty="0"/>
              <a:t>/</a:t>
            </a:r>
            <a:r>
              <a:rPr lang="zh-CN" altLang="en-US" b="0" dirty="0"/>
              <a:t>某些</a:t>
            </a:r>
            <a:r>
              <a:rPr lang="en" altLang="zh-CN" b="0" dirty="0"/>
              <a:t>Metric</a:t>
            </a:r>
            <a:r>
              <a:rPr lang="zh-CN" altLang="en-US" b="0" dirty="0"/>
              <a:t>的异常最有可能是由于哪些</a:t>
            </a:r>
            <a:r>
              <a:rPr lang="en" altLang="zh-CN" b="0" dirty="0"/>
              <a:t>Attribute</a:t>
            </a:r>
            <a:r>
              <a:rPr lang="zh-CN" altLang="en-US" b="0" dirty="0"/>
              <a:t>引起的。排序是根据这个</a:t>
            </a:r>
            <a:r>
              <a:rPr lang="en" altLang="zh-CN" b="0" dirty="0"/>
              <a:t>Explanation</a:t>
            </a:r>
            <a:r>
              <a:rPr lang="zh-CN" altLang="en-US" b="0" dirty="0"/>
              <a:t>的可能性大小进行的。终端用户看到的是，机器认为最可信的几个可能的解释，然后人再进行进一步</a:t>
            </a:r>
            <a:r>
              <a:rPr lang="en" altLang="zh-CN" b="0" dirty="0"/>
              <a:t>investigation</a:t>
            </a:r>
            <a:r>
              <a:rPr lang="zh-CN" altLang="en" b="0" dirty="0"/>
              <a:t>，</a:t>
            </a:r>
            <a:r>
              <a:rPr lang="zh-CN" altLang="en-US" b="0" dirty="0"/>
              <a:t>就能够非常快速地找到真正的原因了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8599094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9D4629-952F-0841-8C9E-163EF2F2A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应用案例</a:t>
            </a:r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185389-641D-3746-8BCE-9A2751C74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792" y="1600200"/>
            <a:ext cx="8382000" cy="4800600"/>
          </a:xfrm>
        </p:spPr>
        <p:txBody>
          <a:bodyPr/>
          <a:lstStyle/>
          <a:p>
            <a:r>
              <a:rPr lang="zh-CN" altLang="en-US" b="0" dirty="0"/>
              <a:t>系统运行流程：</a:t>
            </a:r>
            <a:endParaRPr lang="en-US" altLang="zh-CN" b="0" dirty="0"/>
          </a:p>
          <a:p>
            <a:endParaRPr lang="en-US" altLang="zh-CN" b="0" dirty="0"/>
          </a:p>
          <a:p>
            <a:endParaRPr lang="en-US" altLang="zh-CN" b="0" dirty="0"/>
          </a:p>
          <a:p>
            <a:endParaRPr lang="en-US" altLang="zh-CN" b="0" dirty="0"/>
          </a:p>
          <a:p>
            <a:r>
              <a:rPr lang="en" altLang="zh-CN" b="0" dirty="0"/>
              <a:t>Ingest: </a:t>
            </a:r>
            <a:r>
              <a:rPr lang="zh-CN" altLang="en" b="0" dirty="0"/>
              <a:t>数据</a:t>
            </a:r>
            <a:r>
              <a:rPr lang="zh-CN" altLang="en-US" b="0" dirty="0"/>
              <a:t>生成，产生最原始的</a:t>
            </a:r>
            <a:r>
              <a:rPr lang="en" altLang="zh-CN" b="0" dirty="0"/>
              <a:t>Point Time Series</a:t>
            </a:r>
          </a:p>
          <a:p>
            <a:r>
              <a:rPr lang="en" altLang="zh-CN" b="0" dirty="0"/>
              <a:t>Transformation: </a:t>
            </a:r>
            <a:r>
              <a:rPr lang="zh-CN" altLang="en" b="0" dirty="0"/>
              <a:t>数据</a:t>
            </a:r>
            <a:r>
              <a:rPr lang="zh-CN" altLang="en-US" b="0" dirty="0"/>
              <a:t>预处理，如</a:t>
            </a:r>
            <a:r>
              <a:rPr lang="zh-CN" altLang="en" b="0" dirty="0"/>
              <a:t>聚集（</a:t>
            </a:r>
            <a:r>
              <a:rPr lang="zh-CN" altLang="en-US" b="0" dirty="0"/>
              <a:t>将按秒采样转换为按小时采样）</a:t>
            </a:r>
            <a:endParaRPr lang="en-US" altLang="zh-CN" b="0" dirty="0"/>
          </a:p>
        </p:txBody>
      </p:sp>
      <p:pic>
        <p:nvPicPr>
          <p:cNvPr id="2050" name="Picture 2" descr="preview">
            <a:extLst>
              <a:ext uri="{FF2B5EF4-FFF2-40B4-BE49-F238E27FC236}">
                <a16:creationId xmlns:a16="http://schemas.microsoft.com/office/drawing/2014/main" id="{5F63A180-E88D-7C45-8FD9-24AF98BF26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2" r="2322"/>
          <a:stretch/>
        </p:blipFill>
        <p:spPr bwMode="auto">
          <a:xfrm>
            <a:off x="251520" y="2132856"/>
            <a:ext cx="8712968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647799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9D4629-952F-0841-8C9E-163EF2F2A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应用案例</a:t>
            </a:r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185389-641D-3746-8BCE-9A2751C74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792" y="1600200"/>
            <a:ext cx="8382000" cy="4800600"/>
          </a:xfrm>
        </p:spPr>
        <p:txBody>
          <a:bodyPr/>
          <a:lstStyle/>
          <a:p>
            <a:r>
              <a:rPr lang="zh-CN" altLang="en-US" b="0" dirty="0"/>
              <a:t>系统运行流程：</a:t>
            </a:r>
            <a:endParaRPr lang="en-US" altLang="zh-CN" b="0" dirty="0"/>
          </a:p>
          <a:p>
            <a:endParaRPr lang="en-US" altLang="zh-CN" b="0" dirty="0"/>
          </a:p>
          <a:p>
            <a:endParaRPr lang="en-US" altLang="zh-CN" b="0" dirty="0"/>
          </a:p>
          <a:p>
            <a:endParaRPr lang="en-US" altLang="zh-CN" b="0" dirty="0"/>
          </a:p>
          <a:p>
            <a:r>
              <a:rPr lang="en" altLang="zh-CN" b="0" dirty="0"/>
              <a:t>Classify: </a:t>
            </a:r>
            <a:r>
              <a:rPr lang="zh-CN" altLang="en-US" b="0" dirty="0"/>
              <a:t>异常检测，确定哪些点异常。两种方法，做到了很好的易用性和扩展性的平衡：</a:t>
            </a:r>
          </a:p>
          <a:p>
            <a:pPr lvl="1"/>
            <a:r>
              <a:rPr lang="en" altLang="zh-CN" b="0" dirty="0"/>
              <a:t>Online unsupervised learning: </a:t>
            </a:r>
            <a:r>
              <a:rPr lang="en" altLang="zh-CN" b="0" dirty="0" err="1"/>
              <a:t>MacroBase</a:t>
            </a:r>
            <a:r>
              <a:rPr lang="zh-CN" altLang="en-US" b="0" dirty="0"/>
              <a:t>自己提供的算法，根据数据</a:t>
            </a:r>
            <a:r>
              <a:rPr lang="en" altLang="zh-CN" b="0" dirty="0"/>
              <a:t>distribution</a:t>
            </a:r>
            <a:r>
              <a:rPr lang="zh-CN" altLang="en-US" b="0" dirty="0"/>
              <a:t>来自动推断哪些</a:t>
            </a:r>
            <a:r>
              <a:rPr lang="en" altLang="zh-CN" b="0" dirty="0"/>
              <a:t>metric</a:t>
            </a:r>
            <a:r>
              <a:rPr lang="zh-CN" altLang="en-US" b="0" dirty="0"/>
              <a:t>属于</a:t>
            </a:r>
            <a:r>
              <a:rPr lang="en" altLang="zh-CN" b="0" dirty="0"/>
              <a:t>outlier</a:t>
            </a:r>
          </a:p>
          <a:p>
            <a:pPr lvl="1"/>
            <a:r>
              <a:rPr lang="en" altLang="zh-CN" b="0" dirty="0"/>
              <a:t>User-specified Classification: </a:t>
            </a:r>
            <a:r>
              <a:rPr lang="zh-CN" altLang="en-US" b="0" dirty="0"/>
              <a:t>用户自己写代码判断，在一些特定领域适用</a:t>
            </a:r>
          </a:p>
        </p:txBody>
      </p:sp>
      <p:pic>
        <p:nvPicPr>
          <p:cNvPr id="2050" name="Picture 2" descr="preview">
            <a:extLst>
              <a:ext uri="{FF2B5EF4-FFF2-40B4-BE49-F238E27FC236}">
                <a16:creationId xmlns:a16="http://schemas.microsoft.com/office/drawing/2014/main" id="{5F63A180-E88D-7C45-8FD9-24AF98BF26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2" r="2322"/>
          <a:stretch/>
        </p:blipFill>
        <p:spPr bwMode="auto">
          <a:xfrm>
            <a:off x="251520" y="2132856"/>
            <a:ext cx="8712968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530058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9D4629-952F-0841-8C9E-163EF2F2A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应用案例</a:t>
            </a:r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185389-641D-3746-8BCE-9A2751C74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792" y="1600200"/>
            <a:ext cx="8382000" cy="4800600"/>
          </a:xfrm>
        </p:spPr>
        <p:txBody>
          <a:bodyPr/>
          <a:lstStyle/>
          <a:p>
            <a:r>
              <a:rPr lang="zh-CN" altLang="en-US" b="0" dirty="0"/>
              <a:t>系统运行流程：</a:t>
            </a:r>
            <a:endParaRPr lang="en-US" altLang="zh-CN" b="0" dirty="0"/>
          </a:p>
          <a:p>
            <a:endParaRPr lang="en-US" altLang="zh-CN" b="0" dirty="0"/>
          </a:p>
          <a:p>
            <a:endParaRPr lang="en-US" altLang="zh-CN" b="0" dirty="0"/>
          </a:p>
          <a:p>
            <a:endParaRPr lang="en-US" altLang="zh-CN" b="0" dirty="0"/>
          </a:p>
          <a:p>
            <a:r>
              <a:rPr lang="en" altLang="zh-CN" b="0" dirty="0"/>
              <a:t>Explain: </a:t>
            </a:r>
            <a:r>
              <a:rPr lang="zh-CN" altLang="en-US" b="0" dirty="0"/>
              <a:t>这步的输入就是一堆</a:t>
            </a:r>
            <a:r>
              <a:rPr lang="en-US" altLang="zh-CN" b="0" dirty="0"/>
              <a:t>(</a:t>
            </a:r>
            <a:r>
              <a:rPr lang="en" altLang="zh-CN" b="0" dirty="0"/>
              <a:t>Array&lt;Attribute&gt;, Label)</a:t>
            </a:r>
            <a:r>
              <a:rPr lang="zh-CN" altLang="en-US" b="0" dirty="0"/>
              <a:t>的</a:t>
            </a:r>
            <a:r>
              <a:rPr lang="en" altLang="zh-CN" b="0" dirty="0"/>
              <a:t>Pair</a:t>
            </a:r>
            <a:r>
              <a:rPr lang="zh-CN" altLang="en" b="0" dirty="0"/>
              <a:t>，</a:t>
            </a:r>
            <a:r>
              <a:rPr lang="zh-CN" altLang="en-US" b="0" dirty="0"/>
              <a:t>然后找出哪些</a:t>
            </a:r>
            <a:r>
              <a:rPr lang="en" altLang="zh-CN" b="0" dirty="0"/>
              <a:t>Attribute</a:t>
            </a:r>
            <a:r>
              <a:rPr lang="zh-CN" altLang="en-US" b="0" dirty="0"/>
              <a:t>最有可能跟 </a:t>
            </a:r>
            <a:r>
              <a:rPr lang="zh-CN" altLang="en" b="0" dirty="0"/>
              <a:t>异常标签</a:t>
            </a:r>
            <a:r>
              <a:rPr lang="zh-CN" altLang="en-US" b="0" dirty="0"/>
              <a:t>相关</a:t>
            </a:r>
            <a:endParaRPr lang="en-US" altLang="zh-CN" b="0" dirty="0"/>
          </a:p>
          <a:p>
            <a:r>
              <a:rPr lang="en" altLang="zh-CN" b="0" dirty="0"/>
              <a:t>Present</a:t>
            </a:r>
            <a:r>
              <a:rPr lang="zh-CN" altLang="en" b="0" dirty="0"/>
              <a:t>：</a:t>
            </a:r>
            <a:r>
              <a:rPr lang="en" altLang="zh-CN" b="0" dirty="0"/>
              <a:t>Output</a:t>
            </a:r>
            <a:r>
              <a:rPr lang="zh-CN" altLang="en-US" b="0" dirty="0"/>
              <a:t>到</a:t>
            </a:r>
            <a:r>
              <a:rPr lang="en" altLang="zh-CN" b="0" dirty="0"/>
              <a:t>UI</a:t>
            </a:r>
            <a:endParaRPr lang="zh-CN" altLang="en-US" b="0" dirty="0"/>
          </a:p>
          <a:p>
            <a:pPr marL="0" indent="0">
              <a:buNone/>
            </a:pPr>
            <a:br>
              <a:rPr lang="zh-CN" altLang="en-US" dirty="0"/>
            </a:br>
            <a:endParaRPr kumimoji="1" lang="zh-CN" altLang="en-US" dirty="0"/>
          </a:p>
        </p:txBody>
      </p:sp>
      <p:pic>
        <p:nvPicPr>
          <p:cNvPr id="2050" name="Picture 2" descr="preview">
            <a:extLst>
              <a:ext uri="{FF2B5EF4-FFF2-40B4-BE49-F238E27FC236}">
                <a16:creationId xmlns:a16="http://schemas.microsoft.com/office/drawing/2014/main" id="{5F63A180-E88D-7C45-8FD9-24AF98BF26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2" r="2322"/>
          <a:stretch/>
        </p:blipFill>
        <p:spPr bwMode="auto">
          <a:xfrm>
            <a:off x="251520" y="2132856"/>
            <a:ext cx="8712968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50954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631BC4-AFFF-C149-BB8A-E31B1B070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应用案例</a:t>
            </a:r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A1350C-CD0A-2B4F-90B2-DDBF908C9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zh-CN" dirty="0"/>
              <a:t>Explanation</a:t>
            </a:r>
            <a:r>
              <a:rPr lang="zh-CN" altLang="en-US" dirty="0"/>
              <a:t>，</a:t>
            </a:r>
            <a:r>
              <a:rPr lang="zh-CN" altLang="en-US" b="0" dirty="0"/>
              <a:t>目标是找出一定的</a:t>
            </a:r>
            <a:r>
              <a:rPr lang="en" altLang="zh-CN" b="0" dirty="0"/>
              <a:t>attribute combination</a:t>
            </a:r>
            <a:r>
              <a:rPr lang="zh-CN" altLang="en" b="0" dirty="0"/>
              <a:t>，</a:t>
            </a:r>
            <a:r>
              <a:rPr lang="zh-CN" altLang="en-US" b="0" dirty="0"/>
              <a:t>尽量使得</a:t>
            </a:r>
            <a:r>
              <a:rPr lang="en" altLang="zh-CN" b="0" dirty="0"/>
              <a:t>Risk Ratio</a:t>
            </a:r>
            <a:r>
              <a:rPr lang="zh-CN" altLang="en-US" b="0" dirty="0"/>
              <a:t>最大化：</a:t>
            </a:r>
          </a:p>
          <a:p>
            <a:pPr marL="0" indent="0">
              <a:buNone/>
            </a:pPr>
            <a:endParaRPr kumimoji="1"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472FEAC-D15B-C248-86D7-2CF3645425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375" t="50001" r="37400" b="37399"/>
          <a:stretch/>
        </p:blipFill>
        <p:spPr>
          <a:xfrm>
            <a:off x="1270129" y="2852936"/>
            <a:ext cx="6603742" cy="1435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46346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B40723-F37C-2347-8710-F8FD3F70B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应用案例</a:t>
            </a:r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4D14C3-98B3-924E-A6AD-538DF6163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" y="1556792"/>
            <a:ext cx="8763000" cy="4800600"/>
          </a:xfrm>
        </p:spPr>
        <p:txBody>
          <a:bodyPr/>
          <a:lstStyle/>
          <a:p>
            <a:r>
              <a:rPr lang="zh-CN" altLang="en-US" b="0" dirty="0"/>
              <a:t>对于每种组合搜索一边肯定是不现实的，时间复杂度太高。论文提出了如下优化的方法：</a:t>
            </a:r>
          </a:p>
          <a:p>
            <a:pPr lvl="1"/>
            <a:r>
              <a:rPr lang="en" altLang="zh-CN" b="0" dirty="0"/>
              <a:t>Exploit cardinality imbalance</a:t>
            </a:r>
            <a:r>
              <a:rPr lang="zh-CN" altLang="en" b="0" dirty="0"/>
              <a:t>：</a:t>
            </a:r>
            <a:r>
              <a:rPr lang="zh-CN" altLang="en-US" b="0" dirty="0"/>
              <a:t>先在</a:t>
            </a:r>
            <a:r>
              <a:rPr lang="en" altLang="zh-CN" b="0" dirty="0"/>
              <a:t>Outlier</a:t>
            </a:r>
            <a:r>
              <a:rPr lang="zh-CN" altLang="en" b="0" dirty="0"/>
              <a:t>（</a:t>
            </a:r>
            <a:r>
              <a:rPr lang="zh-CN" altLang="en-US" b="0" dirty="0"/>
              <a:t>比</a:t>
            </a:r>
            <a:r>
              <a:rPr lang="en" altLang="zh-CN" b="0" dirty="0"/>
              <a:t>inlier</a:t>
            </a:r>
            <a:r>
              <a:rPr lang="zh-CN" altLang="en-US" b="0" dirty="0"/>
              <a:t>少很多）里面找一些比较</a:t>
            </a:r>
            <a:r>
              <a:rPr lang="en" altLang="zh-CN" b="0" dirty="0"/>
              <a:t>promising</a:t>
            </a:r>
            <a:r>
              <a:rPr lang="zh-CN" altLang="en-US" b="0" dirty="0"/>
              <a:t>的组合（看它的</a:t>
            </a:r>
            <a:r>
              <a:rPr lang="en" altLang="zh-CN" b="0" dirty="0"/>
              <a:t>support</a:t>
            </a:r>
            <a:r>
              <a:rPr lang="zh-CN" altLang="en-US" b="0" dirty="0"/>
              <a:t>和频率有没有达到一定的阈值），然后再去</a:t>
            </a:r>
            <a:r>
              <a:rPr lang="en" altLang="zh-CN" b="0" dirty="0"/>
              <a:t>inlier</a:t>
            </a:r>
            <a:r>
              <a:rPr lang="zh-CN" altLang="en-US" b="0" dirty="0"/>
              <a:t>里面查一遍以计算</a:t>
            </a:r>
            <a:r>
              <a:rPr lang="en" altLang="zh-CN" b="0" dirty="0"/>
              <a:t>risk ratio</a:t>
            </a:r>
          </a:p>
          <a:p>
            <a:pPr lvl="1"/>
            <a:r>
              <a:rPr lang="en" altLang="zh-CN" b="0" dirty="0"/>
              <a:t>Individual item ratios are cheap</a:t>
            </a:r>
            <a:r>
              <a:rPr lang="zh-CN" altLang="en" b="0" dirty="0"/>
              <a:t>：</a:t>
            </a:r>
            <a:r>
              <a:rPr lang="zh-CN" altLang="en-US" b="0" dirty="0"/>
              <a:t>在对</a:t>
            </a:r>
            <a:r>
              <a:rPr lang="en" altLang="zh-CN" b="0" dirty="0"/>
              <a:t>attribute</a:t>
            </a:r>
            <a:r>
              <a:rPr lang="zh-CN" altLang="en-US" b="0" dirty="0"/>
              <a:t>进行组合之前，先对每个单个的</a:t>
            </a:r>
            <a:r>
              <a:rPr lang="en" altLang="zh-CN" b="0" dirty="0"/>
              <a:t>attribute</a:t>
            </a:r>
            <a:r>
              <a:rPr lang="zh-CN" altLang="en-US" b="0" dirty="0"/>
              <a:t>算</a:t>
            </a:r>
            <a:r>
              <a:rPr lang="en" altLang="zh-CN" b="0" dirty="0"/>
              <a:t>risk ratio</a:t>
            </a:r>
            <a:r>
              <a:rPr lang="zh-CN" altLang="en" b="0" dirty="0"/>
              <a:t>，</a:t>
            </a:r>
            <a:r>
              <a:rPr lang="zh-CN" altLang="en-US" b="0" dirty="0"/>
              <a:t>然后再用</a:t>
            </a:r>
            <a:r>
              <a:rPr lang="en" altLang="zh-CN" b="0" dirty="0"/>
              <a:t>risk ratio</a:t>
            </a:r>
            <a:r>
              <a:rPr lang="zh-CN" altLang="en-US" b="0" dirty="0"/>
              <a:t>比较高的那些单个</a:t>
            </a:r>
            <a:r>
              <a:rPr lang="en" altLang="zh-CN" b="0" dirty="0"/>
              <a:t>attribute</a:t>
            </a:r>
            <a:r>
              <a:rPr lang="zh-CN" altLang="en-US" b="0" dirty="0"/>
              <a:t>进行组合，这样得到的组合更有可能也是</a:t>
            </a:r>
            <a:r>
              <a:rPr lang="en" altLang="zh-CN" b="0" dirty="0"/>
              <a:t>risk ratio</a:t>
            </a:r>
            <a:r>
              <a:rPr lang="zh-CN" altLang="en-US" b="0" dirty="0"/>
              <a:t>高的</a:t>
            </a:r>
          </a:p>
          <a:p>
            <a:r>
              <a:rPr lang="en" altLang="zh-CN" b="0" dirty="0"/>
              <a:t>Frequent Pattern Mining</a:t>
            </a:r>
            <a:r>
              <a:rPr lang="zh-CN" altLang="en" b="0" dirty="0"/>
              <a:t>，</a:t>
            </a:r>
            <a:r>
              <a:rPr lang="zh-CN" altLang="en-US" b="0" dirty="0"/>
              <a:t>论文使用了</a:t>
            </a:r>
            <a:r>
              <a:rPr lang="en" altLang="zh-CN" b="0" dirty="0"/>
              <a:t>FP – Growth</a:t>
            </a:r>
            <a:r>
              <a:rPr lang="zh-CN" altLang="en" b="0" dirty="0"/>
              <a:t>方法</a:t>
            </a:r>
            <a:endParaRPr lang="en-US" altLang="zh-CN" b="0" dirty="0"/>
          </a:p>
          <a:p>
            <a:endParaRPr lang="en" altLang="zh-CN" b="0" dirty="0"/>
          </a:p>
          <a:p>
            <a:pPr marL="0" indent="0"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238606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4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0"/>
            <a:ext cx="7772400" cy="685800"/>
          </a:xfrm>
        </p:spPr>
        <p:txBody>
          <a:bodyPr/>
          <a:lstStyle/>
          <a:p>
            <a:pPr>
              <a:defRPr/>
            </a:pPr>
            <a:r>
              <a:rPr lang="en-US" altLang="zh-CN">
                <a:ea typeface="宋体" pitchFamily="2" charset="-122"/>
              </a:rPr>
              <a:t>References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3388" y="1606550"/>
            <a:ext cx="8435975" cy="5638800"/>
          </a:xfrm>
        </p:spPr>
        <p:txBody>
          <a:bodyPr/>
          <a:lstStyle/>
          <a:p>
            <a:pPr marL="609600" indent="-609600">
              <a:lnSpc>
                <a:spcPct val="90000"/>
              </a:lnSpc>
            </a:pPr>
            <a:r>
              <a:rPr lang="en-US" altLang="zh-CN" sz="1600">
                <a:ea typeface="宋体" panose="02010600030101010101" pitchFamily="2" charset="-122"/>
              </a:rPr>
              <a:t>[AgSr94] R. Agrawal, R. Srikant, 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“</a:t>
            </a:r>
            <a:r>
              <a:rPr lang="en-US" altLang="zh-CN" sz="1600" b="0">
                <a:ea typeface="宋体" panose="02010600030101010101" pitchFamily="2" charset="-122"/>
                <a:hlinkClick r:id="rId2"/>
              </a:rPr>
              <a:t>Fast Algorithms for Mining Association Rules</a:t>
            </a:r>
            <a:r>
              <a:rPr lang="en-US" altLang="zh-CN" sz="1600" b="0">
                <a:latin typeface="Tahoma" panose="020B0604030504040204" pitchFamily="34" charset="0"/>
                <a:ea typeface="宋体" panose="02010600030101010101" pitchFamily="2" charset="-122"/>
              </a:rPr>
              <a:t>”</a:t>
            </a:r>
            <a:r>
              <a:rPr lang="en-US" altLang="zh-CN" sz="1600" u="sng">
                <a:ea typeface="宋体" panose="02010600030101010101" pitchFamily="2" charset="-122"/>
              </a:rPr>
              <a:t>,</a:t>
            </a:r>
            <a:r>
              <a:rPr lang="en-US" altLang="zh-CN" sz="1600">
                <a:ea typeface="宋体" panose="02010600030101010101" pitchFamily="2" charset="-122"/>
              </a:rPr>
              <a:t> Proc. of the 20th Int'l Conference on Very Large Databases, Santiago, Chile, Sept. 1994. </a:t>
            </a:r>
          </a:p>
          <a:p>
            <a:pPr marL="609600" indent="-609600">
              <a:lnSpc>
                <a:spcPct val="90000"/>
              </a:lnSpc>
            </a:pPr>
            <a:r>
              <a:rPr lang="en-US" altLang="zh-CN" sz="1600">
                <a:ea typeface="宋体" panose="02010600030101010101" pitchFamily="2" charset="-122"/>
              </a:rPr>
              <a:t>[AgSr96] R. Srikant, R. Agrawal: </a:t>
            </a:r>
            <a:r>
              <a:rPr lang="en-US" altLang="zh-CN" sz="1600">
                <a:ea typeface="宋体" panose="02010600030101010101" pitchFamily="2" charset="-122"/>
                <a:hlinkClick r:id="rId3"/>
              </a:rPr>
              <a:t>"Mining Sequential Patterns: Generalizations and Performance Improvements"</a:t>
            </a:r>
            <a:r>
              <a:rPr lang="en-US" altLang="zh-CN" sz="1600">
                <a:ea typeface="宋体" panose="02010600030101010101" pitchFamily="2" charset="-122"/>
              </a:rPr>
              <a:t>, to appear in </a:t>
            </a:r>
            <a:r>
              <a:rPr lang="en-US" altLang="zh-CN" sz="1600" i="1">
                <a:ea typeface="宋体" panose="02010600030101010101" pitchFamily="2" charset="-122"/>
              </a:rPr>
              <a:t>Proc. of the Fifth Int'l Conference on Extending Database Technulogy (EDBT)</a:t>
            </a:r>
            <a:r>
              <a:rPr lang="en-US" altLang="zh-CN" sz="1600">
                <a:ea typeface="宋体" panose="02010600030101010101" pitchFamily="2" charset="-122"/>
              </a:rPr>
              <a:t>, Avignon, France, March 1996. </a:t>
            </a:r>
          </a:p>
          <a:p>
            <a:pPr marL="609600" indent="-609600">
              <a:lnSpc>
                <a:spcPct val="90000"/>
              </a:lnSpc>
            </a:pPr>
            <a:r>
              <a:rPr lang="en-US" altLang="zh-CN" sz="1600" i="1">
                <a:ea typeface="宋体" panose="02010600030101010101" pitchFamily="2" charset="-122"/>
              </a:rPr>
              <a:t>[BeRa99] </a:t>
            </a:r>
            <a:r>
              <a:rPr lang="en-US" altLang="zh-CN" sz="1600">
                <a:ea typeface="宋体" panose="02010600030101010101" pitchFamily="2" charset="-122"/>
              </a:rPr>
              <a:t>Kevin S. Beyer and Raghu Ramakrishnan.  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“</a:t>
            </a:r>
            <a:r>
              <a:rPr lang="en-US" altLang="zh-CN" sz="1600" b="0" i="1">
                <a:ea typeface="宋体" panose="02010600030101010101" pitchFamily="2" charset="-122"/>
                <a:hlinkClick r:id="rId4"/>
              </a:rPr>
              <a:t>Bottom-Up Computation of Sparse and Iceberg CUBEs</a:t>
            </a:r>
            <a:r>
              <a:rPr lang="en-US" altLang="zh-CN" sz="1600" b="0" i="1">
                <a:latin typeface="Tahoma" panose="020B0604030504040204" pitchFamily="34" charset="0"/>
                <a:ea typeface="宋体" panose="02010600030101010101" pitchFamily="2" charset="-122"/>
              </a:rPr>
              <a:t>”</a:t>
            </a:r>
            <a:r>
              <a:rPr lang="en-US" altLang="zh-CN" sz="1600" i="1">
                <a:ea typeface="宋体" panose="02010600030101010101" pitchFamily="2" charset="-122"/>
              </a:rPr>
              <a:t>.</a:t>
            </a:r>
            <a:r>
              <a:rPr lang="en-US" altLang="zh-CN" sz="1600">
                <a:ea typeface="宋体" panose="02010600030101010101" pitchFamily="2" charset="-122"/>
              </a:rPr>
              <a:t> In Proceedings of the ACM SIGMOD International Conference on Management of Data, pages 359-370, June 1999. </a:t>
            </a:r>
          </a:p>
          <a:p>
            <a:pPr marL="609600" indent="-609600">
              <a:lnSpc>
                <a:spcPct val="90000"/>
              </a:lnSpc>
            </a:pPr>
            <a:r>
              <a:rPr lang="en-US" altLang="zh-CN" sz="1600">
                <a:ea typeface="宋体" panose="02010600030101010101" pitchFamily="2" charset="-122"/>
              </a:rPr>
              <a:t>[HPDW01] J. Han, J. Pei, G. Dong, and K. Wang, 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“</a:t>
            </a:r>
            <a:r>
              <a:rPr lang="en-US" altLang="zh-CN" sz="1600" b="0">
                <a:ea typeface="宋体" panose="02010600030101010101" pitchFamily="2" charset="-122"/>
                <a:hlinkClick r:id="rId5"/>
              </a:rPr>
              <a:t>Efficient Computation of Iceberg Cubes with Complex Measures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”</a:t>
            </a:r>
            <a:r>
              <a:rPr lang="en-US" altLang="zh-CN" sz="1600">
                <a:ea typeface="宋体" panose="02010600030101010101" pitchFamily="2" charset="-122"/>
              </a:rPr>
              <a:t>, Proc. 2001 ACM-SIGMOD Int. Conf. on Management of Data (SIGMOD'01), Santa Barbara, CA, May 2001. </a:t>
            </a:r>
          </a:p>
          <a:p>
            <a:pPr marL="609600" indent="-609600">
              <a:lnSpc>
                <a:spcPct val="90000"/>
              </a:lnSpc>
            </a:pPr>
            <a:r>
              <a:rPr lang="en-US" altLang="zh-CN" sz="1600">
                <a:ea typeface="宋体" panose="02010600030101010101" pitchFamily="2" charset="-122"/>
              </a:rPr>
              <a:t>[HPY00] J. Han, J. Pei, and Y. Yin, `` </a:t>
            </a:r>
            <a:r>
              <a:rPr lang="en-US" altLang="zh-CN" sz="1600" b="0">
                <a:ea typeface="宋体" panose="02010600030101010101" pitchFamily="2" charset="-122"/>
                <a:hlinkClick r:id="rId6"/>
              </a:rPr>
              <a:t>Mining Frequent Patterns without Candidate Generation''</a:t>
            </a:r>
            <a:r>
              <a:rPr lang="en-US" altLang="zh-CN" sz="1600">
                <a:ea typeface="宋体" panose="02010600030101010101" pitchFamily="2" charset="-122"/>
              </a:rPr>
              <a:t>,, Proc. 2000 ACM-SIGMOD Int. Conf. on Management of Data (SIGMOD'00), Dallas, TX, May 2000.</a:t>
            </a:r>
            <a:r>
              <a:rPr lang="en-US" altLang="zh-CN" sz="1600" i="1">
                <a:ea typeface="宋体" panose="02010600030101010101" pitchFamily="2" charset="-122"/>
              </a:rPr>
              <a:t> </a:t>
            </a:r>
          </a:p>
          <a:p>
            <a:pPr marL="609600" indent="-609600">
              <a:lnSpc>
                <a:spcPct val="90000"/>
              </a:lnSpc>
            </a:pPr>
            <a:r>
              <a:rPr lang="en-US" altLang="zh-CN" sz="1600">
                <a:ea typeface="宋体" panose="02010600030101010101" pitchFamily="2" charset="-122"/>
              </a:rPr>
              <a:t>[HaPe00] J. Han and J. Pei ``</a:t>
            </a:r>
            <a:r>
              <a:rPr lang="en-US" altLang="zh-CN" sz="1600" b="0">
                <a:ea typeface="宋体" panose="02010600030101010101" pitchFamily="2" charset="-122"/>
                <a:hlinkClick r:id="rId7"/>
              </a:rPr>
              <a:t>Mining Frequent Patterns by Pattern-Growth: Methodology and Implications</a:t>
            </a:r>
            <a:r>
              <a:rPr lang="en-US" altLang="zh-CN" sz="1600">
                <a:ea typeface="宋体" panose="02010600030101010101" pitchFamily="2" charset="-122"/>
                <a:hlinkClick r:id="rId7"/>
              </a:rPr>
              <a:t> </a:t>
            </a:r>
            <a:r>
              <a:rPr lang="en-US" altLang="zh-CN" sz="1600">
                <a:ea typeface="宋体" panose="02010600030101010101" pitchFamily="2" charset="-122"/>
              </a:rPr>
              <a:t>'', ACM SIGKDD Explorations (Special Issue on Scaleble Data Mining Algorithms), 2(2), December 2000. </a:t>
            </a:r>
          </a:p>
          <a:p>
            <a:pPr marL="609600" indent="-609600">
              <a:lnSpc>
                <a:spcPct val="90000"/>
              </a:lnSpc>
            </a:pPr>
            <a:r>
              <a:rPr lang="en-US" altLang="zh-CN" sz="1600">
                <a:ea typeface="宋体" panose="02010600030101010101" pitchFamily="2" charset="-122"/>
              </a:rPr>
              <a:t>[PHPC01] J. Pei, J. Han, H. Pinto, Q. Chen, U. Dayal, and M.-C. Hsu, </a:t>
            </a:r>
            <a:r>
              <a:rPr lang="en-US" altLang="zh-CN" sz="1600" b="0">
                <a:latin typeface="Tahoma" panose="020B0604030504040204" pitchFamily="34" charset="0"/>
                <a:ea typeface="宋体" panose="02010600030101010101" pitchFamily="2" charset="-122"/>
              </a:rPr>
              <a:t>“</a:t>
            </a:r>
            <a:r>
              <a:rPr lang="en-US" altLang="zh-CN" sz="1600" b="0">
                <a:ea typeface="宋体" panose="02010600030101010101" pitchFamily="2" charset="-122"/>
              </a:rPr>
              <a:t> </a:t>
            </a:r>
            <a:r>
              <a:rPr lang="en-US" altLang="zh-CN" sz="1600" b="0">
                <a:ea typeface="宋体" panose="02010600030101010101" pitchFamily="2" charset="-122"/>
                <a:hlinkClick r:id="rId8"/>
              </a:rPr>
              <a:t>PrefixSpan: Mining Sequential Patterns Efficiently by Prefix-Projected Pattern Growth''</a:t>
            </a:r>
            <a:r>
              <a:rPr lang="en-US" altLang="zh-CN" sz="1600">
                <a:ea typeface="宋体" panose="02010600030101010101" pitchFamily="2" charset="-122"/>
              </a:rPr>
              <a:t>, Proc. 2001 Int. Conf. on Data Engineering (ICDE'01), Heidelberg, Germany, April 2001.</a:t>
            </a:r>
            <a:r>
              <a:rPr lang="en-US" altLang="zh-CN" sz="1600" b="0">
                <a:ea typeface="宋体" panose="02010600030101010101" pitchFamily="2" charset="-122"/>
              </a:rPr>
              <a:t> </a:t>
            </a:r>
          </a:p>
          <a:p>
            <a:pPr marL="609600" indent="-609600">
              <a:lnSpc>
                <a:spcPct val="90000"/>
              </a:lnSpc>
            </a:pPr>
            <a:endParaRPr lang="en-US" altLang="zh-CN" sz="1600" i="1">
              <a:ea typeface="宋体" panose="02010600030101010101" pitchFamily="2" charset="-122"/>
            </a:endParaRPr>
          </a:p>
          <a:p>
            <a:pPr marL="609600" indent="-609600">
              <a:lnSpc>
                <a:spcPct val="90000"/>
              </a:lnSpc>
            </a:pPr>
            <a:endParaRPr lang="en-US" altLang="zh-CN" sz="1400">
              <a:ea typeface="宋体" panose="02010600030101010101" pitchFamily="2" charset="-122"/>
            </a:endParaRPr>
          </a:p>
          <a:p>
            <a:pPr marL="609600" indent="-609600">
              <a:lnSpc>
                <a:spcPct val="90000"/>
              </a:lnSpc>
            </a:pPr>
            <a:endParaRPr lang="en-US" altLang="zh-CN" sz="2000">
              <a:ea typeface="宋体" panose="02010600030101010101" pitchFamily="2" charset="-122"/>
            </a:endParaRPr>
          </a:p>
          <a:p>
            <a:pPr marL="609600" indent="-609600">
              <a:lnSpc>
                <a:spcPct val="90000"/>
              </a:lnSpc>
            </a:pPr>
            <a:endParaRPr lang="en-US" altLang="zh-CN" sz="2000">
              <a:ea typeface="宋体" panose="02010600030101010101" pitchFamily="2" charset="-122"/>
            </a:endParaRPr>
          </a:p>
          <a:p>
            <a:pPr marL="609600" indent="-609600">
              <a:lnSpc>
                <a:spcPct val="90000"/>
              </a:lnSpc>
            </a:pPr>
            <a:endParaRPr lang="zh-CN" altLang="en-US" sz="20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382000" cy="695325"/>
          </a:xfrm>
        </p:spPr>
        <p:txBody>
          <a:bodyPr/>
          <a:lstStyle/>
          <a:p>
            <a:pPr>
              <a:defRPr/>
            </a:pPr>
            <a:r>
              <a:rPr lang="en-US" altLang="zh-CN">
                <a:ea typeface="宋体" pitchFamily="2" charset="-122"/>
              </a:rPr>
              <a:t>References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8950" y="1633538"/>
            <a:ext cx="8116888" cy="4532312"/>
          </a:xfrm>
        </p:spPr>
        <p:txBody>
          <a:bodyPr/>
          <a:lstStyle/>
          <a:p>
            <a:r>
              <a:rPr lang="en-US" altLang="zh-CN" sz="1600">
                <a:ea typeface="宋体" panose="02010600030101010101" pitchFamily="2" charset="-122"/>
              </a:rPr>
              <a:t>[SHSB00] 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 </a:t>
            </a:r>
            <a:r>
              <a:rPr lang="en-US" altLang="zh-CN" sz="1600">
                <a:ea typeface="宋体" panose="02010600030101010101" pitchFamily="2" charset="-122"/>
              </a:rPr>
              <a:t>P.Shenoy, J. Haritsa, S. Sudarshan, G. Bhalotia, M. Bawa, D. 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“</a:t>
            </a:r>
            <a:r>
              <a:rPr lang="en-US" altLang="zh-CN" sz="1600" b="0">
                <a:ea typeface="宋体" panose="02010600030101010101" pitchFamily="2" charset="-122"/>
                <a:hlinkClick r:id="rId2"/>
              </a:rPr>
              <a:t>Turbo-Charging Vertical Mining of Large Database</a:t>
            </a:r>
            <a:r>
              <a:rPr lang="en-US" altLang="zh-CN" sz="1600" b="0">
                <a:ea typeface="宋体" panose="02010600030101010101" pitchFamily="2" charset="-122"/>
              </a:rPr>
              <a:t>.</a:t>
            </a:r>
            <a:r>
              <a:rPr lang="en-US" altLang="zh-CN" sz="1600" b="0">
                <a:latin typeface="Tahoma" panose="020B0604030504040204" pitchFamily="34" charset="0"/>
                <a:ea typeface="宋体" panose="02010600030101010101" pitchFamily="2" charset="-122"/>
              </a:rPr>
              <a:t>”</a:t>
            </a:r>
            <a:r>
              <a:rPr lang="en-US" altLang="zh-CN" sz="1600">
                <a:ea typeface="宋体" panose="02010600030101010101" pitchFamily="2" charset="-122"/>
              </a:rPr>
              <a:t> Proc. 2000 ACM-SIGMOD Int. Conf. on Management of Data (SIGMOD'00), Dallas, TX, May 2000. </a:t>
            </a:r>
          </a:p>
          <a:p>
            <a:r>
              <a:rPr lang="en-US" altLang="zh-CN" sz="1600">
                <a:ea typeface="宋体" panose="02010600030101010101" pitchFamily="2" charset="-122"/>
              </a:rPr>
              <a:t>[Zaki98] Mohammed J. Zaki, 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“</a:t>
            </a:r>
            <a:r>
              <a:rPr lang="en-US" altLang="zh-CN" sz="1600" b="0">
                <a:ea typeface="宋体" panose="02010600030101010101" pitchFamily="2" charset="-122"/>
                <a:hlinkClick r:id="rId3"/>
              </a:rPr>
              <a:t>Efficient Enumeration of Frequent Sequences</a:t>
            </a:r>
            <a:r>
              <a:rPr lang="en-US" altLang="zh-CN" sz="1600" b="0">
                <a:latin typeface="Tahoma" panose="020B0604030504040204" pitchFamily="34" charset="0"/>
                <a:ea typeface="宋体" panose="02010600030101010101" pitchFamily="2" charset="-122"/>
              </a:rPr>
              <a:t>”</a:t>
            </a:r>
            <a:r>
              <a:rPr lang="en-US" altLang="zh-CN" sz="1600">
                <a:ea typeface="宋体" panose="02010600030101010101" pitchFamily="2" charset="-122"/>
              </a:rPr>
              <a:t>, 7th International Conference on Information and Knowledge Management, pp 68-75, Washington DC, November 1998. </a:t>
            </a:r>
          </a:p>
          <a:p>
            <a:r>
              <a:rPr lang="en-US" altLang="zh-CN" sz="1600">
                <a:ea typeface="宋体" panose="02010600030101010101" pitchFamily="2" charset="-122"/>
              </a:rPr>
              <a:t>[Zaki00] Mohammed J. Zaki, 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“</a:t>
            </a:r>
            <a:r>
              <a:rPr lang="en-US" altLang="zh-CN" sz="1600" b="0">
                <a:ea typeface="宋体" panose="02010600030101010101" pitchFamily="2" charset="-122"/>
                <a:hlinkClick r:id="rId4"/>
              </a:rPr>
              <a:t>Scalable Algorithms for Association Mining</a:t>
            </a:r>
            <a:r>
              <a:rPr lang="en-US" altLang="zh-CN" sz="1600" b="0">
                <a:latin typeface="Tahoma" panose="020B0604030504040204" pitchFamily="34" charset="0"/>
                <a:ea typeface="宋体" panose="02010600030101010101" pitchFamily="2" charset="-122"/>
              </a:rPr>
              <a:t>”</a:t>
            </a:r>
            <a:r>
              <a:rPr lang="en-US" altLang="zh-CN" sz="1600" b="0">
                <a:ea typeface="宋体" panose="02010600030101010101" pitchFamily="2" charset="-122"/>
              </a:rPr>
              <a:t>,</a:t>
            </a:r>
            <a:r>
              <a:rPr lang="en-US" altLang="zh-CN" sz="1600">
                <a:ea typeface="宋体" panose="02010600030101010101" pitchFamily="2" charset="-122"/>
              </a:rPr>
              <a:t> in IEEE Transactions on Knowledge and Data Engineering, Vol. 12, No. 3, pp 372-390, May/June 2000. </a:t>
            </a:r>
          </a:p>
          <a:p>
            <a:r>
              <a:rPr lang="en-US" altLang="zh-CN" sz="1600">
                <a:ea typeface="宋体" panose="02010600030101010101" pitchFamily="2" charset="-122"/>
              </a:rPr>
              <a:t>[Zaki01] Mohammed J. Zaki, 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“</a:t>
            </a:r>
            <a:r>
              <a:rPr lang="en-US" altLang="zh-CN" sz="1600" b="0">
                <a:ea typeface="宋体" panose="02010600030101010101" pitchFamily="2" charset="-122"/>
                <a:hlinkClick r:id="rId5"/>
              </a:rPr>
              <a:t>SPADE: An Efficient Algorithm for Mining Frequent Sequences</a:t>
            </a:r>
            <a:r>
              <a:rPr lang="en-US" altLang="zh-CN" sz="1600" b="0">
                <a:latin typeface="Tahoma" panose="020B0604030504040204" pitchFamily="34" charset="0"/>
                <a:ea typeface="宋体" panose="02010600030101010101" pitchFamily="2" charset="-122"/>
              </a:rPr>
              <a:t>”</a:t>
            </a:r>
            <a:r>
              <a:rPr lang="en-US" altLang="zh-CN" sz="1600" b="0">
                <a:ea typeface="宋体" panose="02010600030101010101" pitchFamily="2" charset="-122"/>
              </a:rPr>
              <a:t>,</a:t>
            </a:r>
            <a:r>
              <a:rPr lang="en-US" altLang="zh-CN" sz="1600">
                <a:ea typeface="宋体" panose="02010600030101010101" pitchFamily="2" charset="-122"/>
              </a:rPr>
              <a:t> in Machine Learning Journal, special issue on Unsupervised Learning (Doug Fisher, ed.), pp 31-60, Vol. 42 Nos. 1/2, Jan/Feb 2001. </a:t>
            </a:r>
            <a:br>
              <a:rPr lang="en-US" altLang="zh-CN" sz="1600">
                <a:ea typeface="宋体" panose="02010600030101010101" pitchFamily="2" charset="-122"/>
              </a:rPr>
            </a:br>
            <a:endParaRPr lang="en-US" altLang="zh-CN" sz="16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n">
  <a:themeElements>
    <a:clrScheme name="">
      <a:dk1>
        <a:srgbClr val="000000"/>
      </a:dk1>
      <a:lt1>
        <a:srgbClr val="DEFEEE"/>
      </a:lt1>
      <a:dk2>
        <a:srgbClr val="0000FF"/>
      </a:dk2>
      <a:lt2>
        <a:srgbClr val="333300"/>
      </a:lt2>
      <a:accent1>
        <a:srgbClr val="CC0099"/>
      </a:accent1>
      <a:accent2>
        <a:srgbClr val="003300"/>
      </a:accent2>
      <a:accent3>
        <a:srgbClr val="ECFEF5"/>
      </a:accent3>
      <a:accent4>
        <a:srgbClr val="000000"/>
      </a:accent4>
      <a:accent5>
        <a:srgbClr val="E2AACA"/>
      </a:accent5>
      <a:accent6>
        <a:srgbClr val="002D00"/>
      </a:accent6>
      <a:hlink>
        <a:srgbClr val="CC3300"/>
      </a:hlink>
      <a:folHlink>
        <a:srgbClr val="FF3399"/>
      </a:folHlink>
    </a:clrScheme>
    <a:fontScheme name="ha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ha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4487</TotalTime>
  <Words>6221</Words>
  <Application>Microsoft Macintosh PowerPoint</Application>
  <PresentationFormat>全屏显示(4:3)</PresentationFormat>
  <Paragraphs>1001</Paragraphs>
  <Slides>72</Slides>
  <Notes>9</Notes>
  <HiddenSlides>4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72</vt:i4>
      </vt:variant>
    </vt:vector>
  </HeadingPairs>
  <TitlesOfParts>
    <vt:vector size="81" baseType="lpstr">
      <vt:lpstr>宋体</vt:lpstr>
      <vt:lpstr>Arial</vt:lpstr>
      <vt:lpstr>Cambria Math</vt:lpstr>
      <vt:lpstr>Monotype Sorts</vt:lpstr>
      <vt:lpstr>Tahoma</vt:lpstr>
      <vt:lpstr>Times New Roman</vt:lpstr>
      <vt:lpstr>Wingdings</vt:lpstr>
      <vt:lpstr>han</vt:lpstr>
      <vt:lpstr>Chart</vt:lpstr>
      <vt:lpstr>PowerPoint 演示文稿</vt:lpstr>
      <vt:lpstr>Comparison of Data Layouts</vt:lpstr>
      <vt:lpstr>Vertical format for write-based FPM</vt:lpstr>
      <vt:lpstr>Vertical format for write-based FPM</vt:lpstr>
      <vt:lpstr>PowerPoint 演示文稿</vt:lpstr>
      <vt:lpstr>FP-Growth算法</vt:lpstr>
      <vt:lpstr>FP-Growth算法</vt:lpstr>
      <vt:lpstr>PowerPoint 演示文稿</vt:lpstr>
      <vt:lpstr>Construct FP-tree from a Transaction Database</vt:lpstr>
      <vt:lpstr>条件模式基</vt:lpstr>
      <vt:lpstr>递归构造条件模式基</vt:lpstr>
      <vt:lpstr>递归构造条件模式基</vt:lpstr>
      <vt:lpstr>递归构造条件模式基</vt:lpstr>
      <vt:lpstr>递归构造条件模式基</vt:lpstr>
      <vt:lpstr>PowerPoint 演示文稿</vt:lpstr>
      <vt:lpstr>Benefits of the FP-tree Structure</vt:lpstr>
      <vt:lpstr>Partition Patterns and Databases</vt:lpstr>
      <vt:lpstr>FP-Growth vs. Apriori: Scalability With the Support Threshold</vt:lpstr>
      <vt:lpstr>VIPER vs. FP-Growth: Comparision</vt:lpstr>
      <vt:lpstr>VIPER vs. FP-Growth: Comparision</vt:lpstr>
      <vt:lpstr>Why would write-based algorithms be faster ?</vt:lpstr>
      <vt:lpstr>Why would write-based algorithms be faster ?</vt:lpstr>
      <vt:lpstr>However......</vt:lpstr>
      <vt:lpstr>PowerPoint 演示文稿</vt:lpstr>
      <vt:lpstr>No candidates ?</vt:lpstr>
      <vt:lpstr>So far, we covered</vt:lpstr>
      <vt:lpstr>PowerPoint 演示文稿</vt:lpstr>
      <vt:lpstr>Sub-Graph Mining---pattern growth method</vt:lpstr>
      <vt:lpstr>Mofa (ICDM’02)</vt:lpstr>
      <vt:lpstr>gSpan (Yan &amp; Han, ICDM’02)</vt:lpstr>
      <vt:lpstr>gSpan (cont.)</vt:lpstr>
      <vt:lpstr>Right-Most Extension</vt:lpstr>
      <vt:lpstr>Right-Most Extension (cont.)</vt:lpstr>
      <vt:lpstr>Avoid Duplicate Extension</vt:lpstr>
      <vt:lpstr>Right-most Extension</vt:lpstr>
      <vt:lpstr>Search Space in gSpan</vt:lpstr>
      <vt:lpstr>DFS Code</vt:lpstr>
      <vt:lpstr>DFS Code (cont.)</vt:lpstr>
      <vt:lpstr>Reduce the Number of G1, … Gn</vt:lpstr>
      <vt:lpstr>Right-Most Extension (cont.)</vt:lpstr>
      <vt:lpstr>So far, we covered</vt:lpstr>
      <vt:lpstr>PrefixSpan: Example of Write-based Method</vt:lpstr>
      <vt:lpstr>寻找频繁序列 – 朴素算法</vt:lpstr>
      <vt:lpstr>寻找频繁序列 – 优化</vt:lpstr>
      <vt:lpstr>寻找频繁序列 – 优化</vt:lpstr>
      <vt:lpstr>PrefixSpan算法</vt:lpstr>
      <vt:lpstr>PrefixSpan算法 – 流程</vt:lpstr>
      <vt:lpstr>PrefixSpan算法 – 流程</vt:lpstr>
      <vt:lpstr>PrefixSpan算法 – 流程</vt:lpstr>
      <vt:lpstr>PrefixSpan算法 – 小结</vt:lpstr>
      <vt:lpstr>PrefixSpan算法 – 小结</vt:lpstr>
      <vt:lpstr>PrefixSpan算法 – 拓展</vt:lpstr>
      <vt:lpstr>So far, we covered</vt:lpstr>
      <vt:lpstr>关联规则应用案例1</vt:lpstr>
      <vt:lpstr>关联规则应用案例1</vt:lpstr>
      <vt:lpstr>关联规则应用案例1</vt:lpstr>
      <vt:lpstr>关联规则应用案例1</vt:lpstr>
      <vt:lpstr>关联规则应用案例1</vt:lpstr>
      <vt:lpstr>关联规则应用案例1</vt:lpstr>
      <vt:lpstr>关联规则应用案例1</vt:lpstr>
      <vt:lpstr>关联规则应用案例1</vt:lpstr>
      <vt:lpstr>应用案例2</vt:lpstr>
      <vt:lpstr>应用案例2</vt:lpstr>
      <vt:lpstr>应用案例2</vt:lpstr>
      <vt:lpstr>应用案例2</vt:lpstr>
      <vt:lpstr>应用案例2</vt:lpstr>
      <vt:lpstr>应用案例2</vt:lpstr>
      <vt:lpstr>应用案例2</vt:lpstr>
      <vt:lpstr>应用案例2</vt:lpstr>
      <vt:lpstr>应用案例2</vt:lpstr>
      <vt:lpstr>References</vt:lpstr>
      <vt:lpstr>References</vt:lpstr>
    </vt:vector>
  </TitlesOfParts>
  <Company>S.F.U.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Jiawei Han</dc:creator>
  <cp:lastModifiedBy>Microsoft Office User</cp:lastModifiedBy>
  <cp:revision>156</cp:revision>
  <cp:lastPrinted>1998-10-25T21:42:16Z</cp:lastPrinted>
  <dcterms:created xsi:type="dcterms:W3CDTF">1998-06-19T04:38:52Z</dcterms:created>
  <dcterms:modified xsi:type="dcterms:W3CDTF">2022-09-27T07:10:07Z</dcterms:modified>
</cp:coreProperties>
</file>