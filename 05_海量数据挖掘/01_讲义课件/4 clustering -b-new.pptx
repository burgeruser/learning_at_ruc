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1315" r:id="rId3"/>
    <p:sldId id="1316" r:id="rId4"/>
    <p:sldId id="1339" r:id="rId5"/>
    <p:sldId id="1340" r:id="rId6"/>
    <p:sldId id="1341" r:id="rId7"/>
    <p:sldId id="1317" r:id="rId8"/>
    <p:sldId id="1318" r:id="rId9"/>
    <p:sldId id="1335" r:id="rId10"/>
    <p:sldId id="1336" r:id="rId11"/>
    <p:sldId id="1319" r:id="rId12"/>
    <p:sldId id="1320" r:id="rId13"/>
    <p:sldId id="1321" r:id="rId14"/>
    <p:sldId id="1322" r:id="rId15"/>
    <p:sldId id="1323" r:id="rId16"/>
    <p:sldId id="1324" r:id="rId17"/>
    <p:sldId id="1414" r:id="rId18"/>
    <p:sldId id="1325" r:id="rId19"/>
    <p:sldId id="1326" r:id="rId20"/>
    <p:sldId id="1415" r:id="rId21"/>
    <p:sldId id="1327" r:id="rId22"/>
    <p:sldId id="1334" r:id="rId23"/>
    <p:sldId id="1333" r:id="rId24"/>
    <p:sldId id="1338" r:id="rId25"/>
    <p:sldId id="1337" r:id="rId26"/>
    <p:sldId id="1342" r:id="rId27"/>
    <p:sldId id="1343" r:id="rId28"/>
    <p:sldId id="1344" r:id="rId29"/>
    <p:sldId id="1345" r:id="rId30"/>
    <p:sldId id="1346" r:id="rId31"/>
    <p:sldId id="1347" r:id="rId32"/>
    <p:sldId id="1348" r:id="rId33"/>
    <p:sldId id="1349" r:id="rId34"/>
    <p:sldId id="1350" r:id="rId35"/>
    <p:sldId id="1352" r:id="rId36"/>
    <p:sldId id="1351" r:id="rId37"/>
    <p:sldId id="1353" r:id="rId38"/>
    <p:sldId id="1354" r:id="rId39"/>
    <p:sldId id="1355" r:id="rId40"/>
    <p:sldId id="1356" r:id="rId41"/>
    <p:sldId id="1357" r:id="rId42"/>
  </p:sldIdLst>
  <p:sldSz cx="9144000" cy="6858000" type="screen4x3"/>
  <p:notesSz cx="6834505" cy="9979025"/>
  <p:custDataLst>
    <p:tags r:id="rId48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947"/>
    <p:restoredTop sz="50000"/>
  </p:normalViewPr>
  <p:slideViewPr>
    <p:cSldViewPr showGuides="1">
      <p:cViewPr varScale="1">
        <p:scale>
          <a:sx n="118" d="100"/>
          <a:sy n="118" d="100"/>
        </p:scale>
        <p:origin x="3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" d="1"/>
        <a:sy n="1" d="1"/>
      </p:scale>
      <p:origin x="0" y="-1132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t" anchorCtr="0" compatLnSpc="1"/>
          <a:lstStyle>
            <a:lvl1pPr algn="l" defTabSz="960755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07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t" anchorCtr="0" compatLnSpc="1"/>
          <a:lstStyle>
            <a:lvl1pPr algn="r" defTabSz="960755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07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055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b" anchorCtr="0" compatLnSpc="1"/>
          <a:lstStyle>
            <a:lvl1pPr algn="l" defTabSz="960755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07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8055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b" anchorCtr="0" compatLnSpc="1"/>
          <a:p>
            <a:pPr lvl="0" algn="r" defTabSz="960755"/>
            <a:fld id="{9A0DB2DC-4C9A-4742-B13C-FB6460FD3503}" type="slidenum">
              <a:rPr lang="zh-CN" altLang="en-US" sz="130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3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2:15:36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10569 5925 24575,'-3'3'0,"-2"3"0,4 0 0,-2 6 0,3-6 0,0 2 0,0 1 0,0-3 0,0 2 0,0 1 0,0 0 0,0 0 0,0 0 0,0-4 0,0 1 0,0 2 0,0-2 0,0 3 0,0-4 0,0 4 0,0-3 0,0 2 0,0-2 0,0-1 0,0 1 0,0-1 0,3 1 0,-3-1 0,6 4 0,-3 0 0,3 0 0,-3 3 0,2-9 0,-2 3 0,3-6 0,-1 0 0,0 0 0,4-6 0,-3 3 0,3-13 0,0 9 0,-2-5 0,-1 6 0,-2 0 0,3-6 0,-3 5 0,5-3 0,-9 5 0,8-1 0,-7 0 0,8-9 0,-6 8 0,1-6 0,3 8 0,-5-1 0,3 0 0,-7 1 0,-1 2 0,-3-2 0,1 4 0,-1-1 0,-2 2 0,-2 0 0,1-3 0,0 2 0,1-1 0,-1 2 0,-1 0 0,2 0 0,5 2 0,-2-1 0,4 4 0,-1-2 0,2 5 0,0-1 0,0 1 0,0-2 0,0-1 0,2-2 0,4-1 0,3-2 0,0 0 0,3-2 0,-8-1 0,4-6 0,-7 2 0,7-4 0,-7 5 0,8-10 0,-9 6 0,3-9 0,-3 8 0,0-7 0,0 10 0,0-15 0,0 15 0,0-8 0,3 15 0,-3 5 0,3 5 0,-3 0 0,0 3 0,0 1 0,0-3 0,3 5 0,-3-9 0,3 2 0,-3 4 0,2-7 0,-1 7 0,1-6 0,-2 0 0,0 2 0,3-5 0,3-3 0,0-3 0,3-3 0,-4 1 0,0-1 0,1 0 0,-1 1 0,1 2 0,-1-2 0,1 2 0,-1 0 0,1 3 0,-3 3 0,2 5 0,-2-4 0,6 7 0,-3-7 0,2 2 0,-2-6 0,-3-3 0,2-3 0,-2 3 0,2 3 0,1 3 0,-1 2 0,-2 1 0,3 6 0,-3-2 0,1 10 0,-2-4 0,4-2 0,-5 1 0,5-8 0,-4-3 0,-1-12 0,1 1 0,-2-5 0,0 6 0,0-6 0,0 2 0,0-10 0,0 7 0,0 0 0,0 5 0,0 2 0,0 6 0,0 3 0,0 3 0,0 6 0,0-3 0,0 3 0,0-2 0,6 1 0,-5-5 0,4 9 0,-2-8 0,-3 6 0,3-5 0,-3-2 0,0 6 0,0-3 0,2 0 0,-1 0 0,1-4 0,-2 1 0,0 2 0,0-2 0,0 3 0,3-4 0,-3 1 0,3-1 0,-1 1 0,2 2 0,1-2 0,1 3 0,-1-4 0,1-2 0,-3 2 0,2-2 0,-2 0 0,2-1 0,1-2 0,2 0 0,-2 0 0,0-2 0,-3-1 0,-6 0 0,-3-2 0,0 4 0,-6-11 0,5 10 0,-5-13 0,3 11 0,-4-7 0,-3-4 0,2 2 0,-3-1 0,8 2 0,-3-1 0,-2 2 0,0-1 0,1 2 0,-3-4 0,5 4 0,-3-7 0,8 11 0,1-3 0,2 4 0,0-4 0,-2 5 0,2-4 0,0 5 0,0-2 0,5-1 0,2 1 0,1 2 0,0 0 0,-2 1 0,5 1 0,-1-1 0,2 2 0,0 0 0,-4 0 0,4 2 0,-3 1 0,2 3 0,-2 0 0,-1-1 0,-2 4 0,3 3 0,-5-1 0,2 1 0,-3-4 0,0 1 0,0 1 0,0 5 0,0-5 0,0 3 0,0-5 0,0 0 0,0 2 0,-6 2 0,-1 0 0,-2-3 0,0-3 0,4-3 0,-1-3 0,-7-10 0,6 5 0,-6-8 0,7 7 0,3 1 0,-2-4 0,4-8 0,-2 6 0,3-12 0,0 9 0,0 0 0,0-5 0,0 1 0,0 1 0,0-4 0,3 12 0,0 3 0,2 4 0,4 2 0,-3 0 0,3 0 0,-4 2 0,0 1 0,4 9 0,-5-5 0,2 5 0,-6-3 0,0-3 0,0 9 0,0-8 0,0 5 0,-2-3 0,-1-3 0,-3 2 0,-6-2 0,1-2 0,-2 4 0,5-7 0,2 5 0,0-6 0,1 0 0,-1 0 0,-2-6 0,1 3 0,-2-13 0,3 3 0,2-8 0,1-4 0,3 8 0,0-11 0,0 13 0,0-8 0,3 6 0,0 3 0,1 2 0,1 9 0,-2 3 0,5 3 0,1 3 0,1 3 0,-2-3 0,-1 9 0,-4-5 0,0 6 0,-3-7 0,0 7 0,0-6 0,0 2 0,0 0 0,-6 1 0,4-3 0,-9 5 0,0-8 0,1-1 0,-5 0 0,9-6 0,-6 3 0,-1-3 0,3 0 0,-5 0 0,9 0 0,-3 0 0,3 0 0,1 0 0,-4 0 0,3-5 0,-7-10 0,9 4 0,-3-17 0,7 14 0,0-4 0,0 2 0,3 7 0,0 0 0,2 3 0,1 3 0,-1 6 0,1 3 0,3 7 0,-2 0 0,3 6 0,-7-6 0,0 3 0,-3-4 0,0-2 0,0 1 0,0 2 0,0 0 0,0 0 0,0-5 0,0 4 0,0-1 0,3-1 0,-3-10 0,3-4 0,-3-8 0,3 3 0,0 0 0,14-12 0,-8 15 0,9-14 0,-13 16 0,1-4 0,-1 5 0,-2 3 0,0 3 0,-3 5 0,0 9 0,0-6 0,0 9 0,0-14 0,0 5 0,-3-9 0,0 0 0,-2-7 0,2-1 0,-2 1 0,2-1 0,0-6 0,-5 4 0,4-4 0,-2 6 0,3-15 0,3 12 0,-2-15 0,1 14 0,-2-2 0,1 3 0,1 0 0,-1 1 0,2 1 0,0-4 0,0 4 0,0-4 0,0 1 0,0 1 0,0 1 0,0 2 0,0 1 0,0-1 0,2 0 0,8 0 0,0 0 0,3 3 0,-5 0 0,-2 3 0,2 0 0,-2 0 0,3 0 0,-4 0 0,4 0 0,0 0 0,0 0 0,3 0 0,-6 2 0,5 2 0,-5 1 0,3-2 0,-3 5 0,-1-6 0,-1 6 0,0-8 0,-1 5 0,3-2 0,2 3 0,-1-1 0,1 1 0,-5 3 0,2-6 0,1 5 0,0-4 0,3 1 0,-4 1 0,1-1 0,-3 1 0,-1-1 0,0 1 0,1-1 0,0 1 0,2-1 0,-1 3 0,4-1 0,-4 2 0,2-4 0,-6 1 0,0-1 0,2 1 0,-1-1 0,1 1 0,-2 2 0,0-2 0,0 3 0,0-4 0,0 1 0,0-1 0,3 1 0,-3 2 0,3-2 0,-3 3 0,0-1 0,2-4 0,-1 4 0,4 1 0,-4 2 0,4 1 0,-4 0 0,1-6 0,-2 9 0,3-8 0,-3 8 0,3-5 0,-3 2 0,0-3 0,0 0 0,0-1 0,0-2 0,0 3 0,0-1 0,0-2 0,0 3 0,0-4 0,0 1 0,0-1 0,0 1 0,0-1 0,0 1 0,0-1 0,0 0 0,0 1 0,-3-1 0,-7 8 0,-1-5 0,-3 3 0,6-9 0,-1-2 0,0 0 0,0 0 0,0 0 0,4 0 0,-4 0 0,3-2 0,-3-1 0,1 0 0,1 0 0,-4-2 0,2 3 0,-4-8 0,4 6 0,-3-8 0,6 8 0,-3-4 0,-7 4 0,1-2 0,-9-1 0,3-3 0,4 3 0,-2-3 0,1-4 0,1 6 0,3-5 0,3 10 0,1-3 0,1 6 0,0-6 0,-3 3 0,5 0 0,-5-3 0,9 3 0,-2-3 0,4 1 0,-4-1 0,5-2 0,-3 1 0,3-8 0,0 8 0,4-16 0,-1 15 0,6-12 0,-2 11 0,2-3 0,-3 0 0,3 2 0,-5 1 0,4 3 0,-5 1 0,2-4 0,1 3 0,0 0 0,-1 4 0,0 2 0,-1 2 0,0 1 0,6 0 0,0-1 0,3-2 0,-5 3 0,-2 0 0,2 0 0,2-1 0,-1 4 0,0-5 0,5 19 0,-7-14 0,10 12 0,-11-13 0,3 1 0,-4 0 0,4 6 0,-2-5 0,2 5 0,-6-4 0,2 5 0,-1 0 0,0 3 0,-2-4 0,-5 1 0,0-4 0,-6 2 0,0-1 0,0-4 0,0 0 0,4-9 0,-7-3 0,-3-8 0,1 0 0,0-7 0,7 0 0,-3 0 0,2-13 0,1 7 0,3-8 0,4 13 0,0-6 0,0 14 0,2-1 0,1 10 0,3 5 0,2 0 0,9 0 0,-5 0 0,7 9 0,-9-1 0,0 4 0,1-3 0,-4 8 0,-1-9 0,0 8 0,-5-10 0,1-1 0,-2 1 0,0 2 0,0 1 0,0 0 0,0-6 0,0-1 0,0-5 0</inkml:trace>
  <inkml:trace contextRef="#ctx0" brushRef="#br0">10738 7321 24575,'0'8'0,"0"1"0,0 4 0,0-4 0,-3 2 0,3-5 0,-6 5 0,0-7 0,-3 4 0,-1-8 0,2 6 0,-1-6 0,3 3 0,-9-3 0,7 0 0,-7 0 0,6 0 0,-3 0 0,2 0 0,2-3 0,5 0 0,0-2 0,0-17 0,2 13 0,-3-15 0,0 2 0,4 9 0,-4-11 0,1 15 0,2-7 0,-1 3 0,-1-7 0,-1 7 0,0-7 0,-1 10 0,5 3 0,0 8 0,0 7 0,5-2 0,-4 3 0,3-4 0,-3 1 0,1 10 0,-2-5 0,0 9 0,0 0 0,0-2 0,-2 0 0,-1-6 0,-3-3 0,1-6 0,-1 5 0,0-7 0,-2 1 0,-2 1 0,1-2 0,0 1 0,4-2 0,-4 0 0,3-5 0,-3-6 0,5-5 0,1-5 0,3 4 0,0 1 0,0 1 0,2 4 0,1-1 0,3 9 0,2 1 0,-1 2 0,1 0 0,0 0 0,5 0 0,-5 2 0,7 8 0,-13-3 0,4 16 0,-6-12 0,0 6 0,0 2 0,0-8 0,0 9 0,0-7 0,0-1 0,-3-3 0,0 0 0,-2-4 0,-1 1 0,0-3 0,3-10 0,1 2 0,2-18 0,0 12 0,0-6 0,2 8 0,1 4 0,6-1 0,-3 3 0,3 0 0,-4 3 0,0 0 0,1 0 0,0 5 0,-3 6 0,-1 6 0,-2 3 0,0 9 0,0-10 0,-3 10 0,0-19 0,-3 2 0,1-9 0,-1-3 0,3-14 0,0 3 0,3-17 0,6 10 0,2-7 0,2 8 0,2 4 0,-5 5 0,1 4 0,-2 2 0,-1 4 0,1 4 0,-3 3 0,0 11 0,-3 2 0,0 4 0,0 8 0,-6-15 0,-9 15 0,0-23 0,-10 10 0,15-16 0,0 3 0,5-7 0,2 4 0,-2-5 0,-1 3 0,1-3 0,-4 0 0,-4-3 0,0-1 0,0 0 0,4-1 0,6-5 0,1 0 0,2-14 0,0 2 0,0 0 0,0-6 0,0 10 0,0-3 0,0 2 0,0 6 0,0 0 0,0 1 0,5 3 0,-1-1 0,5 2 0,-4 2 0,-2 1 0,2-1 0,-2 1 0,2 2 0,1 0 0,-1 3 0,1 0 0,-1 0 0,1 0 0,-1 0 0,1 0 0,-1 0 0,0 0 0,1 0 0,-1 0 0,1 0 0,-1 0 0,1 0 0,-1 0 0,4 0 0,-3 0 0,2 3 0,-2-3 0,-1 5 0,1-2 0,-1 0 0,4 0 0,0 6 0,4-7 0,0 12 0,-4-10 0,-1 2 0,1 2 0,-3-4 0,3 4 0,-4-5 0,0 2 0,1-2 0,-1 3 0,1 2 0,-3-2 0,5 3 0,-6-3 0,6-1 0,-8 1 0,3-1 0,-3 1 0,0-1 0,0-4 0,-3-2 0,3-11 0,-5 5 0,1-12 0,1 9 0,0-6 0,3 7 0,-3 0 0,3 4 0,-3-1 0,1 0 0,-1 1 0,-3-1 0,1 1 0,-1 2 0,-3-5 0,3 4 0,-2-5 0,-5-4 0,5 6 0,-5-6 0,10 7 0,-5 3 0,4 1 0,-4 2 0,2-3 0,1 0 0,-1 0 0,0 1 0,1-1 0,-1 3 0,1-3 0,-4 3 0,11 0 0,2 0 0,5 0 0,2 0 0,1 0 0,-4 0 0,14 0 0,-13 0 0,7 3 0,-8-3 0,2 5 0,-1-4 0,2 2 0,-1-1 0,-1-1 0,-3 4 0,-1 1 0,5-2 0,0 4 0,3-7 0,-7 4 0,-1-4 0,1 4 0,0-2 0,3 0 0,-4 2 0,0-2 0,1 6 0,0-3 0,3 3 0,-6-4 0,5 1 0,-7-1 0,1 1 0,1-1 0,0 1 0,0-1 0,-1 1 0,-2-1 0,0 7 0,0-5 0,3 5 0,-3-6 0,3-1 0,0 7 0,-3 2 0,3 0 0,-3-2 0,0-7 0,0 1 0,0 6 0,-2-2 0,1 3 0,-4-5 0,-5 1 0,-1 4 0,-5 1 0,6-4 0,2-4 0,2-6 0,-3-9 0,2 1 0,1-8 0,0 7 0,6-15 0,-3 14 0,3-18 0,0 15 0,0-1 0,0-1 0,0 5 0,0-2 0,0 3 0,0-3 0,0-10 0,3 12 0,0-13 0,3 19 0,-1-5 0,1 4 0,-1 2 0,1 0 0,-3 6 0,2 0 0,4 6 0,1 0 0,3 1 0,-7 1 0,-1-1 0,1 2 0,-2-3 0,5 3 0,-6-3 0,0 0 0,0 2 0,-3-4 0,0 4 0,0-5 0,0 3 0,0 3 0,0-5 0,0 8 0,-2-9 0,-1 3 0,-3-4 0,0 4 0,3-3 0,-2 5 0,-5-4 0,5 2 0,-7 2 0,9-4 0,-5 4 0,4-5 0,-4-3 0,2 2 0,-1-4 0,-1 2 0,-1-1 0,3-1 0,-2 2 0,-1-3 0,3 0 0,-3 0 0,4 0 0,-1 0 0,-2 0 0,1 0 0,-8 0 0,8-3 0,-16-4 0,11-6 0,-8-1 0,7-2 0,3 0 0,-3-5 0,2-5 0,-1-4 0,2 11 0,6-8 0,-4 15 0,4-5 0,-2 9 0,4-4 0,2 4 0,0-7 0,0 9 0,2-3 0,1 4 0,3-4 0,0 5 0,-1-1 0,1 5 0,-1 0 0,1 0 0,-1 0 0,7 0 0,-5 0 0,5 0 0,5 0 0,-9 0 0,11 3 0,-10 0 0,4 3 0,-1 3 0,0 1 0,8 3 0,-6 0 0,6 0 0,-13-4 0,4 3 0,-7-6 0,4 2 0,-2-2 0,0 2 0,-1-4 0,4 4 0,-2 2 0,1-3 0,-4 5 0,1-6 0,-5-1 0,3 1 0,-3 6 0,0-5 0,0 5 0,2-9 0,-1 2 0,1 1 0,-2 3 0,0 0 0,0 0 0,0-1 0,0-1 0,0 1 0,0 4 0,-3-2 0,0 3 0,-6-4 0,0 3 0,-1-7 0,1 1 0,3-6 0,-2-3 0,2 1 0,-3 1 0,3-1 0,1 2 0,-4 0 0,0 0 0,0-3 0,-3 0 0,6-3 0,-6 3 0,2-8 0,-2 5 0,2-3 0,2 4 0,2 4 0,-6-2 0,5 1 0,-9-1 0,5-1 0,1-1 0,-1 5 0,8-5 0,-5 4 0,4-1 0,-5 2 0,1 0 0,1-9 0,-5 6 0,5-8 0,-1 8 0,2-3 0,1 1 0,-1-1 0,3-6 0,-2 2 0,4-6 0,-4 6 0,2-1 0,-1 9 0,10 6 0,-4 3 0,18 25 0,-15-24 0,10 25 0,-5-22 0,-3 3 0,5 1 0,-3-6 0,3 3 0,8-2 0,-2 0 0,16-3 0,-12 0 0,22-2 0,-20 4 0,11-8 0,-15 11 0,0-7 0,-3 1 0,-4-3 0,-5-3 0,1 3 0,-3-2 0,2 2 0,-2-6 0,-1 0 0,-2-3 0,0-2 0,-3 2 0,2-3 0,-1 4 0,1-4 0,-2 3 0,0-9 0,0 7 0,0-4 0,0 4 0,0 1 0,0-1 0,0 2 0,0 1 0,0-1 0,0 1 0,0-4 0,0 3 0,-3-9 0,0 7 0,-4-10 0,-1 10 0,1-2 0,-2 5 0,1 2 0,-5-3 0,-4-1 0,-13-8 0,8 4 0,-17-6 0,12 4 0,-7 4 0,7-8 0,6 11 0,0-7 0,11 12 0,-9-5 0,6 2 0,-4 0 0,4 1 0,1 3 0,3-2 0,2 1 0,2-2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2:25:53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14847 15444 24575,'-5'2'0,"2"1"0,0 3 0,1-1 0,1 0 0,-7 4 0,7-3 0,-5 3 0,6-1 0,0 1 0,0 1 0,-2-2 0,1-3 0,-1 1 0,-1 2 0,2-1 0,-4 4 0,4-5 0,-2 3 0,3-4 0,-2 4 0,1-3 0,-7 5 0,4-7 0,-2 4 0,3-5 0,3 9 0,0-5 0,0 5 0,0-6 0,-2-1 0,1 1 0,-1-1 0,-1 7 0,2-5 0,-2 5 0,3-3 0,0-3 0,0 6 0,0-6 0,0 2 0,0-2 0,-2-1 0,1 4 0,-4 0 0,4 3 0,-2-3 0,1 0 0,1-1 0,-1-2 0,2 3 0,0-4 0,0 1 0,0 2 0,-3-1 0,3 8 0,-3-5 0,3 6 0,0-1 0,0-1 0,0-2 0,0-3 0,-3-1 0,3 5 0,-3-3 0,3 2 0,0-6 0,0-1 0,0 1 0,0 2 0,0-2 0,0 3 0,0-4 0,0 1 0,0-1 0,0 7 0,0-5 0,0 5 0,0-6 0,0 2 0,0-1 0,0 4 0,0-5 0,0 6 0,0-3 0,0 3 0,0 1 0,0-1 0,0 0 0,0-3 0,0 0 0,0-4 0,0 1 0,0 2 0,0 1 0,0 4 0,0-1 0,0-3 0,2-1 0,-1-2 0,1 6 0,1-5 0,-3 5 0,6-3 0,-3-6 0,2 5 0,-1-5 0,1 6 0,-2-3 0,6 5 0,-3-7 0,2 2 0,-2-6 0,2 5 0,-2-1 0,0 2 0,-3-4 0</inkml:trace>
  <inkml:trace contextRef="#ctx0" brushRef="#br0">15032 15323 24575,'-6'5'0,"1"-2"0,-1 2 0,-3 1 0,3 1 0,-2 1 0,2-3 0,1 1 0,-1-1 0,0 1 0,3-1 0,-2 1 0,-1 2 0,0-2 0,-2 0 0,-2 6 0,4-10 0,-6 10 0,5-9 0,-1 3 0,2-1 0,1-2 0,2 2 0,-6 5 0,2 0 0,-6 3 0,7-4 0,-2-4 0,7 4 0,-1-3 0,2 2 0,-6-2 0,2 0 0,-2 0 0,4-1 0,2 3 0,-3-1 0,3 1 0,-3-2 0,3-1 0,-3 4 0,3 3 0,-3-2 0,3 3 0,-3-8 0,3 0 0,-3 1 0,3 2 0,0-1 0,0 1 0,0 1 0,0-3 0,0 2 0,0 1 0,0-3 0,-2 2 0,1-2 0,-1-3 0,2-1 0</inkml:trace>
  <inkml:trace contextRef="#ctx0" brushRef="#br0">14828 15532 24575,'3'-5'0,"2"-4"0,-4 3 0,7-6 0,-1 6 0,0 5 0,-2 5 0,-7 5 0,1 0 0,-4-4 0,5 1 0,-3-1 0,1 0 0,1 4 0,-1-3 0,2 3 0,-3-4 0,2 3 0,-1-1 0,2 4 0,0-5 0,0 3 0,0-4 0,-6 1 0,5 0 0,-4-1 0,2 4 0,2-3 0,-2 3 0,1-4 0,1 0 0,-1 1 0,2 2 0,0-1 0,-3 1 0,3-3 0,-3 1 0,3-1 0,0 1 0,0-1 0,-2 4 0,1-3 0,-4 2 0,4-2 0,-1-1 0,2 1 0,0 2 0,0-1 0,0 4 0,0-5 0,0 3 0,0-4 0,-3 4 0,2-3 0,-2 5 0,3-4 0,0 1 0,-3 8 0,2-8 0,-2 9 0,3-12 0,0 4 0,0 0 0,0 0 0,-3 0 0,3-4 0,-3 4 0,3-3 0,-2 5 0,1-5 0,-2 3 0,1-4 0,1 1 0,-1-1 0,2 7 0,0-5 0,0 6 0,0-8 0,0 3 0,0-1 0,0 1 0,0 1 0,0-3 0,0 5 0,0-1 0,0 2 0,0-3 0,0-1 0,0-2 0,0-1 0,0 1 0,0 2 0,0-1 0,0 1 0,0-3 0,0 1 0,0-1 0,0 1 0,0 2 0,0-2 0,0 3 0,0-1 0,0-1 0,0 1 0,0 1 0,0-3 0,0 2 0,0-2 0,0-1 0,2 1 0,1-1 0,0 4 0,2-3 0,-4 2 0,3-2 0,-1-1 0,0 1 0,0-1 0,-3 4 0,0-3 0,2 2 0,-1-2 0,1-1 0,1 1 0,0-1 0,5 4 0,-1-6 0,-1 5 0,-2-5 0,-3 3 0,4-1 0,-2 1 0,2-1 0,4 3 0,0 2 0,1 2 0,-2-3 0,-2 0 0,-3-6 0,-1-1 0</inkml:trace>
  <inkml:trace contextRef="#ctx0" brushRef="#br0">14959 15368 24575,'3'6'0,"-3"-3"0,-3 6 0,0-4 0,-2-2 0,2 0 0,-9-3 0,4 2 0,-4 1 0,9 3 0,-2 2 0,2-2 0,-6 3 0,5-3 0,-4-1 0,8 1 0,-5-1 0,4 4 0,-4-3 0,4 3 0,-1-6 0,2-1 0</inkml:trace>
  <inkml:trace contextRef="#ctx0" brushRef="#br0">14971 15382 24575,'-5'0'0,"-1"2"0,1-1 0,-1 2 0,-6 0 0,5-3 0,-5 3 0,6-3 0,1 0 0,-1 3 0,1-3 0,-1 5 0,1-4 0,-1 4 0,0 1 0,-2 3 0,1-2 0,-5-2 0,6-2 0,-3 3 0,6 0 0,0 5 0,3-4 0,0 1 0,-2 0 0,1-1 0,-2 1 0,3 1 0,0-8 0,0 4 0,0-8 0</inkml:trace>
  <inkml:trace contextRef="#ctx0" brushRef="#br0">14979 15381 24575,'-10'3'0,"2"2"0,5-2 0,-2 0 0,2 2 0,-6 1 0,3 0 0,-3 3 0,4-6 0,2 2 0,-2-5 0,2 5 0,-3-2 0,1 3 0,-1 2 0,0-2 0,0 0 0,3-1 0,-2-2 0,2 3 0,-2-1 0,-4 1 0,2 2 0,-1-3 0,4 2 0,0-4 0,3 3 0,-4-1 0,4 1 0,-4 2 0,2-2 0,0 6 0,-3-3 0,6 0 0,-3 0 0,3-4 0,-5 4 0,3-3 0,-3 3 0,5-4 0,0 0 0,0 7 0,0-9 0,0 0 0,0-10 0,0-1 0,2 2 0,-1 1 0,1-4 0,-2 3 0,3 0 0,-3 1 0,3-1 0,-1-1 0,1-1 0,0-1 0,2 3 0,-4 0 0,1 4 0</inkml:trace>
  <inkml:trace contextRef="#ctx0" brushRef="#br0">14833 15507 24575,'-6'6'0,"0"-1"0,1 0 0,-1 1 0,1-1 0,2 1 0,-2-1 0,4 1 0,-4-1 0,5 1 0,-5-1 0,4 1 0,-1-1 0,2 0 0,0 1 0,0-1 0,0 4 0,0 0 0,0-2 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t" anchorCtr="0" compatLnSpc="1"/>
          <a:lstStyle>
            <a:lvl1pPr algn="l" defTabSz="960755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07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t" anchorCtr="0" compatLnSpc="1"/>
          <a:lstStyle>
            <a:lvl1pPr algn="r" defTabSz="960755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07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6" name="Rectangle 4"/>
          <p:cNvSpPr>
            <a:spLocks noTextEdit="1"/>
          </p:cNvSpPr>
          <p:nvPr>
            <p:ph type="sldImg" idx="2"/>
          </p:nvPr>
        </p:nvSpPr>
        <p:spPr>
          <a:xfrm>
            <a:off x="923925" y="749300"/>
            <a:ext cx="4986338" cy="3740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40275"/>
            <a:ext cx="5011738" cy="448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055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b" anchorCtr="0" compatLnSpc="1"/>
          <a:lstStyle>
            <a:lvl1pPr algn="l" defTabSz="960755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07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8055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068" tIns="48035" rIns="96068" bIns="48035" numCol="1" anchor="b" anchorCtr="0" compatLnSpc="1"/>
          <a:p>
            <a:pPr lvl="0" algn="r" defTabSz="960755"/>
            <a:fld id="{9A0DB2DC-4C9A-4742-B13C-FB6460FD3503}" type="slidenum">
              <a:rPr lang="zh-CN" altLang="en-US" sz="130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3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5304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5305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algn="ctr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1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/>
            <a:fld id="{9A0DB2DC-4C9A-4742-B13C-FB6460FD3503}" type="slidenum">
              <a:rPr lang="zh-CN" altLang="en-US" sz="1400">
                <a:solidFill>
                  <a:schemeClr val="bg2"/>
                </a:solidFill>
                <a:ea typeface="宋体" panose="02010600030101010101" pitchFamily="2" charset="-122"/>
              </a:rPr>
            </a:fld>
            <a:endParaRPr lang="zh-CN" altLang="en-US" sz="14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2057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8" name="Rectangle 2058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>
                <a:latin typeface="Tahoma" panose="020B0604030504040204" pitchFamily="34" charset="0"/>
              </a:rPr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hyperlink" Target="http://en.wikipedia.org/wiki/Likelihood_function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2.wmf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2.xml"/><Relationship Id="rId11" Type="http://schemas.openxmlformats.org/officeDocument/2006/relationships/oleObject" Target="../embeddings/oleObject18.bin"/><Relationship Id="rId10" Type="http://schemas.openxmlformats.org/officeDocument/2006/relationships/oleObject" Target="../embeddings/oleObject17.bin"/><Relationship Id="rId1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png"/><Relationship Id="rId7" Type="http://schemas.openxmlformats.org/officeDocument/2006/relationships/customXml" Target="../ink/ink1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18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25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32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29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36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4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1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42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8.png"/><Relationship Id="rId7" Type="http://schemas.openxmlformats.org/officeDocument/2006/relationships/customXml" Target="../ink/ink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35.w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44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47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4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15362" name="Rectangle 2"/>
          <p:cNvSpPr>
            <a:spLocks noGrp="1"/>
          </p:cNvSpPr>
          <p:nvPr>
            <p:ph idx="1"/>
          </p:nvPr>
        </p:nvSpPr>
        <p:spPr>
          <a:xfrm>
            <a:off x="393700" y="1371600"/>
            <a:ext cx="8204200" cy="4902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主要思想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>
                <a:ea typeface="宋体" panose="02010600030101010101" pitchFamily="2" charset="-122"/>
              </a:rPr>
              <a:t>利用一定的数学模型进行聚类。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>
                <a:ea typeface="宋体" panose="02010600030101010101" pitchFamily="2" charset="-122"/>
              </a:rPr>
              <a:t>这类方法通常假设数据满足一定的概率分布，聚类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>
                <a:ea typeface="宋体" panose="02010600030101010101" pitchFamily="2" charset="-122"/>
              </a:rPr>
              <a:t>的过程就是要尽力找到数据与模型之间的拟合点。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>
                <a:ea typeface="宋体" panose="02010600030101010101" pitchFamily="2" charset="-122"/>
              </a:rPr>
              <a:t>典型方法有高斯混合模型方法（</a:t>
            </a:r>
            <a:r>
              <a:rPr lang="en-US" altLang="zh-CN">
                <a:ea typeface="宋体" panose="02010600030101010101" pitchFamily="2" charset="-122"/>
              </a:rPr>
              <a:t>Gaussian Mixture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>
                <a:ea typeface="宋体" panose="02010600030101010101" pitchFamily="2" charset="-122"/>
              </a:rPr>
              <a:t>Models</a:t>
            </a:r>
            <a:r>
              <a:rPr lang="zh-CN" altLang="en-US">
                <a:ea typeface="宋体" panose="02010600030101010101" pitchFamily="2" charset="-122"/>
              </a:rPr>
              <a:t>，简称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）。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800">
                <a:ea typeface="宋体" panose="02010600030101010101" pitchFamily="2" charset="-122"/>
              </a:rPr>
              <a:t>基于模型的聚类</a:t>
            </a:r>
            <a:endParaRPr lang="en-US" altLang="zh-CN" sz="4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是</a:t>
            </a:r>
            <a:r>
              <a:rPr lang="en-US" altLang="zh-CN">
                <a:ea typeface="宋体" panose="02010600030101010101" pitchFamily="2" charset="-122"/>
              </a:rPr>
              <a:t>k-Means</a:t>
            </a:r>
            <a:r>
              <a:rPr lang="zh-CN" altLang="zh-CN">
                <a:ea typeface="宋体" panose="02010600030101010101" pitchFamily="2" charset="-122"/>
              </a:rPr>
              <a:t>方法的概率变种。其基本算法框架和</a:t>
            </a:r>
            <a:r>
              <a:rPr lang="en-US" altLang="zh-CN">
                <a:ea typeface="宋体" panose="02010600030101010101" pitchFamily="2" charset="-122"/>
              </a:rPr>
              <a:t>k-Means</a:t>
            </a:r>
            <a:r>
              <a:rPr lang="zh-CN" altLang="zh-CN">
                <a:ea typeface="宋体" panose="02010600030101010101" pitchFamily="2" charset="-122"/>
              </a:rPr>
              <a:t>类似，都是通过多次迭代逐步改进聚类结果的质量。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k-Means</a:t>
            </a:r>
            <a:r>
              <a:rPr lang="zh-CN" altLang="zh-CN">
                <a:ea typeface="宋体" panose="02010600030101010101" pitchFamily="2" charset="-122"/>
              </a:rPr>
              <a:t>的区别在于：</a:t>
            </a:r>
            <a:r>
              <a:rPr lang="en-US" altLang="zh-CN">
                <a:ea typeface="宋体" panose="02010600030101010101" pitchFamily="2" charset="-122"/>
              </a:rPr>
              <a:t>k-Means</a:t>
            </a:r>
            <a:r>
              <a:rPr lang="zh-CN" altLang="zh-CN">
                <a:ea typeface="宋体" panose="02010600030101010101" pitchFamily="2" charset="-122"/>
              </a:rPr>
              <a:t>聚类的最终结果是每个数据对象被指派到了某个族，而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在算法结束时，除了将数据对象指派给某个族外，还给出了对象属于该族的概率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zh-CN" altLang="en-US">
                <a:ea typeface="宋体" panose="02010600030101010101" pitchFamily="2" charset="-122"/>
              </a:rPr>
              <a:t>学习出一些概率密度函数来</a:t>
            </a:r>
            <a:r>
              <a:rPr lang="en-US" altLang="zh-CN">
                <a:ea typeface="宋体" panose="02010600030101010101" pitchFamily="2" charset="-122"/>
              </a:rPr>
              <a:t>,</a:t>
            </a:r>
            <a:r>
              <a:rPr lang="zh-CN" altLang="en-US">
                <a:ea typeface="宋体" panose="02010600030101010101" pitchFamily="2" charset="-122"/>
              </a:rPr>
              <a:t>所以 </a:t>
            </a:r>
            <a:r>
              <a:rPr lang="en-US" altLang="zh-CN">
                <a:ea typeface="宋体" panose="02010600030101010101" pitchFamily="2" charset="-122"/>
              </a:rPr>
              <a:t>GMM </a:t>
            </a:r>
            <a:r>
              <a:rPr lang="zh-CN" altLang="en-US">
                <a:ea typeface="宋体" panose="02010600030101010101" pitchFamily="2" charset="-122"/>
              </a:rPr>
              <a:t>除了用在 </a:t>
            </a:r>
            <a:r>
              <a:rPr lang="en-US" altLang="zh-CN">
                <a:ea typeface="宋体" panose="02010600030101010101" pitchFamily="2" charset="-122"/>
              </a:rPr>
              <a:t>clustering </a:t>
            </a:r>
            <a:r>
              <a:rPr lang="zh-CN" altLang="en-US">
                <a:ea typeface="宋体" panose="02010600030101010101" pitchFamily="2" charset="-122"/>
              </a:rPr>
              <a:t>上之外，还经常被用于 </a:t>
            </a:r>
            <a:r>
              <a:rPr lang="en-US" altLang="zh-CN">
                <a:ea typeface="宋体" panose="02010600030101010101" pitchFamily="2" charset="-122"/>
              </a:rPr>
              <a:t>density estimation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简单地说，</a:t>
            </a:r>
            <a:r>
              <a:rPr lang="en-US" altLang="zh-CN">
                <a:ea typeface="宋体" panose="02010600030101010101" pitchFamily="2" charset="-122"/>
              </a:rPr>
              <a:t>k-means </a:t>
            </a:r>
            <a:r>
              <a:rPr lang="zh-CN" altLang="en-US">
                <a:ea typeface="宋体" panose="02010600030101010101" pitchFamily="2" charset="-122"/>
              </a:rPr>
              <a:t>的结果是每个数据点被 </a:t>
            </a:r>
            <a:r>
              <a:rPr lang="en-US" altLang="zh-CN">
                <a:ea typeface="宋体" panose="02010600030101010101" pitchFamily="2" charset="-122"/>
              </a:rPr>
              <a:t>assign </a:t>
            </a:r>
            <a:r>
              <a:rPr lang="zh-CN" altLang="en-US">
                <a:ea typeface="宋体" panose="02010600030101010101" pitchFamily="2" charset="-122"/>
              </a:rPr>
              <a:t>到其中某一个 </a:t>
            </a:r>
            <a:r>
              <a:rPr lang="en-US" altLang="zh-CN">
                <a:ea typeface="宋体" panose="02010600030101010101" pitchFamily="2" charset="-122"/>
              </a:rPr>
              <a:t>cluster </a:t>
            </a:r>
            <a:r>
              <a:rPr lang="zh-CN" altLang="en-US">
                <a:ea typeface="宋体" panose="02010600030101010101" pitchFamily="2" charset="-122"/>
              </a:rPr>
              <a:t>了，而 </a:t>
            </a:r>
            <a:r>
              <a:rPr lang="en-US" altLang="zh-CN">
                <a:ea typeface="宋体" panose="02010600030101010101" pitchFamily="2" charset="-122"/>
              </a:rPr>
              <a:t>GMM </a:t>
            </a:r>
            <a:r>
              <a:rPr lang="zh-CN" altLang="en-US">
                <a:ea typeface="宋体" panose="02010600030101010101" pitchFamily="2" charset="-122"/>
              </a:rPr>
              <a:t>则给出这些数据点</a:t>
            </a:r>
            <a:r>
              <a:rPr lang="zh-CN" altLang="en-US" i="1">
                <a:ea typeface="宋体" panose="02010600030101010101" pitchFamily="2" charset="-122"/>
              </a:rPr>
              <a:t>被 </a:t>
            </a:r>
            <a:r>
              <a:rPr lang="en-US" altLang="zh-CN" i="1">
                <a:ea typeface="宋体" panose="02010600030101010101" pitchFamily="2" charset="-122"/>
              </a:rPr>
              <a:t>assign </a:t>
            </a:r>
            <a:r>
              <a:rPr lang="zh-CN" altLang="en-US" i="1">
                <a:ea typeface="宋体" panose="02010600030101010101" pitchFamily="2" charset="-122"/>
              </a:rPr>
              <a:t>到每个 </a:t>
            </a:r>
            <a:r>
              <a:rPr lang="en-US" altLang="zh-CN" i="1">
                <a:ea typeface="宋体" panose="02010600030101010101" pitchFamily="2" charset="-122"/>
              </a:rPr>
              <a:t>cluster </a:t>
            </a:r>
            <a:r>
              <a:rPr lang="zh-CN" altLang="en-US" i="1">
                <a:ea typeface="宋体" panose="02010600030101010101" pitchFamily="2" charset="-122"/>
              </a:rPr>
              <a:t>的概率</a:t>
            </a:r>
            <a:r>
              <a:rPr lang="zh-CN" altLang="en-US">
                <a:ea typeface="宋体" panose="02010600030101010101" pitchFamily="2" charset="-122"/>
              </a:rPr>
              <a:t>，又称作 </a:t>
            </a:r>
            <a:r>
              <a:rPr lang="en-US" altLang="zh-CN" i="1">
                <a:ea typeface="宋体" panose="02010600030101010101" pitchFamily="2" charset="-122"/>
              </a:rPr>
              <a:t>soft assignment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得出一个概率有很多好处，因为它的信息量比简单的一个结果要多，比如，可以把这个概率转换为一个 </a:t>
            </a:r>
            <a:r>
              <a:rPr lang="en-US" altLang="zh-CN">
                <a:ea typeface="宋体" panose="02010600030101010101" pitchFamily="2" charset="-122"/>
              </a:rPr>
              <a:t>score </a:t>
            </a:r>
            <a:r>
              <a:rPr lang="zh-CN" altLang="en-US">
                <a:ea typeface="宋体" panose="02010600030101010101" pitchFamily="2" charset="-122"/>
              </a:rPr>
              <a:t>，表示算法对自己得出的这个结果的把握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对同一个任务，也许可以用多个方法得到结果，最后选取“把握”最大的那个结果；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另一个很常见的方法是在诸如疾病诊断之类的场所，机器对于那些很容易分辨的情况（患病或者不患病的概率很高）可以自动区分，而对于那种很难分辨的情况，比如，</a:t>
            </a:r>
            <a:r>
              <a:rPr lang="en-US" altLang="zh-CN">
                <a:ea typeface="宋体" panose="02010600030101010101" pitchFamily="2" charset="-122"/>
              </a:rPr>
              <a:t>49% </a:t>
            </a:r>
            <a:r>
              <a:rPr lang="zh-CN" altLang="en-US">
                <a:ea typeface="宋体" panose="02010600030101010101" pitchFamily="2" charset="-122"/>
              </a:rPr>
              <a:t>的概率患病，</a:t>
            </a:r>
            <a:r>
              <a:rPr lang="en-US" altLang="zh-CN">
                <a:ea typeface="宋体" panose="02010600030101010101" pitchFamily="2" charset="-122"/>
              </a:rPr>
              <a:t>51% </a:t>
            </a:r>
            <a:r>
              <a:rPr lang="zh-CN" altLang="en-US">
                <a:ea typeface="宋体" panose="02010600030101010101" pitchFamily="2" charset="-122"/>
              </a:rPr>
              <a:t>的概率正常，如果仅仅简单地使用 </a:t>
            </a:r>
            <a:r>
              <a:rPr lang="en-US" altLang="zh-CN">
                <a:ea typeface="宋体" panose="02010600030101010101" pitchFamily="2" charset="-122"/>
              </a:rPr>
              <a:t>50% </a:t>
            </a:r>
            <a:r>
              <a:rPr lang="zh-CN" altLang="en-US">
                <a:ea typeface="宋体" panose="02010600030101010101" pitchFamily="2" charset="-122"/>
              </a:rPr>
              <a:t>的阈值将患者诊断为“正常”的话，风险是非常大的，因此，在机器对自己的结果把握很小的情况下，会“拒绝发表评论”，而把这个任务留给有经验的医生去解决。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假设数据服从高斯混合分布（</a:t>
            </a:r>
            <a:r>
              <a:rPr lang="en-US" altLang="zh-CN">
                <a:ea typeface="宋体" panose="02010600030101010101" pitchFamily="2" charset="-122"/>
              </a:rPr>
              <a:t>Gaussian Mixture Distribution</a:t>
            </a:r>
            <a:r>
              <a:rPr lang="zh-CN" altLang="zh-CN">
                <a:ea typeface="宋体" panose="02010600030101010101" pitchFamily="2" charset="-122"/>
              </a:rPr>
              <a:t>），换句话说，数据可以看作是从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zh-CN">
                <a:ea typeface="宋体" panose="02010600030101010101" pitchFamily="2" charset="-122"/>
              </a:rPr>
              <a:t>个高斯分布（</a:t>
            </a:r>
            <a:r>
              <a:rPr lang="en-US" altLang="zh-CN">
                <a:ea typeface="宋体" panose="02010600030101010101" pitchFamily="2" charset="-122"/>
              </a:rPr>
              <a:t>Gaussian Distribution</a:t>
            </a:r>
            <a:r>
              <a:rPr lang="zh-CN" altLang="zh-CN">
                <a:ea typeface="宋体" panose="02010600030101010101" pitchFamily="2" charset="-122"/>
              </a:rPr>
              <a:t>）中生成出来的。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每个高斯分布称为一个组件（</a:t>
            </a:r>
            <a:r>
              <a:rPr lang="en-US" altLang="zh-CN">
                <a:ea typeface="宋体" panose="02010600030101010101" pitchFamily="2" charset="-122"/>
              </a:rPr>
              <a:t>Component</a:t>
            </a:r>
            <a:r>
              <a:rPr lang="zh-CN" altLang="zh-CN">
                <a:ea typeface="宋体" panose="02010600030101010101" pitchFamily="2" charset="-122"/>
              </a:rPr>
              <a:t>），这些组件线性叠加在一起就组成了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GMM </a:t>
            </a:r>
            <a:r>
              <a:rPr lang="zh-CN" altLang="zh-CN">
                <a:ea typeface="宋体" panose="02010600030101010101" pitchFamily="2" charset="-122"/>
              </a:rPr>
              <a:t>的概率密度函数：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其中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zh-CN">
                <a:ea typeface="宋体" panose="02010600030101010101" pitchFamily="2" charset="-122"/>
              </a:rPr>
              <a:t>是一个数据对象，</a:t>
            </a:r>
            <a:r>
              <a:rPr lang="zh-CN" altLang="en-US">
                <a:ea typeface="宋体" panose="02010600030101010101" pitchFamily="2" charset="-122"/>
              </a:rPr>
              <a:t>    </a:t>
            </a:r>
            <a:r>
              <a:rPr lang="zh-CN" altLang="zh-CN">
                <a:ea typeface="宋体" panose="02010600030101010101" pitchFamily="2" charset="-122"/>
              </a:rPr>
              <a:t>指的是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zh-CN">
                <a:ea typeface="宋体" panose="02010600030101010101" pitchFamily="2" charset="-122"/>
              </a:rPr>
              <a:t>由第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个组件生成的概率，</a:t>
            </a:r>
            <a:r>
              <a:rPr lang="zh-CN" altLang="en-US">
                <a:ea typeface="宋体" panose="02010600030101010101" pitchFamily="2" charset="-122"/>
              </a:rPr>
              <a:t>         </a:t>
            </a:r>
            <a:r>
              <a:rPr lang="zh-CN" altLang="zh-CN">
                <a:ea typeface="宋体" panose="02010600030101010101" pitchFamily="2" charset="-122"/>
              </a:rPr>
              <a:t>是第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个组件的概率密度函数，其中的</a:t>
            </a: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zh-CN" altLang="zh-CN">
                <a:ea typeface="宋体" panose="02010600030101010101" pitchFamily="2" charset="-122"/>
              </a:rPr>
              <a:t>和</a:t>
            </a: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zh-CN" altLang="zh-CN">
                <a:ea typeface="宋体" panose="02010600030101010101" pitchFamily="2" charset="-122"/>
              </a:rPr>
              <a:t>分别是第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个高斯分布的中心和协方差矩阵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21508" name="Object 2"/>
          <p:cNvGraphicFramePr>
            <a:graphicFrameLocks noChangeAspect="1"/>
          </p:cNvGraphicFramePr>
          <p:nvPr/>
        </p:nvGraphicFramePr>
        <p:xfrm>
          <a:off x="1981200" y="2667000"/>
          <a:ext cx="39624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5888950" imgH="7458075" progId="Equation.3">
                  <p:embed/>
                </p:oleObj>
              </mc:Choice>
              <mc:Fallback>
                <p:oleObj name="" r:id="rId1" imgW="25888950" imgH="745807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2667000"/>
                        <a:ext cx="3962400" cy="1141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1510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4648200" y="434340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3295650" imgH="3952875" progId="Equation.3">
                  <p:embed/>
                </p:oleObj>
              </mc:Choice>
              <mc:Fallback>
                <p:oleObj name="" r:id="rId3" imgW="3295650" imgH="395287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8200" y="4343400"/>
                        <a:ext cx="381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2514600" y="480060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3163550" imgH="3952875" progId="Equation.3">
                  <p:embed/>
                </p:oleObj>
              </mc:Choice>
              <mc:Fallback>
                <p:oleObj name="" r:id="rId5" imgW="13163550" imgH="395287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4600" y="4800600"/>
                        <a:ext cx="1143000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1524000" y="5181600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3076575" imgH="3952875" progId="Equation.3">
                  <p:embed/>
                </p:oleObj>
              </mc:Choice>
              <mc:Fallback>
                <p:oleObj name="" r:id="rId7" imgW="3076575" imgH="395287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4000" y="5181600"/>
                        <a:ext cx="228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2057400" y="52578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3076575" imgH="3952875" progId="Equation.3">
                  <p:embed/>
                </p:oleObj>
              </mc:Choice>
              <mc:Fallback>
                <p:oleObj name="" r:id="rId9" imgW="3076575" imgH="395287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7400" y="52578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pic>
        <p:nvPicPr>
          <p:cNvPr id="2253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" y="457200"/>
            <a:ext cx="8867775" cy="5227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高斯混合模型（</a:t>
            </a:r>
            <a:r>
              <a:rPr lang="en-US" altLang="zh-CN">
                <a:ea typeface="宋体" panose="02010600030101010101" pitchFamily="2" charset="-122"/>
              </a:rPr>
              <a:t>10</a:t>
            </a:r>
            <a:r>
              <a:rPr lang="zh-CN" altLang="en-US">
                <a:ea typeface="宋体" panose="02010600030101010101" pitchFamily="2" charset="-122"/>
              </a:rPr>
              <a:t>个高斯成分）表示图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pic>
        <p:nvPicPr>
          <p:cNvPr id="2355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57400"/>
            <a:ext cx="6248400" cy="1858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63" y="1905000"/>
            <a:ext cx="1938337" cy="2228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现在我们已经知道了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的概率密度函数的形式，换句话说，我们已经知道了模型的结构，接下来要做的事情就是根据已知数据估计模型的参数。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中的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zh-CN">
                <a:ea typeface="宋体" panose="02010600030101010101" pitchFamily="2" charset="-122"/>
              </a:rPr>
              <a:t>个组件对应于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zh-CN">
                <a:ea typeface="宋体" panose="02010600030101010101" pitchFamily="2" charset="-122"/>
              </a:rPr>
              <a:t>个族，所以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聚类的过程实际上也就是估计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en-US">
                <a:ea typeface="宋体" panose="02010600030101010101" pitchFamily="2" charset="-122"/>
              </a:rPr>
              <a:t>组</a:t>
            </a:r>
            <a:r>
              <a:rPr lang="zh-CN" altLang="zh-CN">
                <a:ea typeface="宋体" panose="02010600030101010101" pitchFamily="2" charset="-122"/>
              </a:rPr>
              <a:t>参数</a:t>
            </a:r>
            <a:r>
              <a:rPr lang="zh-CN" altLang="en-US">
                <a:ea typeface="宋体" panose="02010600030101010101" pitchFamily="2" charset="-122"/>
              </a:rPr>
              <a:t>            的</a:t>
            </a:r>
            <a:r>
              <a:rPr lang="zh-CN" altLang="zh-CN">
                <a:ea typeface="宋体" panose="02010600030101010101" pitchFamily="2" charset="-122"/>
              </a:rPr>
              <a:t>过程。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24580" name="Object 5"/>
          <p:cNvGraphicFramePr>
            <a:graphicFrameLocks noChangeAspect="1"/>
          </p:cNvGraphicFramePr>
          <p:nvPr/>
        </p:nvGraphicFramePr>
        <p:xfrm>
          <a:off x="5600700" y="3733800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295650" imgH="3952875" progId="Equation.3">
                  <p:embed/>
                </p:oleObj>
              </mc:Choice>
              <mc:Fallback>
                <p:oleObj name="" r:id="rId1" imgW="3295650" imgH="395287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00700" y="3733800"/>
                        <a:ext cx="342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6111875" y="3733800"/>
          <a:ext cx="365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3076575" imgH="3952875" progId="Equation.3">
                  <p:embed/>
                </p:oleObj>
              </mc:Choice>
              <mc:Fallback>
                <p:oleObj name="" r:id="rId3" imgW="3076575" imgH="395287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75" y="3733800"/>
                        <a:ext cx="3651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3"/>
          <p:cNvGraphicFramePr>
            <a:graphicFrameLocks noChangeAspect="1"/>
          </p:cNvGraphicFramePr>
          <p:nvPr/>
        </p:nvGraphicFramePr>
        <p:xfrm>
          <a:off x="6584950" y="3810000"/>
          <a:ext cx="301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3076575" imgH="3952875" progId="Equation.3">
                  <p:embed/>
                </p:oleObj>
              </mc:Choice>
              <mc:Fallback>
                <p:oleObj name="" r:id="rId5" imgW="3076575" imgH="395287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4950" y="3810000"/>
                        <a:ext cx="3016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4584" name="Rectangle 9"/>
          <p:cNvSpPr/>
          <p:nvPr/>
        </p:nvSpPr>
        <p:spPr>
          <a:xfrm>
            <a:off x="0" y="685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ea typeface="宋体" panose="02010600030101010101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对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进行参数估计需要一个评分函数。该评分函数取值最大（有些情况下是最小）时的模型参数就是我们所需要的参数。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在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中，采用</a:t>
            </a:r>
            <a:r>
              <a:rPr lang="zh-CN" altLang="en-US" u="sng">
                <a:ea typeface="宋体" panose="02010600030101010101" pitchFamily="2" charset="-122"/>
                <a:hlinkClick r:id="rId1"/>
              </a:rPr>
              <a:t>似然函数 </a:t>
            </a:r>
            <a:r>
              <a:rPr lang="en-US" altLang="zh-CN" u="sng">
                <a:ea typeface="宋体" panose="02010600030101010101" pitchFamily="2" charset="-122"/>
                <a:hlinkClick r:id="rId1"/>
              </a:rPr>
              <a:t>(Likelihood Function)</a:t>
            </a:r>
            <a:r>
              <a:rPr lang="zh-CN" altLang="zh-CN">
                <a:ea typeface="宋体" panose="02010600030101010101" pitchFamily="2" charset="-122"/>
              </a:rPr>
              <a:t>作为评分函数：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zh-CN" altLang="zh-CN">
                <a:ea typeface="宋体" panose="02010600030101010101" pitchFamily="2" charset="-122"/>
              </a:rPr>
              <a:t>其中，</a:t>
            </a:r>
            <a:r>
              <a:rPr lang="en-US" altLang="zh-CN">
                <a:ea typeface="宋体" panose="02010600030101010101" pitchFamily="2" charset="-122"/>
              </a:rPr>
              <a:t>n</a:t>
            </a:r>
            <a:r>
              <a:rPr lang="zh-CN" altLang="zh-CN">
                <a:ea typeface="宋体" panose="02010600030101010101" pitchFamily="2" charset="-122"/>
              </a:rPr>
              <a:t>表示数据集</a:t>
            </a:r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zh-CN" altLang="zh-CN">
                <a:ea typeface="宋体" panose="02010600030101010101" pitchFamily="2" charset="-122"/>
              </a:rPr>
              <a:t>中数据对象的个数，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zh-CN">
                <a:ea typeface="宋体" panose="02010600030101010101" pitchFamily="2" charset="-122"/>
              </a:rPr>
              <a:t>表示采用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生成数据对象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zh-CN">
                <a:ea typeface="宋体" panose="02010600030101010101" pitchFamily="2" charset="-122"/>
              </a:rPr>
              <a:t>的概率。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25604" name="Object 2"/>
          <p:cNvGraphicFramePr>
            <a:graphicFrameLocks noChangeAspect="1"/>
          </p:cNvGraphicFramePr>
          <p:nvPr/>
        </p:nvGraphicFramePr>
        <p:xfrm>
          <a:off x="2667000" y="3810000"/>
          <a:ext cx="2438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4697075" imgH="7896225" progId="Equation.3">
                  <p:embed/>
                </p:oleObj>
              </mc:Choice>
              <mc:Fallback>
                <p:oleObj name="" r:id="rId2" imgW="14697075" imgH="789622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7000" y="3810000"/>
                        <a:ext cx="24384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当该评分函数取值最大时，实际上就为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找到了这样一组参数，它所确定的概率分布生成数据集</a:t>
            </a:r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zh-CN" altLang="zh-CN">
                <a:ea typeface="宋体" panose="02010600030101010101" pitchFamily="2" charset="-122"/>
              </a:rPr>
              <a:t>中数据对象的概率最大。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这时</a:t>
            </a:r>
            <a:r>
              <a:rPr lang="en-US" altLang="zh-CN">
                <a:ea typeface="宋体" panose="02010600030101010101" pitchFamily="2" charset="-122"/>
              </a:rPr>
              <a:t>E</a:t>
            </a:r>
            <a:r>
              <a:rPr lang="zh-CN" altLang="zh-CN">
                <a:ea typeface="宋体" panose="02010600030101010101" pitchFamily="2" charset="-122"/>
              </a:rPr>
              <a:t>的取值称为最大似然（</a:t>
            </a:r>
            <a:r>
              <a:rPr lang="en-US" altLang="zh-CN">
                <a:ea typeface="宋体" panose="02010600030101010101" pitchFamily="2" charset="-122"/>
              </a:rPr>
              <a:t>Maximum Likelihood</a:t>
            </a:r>
            <a:r>
              <a:rPr lang="zh-CN" altLang="zh-CN">
                <a:ea typeface="宋体" panose="02010600030101010101" pitchFamily="2" charset="-122"/>
              </a:rPr>
              <a:t>）。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由于通常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zh-CN">
                <a:ea typeface="宋体" panose="02010600030101010101" pitchFamily="2" charset="-122"/>
              </a:rPr>
              <a:t>的概率都很小，它们的乘积</a:t>
            </a:r>
            <a:r>
              <a:rPr lang="en-US" altLang="zh-CN">
                <a:ea typeface="宋体" panose="02010600030101010101" pitchFamily="2" charset="-122"/>
              </a:rPr>
              <a:t>E</a:t>
            </a:r>
            <a:r>
              <a:rPr lang="zh-CN" altLang="zh-CN">
                <a:ea typeface="宋体" panose="02010600030101010101" pitchFamily="2" charset="-122"/>
              </a:rPr>
              <a:t>就更小，因此通常会对其取对数，把乘积变成求和的形式，得到对数似然函数：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接下来只要将这个函数最大化，即，找到一组参数值，它使对数似然函数的取值最大，这时则认为这组参数是最合适的参数，从而完成了参数估计的过程。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27652" name="Object 2"/>
          <p:cNvGraphicFramePr>
            <a:graphicFrameLocks noChangeAspect="1"/>
          </p:cNvGraphicFramePr>
          <p:nvPr/>
        </p:nvGraphicFramePr>
        <p:xfrm>
          <a:off x="2514600" y="2743200"/>
          <a:ext cx="2819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8211800" imgH="7677150" progId="Equation.3">
                  <p:embed/>
                </p:oleObj>
              </mc:Choice>
              <mc:Fallback>
                <p:oleObj name="" r:id="rId1" imgW="18211800" imgH="767715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2743200"/>
                        <a:ext cx="28194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函数最大化的通常做法是求导并令导数等于零，然后解方程得到参数值。然而，在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zh-CN">
                <a:ea typeface="宋体" panose="02010600030101010101" pitchFamily="2" charset="-122"/>
              </a:rPr>
              <a:t>中，将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zh-CN">
                <a:ea typeface="宋体" panose="02010600030101010101" pitchFamily="2" charset="-122"/>
              </a:rPr>
              <a:t>代入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zh-CN" altLang="zh-CN">
                <a:ea typeface="宋体" panose="02010600030101010101" pitchFamily="2" charset="-122"/>
              </a:rPr>
              <a:t>得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由于在对数函数里面又有求和的操作，所以没有办法直接用求导后解方程的方式求得最大值。为了解决这个问题，采取类似于</a:t>
            </a:r>
            <a:r>
              <a:rPr lang="en-US" altLang="zh-CN">
                <a:ea typeface="宋体" panose="02010600030101010101" pitchFamily="2" charset="-122"/>
              </a:rPr>
              <a:t>k-Means</a:t>
            </a:r>
            <a:r>
              <a:rPr lang="zh-CN" altLang="zh-CN">
                <a:ea typeface="宋体" panose="02010600030101010101" pitchFamily="2" charset="-122"/>
              </a:rPr>
              <a:t>的迭代求精的方法。</a:t>
            </a:r>
            <a:br>
              <a:rPr lang="zh-CN" altLang="zh-CN">
                <a:ea typeface="宋体" panose="02010600030101010101" pitchFamily="2" charset="-122"/>
              </a:rPr>
            </a:b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28676" name="Object 3"/>
          <p:cNvGraphicFramePr>
            <a:graphicFrameLocks noChangeAspect="1"/>
          </p:cNvGraphicFramePr>
          <p:nvPr/>
        </p:nvGraphicFramePr>
        <p:xfrm>
          <a:off x="2590800" y="2743200"/>
          <a:ext cx="3130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1156275" imgH="7677150" progId="Equation.3">
                  <p:embed/>
                </p:oleObj>
              </mc:Choice>
              <mc:Fallback>
                <p:oleObj name="" r:id="rId1" imgW="31156275" imgH="767715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2743200"/>
                        <a:ext cx="3130550" cy="755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最开始的时候，先给出参数</a:t>
            </a: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zh-CN" altLang="zh-CN">
                <a:ea typeface="宋体" panose="02010600030101010101" pitchFamily="2" charset="-122"/>
              </a:rPr>
              <a:t>，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zh-CN" altLang="zh-CN">
                <a:ea typeface="宋体" panose="02010600030101010101" pitchFamily="2" charset="-122"/>
              </a:rPr>
              <a:t>和</a:t>
            </a: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zh-CN" altLang="zh-CN">
                <a:ea typeface="宋体" panose="02010600030101010101" pitchFamily="2" charset="-122"/>
              </a:rPr>
              <a:t>的初始值，然后迭代地进行下面两步：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zh-CN">
                <a:ea typeface="宋体" panose="02010600030101010101" pitchFamily="2" charset="-122"/>
              </a:rPr>
              <a:t>估计数据对象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zh-CN">
                <a:ea typeface="宋体" panose="02010600030101010101" pitchFamily="2" charset="-122"/>
              </a:rPr>
              <a:t>属于族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的概率（即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zh-CN">
                <a:ea typeface="宋体" panose="02010600030101010101" pitchFamily="2" charset="-122"/>
              </a:rPr>
              <a:t>由第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个高斯分布生成的概率），其中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>
                <a:ea typeface="宋体" panose="02010600030101010101" pitchFamily="2" charset="-122"/>
              </a:rPr>
              <a:t>n, 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zh-CN">
                <a:ea typeface="宋体" panose="02010600030101010101" pitchFamily="2" charset="-122"/>
              </a:rPr>
              <a:t>：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zh-CN">
                <a:ea typeface="宋体" panose="02010600030101010101" pitchFamily="2" charset="-122"/>
              </a:rPr>
              <a:t>如果是第一次迭代，则上述式子里的参数</a:t>
            </a: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zh-CN" altLang="zh-CN">
                <a:ea typeface="宋体" panose="02010600030101010101" pitchFamily="2" charset="-122"/>
              </a:rPr>
              <a:t>，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zh-CN" altLang="zh-CN">
                <a:ea typeface="宋体" panose="02010600030101010101" pitchFamily="2" charset="-122"/>
              </a:rPr>
              <a:t>和</a:t>
            </a: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zh-CN" altLang="zh-CN">
                <a:ea typeface="宋体" panose="02010600030101010101" pitchFamily="2" charset="-122"/>
              </a:rPr>
              <a:t>采用初始值。如果不是第一次迭代，则采用上一次迭代所得的值。 </a:t>
            </a:r>
            <a:endParaRPr lang="zh-CN" altLang="zh-CN">
              <a:ea typeface="宋体" panose="02010600030101010101" pitchFamily="2" charset="-122"/>
            </a:endParaRPr>
          </a:p>
          <a:p>
            <a:pPr lvl="1" eaLnBrk="1" hangingPunct="1"/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69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29700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9701" name="Object 1"/>
          <p:cNvGraphicFramePr>
            <a:graphicFrameLocks noChangeAspect="1"/>
          </p:cNvGraphicFramePr>
          <p:nvPr/>
        </p:nvGraphicFramePr>
        <p:xfrm>
          <a:off x="5105400" y="1524000"/>
          <a:ext cx="304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295650" imgH="3952875" progId="Equation.3">
                  <p:embed/>
                </p:oleObj>
              </mc:Choice>
              <mc:Fallback>
                <p:oleObj name="" r:id="rId1" imgW="3295650" imgH="395287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05400" y="1524000"/>
                        <a:ext cx="3048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9703" name="Object 3"/>
          <p:cNvGraphicFramePr>
            <a:graphicFrameLocks noChangeAspect="1"/>
          </p:cNvGraphicFramePr>
          <p:nvPr/>
        </p:nvGraphicFramePr>
        <p:xfrm>
          <a:off x="5562600" y="15240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3076575" imgH="3952875" progId="Equation.3">
                  <p:embed/>
                </p:oleObj>
              </mc:Choice>
              <mc:Fallback>
                <p:oleObj name="" r:id="rId3" imgW="3076575" imgH="395287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62600" y="15240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29705" name="Object 5"/>
          <p:cNvGraphicFramePr>
            <a:graphicFrameLocks noChangeAspect="1"/>
          </p:cNvGraphicFramePr>
          <p:nvPr/>
        </p:nvGraphicFramePr>
        <p:xfrm>
          <a:off x="6248400" y="15240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3076575" imgH="3952875" progId="Equation.3">
                  <p:embed/>
                </p:oleObj>
              </mc:Choice>
              <mc:Fallback>
                <p:oleObj name="" r:id="rId5" imgW="3076575" imgH="395287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8400" y="15240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7"/>
          <p:cNvGraphicFramePr>
            <a:graphicFrameLocks noChangeAspect="1"/>
          </p:cNvGraphicFramePr>
          <p:nvPr/>
        </p:nvGraphicFramePr>
        <p:xfrm>
          <a:off x="2667000" y="3368675"/>
          <a:ext cx="33528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32251650" imgH="10753725" progId="Equation.3">
                  <p:embed/>
                </p:oleObj>
              </mc:Choice>
              <mc:Fallback>
                <p:oleObj name="" r:id="rId7" imgW="32251650" imgH="1075372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7000" y="3368675"/>
                        <a:ext cx="3352800" cy="1109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8"/>
          <p:cNvGraphicFramePr>
            <a:graphicFrameLocks noChangeAspect="1"/>
          </p:cNvGraphicFramePr>
          <p:nvPr/>
        </p:nvGraphicFramePr>
        <p:xfrm>
          <a:off x="7620000" y="4876800"/>
          <a:ext cx="304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9" imgW="3295650" imgH="3952875" progId="Equation.3">
                  <p:embed/>
                </p:oleObj>
              </mc:Choice>
              <mc:Fallback>
                <p:oleObj name="" r:id="rId9" imgW="3295650" imgH="395287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0" y="4876800"/>
                        <a:ext cx="3048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9"/>
          <p:cNvGraphicFramePr>
            <a:graphicFrameLocks noChangeAspect="1"/>
          </p:cNvGraphicFramePr>
          <p:nvPr/>
        </p:nvGraphicFramePr>
        <p:xfrm>
          <a:off x="8153400" y="48768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0" imgW="3076575" imgH="3952875" progId="Equation.3">
                  <p:embed/>
                </p:oleObj>
              </mc:Choice>
              <mc:Fallback>
                <p:oleObj name="" r:id="rId10" imgW="3076575" imgH="395287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53400" y="48768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1"/>
          <p:cNvGraphicFramePr>
            <a:graphicFrameLocks noChangeAspect="1"/>
          </p:cNvGraphicFramePr>
          <p:nvPr/>
        </p:nvGraphicFramePr>
        <p:xfrm>
          <a:off x="1524000" y="53340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1" imgW="3076575" imgH="3952875" progId="Equation.3">
                  <p:embed/>
                </p:oleObj>
              </mc:Choice>
              <mc:Fallback>
                <p:oleObj name="" r:id="rId11" imgW="3076575" imgH="395287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53340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l"/>
            <a:r>
              <a:rPr lang="en-US" altLang="zh-CN" sz="2000">
                <a:ea typeface="宋体" panose="02010600030101010101" pitchFamily="2" charset="-122"/>
              </a:rPr>
              <a:t>K-Means</a:t>
            </a:r>
            <a:r>
              <a:rPr lang="zh-CN" altLang="en-US" sz="2000">
                <a:ea typeface="宋体" panose="02010600030101010101" pitchFamily="2" charset="-122"/>
              </a:rPr>
              <a:t>  与  </a:t>
            </a:r>
            <a:r>
              <a:rPr lang="en-US" altLang="zh-CN" sz="2000">
                <a:ea typeface="宋体" panose="02010600030101010101" pitchFamily="2" charset="-122"/>
              </a:rPr>
              <a:t>GMM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8769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第一次迭代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选择初始的</a:t>
            </a:r>
            <a:r>
              <a:rPr lang="en-US" altLang="zh-CN" sz="1800">
                <a:ea typeface="宋体" panose="02010600030101010101" pitchFamily="2" charset="-122"/>
              </a:rPr>
              <a:t>k</a:t>
            </a:r>
            <a:r>
              <a:rPr lang="zh-CN" altLang="en-US" sz="1800">
                <a:ea typeface="宋体" panose="02010600030101010101" pitchFamily="2" charset="-122"/>
              </a:rPr>
              <a:t>个</a:t>
            </a:r>
            <a:r>
              <a:rPr lang="en-US" altLang="zh-CN" sz="1800">
                <a:ea typeface="宋体" panose="02010600030101010101" pitchFamily="2" charset="-122"/>
              </a:rPr>
              <a:t>cluster</a:t>
            </a:r>
            <a:r>
              <a:rPr lang="zh-CN" altLang="en-US" sz="1800">
                <a:ea typeface="宋体" panose="02010600030101010101" pitchFamily="2" charset="-122"/>
              </a:rPr>
              <a:t>的中心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Cluster1(C1):</a:t>
            </a:r>
            <a:endParaRPr lang="zh-CN" altLang="en-US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Cluster2(C2):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…</a:t>
            </a:r>
            <a:endParaRPr lang="zh-CN" altLang="en-US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Clusterk(C3):</a:t>
            </a:r>
            <a:endParaRPr lang="zh-CN" altLang="en-US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计算</a:t>
            </a:r>
            <a:r>
              <a:rPr lang="en-US" altLang="zh-CN" sz="1800">
                <a:ea typeface="宋体" panose="02010600030101010101" pitchFamily="2" charset="-122"/>
              </a:rPr>
              <a:t>k</a:t>
            </a:r>
            <a:r>
              <a:rPr lang="zh-CN" altLang="en-US" sz="1800">
                <a:ea typeface="宋体" panose="02010600030101010101" pitchFamily="2" charset="-122"/>
              </a:rPr>
              <a:t>*</a:t>
            </a:r>
            <a:r>
              <a:rPr lang="en-US" altLang="zh-CN" sz="1800">
                <a:ea typeface="宋体" panose="02010600030101010101" pitchFamily="2" charset="-122"/>
              </a:rPr>
              <a:t>n</a:t>
            </a:r>
            <a:r>
              <a:rPr lang="zh-CN" altLang="en-US" sz="1800">
                <a:ea typeface="宋体" panose="02010600030101010101" pitchFamily="2" charset="-122"/>
              </a:rPr>
              <a:t>个距离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将每一个对象分配给距离它最近的中心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C1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C2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…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Ck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endParaRPr lang="zh-CN" altLang="en-US" sz="14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zh-CN" altLang="en-US" sz="1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zh-CN" altLang="en-US" sz="1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19200" y="3200400"/>
          <a:ext cx="6096000" cy="1839913"/>
        </p:xfrm>
        <a:graphic>
          <a:graphicData uri="http://schemas.openxmlformats.org/drawingml/2006/table">
            <a:tbl>
              <a:tblPr/>
              <a:tblGrid>
                <a:gridCol w="871538"/>
                <a:gridCol w="869950"/>
                <a:gridCol w="871537"/>
                <a:gridCol w="2611438"/>
                <a:gridCol w="871537"/>
              </a:tblGrid>
              <a:tr h="365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Xn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3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9C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365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  <a:tr h="365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3713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Ck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4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8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3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8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估计第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个高斯分布的参数：根据上一步的计算结果，得知数据对象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zh-CN">
                <a:ea typeface="宋体" panose="02010600030101010101" pitchFamily="2" charset="-122"/>
              </a:rPr>
              <a:t>由第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个高斯分布生成的概率是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zh-CN">
                <a:ea typeface="宋体" panose="02010600030101010101" pitchFamily="2" charset="-122"/>
              </a:rPr>
              <a:t>，或者说第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个高斯分布生成了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zh-CN">
                <a:ea typeface="宋体" panose="02010600030101010101" pitchFamily="2" charset="-122"/>
              </a:rPr>
              <a:t>这个值。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将所有的数据对象考虑在内，可以看作第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zh-CN">
                <a:ea typeface="宋体" panose="02010600030101010101" pitchFamily="2" charset="-122"/>
              </a:rPr>
              <a:t>个高斯分布生成了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)x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zh-CN" altLang="zh-CN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)x</a:t>
            </a:r>
            <a:r>
              <a:rPr lang="en-US" altLang="zh-CN" baseline="-25000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…</a:t>
            </a:r>
            <a:r>
              <a:rPr lang="zh-CN" altLang="zh-CN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)x</a:t>
            </a:r>
            <a:r>
              <a:rPr lang="en-US" altLang="zh-CN" baseline="-25000">
                <a:ea typeface="宋体" panose="02010600030101010101" pitchFamily="2" charset="-122"/>
              </a:rPr>
              <a:t>n</a:t>
            </a:r>
            <a:r>
              <a:rPr lang="zh-CN" altLang="zh-CN">
                <a:ea typeface="宋体" panose="02010600030101010101" pitchFamily="2" charset="-122"/>
              </a:rPr>
              <a:t>这些点。令</a:t>
            </a:r>
            <a:r>
              <a:rPr lang="zh-CN" altLang="en-US">
                <a:ea typeface="宋体" panose="02010600030101010101" pitchFamily="2" charset="-122"/>
              </a:rPr>
              <a:t>   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31748" name="Object 2"/>
          <p:cNvGraphicFramePr>
            <a:graphicFrameLocks noChangeAspect="1"/>
          </p:cNvGraphicFramePr>
          <p:nvPr/>
        </p:nvGraphicFramePr>
        <p:xfrm>
          <a:off x="2895600" y="4800600"/>
          <a:ext cx="23622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9526250" imgH="7677150" progId="Equation.3">
                  <p:embed/>
                </p:oleObj>
              </mc:Choice>
              <mc:Fallback>
                <p:oleObj name="" r:id="rId1" imgW="19526250" imgH="767715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4800600"/>
                        <a:ext cx="2362200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则根据上述这些点可以求得参数</a:t>
            </a:r>
            <a:r>
              <a:rPr lang="zh-CN" altLang="en-US">
                <a:ea typeface="宋体" panose="02010600030101010101" pitchFamily="2" charset="-122"/>
              </a:rPr>
              <a:t>    </a:t>
            </a:r>
            <a:r>
              <a:rPr lang="zh-CN" altLang="zh-CN">
                <a:ea typeface="宋体" panose="02010600030101010101" pitchFamily="2" charset="-122"/>
              </a:rPr>
              <a:t>，</a:t>
            </a: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zh-CN" altLang="zh-CN">
                <a:ea typeface="宋体" panose="02010600030101010101" pitchFamily="2" charset="-122"/>
              </a:rPr>
              <a:t>和</a:t>
            </a: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zh-CN" altLang="zh-CN">
                <a:ea typeface="宋体" panose="02010600030101010101" pitchFamily="2" charset="-122"/>
              </a:rPr>
              <a:t>的值如下：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32772" name="Object 2"/>
          <p:cNvGraphicFramePr>
            <a:graphicFrameLocks noChangeAspect="1"/>
          </p:cNvGraphicFramePr>
          <p:nvPr/>
        </p:nvGraphicFramePr>
        <p:xfrm>
          <a:off x="5791200" y="1447800"/>
          <a:ext cx="304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3295650" imgH="3952875" progId="Equation.3">
                  <p:embed/>
                </p:oleObj>
              </mc:Choice>
              <mc:Fallback>
                <p:oleObj name="" r:id="rId1" imgW="3295650" imgH="395287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91200" y="1447800"/>
                        <a:ext cx="3048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6477000" y="14478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3076575" imgH="3952875" progId="Equation.3">
                  <p:embed/>
                </p:oleObj>
              </mc:Choice>
              <mc:Fallback>
                <p:oleObj name="" r:id="rId3" imgW="3076575" imgH="395287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000" y="14478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5"/>
          <p:cNvGraphicFramePr>
            <a:graphicFrameLocks noChangeAspect="1"/>
          </p:cNvGraphicFramePr>
          <p:nvPr/>
        </p:nvGraphicFramePr>
        <p:xfrm>
          <a:off x="7162800" y="14478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3076575" imgH="3952875" progId="Equation.3">
                  <p:embed/>
                </p:oleObj>
              </mc:Choice>
              <mc:Fallback>
                <p:oleObj name="" r:id="rId5" imgW="3076575" imgH="395287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62800" y="1447800"/>
                        <a:ext cx="30480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6"/>
          <p:cNvGraphicFramePr>
            <a:graphicFrameLocks noChangeAspect="1"/>
          </p:cNvGraphicFramePr>
          <p:nvPr/>
        </p:nvGraphicFramePr>
        <p:xfrm>
          <a:off x="2209800" y="2165350"/>
          <a:ext cx="2895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25231725" imgH="7677150" progId="Equation.3">
                  <p:embed/>
                </p:oleObj>
              </mc:Choice>
              <mc:Fallback>
                <p:oleObj name="" r:id="rId7" imgW="25231725" imgH="767715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9800" y="2165350"/>
                        <a:ext cx="28956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7"/>
          <p:cNvGraphicFramePr>
            <a:graphicFrameLocks noChangeAspect="1"/>
          </p:cNvGraphicFramePr>
          <p:nvPr/>
        </p:nvGraphicFramePr>
        <p:xfrm>
          <a:off x="2327275" y="3429000"/>
          <a:ext cx="52038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41910000" imgH="7677150" progId="Equation.3">
                  <p:embed/>
                </p:oleObj>
              </mc:Choice>
              <mc:Fallback>
                <p:oleObj name="" r:id="rId9" imgW="41910000" imgH="767715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27275" y="3429000"/>
                        <a:ext cx="520382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8"/>
          <p:cNvGraphicFramePr>
            <a:graphicFrameLocks noChangeAspect="1"/>
          </p:cNvGraphicFramePr>
          <p:nvPr/>
        </p:nvGraphicFramePr>
        <p:xfrm>
          <a:off x="2392363" y="4648200"/>
          <a:ext cx="1157287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8334375" imgH="6800850" progId="Equation.3">
                  <p:embed/>
                </p:oleObj>
              </mc:Choice>
              <mc:Fallback>
                <p:oleObj name="" r:id="rId11" imgW="8334375" imgH="680085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2363" y="4648200"/>
                        <a:ext cx="1157287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l">
              <a:buNone/>
            </a:pPr>
            <a:r>
              <a:rPr lang="en-US" altLang="zh-CN" sz="2000">
                <a:ea typeface="宋体" panose="02010600030101010101" pitchFamily="2" charset="-122"/>
              </a:rPr>
              <a:t>K-Means</a:t>
            </a:r>
            <a:r>
              <a:rPr lang="zh-CN" altLang="en-US" sz="2000">
                <a:ea typeface="宋体" panose="02010600030101010101" pitchFamily="2" charset="-122"/>
              </a:rPr>
              <a:t> 与  </a:t>
            </a:r>
            <a:r>
              <a:rPr lang="en-US" altLang="zh-CN" sz="2000">
                <a:ea typeface="宋体" panose="02010600030101010101" pitchFamily="2" charset="-122"/>
              </a:rPr>
              <a:t>GMM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8769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第二次迭代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选择初始的</a:t>
            </a:r>
            <a:r>
              <a:rPr lang="en-US" altLang="zh-CN" sz="1800">
                <a:ea typeface="宋体" panose="02010600030101010101" pitchFamily="2" charset="-122"/>
              </a:rPr>
              <a:t>k</a:t>
            </a:r>
            <a:r>
              <a:rPr lang="zh-CN" altLang="en-US" sz="1800">
                <a:ea typeface="宋体" panose="02010600030101010101" pitchFamily="2" charset="-122"/>
              </a:rPr>
              <a:t>个</a:t>
            </a:r>
            <a:r>
              <a:rPr lang="en-US" altLang="zh-CN" sz="1800">
                <a:ea typeface="宋体" panose="02010600030101010101" pitchFamily="2" charset="-122"/>
              </a:rPr>
              <a:t>cluster</a:t>
            </a:r>
            <a:r>
              <a:rPr lang="zh-CN" altLang="en-US" sz="1800">
                <a:ea typeface="宋体" panose="02010600030101010101" pitchFamily="2" charset="-122"/>
              </a:rPr>
              <a:t>的中心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Cluster1(C1):</a:t>
            </a:r>
            <a:endParaRPr lang="zh-CN" altLang="en-US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Cluster2(C2):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…</a:t>
            </a:r>
            <a:endParaRPr lang="zh-CN" altLang="en-US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ea typeface="宋体" panose="02010600030101010101" pitchFamily="2" charset="-122"/>
              </a:rPr>
              <a:t>	Clusterk(C3):</a:t>
            </a:r>
            <a:endParaRPr lang="zh-CN" altLang="en-US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计算</a:t>
            </a:r>
            <a:r>
              <a:rPr lang="en-US" altLang="zh-CN" sz="1800">
                <a:ea typeface="宋体" panose="02010600030101010101" pitchFamily="2" charset="-122"/>
              </a:rPr>
              <a:t>k</a:t>
            </a:r>
            <a:r>
              <a:rPr lang="zh-CN" altLang="en-US" sz="1800">
                <a:ea typeface="宋体" panose="02010600030101010101" pitchFamily="2" charset="-122"/>
              </a:rPr>
              <a:t>*</a:t>
            </a:r>
            <a:r>
              <a:rPr lang="en-US" altLang="zh-CN" sz="1800">
                <a:ea typeface="宋体" panose="02010600030101010101" pitchFamily="2" charset="-122"/>
              </a:rPr>
              <a:t>n</a:t>
            </a:r>
            <a:r>
              <a:rPr lang="zh-CN" altLang="en-US" sz="1800">
                <a:ea typeface="宋体" panose="02010600030101010101" pitchFamily="2" charset="-122"/>
              </a:rPr>
              <a:t>个距离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>
                <a:ea typeface="宋体" panose="02010600030101010101" pitchFamily="2" charset="-122"/>
              </a:rPr>
              <a:t>将每一个对象分配给距离它最近的中心</a:t>
            </a:r>
            <a:endParaRPr lang="en-US" altLang="zh-CN" sz="18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C1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C2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…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	Ck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endParaRPr lang="zh-CN" altLang="en-US" sz="14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zh-CN" altLang="en-US" sz="1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endParaRPr lang="zh-CN" altLang="en-US" sz="140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19200" y="3200400"/>
          <a:ext cx="6096000" cy="1839913"/>
        </p:xfrm>
        <a:graphic>
          <a:graphicData uri="http://schemas.openxmlformats.org/drawingml/2006/table">
            <a:tbl>
              <a:tblPr/>
              <a:tblGrid>
                <a:gridCol w="871538"/>
                <a:gridCol w="869950"/>
                <a:gridCol w="871537"/>
                <a:gridCol w="2611438"/>
                <a:gridCol w="871537"/>
              </a:tblGrid>
              <a:tr h="365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X2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Xn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3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9C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365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  <a:tr h="365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3713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Ck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4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8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3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8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高斯混合模型方法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将求出的参数值代入似然函数，如果值发生了变化，则重复迭代上面两步。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>
                <a:ea typeface="宋体" panose="02010600030101010101" pitchFamily="2" charset="-122"/>
              </a:rPr>
              <a:t>如果似然函数的值不再发生变化，则认为值已收敛，停止迭代，算法结束。</a:t>
            </a:r>
            <a:endParaRPr lang="zh-CN" altLang="zh-CN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79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81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pic>
        <p:nvPicPr>
          <p:cNvPr id="3482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8342313" cy="5867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举例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106680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假设一个班级每个学生的身高为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，其中：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男生身高服从：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女生身高服从：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则全班学生的身高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服从：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35844" name="Object 3"/>
          <p:cNvGraphicFramePr>
            <a:graphicFrameLocks noChangeAspect="1"/>
          </p:cNvGraphicFramePr>
          <p:nvPr/>
        </p:nvGraphicFramePr>
        <p:xfrm>
          <a:off x="3733800" y="1981200"/>
          <a:ext cx="1219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2944475" imgH="3733800" progId="Equation.3">
                  <p:embed/>
                </p:oleObj>
              </mc:Choice>
              <mc:Fallback>
                <p:oleObj name="" r:id="rId1" imgW="12944475" imgH="3733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800" y="1981200"/>
                        <a:ext cx="1219200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3"/>
          <p:cNvGraphicFramePr>
            <a:graphicFrameLocks noChangeAspect="1"/>
          </p:cNvGraphicFramePr>
          <p:nvPr/>
        </p:nvGraphicFramePr>
        <p:xfrm>
          <a:off x="3700463" y="2455863"/>
          <a:ext cx="1252537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3820775" imgH="3733800" progId="Equation.3">
                  <p:embed/>
                </p:oleObj>
              </mc:Choice>
              <mc:Fallback>
                <p:oleObj name="" r:id="rId3" imgW="13820775" imgH="3733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0463" y="2455863"/>
                        <a:ext cx="1252537" cy="338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3"/>
          <p:cNvGraphicFramePr>
            <a:graphicFrameLocks noChangeAspect="1"/>
          </p:cNvGraphicFramePr>
          <p:nvPr/>
        </p:nvGraphicFramePr>
        <p:xfrm>
          <a:off x="5002213" y="2971800"/>
          <a:ext cx="30749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28089225" imgH="3733800" progId="Equation.3">
                  <p:embed/>
                </p:oleObj>
              </mc:Choice>
              <mc:Fallback>
                <p:oleObj name="" r:id="rId5" imgW="28089225" imgH="3733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2213" y="2971800"/>
                        <a:ext cx="3074987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" name="墨迹 1"/>
              <p14:cNvContentPartPr/>
              <p14:nvPr/>
            </p14:nvContentPartPr>
            <p14:xfrm>
              <a:off x="3767400" y="2102040"/>
              <a:ext cx="183600" cy="6577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3767400" y="2102040"/>
                <a:ext cx="183600" cy="657720"/>
              </a:xfrm>
              <a:prstGeom prst="rect"/>
            </p:spPr>
          </p:pic>
        </mc:Fallback>
      </mc:AlternateContent>
      <p:sp>
        <p:nvSpPr>
          <p:cNvPr id="35848" name="矩形 2"/>
          <p:cNvSpPr/>
          <p:nvPr/>
        </p:nvSpPr>
        <p:spPr>
          <a:xfrm>
            <a:off x="3711575" y="1981200"/>
            <a:ext cx="250825" cy="3524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algn="ctr" eaLnBrk="1" hangingPunct="1"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5849" name="矩形 9"/>
          <p:cNvSpPr/>
          <p:nvPr/>
        </p:nvSpPr>
        <p:spPr>
          <a:xfrm>
            <a:off x="3700463" y="2428875"/>
            <a:ext cx="250825" cy="3524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algn="ctr" eaLnBrk="1" hangingPunct="1"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举例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106680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输入：该班四名学生的身高：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任务：按身高分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组，</a:t>
            </a:r>
            <a:r>
              <a:rPr lang="en-US" altLang="zh-CN">
                <a:ea typeface="宋体" panose="02010600030101010101" pitchFamily="2" charset="-122"/>
              </a:rPr>
              <a:t>C1:</a:t>
            </a:r>
            <a:r>
              <a:rPr lang="zh-CN" altLang="en-US">
                <a:ea typeface="宋体" panose="02010600030101010101" pitchFamily="2" charset="-122"/>
              </a:rPr>
              <a:t>男生，</a:t>
            </a:r>
            <a:r>
              <a:rPr lang="en-US" altLang="zh-CN">
                <a:ea typeface="宋体" panose="02010600030101010101" pitchFamily="2" charset="-122"/>
              </a:rPr>
              <a:t>C2:</a:t>
            </a:r>
            <a:r>
              <a:rPr lang="zh-CN" altLang="en-US">
                <a:ea typeface="宋体" panose="02010600030101010101" pitchFamily="2" charset="-122"/>
              </a:rPr>
              <a:t>女生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输出：每一个学生分别属于男生和女生的概率，将其指定给概率大的那一组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90600" y="1905000"/>
          <a:ext cx="1905000" cy="1485900"/>
        </p:xfrm>
        <a:graphic>
          <a:graphicData uri="http://schemas.openxmlformats.org/drawingml/2006/table">
            <a:tbl>
              <a:tblPr/>
              <a:tblGrid>
                <a:gridCol w="19050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X1:  178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X3:  165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X4   182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066800" y="4953000"/>
          <a:ext cx="6781800" cy="1485900"/>
        </p:xfrm>
        <a:graphic>
          <a:graphicData uri="http://schemas.openxmlformats.org/drawingml/2006/table">
            <a:tbl>
              <a:tblPr/>
              <a:tblGrid>
                <a:gridCol w="67818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X1:  178          P(X1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C1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  &amp;   P(X1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C2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156           P(X2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C1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    &amp;   P(X2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C2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X3:  165           P(X3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C1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    &amp;   P(X3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C2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X4   182            P(X4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C1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   &amp;   P(X4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C2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对每一个学生</a:t>
            </a:r>
            <a:r>
              <a:rPr lang="en-US" altLang="zh-CN">
                <a:ea typeface="宋体" panose="02010600030101010101" pitchFamily="2" charset="-122"/>
              </a:rPr>
              <a:t>Xj,</a:t>
            </a:r>
            <a:r>
              <a:rPr lang="zh-CN" altLang="en-US">
                <a:ea typeface="宋体" panose="02010600030101010101" pitchFamily="2" charset="-122"/>
              </a:rPr>
              <a:t>如何求</a:t>
            </a:r>
            <a:r>
              <a:rPr lang="en-US" altLang="zh-CN">
                <a:ea typeface="宋体" panose="02010600030101010101" pitchFamily="2" charset="-122"/>
              </a:rPr>
              <a:t>P(Xj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C1</a:t>
            </a:r>
            <a:r>
              <a:rPr lang="en-US" altLang="zh-CN">
                <a:ea typeface="宋体" panose="02010600030101010101" pitchFamily="2" charset="-122"/>
              </a:rPr>
              <a:t>)   &amp;   P(Xj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C2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迭代进行如下两步，直至收敛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第一步（</a:t>
            </a:r>
            <a:r>
              <a:rPr lang="en-US" altLang="zh-CN">
                <a:ea typeface="宋体" panose="02010600030101010101" pitchFamily="2" charset="-122"/>
              </a:rPr>
              <a:t>E</a:t>
            </a:r>
            <a:r>
              <a:rPr lang="zh-CN" altLang="en-US">
                <a:ea typeface="宋体" panose="02010600030101010101" pitchFamily="2" charset="-122"/>
              </a:rPr>
              <a:t>）：随机指定</a:t>
            </a:r>
            <a:r>
              <a:rPr lang="en-US" altLang="zh-CN">
                <a:ea typeface="宋体" panose="02010600030101010101" pitchFamily="2" charset="-122"/>
              </a:rPr>
              <a:t> 2</a:t>
            </a:r>
            <a:r>
              <a:rPr lang="zh-CN" altLang="en-US">
                <a:ea typeface="宋体" panose="02010600030101010101" pitchFamily="2" charset="-122"/>
              </a:rPr>
              <a:t>组参数：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37892" name="Object 3"/>
          <p:cNvGraphicFramePr>
            <a:graphicFrameLocks noChangeAspect="1"/>
          </p:cNvGraphicFramePr>
          <p:nvPr/>
        </p:nvGraphicFramePr>
        <p:xfrm>
          <a:off x="6224588" y="2438400"/>
          <a:ext cx="26908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4574500" imgH="3733800" progId="Equation.3">
                  <p:embed/>
                </p:oleObj>
              </mc:Choice>
              <mc:Fallback>
                <p:oleObj name="" r:id="rId1" imgW="24574500" imgH="37338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24588" y="2438400"/>
                        <a:ext cx="2690812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7"/>
          <p:cNvGraphicFramePr>
            <a:graphicFrameLocks noChangeAspect="1"/>
          </p:cNvGraphicFramePr>
          <p:nvPr/>
        </p:nvGraphicFramePr>
        <p:xfrm>
          <a:off x="842963" y="3578225"/>
          <a:ext cx="51784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49806225" imgH="9001125" progId="Equation.3">
                  <p:embed/>
                </p:oleObj>
              </mc:Choice>
              <mc:Fallback>
                <p:oleObj name="" r:id="rId3" imgW="49806225" imgH="900112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2963" y="3578225"/>
                        <a:ext cx="5178425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7"/>
          <p:cNvGraphicFramePr>
            <a:graphicFrameLocks noChangeAspect="1"/>
          </p:cNvGraphicFramePr>
          <p:nvPr/>
        </p:nvGraphicFramePr>
        <p:xfrm>
          <a:off x="1055688" y="5029200"/>
          <a:ext cx="490537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5" imgW="47177325" imgH="7458075" progId="Equation.3">
                  <p:embed/>
                </p:oleObj>
              </mc:Choice>
              <mc:Fallback>
                <p:oleObj name="" r:id="rId5" imgW="47177325" imgH="745807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5688" y="5029200"/>
                        <a:ext cx="4905375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第二步（</a:t>
            </a:r>
            <a:r>
              <a:rPr lang="en-US" altLang="zh-CN">
                <a:ea typeface="宋体" panose="02010600030101010101" pitchFamily="2" charset="-122"/>
              </a:rPr>
              <a:t>M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38916" name="Object 6"/>
          <p:cNvGraphicFramePr>
            <a:graphicFrameLocks noChangeAspect="1"/>
          </p:cNvGraphicFramePr>
          <p:nvPr/>
        </p:nvGraphicFramePr>
        <p:xfrm>
          <a:off x="1752600" y="3048000"/>
          <a:ext cx="2895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5231725" imgH="7677150" progId="Equation.3">
                  <p:embed/>
                </p:oleObj>
              </mc:Choice>
              <mc:Fallback>
                <p:oleObj name="" r:id="rId1" imgW="25231725" imgH="767715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3048000"/>
                        <a:ext cx="28956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7"/>
          <p:cNvGraphicFramePr>
            <a:graphicFrameLocks noChangeAspect="1"/>
          </p:cNvGraphicFramePr>
          <p:nvPr/>
        </p:nvGraphicFramePr>
        <p:xfrm>
          <a:off x="1857375" y="4311650"/>
          <a:ext cx="5230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42129075" imgH="7677150" progId="Equation.3">
                  <p:embed/>
                </p:oleObj>
              </mc:Choice>
              <mc:Fallback>
                <p:oleObj name="" r:id="rId3" imgW="42129075" imgH="767715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7375" y="4311650"/>
                        <a:ext cx="5230813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8"/>
          <p:cNvGraphicFramePr>
            <a:graphicFrameLocks noChangeAspect="1"/>
          </p:cNvGraphicFramePr>
          <p:nvPr/>
        </p:nvGraphicFramePr>
        <p:xfrm>
          <a:off x="1920875" y="5530850"/>
          <a:ext cx="11874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8553450" imgH="6800850" progId="Equation.3">
                  <p:embed/>
                </p:oleObj>
              </mc:Choice>
              <mc:Fallback>
                <p:oleObj name="" r:id="rId5" imgW="8553450" imgH="680085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0875" y="5530850"/>
                        <a:ext cx="1187450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2"/>
          <p:cNvGraphicFramePr>
            <a:graphicFrameLocks noChangeAspect="1"/>
          </p:cNvGraphicFramePr>
          <p:nvPr/>
        </p:nvGraphicFramePr>
        <p:xfrm>
          <a:off x="1739900" y="1905000"/>
          <a:ext cx="238918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19745325" imgH="7677150" progId="Equation.3">
                  <p:embed/>
                </p:oleObj>
              </mc:Choice>
              <mc:Fallback>
                <p:oleObj name="" r:id="rId7" imgW="19745325" imgH="767715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39900" y="1905000"/>
                        <a:ext cx="2389188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第二步（</a:t>
            </a:r>
            <a:r>
              <a:rPr lang="en-US" altLang="zh-CN">
                <a:ea typeface="宋体" panose="02010600030101010101" pitchFamily="2" charset="-122"/>
              </a:rPr>
              <a:t>M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39940" name="Object 6"/>
          <p:cNvGraphicFramePr>
            <a:graphicFrameLocks noChangeAspect="1"/>
          </p:cNvGraphicFramePr>
          <p:nvPr/>
        </p:nvGraphicFramePr>
        <p:xfrm>
          <a:off x="1701800" y="3048000"/>
          <a:ext cx="29972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26108025" imgH="7677150" progId="Equation.3">
                  <p:embed/>
                </p:oleObj>
              </mc:Choice>
              <mc:Fallback>
                <p:oleObj name="" r:id="rId1" imgW="26108025" imgH="767715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1800" y="3048000"/>
                        <a:ext cx="29972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7"/>
          <p:cNvGraphicFramePr>
            <a:graphicFrameLocks noChangeAspect="1"/>
          </p:cNvGraphicFramePr>
          <p:nvPr/>
        </p:nvGraphicFramePr>
        <p:xfrm>
          <a:off x="1762125" y="4311650"/>
          <a:ext cx="54213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43662600" imgH="7677150" progId="Equation.3">
                  <p:embed/>
                </p:oleObj>
              </mc:Choice>
              <mc:Fallback>
                <p:oleObj name="" r:id="rId3" imgW="43662600" imgH="767715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2125" y="4311650"/>
                        <a:ext cx="5421313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8"/>
          <p:cNvGraphicFramePr>
            <a:graphicFrameLocks noChangeAspect="1"/>
          </p:cNvGraphicFramePr>
          <p:nvPr/>
        </p:nvGraphicFramePr>
        <p:xfrm>
          <a:off x="1890713" y="5530850"/>
          <a:ext cx="12477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5" imgW="9001125" imgH="6800850" progId="Equation.3">
                  <p:embed/>
                </p:oleObj>
              </mc:Choice>
              <mc:Fallback>
                <p:oleObj name="" r:id="rId5" imgW="9001125" imgH="680085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0713" y="5530850"/>
                        <a:ext cx="1247775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2"/>
          <p:cNvGraphicFramePr>
            <a:graphicFrameLocks noChangeAspect="1"/>
          </p:cNvGraphicFramePr>
          <p:nvPr/>
        </p:nvGraphicFramePr>
        <p:xfrm>
          <a:off x="1712913" y="1905000"/>
          <a:ext cx="24431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7" imgW="20183475" imgH="7677150" progId="Equation.3">
                  <p:embed/>
                </p:oleObj>
              </mc:Choice>
              <mc:Fallback>
                <p:oleObj name="" r:id="rId7" imgW="20183475" imgH="767715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12913" y="1905000"/>
                        <a:ext cx="2443162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6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用新求出的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组参数：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继续</a:t>
            </a:r>
            <a:r>
              <a:rPr lang="en-US" altLang="zh-CN">
                <a:ea typeface="宋体" panose="02010600030101010101" pitchFamily="2" charset="-122"/>
              </a:rPr>
              <a:t>E-M</a:t>
            </a:r>
            <a:r>
              <a:rPr lang="zh-CN" altLang="en-US">
                <a:ea typeface="宋体" panose="02010600030101010101" pitchFamily="2" charset="-122"/>
              </a:rPr>
              <a:t>迭代，直到收敛。根据收敛时所取得的参数值算出的概率即为我们所需要的概率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6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40964" name="Object 3"/>
          <p:cNvGraphicFramePr>
            <a:graphicFrameLocks noChangeAspect="1"/>
          </p:cNvGraphicFramePr>
          <p:nvPr/>
        </p:nvGraphicFramePr>
        <p:xfrm>
          <a:off x="4267200" y="1447800"/>
          <a:ext cx="26908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4574500" imgH="3733800" progId="Equation.3">
                  <p:embed/>
                </p:oleObj>
              </mc:Choice>
              <mc:Fallback>
                <p:oleObj name="" r:id="rId1" imgW="24574500" imgH="3733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67200" y="1447800"/>
                        <a:ext cx="2690813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>
                <a:ea typeface="宋体" panose="02010600030101010101" pitchFamily="2" charset="-122"/>
              </a:rPr>
              <a:t>1. </a:t>
            </a:r>
            <a:r>
              <a:rPr lang="zh-CN" altLang="en-US">
                <a:ea typeface="宋体" panose="02010600030101010101" pitchFamily="2" charset="-122"/>
              </a:rPr>
              <a:t>什么是</a:t>
            </a:r>
            <a:r>
              <a:rPr lang="en-US" altLang="zh-CN">
                <a:ea typeface="宋体" panose="02010600030101010101" pitchFamily="2" charset="-122"/>
              </a:rPr>
              <a:t>EM(Expectation-Maximization)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>
                <a:ea typeface="宋体" panose="02010600030101010101" pitchFamily="2" charset="-122"/>
              </a:rPr>
              <a:t>2. GMM</a:t>
            </a:r>
            <a:r>
              <a:rPr lang="zh-CN" altLang="en-US">
                <a:ea typeface="宋体" panose="02010600030101010101" pitchFamily="2" charset="-122"/>
              </a:rPr>
              <a:t>是一种典型的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r>
              <a:rPr lang="zh-CN" altLang="en-US">
                <a:ea typeface="宋体" panose="02010600030101010101" pitchFamily="2" charset="-122"/>
              </a:rPr>
              <a:t>算法。在其</a:t>
            </a:r>
            <a:r>
              <a:rPr lang="en-US" altLang="zh-CN">
                <a:ea typeface="宋体" panose="02010600030101010101" pitchFamily="2" charset="-122"/>
              </a:rPr>
              <a:t>E</a:t>
            </a:r>
            <a:r>
              <a:rPr lang="zh-CN" altLang="en-US">
                <a:ea typeface="宋体" panose="02010600030101010101" pitchFamily="2" charset="-122"/>
              </a:rPr>
              <a:t>阶段，算得是谁的期望？在其</a:t>
            </a:r>
            <a:r>
              <a:rPr lang="en-US" altLang="zh-CN">
                <a:ea typeface="宋体" panose="02010600030101010101" pitchFamily="2" charset="-122"/>
              </a:rPr>
              <a:t>M</a:t>
            </a:r>
            <a:r>
              <a:rPr lang="zh-CN" altLang="en-US">
                <a:ea typeface="宋体" panose="02010600030101010101" pitchFamily="2" charset="-122"/>
              </a:rPr>
              <a:t>阶段，最大化谁的似然</a:t>
            </a:r>
            <a:r>
              <a:rPr lang="en-US" altLang="zh-CN">
                <a:ea typeface="宋体" panose="02010600030101010101" pitchFamily="2" charset="-122"/>
              </a:rPr>
              <a:t>?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zh-CN">
                <a:ea typeface="宋体" panose="02010600030101010101" pitchFamily="2" charset="-122"/>
              </a:rPr>
              <a:t>Expectation Maximization (EM) </a:t>
            </a:r>
            <a:r>
              <a:rPr lang="zh-CN" altLang="en-US">
                <a:ea typeface="宋体" panose="02010600030101010101" pitchFamily="2" charset="-122"/>
              </a:rPr>
              <a:t>是一种以迭代的方式来解决一类特殊最大似然 </a:t>
            </a:r>
            <a:r>
              <a:rPr lang="en-US" altLang="zh-CN">
                <a:ea typeface="宋体" panose="02010600030101010101" pitchFamily="2" charset="-122"/>
              </a:rPr>
              <a:t>(Maximum Likelihood) </a:t>
            </a:r>
            <a:r>
              <a:rPr lang="zh-CN" altLang="en-US">
                <a:ea typeface="宋体" panose="02010600030101010101" pitchFamily="2" charset="-122"/>
              </a:rPr>
              <a:t>问题的方法，这类问题通常是无法直接求得最优解，但是如果引入隐含变量，在已知隐含变量的值的情况下，就可以转化为简单的情况，直接求得最大似然解。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1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3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的迭代求解方法可以算是 </a:t>
            </a:r>
            <a:r>
              <a:rPr lang="en-US" altLang="zh-CN">
                <a:ea typeface="宋体" panose="02010600030101010101" pitchFamily="2" charset="-122"/>
              </a:rPr>
              <a:t>EM </a:t>
            </a:r>
            <a:r>
              <a:rPr lang="zh-CN" altLang="en-US">
                <a:ea typeface="宋体" panose="02010600030101010101" pitchFamily="2" charset="-122"/>
              </a:rPr>
              <a:t>算法最典型的应用。然而 </a:t>
            </a:r>
            <a:r>
              <a:rPr lang="en-US" altLang="zh-CN">
                <a:ea typeface="宋体" panose="02010600030101010101" pitchFamily="2" charset="-122"/>
              </a:rPr>
              <a:t>EM </a:t>
            </a:r>
            <a:r>
              <a:rPr lang="zh-CN" altLang="en-US">
                <a:ea typeface="宋体" panose="02010600030101010101" pitchFamily="2" charset="-122"/>
              </a:rPr>
              <a:t>实际上是一种通用的算法（或者说是框架），可以用来解决很多类似的问题。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03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回顾一下之前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中要解决的问题：求以下 </a:t>
            </a:r>
            <a:r>
              <a:rPr lang="en-US" altLang="zh-CN">
                <a:ea typeface="宋体" panose="02010600030101010101" pitchFamily="2" charset="-122"/>
              </a:rPr>
              <a:t>Log-likelihood function </a:t>
            </a:r>
            <a:r>
              <a:rPr lang="zh-CN" altLang="en-US">
                <a:ea typeface="宋体" panose="02010600030101010101" pitchFamily="2" charset="-122"/>
              </a:rPr>
              <a:t>的最大值：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但是由于在 函数里面又有加和，没法直接求。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45060" name="Object 3"/>
          <p:cNvGraphicFramePr>
            <a:graphicFrameLocks noChangeAspect="1"/>
          </p:cNvGraphicFramePr>
          <p:nvPr/>
        </p:nvGraphicFramePr>
        <p:xfrm>
          <a:off x="2514600" y="2743200"/>
          <a:ext cx="3130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1156275" imgH="7677150" progId="Equation.3">
                  <p:embed/>
                </p:oleObj>
              </mc:Choice>
              <mc:Fallback>
                <p:oleObj name="" r:id="rId1" imgW="31156275" imgH="767715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2743200"/>
                        <a:ext cx="3130550" cy="755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考虑一下 </a:t>
            </a:r>
            <a:r>
              <a:rPr lang="en-US" altLang="zh-CN">
                <a:ea typeface="宋体" panose="02010600030101010101" pitchFamily="2" charset="-122"/>
              </a:rPr>
              <a:t>GMM </a:t>
            </a:r>
            <a:r>
              <a:rPr lang="zh-CN" altLang="en-US">
                <a:ea typeface="宋体" panose="02010600030101010101" pitchFamily="2" charset="-122"/>
              </a:rPr>
              <a:t>生成样本</a:t>
            </a:r>
            <a:r>
              <a:rPr lang="en-US" altLang="zh-CN">
                <a:ea typeface="宋体" panose="02010600030101010101" pitchFamily="2" charset="-122"/>
              </a:rPr>
              <a:t>Xj</a:t>
            </a:r>
            <a:r>
              <a:rPr lang="zh-CN" altLang="en-US">
                <a:ea typeface="宋体" panose="02010600030101010101" pitchFamily="2" charset="-122"/>
              </a:rPr>
              <a:t>的过程：</a:t>
            </a:r>
            <a:endParaRPr lang="en-US" altLang="zh-CN">
              <a:ea typeface="宋体" panose="02010600030101010101" pitchFamily="2" charset="-122"/>
            </a:endParaRPr>
          </a:p>
          <a:p>
            <a:pPr lvl="1" algn="just"/>
            <a:r>
              <a:rPr lang="zh-CN" altLang="en-US">
                <a:ea typeface="宋体" panose="02010600030101010101" pitchFamily="2" charset="-122"/>
              </a:rPr>
              <a:t>先选一个</a:t>
            </a:r>
            <a:r>
              <a:rPr lang="en-US" altLang="zh-CN">
                <a:ea typeface="宋体" panose="02010600030101010101" pitchFamily="2" charset="-122"/>
              </a:rPr>
              <a:t>Component </a:t>
            </a:r>
            <a:r>
              <a:rPr lang="zh-CN" altLang="en-US">
                <a:ea typeface="宋体" panose="02010600030101010101" pitchFamily="2" charset="-122"/>
              </a:rPr>
              <a:t>，再由这个 </a:t>
            </a:r>
            <a:r>
              <a:rPr lang="en-US" altLang="zh-CN">
                <a:ea typeface="宋体" panose="02010600030101010101" pitchFamily="2" charset="-122"/>
              </a:rPr>
              <a:t>Component </a:t>
            </a:r>
            <a:r>
              <a:rPr lang="zh-CN" altLang="en-US">
                <a:ea typeface="宋体" panose="02010600030101010101" pitchFamily="2" charset="-122"/>
              </a:rPr>
              <a:t>所对应的</a:t>
            </a:r>
            <a:r>
              <a:rPr lang="en-US" altLang="zh-CN">
                <a:ea typeface="宋体" panose="02010600030101010101" pitchFamily="2" charset="-122"/>
              </a:rPr>
              <a:t>Gaussian Distribution </a:t>
            </a:r>
            <a:r>
              <a:rPr lang="zh-CN" altLang="en-US">
                <a:ea typeface="宋体" panose="02010600030101010101" pitchFamily="2" charset="-122"/>
              </a:rPr>
              <a:t>生成样本</a:t>
            </a:r>
            <a:r>
              <a:rPr lang="en-US" altLang="zh-CN">
                <a:ea typeface="宋体" panose="02010600030101010101" pitchFamily="2" charset="-122"/>
              </a:rPr>
              <a:t>Xj</a:t>
            </a:r>
            <a:r>
              <a:rPr lang="zh-CN" altLang="en-US">
                <a:ea typeface="宋体" panose="02010600030101010101" pitchFamily="2" charset="-122"/>
              </a:rPr>
              <a:t>（如先假设该学生是男生，再用男生的分布生成身高</a:t>
            </a:r>
            <a:r>
              <a:rPr lang="en-US" altLang="zh-CN">
                <a:ea typeface="宋体" panose="02010600030101010101" pitchFamily="2" charset="-122"/>
              </a:rPr>
              <a:t>Xj 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algn="just"/>
            <a:r>
              <a:rPr lang="zh-CN" altLang="en-US">
                <a:ea typeface="宋体" panose="02010600030101010101" pitchFamily="2" charset="-122"/>
              </a:rPr>
              <a:t>可以很自然地引入一个隐含变量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，这是一个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en-US">
                <a:ea typeface="宋体" panose="02010600030101010101" pitchFamily="2" charset="-122"/>
              </a:rPr>
              <a:t> 维向量，如果第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en-US">
                <a:ea typeface="宋体" panose="02010600030101010101" pitchFamily="2" charset="-122"/>
              </a:rPr>
              <a:t>个 </a:t>
            </a:r>
            <a:r>
              <a:rPr lang="en-US" altLang="zh-CN">
                <a:ea typeface="宋体" panose="02010600030101010101" pitchFamily="2" charset="-122"/>
              </a:rPr>
              <a:t>Component </a:t>
            </a:r>
            <a:r>
              <a:rPr lang="zh-CN" altLang="en-US">
                <a:ea typeface="宋体" panose="02010600030101010101" pitchFamily="2" charset="-122"/>
              </a:rPr>
              <a:t>被选中了，那么将其第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en-US">
                <a:ea typeface="宋体" panose="02010600030101010101" pitchFamily="2" charset="-122"/>
              </a:rPr>
              <a:t> 个元素置为 </a:t>
            </a:r>
            <a:r>
              <a:rPr lang="en-US" altLang="zh-CN">
                <a:ea typeface="宋体" panose="02010600030101010101" pitchFamily="2" charset="-122"/>
              </a:rPr>
              <a:t>1 </a:t>
            </a:r>
            <a:r>
              <a:rPr lang="zh-CN" altLang="en-US">
                <a:ea typeface="宋体" panose="02010600030101010101" pitchFamily="2" charset="-122"/>
              </a:rPr>
              <a:t>，其余的全置为 </a:t>
            </a:r>
            <a:r>
              <a:rPr lang="en-US" altLang="zh-CN">
                <a:ea typeface="宋体" panose="02010600030101010101" pitchFamily="2" charset="-122"/>
              </a:rPr>
              <a:t>0 </a:t>
            </a:r>
            <a:r>
              <a:rPr lang="zh-CN" altLang="en-US">
                <a:ea typeface="宋体" panose="02010600030101010101" pitchFamily="2" charset="-122"/>
              </a:rPr>
              <a:t>（如，男生为</a:t>
            </a:r>
            <a:r>
              <a:rPr lang="en-US" altLang="zh-CN">
                <a:ea typeface="宋体" panose="02010600030101010101" pitchFamily="2" charset="-122"/>
              </a:rPr>
              <a:t>[1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0]</a:t>
            </a:r>
            <a:r>
              <a:rPr lang="zh-CN" altLang="en-US">
                <a:ea typeface="宋体" panose="02010600030101010101" pitchFamily="2" charset="-122"/>
              </a:rPr>
              <a:t>，女生为</a:t>
            </a:r>
            <a:r>
              <a:rPr lang="en-US" altLang="zh-CN">
                <a:ea typeface="宋体" panose="02010600030101010101" pitchFamily="2" charset="-122"/>
              </a:rPr>
              <a:t>[0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1]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现在，除了之前的样本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</a:rPr>
              <a:t>的值之外，我们同时还知道了每个样本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</a:rPr>
              <a:t>所对应的隐含变量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</a:rPr>
              <a:t> 的值，也就是说，我们同时观察到了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（既知道身高也知道性别），所以现在要最大化的似然函数变为：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由于：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0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47108" name="Object 2"/>
          <p:cNvGraphicFramePr>
            <a:graphicFrameLocks noChangeAspect="1"/>
          </p:cNvGraphicFramePr>
          <p:nvPr/>
        </p:nvGraphicFramePr>
        <p:xfrm>
          <a:off x="2743200" y="3200400"/>
          <a:ext cx="2984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17992725" imgH="7896225" progId="Equation.3">
                  <p:embed/>
                </p:oleObj>
              </mc:Choice>
              <mc:Fallback>
                <p:oleObj name="" r:id="rId1" imgW="17992725" imgH="789622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00" y="3200400"/>
                        <a:ext cx="29845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2"/>
          <p:cNvGraphicFramePr>
            <a:graphicFrameLocks noChangeAspect="1"/>
          </p:cNvGraphicFramePr>
          <p:nvPr/>
        </p:nvGraphicFramePr>
        <p:xfrm>
          <a:off x="1611313" y="4221163"/>
          <a:ext cx="66944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40376475" imgH="11849100" progId="Equation.3">
                  <p:embed/>
                </p:oleObj>
              </mc:Choice>
              <mc:Fallback>
                <p:oleObj name="" r:id="rId3" imgW="40376475" imgH="118491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1313" y="4221163"/>
                        <a:ext cx="6694487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TextBox 6"/>
          <p:cNvSpPr txBox="1"/>
          <p:nvPr/>
        </p:nvSpPr>
        <p:spPr>
          <a:xfrm>
            <a:off x="533400" y="6248400"/>
            <a:ext cx="81534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其中，</a:t>
            </a:r>
            <a:r>
              <a:rPr lang="en-US" altLang="zh-CN" sz="2400">
                <a:ea typeface="宋体" panose="02010600030101010101" pitchFamily="2" charset="-122"/>
              </a:rPr>
              <a:t>Z</a:t>
            </a:r>
            <a:r>
              <a:rPr lang="en-US" altLang="zh-CN" sz="2400" baseline="-25000">
                <a:ea typeface="宋体" panose="02010600030101010101" pitchFamily="2" charset="-122"/>
              </a:rPr>
              <a:t>j</a:t>
            </a:r>
            <a:r>
              <a:rPr lang="zh-CN" altLang="en-US" sz="2400">
                <a:ea typeface="宋体" panose="02010600030101010101" pitchFamily="2" charset="-122"/>
              </a:rPr>
              <a:t>是一个向量，其中只有一个</a:t>
            </a:r>
            <a:r>
              <a:rPr lang="en-US" altLang="zh-CN" sz="2400">
                <a:ea typeface="宋体" panose="02010600030101010101" pitchFamily="2" charset="-122"/>
              </a:rPr>
              <a:t>bit</a:t>
            </a:r>
            <a:r>
              <a:rPr lang="zh-CN" altLang="en-US" sz="2400">
                <a:ea typeface="宋体" panose="02010600030101010101" pitchFamily="2" charset="-122"/>
              </a:rPr>
              <a:t>为</a:t>
            </a:r>
            <a:r>
              <a:rPr lang="en-US" altLang="zh-CN" sz="2400">
                <a:ea typeface="宋体" panose="02010600030101010101" pitchFamily="2" charset="-122"/>
              </a:rPr>
              <a:t>1</a:t>
            </a:r>
            <a:r>
              <a:rPr lang="zh-CN" altLang="en-US" sz="2400">
                <a:ea typeface="宋体" panose="02010600030101010101" pitchFamily="2" charset="-122"/>
              </a:rPr>
              <a:t>，其它为</a:t>
            </a:r>
            <a:r>
              <a:rPr lang="en-US" altLang="zh-CN" sz="2400">
                <a:ea typeface="宋体" panose="02010600030101010101" pitchFamily="2" charset="-122"/>
              </a:rPr>
              <a:t>0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而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</a:rPr>
              <a:t>的概率，也就是当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</a:rPr>
              <a:t>的第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en-US">
                <a:ea typeface="宋体" panose="02010600030101010101" pitchFamily="2" charset="-122"/>
              </a:rPr>
              <a:t>个元素为 </a:t>
            </a:r>
            <a:r>
              <a:rPr lang="en-US" altLang="zh-CN">
                <a:ea typeface="宋体" panose="02010600030101010101" pitchFamily="2" charset="-122"/>
              </a:rPr>
              <a:t>1 </a:t>
            </a:r>
            <a:r>
              <a:rPr lang="zh-CN" altLang="en-US">
                <a:ea typeface="宋体" panose="02010600030101010101" pitchFamily="2" charset="-122"/>
              </a:rPr>
              <a:t>的时候，亦即第 </a:t>
            </a:r>
            <a:r>
              <a:rPr lang="en-US" altLang="zh-CN">
                <a:ea typeface="宋体" panose="02010600030101010101" pitchFamily="2" charset="-122"/>
              </a:rPr>
              <a:t>i</a:t>
            </a:r>
            <a:r>
              <a:rPr lang="zh-CN" altLang="en-US">
                <a:ea typeface="宋体" panose="02010600030101010101" pitchFamily="2" charset="-122"/>
              </a:rPr>
              <a:t>个 </a:t>
            </a:r>
            <a:r>
              <a:rPr lang="en-US" altLang="zh-CN">
                <a:ea typeface="宋体" panose="02010600030101010101" pitchFamily="2" charset="-122"/>
              </a:rPr>
              <a:t>Component </a:t>
            </a:r>
            <a:r>
              <a:rPr lang="zh-CN" altLang="en-US">
                <a:ea typeface="宋体" panose="02010600030101010101" pitchFamily="2" charset="-122"/>
              </a:rPr>
              <a:t>被选中的时候，这个概率为  ，统一地写出来就是：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带入前面的式子，得到</a:t>
            </a:r>
            <a:r>
              <a:rPr lang="en-US" altLang="zh-CN">
                <a:ea typeface="宋体" panose="02010600030101010101" pitchFamily="2" charset="-122"/>
              </a:rPr>
              <a:t>p(x,z)</a:t>
            </a:r>
            <a:r>
              <a:rPr lang="zh-CN" altLang="en-US">
                <a:ea typeface="宋体" panose="02010600030101010101" pitchFamily="2" charset="-122"/>
              </a:rPr>
              <a:t>的概率是一个双重的乘积式（对比之前 是一个和式）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48132" name="Object 2"/>
          <p:cNvGraphicFramePr>
            <a:graphicFrameLocks noChangeAspect="1"/>
          </p:cNvGraphicFramePr>
          <p:nvPr/>
        </p:nvGraphicFramePr>
        <p:xfrm>
          <a:off x="1981200" y="2895600"/>
          <a:ext cx="30940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8649950" imgH="7458075" progId="Equation.3">
                  <p:embed/>
                </p:oleObj>
              </mc:Choice>
              <mc:Fallback>
                <p:oleObj name="" r:id="rId1" imgW="18649950" imgH="745807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2895600"/>
                        <a:ext cx="3094038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1165225" y="2362200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3952875" imgH="5048250" progId="Equation.3">
                  <p:embed/>
                </p:oleObj>
              </mc:Choice>
              <mc:Fallback>
                <p:oleObj name="" r:id="rId3" imgW="3952875" imgH="504825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5225" y="2362200"/>
                        <a:ext cx="2286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2"/>
          <p:cNvGraphicFramePr>
            <a:graphicFrameLocks noChangeAspect="1"/>
          </p:cNvGraphicFramePr>
          <p:nvPr/>
        </p:nvGraphicFramePr>
        <p:xfrm>
          <a:off x="282575" y="5208588"/>
          <a:ext cx="8758238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56178450" imgH="10972800" progId="Equation.3">
                  <p:embed/>
                </p:oleObj>
              </mc:Choice>
              <mc:Fallback>
                <p:oleObj name="" r:id="rId5" imgW="56178450" imgH="109728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575" y="5208588"/>
                        <a:ext cx="8758238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" name="墨迹 1"/>
              <p14:cNvContentPartPr/>
              <p14:nvPr/>
            </p14:nvContentPartPr>
            <p14:xfrm>
              <a:off x="5304600" y="5516280"/>
              <a:ext cx="107280" cy="4078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5304600" y="5516280"/>
                <a:ext cx="107280" cy="407880"/>
              </a:xfrm>
              <a:prstGeom prst="rect"/>
            </p:spPr>
          </p:pic>
        </mc:Fallback>
      </mc:AlternateContent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915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求对数之后，得到新的同时关于样本</a:t>
            </a:r>
            <a:r>
              <a:rPr lang="en-US" altLang="zh-CN">
                <a:ea typeface="宋体" panose="02010600030101010101" pitchFamily="2" charset="-122"/>
              </a:rPr>
              <a:t>x </a:t>
            </a:r>
            <a:r>
              <a:rPr lang="zh-CN" altLang="en-US">
                <a:ea typeface="宋体" panose="02010600030101010101" pitchFamily="2" charset="-122"/>
              </a:rPr>
              <a:t>和隐含变量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的 </a:t>
            </a:r>
            <a:r>
              <a:rPr lang="en-US" altLang="zh-CN">
                <a:ea typeface="宋体" panose="02010600030101010101" pitchFamily="2" charset="-122"/>
              </a:rPr>
              <a:t>Log-likelihood: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915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49156" name="Object 2"/>
          <p:cNvGraphicFramePr>
            <a:graphicFrameLocks noChangeAspect="1"/>
          </p:cNvGraphicFramePr>
          <p:nvPr/>
        </p:nvGraphicFramePr>
        <p:xfrm>
          <a:off x="1878013" y="2846388"/>
          <a:ext cx="5815012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37299900" imgH="10972800" progId="Equation.3">
                  <p:embed/>
                </p:oleObj>
              </mc:Choice>
              <mc:Fallback>
                <p:oleObj name="" r:id="rId1" imgW="37299900" imgH="10972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8013" y="2846388"/>
                        <a:ext cx="5815012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fontAlgn="t"/>
            <a:r>
              <a:rPr lang="zh-CN" altLang="en-US" sz="2400">
                <a:ea typeface="宋体" panose="02010600030101010101" pitchFamily="2" charset="-122"/>
              </a:rPr>
              <a:t>现在</a:t>
            </a:r>
            <a:r>
              <a:rPr lang="en-US" altLang="zh-CN" sz="2400">
                <a:ea typeface="宋体" panose="02010600030101010101" pitchFamily="2" charset="-122"/>
              </a:rPr>
              <a:t>log</a:t>
            </a:r>
            <a:r>
              <a:rPr lang="zh-CN" altLang="en-US" sz="2400">
                <a:ea typeface="宋体" panose="02010600030101010101" pitchFamily="2" charset="-122"/>
              </a:rPr>
              <a:t>和求和符号换了位置，直接作用在普通的高斯分布上了，一下子就变成可以直接求解的问题</a:t>
            </a:r>
            <a:endParaRPr lang="en-US" altLang="zh-CN" sz="2400">
              <a:ea typeface="宋体" panose="02010600030101010101" pitchFamily="2" charset="-122"/>
            </a:endParaRPr>
          </a:p>
          <a:p>
            <a:pPr fontAlgn="t"/>
            <a:r>
              <a:rPr lang="zh-CN" altLang="en-US" sz="2400">
                <a:ea typeface="宋体" panose="02010600030101010101" pitchFamily="2" charset="-122"/>
              </a:rPr>
              <a:t>不过，事情之所以能发展得如此顺利，完全依赖于我们伪造的一个假设：隐含变量的值已知。然而实际上我们并不知道这个值。</a:t>
            </a:r>
            <a:endParaRPr lang="en-US" altLang="zh-CN" sz="2400">
              <a:ea typeface="宋体" panose="02010600030101010101" pitchFamily="2" charset="-122"/>
            </a:endParaRPr>
          </a:p>
          <a:p>
            <a:pPr fontAlgn="t"/>
            <a:r>
              <a:rPr lang="zh-CN" altLang="en-US" sz="2400">
                <a:ea typeface="宋体" panose="02010600030101010101" pitchFamily="2" charset="-122"/>
              </a:rPr>
              <a:t>问题的结症在这里了，如果我们有了这个值，所有的问题都迎刃而解了。回想一下，在类似的地方，我们是如何处理这样的情况的呢？一个很类似的地方就是（比如，在数据挖掘中）处理缺失数据的情况，一般有几种办法：</a:t>
            </a:r>
            <a:endParaRPr lang="zh-CN" altLang="en-US" sz="2400">
              <a:ea typeface="宋体" panose="02010600030101010101" pitchFamily="2" charset="-122"/>
            </a:endParaRPr>
          </a:p>
          <a:p>
            <a:pPr lvl="1" fontAlgn="t"/>
            <a:r>
              <a:rPr lang="zh-CN" altLang="en-US" sz="2400">
                <a:ea typeface="宋体" panose="02010600030101010101" pitchFamily="2" charset="-122"/>
              </a:rPr>
              <a:t>用取值范围类的随机值代替。 </a:t>
            </a:r>
            <a:endParaRPr lang="zh-CN" altLang="en-US" sz="2400">
              <a:ea typeface="宋体" panose="02010600030101010101" pitchFamily="2" charset="-122"/>
            </a:endParaRPr>
          </a:p>
          <a:p>
            <a:pPr lvl="1" fontAlgn="t"/>
            <a:r>
              <a:rPr lang="zh-CN" altLang="en-US" sz="2400">
                <a:ea typeface="宋体" panose="02010600030101010101" pitchFamily="2" charset="-122"/>
              </a:rPr>
              <a:t>用平均值代替。 </a:t>
            </a:r>
            <a:endParaRPr lang="zh-CN" altLang="en-US" sz="2400">
              <a:ea typeface="宋体" panose="02010600030101010101" pitchFamily="2" charset="-122"/>
            </a:endParaRPr>
          </a:p>
          <a:p>
            <a:pPr lvl="1" fontAlgn="t"/>
            <a:r>
              <a:rPr lang="zh-CN" altLang="en-US" sz="2400">
                <a:ea typeface="宋体" panose="02010600030101010101" pitchFamily="2" charset="-122"/>
              </a:rPr>
              <a:t>填 </a:t>
            </a:r>
            <a:r>
              <a:rPr lang="en-US" altLang="zh-CN" sz="2400">
                <a:ea typeface="宋体" panose="02010600030101010101" pitchFamily="2" charset="-122"/>
              </a:rPr>
              <a:t>0 </a:t>
            </a:r>
            <a:r>
              <a:rPr lang="zh-CN" altLang="en-US" sz="2400">
                <a:ea typeface="宋体" panose="02010600030101010101" pitchFamily="2" charset="-122"/>
              </a:rPr>
              <a:t>或者其他特殊值。 </a:t>
            </a:r>
            <a:endParaRPr lang="zh-CN" altLang="en-US" sz="2400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>
                <a:ea typeface="宋体" panose="02010600030101010101" pitchFamily="2" charset="-122"/>
              </a:rPr>
              <a:t>这里采取一种类似于平均值的办法：取期望。因为这里至少有 样本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的值，因此可以把这个信息利用起来，针对后验概率</a:t>
            </a:r>
            <a:r>
              <a:rPr lang="en-US" altLang="zh-CN">
                <a:ea typeface="宋体" panose="02010600030101010101" pitchFamily="2" charset="-122"/>
              </a:rPr>
              <a:t>p(z|x)</a:t>
            </a:r>
            <a:r>
              <a:rPr lang="zh-CN" altLang="en-US">
                <a:ea typeface="宋体" panose="02010600030101010101" pitchFamily="2" charset="-122"/>
              </a:rPr>
              <a:t> 来取期望。前面说过，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zh-CN" altLang="en-US">
                <a:ea typeface="宋体" panose="02010600030101010101" pitchFamily="2" charset="-122"/>
              </a:rPr>
              <a:t>的每一个元素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zh-CN" altLang="en-US">
                <a:ea typeface="宋体" panose="02010600030101010101" pitchFamily="2" charset="-122"/>
              </a:rPr>
              <a:t>只有 </a:t>
            </a:r>
            <a:r>
              <a:rPr lang="en-US" altLang="zh-CN">
                <a:ea typeface="宋体" panose="02010600030101010101" pitchFamily="2" charset="-122"/>
              </a:rPr>
              <a:t>0 </a:t>
            </a:r>
            <a:r>
              <a:rPr lang="zh-CN" altLang="en-US">
                <a:ea typeface="宋体" panose="02010600030101010101" pitchFamily="2" charset="-122"/>
              </a:rPr>
              <a:t>和 </a:t>
            </a:r>
            <a:r>
              <a:rPr lang="en-US" altLang="zh-CN">
                <a:ea typeface="宋体" panose="02010600030101010101" pitchFamily="2" charset="-122"/>
              </a:rPr>
              <a:t>1 </a:t>
            </a:r>
            <a:r>
              <a:rPr lang="zh-CN" altLang="en-US">
                <a:ea typeface="宋体" panose="02010600030101010101" pitchFamily="2" charset="-122"/>
              </a:rPr>
              <a:t>两种取值，因此按照期望的公式写出来就是：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0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51204" name="Object 2"/>
          <p:cNvGraphicFramePr>
            <a:graphicFrameLocks noChangeAspect="1"/>
          </p:cNvGraphicFramePr>
          <p:nvPr/>
        </p:nvGraphicFramePr>
        <p:xfrm>
          <a:off x="1216025" y="3757613"/>
          <a:ext cx="7016750" cy="292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48053625" imgH="24574500" progId="Equation.3">
                  <p:embed/>
                </p:oleObj>
              </mc:Choice>
              <mc:Fallback>
                <p:oleObj name="" r:id="rId1" imgW="48053625" imgH="245745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6025" y="3757613"/>
                        <a:ext cx="7016750" cy="292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just"/>
            <a:r>
              <a:rPr lang="zh-CN" altLang="en-US">
                <a:ea typeface="宋体" panose="02010600030101010101" pitchFamily="2" charset="-122"/>
              </a:rPr>
              <a:t>中间用贝叶斯定理变了一下形，最后得到的式子正是我们在</a:t>
            </a:r>
            <a:r>
              <a:rPr lang="en-US" altLang="zh-CN">
                <a:ea typeface="宋体" panose="02010600030101010101" pitchFamily="2" charset="-122"/>
              </a:rPr>
              <a:t>GMM </a:t>
            </a:r>
            <a:r>
              <a:rPr lang="zh-CN" altLang="en-US">
                <a:ea typeface="宋体" panose="02010600030101010101" pitchFamily="2" charset="-122"/>
              </a:rPr>
              <a:t>中定义的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 。因此，对于上面那个可以直接求解的 </a:t>
            </a:r>
            <a:r>
              <a:rPr lang="en-US" altLang="zh-CN">
                <a:ea typeface="宋体" panose="02010600030101010101" pitchFamily="2" charset="-122"/>
              </a:rPr>
              <a:t>Log-likelihood function </a:t>
            </a:r>
            <a:r>
              <a:rPr lang="zh-CN" altLang="en-US">
                <a:ea typeface="宋体" panose="02010600030101010101" pitchFamily="2" charset="-122"/>
              </a:rPr>
              <a:t>中的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en-US" altLang="zh-CN" sz="1200">
                <a:ea typeface="宋体" panose="02010600030101010101" pitchFamily="2" charset="-122"/>
              </a:rPr>
              <a:t>ji</a:t>
            </a:r>
            <a:r>
              <a:rPr lang="zh-CN" altLang="en-US">
                <a:ea typeface="宋体" panose="02010600030101010101" pitchFamily="2" charset="-122"/>
              </a:rPr>
              <a:t> ，我们只要用其期望</a:t>
            </a:r>
            <a:r>
              <a:rPr lang="en-US" altLang="zh-CN">
                <a:ea typeface="宋体" panose="02010600030101010101" pitchFamily="2" charset="-122"/>
              </a:rPr>
              <a:t>E(z</a:t>
            </a:r>
            <a:r>
              <a:rPr lang="en-US" altLang="zh-CN" sz="1600">
                <a:ea typeface="宋体" panose="02010600030101010101" pitchFamily="2" charset="-122"/>
              </a:rPr>
              <a:t>ji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即</a:t>
            </a:r>
            <a:r>
              <a:rPr lang="en-US" altLang="zh-CN">
                <a:ea typeface="宋体" panose="02010600030101010101" pitchFamily="2" charset="-122"/>
              </a:rPr>
              <a:t>P(X</a:t>
            </a:r>
            <a:r>
              <a:rPr lang="en-US" altLang="zh-CN" baseline="-25000">
                <a:ea typeface="宋体" panose="02010600030101010101" pitchFamily="2" charset="-122"/>
              </a:rPr>
              <a:t>j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代替即可</a:t>
            </a:r>
            <a:endParaRPr lang="en-US" altLang="zh-CN">
              <a:ea typeface="宋体" panose="02010600030101010101" pitchFamily="2" charset="-122"/>
            </a:endParaRPr>
          </a:p>
          <a:p>
            <a:pPr algn="just"/>
            <a:endParaRPr lang="en-US" altLang="zh-CN">
              <a:ea typeface="宋体" panose="02010600030101010101" pitchFamily="2" charset="-122"/>
            </a:endParaRPr>
          </a:p>
          <a:p>
            <a:pPr algn="just"/>
            <a:r>
              <a:rPr lang="zh-CN" altLang="en-US">
                <a:ea typeface="宋体" panose="02010600030101010101" pitchFamily="2" charset="-122"/>
              </a:rPr>
              <a:t>到这里为止，看起来是一个非常完美的方法，不过仔细一看，发现还有一个漏洞：之前的 </a:t>
            </a:r>
            <a:r>
              <a:rPr lang="en-US" altLang="zh-CN">
                <a:ea typeface="宋体" panose="02010600030101010101" pitchFamily="2" charset="-122"/>
              </a:rPr>
              <a:t>Log-likelihood function </a:t>
            </a:r>
            <a:r>
              <a:rPr lang="zh-CN" altLang="en-US">
                <a:ea typeface="宋体" panose="02010600030101010101" pitchFamily="2" charset="-122"/>
              </a:rPr>
              <a:t>可以直接求最大值是建立在</a:t>
            </a:r>
            <a:r>
              <a:rPr lang="en-US" altLang="zh-CN">
                <a:ea typeface="宋体" panose="02010600030101010101" pitchFamily="2" charset="-122"/>
              </a:rPr>
              <a:t>z</a:t>
            </a:r>
            <a:r>
              <a:rPr lang="en-US" altLang="zh-CN" sz="1600">
                <a:ea typeface="宋体" panose="02010600030101010101" pitchFamily="2" charset="-122"/>
              </a:rPr>
              <a:t>ji</a:t>
            </a:r>
            <a:r>
              <a:rPr lang="zh-CN" altLang="en-US">
                <a:ea typeface="宋体" panose="02010600030101010101" pitchFamily="2" charset="-122"/>
              </a:rPr>
              <a:t>是已知情况下，现在虽然我们用 </a:t>
            </a:r>
            <a:r>
              <a:rPr lang="en-US" altLang="zh-CN">
                <a:ea typeface="宋体" panose="02010600030101010101" pitchFamily="2" charset="-122"/>
              </a:rPr>
              <a:t>E(z</a:t>
            </a:r>
            <a:r>
              <a:rPr lang="en-US" altLang="zh-CN" sz="1600">
                <a:ea typeface="宋体" panose="02010600030101010101" pitchFamily="2" charset="-122"/>
              </a:rPr>
              <a:t>ji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来代替了 ，但是实际上 </a:t>
            </a:r>
            <a:r>
              <a:rPr lang="en-US" altLang="zh-CN">
                <a:ea typeface="宋体" panose="02010600030101010101" pitchFamily="2" charset="-122"/>
              </a:rPr>
              <a:t>E(z</a:t>
            </a:r>
            <a:r>
              <a:rPr lang="en-US" altLang="zh-CN" sz="1600">
                <a:ea typeface="宋体" panose="02010600030101010101" pitchFamily="2" charset="-122"/>
              </a:rPr>
              <a:t>ji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是一个反过来以非常复杂的关系依赖所要求参数的一个式子，而不是一个“已知的数值”。解决这个问题的办法就是迭代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325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fontAlgn="t"/>
            <a:r>
              <a:rPr lang="zh-CN" altLang="en-US">
                <a:ea typeface="宋体" panose="02010600030101010101" pitchFamily="2" charset="-122"/>
              </a:rPr>
              <a:t>到此为止，就勾勒出了整个 </a:t>
            </a:r>
            <a:r>
              <a:rPr lang="en-US" altLang="zh-CN">
                <a:ea typeface="宋体" panose="02010600030101010101" pitchFamily="2" charset="-122"/>
              </a:rPr>
              <a:t>EM </a:t>
            </a:r>
            <a:r>
              <a:rPr lang="zh-CN" altLang="en-US">
                <a:ea typeface="宋体" panose="02010600030101010101" pitchFamily="2" charset="-122"/>
              </a:rPr>
              <a:t>算法的结构，同时也把求解 </a:t>
            </a:r>
            <a:r>
              <a:rPr lang="en-US" altLang="zh-CN">
                <a:ea typeface="宋体" panose="02010600030101010101" pitchFamily="2" charset="-122"/>
              </a:rPr>
              <a:t>GMM </a:t>
            </a:r>
            <a:r>
              <a:rPr lang="zh-CN" altLang="en-US">
                <a:ea typeface="宋体" panose="02010600030101010101" pitchFamily="2" charset="-122"/>
              </a:rPr>
              <a:t>的方法又推导了一遍。</a:t>
            </a:r>
            <a:r>
              <a:rPr lang="en-US" altLang="zh-CN">
                <a:ea typeface="宋体" panose="02010600030101010101" pitchFamily="2" charset="-122"/>
              </a:rPr>
              <a:t>EM </a:t>
            </a:r>
            <a:r>
              <a:rPr lang="zh-CN" altLang="en-US">
                <a:ea typeface="宋体" panose="02010600030101010101" pitchFamily="2" charset="-122"/>
              </a:rPr>
              <a:t>名字也来源于此：</a:t>
            </a:r>
            <a:endParaRPr lang="zh-CN" altLang="en-US">
              <a:ea typeface="宋体" panose="02010600030101010101" pitchFamily="2" charset="-122"/>
            </a:endParaRPr>
          </a:p>
          <a:p>
            <a:pPr lvl="1" fontAlgn="t"/>
            <a:r>
              <a:rPr lang="en-US" altLang="zh-CN" b="1">
                <a:ea typeface="宋体" panose="02010600030101010101" pitchFamily="2" charset="-122"/>
              </a:rPr>
              <a:t>Expectation</a:t>
            </a:r>
            <a:r>
              <a:rPr lang="zh-CN" altLang="en-US">
                <a:ea typeface="宋体" panose="02010600030101010101" pitchFamily="2" charset="-122"/>
              </a:rPr>
              <a:t> 步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zh-CN" altLang="en-US">
                <a:ea typeface="宋体" panose="02010600030101010101" pitchFamily="2" charset="-122"/>
              </a:rPr>
              <a:t>对应于求关于后验概率的期望亦即</a:t>
            </a:r>
            <a:r>
              <a:rPr lang="en-US" altLang="zh-CN">
                <a:ea typeface="宋体" panose="02010600030101010101" pitchFamily="2" charset="-122"/>
              </a:rPr>
              <a:t>E(zji) </a:t>
            </a:r>
            <a:r>
              <a:rPr lang="zh-CN" altLang="en-US">
                <a:ea typeface="宋体" panose="02010600030101010101" pitchFamily="2" charset="-122"/>
              </a:rPr>
              <a:t>； </a:t>
            </a:r>
            <a:endParaRPr lang="zh-CN" altLang="en-US">
              <a:ea typeface="宋体" panose="02010600030101010101" pitchFamily="2" charset="-122"/>
            </a:endParaRPr>
          </a:p>
          <a:p>
            <a:pPr lvl="1" fontAlgn="t"/>
            <a:r>
              <a:rPr lang="en-US" altLang="zh-CN" b="1">
                <a:ea typeface="宋体" panose="02010600030101010101" pitchFamily="2" charset="-122"/>
              </a:rPr>
              <a:t>Maximization</a:t>
            </a:r>
            <a:r>
              <a:rPr lang="zh-CN" altLang="en-US">
                <a:ea typeface="宋体" panose="02010600030101010101" pitchFamily="2" charset="-122"/>
              </a:rPr>
              <a:t>步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zh-CN" altLang="en-US">
                <a:ea typeface="宋体" panose="02010600030101010101" pitchFamily="2" charset="-122"/>
              </a:rPr>
              <a:t>则对应于接下来用最大似然的方法估计相关的参数亦即 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325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  <p:graphicFrame>
        <p:nvGraphicFramePr>
          <p:cNvPr id="53252" name="Object 3"/>
          <p:cNvGraphicFramePr>
            <a:graphicFrameLocks noChangeAspect="1"/>
          </p:cNvGraphicFramePr>
          <p:nvPr/>
        </p:nvGraphicFramePr>
        <p:xfrm>
          <a:off x="5638800" y="4114800"/>
          <a:ext cx="12985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1849100" imgH="3952875" progId="Equation.3">
                  <p:embed/>
                </p:oleObj>
              </mc:Choice>
              <mc:Fallback>
                <p:oleObj name="" r:id="rId1" imgW="11849100" imgH="395287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4114800"/>
                        <a:ext cx="1298575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zh-CN">
                <a:ea typeface="宋体" panose="02010600030101010101" pitchFamily="2" charset="-122"/>
              </a:rPr>
              <a:t>EM</a:t>
            </a:r>
            <a:r>
              <a:rPr lang="zh-CN" altLang="en-US">
                <a:ea typeface="宋体" panose="02010600030101010101" pitchFamily="2" charset="-122"/>
              </a:rPr>
              <a:t>迭代的过程每一步都会对结果有所改进，除非已经达到了一个（至少是局部的）最优解。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zh-CN" altLang="en-US">
                <a:ea typeface="宋体" panose="02010600030101010101" pitchFamily="2" charset="-122"/>
              </a:rPr>
              <a:t>收敛，利用</a:t>
            </a:r>
            <a:r>
              <a:rPr lang="en-US" altLang="zh-CN">
                <a:ea typeface="宋体" panose="02010600030101010101" pitchFamily="2" charset="-122"/>
              </a:rPr>
              <a:t>Jenson</a:t>
            </a:r>
            <a:r>
              <a:rPr lang="zh-CN" altLang="en-US">
                <a:ea typeface="宋体" panose="02010600030101010101" pitchFamily="2" charset="-122"/>
              </a:rPr>
              <a:t>不等式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更多关于</a:t>
            </a:r>
            <a:r>
              <a:rPr lang="en-US" altLang="zh-CN">
                <a:ea typeface="宋体" panose="02010600030101010101" pitchFamily="2" charset="-122"/>
              </a:rPr>
              <a:t>GMM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EM</a:t>
            </a:r>
            <a:r>
              <a:rPr lang="zh-CN" altLang="en-US">
                <a:ea typeface="宋体" panose="02010600030101010101" pitchFamily="2" charset="-122"/>
              </a:rPr>
              <a:t>的讨论，请参考：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Andrew Ng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Machine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Learning</a:t>
            </a:r>
            <a:r>
              <a:rPr lang="zh-CN" altLang="en-US">
                <a:ea typeface="宋体" panose="02010600030101010101" pitchFamily="2" charset="-122"/>
              </a:rPr>
              <a:t>课程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Mitchell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Machine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Learning</a:t>
            </a:r>
            <a:r>
              <a:rPr lang="zh-CN" altLang="en-US">
                <a:ea typeface="宋体" panose="02010600030101010101" pitchFamily="2" charset="-122"/>
              </a:rPr>
              <a:t>教材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http://blog.pluskid.org/?p=81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http://blog.csdn.net/junnan321/article/details/8483343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>
                <a:ea typeface="宋体" panose="02010600030101010101" pitchFamily="2" charset="-122"/>
              </a:rPr>
            </a:fld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tags/tag1.xml><?xml version="1.0" encoding="utf-8"?>
<p:tagLst xmlns:p="http://schemas.openxmlformats.org/presentationml/2006/main">
  <p:tag name="KSO_WPP_MARK_KEY" val="9e2b6e94-91b2-4bb8-a3ca-baad582c20b7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4786</Words>
  <Application>WPS 演示</Application>
  <PresentationFormat>全屏显示(4:3)</PresentationFormat>
  <Paragraphs>456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49</vt:i4>
      </vt:variant>
      <vt:variant>
        <vt:lpstr>幻灯片标题</vt:lpstr>
      </vt:variant>
      <vt:variant>
        <vt:i4>40</vt:i4>
      </vt:variant>
    </vt:vector>
  </HeadingPairs>
  <TitlesOfParts>
    <vt:vector size="98" baseType="lpstr">
      <vt:lpstr>Arial</vt:lpstr>
      <vt:lpstr>宋体</vt:lpstr>
      <vt:lpstr>Wingdings</vt:lpstr>
      <vt:lpstr>Tahoma</vt:lpstr>
      <vt:lpstr>Times New Roman</vt:lpstr>
      <vt:lpstr>Symbol</vt:lpstr>
      <vt:lpstr>微软雅黑</vt:lpstr>
      <vt:lpstr>Arial Unicode MS</vt:lpstr>
      <vt:lpstr>Blends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S.F.U.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Albert Yang</cp:lastModifiedBy>
  <cp:revision>426</cp:revision>
  <cp:lastPrinted>1999-09-10T20:38:56Z</cp:lastPrinted>
  <dcterms:created xsi:type="dcterms:W3CDTF">1998-06-19T04:38:52Z</dcterms:created>
  <dcterms:modified xsi:type="dcterms:W3CDTF">2023-06-11T09:13:31Z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578A8BC17670429D938EFFFF31965036_13</vt:lpwstr>
  </property>
  <property fmtid="{D5CDD505-2E9C-101B-9397-08002B2CF9AE}" pid="3" name="KSOProductBuildVer">
    <vt:lpwstr>2052-11.1.0.14309</vt:lpwstr>
  </property>
</Properties>
</file>