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53"/>
  </p:handoutMasterIdLst>
  <p:sldIdLst>
    <p:sldId id="1210" r:id="rId3"/>
    <p:sldId id="953" r:id="rId4"/>
    <p:sldId id="1391" r:id="rId6"/>
    <p:sldId id="1392" r:id="rId7"/>
    <p:sldId id="1389" r:id="rId8"/>
    <p:sldId id="1390" r:id="rId9"/>
    <p:sldId id="1393" r:id="rId10"/>
    <p:sldId id="1394" r:id="rId11"/>
    <p:sldId id="1395" r:id="rId12"/>
    <p:sldId id="1396" r:id="rId13"/>
    <p:sldId id="1397" r:id="rId14"/>
    <p:sldId id="1398" r:id="rId15"/>
    <p:sldId id="1399" r:id="rId16"/>
    <p:sldId id="1400" r:id="rId17"/>
    <p:sldId id="1401" r:id="rId18"/>
    <p:sldId id="1402" r:id="rId19"/>
    <p:sldId id="1403" r:id="rId20"/>
    <p:sldId id="1404" r:id="rId21"/>
    <p:sldId id="1405" r:id="rId22"/>
    <p:sldId id="1406" r:id="rId23"/>
    <p:sldId id="1407" r:id="rId24"/>
    <p:sldId id="1408" r:id="rId25"/>
    <p:sldId id="1409" r:id="rId26"/>
    <p:sldId id="1410" r:id="rId27"/>
    <p:sldId id="1319" r:id="rId28"/>
    <p:sldId id="1320" r:id="rId29"/>
    <p:sldId id="1321" r:id="rId30"/>
    <p:sldId id="1322" r:id="rId31"/>
    <p:sldId id="1157" r:id="rId32"/>
    <p:sldId id="1158" r:id="rId33"/>
    <p:sldId id="1450" r:id="rId34"/>
    <p:sldId id="1480" r:id="rId35"/>
    <p:sldId id="1479" r:id="rId36"/>
    <p:sldId id="1465" r:id="rId37"/>
    <p:sldId id="1445" r:id="rId38"/>
    <p:sldId id="1446" r:id="rId39"/>
    <p:sldId id="1447" r:id="rId40"/>
    <p:sldId id="1451" r:id="rId41"/>
    <p:sldId id="1159" r:id="rId42"/>
    <p:sldId id="1160" r:id="rId43"/>
    <p:sldId id="1161" r:id="rId44"/>
    <p:sldId id="1477" r:id="rId45"/>
    <p:sldId id="1466" r:id="rId46"/>
    <p:sldId id="1467" r:id="rId47"/>
    <p:sldId id="1468" r:id="rId48"/>
    <p:sldId id="1469" r:id="rId49"/>
    <p:sldId id="1470" r:id="rId50"/>
    <p:sldId id="1471" r:id="rId51"/>
    <p:sldId id="1476" r:id="rId52"/>
  </p:sldIdLst>
  <p:sldSz cx="9144000" cy="6858000" type="screen4x3"/>
  <p:notesSz cx="7010400" cy="9296400"/>
  <p:custDataLst>
    <p:tags r:id="rId57"/>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413"/>
    <p:restoredTop sz="94673"/>
  </p:normalViewPr>
  <p:slideViewPr>
    <p:cSldViewPr showGuides="1">
      <p:cViewPr varScale="1">
        <p:scale>
          <a:sx n="111" d="100"/>
          <a:sy n="111" d="100"/>
        </p:scale>
        <p:origin x="178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1.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3906"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3170" tIns="46586" rIns="93170" bIns="46586" numCol="1" anchor="t" anchorCtr="0" compatLnSpc="1"/>
          <a:lstStyle>
            <a:lvl1pPr defTabSz="932180" eaLnBrk="0" hangingPunct="0">
              <a:defRPr sz="1200">
                <a:latin typeface="Times New Roman" panose="02020603050405020304" pitchFamily="18" charset="0"/>
              </a:defRPr>
            </a:lvl1pPr>
          </a:lstStyle>
          <a:p>
            <a:pPr marL="0" marR="0" lvl="0" indent="0" algn="l" defTabSz="93218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7" name="Rectangle 3"/>
          <p:cNvSpPr>
            <a:spLocks noGrp="1" noChangeArrowheads="1"/>
          </p:cNvSpPr>
          <p:nvPr>
            <p:ph type="dt" sz="quarter" idx="1"/>
          </p:nvPr>
        </p:nvSpPr>
        <p:spPr bwMode="auto">
          <a:xfrm>
            <a:off x="3971925" y="0"/>
            <a:ext cx="3038475" cy="465138"/>
          </a:xfrm>
          <a:prstGeom prst="rect">
            <a:avLst/>
          </a:prstGeom>
          <a:noFill/>
          <a:ln w="9525">
            <a:noFill/>
            <a:miter lim="800000"/>
          </a:ln>
          <a:effectLst/>
        </p:spPr>
        <p:txBody>
          <a:bodyPr vert="horz" wrap="square" lIns="93170" tIns="46586" rIns="93170" bIns="46586" numCol="1" anchor="t" anchorCtr="0" compatLnSpc="1"/>
          <a:lstStyle>
            <a:lvl1pPr algn="r" defTabSz="932180" eaLnBrk="0" hangingPunct="0">
              <a:defRPr sz="1200">
                <a:latin typeface="Times New Roman" panose="02020603050405020304" pitchFamily="18" charset="0"/>
              </a:defRPr>
            </a:lvl1pPr>
          </a:lstStyle>
          <a:p>
            <a:pPr marL="0" marR="0" lvl="0" indent="0" algn="r" defTabSz="93218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8" name="Rectangle 4"/>
          <p:cNvSpPr>
            <a:spLocks noGrp="1" noChangeArrowheads="1"/>
          </p:cNvSpPr>
          <p:nvPr>
            <p:ph type="ftr" sz="quarter" idx="2"/>
          </p:nvPr>
        </p:nvSpPr>
        <p:spPr bwMode="auto">
          <a:xfrm>
            <a:off x="0" y="8831263"/>
            <a:ext cx="3038475" cy="465138"/>
          </a:xfrm>
          <a:prstGeom prst="rect">
            <a:avLst/>
          </a:prstGeom>
          <a:noFill/>
          <a:ln w="9525">
            <a:noFill/>
            <a:miter lim="800000"/>
          </a:ln>
          <a:effectLst/>
        </p:spPr>
        <p:txBody>
          <a:bodyPr vert="horz" wrap="square" lIns="93170" tIns="46586" rIns="93170" bIns="46586" numCol="1" anchor="b" anchorCtr="0" compatLnSpc="1"/>
          <a:lstStyle>
            <a:lvl1pPr defTabSz="932180" eaLnBrk="0" hangingPunct="0">
              <a:defRPr sz="1200">
                <a:latin typeface="Times New Roman" panose="02020603050405020304" pitchFamily="18" charset="0"/>
              </a:defRPr>
            </a:lvl1pPr>
          </a:lstStyle>
          <a:p>
            <a:pPr marL="0" marR="0" lvl="0" indent="0" algn="l" defTabSz="93218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9" name="Rectangle 5"/>
          <p:cNvSpPr>
            <a:spLocks noGrp="1" noChangeArrowheads="1"/>
          </p:cNvSpPr>
          <p:nvPr>
            <p:ph type="sldNum" sz="quarter" idx="3"/>
          </p:nvPr>
        </p:nvSpPr>
        <p:spPr bwMode="auto">
          <a:xfrm>
            <a:off x="3971925" y="8831263"/>
            <a:ext cx="3038475" cy="465138"/>
          </a:xfrm>
          <a:prstGeom prst="rect">
            <a:avLst/>
          </a:prstGeom>
          <a:noFill/>
          <a:ln w="9525">
            <a:noFill/>
            <a:miter lim="800000"/>
          </a:ln>
          <a:effectLst/>
        </p:spPr>
        <p:txBody>
          <a:bodyPr vert="horz" wrap="square" lIns="93170" tIns="46586" rIns="93170" bIns="46586" numCol="1" anchor="b" anchorCtr="0" compatLnSpc="1"/>
          <a:p>
            <a:pPr lvl="0" algn="r" defTabSz="932180">
              <a:buNone/>
            </a:pPr>
            <a:fld id="{9A0DB2DC-4C9A-4742-B13C-FB6460FD3503}" type="slidenum">
              <a:rPr lang="zh-CN" altLang="en-US" sz="1200">
                <a:latin typeface="Times New Roman" panose="02020603050405020304" pitchFamily="18" charset="0"/>
                <a:ea typeface="宋体" panose="02010600030101010101" pitchFamily="2" charset="-122"/>
              </a:rPr>
            </a:fld>
            <a:endParaRPr lang="zh-CN" altLang="en-US" sz="120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9-09-08T03:59:0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176 0,'0'0,"0"0,0 18,-18-18,18 18,0-1,0 18,0-17,0 17,0-35,0 18,0 34,-18-52,18 36,-17-1,17-18,-18 1,18-1,0-17,-17 53,17-35,0-18,0 17,0 1,-18-1,18-17,0 18,0 0,-35-1,35-17,0 35</inkml:trace>
  <inkml:trace contextRef="#ctx0" brushRef="#br0">0 422,'0'0,"0"18,0-1,0-17,0 18,0 0,0-1,0-17,0 18,0-1,0-17,0 18,0 0,18-18,-1 35,1-35,-18-18,17 18,-17 0,18 0,17-17,-18 17,1 0,0 0,-1-18,-17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9-09-08T03:59:0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352 0,'0'0,"0"18,0-18,0 18,0 17,0-35,0 18,0-1,0-17,0 18,0-1,0 19,0-36,0 17,-17-17,-1 36,18-36,-18 0,1 17,17 1,0-18,-18 0,1 18,-1-18,18 0,-18 0,1 17,-1 18,18-35,0 18,0 0,0-18,-18 0,18 17,0 1,0 17,0 1,-17-19,17-17,-18 18</inkml:trace>
  <inkml:trace contextRef="#ctx0" brushRef="#br0">0 477,'0'17,"0"-17,0 18,17 17,-17-35,0 18,0-1,0 1,0-18,0 18,36-1,-19-17,-17-17,0 17,35-18,1 0,-36 18,35 0,-17-35,35 18,-53 17,35-18,-35 0,17 18,-17-17,18 17,0 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3170" tIns="46586" rIns="93170" bIns="46586" numCol="1" anchor="t" anchorCtr="0" compatLnSpc="1"/>
          <a:lstStyle>
            <a:lvl1pPr defTabSz="932180" eaLnBrk="0" hangingPunct="0">
              <a:defRPr sz="1200">
                <a:latin typeface="Times New Roman" panose="02020603050405020304" pitchFamily="18" charset="0"/>
              </a:defRPr>
            </a:lvl1pPr>
          </a:lstStyle>
          <a:p>
            <a:pPr marL="0" marR="0" lvl="0" indent="0" algn="l" defTabSz="93218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5" name="Rectangle 3"/>
          <p:cNvSpPr>
            <a:spLocks noGrp="1" noChangeArrowheads="1"/>
          </p:cNvSpPr>
          <p:nvPr>
            <p:ph type="dt" idx="1"/>
          </p:nvPr>
        </p:nvSpPr>
        <p:spPr bwMode="auto">
          <a:xfrm>
            <a:off x="3971925" y="0"/>
            <a:ext cx="3038475" cy="465138"/>
          </a:xfrm>
          <a:prstGeom prst="rect">
            <a:avLst/>
          </a:prstGeom>
          <a:noFill/>
          <a:ln w="9525">
            <a:noFill/>
            <a:miter lim="800000"/>
          </a:ln>
          <a:effectLst/>
        </p:spPr>
        <p:txBody>
          <a:bodyPr vert="horz" wrap="square" lIns="93170" tIns="46586" rIns="93170" bIns="46586" numCol="1" anchor="t" anchorCtr="0" compatLnSpc="1"/>
          <a:lstStyle>
            <a:lvl1pPr algn="r" defTabSz="932180" eaLnBrk="0" hangingPunct="0">
              <a:defRPr sz="1200">
                <a:latin typeface="Times New Roman" panose="02020603050405020304" pitchFamily="18" charset="0"/>
              </a:defRPr>
            </a:lvl1pPr>
          </a:lstStyle>
          <a:p>
            <a:pPr marL="0" marR="0" lvl="0" indent="0" algn="r" defTabSz="93218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5364" name="Rectangle 4"/>
          <p:cNvSpPr>
            <a:spLocks noTextEdit="1"/>
          </p:cNvSpPr>
          <p:nvPr>
            <p:ph type="sldImg" idx="2"/>
          </p:nvPr>
        </p:nvSpPr>
        <p:spPr>
          <a:xfrm>
            <a:off x="1181100" y="696913"/>
            <a:ext cx="4648200" cy="3486150"/>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935038" y="4416425"/>
            <a:ext cx="5140325" cy="4183063"/>
          </a:xfrm>
          <a:prstGeom prst="rect">
            <a:avLst/>
          </a:prstGeom>
          <a:noFill/>
          <a:ln w="9525">
            <a:noFill/>
            <a:miter lim="800000"/>
          </a:ln>
          <a:effectLst/>
        </p:spPr>
        <p:txBody>
          <a:bodyPr vert="horz" wrap="square" lIns="93170" tIns="46586" rIns="93170" bIns="4658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8" name="Rectangle 6"/>
          <p:cNvSpPr>
            <a:spLocks noGrp="1" noChangeArrowheads="1"/>
          </p:cNvSpPr>
          <p:nvPr>
            <p:ph type="ftr" sz="quarter" idx="4"/>
          </p:nvPr>
        </p:nvSpPr>
        <p:spPr bwMode="auto">
          <a:xfrm>
            <a:off x="0" y="8831263"/>
            <a:ext cx="3038475" cy="465138"/>
          </a:xfrm>
          <a:prstGeom prst="rect">
            <a:avLst/>
          </a:prstGeom>
          <a:noFill/>
          <a:ln w="9525">
            <a:noFill/>
            <a:miter lim="800000"/>
          </a:ln>
          <a:effectLst/>
        </p:spPr>
        <p:txBody>
          <a:bodyPr vert="horz" wrap="square" lIns="93170" tIns="46586" rIns="93170" bIns="46586" numCol="1" anchor="b" anchorCtr="0" compatLnSpc="1"/>
          <a:lstStyle>
            <a:lvl1pPr defTabSz="932180" eaLnBrk="0" hangingPunct="0">
              <a:defRPr sz="1200">
                <a:latin typeface="Times New Roman" panose="02020603050405020304" pitchFamily="18" charset="0"/>
              </a:defRPr>
            </a:lvl1pPr>
          </a:lstStyle>
          <a:p>
            <a:pPr marL="0" marR="0" lvl="0" indent="0" algn="l" defTabSz="93218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9" name="Rectangle 7"/>
          <p:cNvSpPr>
            <a:spLocks noGrp="1" noChangeArrowheads="1"/>
          </p:cNvSpPr>
          <p:nvPr>
            <p:ph type="sldNum" sz="quarter" idx="5"/>
          </p:nvPr>
        </p:nvSpPr>
        <p:spPr bwMode="auto">
          <a:xfrm>
            <a:off x="3971925" y="8831263"/>
            <a:ext cx="3038475" cy="465138"/>
          </a:xfrm>
          <a:prstGeom prst="rect">
            <a:avLst/>
          </a:prstGeom>
          <a:noFill/>
          <a:ln w="9525">
            <a:noFill/>
            <a:miter lim="800000"/>
          </a:ln>
          <a:effectLst/>
        </p:spPr>
        <p:txBody>
          <a:bodyPr vert="horz" wrap="square" lIns="93170" tIns="46586" rIns="93170" bIns="46586" numCol="1" anchor="b" anchorCtr="0" compatLnSpc="1"/>
          <a:p>
            <a:pPr lvl="0" algn="r" defTabSz="932180">
              <a:buNone/>
            </a:pPr>
            <a:fld id="{9A0DB2DC-4C9A-4742-B13C-FB6460FD3503}" type="slidenum">
              <a:rPr lang="zh-CN" altLang="en-US" sz="1200">
                <a:latin typeface="Times New Roman" panose="02020603050405020304" pitchFamily="18" charset="0"/>
                <a:ea typeface="宋体" panose="02010600030101010101" pitchFamily="2" charset="-122"/>
              </a:rPr>
            </a:fld>
            <a:endParaRPr lang="zh-CN" altLang="en-US" sz="120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7"/>
          <p:cNvSpPr txBox="1">
            <a:spLocks noGrp="1"/>
          </p:cNvSpPr>
          <p:nvPr>
            <p:ph type="sldNum" sz="quarter"/>
          </p:nvPr>
        </p:nvSpPr>
        <p:spPr>
          <a:xfrm>
            <a:off x="3971925" y="8831263"/>
            <a:ext cx="3038475" cy="465137"/>
          </a:xfrm>
          <a:prstGeom prst="rect">
            <a:avLst/>
          </a:prstGeom>
          <a:noFill/>
          <a:ln w="9525">
            <a:noFill/>
          </a:ln>
        </p:spPr>
        <p:txBody>
          <a:bodyPr lIns="93170" tIns="46586" rIns="93170" bIns="46586" anchor="b" anchorCtr="0"/>
          <a:p>
            <a:pPr lvl="0" algn="r" defTabSz="932180">
              <a:spcBef>
                <a:spcPct val="0"/>
              </a:spcBef>
            </a:pPr>
            <a:fld id="{9A0DB2DC-4C9A-4742-B13C-FB6460FD3503}" type="slidenum">
              <a:rPr lang="zh-CN" altLang="en-US">
                <a:ea typeface="宋体" panose="02010600030101010101" pitchFamily="2" charset="-122"/>
              </a:rPr>
            </a:fld>
            <a:endParaRPr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幻灯片图像占位符 1"/>
          <p:cNvSpPr>
            <a:spLocks noGrp="1" noRot="1" noChangeAspect="1" noTextEdit="1"/>
          </p:cNvSpPr>
          <p:nvPr>
            <p:ph type="sldImg"/>
          </p:nvPr>
        </p:nvSpPr>
        <p:spPr>
          <a:ln/>
        </p:spPr>
      </p:sp>
      <p:sp>
        <p:nvSpPr>
          <p:cNvPr id="50178" name="备注占位符 2"/>
          <p:cNvSpPr>
            <a:spLocks noGrp="1"/>
          </p:cNvSpPr>
          <p:nvPr>
            <p:ph type="body" idx="1"/>
          </p:nvPr>
        </p:nvSpPr>
        <p:spPr>
          <a:ln/>
        </p:spPr>
        <p:txBody>
          <a:bodyPr wrap="square" lIns="93170" tIns="46586" rIns="93170" bIns="46586" anchor="t" anchorCtr="0"/>
          <a:p>
            <a:pPr lvl="0"/>
            <a:endParaRPr lang="zh-CN" altLang="en-US">
              <a:ea typeface="宋体" panose="02010600030101010101" pitchFamily="2" charset="-122"/>
            </a:endParaRPr>
          </a:p>
        </p:txBody>
      </p:sp>
      <p:sp>
        <p:nvSpPr>
          <p:cNvPr id="50179" name="灯片编号占位符 3"/>
          <p:cNvSpPr txBox="1">
            <a:spLocks noGrp="1"/>
          </p:cNvSpPr>
          <p:nvPr>
            <p:ph type="sldNum" sz="quarter"/>
          </p:nvPr>
        </p:nvSpPr>
        <p:spPr>
          <a:xfrm>
            <a:off x="3971925" y="8831263"/>
            <a:ext cx="3038475" cy="465137"/>
          </a:xfrm>
          <a:prstGeom prst="rect">
            <a:avLst/>
          </a:prstGeom>
          <a:noFill/>
          <a:ln w="9525">
            <a:noFill/>
          </a:ln>
        </p:spPr>
        <p:txBody>
          <a:bodyPr lIns="93170" tIns="46586" rIns="93170" bIns="46586" anchor="b" anchorCtr="0"/>
          <a:p>
            <a:pPr lvl="0" algn="r" defTabSz="932180"/>
            <a:fld id="{9A0DB2DC-4C9A-4742-B13C-FB6460FD3503}" type="slidenum">
              <a:rPr lang="zh-CN" altLang="en-US" sz="1200">
                <a:latin typeface="Times New Roman" panose="02020603050405020304" pitchFamily="18" charset="0"/>
                <a:ea typeface="宋体" panose="02010600030101010101" pitchFamily="2" charset="-122"/>
              </a:rPr>
            </a:fld>
            <a:endParaRPr lang="zh-CN" altLang="en-US" sz="120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69634" name="Group 2"/>
          <p:cNvGrpSpPr/>
          <p:nvPr/>
        </p:nvGrpSpPr>
        <p:grpSpPr>
          <a:xfrm>
            <a:off x="0" y="2438400"/>
            <a:ext cx="9009063" cy="1052513"/>
            <a:chOff x="0" y="1536"/>
            <a:chExt cx="5675" cy="663"/>
          </a:xfrm>
        </p:grpSpPr>
        <p:grpSp>
          <p:nvGrpSpPr>
            <p:cNvPr id="69640" name="Group 3"/>
            <p:cNvGrpSpPr/>
            <p:nvPr/>
          </p:nvGrpSpPr>
          <p:grpSpPr>
            <a:xfrm>
              <a:off x="185" y="1604"/>
              <a:ext cx="449" cy="299"/>
              <a:chOff x="720" y="336"/>
              <a:chExt cx="624" cy="432"/>
            </a:xfrm>
          </p:grpSpPr>
          <p:sp>
            <p:nvSpPr>
              <p:cNvPr id="16"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7"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69641" name="Group 6"/>
            <p:cNvGrpSpPr/>
            <p:nvPr/>
          </p:nvGrpSpPr>
          <p:grpSpPr>
            <a:xfrm>
              <a:off x="263" y="1870"/>
              <a:ext cx="466" cy="299"/>
              <a:chOff x="912" y="2640"/>
              <a:chExt cx="672" cy="432"/>
            </a:xfrm>
          </p:grpSpPr>
          <p:sp>
            <p:nvSpPr>
              <p:cNvPr id="14"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1"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2"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3"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r>
              <a:rPr lang="en-US" altLang="zh-CN"/>
              <a:t>Click to edit Master title style</a:t>
            </a:r>
            <a:endParaRPr lang="en-US" altLang="zh-CN"/>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18"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1D7C209-7D03-9A4B-BAD9-926068FF6297}" type="datetime4">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9"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t>Data Mining: Concepts and Techniques</a:t>
            </a: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0"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sz="1400">
                <a:solidFill>
                  <a:schemeClr val="bg2"/>
                </a:solidFill>
                <a:ea typeface="宋体" panose="02010600030101010101" pitchFamily="2" charset="-122"/>
              </a:rPr>
            </a:fld>
            <a:endParaRPr lang="zh-CN" altLang="en-US" sz="1400">
              <a:solidFill>
                <a:schemeClr val="bg2"/>
              </a:solidFill>
              <a:ea typeface="宋体" panose="02010600030101010101" pitchFamily="2" charset="-122"/>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4800" y="13716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3716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381000"/>
            <a:ext cx="2114550" cy="6096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4800" y="381000"/>
            <a:ext cx="6191250" cy="6096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381000"/>
            <a:ext cx="8402638" cy="609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04800" y="1371600"/>
            <a:ext cx="4152900" cy="5105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371600"/>
            <a:ext cx="4152900" cy="5105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381000"/>
            <a:ext cx="8402638" cy="609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04800" y="1371600"/>
            <a:ext cx="4152900" cy="5105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371600"/>
            <a:ext cx="4152900" cy="24765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4000500"/>
            <a:ext cx="4152900" cy="24765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056"/>
          <p:cNvSpPr>
            <a:spLocks noChangeArrowheads="1"/>
          </p:cNvSpPr>
          <p:nvPr/>
        </p:nvSpPr>
        <p:spPr bwMode="gray">
          <a:xfrm>
            <a:off x="304800" y="1219200"/>
            <a:ext cx="8410575" cy="46038"/>
          </a:xfrm>
          <a:prstGeom prst="rect">
            <a:avLst/>
          </a:prstGeom>
          <a:gradFill rotWithShape="1">
            <a:gsLst>
              <a:gs pos="0">
                <a:srgbClr val="00CE98">
                  <a:alpha val="50000"/>
                </a:srgbClr>
              </a:gs>
              <a:gs pos="100000">
                <a:srgbClr val="8FF9EF">
                  <a:alpha val="51999"/>
                </a:srgbClr>
              </a:gs>
            </a:gsLst>
            <a:lin ang="0" scaled="1"/>
          </a:gradFill>
          <a:ln>
            <a:noFill/>
          </a:ln>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2057"/>
          <p:cNvSpPr>
            <a:spLocks noGrp="1"/>
          </p:cNvSpPr>
          <p:nvPr>
            <p:ph type="title"/>
          </p:nvPr>
        </p:nvSpPr>
        <p:spPr>
          <a:xfrm>
            <a:off x="304800" y="381000"/>
            <a:ext cx="8402638" cy="609600"/>
          </a:xfrm>
          <a:prstGeom prst="rect">
            <a:avLst/>
          </a:prstGeom>
          <a:noFill/>
          <a:ln w="9525">
            <a:noFill/>
          </a:ln>
        </p:spPr>
        <p:txBody>
          <a:bodyPr anchor="b" anchorCtr="0"/>
          <a:p>
            <a:pPr lvl="0"/>
            <a:r>
              <a:rPr lang="en-US" altLang="zh-CN"/>
              <a:t>Click to edit Master title style</a:t>
            </a:r>
            <a:endParaRPr lang="en-US" altLang="zh-CN"/>
          </a:p>
        </p:txBody>
      </p:sp>
      <p:sp>
        <p:nvSpPr>
          <p:cNvPr id="1028" name="Rectangle 2058"/>
          <p:cNvSpPr>
            <a:spLocks noGrp="1"/>
          </p:cNvSpPr>
          <p:nvPr>
            <p:ph type="body" idx="1"/>
          </p:nvPr>
        </p:nvSpPr>
        <p:spPr>
          <a:xfrm>
            <a:off x="304800" y="1371600"/>
            <a:ext cx="8458200" cy="5105400"/>
          </a:xfrm>
          <a:prstGeom prst="rect">
            <a:avLst/>
          </a:prstGeom>
          <a:noFill/>
          <a:ln w="9525">
            <a:noFill/>
          </a:ln>
        </p:spPr>
        <p:txBody>
          <a:bodyPr/>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928779" name="Rectangle 2059"/>
          <p:cNvSpPr>
            <a:spLocks noGrp="1" noChangeArrowheads="1"/>
          </p:cNvSpPr>
          <p:nvPr>
            <p:ph type="dt" sz="half" idx="2"/>
          </p:nvPr>
        </p:nvSpPr>
        <p:spPr bwMode="auto">
          <a:xfrm>
            <a:off x="304800" y="6477000"/>
            <a:ext cx="1905000" cy="3810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600F0BA-6074-A348-94C3-A06F12AF3115}" type="datetime4">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28780" name="Rectangle 2060"/>
          <p:cNvSpPr>
            <a:spLocks noGrp="1" noChangeArrowheads="1"/>
          </p:cNvSpPr>
          <p:nvPr>
            <p:ph type="ftr" sz="quarter" idx="3"/>
          </p:nvPr>
        </p:nvSpPr>
        <p:spPr bwMode="auto">
          <a:xfrm>
            <a:off x="3352800" y="6477000"/>
            <a:ext cx="2895600" cy="3810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anose="02010600030101010101" pitchFamily="2" charset="-122"/>
              </a:defRPr>
            </a:lvl1pPr>
          </a:lstStyle>
          <a:p>
            <a:pPr lvl="0" eaLnBrk="1" hangingPunct="1">
              <a:buNone/>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zoom/>
  </p:transition>
  <p:hf sldNum="0" hdr="0" ftr="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Tahoma" panose="020B0604030504040204" pitchFamily="34" charset="0"/>
        </a:defRPr>
      </a:lvl2pPr>
      <a:lvl3pPr algn="ctr" rtl="0" eaLnBrk="0" fontAlgn="base" hangingPunct="0">
        <a:spcBef>
          <a:spcPct val="0"/>
        </a:spcBef>
        <a:spcAft>
          <a:spcPct val="0"/>
        </a:spcAft>
        <a:defRPr sz="3600">
          <a:solidFill>
            <a:schemeClr val="tx2"/>
          </a:solidFill>
          <a:latin typeface="Tahoma" panose="020B0604030504040204" pitchFamily="34" charset="0"/>
        </a:defRPr>
      </a:lvl3pPr>
      <a:lvl4pPr algn="ctr" rtl="0" eaLnBrk="0" fontAlgn="base" hangingPunct="0">
        <a:spcBef>
          <a:spcPct val="0"/>
        </a:spcBef>
        <a:spcAft>
          <a:spcPct val="0"/>
        </a:spcAft>
        <a:defRPr sz="3600">
          <a:solidFill>
            <a:schemeClr val="tx2"/>
          </a:solidFill>
          <a:latin typeface="Tahoma" panose="020B0604030504040204" pitchFamily="34" charset="0"/>
        </a:defRPr>
      </a:lvl4pPr>
      <a:lvl5pPr algn="ctr" rtl="0" eaLnBrk="0" fontAlgn="base" hangingPunct="0">
        <a:spcBef>
          <a:spcPct val="0"/>
        </a:spcBef>
        <a:spcAft>
          <a:spcPct val="0"/>
        </a:spcAft>
        <a:defRPr sz="3600">
          <a:solidFill>
            <a:schemeClr val="tx2"/>
          </a:solidFill>
          <a:latin typeface="Tahoma" panose="020B0604030504040204" pitchFamily="34" charset="0"/>
        </a:defRPr>
      </a:lvl5pPr>
      <a:lvl6pPr marL="457200" algn="ctr" rtl="0" fontAlgn="base">
        <a:spcBef>
          <a:spcPct val="0"/>
        </a:spcBef>
        <a:spcAft>
          <a:spcPct val="0"/>
        </a:spcAft>
        <a:defRPr sz="3600">
          <a:solidFill>
            <a:schemeClr val="tx2"/>
          </a:solidFill>
          <a:latin typeface="Tahoma" panose="020B0604030504040204" pitchFamily="34" charset="0"/>
        </a:defRPr>
      </a:lvl6pPr>
      <a:lvl7pPr marL="914400" algn="ctr" rtl="0" fontAlgn="base">
        <a:spcBef>
          <a:spcPct val="0"/>
        </a:spcBef>
        <a:spcAft>
          <a:spcPct val="0"/>
        </a:spcAft>
        <a:defRPr sz="3600">
          <a:solidFill>
            <a:schemeClr val="tx2"/>
          </a:solidFill>
          <a:latin typeface="Tahoma" panose="020B0604030504040204" pitchFamily="34" charset="0"/>
        </a:defRPr>
      </a:lvl7pPr>
      <a:lvl8pPr marL="1371600" algn="ctr" rtl="0" fontAlgn="base">
        <a:spcBef>
          <a:spcPct val="0"/>
        </a:spcBef>
        <a:spcAft>
          <a:spcPct val="0"/>
        </a:spcAft>
        <a:defRPr sz="3600">
          <a:solidFill>
            <a:schemeClr val="tx2"/>
          </a:solidFill>
          <a:latin typeface="Tahoma" panose="020B0604030504040204" pitchFamily="34" charset="0"/>
        </a:defRPr>
      </a:lvl8pPr>
      <a:lvl9pPr marL="1828800" algn="ctr" rtl="0" fontAlgn="base">
        <a:spcBef>
          <a:spcPct val="0"/>
        </a:spcBef>
        <a:spcAft>
          <a:spcPct val="0"/>
        </a:spcAft>
        <a:defRPr sz="36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paulgraham.com/spam.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9" Type="http://schemas.openxmlformats.org/officeDocument/2006/relationships/image" Target="../media/image7.wmf"/><Relationship Id="rId8" Type="http://schemas.openxmlformats.org/officeDocument/2006/relationships/oleObject" Target="../embeddings/oleObject8.bin"/><Relationship Id="rId7" Type="http://schemas.openxmlformats.org/officeDocument/2006/relationships/oleObject" Target="../embeddings/oleObject7.bin"/><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 Id="rId3" Type="http://schemas.openxmlformats.org/officeDocument/2006/relationships/oleObject" Target="../embeddings/oleObject5.bin"/><Relationship Id="rId2" Type="http://schemas.openxmlformats.org/officeDocument/2006/relationships/image" Target="../media/image4.wmf"/><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1.wmf"/><Relationship Id="rId7" Type="http://schemas.openxmlformats.org/officeDocument/2006/relationships/oleObject" Target="../embeddings/oleObject12.bin"/><Relationship Id="rId6" Type="http://schemas.openxmlformats.org/officeDocument/2006/relationships/image" Target="../media/image10.wmf"/><Relationship Id="rId5" Type="http://schemas.openxmlformats.org/officeDocument/2006/relationships/oleObject" Target="../embeddings/oleObject11.bin"/><Relationship Id="rId4" Type="http://schemas.openxmlformats.org/officeDocument/2006/relationships/image" Target="../media/image9.wmf"/><Relationship Id="rId3" Type="http://schemas.openxmlformats.org/officeDocument/2006/relationships/oleObject" Target="../embeddings/oleObject10.bin"/><Relationship Id="rId20" Type="http://schemas.openxmlformats.org/officeDocument/2006/relationships/vmlDrawing" Target="../drawings/vmlDrawing3.vml"/><Relationship Id="rId2" Type="http://schemas.openxmlformats.org/officeDocument/2006/relationships/image" Target="../media/image8.wmf"/><Relationship Id="rId19" Type="http://schemas.openxmlformats.org/officeDocument/2006/relationships/slideLayout" Target="../slideLayouts/slideLayout2.xml"/><Relationship Id="rId18" Type="http://schemas.openxmlformats.org/officeDocument/2006/relationships/image" Target="../media/image16.wmf"/><Relationship Id="rId17" Type="http://schemas.openxmlformats.org/officeDocument/2006/relationships/oleObject" Target="../embeddings/oleObject17.bin"/><Relationship Id="rId16" Type="http://schemas.openxmlformats.org/officeDocument/2006/relationships/image" Target="../media/image15.wmf"/><Relationship Id="rId15" Type="http://schemas.openxmlformats.org/officeDocument/2006/relationships/oleObject" Target="../embeddings/oleObject16.bin"/><Relationship Id="rId14" Type="http://schemas.openxmlformats.org/officeDocument/2006/relationships/image" Target="../media/image14.wmf"/><Relationship Id="rId13" Type="http://schemas.openxmlformats.org/officeDocument/2006/relationships/oleObject" Target="../embeddings/oleObject15.bin"/><Relationship Id="rId12" Type="http://schemas.openxmlformats.org/officeDocument/2006/relationships/image" Target="../media/image13.wmf"/><Relationship Id="rId11" Type="http://schemas.openxmlformats.org/officeDocument/2006/relationships/oleObject" Target="../embeddings/oleObject14.bin"/><Relationship Id="rId10" Type="http://schemas.openxmlformats.org/officeDocument/2006/relationships/image" Target="../media/image12.wmf"/><Relationship Id="rId1"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oleObject" Target="../embeddings/oleObject19.bin"/><Relationship Id="rId2" Type="http://schemas.openxmlformats.org/officeDocument/2006/relationships/image" Target="../media/image17.wmf"/><Relationship Id="rId1" Type="http://schemas.openxmlformats.org/officeDocument/2006/relationships/oleObject" Target="../embeddings/oleObject18.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9" Type="http://schemas.openxmlformats.org/officeDocument/2006/relationships/image" Target="../media/image39.jpeg"/><Relationship Id="rId8" Type="http://schemas.openxmlformats.org/officeDocument/2006/relationships/image" Target="../media/image38.jpeg"/><Relationship Id="rId7" Type="http://schemas.openxmlformats.org/officeDocument/2006/relationships/image" Target="../media/image37.jpeg"/><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0" Type="http://schemas.openxmlformats.org/officeDocument/2006/relationships/slideLayout" Target="../slideLayouts/slideLayout7.xml"/><Relationship Id="rId1" Type="http://schemas.openxmlformats.org/officeDocument/2006/relationships/image" Target="../media/image31.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customXml" Target="../ink/ink2.xml"/><Relationship Id="rId4" Type="http://schemas.openxmlformats.org/officeDocument/2006/relationships/image" Target="../media/image43.png"/><Relationship Id="rId3" Type="http://schemas.openxmlformats.org/officeDocument/2006/relationships/customXml" Target="../ink/ink1.xml"/><Relationship Id="rId2" Type="http://schemas.openxmlformats.org/officeDocument/2006/relationships/image" Target="../media/image42.png"/><Relationship Id="rId1" Type="http://schemas.openxmlformats.org/officeDocument/2006/relationships/image" Target="../media/image4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17410"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17411" name="Rectangle 2"/>
          <p:cNvSpPr>
            <a:spLocks noGrp="1"/>
          </p:cNvSpPr>
          <p:nvPr>
            <p:ph type="title"/>
          </p:nvPr>
        </p:nvSpPr>
        <p:spPr>
          <a:xfrm>
            <a:off x="609600" y="304800"/>
            <a:ext cx="7772400" cy="838200"/>
          </a:xfrm>
          <a:ln/>
        </p:spPr>
        <p:txBody>
          <a:bodyPr vert="horz" wrap="square" lIns="92075" tIns="46038" rIns="92075" bIns="46038" anchor="ctr" anchorCtr="0"/>
          <a:p>
            <a:pPr eaLnBrk="1" hangingPunct="1"/>
            <a:r>
              <a:rPr lang="zh-CN" altLang="en-US" sz="3200">
                <a:ea typeface="宋体" panose="02010600030101010101" pitchFamily="2" charset="-122"/>
              </a:rPr>
              <a:t>本讲内容</a:t>
            </a:r>
            <a:endParaRPr lang="zh-CN" altLang="en-US" sz="3200">
              <a:ea typeface="宋体" panose="02010600030101010101" pitchFamily="2" charset="-122"/>
            </a:endParaRPr>
          </a:p>
        </p:txBody>
      </p:sp>
      <p:sp>
        <p:nvSpPr>
          <p:cNvPr id="17412" name="Rectangle 3"/>
          <p:cNvSpPr>
            <a:spLocks noGrp="1"/>
          </p:cNvSpPr>
          <p:nvPr>
            <p:ph idx="1"/>
          </p:nvPr>
        </p:nvSpPr>
        <p:spPr>
          <a:xfrm>
            <a:off x="381000" y="1371600"/>
            <a:ext cx="8221663" cy="5181600"/>
          </a:xfrm>
          <a:ln/>
        </p:spPr>
        <p:txBody>
          <a:bodyPr vert="horz" wrap="square" lIns="92075" tIns="46038" rIns="92075" bIns="46038" anchor="t" anchorCtr="0"/>
          <a:p>
            <a:pPr eaLnBrk="1" hangingPunct="1">
              <a:lnSpc>
                <a:spcPct val="120000"/>
              </a:lnSpc>
            </a:pPr>
            <a:r>
              <a:rPr lang="zh-CN" altLang="en-US" sz="2400">
                <a:solidFill>
                  <a:schemeClr val="hlink"/>
                </a:solidFill>
                <a:ea typeface="宋体" panose="02010600030101010101" pitchFamily="2" charset="-122"/>
              </a:rPr>
              <a:t>贝叶斯分类</a:t>
            </a:r>
            <a:endParaRPr lang="zh-CN" altLang="en-US" sz="2400">
              <a:solidFill>
                <a:schemeClr val="hlink"/>
              </a:solidFill>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18434"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18435" name="Rectangle 2"/>
          <p:cNvSpPr>
            <a:spLocks noGrp="1"/>
          </p:cNvSpPr>
          <p:nvPr>
            <p:ph type="title"/>
          </p:nvPr>
        </p:nvSpPr>
        <p:spPr>
          <a:xfrm>
            <a:off x="609600" y="304800"/>
            <a:ext cx="7696200" cy="685800"/>
          </a:xfrm>
          <a:ln/>
        </p:spPr>
        <p:txBody>
          <a:bodyPr vert="horz" wrap="square" lIns="92075" tIns="46038" rIns="92075" bIns="46038" anchor="ctr" anchorCtr="0"/>
          <a:p>
            <a:pPr eaLnBrk="1" hangingPunct="1"/>
            <a:r>
              <a:rPr lang="zh-CN" altLang="en-US" sz="3200">
                <a:ea typeface="宋体" panose="02010600030101010101" pitchFamily="2" charset="-122"/>
              </a:rPr>
              <a:t>贝叶斯分类器</a:t>
            </a:r>
            <a:endParaRPr lang="en-US" altLang="zh-CN" sz="2000">
              <a:ea typeface="宋体" panose="02010600030101010101" pitchFamily="2" charset="-122"/>
            </a:endParaRPr>
          </a:p>
        </p:txBody>
      </p:sp>
      <p:sp>
        <p:nvSpPr>
          <p:cNvPr id="18436" name="Rectangle 3"/>
          <p:cNvSpPr>
            <a:spLocks noGrp="1"/>
          </p:cNvSpPr>
          <p:nvPr>
            <p:ph idx="1"/>
          </p:nvPr>
        </p:nvSpPr>
        <p:spPr>
          <a:xfrm>
            <a:off x="381000" y="1371600"/>
            <a:ext cx="8458200" cy="5105400"/>
          </a:xfrm>
          <a:ln/>
        </p:spPr>
        <p:txBody>
          <a:bodyPr vert="horz" wrap="square" lIns="92075" tIns="46038" rIns="92075" bIns="46038" anchor="t" anchorCtr="0"/>
          <a:p>
            <a:pPr algn="just" eaLnBrk="1" hangingPunct="1"/>
            <a:r>
              <a:rPr lang="zh-CN" altLang="en-US" sz="2400">
                <a:ea typeface="宋体" panose="02010600030101010101" pitchFamily="2" charset="-122"/>
              </a:rPr>
              <a:t>是一种基于统计的分类方法，用来预测诸如某个样本属于某个分类的概率有多大</a:t>
            </a:r>
            <a:endParaRPr lang="zh-CN" altLang="en-US" sz="2400">
              <a:ea typeface="宋体" panose="02010600030101010101" pitchFamily="2" charset="-122"/>
            </a:endParaRPr>
          </a:p>
          <a:p>
            <a:pPr algn="just" eaLnBrk="1" hangingPunct="1"/>
            <a:r>
              <a:rPr lang="zh-CN" altLang="en-US" sz="2400">
                <a:ea typeface="宋体" panose="02010600030101010101" pitchFamily="2" charset="-122"/>
              </a:rPr>
              <a:t>基于</a:t>
            </a:r>
            <a:r>
              <a:rPr lang="en-US" altLang="zh-CN" sz="2400">
                <a:ea typeface="宋体" panose="02010600030101010101" pitchFamily="2" charset="-122"/>
              </a:rPr>
              <a:t>Bayes</a:t>
            </a:r>
            <a:r>
              <a:rPr lang="zh-CN" altLang="en-US" sz="2400">
                <a:ea typeface="宋体" panose="02010600030101010101" pitchFamily="2" charset="-122"/>
              </a:rPr>
              <a:t>理论</a:t>
            </a:r>
            <a:endParaRPr lang="zh-CN" altLang="en-US" sz="2400">
              <a:ea typeface="宋体" panose="02010600030101010101" pitchFamily="2" charset="-122"/>
            </a:endParaRPr>
          </a:p>
          <a:p>
            <a:pPr algn="just" eaLnBrk="1" hangingPunct="1"/>
            <a:r>
              <a:rPr lang="zh-CN" altLang="en-US" sz="2400">
                <a:ea typeface="宋体" panose="02010600030101010101" pitchFamily="2" charset="-122"/>
              </a:rPr>
              <a:t>研究发现，</a:t>
            </a:r>
            <a:r>
              <a:rPr lang="en-US" altLang="zh-CN" sz="2400">
                <a:ea typeface="宋体" panose="02010600030101010101" pitchFamily="2" charset="-122"/>
              </a:rPr>
              <a:t>Naïve Bayes Classifier</a:t>
            </a:r>
            <a:r>
              <a:rPr lang="zh-CN" altLang="en-US" sz="2400">
                <a:ea typeface="宋体" panose="02010600030101010101" pitchFamily="2" charset="-122"/>
              </a:rPr>
              <a:t>在性能上和</a:t>
            </a:r>
            <a:r>
              <a:rPr lang="en-US" altLang="zh-CN" sz="2400">
                <a:ea typeface="宋体" panose="02010600030101010101" pitchFamily="2" charset="-122"/>
              </a:rPr>
              <a:t>Decision Tree、Neural  Network classifiers </a:t>
            </a:r>
            <a:r>
              <a:rPr lang="zh-CN" altLang="en-US" sz="2400">
                <a:ea typeface="宋体" panose="02010600030101010101" pitchFamily="2" charset="-122"/>
              </a:rPr>
              <a:t>相当。在应用于大数据集时，具有较高的准确率和速度</a:t>
            </a:r>
            <a:endParaRPr lang="zh-CN" altLang="en-US" sz="2400">
              <a:ea typeface="宋体" panose="02010600030101010101" pitchFamily="2" charset="-122"/>
            </a:endParaRPr>
          </a:p>
          <a:p>
            <a:pPr algn="just" eaLnBrk="1" hangingPunct="1"/>
            <a:r>
              <a:rPr lang="en-US" altLang="zh-CN" sz="2400">
                <a:ea typeface="宋体" panose="02010600030101010101" pitchFamily="2" charset="-122"/>
              </a:rPr>
              <a:t>Naïve Bayes Classifier</a:t>
            </a:r>
            <a:r>
              <a:rPr lang="zh-CN" altLang="en-US" sz="2400">
                <a:ea typeface="宋体" panose="02010600030101010101" pitchFamily="2" charset="-122"/>
              </a:rPr>
              <a:t>假设属性值之间是独立的，因此可以简化很多计算，故称之为</a:t>
            </a:r>
            <a:r>
              <a:rPr lang="en-US" altLang="zh-CN" sz="2400">
                <a:ea typeface="宋体" panose="02010600030101010101" pitchFamily="2" charset="-122"/>
              </a:rPr>
              <a:t>Naïve 。</a:t>
            </a:r>
            <a:r>
              <a:rPr lang="zh-CN" altLang="en-US" sz="2400">
                <a:ea typeface="宋体" panose="02010600030101010101" pitchFamily="2" charset="-122"/>
              </a:rPr>
              <a:t>当属性值之间有依赖关系时，采用</a:t>
            </a:r>
            <a:r>
              <a:rPr lang="en-US" altLang="zh-CN" sz="2400">
                <a:ea typeface="宋体" panose="02010600030101010101" pitchFamily="2" charset="-122"/>
              </a:rPr>
              <a:t>Bayesian Belief Networks</a:t>
            </a:r>
            <a:r>
              <a:rPr lang="zh-CN" altLang="en-US" sz="2400">
                <a:ea typeface="宋体" panose="02010600030101010101" pitchFamily="2" charset="-122"/>
              </a:rPr>
              <a:t>进行分类。</a:t>
            </a:r>
            <a:endParaRPr lang="zh-CN" altLang="en-US" sz="2400">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贝叶斯推断</a:t>
            </a:r>
            <a:endParaRPr lang="zh-CN" altLang="en-US">
              <a:ea typeface="宋体" panose="02010600030101010101" pitchFamily="2" charset="-122"/>
            </a:endParaRPr>
          </a:p>
        </p:txBody>
      </p:sp>
      <p:sp>
        <p:nvSpPr>
          <p:cNvPr id="20482"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贝叶斯推断是一种统计学方法，用来估计统计量的某种性质。</a:t>
            </a:r>
            <a:endParaRPr lang="zh-CN" altLang="en-US">
              <a:ea typeface="宋体" panose="02010600030101010101" pitchFamily="2" charset="-122"/>
            </a:endParaRPr>
          </a:p>
          <a:p>
            <a:pPr eaLnBrk="1" hangingPunct="1"/>
            <a:r>
              <a:rPr lang="zh-CN" altLang="en-US">
                <a:ea typeface="宋体" panose="02010600030101010101" pitchFamily="2" charset="-122"/>
              </a:rPr>
              <a:t>它是贝叶斯定理的应用。英国数学家托马斯</a:t>
            </a:r>
            <a:r>
              <a:rPr lang="en-US" altLang="zh-CN">
                <a:ea typeface="宋体" panose="02010600030101010101" pitchFamily="2" charset="-122"/>
              </a:rPr>
              <a:t>·</a:t>
            </a:r>
            <a:r>
              <a:rPr lang="zh-CN" altLang="en-US">
                <a:ea typeface="宋体" panose="02010600030101010101" pitchFamily="2" charset="-122"/>
              </a:rPr>
              <a:t>贝叶斯（</a:t>
            </a:r>
            <a:r>
              <a:rPr lang="en-US" altLang="zh-CN">
                <a:ea typeface="宋体" panose="02010600030101010101" pitchFamily="2" charset="-122"/>
              </a:rPr>
              <a:t>Thomas Bayes</a:t>
            </a:r>
            <a:r>
              <a:rPr lang="zh-CN" altLang="en-US">
                <a:ea typeface="宋体" panose="02010600030101010101" pitchFamily="2" charset="-122"/>
              </a:rPr>
              <a:t>）在</a:t>
            </a:r>
            <a:r>
              <a:rPr lang="en-US" altLang="zh-CN">
                <a:ea typeface="宋体" panose="02010600030101010101" pitchFamily="2" charset="-122"/>
              </a:rPr>
              <a:t>1763</a:t>
            </a:r>
            <a:r>
              <a:rPr lang="zh-CN" altLang="en-US">
                <a:ea typeface="宋体" panose="02010600030101010101" pitchFamily="2" charset="-122"/>
              </a:rPr>
              <a:t>年发表的一篇论文中，首先提出了这个定理。</a:t>
            </a:r>
            <a:endParaRPr lang="zh-CN" altLang="en-US">
              <a:ea typeface="宋体" panose="02010600030101010101" pitchFamily="2" charset="-122"/>
            </a:endParaRPr>
          </a:p>
        </p:txBody>
      </p:sp>
      <p:sp>
        <p:nvSpPr>
          <p:cNvPr id="20483"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a:ln/>
        </p:spPr>
        <p:txBody>
          <a:bodyPr vert="horz" wrap="square" lIns="91440" tIns="45720" rIns="91440" bIns="45720" anchor="b" anchorCtr="0"/>
          <a:p>
            <a:pPr eaLnBrk="1" hangingPunct="1"/>
            <a:r>
              <a:rPr lang="zh-CN" altLang="en-US" sz="2400">
                <a:ea typeface="宋体" panose="02010600030101010101" pitchFamily="2" charset="-122"/>
              </a:rPr>
              <a:t>关于贝叶斯推断，摘一段 </a:t>
            </a:r>
            <a:r>
              <a:rPr lang="en-US" altLang="zh-CN" sz="2400">
                <a:ea typeface="宋体" panose="02010600030101010101" pitchFamily="2" charset="-122"/>
              </a:rPr>
              <a:t>wikipedia </a:t>
            </a:r>
            <a:r>
              <a:rPr lang="zh-CN" altLang="en-US" sz="2400">
                <a:ea typeface="宋体" panose="02010600030101010101" pitchFamily="2" charset="-122"/>
              </a:rPr>
              <a:t>上的简介：</a:t>
            </a:r>
            <a:endParaRPr lang="zh-CN" altLang="en-US">
              <a:ea typeface="宋体" panose="02010600030101010101" pitchFamily="2" charset="-122"/>
            </a:endParaRPr>
          </a:p>
        </p:txBody>
      </p:sp>
      <p:sp>
        <p:nvSpPr>
          <p:cNvPr id="21506" name="内容占位符 2"/>
          <p:cNvSpPr>
            <a:spLocks noGrp="1"/>
          </p:cNvSpPr>
          <p:nvPr>
            <p:ph idx="1"/>
          </p:nvPr>
        </p:nvSpPr>
        <p:spPr>
          <a:ln/>
        </p:spPr>
        <p:txBody>
          <a:bodyPr vert="horz" wrap="square" lIns="91440" tIns="45720" rIns="91440" bIns="45720" anchor="t" anchorCtr="0"/>
          <a:p>
            <a:pPr eaLnBrk="1" hangingPunct="1"/>
            <a:r>
              <a:rPr lang="zh-CN" altLang="en-US" sz="2400">
                <a:ea typeface="宋体" panose="02010600030101010101" pitchFamily="2" charset="-122"/>
              </a:rPr>
              <a:t>所谓的贝叶斯方法源于他生前为解决一个“</a:t>
            </a:r>
            <a:r>
              <a:rPr lang="zh-CN" altLang="en-US" sz="2400">
                <a:solidFill>
                  <a:srgbClr val="FF0000"/>
                </a:solidFill>
                <a:ea typeface="宋体" panose="02010600030101010101" pitchFamily="2" charset="-122"/>
              </a:rPr>
              <a:t>逆概</a:t>
            </a:r>
            <a:r>
              <a:rPr lang="zh-CN" altLang="en-US" sz="2400">
                <a:ea typeface="宋体" panose="02010600030101010101" pitchFamily="2" charset="-122"/>
              </a:rPr>
              <a:t>”问题写的一篇文章。在贝叶斯写这篇文章之前，人们已经能够计算“</a:t>
            </a:r>
            <a:r>
              <a:rPr lang="zh-CN" altLang="en-US" sz="2400">
                <a:solidFill>
                  <a:srgbClr val="FF0000"/>
                </a:solidFill>
                <a:ea typeface="宋体" panose="02010600030101010101" pitchFamily="2" charset="-122"/>
              </a:rPr>
              <a:t>正向概率</a:t>
            </a:r>
            <a:r>
              <a:rPr lang="zh-CN" altLang="en-US" sz="2400">
                <a:ea typeface="宋体" panose="02010600030101010101" pitchFamily="2" charset="-122"/>
              </a:rPr>
              <a:t>”，如“假设袋子里面有</a:t>
            </a:r>
            <a:r>
              <a:rPr lang="en-US" altLang="zh-CN" sz="2400">
                <a:ea typeface="宋体" panose="02010600030101010101" pitchFamily="2" charset="-122"/>
              </a:rPr>
              <a:t>N</a:t>
            </a:r>
            <a:r>
              <a:rPr lang="zh-CN" altLang="en-US" sz="2400">
                <a:ea typeface="宋体" panose="02010600030101010101" pitchFamily="2" charset="-122"/>
              </a:rPr>
              <a:t>个白球，</a:t>
            </a:r>
            <a:r>
              <a:rPr lang="en-US" altLang="zh-CN" sz="2400">
                <a:ea typeface="宋体" panose="02010600030101010101" pitchFamily="2" charset="-122"/>
              </a:rPr>
              <a:t>M</a:t>
            </a:r>
            <a:r>
              <a:rPr lang="zh-CN" altLang="en-US" sz="2400">
                <a:ea typeface="宋体" panose="02010600030101010101" pitchFamily="2" charset="-122"/>
              </a:rPr>
              <a:t>个黑球，你伸手进去摸一把，摸出黑球的概率是多大”。</a:t>
            </a:r>
            <a:endParaRPr lang="en-US" altLang="zh-CN" sz="2400">
              <a:ea typeface="宋体" panose="02010600030101010101" pitchFamily="2" charset="-122"/>
            </a:endParaRPr>
          </a:p>
          <a:p>
            <a:pPr eaLnBrk="1" hangingPunct="1"/>
            <a:r>
              <a:rPr lang="zh-CN" altLang="en-US" sz="2400">
                <a:ea typeface="宋体" panose="02010600030101010101" pitchFamily="2" charset="-122"/>
              </a:rPr>
              <a:t>而一个自然而然的问题是反过来：“如果我们事先并不知道袋子里面黑白球的比例，而是闭着眼睛摸出一个（或好几个）球，观察这些取出来的球的颜色之后，那么我们可以就此对袋子里面的黑白球的比例作出什么样的推测”。这个问题，就是所谓的逆概问题。</a:t>
            </a:r>
            <a:endParaRPr lang="zh-CN" altLang="en-US" sz="2400">
              <a:ea typeface="宋体" panose="02010600030101010101" pitchFamily="2" charset="-122"/>
            </a:endParaRPr>
          </a:p>
          <a:p>
            <a:pPr eaLnBrk="1" hangingPunct="1"/>
            <a:endParaRPr lang="zh-CN" altLang="en-US">
              <a:ea typeface="宋体" panose="02010600030101010101" pitchFamily="2" charset="-122"/>
            </a:endParaRPr>
          </a:p>
        </p:txBody>
      </p:sp>
      <p:sp>
        <p:nvSpPr>
          <p:cNvPr id="21507"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贝叶斯推断及其在邮件过滤中的应用</a:t>
            </a:r>
            <a:endParaRPr lang="zh-CN" altLang="en-US">
              <a:ea typeface="宋体" panose="02010600030101010101" pitchFamily="2" charset="-122"/>
            </a:endParaRPr>
          </a:p>
        </p:txBody>
      </p:sp>
      <p:sp>
        <p:nvSpPr>
          <p:cNvPr id="22530"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邮件过滤：</a:t>
            </a:r>
            <a:endParaRPr lang="en-US" altLang="zh-CN">
              <a:ea typeface="宋体" panose="02010600030101010101" pitchFamily="2" charset="-122"/>
            </a:endParaRPr>
          </a:p>
          <a:p>
            <a:pPr lvl="1" eaLnBrk="1" hangingPunct="1"/>
            <a:r>
              <a:rPr lang="zh-CN" altLang="en-US">
                <a:ea typeface="宋体" panose="02010600030101010101" pitchFamily="2" charset="-122"/>
              </a:rPr>
              <a:t>垃圾邮件是一种令人头痛的顽症，困扰着所有的互联网用户。</a:t>
            </a:r>
            <a:endParaRPr lang="zh-CN" altLang="en-US">
              <a:ea typeface="宋体" panose="02010600030101010101" pitchFamily="2" charset="-122"/>
            </a:endParaRPr>
          </a:p>
          <a:p>
            <a:pPr lvl="1" eaLnBrk="1" hangingPunct="1"/>
            <a:r>
              <a:rPr lang="zh-CN" altLang="en-US">
                <a:ea typeface="宋体" panose="02010600030101010101" pitchFamily="2" charset="-122"/>
              </a:rPr>
              <a:t>正确识别垃圾邮件的技术难度非常大。传统的垃圾邮件过滤方法，主要有</a:t>
            </a:r>
            <a:r>
              <a:rPr lang="en-US" altLang="zh-CN">
                <a:ea typeface="宋体" panose="02010600030101010101" pitchFamily="2" charset="-122"/>
              </a:rPr>
              <a:t>“</a:t>
            </a:r>
            <a:r>
              <a:rPr lang="zh-CN" altLang="en-US">
                <a:solidFill>
                  <a:srgbClr val="FF0000"/>
                </a:solidFill>
                <a:ea typeface="宋体" panose="02010600030101010101" pitchFamily="2" charset="-122"/>
              </a:rPr>
              <a:t>关键词法</a:t>
            </a:r>
            <a:r>
              <a:rPr lang="en-US" altLang="zh-CN">
                <a:ea typeface="宋体" panose="02010600030101010101" pitchFamily="2" charset="-122"/>
              </a:rPr>
              <a:t>”</a:t>
            </a:r>
            <a:r>
              <a:rPr lang="zh-CN" altLang="en-US">
                <a:ea typeface="宋体" panose="02010600030101010101" pitchFamily="2" charset="-122"/>
              </a:rPr>
              <a:t>和</a:t>
            </a:r>
            <a:r>
              <a:rPr lang="en-US" altLang="zh-CN">
                <a:ea typeface="宋体" panose="02010600030101010101" pitchFamily="2" charset="-122"/>
              </a:rPr>
              <a:t>“</a:t>
            </a:r>
            <a:r>
              <a:rPr lang="zh-CN" altLang="en-US">
                <a:solidFill>
                  <a:srgbClr val="FF0000"/>
                </a:solidFill>
                <a:ea typeface="宋体" panose="02010600030101010101" pitchFamily="2" charset="-122"/>
              </a:rPr>
              <a:t>校验码法</a:t>
            </a:r>
            <a:r>
              <a:rPr lang="en-US" altLang="zh-CN">
                <a:ea typeface="宋体" panose="02010600030101010101" pitchFamily="2" charset="-122"/>
              </a:rPr>
              <a:t>”</a:t>
            </a:r>
            <a:r>
              <a:rPr lang="zh-CN" altLang="en-US">
                <a:ea typeface="宋体" panose="02010600030101010101" pitchFamily="2" charset="-122"/>
              </a:rPr>
              <a:t>等。前者的过滤依据是特定的词语；后者则是计算邮件文本的校验码，再与已知的垃圾邮件进行对比。它们的识别效果都不理想，而且很容易规避</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
        <p:nvSpPr>
          <p:cNvPr id="22531"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贝叶斯推断及其在邮件过滤中的应用</a:t>
            </a:r>
            <a:endParaRPr lang="zh-CN" altLang="en-US">
              <a:ea typeface="宋体" panose="02010600030101010101" pitchFamily="2" charset="-122"/>
            </a:endParaRPr>
          </a:p>
        </p:txBody>
      </p:sp>
      <p:sp>
        <p:nvSpPr>
          <p:cNvPr id="23554" name="内容占位符 2"/>
          <p:cNvSpPr>
            <a:spLocks noGrp="1"/>
          </p:cNvSpPr>
          <p:nvPr>
            <p:ph idx="1"/>
          </p:nvPr>
        </p:nvSpPr>
        <p:spPr>
          <a:xfrm>
            <a:off x="685800" y="1981200"/>
            <a:ext cx="8045450" cy="4114800"/>
          </a:xfrm>
          <a:ln/>
        </p:spPr>
        <p:txBody>
          <a:bodyPr vert="horz" wrap="square" lIns="91440" tIns="45720" rIns="91440" bIns="45720" anchor="t" anchorCtr="0"/>
          <a:p>
            <a:pPr eaLnBrk="1" hangingPunct="1"/>
            <a:r>
              <a:rPr lang="en-US" altLang="zh-CN">
                <a:ea typeface="宋体" panose="02010600030101010101" pitchFamily="2" charset="-122"/>
              </a:rPr>
              <a:t>2002</a:t>
            </a:r>
            <a:r>
              <a:rPr lang="zh-CN" altLang="en-US">
                <a:ea typeface="宋体" panose="02010600030101010101" pitchFamily="2" charset="-122"/>
              </a:rPr>
              <a:t>年，</a:t>
            </a:r>
            <a:r>
              <a:rPr lang="en-US" altLang="zh-CN">
                <a:ea typeface="宋体" panose="02010600030101010101" pitchFamily="2" charset="-122"/>
                <a:hlinkClick r:id="rId1"/>
              </a:rPr>
              <a:t>Paul Graham</a:t>
            </a:r>
            <a:r>
              <a:rPr lang="zh-CN" altLang="en-US">
                <a:ea typeface="宋体" panose="02010600030101010101" pitchFamily="2" charset="-122"/>
              </a:rPr>
              <a:t>提出使用</a:t>
            </a:r>
            <a:r>
              <a:rPr lang="en-US" altLang="zh-CN">
                <a:ea typeface="宋体" panose="02010600030101010101" pitchFamily="2" charset="-122"/>
              </a:rPr>
              <a:t>“</a:t>
            </a:r>
            <a:r>
              <a:rPr lang="zh-CN" altLang="en-US">
                <a:ea typeface="宋体" panose="02010600030101010101" pitchFamily="2" charset="-122"/>
              </a:rPr>
              <a:t>贝叶斯推断</a:t>
            </a:r>
            <a:r>
              <a:rPr lang="en-US" altLang="zh-CN">
                <a:ea typeface="宋体" panose="02010600030101010101" pitchFamily="2" charset="-122"/>
              </a:rPr>
              <a:t>”</a:t>
            </a:r>
            <a:r>
              <a:rPr lang="zh-CN" altLang="en-US">
                <a:ea typeface="宋体" panose="02010600030101010101" pitchFamily="2" charset="-122"/>
              </a:rPr>
              <a:t>过滤垃圾邮件。他说，这样做的效果，好得不可思议。</a:t>
            </a:r>
            <a:r>
              <a:rPr lang="en-US" altLang="zh-CN">
                <a:ea typeface="宋体" panose="02010600030101010101" pitchFamily="2" charset="-122"/>
              </a:rPr>
              <a:t>1000</a:t>
            </a:r>
            <a:r>
              <a:rPr lang="zh-CN" altLang="en-US">
                <a:ea typeface="宋体" panose="02010600030101010101" pitchFamily="2" charset="-122"/>
              </a:rPr>
              <a:t>封垃圾邮件可以过滤掉</a:t>
            </a:r>
            <a:r>
              <a:rPr lang="en-US" altLang="zh-CN">
                <a:ea typeface="宋体" panose="02010600030101010101" pitchFamily="2" charset="-122"/>
              </a:rPr>
              <a:t>995</a:t>
            </a:r>
            <a:r>
              <a:rPr lang="zh-CN" altLang="en-US">
                <a:ea typeface="宋体" panose="02010600030101010101" pitchFamily="2" charset="-122"/>
              </a:rPr>
              <a:t>封，且没有一个误判</a:t>
            </a:r>
            <a:endParaRPr lang="zh-CN" altLang="en-US">
              <a:ea typeface="宋体" panose="02010600030101010101" pitchFamily="2" charset="-122"/>
            </a:endParaRPr>
          </a:p>
          <a:p>
            <a:pPr eaLnBrk="1" hangingPunct="1"/>
            <a:r>
              <a:rPr lang="zh-CN" altLang="en-US">
                <a:ea typeface="宋体" panose="02010600030101010101" pitchFamily="2" charset="-122"/>
              </a:rPr>
              <a:t>另外，这种过滤器还具有自我学习的功能，会根据新收到的邮件，不断调整。收到的垃圾邮件越多，它的准确率就越高</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
        <p:nvSpPr>
          <p:cNvPr id="23555"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贝叶斯方法</a:t>
            </a:r>
            <a:endParaRPr lang="zh-CN" altLang="en-US">
              <a:ea typeface="宋体" panose="02010600030101010101" pitchFamily="2" charset="-122"/>
            </a:endParaRPr>
          </a:p>
        </p:txBody>
      </p:sp>
      <p:sp>
        <p:nvSpPr>
          <p:cNvPr id="24578"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贝叶斯方法将应用延伸到各个问题领域，所有需要作出概率预测的地方都可以见到贝叶斯方法的影子</a:t>
            </a:r>
            <a:endParaRPr lang="en-US" altLang="zh-CN">
              <a:ea typeface="宋体" panose="02010600030101010101" pitchFamily="2" charset="-122"/>
            </a:endParaRPr>
          </a:p>
          <a:p>
            <a:pPr eaLnBrk="1" hangingPunct="1"/>
            <a:endParaRPr lang="en-US" altLang="zh-CN">
              <a:ea typeface="宋体" panose="02010600030101010101" pitchFamily="2" charset="-122"/>
            </a:endParaRPr>
          </a:p>
          <a:p>
            <a:pPr eaLnBrk="1" hangingPunct="1"/>
            <a:r>
              <a:rPr lang="zh-CN" altLang="en-US">
                <a:ea typeface="宋体" panose="02010600030101010101" pitchFamily="2" charset="-122"/>
              </a:rPr>
              <a:t>特别地，贝叶斯是机器学习的核心方法之一</a:t>
            </a:r>
            <a:endParaRPr lang="zh-CN" altLang="en-US">
              <a:ea typeface="宋体" panose="02010600030101010101" pitchFamily="2" charset="-122"/>
            </a:endParaRPr>
          </a:p>
        </p:txBody>
      </p:sp>
      <p:sp>
        <p:nvSpPr>
          <p:cNvPr id="24579"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贝叶斯方法</a:t>
            </a:r>
            <a:endParaRPr lang="zh-CN" altLang="en-US">
              <a:ea typeface="宋体" panose="02010600030101010101" pitchFamily="2" charset="-122"/>
            </a:endParaRPr>
          </a:p>
        </p:txBody>
      </p:sp>
      <p:sp>
        <p:nvSpPr>
          <p:cNvPr id="25602" name="内容占位符 2"/>
          <p:cNvSpPr>
            <a:spLocks noGrp="1"/>
          </p:cNvSpPr>
          <p:nvPr>
            <p:ph idx="1"/>
          </p:nvPr>
        </p:nvSpPr>
        <p:spPr>
          <a:xfrm>
            <a:off x="685800" y="1981200"/>
            <a:ext cx="8089900" cy="4114800"/>
          </a:xfrm>
          <a:ln/>
        </p:spPr>
        <p:txBody>
          <a:bodyPr vert="horz" wrap="square" lIns="91440" tIns="45720" rIns="91440" bIns="45720" anchor="t" anchorCtr="0"/>
          <a:p>
            <a:pPr eaLnBrk="1" hangingPunct="1"/>
            <a:r>
              <a:rPr lang="zh-CN" altLang="en-US">
                <a:ea typeface="宋体" panose="02010600030101010101" pitchFamily="2" charset="-122"/>
              </a:rPr>
              <a:t>背后的深刻原因在于，现实世界本身就是不确定的，人类的观察能力是有局限性的</a:t>
            </a:r>
            <a:endParaRPr lang="en-US" altLang="zh-CN">
              <a:ea typeface="宋体" panose="02010600030101010101" pitchFamily="2" charset="-122"/>
            </a:endParaRPr>
          </a:p>
          <a:p>
            <a:pPr eaLnBrk="1" hangingPunct="1"/>
            <a:r>
              <a:rPr lang="zh-CN" altLang="en-US">
                <a:ea typeface="宋体" panose="02010600030101010101" pitchFamily="2" charset="-122"/>
              </a:rPr>
              <a:t>我们日常所观察到的只是事物表面上的结果，沿用刚才袋子取球的例子：</a:t>
            </a:r>
            <a:endParaRPr lang="en-US" altLang="zh-CN">
              <a:ea typeface="宋体" panose="02010600030101010101" pitchFamily="2" charset="-122"/>
            </a:endParaRPr>
          </a:p>
          <a:p>
            <a:pPr lvl="1" eaLnBrk="1" hangingPunct="1"/>
            <a:r>
              <a:rPr lang="zh-CN" altLang="en-US">
                <a:ea typeface="宋体" panose="02010600030101010101" pitchFamily="2" charset="-122"/>
              </a:rPr>
              <a:t>我们往往只能知道从里面取出来的球是什么颜色，而并不能直接看到袋子里面实际的情况</a:t>
            </a:r>
            <a:endParaRPr lang="zh-CN" altLang="en-US">
              <a:ea typeface="宋体" panose="02010600030101010101" pitchFamily="2" charset="-122"/>
            </a:endParaRPr>
          </a:p>
        </p:txBody>
      </p:sp>
      <p:sp>
        <p:nvSpPr>
          <p:cNvPr id="25603"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贝叶斯方法</a:t>
            </a:r>
            <a:endParaRPr lang="zh-CN" altLang="en-US">
              <a:ea typeface="宋体" panose="02010600030101010101" pitchFamily="2" charset="-122"/>
            </a:endParaRPr>
          </a:p>
        </p:txBody>
      </p:sp>
      <p:sp>
        <p:nvSpPr>
          <p:cNvPr id="26626" name="内容占位符 2"/>
          <p:cNvSpPr>
            <a:spLocks noGrp="1"/>
          </p:cNvSpPr>
          <p:nvPr>
            <p:ph idx="1"/>
          </p:nvPr>
        </p:nvSpPr>
        <p:spPr>
          <a:xfrm>
            <a:off x="685800" y="1981200"/>
            <a:ext cx="8193088" cy="4114800"/>
          </a:xfrm>
          <a:ln/>
        </p:spPr>
        <p:txBody>
          <a:bodyPr vert="horz" wrap="square" lIns="91440" tIns="45720" rIns="91440" bIns="45720" anchor="t" anchorCtr="0"/>
          <a:p>
            <a:pPr algn="just" eaLnBrk="1" hangingPunct="1"/>
            <a:r>
              <a:rPr lang="zh-CN" altLang="en-US">
                <a:ea typeface="宋体" panose="02010600030101010101" pitchFamily="2" charset="-122"/>
              </a:rPr>
              <a:t>这个时候，需要提供一个猜测（</a:t>
            </a:r>
            <a:r>
              <a:rPr lang="en-US" altLang="zh-CN">
                <a:solidFill>
                  <a:srgbClr val="FF0000"/>
                </a:solidFill>
                <a:ea typeface="宋体" panose="02010600030101010101" pitchFamily="2" charset="-122"/>
              </a:rPr>
              <a:t>hypothesis</a:t>
            </a:r>
            <a:r>
              <a:rPr lang="zh-CN" altLang="en-US">
                <a:ea typeface="宋体" panose="02010600030101010101" pitchFamily="2" charset="-122"/>
              </a:rPr>
              <a:t>，更为严格的说法是“假设”，）</a:t>
            </a:r>
            <a:endParaRPr lang="en-US" altLang="zh-CN">
              <a:ea typeface="宋体" panose="02010600030101010101" pitchFamily="2" charset="-122"/>
            </a:endParaRPr>
          </a:p>
          <a:p>
            <a:pPr algn="just" eaLnBrk="1" hangingPunct="1"/>
            <a:r>
              <a:rPr lang="zh-CN" altLang="en-US">
                <a:ea typeface="宋体" panose="02010600030101010101" pitchFamily="2" charset="-122"/>
              </a:rPr>
              <a:t>所谓猜测，当然就是不确定的（很可能有</a:t>
            </a:r>
            <a:r>
              <a:rPr lang="zh-CN" altLang="en-US">
                <a:solidFill>
                  <a:srgbClr val="FF0000"/>
                </a:solidFill>
                <a:ea typeface="宋体" panose="02010600030101010101" pitchFamily="2" charset="-122"/>
              </a:rPr>
              <a:t>好多种乃至无数种</a:t>
            </a:r>
            <a:r>
              <a:rPr lang="zh-CN" altLang="en-US">
                <a:ea typeface="宋体" panose="02010600030101010101" pitchFamily="2" charset="-122"/>
              </a:rPr>
              <a:t>猜测都能满足目前的观测），但选哪种好呢？需要做如下事情：</a:t>
            </a:r>
            <a:endParaRPr lang="en-US" altLang="zh-CN">
              <a:ea typeface="宋体" panose="02010600030101010101" pitchFamily="2" charset="-122"/>
            </a:endParaRPr>
          </a:p>
          <a:p>
            <a:pPr lvl="1" algn="just" eaLnBrk="1" hangingPunct="1">
              <a:buFont typeface="Monotype Sorts" pitchFamily="2" charset="2"/>
              <a:buNone/>
            </a:pPr>
            <a:r>
              <a:rPr lang="en-US" altLang="zh-CN">
                <a:ea typeface="宋体" panose="02010600030101010101" pitchFamily="2" charset="-122"/>
              </a:rPr>
              <a:t>1. </a:t>
            </a:r>
            <a:r>
              <a:rPr lang="zh-CN" altLang="en-US">
                <a:ea typeface="宋体" panose="02010600030101010101" pitchFamily="2" charset="-122"/>
              </a:rPr>
              <a:t>算出各种不同猜测的可能性大小</a:t>
            </a:r>
            <a:endParaRPr lang="en-US" altLang="zh-CN">
              <a:ea typeface="宋体" panose="02010600030101010101" pitchFamily="2" charset="-122"/>
            </a:endParaRPr>
          </a:p>
          <a:p>
            <a:pPr lvl="1" algn="just" eaLnBrk="1" hangingPunct="1">
              <a:buFont typeface="Monotype Sorts" pitchFamily="2" charset="2"/>
              <a:buNone/>
            </a:pPr>
            <a:r>
              <a:rPr lang="en-US" altLang="zh-CN">
                <a:ea typeface="宋体" panose="02010600030101010101" pitchFamily="2" charset="-122"/>
              </a:rPr>
              <a:t>2. </a:t>
            </a:r>
            <a:r>
              <a:rPr lang="zh-CN" altLang="en-US">
                <a:ea typeface="宋体" panose="02010600030101010101" pitchFamily="2" charset="-122"/>
              </a:rPr>
              <a:t>算出最靠谱（可能性最大）的猜测是什么</a:t>
            </a:r>
            <a:endParaRPr lang="zh-CN" altLang="en-US">
              <a:ea typeface="宋体" panose="02010600030101010101" pitchFamily="2" charset="-122"/>
            </a:endParaRPr>
          </a:p>
        </p:txBody>
      </p:sp>
      <p:sp>
        <p:nvSpPr>
          <p:cNvPr id="26627"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贝叶斯公式</a:t>
            </a:r>
            <a:endParaRPr lang="zh-CN" altLang="en-US">
              <a:ea typeface="宋体" panose="02010600030101010101" pitchFamily="2" charset="-122"/>
            </a:endParaRPr>
          </a:p>
        </p:txBody>
      </p:sp>
      <p:sp>
        <p:nvSpPr>
          <p:cNvPr id="27650" name="内容占位符 2"/>
          <p:cNvSpPr>
            <a:spLocks noGrp="1"/>
          </p:cNvSpPr>
          <p:nvPr>
            <p:ph idx="1"/>
          </p:nvPr>
        </p:nvSpPr>
        <p:spPr>
          <a:ln/>
        </p:spPr>
        <p:txBody>
          <a:bodyPr vert="horz" wrap="square" lIns="91440" tIns="45720" rIns="91440" bIns="45720" anchor="t" anchorCtr="0"/>
          <a:p>
            <a:pPr eaLnBrk="1" hangingPunct="1"/>
            <a:r>
              <a:rPr lang="en-US" altLang="zh-CN">
                <a:ea typeface="宋体" panose="02010600030101010101" pitchFamily="2" charset="-122"/>
              </a:rPr>
              <a:t>P(B|A) = P(A|B) * P(B) / [P(A|B) * P(B) + P(A|~B) * P(~B) ]</a:t>
            </a:r>
            <a:endParaRPr lang="zh-CN" altLang="en-US">
              <a:ea typeface="宋体" panose="02010600030101010101" pitchFamily="2" charset="-122"/>
            </a:endParaRPr>
          </a:p>
          <a:p>
            <a:pPr eaLnBrk="1" hangingPunct="1"/>
            <a:endParaRPr lang="en-US" altLang="zh-CN">
              <a:ea typeface="宋体" panose="02010600030101010101" pitchFamily="2" charset="-122"/>
            </a:endParaRPr>
          </a:p>
          <a:p>
            <a:pPr eaLnBrk="1" hangingPunct="1"/>
            <a:r>
              <a:rPr lang="zh-CN" altLang="en-US">
                <a:ea typeface="宋体" panose="02010600030101010101" pitchFamily="2" charset="-122"/>
              </a:rPr>
              <a:t>收缩起来就是：</a:t>
            </a:r>
            <a:endParaRPr lang="zh-CN" altLang="en-US">
              <a:ea typeface="宋体" panose="02010600030101010101" pitchFamily="2" charset="-122"/>
            </a:endParaRPr>
          </a:p>
          <a:p>
            <a:pPr eaLnBrk="1" hangingPunct="1">
              <a:buFont typeface="Monotype Sorts" pitchFamily="2" charset="2"/>
              <a:buNone/>
            </a:pPr>
            <a:r>
              <a:rPr lang="zh-CN" altLang="en-US">
                <a:ea typeface="宋体" panose="02010600030101010101" pitchFamily="2" charset="-122"/>
              </a:rPr>
              <a:t>    </a:t>
            </a:r>
            <a:r>
              <a:rPr lang="en-US" altLang="zh-CN">
                <a:ea typeface="宋体" panose="02010600030101010101" pitchFamily="2" charset="-122"/>
              </a:rPr>
              <a:t>P(B|A) = P(AB) / P(A)</a:t>
            </a:r>
            <a:endParaRPr lang="zh-CN" altLang="en-US">
              <a:ea typeface="宋体" panose="02010600030101010101" pitchFamily="2" charset="-122"/>
            </a:endParaRPr>
          </a:p>
          <a:p>
            <a:pPr eaLnBrk="1" hangingPunct="1">
              <a:buFont typeface="Monotype Sorts" pitchFamily="2" charset="2"/>
              <a:buNone/>
            </a:pPr>
            <a:r>
              <a:rPr lang="en-US" altLang="zh-CN">
                <a:ea typeface="宋体" panose="02010600030101010101" pitchFamily="2" charset="-122"/>
              </a:rPr>
              <a:t>    P(B|A) = P(A|B) * P(B) / P(A)</a:t>
            </a:r>
            <a:endParaRPr lang="en-US" altLang="zh-CN">
              <a:ea typeface="宋体" panose="02010600030101010101" pitchFamily="2" charset="-122"/>
            </a:endParaRPr>
          </a:p>
          <a:p>
            <a:pPr eaLnBrk="1" hangingPunct="1"/>
            <a:r>
              <a:rPr lang="zh-CN" altLang="en-US">
                <a:ea typeface="宋体" panose="02010600030101010101" pitchFamily="2" charset="-122"/>
              </a:rPr>
              <a:t>其实这个就是贝叶斯公式</a:t>
            </a:r>
            <a:endParaRPr lang="zh-CN" altLang="en-US">
              <a:ea typeface="宋体" panose="02010600030101010101" pitchFamily="2" charset="-122"/>
            </a:endParaRPr>
          </a:p>
          <a:p>
            <a:pPr eaLnBrk="1" hangingPunct="1">
              <a:buFont typeface="Monotype Sorts" pitchFamily="2" charset="2"/>
              <a:buNone/>
            </a:pPr>
            <a:r>
              <a:rPr lang="zh-CN" altLang="en-US">
                <a:ea typeface="宋体" panose="02010600030101010101" pitchFamily="2" charset="-122"/>
              </a:rPr>
              <a:t>    </a:t>
            </a:r>
            <a:endParaRPr lang="zh-CN" altLang="en-US">
              <a:ea typeface="宋体" panose="02010600030101010101" pitchFamily="2" charset="-122"/>
            </a:endParaRPr>
          </a:p>
        </p:txBody>
      </p:sp>
      <p:sp>
        <p:nvSpPr>
          <p:cNvPr id="27651"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应用贝叶斯公式的例子</a:t>
            </a:r>
            <a:endParaRPr lang="zh-CN" altLang="en-US">
              <a:ea typeface="宋体" panose="02010600030101010101" pitchFamily="2" charset="-122"/>
            </a:endParaRPr>
          </a:p>
        </p:txBody>
      </p:sp>
      <p:sp>
        <p:nvSpPr>
          <p:cNvPr id="28674"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拼写纠正</a:t>
            </a:r>
            <a:endParaRPr lang="en-US" altLang="zh-CN">
              <a:ea typeface="宋体" panose="02010600030101010101" pitchFamily="2" charset="-122"/>
            </a:endParaRPr>
          </a:p>
          <a:p>
            <a:pPr eaLnBrk="1" hangingPunct="1"/>
            <a:endParaRPr lang="en-US" altLang="zh-CN">
              <a:ea typeface="宋体" panose="02010600030101010101" pitchFamily="2" charset="-122"/>
            </a:endParaRPr>
          </a:p>
          <a:p>
            <a:pPr eaLnBrk="1" hangingPunct="1"/>
            <a:r>
              <a:rPr lang="zh-CN" altLang="en-US">
                <a:ea typeface="宋体" panose="02010600030101010101" pitchFamily="2" charset="-122"/>
              </a:rPr>
              <a:t>垃圾邮件过滤器</a:t>
            </a:r>
            <a:endParaRPr lang="en-US" altLang="zh-CN">
              <a:ea typeface="宋体" panose="02010600030101010101" pitchFamily="2" charset="-122"/>
            </a:endParaRPr>
          </a:p>
          <a:p>
            <a:pPr eaLnBrk="1" hangingPunct="1"/>
            <a:endParaRPr lang="zh-CN" altLang="en-US">
              <a:ea typeface="宋体" panose="02010600030101010101" pitchFamily="2" charset="-122"/>
            </a:endParaRPr>
          </a:p>
        </p:txBody>
      </p:sp>
      <p:sp>
        <p:nvSpPr>
          <p:cNvPr id="28675"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29698" name="内容占位符 2"/>
          <p:cNvSpPr>
            <a:spLocks noGrp="1"/>
          </p:cNvSpPr>
          <p:nvPr>
            <p:ph idx="1"/>
          </p:nvPr>
        </p:nvSpPr>
        <p:spPr>
          <a:xfrm>
            <a:off x="685800" y="1981200"/>
            <a:ext cx="8059738" cy="4114800"/>
          </a:xfrm>
          <a:ln/>
        </p:spPr>
        <p:txBody>
          <a:bodyPr vert="horz" wrap="square" lIns="91440" tIns="45720" rIns="91440" bIns="45720" anchor="t" anchorCtr="0"/>
          <a:p>
            <a:pPr eaLnBrk="1" hangingPunct="1"/>
            <a:r>
              <a:rPr lang="zh-CN" altLang="en-US">
                <a:ea typeface="宋体" panose="02010600030101010101" pitchFamily="2" charset="-122"/>
              </a:rPr>
              <a:t>问题：用户输入了一个不在字典中的单词，我们需要去猜测：“他到底真正想输入的单词是什么呢？” ，我们需要求如下概率：</a:t>
            </a:r>
            <a:endParaRPr lang="zh-CN" altLang="en-US">
              <a:ea typeface="宋体" panose="02010600030101010101" pitchFamily="2" charset="-122"/>
            </a:endParaRPr>
          </a:p>
          <a:p>
            <a:pPr eaLnBrk="1" hangingPunct="1">
              <a:buFont typeface="Monotype Sorts" pitchFamily="2" charset="2"/>
              <a:buNone/>
            </a:pPr>
            <a:r>
              <a:rPr lang="zh-CN" altLang="en-US" b="1">
                <a:ea typeface="宋体" panose="02010600030101010101" pitchFamily="2" charset="-122"/>
              </a:rPr>
              <a:t>   </a:t>
            </a:r>
            <a:r>
              <a:rPr lang="zh-CN" altLang="en-US" sz="2400" b="1">
                <a:solidFill>
                  <a:srgbClr val="FF0000"/>
                </a:solidFill>
                <a:ea typeface="宋体" panose="02010600030101010101" pitchFamily="2" charset="-122"/>
              </a:rPr>
              <a:t>          </a:t>
            </a:r>
            <a:r>
              <a:rPr lang="en-US" altLang="zh-CN" sz="2400">
                <a:solidFill>
                  <a:srgbClr val="FF0000"/>
                </a:solidFill>
                <a:ea typeface="宋体" panose="02010600030101010101" pitchFamily="2" charset="-122"/>
              </a:rPr>
              <a:t>P(</a:t>
            </a:r>
            <a:r>
              <a:rPr lang="zh-CN" altLang="en-US" sz="2400">
                <a:solidFill>
                  <a:srgbClr val="FF0000"/>
                </a:solidFill>
                <a:ea typeface="宋体" panose="02010600030101010101" pitchFamily="2" charset="-122"/>
              </a:rPr>
              <a:t>我们猜测他想输入的单词 </a:t>
            </a:r>
            <a:r>
              <a:rPr lang="en-US" altLang="zh-CN" sz="2400">
                <a:solidFill>
                  <a:srgbClr val="FF0000"/>
                </a:solidFill>
                <a:ea typeface="宋体" panose="02010600030101010101" pitchFamily="2" charset="-122"/>
              </a:rPr>
              <a:t>| </a:t>
            </a:r>
            <a:r>
              <a:rPr lang="zh-CN" altLang="en-US" sz="2400">
                <a:solidFill>
                  <a:srgbClr val="FF0000"/>
                </a:solidFill>
                <a:ea typeface="宋体" panose="02010600030101010101" pitchFamily="2" charset="-122"/>
              </a:rPr>
              <a:t>他实际输入的单词</a:t>
            </a:r>
            <a:r>
              <a:rPr lang="en-US" altLang="zh-CN" sz="2400">
                <a:solidFill>
                  <a:srgbClr val="FF0000"/>
                </a:solidFill>
                <a:ea typeface="宋体" panose="02010600030101010101" pitchFamily="2" charset="-122"/>
              </a:rPr>
              <a:t>)</a:t>
            </a:r>
            <a:endParaRPr lang="zh-CN" altLang="en-US" sz="2400">
              <a:solidFill>
                <a:srgbClr val="FF0000"/>
              </a:solidFill>
              <a:ea typeface="宋体" panose="02010600030101010101" pitchFamily="2" charset="-122"/>
            </a:endParaRPr>
          </a:p>
          <a:p>
            <a:pPr eaLnBrk="1" hangingPunct="1"/>
            <a:r>
              <a:rPr lang="zh-CN" altLang="en-US">
                <a:ea typeface="宋体" panose="02010600030101010101" pitchFamily="2" charset="-122"/>
              </a:rPr>
              <a:t>并找出那个使得这个概率最大的猜测单词</a:t>
            </a:r>
            <a:endParaRPr lang="zh-CN" altLang="en-US">
              <a:ea typeface="宋体" panose="02010600030101010101" pitchFamily="2" charset="-122"/>
            </a:endParaRPr>
          </a:p>
        </p:txBody>
      </p:sp>
      <p:sp>
        <p:nvSpPr>
          <p:cNvPr id="29699"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0722"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显然，我们的猜测未必是唯一的，比如用户输入： </a:t>
            </a:r>
            <a:r>
              <a:rPr lang="en-US" altLang="zh-CN">
                <a:ea typeface="宋体" panose="02010600030101010101" pitchFamily="2" charset="-122"/>
              </a:rPr>
              <a:t>thew </a:t>
            </a:r>
            <a:r>
              <a:rPr lang="zh-CN" altLang="en-US">
                <a:ea typeface="宋体" panose="02010600030101010101" pitchFamily="2" charset="-122"/>
              </a:rPr>
              <a:t>，那么他到底是想输入 </a:t>
            </a:r>
            <a:r>
              <a:rPr lang="en-US" altLang="zh-CN">
                <a:ea typeface="宋体" panose="02010600030101010101" pitchFamily="2" charset="-122"/>
              </a:rPr>
              <a:t>the </a:t>
            </a:r>
            <a:r>
              <a:rPr lang="zh-CN" altLang="en-US">
                <a:ea typeface="宋体" panose="02010600030101010101" pitchFamily="2" charset="-122"/>
              </a:rPr>
              <a:t>，还是想输入 </a:t>
            </a:r>
            <a:r>
              <a:rPr lang="en-US" altLang="zh-CN">
                <a:ea typeface="宋体" panose="02010600030101010101" pitchFamily="2" charset="-122"/>
              </a:rPr>
              <a:t>thaw </a:t>
            </a:r>
            <a:r>
              <a:rPr lang="zh-CN" altLang="en-US">
                <a:ea typeface="宋体" panose="02010600030101010101" pitchFamily="2" charset="-122"/>
              </a:rPr>
              <a:t>？到底哪个猜测可能性更大呢？</a:t>
            </a:r>
            <a:endParaRPr lang="en-US" altLang="zh-CN">
              <a:ea typeface="宋体" panose="02010600030101010101" pitchFamily="2" charset="-122"/>
            </a:endParaRPr>
          </a:p>
          <a:p>
            <a:pPr eaLnBrk="1" hangingPunct="1"/>
            <a:r>
              <a:rPr lang="zh-CN" altLang="en-US">
                <a:ea typeface="宋体" panose="02010600030101010101" pitchFamily="2" charset="-122"/>
              </a:rPr>
              <a:t>幸运的是我们可以用贝叶斯公式来直接求出它们各自的概率</a:t>
            </a:r>
            <a:endParaRPr lang="en-US" altLang="zh-CN">
              <a:ea typeface="宋体" panose="02010600030101010101" pitchFamily="2" charset="-122"/>
            </a:endParaRPr>
          </a:p>
          <a:p>
            <a:pPr eaLnBrk="1" hangingPunct="1"/>
            <a:endParaRPr lang="zh-CN" altLang="en-US">
              <a:ea typeface="宋体" panose="02010600030101010101" pitchFamily="2" charset="-122"/>
            </a:endParaRPr>
          </a:p>
        </p:txBody>
      </p:sp>
      <p:sp>
        <p:nvSpPr>
          <p:cNvPr id="30723"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1746" name="内容占位符 2"/>
          <p:cNvSpPr>
            <a:spLocks noGrp="1"/>
          </p:cNvSpPr>
          <p:nvPr>
            <p:ph idx="1"/>
          </p:nvPr>
        </p:nvSpPr>
        <p:spPr>
          <a:ln/>
        </p:spPr>
        <p:txBody>
          <a:bodyPr vert="horz" wrap="square" lIns="91440" tIns="45720" rIns="91440" bIns="45720" anchor="t" anchorCtr="0"/>
          <a:p>
            <a:pPr algn="just" eaLnBrk="1" hangingPunct="1"/>
            <a:r>
              <a:rPr lang="zh-CN" altLang="en-US">
                <a:ea typeface="宋体" panose="02010600030101010101" pitchFamily="2" charset="-122"/>
              </a:rPr>
              <a:t>不妨将我们的多个猜测记为 </a:t>
            </a:r>
            <a:r>
              <a:rPr lang="en-US" altLang="zh-CN">
                <a:ea typeface="宋体" panose="02010600030101010101" pitchFamily="2" charset="-122"/>
              </a:rPr>
              <a:t>h1</a:t>
            </a:r>
            <a:r>
              <a:rPr lang="zh-CN" altLang="en-US">
                <a:ea typeface="宋体" panose="02010600030101010101" pitchFamily="2" charset="-122"/>
              </a:rPr>
              <a:t>，</a:t>
            </a:r>
            <a:r>
              <a:rPr lang="en-US" altLang="zh-CN">
                <a:ea typeface="宋体" panose="02010600030101010101" pitchFamily="2" charset="-122"/>
              </a:rPr>
              <a:t>h2</a:t>
            </a:r>
            <a:r>
              <a:rPr lang="zh-CN" altLang="en-US">
                <a:ea typeface="宋体" panose="02010600030101010101" pitchFamily="2" charset="-122"/>
              </a:rPr>
              <a:t>，</a:t>
            </a:r>
            <a:r>
              <a:rPr lang="en-US" altLang="zh-CN">
                <a:ea typeface="宋体" panose="02010600030101010101" pitchFamily="2" charset="-122"/>
              </a:rPr>
              <a:t>. .. </a:t>
            </a:r>
            <a:r>
              <a:rPr lang="zh-CN" altLang="en-US">
                <a:ea typeface="宋体" panose="02010600030101010101" pitchFamily="2" charset="-122"/>
              </a:rPr>
              <a:t>（ </a:t>
            </a:r>
            <a:r>
              <a:rPr lang="en-US" altLang="zh-CN">
                <a:ea typeface="宋体" panose="02010600030101010101" pitchFamily="2" charset="-122"/>
              </a:rPr>
              <a:t>h </a:t>
            </a:r>
            <a:r>
              <a:rPr lang="zh-CN" altLang="en-US">
                <a:ea typeface="宋体" panose="02010600030101010101" pitchFamily="2" charset="-122"/>
              </a:rPr>
              <a:t>代表 </a:t>
            </a:r>
            <a:r>
              <a:rPr lang="en-US" altLang="zh-CN">
                <a:ea typeface="宋体" panose="02010600030101010101" pitchFamily="2" charset="-122"/>
              </a:rPr>
              <a:t>hypothesis</a:t>
            </a:r>
            <a:r>
              <a:rPr lang="zh-CN" altLang="en-US">
                <a:ea typeface="宋体" panose="02010600030101010101" pitchFamily="2" charset="-122"/>
              </a:rPr>
              <a:t>），它们都属于一个有限且离散的猜测空间</a:t>
            </a:r>
            <a:r>
              <a:rPr lang="en-US" altLang="zh-CN">
                <a:ea typeface="宋体" panose="02010600030101010101" pitchFamily="2" charset="-122"/>
              </a:rPr>
              <a:t>H</a:t>
            </a:r>
            <a:r>
              <a:rPr lang="zh-CN" altLang="en-US">
                <a:ea typeface="宋体" panose="02010600030101010101" pitchFamily="2" charset="-122"/>
              </a:rPr>
              <a:t>（单词总共就那么多），将用户实际输入的单词记为 </a:t>
            </a:r>
            <a:r>
              <a:rPr lang="en-US" altLang="zh-CN">
                <a:ea typeface="宋体" panose="02010600030101010101" pitchFamily="2" charset="-122"/>
              </a:rPr>
              <a:t>D</a:t>
            </a:r>
            <a:r>
              <a:rPr lang="zh-CN" altLang="en-US">
                <a:ea typeface="宋体" panose="02010600030101010101" pitchFamily="2" charset="-122"/>
              </a:rPr>
              <a:t>（ </a:t>
            </a:r>
            <a:r>
              <a:rPr lang="en-US" altLang="zh-CN">
                <a:ea typeface="宋体" panose="02010600030101010101" pitchFamily="2" charset="-122"/>
              </a:rPr>
              <a:t>D </a:t>
            </a:r>
            <a:r>
              <a:rPr lang="zh-CN" altLang="en-US">
                <a:ea typeface="宋体" panose="02010600030101010101" pitchFamily="2" charset="-122"/>
              </a:rPr>
              <a:t>代表 </a:t>
            </a:r>
            <a:r>
              <a:rPr lang="en-US" altLang="zh-CN">
                <a:ea typeface="宋体" panose="02010600030101010101" pitchFamily="2" charset="-122"/>
              </a:rPr>
              <a:t>Data </a:t>
            </a:r>
            <a:r>
              <a:rPr lang="zh-CN" altLang="en-US">
                <a:ea typeface="宋体" panose="02010600030101010101" pitchFamily="2" charset="-122"/>
              </a:rPr>
              <a:t>，即观测数据），于是需要求：</a:t>
            </a:r>
            <a:endParaRPr lang="zh-CN" altLang="en-US">
              <a:ea typeface="宋体" panose="02010600030101010101" pitchFamily="2" charset="-122"/>
            </a:endParaRPr>
          </a:p>
          <a:p>
            <a:pPr lvl="1" algn="just" eaLnBrk="1" hangingPunct="1"/>
            <a:r>
              <a:rPr lang="en-US" altLang="zh-CN" sz="2400">
                <a:ea typeface="宋体" panose="02010600030101010101" pitchFamily="2" charset="-122"/>
              </a:rPr>
              <a:t>P(</a:t>
            </a:r>
            <a:r>
              <a:rPr lang="zh-CN" altLang="en-US" sz="2400">
                <a:ea typeface="宋体" panose="02010600030101010101" pitchFamily="2" charset="-122"/>
              </a:rPr>
              <a:t>我们的猜测</a:t>
            </a:r>
            <a:r>
              <a:rPr lang="en-US" altLang="zh-CN" sz="2400">
                <a:ea typeface="宋体" panose="02010600030101010101" pitchFamily="2" charset="-122"/>
              </a:rPr>
              <a:t>1 | </a:t>
            </a:r>
            <a:r>
              <a:rPr lang="zh-CN" altLang="en-US" sz="2400">
                <a:ea typeface="宋体" panose="02010600030101010101" pitchFamily="2" charset="-122"/>
              </a:rPr>
              <a:t>他实际输入的单词</a:t>
            </a:r>
            <a:r>
              <a:rPr lang="en-US" altLang="zh-CN" sz="2400">
                <a:ea typeface="宋体" panose="02010600030101010101" pitchFamily="2" charset="-122"/>
              </a:rPr>
              <a:t>)</a:t>
            </a:r>
            <a:endParaRPr lang="en-US" altLang="zh-CN" sz="2400">
              <a:ea typeface="宋体" panose="02010600030101010101" pitchFamily="2" charset="-122"/>
            </a:endParaRPr>
          </a:p>
          <a:p>
            <a:pPr lvl="1" algn="just" eaLnBrk="1" hangingPunct="1"/>
            <a:r>
              <a:rPr lang="en-US" altLang="zh-CN" sz="2400">
                <a:ea typeface="宋体" panose="02010600030101010101" pitchFamily="2" charset="-122"/>
              </a:rPr>
              <a:t>P(</a:t>
            </a:r>
            <a:r>
              <a:rPr lang="zh-CN" altLang="en-US" sz="2400">
                <a:ea typeface="宋体" panose="02010600030101010101" pitchFamily="2" charset="-122"/>
              </a:rPr>
              <a:t>我们的猜测</a:t>
            </a:r>
            <a:r>
              <a:rPr lang="en-US" altLang="zh-CN" sz="2400">
                <a:ea typeface="宋体" panose="02010600030101010101" pitchFamily="2" charset="-122"/>
              </a:rPr>
              <a:t>2 | </a:t>
            </a:r>
            <a:r>
              <a:rPr lang="zh-CN" altLang="en-US" sz="2400">
                <a:ea typeface="宋体" panose="02010600030101010101" pitchFamily="2" charset="-122"/>
              </a:rPr>
              <a:t>他实际输入的单词</a:t>
            </a:r>
            <a:r>
              <a:rPr lang="en-US" altLang="zh-CN" sz="2400">
                <a:ea typeface="宋体" panose="02010600030101010101" pitchFamily="2" charset="-122"/>
              </a:rPr>
              <a:t>)</a:t>
            </a:r>
            <a:endParaRPr lang="en-US" altLang="zh-CN" sz="2400">
              <a:ea typeface="宋体" panose="02010600030101010101" pitchFamily="2" charset="-122"/>
            </a:endParaRPr>
          </a:p>
          <a:p>
            <a:pPr lvl="1" algn="just" eaLnBrk="1" hangingPunct="1"/>
            <a:r>
              <a:rPr lang="en-US" altLang="zh-CN" sz="2400">
                <a:ea typeface="宋体" panose="02010600030101010101" pitchFamily="2" charset="-122"/>
              </a:rPr>
              <a:t>P(</a:t>
            </a:r>
            <a:r>
              <a:rPr lang="zh-CN" altLang="en-US" sz="2400">
                <a:ea typeface="宋体" panose="02010600030101010101" pitchFamily="2" charset="-122"/>
              </a:rPr>
              <a:t>我们的猜测</a:t>
            </a:r>
            <a:r>
              <a:rPr lang="en-US" altLang="zh-CN" sz="2400">
                <a:ea typeface="宋体" panose="02010600030101010101" pitchFamily="2" charset="-122"/>
              </a:rPr>
              <a:t>3 | </a:t>
            </a:r>
            <a:r>
              <a:rPr lang="zh-CN" altLang="en-US" sz="2400">
                <a:ea typeface="宋体" panose="02010600030101010101" pitchFamily="2" charset="-122"/>
              </a:rPr>
              <a:t>他实际输入的单词</a:t>
            </a:r>
            <a:r>
              <a:rPr lang="en-US" altLang="zh-CN" sz="2400">
                <a:ea typeface="宋体" panose="02010600030101010101" pitchFamily="2" charset="-122"/>
              </a:rPr>
              <a:t>)</a:t>
            </a:r>
            <a:endParaRPr lang="en-US" altLang="zh-CN" sz="2400">
              <a:ea typeface="宋体" panose="02010600030101010101" pitchFamily="2" charset="-122"/>
            </a:endParaRPr>
          </a:p>
          <a:p>
            <a:pPr lvl="1" algn="just" eaLnBrk="1" hangingPunct="1"/>
            <a:r>
              <a:rPr lang="en-US" altLang="zh-CN" sz="2400">
                <a:ea typeface="宋体" panose="02010600030101010101" pitchFamily="2" charset="-122"/>
              </a:rPr>
              <a:t>…</a:t>
            </a:r>
            <a:endParaRPr lang="en-US" altLang="zh-CN" sz="2400">
              <a:ea typeface="宋体" panose="02010600030101010101" pitchFamily="2" charset="-122"/>
            </a:endParaRPr>
          </a:p>
          <a:p>
            <a:pPr lvl="1" algn="just" eaLnBrk="1" hangingPunct="1"/>
            <a:endParaRPr lang="en-US" altLang="zh-CN" sz="2400" b="1">
              <a:ea typeface="宋体" panose="02010600030101010101" pitchFamily="2" charset="-122"/>
            </a:endParaRPr>
          </a:p>
          <a:p>
            <a:pPr eaLnBrk="1" hangingPunct="1"/>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
        <p:nvSpPr>
          <p:cNvPr id="31747"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2770" name="内容占位符 2"/>
          <p:cNvSpPr>
            <a:spLocks noGrp="1"/>
          </p:cNvSpPr>
          <p:nvPr>
            <p:ph idx="1"/>
          </p:nvPr>
        </p:nvSpPr>
        <p:spPr>
          <a:ln/>
        </p:spPr>
        <p:txBody>
          <a:bodyPr vert="horz" wrap="square" lIns="91440" tIns="45720" rIns="91440" bIns="45720" anchor="t" anchorCtr="0"/>
          <a:p>
            <a:pPr algn="just" eaLnBrk="1" hangingPunct="1"/>
            <a:r>
              <a:rPr lang="zh-CN" altLang="en-US">
                <a:ea typeface="宋体" panose="02010600030101010101" pitchFamily="2" charset="-122"/>
              </a:rPr>
              <a:t>可以抽象地记为：</a:t>
            </a:r>
            <a:endParaRPr lang="zh-CN" altLang="en-US">
              <a:ea typeface="宋体" panose="02010600030101010101" pitchFamily="2" charset="-122"/>
            </a:endParaRPr>
          </a:p>
          <a:p>
            <a:pPr lvl="1" algn="just" eaLnBrk="1" hangingPunct="1"/>
            <a:r>
              <a:rPr lang="en-US" altLang="zh-CN">
                <a:ea typeface="宋体" panose="02010600030101010101" pitchFamily="2" charset="-122"/>
              </a:rPr>
              <a:t>P(h1 | D)</a:t>
            </a:r>
            <a:endParaRPr lang="en-US" altLang="zh-CN">
              <a:ea typeface="宋体" panose="02010600030101010101" pitchFamily="2" charset="-122"/>
            </a:endParaRPr>
          </a:p>
          <a:p>
            <a:pPr lvl="1" algn="just" eaLnBrk="1" hangingPunct="1"/>
            <a:r>
              <a:rPr lang="en-US" altLang="zh-CN">
                <a:ea typeface="宋体" panose="02010600030101010101" pitchFamily="2" charset="-122"/>
              </a:rPr>
              <a:t>P(h2 | D)</a:t>
            </a:r>
            <a:endParaRPr lang="en-US" altLang="zh-CN">
              <a:ea typeface="宋体" panose="02010600030101010101" pitchFamily="2" charset="-122"/>
            </a:endParaRPr>
          </a:p>
          <a:p>
            <a:pPr lvl="1" algn="just" eaLnBrk="1" hangingPunct="1"/>
            <a:r>
              <a:rPr lang="en-US" altLang="zh-CN">
                <a:ea typeface="宋体" panose="02010600030101010101" pitchFamily="2" charset="-122"/>
              </a:rPr>
              <a:t>P(h3 | D)</a:t>
            </a:r>
            <a:endParaRPr lang="en-US" altLang="zh-CN">
              <a:ea typeface="宋体" panose="02010600030101010101" pitchFamily="2" charset="-122"/>
            </a:endParaRPr>
          </a:p>
          <a:p>
            <a:pPr lvl="1" algn="just" eaLnBrk="1" hangingPunct="1"/>
            <a:r>
              <a:rPr lang="en-US" altLang="zh-CN">
                <a:ea typeface="宋体" panose="02010600030101010101" pitchFamily="2" charset="-122"/>
              </a:rPr>
              <a:t>…</a:t>
            </a:r>
            <a:endParaRPr lang="en-US" altLang="zh-CN">
              <a:ea typeface="宋体" panose="02010600030101010101" pitchFamily="2" charset="-122"/>
            </a:endParaRPr>
          </a:p>
          <a:p>
            <a:pPr lvl="1" algn="just" eaLnBrk="1" hangingPunct="1">
              <a:buFont typeface="Monotype Sorts" pitchFamily="2" charset="2"/>
              <a:buNone/>
            </a:pPr>
            <a:endParaRPr lang="zh-CN" altLang="en-US">
              <a:ea typeface="宋体" panose="02010600030101010101" pitchFamily="2" charset="-122"/>
            </a:endParaRPr>
          </a:p>
          <a:p>
            <a:pPr eaLnBrk="1" hangingPunct="1">
              <a:buFont typeface="Wingdings" panose="05000000000000000000" pitchFamily="2" charset="2"/>
              <a:buChar char="n"/>
            </a:pPr>
            <a:endParaRPr lang="zh-CN" altLang="en-US">
              <a:ea typeface="宋体" panose="02010600030101010101" pitchFamily="2" charset="-122"/>
            </a:endParaRPr>
          </a:p>
        </p:txBody>
      </p:sp>
      <p:sp>
        <p:nvSpPr>
          <p:cNvPr id="32771"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3794"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不妨统一记为：</a:t>
            </a:r>
            <a:endParaRPr lang="zh-CN" altLang="en-US">
              <a:ea typeface="宋体" panose="02010600030101010101" pitchFamily="2" charset="-122"/>
            </a:endParaRPr>
          </a:p>
          <a:p>
            <a:pPr eaLnBrk="1" hangingPunct="1">
              <a:buFont typeface="Monotype Sorts" pitchFamily="2" charset="2"/>
              <a:buNone/>
            </a:pPr>
            <a:r>
              <a:rPr lang="en-US" altLang="zh-CN">
                <a:ea typeface="宋体" panose="02010600030101010101" pitchFamily="2" charset="-122"/>
              </a:rPr>
              <a:t>       P(h | D)</a:t>
            </a:r>
            <a:endParaRPr lang="zh-CN" altLang="en-US">
              <a:ea typeface="宋体" panose="02010600030101010101" pitchFamily="2" charset="-122"/>
            </a:endParaRPr>
          </a:p>
          <a:p>
            <a:pPr eaLnBrk="1" hangingPunct="1"/>
            <a:r>
              <a:rPr lang="zh-CN" altLang="en-US">
                <a:ea typeface="宋体" panose="02010600030101010101" pitchFamily="2" charset="-122"/>
              </a:rPr>
              <a:t>运用一次贝叶斯公式，我们得到：</a:t>
            </a:r>
            <a:endParaRPr lang="zh-CN" altLang="en-US">
              <a:ea typeface="宋体" panose="02010600030101010101" pitchFamily="2" charset="-122"/>
            </a:endParaRPr>
          </a:p>
          <a:p>
            <a:pPr eaLnBrk="1" hangingPunct="1">
              <a:buFont typeface="Monotype Sorts" pitchFamily="2" charset="2"/>
              <a:buNone/>
            </a:pPr>
            <a:r>
              <a:rPr lang="en-US" altLang="en-US"/>
              <a:t>       P(h | D) = P(h) * P(D | h) / P(D)</a:t>
            </a:r>
            <a:endParaRPr lang="en-US" altLang="en-US"/>
          </a:p>
          <a:p>
            <a:pPr eaLnBrk="1" hangingPunct="1">
              <a:buFont typeface="Monotype Sorts" pitchFamily="2" charset="2"/>
              <a:buNone/>
            </a:pPr>
            <a:endParaRPr lang="zh-CN" altLang="en-US">
              <a:ea typeface="宋体" panose="02010600030101010101" pitchFamily="2" charset="-122"/>
            </a:endParaRPr>
          </a:p>
          <a:p>
            <a:pPr eaLnBrk="1" hangingPunct="1">
              <a:buFont typeface="Wingdings" panose="05000000000000000000" pitchFamily="2" charset="2"/>
              <a:buChar char="n"/>
            </a:pPr>
            <a:endParaRPr lang="zh-CN" altLang="en-US">
              <a:ea typeface="宋体" panose="02010600030101010101" pitchFamily="2" charset="-122"/>
            </a:endParaRPr>
          </a:p>
        </p:txBody>
      </p:sp>
      <p:sp>
        <p:nvSpPr>
          <p:cNvPr id="33795"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4818" name="内容占位符 2"/>
          <p:cNvSpPr>
            <a:spLocks noGrp="1"/>
          </p:cNvSpPr>
          <p:nvPr>
            <p:ph idx="1"/>
          </p:nvPr>
        </p:nvSpPr>
        <p:spPr>
          <a:ln/>
        </p:spPr>
        <p:txBody>
          <a:bodyPr vert="horz" wrap="square" lIns="91440" tIns="45720" rIns="91440" bIns="45720" anchor="t" anchorCtr="0"/>
          <a:p>
            <a:pPr algn="just" eaLnBrk="1" hangingPunct="1"/>
            <a:r>
              <a:rPr lang="zh-CN" altLang="en-US">
                <a:ea typeface="宋体" panose="02010600030101010101" pitchFamily="2" charset="-122"/>
              </a:rPr>
              <a:t>对于不同的具体猜测 </a:t>
            </a:r>
            <a:r>
              <a:rPr lang="en-US" altLang="zh-CN">
                <a:ea typeface="宋体" panose="02010600030101010101" pitchFamily="2" charset="-122"/>
              </a:rPr>
              <a:t>h1, h2, h3 .. </a:t>
            </a:r>
            <a:r>
              <a:rPr lang="zh-CN" altLang="en-US">
                <a:ea typeface="宋体" panose="02010600030101010101" pitchFamily="2" charset="-122"/>
              </a:rPr>
              <a:t>，</a:t>
            </a:r>
            <a:r>
              <a:rPr lang="en-US" altLang="zh-CN">
                <a:ea typeface="宋体" panose="02010600030101010101" pitchFamily="2" charset="-122"/>
              </a:rPr>
              <a:t>P(D) </a:t>
            </a:r>
            <a:r>
              <a:rPr lang="zh-CN" altLang="en-US">
                <a:ea typeface="宋体" panose="02010600030101010101" pitchFamily="2" charset="-122"/>
              </a:rPr>
              <a:t>都是一样的，所以在比较 </a:t>
            </a:r>
            <a:r>
              <a:rPr lang="en-US" altLang="zh-CN">
                <a:ea typeface="宋体" panose="02010600030101010101" pitchFamily="2" charset="-122"/>
              </a:rPr>
              <a:t>P(h1|D) </a:t>
            </a:r>
            <a:r>
              <a:rPr lang="zh-CN" altLang="en-US">
                <a:ea typeface="宋体" panose="02010600030101010101" pitchFamily="2" charset="-122"/>
              </a:rPr>
              <a:t>和 </a:t>
            </a:r>
            <a:r>
              <a:rPr lang="en-US" altLang="zh-CN">
                <a:ea typeface="宋体" panose="02010600030101010101" pitchFamily="2" charset="-122"/>
              </a:rPr>
              <a:t>P(h2 | D) </a:t>
            </a:r>
            <a:r>
              <a:rPr lang="zh-CN" altLang="en-US">
                <a:ea typeface="宋体" panose="02010600030101010101" pitchFamily="2" charset="-122"/>
              </a:rPr>
              <a:t>时可忽略。即只需知道：</a:t>
            </a:r>
            <a:endParaRPr lang="en-US" altLang="zh-CN">
              <a:ea typeface="宋体" panose="02010600030101010101" pitchFamily="2" charset="-122"/>
            </a:endParaRPr>
          </a:p>
          <a:p>
            <a:pPr lvl="1" algn="just" eaLnBrk="1" hangingPunct="1"/>
            <a:r>
              <a:rPr lang="en-US" altLang="zh-CN">
                <a:ea typeface="宋体" panose="02010600030101010101" pitchFamily="2" charset="-122"/>
              </a:rPr>
              <a:t>P(h | D) ∝ P(h) * P(D | h)</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
        <p:nvSpPr>
          <p:cNvPr id="34819"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5842" name="内容占位符 2"/>
          <p:cNvSpPr>
            <a:spLocks noGrp="1"/>
          </p:cNvSpPr>
          <p:nvPr>
            <p:ph idx="1"/>
          </p:nvPr>
        </p:nvSpPr>
        <p:spPr>
          <a:ln/>
        </p:spPr>
        <p:txBody>
          <a:bodyPr vert="horz" wrap="square" lIns="91440" tIns="45720" rIns="91440" bIns="45720" anchor="t" anchorCtr="0"/>
          <a:p>
            <a:pPr algn="just" eaLnBrk="1" hangingPunct="1"/>
            <a:r>
              <a:rPr lang="zh-CN" altLang="en-US">
                <a:ea typeface="宋体" panose="02010600030101010101" pitchFamily="2" charset="-122"/>
              </a:rPr>
              <a:t>这个式子的抽象含义是：对于给定观测数据，一个猜测是好是坏，取决于以下两项的乘积：</a:t>
            </a:r>
            <a:endParaRPr lang="en-US" altLang="zh-CN">
              <a:ea typeface="宋体" panose="02010600030101010101" pitchFamily="2" charset="-122"/>
            </a:endParaRPr>
          </a:p>
          <a:p>
            <a:pPr lvl="1" algn="just" eaLnBrk="1" hangingPunct="1"/>
            <a:r>
              <a:rPr lang="zh-CN" altLang="en-US">
                <a:ea typeface="宋体" panose="02010600030101010101" pitchFamily="2" charset="-122"/>
              </a:rPr>
              <a:t>“这个猜测本身独立的可能性大小（先验概率，</a:t>
            </a:r>
            <a:r>
              <a:rPr lang="en-US" altLang="zh-CN">
                <a:ea typeface="宋体" panose="02010600030101010101" pitchFamily="2" charset="-122"/>
              </a:rPr>
              <a:t>Prior </a:t>
            </a:r>
            <a:r>
              <a:rPr lang="zh-CN" altLang="en-US">
                <a:ea typeface="宋体" panose="02010600030101010101" pitchFamily="2" charset="-122"/>
              </a:rPr>
              <a:t>）”</a:t>
            </a:r>
            <a:endParaRPr lang="zh-CN" altLang="en-US">
              <a:ea typeface="宋体" panose="02010600030101010101" pitchFamily="2" charset="-122"/>
            </a:endParaRPr>
          </a:p>
          <a:p>
            <a:pPr lvl="1" algn="just" eaLnBrk="1" hangingPunct="1"/>
            <a:r>
              <a:rPr lang="zh-CN" altLang="en-US">
                <a:ea typeface="宋体" panose="02010600030101010101" pitchFamily="2" charset="-122"/>
              </a:rPr>
              <a:t>“这个猜测生成我们观测到的数据的可能性大小”（似然，</a:t>
            </a:r>
            <a:r>
              <a:rPr lang="en-US" altLang="zh-CN">
                <a:ea typeface="宋体" panose="02010600030101010101" pitchFamily="2" charset="-122"/>
              </a:rPr>
              <a:t>Likelihood </a:t>
            </a:r>
            <a:r>
              <a:rPr lang="zh-CN" altLang="en-US">
                <a:ea typeface="宋体" panose="02010600030101010101" pitchFamily="2" charset="-122"/>
              </a:rPr>
              <a:t>）</a:t>
            </a:r>
            <a:endParaRPr lang="en-US" altLang="zh-CN">
              <a:ea typeface="宋体" panose="02010600030101010101" pitchFamily="2" charset="-122"/>
            </a:endParaRPr>
          </a:p>
        </p:txBody>
      </p:sp>
      <p:sp>
        <p:nvSpPr>
          <p:cNvPr id="35843"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35844" name="矩形 4"/>
          <p:cNvSpPr/>
          <p:nvPr/>
        </p:nvSpPr>
        <p:spPr>
          <a:xfrm>
            <a:off x="5692775" y="87313"/>
            <a:ext cx="3451225" cy="369887"/>
          </a:xfrm>
          <a:prstGeom prst="rect">
            <a:avLst/>
          </a:prstGeom>
          <a:noFill/>
          <a:ln w="9525">
            <a:noFill/>
          </a:ln>
        </p:spPr>
        <p:txBody>
          <a:bodyPr lIns="91351" tIns="45672" rIns="91351" bIns="45672">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457200" lvl="1" indent="0" algn="just" eaLnBrk="1" hangingPunct="1">
              <a:spcBef>
                <a:spcPct val="0"/>
              </a:spcBef>
              <a:buClrTx/>
              <a:buSzTx/>
              <a:buFontTx/>
              <a:buNone/>
            </a:pPr>
            <a:r>
              <a:rPr lang="en-US" altLang="zh-CN" sz="2400">
                <a:ea typeface="宋体" panose="02010600030101010101" pitchFamily="2" charset="-122"/>
              </a:rPr>
              <a:t>P(h | D) ∝ P(h) * P(D | h)</a:t>
            </a:r>
            <a:endParaRPr lang="zh-CN" altLang="en-US" sz="2400">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6866" name="内容占位符 2"/>
          <p:cNvSpPr>
            <a:spLocks noGrp="1"/>
          </p:cNvSpPr>
          <p:nvPr>
            <p:ph idx="1"/>
          </p:nvPr>
        </p:nvSpPr>
        <p:spPr>
          <a:xfrm>
            <a:off x="685800" y="1981200"/>
            <a:ext cx="8458200" cy="4114800"/>
          </a:xfrm>
          <a:ln/>
        </p:spPr>
        <p:txBody>
          <a:bodyPr vert="horz" wrap="square" lIns="91440" tIns="45720" rIns="91440" bIns="45720" anchor="t" anchorCtr="0"/>
          <a:p>
            <a:pPr eaLnBrk="1" hangingPunct="1"/>
            <a:r>
              <a:rPr lang="zh-CN" altLang="en-US">
                <a:ea typeface="宋体" panose="02010600030101010101" pitchFamily="2" charset="-122"/>
              </a:rPr>
              <a:t>具体到前面的</a:t>
            </a:r>
            <a:r>
              <a:rPr lang="en-US" altLang="zh-CN">
                <a:ea typeface="宋体" panose="02010600030101010101" pitchFamily="2" charset="-122"/>
              </a:rPr>
              <a:t>thew </a:t>
            </a:r>
            <a:r>
              <a:rPr lang="zh-CN" altLang="en-US">
                <a:ea typeface="宋体" panose="02010600030101010101" pitchFamily="2" charset="-122"/>
              </a:rPr>
              <a:t>例子上，含义就是，用户实际是想输入 </a:t>
            </a:r>
            <a:r>
              <a:rPr lang="en-US" altLang="zh-CN">
                <a:ea typeface="宋体" panose="02010600030101010101" pitchFamily="2" charset="-122"/>
              </a:rPr>
              <a:t>the </a:t>
            </a:r>
            <a:r>
              <a:rPr lang="zh-CN" altLang="en-US">
                <a:ea typeface="宋体" panose="02010600030101010101" pitchFamily="2" charset="-122"/>
              </a:rPr>
              <a:t>的可能性大小取决于如下两项的乘积：</a:t>
            </a:r>
            <a:endParaRPr lang="en-US" altLang="zh-CN">
              <a:ea typeface="宋体" panose="02010600030101010101" pitchFamily="2" charset="-122"/>
            </a:endParaRPr>
          </a:p>
          <a:p>
            <a:pPr lvl="1" eaLnBrk="1" hangingPunct="1"/>
            <a:r>
              <a:rPr lang="zh-CN" altLang="en-US">
                <a:ea typeface="宋体" panose="02010600030101010101" pitchFamily="2" charset="-122"/>
              </a:rPr>
              <a:t> </a:t>
            </a:r>
            <a:r>
              <a:rPr lang="en-US" altLang="zh-CN">
                <a:ea typeface="宋体" panose="02010600030101010101" pitchFamily="2" charset="-122"/>
              </a:rPr>
              <a:t>the </a:t>
            </a:r>
            <a:r>
              <a:rPr lang="zh-CN" altLang="en-US">
                <a:ea typeface="宋体" panose="02010600030101010101" pitchFamily="2" charset="-122"/>
              </a:rPr>
              <a:t>本身在词汇表中被使用的可能性（频繁程度）大小（先验概率）</a:t>
            </a:r>
            <a:endParaRPr lang="en-US" altLang="zh-CN">
              <a:ea typeface="宋体" panose="02010600030101010101" pitchFamily="2" charset="-122"/>
            </a:endParaRPr>
          </a:p>
          <a:p>
            <a:pPr lvl="1" eaLnBrk="1" hangingPunct="1"/>
            <a:r>
              <a:rPr lang="zh-CN" altLang="en-US">
                <a:ea typeface="宋体" panose="02010600030101010101" pitchFamily="2" charset="-122"/>
              </a:rPr>
              <a:t> 想打 </a:t>
            </a:r>
            <a:r>
              <a:rPr lang="en-US" altLang="zh-CN">
                <a:ea typeface="宋体" panose="02010600030101010101" pitchFamily="2" charset="-122"/>
              </a:rPr>
              <a:t>the </a:t>
            </a:r>
            <a:r>
              <a:rPr lang="zh-CN" altLang="en-US">
                <a:ea typeface="宋体" panose="02010600030101010101" pitchFamily="2" charset="-122"/>
              </a:rPr>
              <a:t>却打成 </a:t>
            </a:r>
            <a:r>
              <a:rPr lang="en-US" altLang="zh-CN">
                <a:ea typeface="宋体" panose="02010600030101010101" pitchFamily="2" charset="-122"/>
              </a:rPr>
              <a:t>thew </a:t>
            </a:r>
            <a:r>
              <a:rPr lang="zh-CN" altLang="en-US">
                <a:ea typeface="宋体" panose="02010600030101010101" pitchFamily="2" charset="-122"/>
              </a:rPr>
              <a:t>的可能性大小（似然）</a:t>
            </a:r>
            <a:endParaRPr lang="zh-CN" altLang="en-US">
              <a:ea typeface="宋体" panose="02010600030101010101" pitchFamily="2" charset="-122"/>
            </a:endParaRPr>
          </a:p>
        </p:txBody>
      </p:sp>
      <p:sp>
        <p:nvSpPr>
          <p:cNvPr id="36867"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1</a:t>
            </a:r>
            <a:r>
              <a:rPr lang="zh-CN" altLang="en-US">
                <a:ea typeface="宋体" panose="02010600030101010101" pitchFamily="2" charset="-122"/>
              </a:rPr>
              <a:t>：拼写纠正</a:t>
            </a:r>
            <a:endParaRPr lang="zh-CN" altLang="en-US">
              <a:ea typeface="宋体" panose="02010600030101010101" pitchFamily="2" charset="-122"/>
            </a:endParaRPr>
          </a:p>
        </p:txBody>
      </p:sp>
      <p:sp>
        <p:nvSpPr>
          <p:cNvPr id="37890"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下面的事情就很简单了，对于我们猜测为可能的每个单词计算一下 </a:t>
            </a:r>
            <a:r>
              <a:rPr lang="en-US" altLang="zh-CN">
                <a:ea typeface="宋体" panose="02010600030101010101" pitchFamily="2" charset="-122"/>
              </a:rPr>
              <a:t>P(h) * P(D | h) </a:t>
            </a:r>
            <a:r>
              <a:rPr lang="zh-CN" altLang="en-US">
                <a:ea typeface="宋体" panose="02010600030101010101" pitchFamily="2" charset="-122"/>
              </a:rPr>
              <a:t>这个值，然后取最大的，得到的就是最靠谱的猜测</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
        <p:nvSpPr>
          <p:cNvPr id="37891"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2</a:t>
            </a:r>
            <a:r>
              <a:rPr lang="zh-CN" altLang="en-US">
                <a:ea typeface="宋体" panose="02010600030101010101" pitchFamily="2" charset="-122"/>
              </a:rPr>
              <a:t>：垃圾邮件过滤器</a:t>
            </a:r>
            <a:endParaRPr lang="zh-CN" altLang="en-US">
              <a:ea typeface="宋体" panose="02010600030101010101" pitchFamily="2" charset="-122"/>
            </a:endParaRPr>
          </a:p>
        </p:txBody>
      </p:sp>
      <p:sp>
        <p:nvSpPr>
          <p:cNvPr id="38914"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问题：给定一封邮件，判定它是否属于垃圾邮件</a:t>
            </a:r>
            <a:endParaRPr lang="en-US" altLang="zh-CN">
              <a:ea typeface="宋体" panose="02010600030101010101" pitchFamily="2" charset="-122"/>
            </a:endParaRPr>
          </a:p>
          <a:p>
            <a:pPr eaLnBrk="1" hangingPunct="1"/>
            <a:r>
              <a:rPr lang="zh-CN" altLang="en-US">
                <a:ea typeface="宋体" panose="02010600030101010101" pitchFamily="2" charset="-122"/>
              </a:rPr>
              <a:t>用 </a:t>
            </a:r>
            <a:r>
              <a:rPr lang="en-US" altLang="zh-CN">
                <a:ea typeface="宋体" panose="02010600030101010101" pitchFamily="2" charset="-122"/>
              </a:rPr>
              <a:t>D </a:t>
            </a:r>
            <a:r>
              <a:rPr lang="zh-CN" altLang="en-US">
                <a:ea typeface="宋体" panose="02010600030101010101" pitchFamily="2" charset="-122"/>
              </a:rPr>
              <a:t>来表示这封邮件， </a:t>
            </a:r>
            <a:r>
              <a:rPr lang="en-US" altLang="zh-CN">
                <a:ea typeface="宋体" panose="02010600030101010101" pitchFamily="2" charset="-122"/>
              </a:rPr>
              <a:t>D </a:t>
            </a:r>
            <a:r>
              <a:rPr lang="zh-CN" altLang="en-US">
                <a:ea typeface="宋体" panose="02010600030101010101" pitchFamily="2" charset="-122"/>
              </a:rPr>
              <a:t>由 </a:t>
            </a:r>
            <a:r>
              <a:rPr lang="en-US" altLang="zh-CN">
                <a:ea typeface="宋体" panose="02010600030101010101" pitchFamily="2" charset="-122"/>
              </a:rPr>
              <a:t>N </a:t>
            </a:r>
            <a:r>
              <a:rPr lang="zh-CN" altLang="en-US">
                <a:ea typeface="宋体" panose="02010600030101010101" pitchFamily="2" charset="-122"/>
              </a:rPr>
              <a:t>个单词组成。</a:t>
            </a:r>
            <a:endParaRPr lang="en-US" altLang="zh-CN">
              <a:ea typeface="宋体" panose="02010600030101010101" pitchFamily="2" charset="-122"/>
            </a:endParaRPr>
          </a:p>
          <a:p>
            <a:pPr eaLnBrk="1" hangingPunct="1"/>
            <a:r>
              <a:rPr lang="zh-CN" altLang="en-US">
                <a:ea typeface="宋体" panose="02010600030101010101" pitchFamily="2" charset="-122"/>
              </a:rPr>
              <a:t>用 </a:t>
            </a:r>
            <a:r>
              <a:rPr lang="en-US" altLang="zh-CN">
                <a:ea typeface="宋体" panose="02010600030101010101" pitchFamily="2" charset="-122"/>
              </a:rPr>
              <a:t>h+ </a:t>
            </a:r>
            <a:r>
              <a:rPr lang="zh-CN" altLang="en-US">
                <a:ea typeface="宋体" panose="02010600030101010101" pitchFamily="2" charset="-122"/>
              </a:rPr>
              <a:t>来表示垃圾邮件，</a:t>
            </a:r>
            <a:r>
              <a:rPr lang="en-US" altLang="zh-CN">
                <a:ea typeface="宋体" panose="02010600030101010101" pitchFamily="2" charset="-122"/>
              </a:rPr>
              <a:t>h- </a:t>
            </a:r>
            <a:r>
              <a:rPr lang="zh-CN" altLang="en-US">
                <a:ea typeface="宋体" panose="02010600030101010101" pitchFamily="2" charset="-122"/>
              </a:rPr>
              <a:t>表示正常邮件</a:t>
            </a:r>
            <a:endParaRPr lang="zh-CN" altLang="en-US">
              <a:ea typeface="宋体" panose="02010600030101010101" pitchFamily="2" charset="-122"/>
            </a:endParaRPr>
          </a:p>
        </p:txBody>
      </p:sp>
      <p:sp>
        <p:nvSpPr>
          <p:cNvPr id="38915"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2</a:t>
            </a:r>
            <a:r>
              <a:rPr lang="zh-CN" altLang="en-US">
                <a:ea typeface="宋体" panose="02010600030101010101" pitchFamily="2" charset="-122"/>
              </a:rPr>
              <a:t>：垃圾邮件过滤器</a:t>
            </a:r>
            <a:endParaRPr lang="zh-CN" altLang="en-US">
              <a:ea typeface="宋体" panose="02010600030101010101" pitchFamily="2" charset="-122"/>
            </a:endParaRPr>
          </a:p>
        </p:txBody>
      </p:sp>
      <p:sp>
        <p:nvSpPr>
          <p:cNvPr id="39938"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问题可以形式化地描述为求：</a:t>
            </a:r>
            <a:endParaRPr lang="zh-CN" altLang="en-US">
              <a:ea typeface="宋体" panose="02010600030101010101" pitchFamily="2" charset="-122"/>
            </a:endParaRPr>
          </a:p>
          <a:p>
            <a:pPr eaLnBrk="1" hangingPunct="1">
              <a:buFont typeface="Monotype Sorts" pitchFamily="2" charset="2"/>
              <a:buNone/>
            </a:pPr>
            <a:r>
              <a:rPr lang="en-US" altLang="zh-CN">
                <a:ea typeface="宋体" panose="02010600030101010101" pitchFamily="2" charset="-122"/>
              </a:rPr>
              <a:t>	P(h+|D) = P(h+) * P(D|h+) / P(D)</a:t>
            </a:r>
            <a:endParaRPr lang="zh-CN" altLang="en-US">
              <a:ea typeface="宋体" panose="02010600030101010101" pitchFamily="2" charset="-122"/>
            </a:endParaRPr>
          </a:p>
          <a:p>
            <a:pPr eaLnBrk="1" hangingPunct="1">
              <a:buFont typeface="Monotype Sorts" pitchFamily="2" charset="2"/>
              <a:buNone/>
            </a:pPr>
            <a:r>
              <a:rPr lang="en-US" altLang="zh-CN">
                <a:ea typeface="宋体" panose="02010600030101010101" pitchFamily="2" charset="-122"/>
              </a:rPr>
              <a:t>	P(h-|D) = P(h-) * P(D|h-) / P(D)</a:t>
            </a:r>
            <a:endParaRPr lang="zh-CN" altLang="en-US">
              <a:ea typeface="宋体" panose="02010600030101010101" pitchFamily="2" charset="-122"/>
            </a:endParaRP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 P(h+) </a:t>
            </a:r>
            <a:r>
              <a:rPr lang="zh-CN" altLang="en-US">
                <a:ea typeface="宋体" panose="02010600030101010101" pitchFamily="2" charset="-122"/>
              </a:rPr>
              <a:t>和 </a:t>
            </a:r>
            <a:r>
              <a:rPr lang="en-US" altLang="zh-CN">
                <a:ea typeface="宋体" panose="02010600030101010101" pitchFamily="2" charset="-122"/>
              </a:rPr>
              <a:t>P(h-) </a:t>
            </a:r>
            <a:r>
              <a:rPr lang="zh-CN" altLang="en-US">
                <a:ea typeface="宋体" panose="02010600030101010101" pitchFamily="2" charset="-122"/>
              </a:rPr>
              <a:t>这两个先验概率都很容易求出来，只需要计算一个邮件库里面垃圾邮件和正常邮件的比例就行了。</a:t>
            </a:r>
            <a:endParaRPr lang="zh-CN" altLang="en-US">
              <a:ea typeface="宋体" panose="02010600030101010101" pitchFamily="2" charset="-122"/>
            </a:endParaRPr>
          </a:p>
        </p:txBody>
      </p:sp>
      <p:sp>
        <p:nvSpPr>
          <p:cNvPr id="39939"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2</a:t>
            </a:r>
            <a:r>
              <a:rPr lang="zh-CN" altLang="en-US">
                <a:ea typeface="宋体" panose="02010600030101010101" pitchFamily="2" charset="-122"/>
              </a:rPr>
              <a:t>：垃圾邮件过滤器</a:t>
            </a:r>
            <a:endParaRPr lang="zh-CN" altLang="en-US">
              <a:ea typeface="宋体" panose="02010600030101010101" pitchFamily="2" charset="-122"/>
            </a:endParaRPr>
          </a:p>
        </p:txBody>
      </p:sp>
      <p:sp>
        <p:nvSpPr>
          <p:cNvPr id="40962"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然而 </a:t>
            </a:r>
            <a:r>
              <a:rPr lang="en-US" altLang="zh-CN">
                <a:ea typeface="宋体" panose="02010600030101010101" pitchFamily="2" charset="-122"/>
              </a:rPr>
              <a:t>P(D|h+) </a:t>
            </a:r>
            <a:r>
              <a:rPr lang="zh-CN" altLang="en-US">
                <a:ea typeface="宋体" panose="02010600030101010101" pitchFamily="2" charset="-122"/>
              </a:rPr>
              <a:t>却不容易求，因为 </a:t>
            </a:r>
            <a:r>
              <a:rPr lang="en-US" altLang="zh-CN">
                <a:ea typeface="宋体" panose="02010600030101010101" pitchFamily="2" charset="-122"/>
              </a:rPr>
              <a:t>D </a:t>
            </a:r>
            <a:r>
              <a:rPr lang="zh-CN" altLang="en-US">
                <a:ea typeface="宋体" panose="02010600030101010101" pitchFamily="2" charset="-122"/>
              </a:rPr>
              <a:t>里面含有 </a:t>
            </a:r>
            <a:r>
              <a:rPr lang="en-US" altLang="zh-CN">
                <a:ea typeface="宋体" panose="02010600030101010101" pitchFamily="2" charset="-122"/>
              </a:rPr>
              <a:t>N </a:t>
            </a:r>
            <a:r>
              <a:rPr lang="zh-CN" altLang="en-US">
                <a:ea typeface="宋体" panose="02010600030101010101" pitchFamily="2" charset="-122"/>
              </a:rPr>
              <a:t>个单词 </a:t>
            </a:r>
            <a:r>
              <a:rPr lang="en-US" altLang="zh-CN">
                <a:ea typeface="宋体" panose="02010600030101010101" pitchFamily="2" charset="-122"/>
              </a:rPr>
              <a:t>d1, d2, d3, .. </a:t>
            </a:r>
            <a:r>
              <a:rPr lang="zh-CN" altLang="en-US">
                <a:ea typeface="宋体" panose="02010600030101010101" pitchFamily="2" charset="-122"/>
              </a:rPr>
              <a:t>，所以</a:t>
            </a:r>
            <a:r>
              <a:rPr lang="en-US" altLang="zh-CN">
                <a:ea typeface="宋体" panose="02010600030101010101" pitchFamily="2" charset="-122"/>
              </a:rPr>
              <a:t>P(D|h+) = P(d1,d2,..,dn|h+) </a:t>
            </a:r>
            <a:endParaRPr lang="en-US" altLang="zh-CN">
              <a:ea typeface="宋体" panose="02010600030101010101" pitchFamily="2" charset="-122"/>
            </a:endParaRPr>
          </a:p>
          <a:p>
            <a:pPr eaLnBrk="1" hangingPunct="1"/>
            <a:r>
              <a:rPr lang="en-US" altLang="zh-CN">
                <a:ea typeface="宋体" panose="02010600030101010101" pitchFamily="2" charset="-122"/>
              </a:rPr>
              <a:t>P(d1,d2,..,dn|h+) </a:t>
            </a:r>
            <a:r>
              <a:rPr lang="zh-CN" altLang="en-US">
                <a:ea typeface="宋体" panose="02010600030101010101" pitchFamily="2" charset="-122"/>
              </a:rPr>
              <a:t>是指在垃圾邮件当中出现跟目前这封邮件一模一样的一封邮件的概率是多大！</a:t>
            </a:r>
            <a:endParaRPr lang="en-US" altLang="zh-CN">
              <a:ea typeface="宋体" panose="02010600030101010101" pitchFamily="2" charset="-122"/>
            </a:endParaRPr>
          </a:p>
          <a:p>
            <a:pPr lvl="1" eaLnBrk="1" hangingPunct="1"/>
            <a:r>
              <a:rPr lang="zh-CN" altLang="en-US" sz="1600">
                <a:ea typeface="宋体" panose="02010600030101010101" pitchFamily="2" charset="-122"/>
              </a:rPr>
              <a:t>不可能发生的事件，每封邮件都是不同的，世界上有无穷多封邮件。因此，收集的训练数据库不管含了多少封邮件，也不可能找出一封跟目前这封一模一样的。那如何计算 </a:t>
            </a:r>
            <a:r>
              <a:rPr lang="en-US" altLang="zh-CN" sz="1600">
                <a:ea typeface="宋体" panose="02010600030101010101" pitchFamily="2" charset="-122"/>
              </a:rPr>
              <a:t>P(d1,d2,..,dn|h+) </a:t>
            </a:r>
            <a:r>
              <a:rPr lang="zh-CN" altLang="en-US" sz="1600">
                <a:ea typeface="宋体" panose="02010600030101010101" pitchFamily="2" charset="-122"/>
              </a:rPr>
              <a:t>呢？</a:t>
            </a:r>
            <a:endParaRPr lang="zh-CN" altLang="en-US" sz="1600">
              <a:ea typeface="宋体" panose="02010600030101010101" pitchFamily="2" charset="-122"/>
            </a:endParaRPr>
          </a:p>
          <a:p>
            <a:pPr eaLnBrk="1" hangingPunct="1"/>
            <a:endParaRPr lang="zh-CN" altLang="en-US" sz="2000">
              <a:ea typeface="宋体" panose="02010600030101010101" pitchFamily="2" charset="-122"/>
            </a:endParaRPr>
          </a:p>
        </p:txBody>
      </p:sp>
      <p:sp>
        <p:nvSpPr>
          <p:cNvPr id="40963"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例</a:t>
            </a:r>
            <a:r>
              <a:rPr lang="en-US" altLang="zh-CN">
                <a:ea typeface="宋体" panose="02010600030101010101" pitchFamily="2" charset="-122"/>
              </a:rPr>
              <a:t>2</a:t>
            </a:r>
            <a:r>
              <a:rPr lang="zh-CN" altLang="en-US">
                <a:ea typeface="宋体" panose="02010600030101010101" pitchFamily="2" charset="-122"/>
              </a:rPr>
              <a:t>：垃圾邮件过滤器</a:t>
            </a:r>
            <a:endParaRPr lang="zh-CN" altLang="en-US">
              <a:ea typeface="宋体" panose="02010600030101010101" pitchFamily="2" charset="-122"/>
            </a:endParaRPr>
          </a:p>
        </p:txBody>
      </p:sp>
      <p:sp>
        <p:nvSpPr>
          <p:cNvPr id="41986" name="内容占位符 2"/>
          <p:cNvSpPr>
            <a:spLocks noGrp="1"/>
          </p:cNvSpPr>
          <p:nvPr>
            <p:ph idx="1"/>
          </p:nvPr>
        </p:nvSpPr>
        <p:spPr>
          <a:ln/>
        </p:spPr>
        <p:txBody>
          <a:bodyPr vert="horz" wrap="square" lIns="91440" tIns="45720" rIns="91440" bIns="45720" anchor="t" anchorCtr="0"/>
          <a:p>
            <a:pPr eaLnBrk="1" hangingPunct="1"/>
            <a:r>
              <a:rPr lang="zh-CN" altLang="en-US">
                <a:ea typeface="宋体" panose="02010600030101010101" pitchFamily="2" charset="-122"/>
              </a:rPr>
              <a:t>条件独立假设：假设 </a:t>
            </a:r>
            <a:r>
              <a:rPr lang="en-US" altLang="zh-CN">
                <a:ea typeface="宋体" panose="02010600030101010101" pitchFamily="2" charset="-122"/>
              </a:rPr>
              <a:t>di </a:t>
            </a:r>
            <a:r>
              <a:rPr lang="zh-CN" altLang="en-US">
                <a:ea typeface="宋体" panose="02010600030101010101" pitchFamily="2" charset="-122"/>
              </a:rPr>
              <a:t>与 </a:t>
            </a:r>
            <a:r>
              <a:rPr lang="en-US" altLang="zh-CN">
                <a:ea typeface="宋体" panose="02010600030101010101" pitchFamily="2" charset="-122"/>
              </a:rPr>
              <a:t>di-1 </a:t>
            </a:r>
            <a:r>
              <a:rPr lang="zh-CN" altLang="en-US">
                <a:ea typeface="宋体" panose="02010600030101010101" pitchFamily="2" charset="-122"/>
              </a:rPr>
              <a:t>是完全条件无关的，于是式子就简化为 </a:t>
            </a:r>
            <a:r>
              <a:rPr lang="en-US" altLang="zh-CN">
                <a:ea typeface="宋体" panose="02010600030101010101" pitchFamily="2" charset="-122"/>
              </a:rPr>
              <a:t>P(d1|h+) * P(d2|h+) * P(d3|h+) * .. </a:t>
            </a:r>
            <a:r>
              <a:rPr lang="zh-CN" altLang="en-US">
                <a:ea typeface="宋体" panose="02010600030101010101" pitchFamily="2" charset="-122"/>
              </a:rPr>
              <a:t>。这也正是朴素贝叶斯方法的朴素之处。</a:t>
            </a:r>
            <a:endParaRPr lang="en-US" altLang="zh-CN">
              <a:ea typeface="宋体" panose="02010600030101010101" pitchFamily="2" charset="-122"/>
            </a:endParaRPr>
          </a:p>
          <a:p>
            <a:pPr eaLnBrk="1" hangingPunct="1"/>
            <a:r>
              <a:rPr lang="zh-CN" altLang="en-US">
                <a:ea typeface="宋体" panose="02010600030101010101" pitchFamily="2" charset="-122"/>
              </a:rPr>
              <a:t>而计算 </a:t>
            </a:r>
            <a:r>
              <a:rPr lang="en-US" altLang="zh-CN">
                <a:ea typeface="宋体" panose="02010600030101010101" pitchFamily="2" charset="-122"/>
              </a:rPr>
              <a:t>P(d1|h+) * P(d2|h+) * P(d3|h+) * .. </a:t>
            </a:r>
            <a:r>
              <a:rPr lang="zh-CN" altLang="en-US">
                <a:ea typeface="宋体" panose="02010600030101010101" pitchFamily="2" charset="-122"/>
              </a:rPr>
              <a:t>，只要统计 </a:t>
            </a:r>
            <a:r>
              <a:rPr lang="en-US" altLang="zh-CN">
                <a:ea typeface="宋体" panose="02010600030101010101" pitchFamily="2" charset="-122"/>
              </a:rPr>
              <a:t>di </a:t>
            </a:r>
            <a:r>
              <a:rPr lang="zh-CN" altLang="en-US">
                <a:ea typeface="宋体" panose="02010600030101010101" pitchFamily="2" charset="-122"/>
              </a:rPr>
              <a:t>这个单词在垃圾邮件中出现的频率即可。</a:t>
            </a:r>
            <a:endParaRPr lang="zh-CN" altLang="en-US">
              <a:ea typeface="宋体" panose="02010600030101010101" pitchFamily="2" charset="-122"/>
            </a:endParaRPr>
          </a:p>
        </p:txBody>
      </p:sp>
      <p:sp>
        <p:nvSpPr>
          <p:cNvPr id="41987" name="灯片编号占位符 3"/>
          <p:cNvSpPr txBox="1">
            <a:spLocks noGrp="1"/>
          </p:cNvSpPr>
          <p:nvPr>
            <p:ph type="sldNum" sz="quarter" idx="12"/>
          </p:nvPr>
        </p:nvSpPr>
        <p:spPr>
          <a:ln/>
        </p:spPr>
        <p:txBody>
          <a:bodyPr anchor="b" anchorCtr="0"/>
          <a:p>
            <a:pPr marL="0" indent="0" algn="r" defTabSz="455930" eaLnBrk="1" hangingPunct="1">
              <a:spcBef>
                <a:spcPct val="0"/>
              </a:spcBef>
              <a:buClrTx/>
              <a:buSzTx/>
              <a:buFontTx/>
              <a:buNone/>
            </a:pPr>
            <a:fld id="{9A0DB2DC-4C9A-4742-B13C-FB6460FD3503}" type="slidenum">
              <a:rPr lang="en-US" altLang="zh-CN" sz="1200">
                <a:ea typeface="宋体" panose="02010600030101010101" pitchFamily="2" charset="-122"/>
              </a:rPr>
            </a:fld>
            <a:endParaRPr lang="en-US" altLang="zh-CN" sz="1200">
              <a:ea typeface="宋体"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43010"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43011" name="Rectangle 1026"/>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朴素贝叶斯分类器</a:t>
            </a:r>
            <a:endParaRPr lang="zh-CN" altLang="en-US">
              <a:ea typeface="宋体" panose="02010600030101010101" pitchFamily="2" charset="-122"/>
            </a:endParaRPr>
          </a:p>
        </p:txBody>
      </p:sp>
      <p:sp>
        <p:nvSpPr>
          <p:cNvPr id="43012" name="Rectangle 1027"/>
          <p:cNvSpPr>
            <a:spLocks noGrp="1"/>
          </p:cNvSpPr>
          <p:nvPr>
            <p:ph idx="1"/>
          </p:nvPr>
        </p:nvSpPr>
        <p:spPr>
          <a:xfrm>
            <a:off x="533400" y="1447800"/>
            <a:ext cx="8610600" cy="5105400"/>
          </a:xfrm>
          <a:ln/>
        </p:spPr>
        <p:txBody>
          <a:bodyPr vert="horz" wrap="square" lIns="91440" tIns="45720" rIns="91440" bIns="45720" anchor="t" anchorCtr="0"/>
          <a:p>
            <a:pPr algn="just" eaLnBrk="1" hangingPunct="1"/>
            <a:r>
              <a:rPr lang="zh-CN" altLang="en-US" sz="2400">
                <a:latin typeface="Times New Roman" panose="02020603050405020304" pitchFamily="18" charset="0"/>
                <a:ea typeface="宋体" panose="02010600030101010101" pitchFamily="2" charset="-122"/>
              </a:rPr>
              <a:t>每个数据样本用一个</a:t>
            </a:r>
            <a:r>
              <a:rPr lang="en-US" altLang="zh-CN" sz="2400" i="1">
                <a:latin typeface="Times New Roman" panose="02020603050405020304" pitchFamily="18" charset="0"/>
                <a:ea typeface="宋体" panose="02010600030101010101" pitchFamily="2" charset="-122"/>
              </a:rPr>
              <a:t>n</a:t>
            </a:r>
            <a:r>
              <a:rPr lang="zh-CN" altLang="en-US" sz="2400">
                <a:latin typeface="Times New Roman" panose="02020603050405020304" pitchFamily="18" charset="0"/>
                <a:ea typeface="宋体" panose="02010600030101010101" pitchFamily="2" charset="-122"/>
              </a:rPr>
              <a:t>维特征向量表示，描述由属性对样本的</a:t>
            </a:r>
            <a:r>
              <a:rPr lang="en-US" altLang="zh-CN" sz="2400" i="1">
                <a:latin typeface="Times New Roman" panose="02020603050405020304" pitchFamily="18" charset="0"/>
                <a:ea typeface="宋体" panose="02010600030101010101" pitchFamily="2" charset="-122"/>
              </a:rPr>
              <a:t>n</a:t>
            </a:r>
            <a:r>
              <a:rPr lang="zh-CN" altLang="en-US" sz="2400">
                <a:latin typeface="Times New Roman" panose="02020603050405020304" pitchFamily="18" charset="0"/>
                <a:ea typeface="宋体" panose="02010600030101010101" pitchFamily="2" charset="-122"/>
              </a:rPr>
              <a:t>个度量。</a:t>
            </a:r>
            <a:endParaRPr lang="zh-CN" altLang="en-US" sz="2400">
              <a:latin typeface="Times New Roman" panose="02020603050405020304" pitchFamily="18" charset="0"/>
              <a:ea typeface="宋体" panose="02010600030101010101" pitchFamily="2" charset="-122"/>
            </a:endParaRPr>
          </a:p>
          <a:p>
            <a:pPr algn="just" eaLnBrk="1" hangingPunct="1"/>
            <a:r>
              <a:rPr lang="zh-CN" altLang="en-US" sz="2400">
                <a:latin typeface="Times New Roman" panose="02020603050405020304" pitchFamily="18" charset="0"/>
                <a:ea typeface="宋体" panose="02010600030101010101" pitchFamily="2" charset="-122"/>
              </a:rPr>
              <a:t>假定有</a:t>
            </a:r>
            <a:r>
              <a:rPr lang="en-US" altLang="zh-CN" sz="2400" i="1">
                <a:latin typeface="Times New Roman" panose="02020603050405020304" pitchFamily="18" charset="0"/>
                <a:ea typeface="宋体" panose="02010600030101010101" pitchFamily="2" charset="-122"/>
              </a:rPr>
              <a:t>m</a:t>
            </a:r>
            <a:r>
              <a:rPr lang="zh-CN" altLang="en-US" sz="2400">
                <a:latin typeface="Times New Roman" panose="02020603050405020304" pitchFamily="18" charset="0"/>
                <a:ea typeface="宋体" panose="02010600030101010101" pitchFamily="2" charset="-122"/>
              </a:rPr>
              <a:t>个类。给定一个未知的数据样本</a:t>
            </a:r>
            <a:r>
              <a:rPr lang="en-US" altLang="zh-CN" sz="2400" i="1">
                <a:latin typeface="Times New Roman" panose="02020603050405020304" pitchFamily="18" charset="0"/>
                <a:ea typeface="宋体" panose="02010600030101010101" pitchFamily="2" charset="-122"/>
              </a:rPr>
              <a:t>X</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即，没有类标号），分类法将预测</a:t>
            </a:r>
            <a:r>
              <a:rPr lang="en-US" altLang="zh-CN" sz="2400" i="1">
                <a:latin typeface="Times New Roman" panose="02020603050405020304" pitchFamily="18" charset="0"/>
                <a:ea typeface="宋体" panose="02010600030101010101" pitchFamily="2" charset="-122"/>
              </a:rPr>
              <a:t>X</a:t>
            </a:r>
            <a:r>
              <a:rPr lang="zh-CN" altLang="en-US" sz="2400">
                <a:latin typeface="Times New Roman" panose="02020603050405020304" pitchFamily="18" charset="0"/>
                <a:ea typeface="宋体" panose="02010600030101010101" pitchFamily="2" charset="-122"/>
              </a:rPr>
              <a:t>属于具有最高后验概率（条件</a:t>
            </a:r>
            <a:r>
              <a:rPr lang="en-US" altLang="zh-CN" sz="2400" i="1">
                <a:latin typeface="Times New Roman" panose="02020603050405020304" pitchFamily="18" charset="0"/>
                <a:ea typeface="宋体" panose="02010600030101010101" pitchFamily="2" charset="-122"/>
              </a:rPr>
              <a:t>X</a:t>
            </a:r>
            <a:r>
              <a:rPr lang="zh-CN" altLang="en-US" sz="2400">
                <a:latin typeface="Times New Roman" panose="02020603050405020304" pitchFamily="18" charset="0"/>
                <a:ea typeface="宋体" panose="02010600030101010101" pitchFamily="2" charset="-122"/>
              </a:rPr>
              <a:t>下）的类。即，朴素贝叶斯分类将未知的样本分配给类</a:t>
            </a:r>
            <a:r>
              <a:rPr lang="en-US" altLang="zh-CN" sz="2400" i="1">
                <a:latin typeface="Times New Roman" panose="02020603050405020304" pitchFamily="18" charset="0"/>
                <a:ea typeface="宋体" panose="02010600030101010101" pitchFamily="2" charset="-122"/>
              </a:rPr>
              <a:t>C</a:t>
            </a:r>
            <a:r>
              <a:rPr lang="en-US" altLang="zh-CN" sz="2400" i="1" baseline="-30000">
                <a:latin typeface="Times New Roman" panose="02020603050405020304" pitchFamily="18" charset="0"/>
                <a:ea typeface="宋体" panose="02010600030101010101" pitchFamily="2" charset="-122"/>
              </a:rPr>
              <a:t>i</a:t>
            </a:r>
            <a:r>
              <a:rPr lang="en-US" altLang="zh-CN" sz="2400">
                <a:latin typeface="Times New Roman" panose="02020603050405020304" pitchFamily="18" charset="0"/>
                <a:ea typeface="宋体" panose="02010600030101010101" pitchFamily="2" charset="-122"/>
              </a:rPr>
              <a:t> ，</a:t>
            </a:r>
            <a:r>
              <a:rPr lang="zh-CN" altLang="en-US" sz="2400">
                <a:latin typeface="Times New Roman" panose="02020603050405020304" pitchFamily="18" charset="0"/>
                <a:ea typeface="宋体" panose="02010600030101010101" pitchFamily="2" charset="-122"/>
              </a:rPr>
              <a:t>当且仅当：</a:t>
            </a:r>
            <a:endParaRPr lang="zh-CN" altLang="en-US" sz="2400">
              <a:latin typeface="Times New Roman" panose="02020603050405020304" pitchFamily="18" charset="0"/>
              <a:ea typeface="宋体" panose="02010600030101010101" pitchFamily="2" charset="-122"/>
            </a:endParaRPr>
          </a:p>
          <a:p>
            <a:pPr algn="just" eaLnBrk="1" hangingPunct="1"/>
            <a:endParaRPr lang="zh-CN" altLang="en-US">
              <a:latin typeface="Times New Roman" panose="02020603050405020304" pitchFamily="18" charset="0"/>
              <a:ea typeface="宋体" panose="02010600030101010101" pitchFamily="2" charset="-122"/>
            </a:endParaRPr>
          </a:p>
          <a:p>
            <a:pPr algn="just" eaLnBrk="1" hangingPunct="1">
              <a:buNone/>
            </a:pPr>
            <a:r>
              <a:rPr lang="zh-CN" altLang="en-US" sz="2400">
                <a:latin typeface="Times New Roman" panose="02020603050405020304" pitchFamily="18" charset="0"/>
                <a:ea typeface="宋体" panose="02010600030101010101" pitchFamily="2" charset="-122"/>
              </a:rPr>
              <a:t>        这样，我们最大化         。其最大的类</a:t>
            </a:r>
            <a:r>
              <a:rPr lang="en-US" altLang="zh-CN" sz="2400" i="1">
                <a:latin typeface="Times New Roman" panose="02020603050405020304" pitchFamily="18" charset="0"/>
                <a:ea typeface="宋体" panose="02010600030101010101" pitchFamily="2" charset="-122"/>
              </a:rPr>
              <a:t>C</a:t>
            </a:r>
            <a:r>
              <a:rPr lang="en-US" altLang="zh-CN" sz="2400" i="1" baseline="-30000">
                <a:latin typeface="Times New Roman" panose="02020603050405020304" pitchFamily="18" charset="0"/>
                <a:ea typeface="宋体" panose="02010600030101010101" pitchFamily="2" charset="-122"/>
              </a:rPr>
              <a:t>i</a:t>
            </a:r>
            <a:r>
              <a:rPr lang="zh-CN" altLang="en-US" sz="2400">
                <a:latin typeface="Times New Roman" panose="02020603050405020304" pitchFamily="18" charset="0"/>
                <a:ea typeface="宋体" panose="02010600030101010101" pitchFamily="2" charset="-122"/>
              </a:rPr>
              <a:t>称为最大后验假定。根据贝叶斯定理:</a:t>
            </a:r>
            <a:endParaRPr lang="zh-CN" altLang="en-US" sz="2400">
              <a:latin typeface="Times New Roman" panose="02020603050405020304" pitchFamily="18" charset="0"/>
              <a:ea typeface="宋体" panose="02010600030101010101" pitchFamily="2" charset="-122"/>
            </a:endParaRPr>
          </a:p>
          <a:p>
            <a:pPr eaLnBrk="1" hangingPunct="1">
              <a:buNone/>
            </a:pPr>
            <a:r>
              <a:rPr lang="zh-CN" altLang="en-US" sz="2400">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a typeface="宋体" panose="02010600030101010101" pitchFamily="2" charset="-122"/>
            </a:endParaRPr>
          </a:p>
        </p:txBody>
      </p:sp>
      <p:sp>
        <p:nvSpPr>
          <p:cNvPr id="43013" name="Rectangle 1029"/>
          <p:cNvSpPr/>
          <p:nvPr/>
        </p:nvSpPr>
        <p:spPr>
          <a:xfrm>
            <a:off x="3262313" y="33147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3014" name="Object 4"/>
          <p:cNvGraphicFramePr>
            <a:graphicFrameLocks noChangeAspect="1"/>
          </p:cNvGraphicFramePr>
          <p:nvPr/>
        </p:nvGraphicFramePr>
        <p:xfrm>
          <a:off x="2133600" y="3657600"/>
          <a:ext cx="5029200" cy="439738"/>
        </p:xfrm>
        <a:graphic>
          <a:graphicData uri="http://schemas.openxmlformats.org/presentationml/2006/ole">
            <mc:AlternateContent xmlns:mc="http://schemas.openxmlformats.org/markup-compatibility/2006">
              <mc:Choice xmlns:v="urn:schemas-microsoft-com:vml" Requires="v">
                <p:oleObj spid="_x0000_s3078" name="" r:id="rId1" imgW="45205650" imgH="3952875" progId="Equation.3">
                  <p:embed/>
                </p:oleObj>
              </mc:Choice>
              <mc:Fallback>
                <p:oleObj name="" r:id="rId1" imgW="45205650" imgH="3952875" progId="Equation.3">
                  <p:embed/>
                  <p:pic>
                    <p:nvPicPr>
                      <p:cNvPr id="0" name="图片 3077"/>
                      <p:cNvPicPr/>
                      <p:nvPr/>
                    </p:nvPicPr>
                    <p:blipFill>
                      <a:blip r:embed="rId2"/>
                      <a:stretch>
                        <a:fillRect/>
                      </a:stretch>
                    </p:blipFill>
                    <p:spPr>
                      <a:xfrm>
                        <a:off x="2133600" y="3657600"/>
                        <a:ext cx="5029200" cy="439738"/>
                      </a:xfrm>
                      <a:prstGeom prst="rect">
                        <a:avLst/>
                      </a:prstGeom>
                      <a:noFill/>
                      <a:ln w="38100">
                        <a:noFill/>
                        <a:miter/>
                      </a:ln>
                    </p:spPr>
                  </p:pic>
                </p:oleObj>
              </mc:Fallback>
            </mc:AlternateContent>
          </a:graphicData>
        </a:graphic>
      </p:graphicFrame>
      <p:sp>
        <p:nvSpPr>
          <p:cNvPr id="43015" name="Rectangle 1031"/>
          <p:cNvSpPr/>
          <p:nvPr/>
        </p:nvSpPr>
        <p:spPr>
          <a:xfrm>
            <a:off x="4305300" y="333375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3016" name="Object 5"/>
          <p:cNvGraphicFramePr>
            <a:graphicFrameLocks noChangeAspect="1"/>
          </p:cNvGraphicFramePr>
          <p:nvPr/>
        </p:nvGraphicFramePr>
        <p:xfrm>
          <a:off x="3733800" y="4343400"/>
          <a:ext cx="914400" cy="390525"/>
        </p:xfrm>
        <a:graphic>
          <a:graphicData uri="http://schemas.openxmlformats.org/presentationml/2006/ole">
            <mc:AlternateContent xmlns:mc="http://schemas.openxmlformats.org/markup-compatibility/2006">
              <mc:Choice xmlns:v="urn:schemas-microsoft-com:vml" Requires="v">
                <p:oleObj spid="_x0000_s3076" name="" r:id="rId3" imgW="9220200" imgH="3295650" progId="Equation.3">
                  <p:embed/>
                </p:oleObj>
              </mc:Choice>
              <mc:Fallback>
                <p:oleObj name="" r:id="rId3" imgW="9220200" imgH="3295650" progId="Equation.3">
                  <p:embed/>
                  <p:pic>
                    <p:nvPicPr>
                      <p:cNvPr id="0" name="图片 3075"/>
                      <p:cNvPicPr/>
                      <p:nvPr/>
                    </p:nvPicPr>
                    <p:blipFill>
                      <a:blip r:embed="rId4"/>
                      <a:stretch>
                        <a:fillRect/>
                      </a:stretch>
                    </p:blipFill>
                    <p:spPr>
                      <a:xfrm>
                        <a:off x="3733800" y="4343400"/>
                        <a:ext cx="914400" cy="390525"/>
                      </a:xfrm>
                      <a:prstGeom prst="rect">
                        <a:avLst/>
                      </a:prstGeom>
                      <a:noFill/>
                      <a:ln w="38100">
                        <a:noFill/>
                        <a:miter/>
                      </a:ln>
                    </p:spPr>
                  </p:pic>
                </p:oleObj>
              </mc:Fallback>
            </mc:AlternateContent>
          </a:graphicData>
        </a:graphic>
      </p:graphicFrame>
      <p:sp>
        <p:nvSpPr>
          <p:cNvPr id="43017" name="Rectangle 1033"/>
          <p:cNvSpPr/>
          <p:nvPr/>
        </p:nvSpPr>
        <p:spPr>
          <a:xfrm>
            <a:off x="3738563" y="32004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3018" name="Object 6"/>
          <p:cNvGraphicFramePr>
            <a:graphicFrameLocks noChangeAspect="1"/>
          </p:cNvGraphicFramePr>
          <p:nvPr/>
        </p:nvGraphicFramePr>
        <p:xfrm>
          <a:off x="2286000" y="5105400"/>
          <a:ext cx="3276600" cy="838200"/>
        </p:xfrm>
        <a:graphic>
          <a:graphicData uri="http://schemas.openxmlformats.org/presentationml/2006/ole">
            <mc:AlternateContent xmlns:mc="http://schemas.openxmlformats.org/markup-compatibility/2006">
              <mc:Choice xmlns:v="urn:schemas-microsoft-com:vml" Requires="v">
                <p:oleObj spid="_x0000_s3077" name="" r:id="rId5" imgW="28746450" imgH="7896225" progId="Equation.3">
                  <p:embed/>
                </p:oleObj>
              </mc:Choice>
              <mc:Fallback>
                <p:oleObj name="" r:id="rId5" imgW="28746450" imgH="7896225" progId="Equation.3">
                  <p:embed/>
                  <p:pic>
                    <p:nvPicPr>
                      <p:cNvPr id="0" name="图片 3076"/>
                      <p:cNvPicPr/>
                      <p:nvPr/>
                    </p:nvPicPr>
                    <p:blipFill>
                      <a:blip r:embed="rId6"/>
                      <a:stretch>
                        <a:fillRect/>
                      </a:stretch>
                    </p:blipFill>
                    <p:spPr>
                      <a:xfrm>
                        <a:off x="2286000" y="5105400"/>
                        <a:ext cx="3276600" cy="838200"/>
                      </a:xfrm>
                      <a:prstGeom prst="rect">
                        <a:avLst/>
                      </a:prstGeom>
                      <a:noFill/>
                      <a:ln w="38100">
                        <a:noFill/>
                        <a:miter/>
                      </a:ln>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44034"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44035" name="Rectangle 1026"/>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朴素贝叶斯分类器</a:t>
            </a:r>
            <a:endParaRPr lang="zh-CN" altLang="en-US">
              <a:ea typeface="宋体" panose="02010600030101010101" pitchFamily="2" charset="-122"/>
            </a:endParaRPr>
          </a:p>
        </p:txBody>
      </p:sp>
      <p:sp>
        <p:nvSpPr>
          <p:cNvPr id="44036" name="Rectangle 1027"/>
          <p:cNvSpPr>
            <a:spLocks noGrp="1"/>
          </p:cNvSpPr>
          <p:nvPr>
            <p:ph idx="1"/>
          </p:nvPr>
        </p:nvSpPr>
        <p:spPr>
          <a:xfrm>
            <a:off x="381000" y="1219200"/>
            <a:ext cx="8458200" cy="5105400"/>
          </a:xfrm>
          <a:ln/>
        </p:spPr>
        <p:txBody>
          <a:bodyPr vert="horz" wrap="square" lIns="91440" tIns="45720" rIns="91440" bIns="45720" anchor="t" anchorCtr="0"/>
          <a:p>
            <a:pPr algn="just" eaLnBrk="1" hangingPunct="1"/>
            <a:r>
              <a:rPr lang="zh-CN" altLang="en-US">
                <a:latin typeface="Times New Roman" panose="02020603050405020304" pitchFamily="18" charset="0"/>
                <a:ea typeface="宋体" panose="02010600030101010101" pitchFamily="2" charset="-122"/>
              </a:rPr>
              <a:t>由于</a:t>
            </a:r>
            <a:r>
              <a:rPr lang="en-US" altLang="zh-CN" i="1">
                <a:latin typeface="Times New Roman" panose="02020603050405020304" pitchFamily="18" charset="0"/>
                <a:ea typeface="宋体" panose="02010600030101010101" pitchFamily="2" charset="-122"/>
              </a:rPr>
              <a:t>P(X) </a:t>
            </a:r>
            <a:r>
              <a:rPr lang="zh-CN" altLang="en-US">
                <a:latin typeface="Times New Roman" panose="02020603050405020304" pitchFamily="18" charset="0"/>
                <a:ea typeface="宋体" panose="02010600030101010101" pitchFamily="2" charset="-122"/>
              </a:rPr>
              <a:t>对于所有类为常数，只需要             最大即可。如果类的先验概率未知，则通常假定这些类是等概率的；即，                            。并据此只对</a:t>
            </a:r>
            <a:endParaRPr lang="zh-CN" altLang="en-US">
              <a:latin typeface="Times New Roman" panose="02020603050405020304" pitchFamily="18" charset="0"/>
              <a:ea typeface="宋体" panose="02010600030101010101" pitchFamily="2" charset="-122"/>
            </a:endParaRPr>
          </a:p>
          <a:p>
            <a:pPr algn="just" eaLnBrk="1" hangingPunct="1">
              <a:buNone/>
            </a:pPr>
            <a:r>
              <a:rPr lang="zh-CN" altLang="en-US">
                <a:latin typeface="Times New Roman" panose="02020603050405020304" pitchFamily="18" charset="0"/>
                <a:ea typeface="宋体" panose="02010600030101010101" pitchFamily="2" charset="-122"/>
              </a:rPr>
              <a:t>                   最大化。否则，我们最大化               。类的先验概率可以用          计算；其中，</a:t>
            </a:r>
            <a:r>
              <a:rPr lang="en-US" altLang="zh-CN" i="1">
                <a:latin typeface="Times New Roman" panose="02020603050405020304" pitchFamily="18" charset="0"/>
                <a:ea typeface="宋体" panose="02010600030101010101" pitchFamily="2" charset="-122"/>
              </a:rPr>
              <a:t>s</a:t>
            </a:r>
            <a:r>
              <a:rPr lang="en-US" altLang="zh-CN" i="1" baseline="-30000">
                <a:latin typeface="Times New Roman" panose="02020603050405020304" pitchFamily="18" charset="0"/>
                <a:ea typeface="宋体" panose="02010600030101010101" pitchFamily="2" charset="-122"/>
              </a:rPr>
              <a:t>i</a:t>
            </a:r>
            <a:r>
              <a:rPr lang="zh-CN" altLang="en-US">
                <a:latin typeface="Times New Roman" panose="02020603050405020304" pitchFamily="18" charset="0"/>
                <a:ea typeface="宋体" panose="02010600030101010101" pitchFamily="2" charset="-122"/>
              </a:rPr>
              <a:t>是类</a:t>
            </a:r>
            <a:r>
              <a:rPr lang="en-US" altLang="zh-CN" i="1">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中的训练样本数，而</a:t>
            </a:r>
            <a:r>
              <a:rPr lang="en-US" altLang="zh-CN" i="1">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是训练样本总数。</a:t>
            </a:r>
            <a:endParaRPr lang="zh-CN" altLang="en-US">
              <a:latin typeface="Times New Roman" panose="02020603050405020304" pitchFamily="18" charset="0"/>
              <a:ea typeface="宋体" panose="02010600030101010101" pitchFamily="2" charset="-122"/>
            </a:endParaRPr>
          </a:p>
          <a:p>
            <a:pPr eaLnBrk="1" hangingPunct="1"/>
            <a:endParaRPr lang="zh-CN" altLang="en-US">
              <a:ea typeface="宋体" panose="02010600030101010101" pitchFamily="2" charset="-122"/>
            </a:endParaRPr>
          </a:p>
        </p:txBody>
      </p:sp>
      <p:sp>
        <p:nvSpPr>
          <p:cNvPr id="44037" name="Rectangle 1029"/>
          <p:cNvSpPr/>
          <p:nvPr/>
        </p:nvSpPr>
        <p:spPr>
          <a:xfrm>
            <a:off x="4148138"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4038" name="Object 1028"/>
          <p:cNvGraphicFramePr>
            <a:graphicFrameLocks noChangeAspect="1"/>
          </p:cNvGraphicFramePr>
          <p:nvPr/>
        </p:nvGraphicFramePr>
        <p:xfrm>
          <a:off x="6629400" y="1295400"/>
          <a:ext cx="1447800" cy="450850"/>
        </p:xfrm>
        <a:graphic>
          <a:graphicData uri="http://schemas.openxmlformats.org/presentationml/2006/ole">
            <mc:AlternateContent xmlns:mc="http://schemas.openxmlformats.org/markup-compatibility/2006">
              <mc:Choice xmlns:v="urn:schemas-microsoft-com:vml" Requires="v">
                <p:oleObj spid="_x0000_s3083" name="" r:id="rId1" imgW="14697075" imgH="3295650" progId="Equation.3">
                  <p:embed/>
                </p:oleObj>
              </mc:Choice>
              <mc:Fallback>
                <p:oleObj name="" r:id="rId1" imgW="14697075" imgH="3295650" progId="Equation.3">
                  <p:embed/>
                  <p:pic>
                    <p:nvPicPr>
                      <p:cNvPr id="0" name="图片 3082"/>
                      <p:cNvPicPr/>
                      <p:nvPr/>
                    </p:nvPicPr>
                    <p:blipFill>
                      <a:blip r:embed="rId2"/>
                      <a:stretch>
                        <a:fillRect/>
                      </a:stretch>
                    </p:blipFill>
                    <p:spPr>
                      <a:xfrm>
                        <a:off x="6629400" y="1295400"/>
                        <a:ext cx="1447800" cy="450850"/>
                      </a:xfrm>
                      <a:prstGeom prst="rect">
                        <a:avLst/>
                      </a:prstGeom>
                      <a:noFill/>
                      <a:ln w="38100">
                        <a:noFill/>
                        <a:miter/>
                      </a:ln>
                    </p:spPr>
                  </p:pic>
                </p:oleObj>
              </mc:Fallback>
            </mc:AlternateContent>
          </a:graphicData>
        </a:graphic>
      </p:graphicFrame>
      <p:sp>
        <p:nvSpPr>
          <p:cNvPr id="44039" name="Rectangle 1031"/>
          <p:cNvSpPr/>
          <p:nvPr/>
        </p:nvSpPr>
        <p:spPr>
          <a:xfrm>
            <a:off x="3824288" y="333375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4040" name="Object 1030"/>
          <p:cNvGraphicFramePr>
            <a:graphicFrameLocks noChangeAspect="1"/>
          </p:cNvGraphicFramePr>
          <p:nvPr/>
        </p:nvGraphicFramePr>
        <p:xfrm>
          <a:off x="3429000" y="2133600"/>
          <a:ext cx="2743200" cy="447675"/>
        </p:xfrm>
        <a:graphic>
          <a:graphicData uri="http://schemas.openxmlformats.org/presentationml/2006/ole">
            <mc:AlternateContent xmlns:mc="http://schemas.openxmlformats.org/markup-compatibility/2006">
              <mc:Choice xmlns:v="urn:schemas-microsoft-com:vml" Requires="v">
                <p:oleObj spid="_x0000_s3085" name="" r:id="rId3" imgW="25888950" imgH="3295650" progId="Equation.3">
                  <p:embed/>
                </p:oleObj>
              </mc:Choice>
              <mc:Fallback>
                <p:oleObj name="" r:id="rId3" imgW="25888950" imgH="3295650" progId="Equation.3">
                  <p:embed/>
                  <p:pic>
                    <p:nvPicPr>
                      <p:cNvPr id="0" name="图片 3084"/>
                      <p:cNvPicPr/>
                      <p:nvPr/>
                    </p:nvPicPr>
                    <p:blipFill>
                      <a:blip r:embed="rId4"/>
                      <a:stretch>
                        <a:fillRect/>
                      </a:stretch>
                    </p:blipFill>
                    <p:spPr>
                      <a:xfrm>
                        <a:off x="3429000" y="2133600"/>
                        <a:ext cx="2743200" cy="447675"/>
                      </a:xfrm>
                      <a:prstGeom prst="rect">
                        <a:avLst/>
                      </a:prstGeom>
                      <a:noFill/>
                      <a:ln w="38100">
                        <a:noFill/>
                        <a:miter/>
                      </a:ln>
                    </p:spPr>
                  </p:pic>
                </p:oleObj>
              </mc:Fallback>
            </mc:AlternateContent>
          </a:graphicData>
        </a:graphic>
      </p:graphicFrame>
      <p:sp>
        <p:nvSpPr>
          <p:cNvPr id="44041" name="Rectangle 1033"/>
          <p:cNvSpPr/>
          <p:nvPr/>
        </p:nvSpPr>
        <p:spPr>
          <a:xfrm>
            <a:off x="4305300" y="333375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4042" name="Object 1032"/>
          <p:cNvGraphicFramePr>
            <a:graphicFrameLocks noChangeAspect="1"/>
          </p:cNvGraphicFramePr>
          <p:nvPr/>
        </p:nvGraphicFramePr>
        <p:xfrm>
          <a:off x="849313" y="2544763"/>
          <a:ext cx="1046162" cy="549275"/>
        </p:xfrm>
        <a:graphic>
          <a:graphicData uri="http://schemas.openxmlformats.org/presentationml/2006/ole">
            <mc:AlternateContent xmlns:mc="http://schemas.openxmlformats.org/markup-compatibility/2006">
              <mc:Choice xmlns:v="urn:schemas-microsoft-com:vml" Requires="v">
                <p:oleObj spid="_x0000_s3086" name="" r:id="rId5" imgW="10534650" imgH="3952875" progId="Equation.3">
                  <p:embed/>
                </p:oleObj>
              </mc:Choice>
              <mc:Fallback>
                <p:oleObj name="" r:id="rId5" imgW="10534650" imgH="3952875" progId="Equation.3">
                  <p:embed/>
                  <p:pic>
                    <p:nvPicPr>
                      <p:cNvPr id="0" name="图片 3085"/>
                      <p:cNvPicPr/>
                      <p:nvPr/>
                    </p:nvPicPr>
                    <p:blipFill>
                      <a:blip r:embed="rId6"/>
                      <a:stretch>
                        <a:fillRect/>
                      </a:stretch>
                    </p:blipFill>
                    <p:spPr>
                      <a:xfrm>
                        <a:off x="849313" y="2544763"/>
                        <a:ext cx="1046162" cy="549275"/>
                      </a:xfrm>
                      <a:prstGeom prst="rect">
                        <a:avLst/>
                      </a:prstGeom>
                      <a:noFill/>
                      <a:ln w="38100">
                        <a:noFill/>
                        <a:miter/>
                      </a:ln>
                    </p:spPr>
                  </p:pic>
                </p:oleObj>
              </mc:Fallback>
            </mc:AlternateContent>
          </a:graphicData>
        </a:graphic>
      </p:graphicFrame>
      <p:graphicFrame>
        <p:nvGraphicFramePr>
          <p:cNvPr id="44043" name="Object 1034"/>
          <p:cNvGraphicFramePr>
            <a:graphicFrameLocks noChangeAspect="1"/>
          </p:cNvGraphicFramePr>
          <p:nvPr/>
        </p:nvGraphicFramePr>
        <p:xfrm>
          <a:off x="6553200" y="2638425"/>
          <a:ext cx="1447800" cy="450850"/>
        </p:xfrm>
        <a:graphic>
          <a:graphicData uri="http://schemas.openxmlformats.org/presentationml/2006/ole">
            <mc:AlternateContent xmlns:mc="http://schemas.openxmlformats.org/markup-compatibility/2006">
              <mc:Choice xmlns:v="urn:schemas-microsoft-com:vml" Requires="v">
                <p:oleObj spid="_x0000_s3084" name="" r:id="rId7" imgW="14697075" imgH="3295650" progId="Equation.3">
                  <p:embed/>
                </p:oleObj>
              </mc:Choice>
              <mc:Fallback>
                <p:oleObj name="" r:id="rId7" imgW="14697075" imgH="3295650" progId="Equation.3">
                  <p:embed/>
                  <p:pic>
                    <p:nvPicPr>
                      <p:cNvPr id="0" name="图片 3083"/>
                      <p:cNvPicPr/>
                      <p:nvPr/>
                    </p:nvPicPr>
                    <p:blipFill>
                      <a:blip r:embed="rId2"/>
                      <a:stretch>
                        <a:fillRect/>
                      </a:stretch>
                    </p:blipFill>
                    <p:spPr>
                      <a:xfrm>
                        <a:off x="6553200" y="2638425"/>
                        <a:ext cx="1447800" cy="450850"/>
                      </a:xfrm>
                      <a:prstGeom prst="rect">
                        <a:avLst/>
                      </a:prstGeom>
                      <a:noFill/>
                      <a:ln w="38100">
                        <a:noFill/>
                        <a:miter/>
                      </a:ln>
                    </p:spPr>
                  </p:pic>
                </p:oleObj>
              </mc:Fallback>
            </mc:AlternateContent>
          </a:graphicData>
        </a:graphic>
      </p:graphicFrame>
      <p:sp>
        <p:nvSpPr>
          <p:cNvPr id="44044" name="Rectangle 1036"/>
          <p:cNvSpPr/>
          <p:nvPr/>
        </p:nvSpPr>
        <p:spPr>
          <a:xfrm>
            <a:off x="4191000" y="3328988"/>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4045" name="Object 1035"/>
          <p:cNvGraphicFramePr>
            <a:graphicFrameLocks noChangeAspect="1"/>
          </p:cNvGraphicFramePr>
          <p:nvPr/>
        </p:nvGraphicFramePr>
        <p:xfrm>
          <a:off x="3657600" y="3048000"/>
          <a:ext cx="1066800" cy="457200"/>
        </p:xfrm>
        <a:graphic>
          <a:graphicData uri="http://schemas.openxmlformats.org/presentationml/2006/ole">
            <mc:AlternateContent xmlns:mc="http://schemas.openxmlformats.org/markup-compatibility/2006">
              <mc:Choice xmlns:v="urn:schemas-microsoft-com:vml" Requires="v">
                <p:oleObj spid="_x0000_s3087" name="" r:id="rId8" imgW="13163550" imgH="3514725" progId="Equation.3">
                  <p:embed/>
                </p:oleObj>
              </mc:Choice>
              <mc:Fallback>
                <p:oleObj name="" r:id="rId8" imgW="13163550" imgH="3514725" progId="Equation.3">
                  <p:embed/>
                  <p:pic>
                    <p:nvPicPr>
                      <p:cNvPr id="0" name="图片 3086"/>
                      <p:cNvPicPr/>
                      <p:nvPr/>
                    </p:nvPicPr>
                    <p:blipFill>
                      <a:blip r:embed="rId9"/>
                      <a:stretch>
                        <a:fillRect/>
                      </a:stretch>
                    </p:blipFill>
                    <p:spPr>
                      <a:xfrm>
                        <a:off x="3657600" y="3048000"/>
                        <a:ext cx="1066800" cy="457200"/>
                      </a:xfrm>
                      <a:prstGeom prst="rect">
                        <a:avLst/>
                      </a:prstGeom>
                      <a:noFill/>
                      <a:ln w="38100">
                        <a:noFill/>
                        <a:miter/>
                      </a:ln>
                    </p:spPr>
                  </p:pic>
                </p:oleObj>
              </mc:Fallback>
            </mc:AlternateContent>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45058"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45059" name="Rectangle 1026"/>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朴素贝叶斯分类器</a:t>
            </a:r>
            <a:endParaRPr lang="zh-CN" altLang="en-US">
              <a:ea typeface="宋体" panose="02010600030101010101" pitchFamily="2" charset="-122"/>
            </a:endParaRPr>
          </a:p>
        </p:txBody>
      </p:sp>
      <p:sp>
        <p:nvSpPr>
          <p:cNvPr id="45060" name="Rectangle 1027"/>
          <p:cNvSpPr>
            <a:spLocks noGrp="1"/>
          </p:cNvSpPr>
          <p:nvPr>
            <p:ph idx="1"/>
          </p:nvPr>
        </p:nvSpPr>
        <p:spPr>
          <a:ln/>
        </p:spPr>
        <p:txBody>
          <a:bodyPr vert="horz" wrap="square" lIns="91440" tIns="45720" rIns="91440" bIns="45720" anchor="t" anchorCtr="0"/>
          <a:p>
            <a:pPr algn="just" eaLnBrk="1" hangingPunct="1">
              <a:lnSpc>
                <a:spcPct val="80000"/>
              </a:lnSpc>
            </a:pPr>
            <a:r>
              <a:rPr lang="zh-CN" altLang="en-US" sz="2400">
                <a:latin typeface="Times New Roman" panose="02020603050405020304" pitchFamily="18" charset="0"/>
                <a:ea typeface="宋体" panose="02010600030101010101" pitchFamily="2" charset="-122"/>
              </a:rPr>
              <a:t>给定具有许多属性的数据集，计算             的开销可能非常大。为降低计算的开销，</a:t>
            </a:r>
            <a:r>
              <a:rPr lang="zh-CN" altLang="en-US" sz="2400">
                <a:solidFill>
                  <a:schemeClr val="hlink"/>
                </a:solidFill>
                <a:latin typeface="Times New Roman" panose="02020603050405020304" pitchFamily="18" charset="0"/>
                <a:ea typeface="宋体" panose="02010600030101010101" pitchFamily="2" charset="-122"/>
              </a:rPr>
              <a:t>可以朴素地假设属性间不存在依赖关系。这样，</a:t>
            </a:r>
            <a:endParaRPr lang="zh-CN" altLang="en-US" sz="2400">
              <a:solidFill>
                <a:schemeClr val="hlink"/>
              </a:solidFill>
              <a:latin typeface="Times New Roman" panose="02020603050405020304" pitchFamily="18" charset="0"/>
              <a:ea typeface="宋体" panose="02010600030101010101" pitchFamily="2" charset="-122"/>
            </a:endParaRPr>
          </a:p>
          <a:p>
            <a:pPr algn="r" eaLnBrk="1" hangingPunct="1">
              <a:lnSpc>
                <a:spcPct val="80000"/>
              </a:lnSpc>
              <a:buNone/>
            </a:pPr>
            <a:r>
              <a:rPr lang="zh-CN" altLang="en-US" sz="2400">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a typeface="宋体" panose="02010600030101010101" pitchFamily="2" charset="-122"/>
            </a:endParaRPr>
          </a:p>
          <a:p>
            <a:pPr algn="just" eaLnBrk="1" hangingPunct="1">
              <a:lnSpc>
                <a:spcPct val="80000"/>
              </a:lnSpc>
              <a:buNone/>
            </a:pPr>
            <a:r>
              <a:rPr lang="zh-CN" altLang="en-US" sz="2400">
                <a:latin typeface="Times New Roman" panose="02020603050405020304" pitchFamily="18" charset="0"/>
                <a:ea typeface="宋体" panose="02010600030101010101" pitchFamily="2" charset="-122"/>
              </a:rPr>
              <a:t>      概率          ,            ,…,            可以由训练样本估计，其中，</a:t>
            </a:r>
            <a:endParaRPr lang="zh-CN" altLang="en-US" sz="2400">
              <a:latin typeface="Times New Roman" panose="02020603050405020304" pitchFamily="18" charset="0"/>
              <a:ea typeface="宋体" panose="02010600030101010101" pitchFamily="2" charset="-122"/>
            </a:endParaRPr>
          </a:p>
          <a:p>
            <a:pPr algn="just" eaLnBrk="1" hangingPunct="1">
              <a:lnSpc>
                <a:spcPct val="80000"/>
              </a:lnSpc>
              <a:buNone/>
            </a:pP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a) </a:t>
            </a:r>
            <a:r>
              <a:rPr lang="zh-CN" altLang="en-US" sz="2400">
                <a:latin typeface="Times New Roman" panose="02020603050405020304" pitchFamily="18" charset="0"/>
                <a:ea typeface="宋体" panose="02010600030101010101" pitchFamily="2" charset="-122"/>
              </a:rPr>
              <a:t>如果</a:t>
            </a:r>
            <a:r>
              <a:rPr lang="en-US" altLang="zh-CN" sz="2400" i="1">
                <a:latin typeface="Times New Roman" panose="02020603050405020304" pitchFamily="18" charset="0"/>
                <a:ea typeface="宋体" panose="02010600030101010101" pitchFamily="2" charset="-122"/>
              </a:rPr>
              <a:t>A</a:t>
            </a:r>
            <a:r>
              <a:rPr lang="en-US" altLang="zh-CN" sz="2400" i="1" baseline="-30000">
                <a:latin typeface="Times New Roman" panose="02020603050405020304" pitchFamily="18" charset="0"/>
                <a:ea typeface="宋体" panose="02010600030101010101" pitchFamily="2" charset="-122"/>
              </a:rPr>
              <a:t>k</a:t>
            </a:r>
            <a:r>
              <a:rPr lang="zh-CN" altLang="en-US" sz="2400">
                <a:latin typeface="Times New Roman" panose="02020603050405020304" pitchFamily="18" charset="0"/>
                <a:ea typeface="宋体" panose="02010600030101010101" pitchFamily="2" charset="-122"/>
              </a:rPr>
              <a:t>是分类属性，则                     ；其中</a:t>
            </a:r>
            <a:r>
              <a:rPr lang="en-US" altLang="zh-CN" sz="2400" i="1">
                <a:latin typeface="Times New Roman" panose="02020603050405020304" pitchFamily="18" charset="0"/>
                <a:ea typeface="宋体" panose="02010600030101010101" pitchFamily="2" charset="-122"/>
              </a:rPr>
              <a:t>s</a:t>
            </a:r>
            <a:r>
              <a:rPr lang="en-US" altLang="zh-CN" sz="2400" i="1" baseline="-30000">
                <a:latin typeface="Times New Roman" panose="02020603050405020304" pitchFamily="18" charset="0"/>
                <a:ea typeface="宋体" panose="02010600030101010101" pitchFamily="2" charset="-122"/>
              </a:rPr>
              <a:t>ik </a:t>
            </a:r>
            <a:r>
              <a:rPr lang="zh-CN" altLang="en-US" sz="2400">
                <a:latin typeface="Times New Roman" panose="02020603050405020304" pitchFamily="18" charset="0"/>
                <a:ea typeface="宋体" panose="02010600030101010101" pitchFamily="2" charset="-122"/>
              </a:rPr>
              <a:t>是在属性</a:t>
            </a:r>
            <a:r>
              <a:rPr lang="en-US" altLang="zh-CN" sz="2400" i="1">
                <a:latin typeface="Times New Roman" panose="02020603050405020304" pitchFamily="18" charset="0"/>
                <a:ea typeface="宋体" panose="02010600030101010101" pitchFamily="2" charset="-122"/>
              </a:rPr>
              <a:t>A</a:t>
            </a:r>
            <a:r>
              <a:rPr lang="en-US" altLang="zh-CN" sz="2400" i="1" baseline="-30000">
                <a:latin typeface="Times New Roman" panose="02020603050405020304" pitchFamily="18" charset="0"/>
                <a:ea typeface="宋体" panose="02010600030101010101" pitchFamily="2" charset="-122"/>
              </a:rPr>
              <a:t>k </a:t>
            </a:r>
            <a:r>
              <a:rPr lang="zh-CN" altLang="en-US" sz="2400">
                <a:latin typeface="Times New Roman" panose="02020603050405020304" pitchFamily="18" charset="0"/>
                <a:ea typeface="宋体" panose="02010600030101010101" pitchFamily="2" charset="-122"/>
              </a:rPr>
              <a:t>上具有值</a:t>
            </a:r>
            <a:r>
              <a:rPr lang="en-US" altLang="zh-CN" sz="2400" i="1">
                <a:latin typeface="Times New Roman" panose="02020603050405020304" pitchFamily="18" charset="0"/>
                <a:ea typeface="宋体" panose="02010600030101010101" pitchFamily="2" charset="-122"/>
              </a:rPr>
              <a:t>x</a:t>
            </a:r>
            <a:r>
              <a:rPr lang="en-US" altLang="zh-CN" sz="2400" i="1" baseline="-30000">
                <a:latin typeface="Times New Roman" panose="02020603050405020304" pitchFamily="18" charset="0"/>
                <a:ea typeface="宋体" panose="02010600030101010101" pitchFamily="2" charset="-122"/>
              </a:rPr>
              <a:t>k </a:t>
            </a:r>
            <a:r>
              <a:rPr lang="zh-CN" altLang="en-US" sz="2400">
                <a:latin typeface="Times New Roman" panose="02020603050405020304" pitchFamily="18" charset="0"/>
                <a:ea typeface="宋体" panose="02010600030101010101" pitchFamily="2" charset="-122"/>
              </a:rPr>
              <a:t>的类</a:t>
            </a:r>
            <a:r>
              <a:rPr lang="en-US" altLang="zh-CN" sz="2400" i="1">
                <a:latin typeface="Times New Roman" panose="02020603050405020304" pitchFamily="18" charset="0"/>
                <a:ea typeface="宋体" panose="02010600030101010101" pitchFamily="2" charset="-122"/>
              </a:rPr>
              <a:t>C</a:t>
            </a:r>
            <a:r>
              <a:rPr lang="en-US" altLang="zh-CN" sz="2400" i="1" baseline="-30000">
                <a:latin typeface="Times New Roman" panose="02020603050405020304" pitchFamily="18" charset="0"/>
                <a:ea typeface="宋体" panose="02010600030101010101" pitchFamily="2" charset="-122"/>
              </a:rPr>
              <a:t>i </a:t>
            </a:r>
            <a:r>
              <a:rPr lang="zh-CN" altLang="en-US" sz="2400">
                <a:latin typeface="Times New Roman" panose="02020603050405020304" pitchFamily="18" charset="0"/>
                <a:ea typeface="宋体" panose="02010600030101010101" pitchFamily="2" charset="-122"/>
              </a:rPr>
              <a:t>的训练样本数，而</a:t>
            </a:r>
            <a:r>
              <a:rPr lang="en-US" altLang="zh-CN" sz="2400" i="1">
                <a:latin typeface="Times New Roman" panose="02020603050405020304" pitchFamily="18" charset="0"/>
                <a:ea typeface="宋体" panose="02010600030101010101" pitchFamily="2" charset="-122"/>
              </a:rPr>
              <a:t>s</a:t>
            </a:r>
            <a:r>
              <a:rPr lang="en-US" altLang="zh-CN" sz="2400" i="1" baseline="-30000">
                <a:latin typeface="Times New Roman" panose="02020603050405020304" pitchFamily="18" charset="0"/>
                <a:ea typeface="宋体" panose="02010600030101010101" pitchFamily="2" charset="-122"/>
              </a:rPr>
              <a:t>i </a:t>
            </a:r>
            <a:r>
              <a:rPr lang="zh-CN" altLang="en-US" sz="2400">
                <a:latin typeface="Times New Roman" panose="02020603050405020304" pitchFamily="18" charset="0"/>
                <a:ea typeface="宋体" panose="02010600030101010101" pitchFamily="2" charset="-122"/>
              </a:rPr>
              <a:t>是</a:t>
            </a:r>
            <a:r>
              <a:rPr lang="en-US" altLang="zh-CN" sz="2400" i="1">
                <a:latin typeface="Times New Roman" panose="02020603050405020304" pitchFamily="18" charset="0"/>
                <a:ea typeface="宋体" panose="02010600030101010101" pitchFamily="2" charset="-122"/>
              </a:rPr>
              <a:t>C</a:t>
            </a:r>
            <a:r>
              <a:rPr lang="en-US" altLang="zh-CN" sz="2400" i="1" baseline="-30000">
                <a:latin typeface="Times New Roman" panose="02020603050405020304" pitchFamily="18" charset="0"/>
                <a:ea typeface="宋体" panose="02010600030101010101" pitchFamily="2" charset="-122"/>
              </a:rPr>
              <a:t>i</a:t>
            </a:r>
            <a:r>
              <a:rPr lang="zh-CN" altLang="en-US" sz="2400">
                <a:latin typeface="Times New Roman" panose="02020603050405020304" pitchFamily="18" charset="0"/>
                <a:ea typeface="宋体" panose="02010600030101010101" pitchFamily="2" charset="-122"/>
              </a:rPr>
              <a:t>中的训练样本数</a:t>
            </a:r>
            <a:endParaRPr lang="zh-CN" altLang="en-US" sz="2400">
              <a:latin typeface="Times New Roman" panose="02020603050405020304" pitchFamily="18" charset="0"/>
              <a:ea typeface="宋体" panose="02010600030101010101" pitchFamily="2" charset="-122"/>
            </a:endParaRPr>
          </a:p>
          <a:p>
            <a:pPr algn="just" eaLnBrk="1" hangingPunct="1">
              <a:lnSpc>
                <a:spcPct val="80000"/>
              </a:lnSpc>
              <a:buNone/>
            </a:pP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b) </a:t>
            </a:r>
            <a:r>
              <a:rPr lang="zh-CN" altLang="en-US" sz="2400">
                <a:latin typeface="Times New Roman" panose="02020603050405020304" pitchFamily="18" charset="0"/>
                <a:ea typeface="宋体" panose="02010600030101010101" pitchFamily="2" charset="-122"/>
              </a:rPr>
              <a:t>如果是连续值属性，则通常假定该属性服从高斯分布。因而，</a:t>
            </a:r>
            <a:endParaRPr lang="zh-CN" altLang="en-US" sz="2400">
              <a:latin typeface="Times New Roman" panose="02020603050405020304" pitchFamily="18" charset="0"/>
              <a:ea typeface="宋体" panose="02010600030101010101" pitchFamily="2" charset="-122"/>
            </a:endParaRPr>
          </a:p>
          <a:p>
            <a:pPr algn="just" eaLnBrk="1" hangingPunct="1">
              <a:lnSpc>
                <a:spcPct val="80000"/>
              </a:lnSpc>
              <a:buNone/>
            </a:pPr>
            <a:r>
              <a:rPr lang="zh-CN" altLang="en-US" sz="2400">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a typeface="宋体" panose="02010600030101010101" pitchFamily="2" charset="-122"/>
            </a:endParaRPr>
          </a:p>
          <a:p>
            <a:pPr algn="just" eaLnBrk="1" hangingPunct="1">
              <a:lnSpc>
                <a:spcPct val="80000"/>
              </a:lnSpc>
              <a:buNone/>
            </a:pPr>
            <a:r>
              <a:rPr lang="zh-CN" altLang="en-US" sz="2400">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a typeface="宋体" panose="02010600030101010101" pitchFamily="2" charset="-122"/>
            </a:endParaRPr>
          </a:p>
          <a:p>
            <a:pPr algn="just" eaLnBrk="1" hangingPunct="1">
              <a:lnSpc>
                <a:spcPct val="80000"/>
              </a:lnSpc>
              <a:buNone/>
            </a:pPr>
            <a:r>
              <a:rPr lang="zh-CN" altLang="en-US" sz="2400">
                <a:latin typeface="Times New Roman" panose="02020603050405020304" pitchFamily="18" charset="0"/>
                <a:ea typeface="宋体" panose="02010600030101010101" pitchFamily="2" charset="-122"/>
              </a:rPr>
              <a:t>	其中，给定类</a:t>
            </a:r>
            <a:r>
              <a:rPr lang="en-US" altLang="zh-CN" sz="2400" i="1">
                <a:latin typeface="Times New Roman" panose="02020603050405020304" pitchFamily="18" charset="0"/>
                <a:ea typeface="宋体" panose="02010600030101010101" pitchFamily="2" charset="-122"/>
              </a:rPr>
              <a:t>C</a:t>
            </a:r>
            <a:r>
              <a:rPr lang="en-US" altLang="zh-CN" sz="2400" i="1" baseline="-30000">
                <a:latin typeface="Times New Roman" panose="02020603050405020304" pitchFamily="18" charset="0"/>
                <a:ea typeface="宋体" panose="02010600030101010101" pitchFamily="2" charset="-122"/>
              </a:rPr>
              <a:t>i</a:t>
            </a:r>
            <a:r>
              <a:rPr lang="zh-CN" altLang="en-US" sz="2400">
                <a:latin typeface="Times New Roman" panose="02020603050405020304" pitchFamily="18" charset="0"/>
                <a:ea typeface="宋体" panose="02010600030101010101" pitchFamily="2" charset="-122"/>
              </a:rPr>
              <a:t>的训练样本属性</a:t>
            </a:r>
            <a:r>
              <a:rPr lang="en-US" altLang="zh-CN" sz="2400" i="1">
                <a:latin typeface="Times New Roman" panose="02020603050405020304" pitchFamily="18" charset="0"/>
                <a:ea typeface="宋体" panose="02010600030101010101" pitchFamily="2" charset="-122"/>
              </a:rPr>
              <a:t>A</a:t>
            </a:r>
            <a:r>
              <a:rPr lang="en-US" altLang="zh-CN" sz="2400" i="1" baseline="-30000">
                <a:latin typeface="Times New Roman" panose="02020603050405020304" pitchFamily="18" charset="0"/>
                <a:ea typeface="宋体" panose="02010600030101010101" pitchFamily="2" charset="-122"/>
              </a:rPr>
              <a:t>k</a:t>
            </a:r>
            <a:r>
              <a:rPr lang="zh-CN" altLang="en-US" sz="2400">
                <a:latin typeface="Times New Roman" panose="02020603050405020304" pitchFamily="18" charset="0"/>
                <a:ea typeface="宋体" panose="02010600030101010101" pitchFamily="2" charset="-122"/>
              </a:rPr>
              <a:t>的值，              是属性</a:t>
            </a:r>
            <a:r>
              <a:rPr lang="en-US" altLang="zh-CN" sz="2400" i="1">
                <a:latin typeface="Times New Roman" panose="02020603050405020304" pitchFamily="18" charset="0"/>
                <a:ea typeface="宋体" panose="02010600030101010101" pitchFamily="2" charset="-122"/>
              </a:rPr>
              <a:t>A</a:t>
            </a:r>
            <a:r>
              <a:rPr lang="en-US" altLang="zh-CN" sz="2400" i="1" baseline="-30000">
                <a:latin typeface="Times New Roman" panose="02020603050405020304" pitchFamily="18" charset="0"/>
                <a:ea typeface="宋体" panose="02010600030101010101" pitchFamily="2" charset="-122"/>
              </a:rPr>
              <a:t>k</a:t>
            </a:r>
            <a:r>
              <a:rPr lang="zh-CN" altLang="en-US" sz="2400">
                <a:latin typeface="Times New Roman" panose="02020603050405020304" pitchFamily="18" charset="0"/>
                <a:ea typeface="宋体" panose="02010600030101010101" pitchFamily="2" charset="-122"/>
              </a:rPr>
              <a:t>的</a:t>
            </a:r>
            <a:r>
              <a:rPr lang="zh-CN" altLang="en-US" sz="2400" b="1">
                <a:latin typeface="Times New Roman" panose="02020603050405020304" pitchFamily="18" charset="0"/>
                <a:ea typeface="宋体" panose="02010600030101010101" pitchFamily="2" charset="-122"/>
              </a:rPr>
              <a:t>高斯密度函数</a:t>
            </a:r>
            <a:r>
              <a:rPr lang="zh-CN" altLang="en-US" sz="2400">
                <a:latin typeface="Times New Roman" panose="02020603050405020304" pitchFamily="18" charset="0"/>
                <a:ea typeface="宋体" panose="02010600030101010101" pitchFamily="2" charset="-122"/>
              </a:rPr>
              <a:t>，而            分别为平均值和标准差。</a:t>
            </a:r>
            <a:endParaRPr lang="zh-CN" altLang="en-US" sz="2400">
              <a:latin typeface="Times New Roman" panose="02020603050405020304" pitchFamily="18" charset="0"/>
              <a:ea typeface="宋体" panose="02010600030101010101" pitchFamily="2" charset="-122"/>
            </a:endParaRPr>
          </a:p>
          <a:p>
            <a:pPr eaLnBrk="1" hangingPunct="1">
              <a:lnSpc>
                <a:spcPct val="80000"/>
              </a:lnSpc>
            </a:pPr>
            <a:endParaRPr lang="zh-CN" altLang="en-US" sz="2400">
              <a:ea typeface="宋体" panose="02010600030101010101" pitchFamily="2" charset="-122"/>
            </a:endParaRPr>
          </a:p>
        </p:txBody>
      </p:sp>
      <p:sp>
        <p:nvSpPr>
          <p:cNvPr id="45061" name="Rectangle 1029"/>
          <p:cNvSpPr/>
          <p:nvPr/>
        </p:nvSpPr>
        <p:spPr>
          <a:xfrm>
            <a:off x="4281488" y="33147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62" name="Object 15"/>
          <p:cNvGraphicFramePr>
            <a:graphicFrameLocks noChangeAspect="1"/>
          </p:cNvGraphicFramePr>
          <p:nvPr/>
        </p:nvGraphicFramePr>
        <p:xfrm>
          <a:off x="5410200" y="1371600"/>
          <a:ext cx="990600" cy="452438"/>
        </p:xfrm>
        <a:graphic>
          <a:graphicData uri="http://schemas.openxmlformats.org/presentationml/2006/ole">
            <mc:AlternateContent xmlns:mc="http://schemas.openxmlformats.org/markup-compatibility/2006">
              <mc:Choice xmlns:v="urn:schemas-microsoft-com:vml" Requires="v">
                <p:oleObj spid="_x0000_s3091" name="" r:id="rId1" imgW="10096500" imgH="3514725" progId="Equation.3">
                  <p:embed/>
                </p:oleObj>
              </mc:Choice>
              <mc:Fallback>
                <p:oleObj name="" r:id="rId1" imgW="10096500" imgH="3514725" progId="Equation.3">
                  <p:embed/>
                  <p:pic>
                    <p:nvPicPr>
                      <p:cNvPr id="0" name="图片 3090"/>
                      <p:cNvPicPr/>
                      <p:nvPr/>
                    </p:nvPicPr>
                    <p:blipFill>
                      <a:blip r:embed="rId2"/>
                      <a:stretch>
                        <a:fillRect/>
                      </a:stretch>
                    </p:blipFill>
                    <p:spPr>
                      <a:xfrm>
                        <a:off x="5410200" y="1371600"/>
                        <a:ext cx="990600" cy="452438"/>
                      </a:xfrm>
                      <a:prstGeom prst="rect">
                        <a:avLst/>
                      </a:prstGeom>
                      <a:noFill/>
                      <a:ln w="38100">
                        <a:noFill/>
                        <a:miter/>
                      </a:ln>
                    </p:spPr>
                  </p:pic>
                </p:oleObj>
              </mc:Fallback>
            </mc:AlternateContent>
          </a:graphicData>
        </a:graphic>
      </p:graphicFrame>
      <p:graphicFrame>
        <p:nvGraphicFramePr>
          <p:cNvPr id="45063" name="Object 16"/>
          <p:cNvGraphicFramePr/>
          <p:nvPr/>
        </p:nvGraphicFramePr>
        <p:xfrm>
          <a:off x="2743200" y="2057400"/>
          <a:ext cx="3200400" cy="609600"/>
        </p:xfrm>
        <a:graphic>
          <a:graphicData uri="http://schemas.openxmlformats.org/presentationml/2006/ole">
            <mc:AlternateContent xmlns:mc="http://schemas.openxmlformats.org/markup-compatibility/2006">
              <mc:Choice xmlns:v="urn:schemas-microsoft-com:vml" Requires="v">
                <p:oleObj spid="_x0000_s3088" name="" r:id="rId3" imgW="30499050" imgH="8772525" progId="Equation.3">
                  <p:embed/>
                </p:oleObj>
              </mc:Choice>
              <mc:Fallback>
                <p:oleObj name="" r:id="rId3" imgW="30499050" imgH="8772525" progId="Equation.3">
                  <p:embed/>
                  <p:pic>
                    <p:nvPicPr>
                      <p:cNvPr id="0" name="图片 3087"/>
                      <p:cNvPicPr/>
                      <p:nvPr/>
                    </p:nvPicPr>
                    <p:blipFill>
                      <a:blip r:embed="rId4"/>
                      <a:stretch>
                        <a:fillRect/>
                      </a:stretch>
                    </p:blipFill>
                    <p:spPr>
                      <a:xfrm>
                        <a:off x="2743200" y="2057400"/>
                        <a:ext cx="3200400" cy="609600"/>
                      </a:xfrm>
                      <a:prstGeom prst="rect">
                        <a:avLst/>
                      </a:prstGeom>
                      <a:noFill/>
                      <a:ln w="38100">
                        <a:noFill/>
                        <a:miter/>
                      </a:ln>
                    </p:spPr>
                  </p:pic>
                </p:oleObj>
              </mc:Fallback>
            </mc:AlternateContent>
          </a:graphicData>
        </a:graphic>
      </p:graphicFrame>
      <p:sp>
        <p:nvSpPr>
          <p:cNvPr id="45064" name="Rectangle 1032"/>
          <p:cNvSpPr/>
          <p:nvPr/>
        </p:nvSpPr>
        <p:spPr>
          <a:xfrm>
            <a:off x="4300538"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65" name="Object 17"/>
          <p:cNvGraphicFramePr>
            <a:graphicFrameLocks noChangeAspect="1"/>
          </p:cNvGraphicFramePr>
          <p:nvPr/>
        </p:nvGraphicFramePr>
        <p:xfrm>
          <a:off x="1466850" y="2667000"/>
          <a:ext cx="685800" cy="373063"/>
        </p:xfrm>
        <a:graphic>
          <a:graphicData uri="http://schemas.openxmlformats.org/presentationml/2006/ole">
            <mc:AlternateContent xmlns:mc="http://schemas.openxmlformats.org/markup-compatibility/2006">
              <mc:Choice xmlns:v="urn:schemas-microsoft-com:vml" Requires="v">
                <p:oleObj spid="_x0000_s3092" name="" r:id="rId5" imgW="9439275" imgH="3295650" progId="Equation.3">
                  <p:embed/>
                </p:oleObj>
              </mc:Choice>
              <mc:Fallback>
                <p:oleObj name="" r:id="rId5" imgW="9439275" imgH="3295650" progId="Equation.3">
                  <p:embed/>
                  <p:pic>
                    <p:nvPicPr>
                      <p:cNvPr id="0" name="图片 3091"/>
                      <p:cNvPicPr/>
                      <p:nvPr/>
                    </p:nvPicPr>
                    <p:blipFill>
                      <a:blip r:embed="rId6"/>
                      <a:stretch>
                        <a:fillRect/>
                      </a:stretch>
                    </p:blipFill>
                    <p:spPr>
                      <a:xfrm>
                        <a:off x="1466850" y="2667000"/>
                        <a:ext cx="685800" cy="373063"/>
                      </a:xfrm>
                      <a:prstGeom prst="rect">
                        <a:avLst/>
                      </a:prstGeom>
                      <a:noFill/>
                      <a:ln w="38100">
                        <a:noFill/>
                        <a:miter/>
                      </a:ln>
                    </p:spPr>
                  </p:pic>
                </p:oleObj>
              </mc:Fallback>
            </mc:AlternateContent>
          </a:graphicData>
        </a:graphic>
      </p:graphicFrame>
      <p:sp>
        <p:nvSpPr>
          <p:cNvPr id="45066" name="Rectangle 1034"/>
          <p:cNvSpPr/>
          <p:nvPr/>
        </p:nvSpPr>
        <p:spPr>
          <a:xfrm>
            <a:off x="4286250"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67" name="Object 18"/>
          <p:cNvGraphicFramePr>
            <a:graphicFrameLocks noChangeAspect="1"/>
          </p:cNvGraphicFramePr>
          <p:nvPr/>
        </p:nvGraphicFramePr>
        <p:xfrm>
          <a:off x="2305050" y="2667000"/>
          <a:ext cx="914400" cy="350838"/>
        </p:xfrm>
        <a:graphic>
          <a:graphicData uri="http://schemas.openxmlformats.org/presentationml/2006/ole">
            <mc:AlternateContent xmlns:mc="http://schemas.openxmlformats.org/markup-compatibility/2006">
              <mc:Choice xmlns:v="urn:schemas-microsoft-com:vml" Requires="v">
                <p:oleObj spid="_x0000_s3089" name="" r:id="rId7" imgW="9877425" imgH="3295650" progId="Equation.3">
                  <p:embed/>
                </p:oleObj>
              </mc:Choice>
              <mc:Fallback>
                <p:oleObj name="" r:id="rId7" imgW="9877425" imgH="3295650" progId="Equation.3">
                  <p:embed/>
                  <p:pic>
                    <p:nvPicPr>
                      <p:cNvPr id="0" name="图片 3088"/>
                      <p:cNvPicPr/>
                      <p:nvPr/>
                    </p:nvPicPr>
                    <p:blipFill>
                      <a:blip r:embed="rId8"/>
                      <a:stretch>
                        <a:fillRect/>
                      </a:stretch>
                    </p:blipFill>
                    <p:spPr>
                      <a:xfrm>
                        <a:off x="2305050" y="2667000"/>
                        <a:ext cx="914400" cy="350838"/>
                      </a:xfrm>
                      <a:prstGeom prst="rect">
                        <a:avLst/>
                      </a:prstGeom>
                      <a:noFill/>
                      <a:ln w="38100">
                        <a:noFill/>
                        <a:miter/>
                      </a:ln>
                    </p:spPr>
                  </p:pic>
                </p:oleObj>
              </mc:Fallback>
            </mc:AlternateContent>
          </a:graphicData>
        </a:graphic>
      </p:graphicFrame>
      <p:sp>
        <p:nvSpPr>
          <p:cNvPr id="45068" name="Rectangle 1036"/>
          <p:cNvSpPr/>
          <p:nvPr/>
        </p:nvSpPr>
        <p:spPr>
          <a:xfrm>
            <a:off x="4286250"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69" name="Object 19"/>
          <p:cNvGraphicFramePr>
            <a:graphicFrameLocks noChangeAspect="1"/>
          </p:cNvGraphicFramePr>
          <p:nvPr/>
        </p:nvGraphicFramePr>
        <p:xfrm>
          <a:off x="3676650" y="2667000"/>
          <a:ext cx="914400" cy="350838"/>
        </p:xfrm>
        <a:graphic>
          <a:graphicData uri="http://schemas.openxmlformats.org/presentationml/2006/ole">
            <mc:AlternateContent xmlns:mc="http://schemas.openxmlformats.org/markup-compatibility/2006">
              <mc:Choice xmlns:v="urn:schemas-microsoft-com:vml" Requires="v">
                <p:oleObj spid="_x0000_s3090" name="" r:id="rId9" imgW="9877425" imgH="3295650" progId="Equation.3">
                  <p:embed/>
                </p:oleObj>
              </mc:Choice>
              <mc:Fallback>
                <p:oleObj name="" r:id="rId9" imgW="9877425" imgH="3295650" progId="Equation.3">
                  <p:embed/>
                  <p:pic>
                    <p:nvPicPr>
                      <p:cNvPr id="0" name="图片 3089"/>
                      <p:cNvPicPr/>
                      <p:nvPr/>
                    </p:nvPicPr>
                    <p:blipFill>
                      <a:blip r:embed="rId10"/>
                      <a:stretch>
                        <a:fillRect/>
                      </a:stretch>
                    </p:blipFill>
                    <p:spPr>
                      <a:xfrm>
                        <a:off x="3676650" y="2667000"/>
                        <a:ext cx="914400" cy="350838"/>
                      </a:xfrm>
                      <a:prstGeom prst="rect">
                        <a:avLst/>
                      </a:prstGeom>
                      <a:noFill/>
                      <a:ln w="38100">
                        <a:noFill/>
                        <a:miter/>
                      </a:ln>
                    </p:spPr>
                  </p:pic>
                </p:oleObj>
              </mc:Fallback>
            </mc:AlternateContent>
          </a:graphicData>
        </a:graphic>
      </p:graphicFrame>
      <p:sp>
        <p:nvSpPr>
          <p:cNvPr id="45070" name="Rectangle 1038"/>
          <p:cNvSpPr/>
          <p:nvPr/>
        </p:nvSpPr>
        <p:spPr>
          <a:xfrm>
            <a:off x="4038600" y="3328988"/>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71" name="Object 20"/>
          <p:cNvGraphicFramePr>
            <a:graphicFrameLocks noChangeAspect="1"/>
          </p:cNvGraphicFramePr>
          <p:nvPr/>
        </p:nvGraphicFramePr>
        <p:xfrm>
          <a:off x="4343400" y="3048000"/>
          <a:ext cx="1828800" cy="328613"/>
        </p:xfrm>
        <a:graphic>
          <a:graphicData uri="http://schemas.openxmlformats.org/presentationml/2006/ole">
            <mc:AlternateContent xmlns:mc="http://schemas.openxmlformats.org/markup-compatibility/2006">
              <mc:Choice xmlns:v="urn:schemas-microsoft-com:vml" Requires="v">
                <p:oleObj spid="_x0000_s3093" name="" r:id="rId11" imgW="18430875" imgH="3514725" progId="Equation.3">
                  <p:embed/>
                </p:oleObj>
              </mc:Choice>
              <mc:Fallback>
                <p:oleObj name="" r:id="rId11" imgW="18430875" imgH="3514725" progId="Equation.3">
                  <p:embed/>
                  <p:pic>
                    <p:nvPicPr>
                      <p:cNvPr id="0" name="图片 3092"/>
                      <p:cNvPicPr/>
                      <p:nvPr/>
                    </p:nvPicPr>
                    <p:blipFill>
                      <a:blip r:embed="rId12"/>
                      <a:stretch>
                        <a:fillRect/>
                      </a:stretch>
                    </p:blipFill>
                    <p:spPr>
                      <a:xfrm>
                        <a:off x="4343400" y="3048000"/>
                        <a:ext cx="1828800" cy="328613"/>
                      </a:xfrm>
                      <a:prstGeom prst="rect">
                        <a:avLst/>
                      </a:prstGeom>
                      <a:noFill/>
                      <a:ln w="38100">
                        <a:noFill/>
                        <a:miter/>
                      </a:ln>
                    </p:spPr>
                  </p:pic>
                </p:oleObj>
              </mc:Fallback>
            </mc:AlternateContent>
          </a:graphicData>
        </a:graphic>
      </p:graphicFrame>
      <p:sp>
        <p:nvSpPr>
          <p:cNvPr id="45072" name="Rectangle 1040"/>
          <p:cNvSpPr/>
          <p:nvPr/>
        </p:nvSpPr>
        <p:spPr>
          <a:xfrm>
            <a:off x="3276600" y="30480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73" name="Object 21"/>
          <p:cNvGraphicFramePr>
            <a:graphicFrameLocks noChangeAspect="1"/>
          </p:cNvGraphicFramePr>
          <p:nvPr/>
        </p:nvGraphicFramePr>
        <p:xfrm>
          <a:off x="1676400" y="4495800"/>
          <a:ext cx="4038600" cy="914400"/>
        </p:xfrm>
        <a:graphic>
          <a:graphicData uri="http://schemas.openxmlformats.org/presentationml/2006/ole">
            <mc:AlternateContent xmlns:mc="http://schemas.openxmlformats.org/markup-compatibility/2006">
              <mc:Choice xmlns:v="urn:schemas-microsoft-com:vml" Requires="v">
                <p:oleObj spid="_x0000_s3094" name="" r:id="rId13" imgW="47396400" imgH="9877425" progId="Equation.3">
                  <p:embed/>
                </p:oleObj>
              </mc:Choice>
              <mc:Fallback>
                <p:oleObj name="" r:id="rId13" imgW="47396400" imgH="9877425" progId="Equation.3">
                  <p:embed/>
                  <p:pic>
                    <p:nvPicPr>
                      <p:cNvPr id="0" name="图片 3093"/>
                      <p:cNvPicPr/>
                      <p:nvPr/>
                    </p:nvPicPr>
                    <p:blipFill>
                      <a:blip r:embed="rId14"/>
                      <a:stretch>
                        <a:fillRect/>
                      </a:stretch>
                    </p:blipFill>
                    <p:spPr>
                      <a:xfrm>
                        <a:off x="1676400" y="4495800"/>
                        <a:ext cx="4038600" cy="914400"/>
                      </a:xfrm>
                      <a:prstGeom prst="rect">
                        <a:avLst/>
                      </a:prstGeom>
                      <a:noFill/>
                      <a:ln w="38100">
                        <a:noFill/>
                        <a:miter/>
                      </a:ln>
                    </p:spPr>
                  </p:pic>
                </p:oleObj>
              </mc:Fallback>
            </mc:AlternateContent>
          </a:graphicData>
        </a:graphic>
      </p:graphicFrame>
      <p:sp>
        <p:nvSpPr>
          <p:cNvPr id="45074" name="Rectangle 1042"/>
          <p:cNvSpPr/>
          <p:nvPr/>
        </p:nvSpPr>
        <p:spPr>
          <a:xfrm>
            <a:off x="4148138"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75" name="Object 22"/>
          <p:cNvGraphicFramePr>
            <a:graphicFrameLocks noChangeAspect="1"/>
          </p:cNvGraphicFramePr>
          <p:nvPr/>
        </p:nvGraphicFramePr>
        <p:xfrm>
          <a:off x="6172200" y="5334000"/>
          <a:ext cx="1371600" cy="354013"/>
        </p:xfrm>
        <a:graphic>
          <a:graphicData uri="http://schemas.openxmlformats.org/presentationml/2006/ole">
            <mc:AlternateContent xmlns:mc="http://schemas.openxmlformats.org/markup-compatibility/2006">
              <mc:Choice xmlns:v="urn:schemas-microsoft-com:vml" Requires="v">
                <p:oleObj spid="_x0000_s3096" name="" r:id="rId15" imgW="14697075" imgH="3733800" progId="Equation.3">
                  <p:embed/>
                </p:oleObj>
              </mc:Choice>
              <mc:Fallback>
                <p:oleObj name="" r:id="rId15" imgW="14697075" imgH="3733800" progId="Equation.3">
                  <p:embed/>
                  <p:pic>
                    <p:nvPicPr>
                      <p:cNvPr id="0" name="图片 3095"/>
                      <p:cNvPicPr/>
                      <p:nvPr/>
                    </p:nvPicPr>
                    <p:blipFill>
                      <a:blip r:embed="rId16"/>
                      <a:stretch>
                        <a:fillRect/>
                      </a:stretch>
                    </p:blipFill>
                    <p:spPr>
                      <a:xfrm>
                        <a:off x="6172200" y="5334000"/>
                        <a:ext cx="1371600" cy="354013"/>
                      </a:xfrm>
                      <a:prstGeom prst="rect">
                        <a:avLst/>
                      </a:prstGeom>
                      <a:noFill/>
                      <a:ln w="38100">
                        <a:noFill/>
                        <a:miter/>
                      </a:ln>
                    </p:spPr>
                  </p:pic>
                </p:oleObj>
              </mc:Fallback>
            </mc:AlternateContent>
          </a:graphicData>
        </a:graphic>
      </p:graphicFrame>
      <p:sp>
        <p:nvSpPr>
          <p:cNvPr id="45076" name="Rectangle 1044"/>
          <p:cNvSpPr/>
          <p:nvPr/>
        </p:nvSpPr>
        <p:spPr>
          <a:xfrm>
            <a:off x="4338638"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5077" name="Object 23"/>
          <p:cNvGraphicFramePr>
            <a:graphicFrameLocks noChangeAspect="1"/>
          </p:cNvGraphicFramePr>
          <p:nvPr/>
        </p:nvGraphicFramePr>
        <p:xfrm>
          <a:off x="3505200" y="5638800"/>
          <a:ext cx="838200" cy="393700"/>
        </p:xfrm>
        <a:graphic>
          <a:graphicData uri="http://schemas.openxmlformats.org/presentationml/2006/ole">
            <mc:AlternateContent xmlns:mc="http://schemas.openxmlformats.org/markup-compatibility/2006">
              <mc:Choice xmlns:v="urn:schemas-microsoft-com:vml" Requires="v">
                <p:oleObj spid="_x0000_s3095" name="" r:id="rId17" imgW="8115300" imgH="3733800" progId="Equation.3">
                  <p:embed/>
                </p:oleObj>
              </mc:Choice>
              <mc:Fallback>
                <p:oleObj name="" r:id="rId17" imgW="8115300" imgH="3733800" progId="Equation.3">
                  <p:embed/>
                  <p:pic>
                    <p:nvPicPr>
                      <p:cNvPr id="0" name="图片 3094"/>
                      <p:cNvPicPr/>
                      <p:nvPr/>
                    </p:nvPicPr>
                    <p:blipFill>
                      <a:blip r:embed="rId18"/>
                      <a:stretch>
                        <a:fillRect/>
                      </a:stretch>
                    </p:blipFill>
                    <p:spPr>
                      <a:xfrm>
                        <a:off x="3505200" y="5638800"/>
                        <a:ext cx="838200" cy="393700"/>
                      </a:xfrm>
                      <a:prstGeom prst="rect">
                        <a:avLst/>
                      </a:prstGeom>
                      <a:noFill/>
                      <a:ln w="38100">
                        <a:noFill/>
                        <a:miter/>
                      </a:ln>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46082"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46083" name="Rectangle 2050"/>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朴素贝叶斯分类器</a:t>
            </a:r>
            <a:endParaRPr lang="zh-CN" altLang="en-US">
              <a:ea typeface="宋体" panose="02010600030101010101" pitchFamily="2" charset="-122"/>
            </a:endParaRPr>
          </a:p>
        </p:txBody>
      </p:sp>
      <p:sp>
        <p:nvSpPr>
          <p:cNvPr id="46084" name="Rectangle 2051"/>
          <p:cNvSpPr>
            <a:spLocks noGrp="1"/>
          </p:cNvSpPr>
          <p:nvPr>
            <p:ph idx="1"/>
          </p:nvPr>
        </p:nvSpPr>
        <p:spPr>
          <a:ln/>
        </p:spPr>
        <p:txBody>
          <a:bodyPr vert="horz" wrap="square" lIns="91440" tIns="45720" rIns="91440" bIns="45720" anchor="t" anchorCtr="0"/>
          <a:p>
            <a:pPr algn="just" eaLnBrk="1" hangingPunct="1"/>
            <a:r>
              <a:rPr lang="zh-CN" altLang="en-US">
                <a:latin typeface="Times New Roman" panose="02020603050405020304" pitchFamily="18" charset="0"/>
                <a:ea typeface="宋体" panose="02010600030101010101" pitchFamily="2" charset="-122"/>
              </a:rPr>
              <a:t>为对未知样本</a:t>
            </a:r>
            <a:r>
              <a:rPr lang="en-US" altLang="zh-CN" i="1">
                <a:latin typeface="Times New Roman" panose="02020603050405020304" pitchFamily="18" charset="0"/>
                <a:ea typeface="宋体" panose="02010600030101010101" pitchFamily="2" charset="-122"/>
              </a:rPr>
              <a:t>X</a:t>
            </a:r>
            <a:r>
              <a:rPr lang="zh-CN" altLang="en-US">
                <a:latin typeface="Times New Roman" panose="02020603050405020304" pitchFamily="18" charset="0"/>
                <a:ea typeface="宋体" panose="02010600030101010101" pitchFamily="2" charset="-122"/>
              </a:rPr>
              <a:t>分类，对每个类</a:t>
            </a:r>
            <a:r>
              <a:rPr lang="en-US" altLang="zh-CN" i="1">
                <a:latin typeface="Times New Roman" panose="02020603050405020304" pitchFamily="18" charset="0"/>
                <a:ea typeface="宋体" panose="02010600030101010101" pitchFamily="2" charset="-122"/>
              </a:rPr>
              <a:t>C</a:t>
            </a:r>
            <a:r>
              <a:rPr lang="en-US" altLang="zh-CN" i="1" baseline="-30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计算                。样本</a:t>
            </a:r>
            <a:r>
              <a:rPr lang="en-US" altLang="zh-CN" i="1">
                <a:latin typeface="Times New Roman" panose="02020603050405020304" pitchFamily="18" charset="0"/>
                <a:ea typeface="宋体" panose="02010600030101010101" pitchFamily="2" charset="-122"/>
              </a:rPr>
              <a:t>X</a:t>
            </a:r>
            <a:r>
              <a:rPr lang="zh-CN" altLang="en-US">
                <a:latin typeface="Times New Roman" panose="02020603050405020304" pitchFamily="18" charset="0"/>
                <a:ea typeface="宋体" panose="02010600030101010101" pitchFamily="2" charset="-122"/>
              </a:rPr>
              <a:t>被指派到类</a:t>
            </a:r>
            <a:r>
              <a:rPr lang="en-US" altLang="zh-CN" i="1">
                <a:latin typeface="Times New Roman" panose="02020603050405020304" pitchFamily="18" charset="0"/>
                <a:ea typeface="宋体" panose="02010600030101010101" pitchFamily="2" charset="-122"/>
              </a:rPr>
              <a:t>C</a:t>
            </a:r>
            <a:r>
              <a:rPr lang="en-US" altLang="zh-CN" i="1" baseline="-30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当且仅当：</a:t>
            </a:r>
            <a:endParaRPr lang="zh-CN" altLang="en-US">
              <a:latin typeface="Times New Roman" panose="02020603050405020304" pitchFamily="18" charset="0"/>
              <a:ea typeface="宋体" panose="02010600030101010101" pitchFamily="2" charset="-122"/>
            </a:endParaRPr>
          </a:p>
          <a:p>
            <a:pPr algn="just" eaLnBrk="1" hangingPunct="1">
              <a:buNone/>
            </a:pP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eaLnBrk="1" hangingPunct="1">
              <a:buNone/>
            </a:pPr>
            <a:endParaRPr lang="zh-CN" altLang="en-US">
              <a:latin typeface="Times New Roman" panose="02020603050405020304" pitchFamily="18" charset="0"/>
              <a:ea typeface="宋体" panose="02010600030101010101" pitchFamily="2" charset="-122"/>
            </a:endParaRPr>
          </a:p>
          <a:p>
            <a:pPr algn="just" eaLnBrk="1" hangingPunct="1">
              <a:buNone/>
            </a:pPr>
            <a:r>
              <a:rPr lang="zh-CN" altLang="en-US">
                <a:latin typeface="Times New Roman" panose="02020603050405020304" pitchFamily="18" charset="0"/>
                <a:ea typeface="宋体" panose="02010600030101010101" pitchFamily="2" charset="-122"/>
              </a:rPr>
              <a:t>    换言之，</a:t>
            </a:r>
            <a:r>
              <a:rPr lang="en-US" altLang="zh-CN">
                <a:latin typeface="Times New Roman" panose="02020603050405020304" pitchFamily="18" charset="0"/>
                <a:ea typeface="宋体" panose="02010600030101010101" pitchFamily="2" charset="-122"/>
              </a:rPr>
              <a:t>X</a:t>
            </a:r>
            <a:r>
              <a:rPr lang="zh-CN" altLang="en-US">
                <a:latin typeface="Times New Roman" panose="02020603050405020304" pitchFamily="18" charset="0"/>
                <a:ea typeface="宋体" panose="02010600030101010101" pitchFamily="2" charset="-122"/>
              </a:rPr>
              <a:t>被指派到其                      最大的类</a:t>
            </a:r>
            <a:r>
              <a:rPr lang="en-US" altLang="zh-CN" i="1">
                <a:latin typeface="Times New Roman" panose="02020603050405020304" pitchFamily="18" charset="0"/>
                <a:ea typeface="宋体" panose="02010600030101010101" pitchFamily="2" charset="-122"/>
              </a:rPr>
              <a:t>C</a:t>
            </a:r>
            <a:r>
              <a:rPr lang="en-US" altLang="zh-CN" i="1" baseline="-30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eaLnBrk="1" hangingPunct="1"/>
            <a:endParaRPr lang="zh-CN" altLang="en-US">
              <a:ea typeface="宋体" panose="02010600030101010101" pitchFamily="2" charset="-122"/>
            </a:endParaRPr>
          </a:p>
        </p:txBody>
      </p:sp>
      <p:sp>
        <p:nvSpPr>
          <p:cNvPr id="46085" name="Rectangle 2053"/>
          <p:cNvSpPr/>
          <p:nvPr/>
        </p:nvSpPr>
        <p:spPr>
          <a:xfrm>
            <a:off x="4148138"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sp>
        <p:nvSpPr>
          <p:cNvPr id="46086" name="Rectangle 2055"/>
          <p:cNvSpPr/>
          <p:nvPr/>
        </p:nvSpPr>
        <p:spPr>
          <a:xfrm>
            <a:off x="3052763"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6087" name="Object 1063"/>
          <p:cNvGraphicFramePr>
            <a:graphicFrameLocks noChangeAspect="1"/>
          </p:cNvGraphicFramePr>
          <p:nvPr/>
        </p:nvGraphicFramePr>
        <p:xfrm>
          <a:off x="1828800" y="2514600"/>
          <a:ext cx="5638800" cy="533400"/>
        </p:xfrm>
        <a:graphic>
          <a:graphicData uri="http://schemas.openxmlformats.org/presentationml/2006/ole">
            <mc:AlternateContent xmlns:mc="http://schemas.openxmlformats.org/markup-compatibility/2006">
              <mc:Choice xmlns:v="urn:schemas-microsoft-com:vml" Requires="v">
                <p:oleObj spid="_x0000_s3079" name="" r:id="rId1" imgW="52444650" imgH="3733800" progId="Equation.3">
                  <p:embed/>
                </p:oleObj>
              </mc:Choice>
              <mc:Fallback>
                <p:oleObj name="" r:id="rId1" imgW="52444650" imgH="3733800" progId="Equation.3">
                  <p:embed/>
                  <p:pic>
                    <p:nvPicPr>
                      <p:cNvPr id="0" name="图片 3078"/>
                      <p:cNvPicPr/>
                      <p:nvPr/>
                    </p:nvPicPr>
                    <p:blipFill>
                      <a:blip r:embed="rId2"/>
                      <a:stretch>
                        <a:fillRect/>
                      </a:stretch>
                    </p:blipFill>
                    <p:spPr>
                      <a:xfrm>
                        <a:off x="1828800" y="2514600"/>
                        <a:ext cx="5638800" cy="533400"/>
                      </a:xfrm>
                      <a:prstGeom prst="rect">
                        <a:avLst/>
                      </a:prstGeom>
                      <a:noFill/>
                      <a:ln w="38100">
                        <a:noFill/>
                        <a:miter/>
                      </a:ln>
                    </p:spPr>
                  </p:pic>
                </p:oleObj>
              </mc:Fallback>
            </mc:AlternateContent>
          </a:graphicData>
        </a:graphic>
      </p:graphicFrame>
      <p:sp>
        <p:nvSpPr>
          <p:cNvPr id="46088" name="Rectangle 2057"/>
          <p:cNvSpPr/>
          <p:nvPr/>
        </p:nvSpPr>
        <p:spPr>
          <a:xfrm>
            <a:off x="4148138" y="33194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graphicFrame>
        <p:nvGraphicFramePr>
          <p:cNvPr id="46089" name="Object 1064"/>
          <p:cNvGraphicFramePr>
            <a:graphicFrameLocks noChangeAspect="1"/>
          </p:cNvGraphicFramePr>
          <p:nvPr/>
        </p:nvGraphicFramePr>
        <p:xfrm>
          <a:off x="4191000" y="3395663"/>
          <a:ext cx="1905000" cy="452437"/>
        </p:xfrm>
        <a:graphic>
          <a:graphicData uri="http://schemas.openxmlformats.org/presentationml/2006/ole">
            <mc:AlternateContent xmlns:mc="http://schemas.openxmlformats.org/markup-compatibility/2006">
              <mc:Choice xmlns:v="urn:schemas-microsoft-com:vml" Requires="v">
                <p:oleObj spid="_x0000_s3080" name="" r:id="rId3" imgW="14697075" imgH="3295650" progId="Equation.3">
                  <p:embed/>
                </p:oleObj>
              </mc:Choice>
              <mc:Fallback>
                <p:oleObj name="" r:id="rId3" imgW="14697075" imgH="3295650" progId="Equation.3">
                  <p:embed/>
                  <p:pic>
                    <p:nvPicPr>
                      <p:cNvPr id="0" name="图片 3079"/>
                      <p:cNvPicPr/>
                      <p:nvPr/>
                    </p:nvPicPr>
                    <p:blipFill>
                      <a:blip r:embed="rId4"/>
                      <a:stretch>
                        <a:fillRect/>
                      </a:stretch>
                    </p:blipFill>
                    <p:spPr>
                      <a:xfrm>
                        <a:off x="4191000" y="3395663"/>
                        <a:ext cx="1905000" cy="452437"/>
                      </a:xfrm>
                      <a:prstGeom prst="rect">
                        <a:avLst/>
                      </a:prstGeom>
                      <a:noFill/>
                      <a:ln w="38100">
                        <a:noFill/>
                        <a:miter/>
                      </a:ln>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47106"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47107" name="Rectangle 2"/>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训练集</a:t>
            </a:r>
            <a:endParaRPr lang="en-US" altLang="zh-CN">
              <a:ea typeface="宋体" panose="02010600030101010101" pitchFamily="2" charset="-122"/>
            </a:endParaRPr>
          </a:p>
        </p:txBody>
      </p:sp>
      <p:graphicFrame>
        <p:nvGraphicFramePr>
          <p:cNvPr id="47108" name="Object 2"/>
          <p:cNvGraphicFramePr/>
          <p:nvPr>
            <p:ph idx="1"/>
          </p:nvPr>
        </p:nvGraphicFramePr>
        <p:xfrm>
          <a:off x="2743200" y="1828800"/>
          <a:ext cx="6167438" cy="4495800"/>
        </p:xfrm>
        <a:graphic>
          <a:graphicData uri="http://schemas.openxmlformats.org/presentationml/2006/ole">
            <mc:AlternateContent xmlns:mc="http://schemas.openxmlformats.org/markup-compatibility/2006">
              <mc:Choice xmlns:v="urn:schemas-microsoft-com:vml" Requires="v">
                <p:oleObj spid="_x0000_s3081" name="" r:id="rId1" imgW="6124575" imgH="4467225" progId="Excel.Sheet.8">
                  <p:embed/>
                </p:oleObj>
              </mc:Choice>
              <mc:Fallback>
                <p:oleObj name="" r:id="rId1" imgW="6124575" imgH="4467225" progId="Excel.Sheet.8">
                  <p:embed/>
                  <p:pic>
                    <p:nvPicPr>
                      <p:cNvPr id="0" name="图片 3080"/>
                      <p:cNvPicPr/>
                      <p:nvPr/>
                    </p:nvPicPr>
                    <p:blipFill>
                      <a:blip r:embed="rId2"/>
                      <a:srcRect/>
                      <a:stretch>
                        <a:fillRect/>
                      </a:stretch>
                    </p:blipFill>
                    <p:spPr>
                      <a:xfrm>
                        <a:off x="2743200" y="1828800"/>
                        <a:ext cx="6167438" cy="4495800"/>
                      </a:xfrm>
                      <a:prstGeom prst="rect">
                        <a:avLst/>
                      </a:prstGeom>
                      <a:noFill/>
                      <a:ln w="38100">
                        <a:miter/>
                      </a:ln>
                    </p:spPr>
                  </p:pic>
                </p:oleObj>
              </mc:Fallback>
            </mc:AlternateContent>
          </a:graphicData>
        </a:graphic>
      </p:graphicFrame>
      <p:sp>
        <p:nvSpPr>
          <p:cNvPr id="47109" name="Text Box 4"/>
          <p:cNvSpPr txBox="1"/>
          <p:nvPr/>
        </p:nvSpPr>
        <p:spPr>
          <a:xfrm>
            <a:off x="228600" y="2057400"/>
            <a:ext cx="2468563" cy="3749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lang="en-US" altLang="zh-CN" sz="2000">
                <a:ea typeface="宋体" panose="02010600030101010101" pitchFamily="2" charset="-122"/>
              </a:rPr>
              <a:t>Class:</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C1:buys_computer=</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‘yes’</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C2:buys_computer=</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‘no’</a:t>
            </a:r>
            <a:endParaRPr lang="en-US" altLang="zh-CN" sz="2000">
              <a:ea typeface="宋体" panose="02010600030101010101" pitchFamily="2" charset="-122"/>
            </a:endParaRPr>
          </a:p>
          <a:p>
            <a:pPr marL="0" lvl="0" indent="0" eaLnBrk="1" hangingPunct="1">
              <a:spcBef>
                <a:spcPct val="0"/>
              </a:spcBef>
              <a:buClrTx/>
              <a:buSzTx/>
              <a:buFontTx/>
              <a:buNone/>
            </a:pP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Data sample </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X =(age&lt;=30,</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Income=medium,</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Student=yes</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Credit_rating=</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Fair)</a:t>
            </a:r>
            <a:endParaRPr lang="en-US" altLang="zh-CN" sz="200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48130"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48131" name="Rectangle 2"/>
          <p:cNvSpPr>
            <a:spLocks noGrp="1"/>
          </p:cNvSpPr>
          <p:nvPr>
            <p:ph type="title"/>
          </p:nvPr>
        </p:nvSpPr>
        <p:spPr>
          <a:xfrm>
            <a:off x="609600" y="381000"/>
            <a:ext cx="7793038" cy="609600"/>
          </a:xfrm>
          <a:ln/>
        </p:spPr>
        <p:txBody>
          <a:bodyPr vert="horz" wrap="square" lIns="91440" tIns="45720" rIns="91440" bIns="45720" anchor="b" anchorCtr="0"/>
          <a:p>
            <a:pPr eaLnBrk="1" hangingPunct="1"/>
            <a:r>
              <a:rPr lang="zh-CN" altLang="en-US" sz="3200">
                <a:ea typeface="宋体" panose="02010600030101010101" pitchFamily="2" charset="-122"/>
              </a:rPr>
              <a:t>朴素贝叶斯</a:t>
            </a:r>
            <a:r>
              <a:rPr lang="en-US" altLang="zh-CN" sz="3200">
                <a:ea typeface="宋体" panose="02010600030101010101" pitchFamily="2" charset="-122"/>
              </a:rPr>
              <a:t>:</a:t>
            </a:r>
            <a:r>
              <a:rPr lang="zh-CN" altLang="en-US" sz="3200">
                <a:ea typeface="宋体" panose="02010600030101010101" pitchFamily="2" charset="-122"/>
              </a:rPr>
              <a:t> 例子</a:t>
            </a:r>
            <a:endParaRPr lang="en-US" altLang="zh-CN" sz="3200">
              <a:ea typeface="宋体" panose="02010600030101010101" pitchFamily="2" charset="-122"/>
            </a:endParaRPr>
          </a:p>
        </p:txBody>
      </p:sp>
      <p:sp>
        <p:nvSpPr>
          <p:cNvPr id="48132" name="Rectangle 3"/>
          <p:cNvSpPr>
            <a:spLocks noGrp="1"/>
          </p:cNvSpPr>
          <p:nvPr>
            <p:ph idx="1"/>
          </p:nvPr>
        </p:nvSpPr>
        <p:spPr>
          <a:ln/>
        </p:spPr>
        <p:txBody>
          <a:bodyPr vert="horz" wrap="square" lIns="91440" tIns="45720" rIns="91440" bIns="45720" anchor="t" anchorCtr="0"/>
          <a:p>
            <a:pPr eaLnBrk="1" hangingPunct="1">
              <a:lnSpc>
                <a:spcPct val="80000"/>
              </a:lnSpc>
            </a:pPr>
            <a:r>
              <a:rPr lang="en-US" altLang="zh-CN" sz="2000">
                <a:ea typeface="宋体" panose="02010600030101010101" pitchFamily="2" charset="-122"/>
              </a:rPr>
              <a:t>Compute P(X|Ci) for each class</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P(buys_computer=“yes”)  = 9/14=0.643</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P(buys_computer=“no”)  = 5/14=0.357</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P(age=“&lt;30” | buys_computer=“yes”)  = 2/9=0.222</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P(income=“medium” | buys_computer=“yes”)= 4/9 =0.444</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P(student=“yes” | buys_computer=“yes)= 6/9 =0.667</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P(credit_rating=“fair” | buys_computer=“yes”)=6/9=0.667</a:t>
            </a:r>
            <a:endParaRPr lang="en-US" altLang="zh-CN" sz="1400">
              <a:ea typeface="宋体" panose="02010600030101010101" pitchFamily="2" charset="-122"/>
            </a:endParaRPr>
          </a:p>
          <a:p>
            <a:pPr eaLnBrk="1" hangingPunct="1">
              <a:lnSpc>
                <a:spcPct val="80000"/>
              </a:lnSpc>
              <a:buNone/>
            </a:pP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P(age=“&lt;30” | buys_computer=“no”) = 3/5 =0.6</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P(income=“medium” | buys_computer=“no”) = 2/5 = 0.4</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P(student=“yes” | buys_computer=“no”)= 1/5=0.2</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P(credit_rating=“fair” | buys_computer=“no”)=2/5=0.4</a:t>
            </a:r>
            <a:endParaRPr lang="en-US" altLang="zh-CN" sz="1400">
              <a:ea typeface="宋体" panose="02010600030101010101" pitchFamily="2" charset="-122"/>
            </a:endParaRPr>
          </a:p>
          <a:p>
            <a:pPr eaLnBrk="1" hangingPunct="1">
              <a:lnSpc>
                <a:spcPct val="80000"/>
              </a:lnSpc>
              <a:buNone/>
            </a:pPr>
            <a:endParaRPr lang="en-US" altLang="zh-CN" sz="1400">
              <a:ea typeface="宋体" panose="02010600030101010101" pitchFamily="2" charset="-122"/>
            </a:endParaRPr>
          </a:p>
          <a:p>
            <a:pPr eaLnBrk="1" hangingPunct="1">
              <a:lnSpc>
                <a:spcPct val="80000"/>
              </a:lnSpc>
              <a:buNone/>
            </a:pPr>
            <a:r>
              <a:rPr lang="en-US" altLang="zh-CN" sz="1400" b="1">
                <a:ea typeface="宋体" panose="02010600030101010101" pitchFamily="2" charset="-122"/>
              </a:rPr>
              <a:t>   X=(age&lt;=30 , income =medium, student=yes, credit_rating=fair)</a:t>
            </a:r>
            <a:endParaRPr lang="en-US" altLang="zh-CN" sz="1400" b="1">
              <a:ea typeface="宋体" panose="02010600030101010101" pitchFamily="2" charset="-122"/>
            </a:endParaRPr>
          </a:p>
          <a:p>
            <a:pPr eaLnBrk="1" hangingPunct="1">
              <a:lnSpc>
                <a:spcPct val="80000"/>
              </a:lnSpc>
              <a:buNone/>
            </a:pPr>
            <a:endParaRPr lang="en-US" altLang="zh-CN" sz="1400" b="1">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r>
              <a:rPr lang="en-US" altLang="zh-CN" sz="1400" b="1">
                <a:ea typeface="宋体" panose="02010600030101010101" pitchFamily="2" charset="-122"/>
              </a:rPr>
              <a:t>P(X|Ci) :</a:t>
            </a:r>
            <a:r>
              <a:rPr lang="en-US" altLang="zh-CN" sz="1400">
                <a:ea typeface="宋体" panose="02010600030101010101" pitchFamily="2" charset="-122"/>
              </a:rPr>
              <a:t> P(X|buys_computer=“yes”)= 0.222 x 0.444 x 0.667 x 0.667 =0.044</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P(X|buys_computer=“no”)= 0.6 x 0.4 x 0.2 x 0.4 =0.019</a:t>
            </a:r>
            <a:endParaRPr lang="en-US" altLang="zh-CN" sz="1400">
              <a:ea typeface="宋体" panose="02010600030101010101" pitchFamily="2" charset="-122"/>
            </a:endParaRPr>
          </a:p>
          <a:p>
            <a:pPr eaLnBrk="1" hangingPunct="1">
              <a:lnSpc>
                <a:spcPct val="80000"/>
              </a:lnSpc>
              <a:buNone/>
            </a:pPr>
            <a:r>
              <a:rPr lang="en-US" altLang="zh-CN" sz="1400" b="1">
                <a:ea typeface="宋体" panose="02010600030101010101" pitchFamily="2" charset="-122"/>
              </a:rPr>
              <a:t>P(X|Ci)*P(Ci ) : </a:t>
            </a:r>
            <a:r>
              <a:rPr lang="en-US" altLang="zh-CN" sz="1400">
                <a:ea typeface="宋体" panose="02010600030101010101" pitchFamily="2" charset="-122"/>
              </a:rPr>
              <a:t>P(X|buys_computer=“yes”) * P(buys_computer=“yes”)=0.044 x 0.643=0.028</a:t>
            </a:r>
            <a:endParaRPr lang="en-US" altLang="zh-CN" sz="1400">
              <a:ea typeface="宋体" panose="02010600030101010101" pitchFamily="2" charset="-122"/>
            </a:endParaRPr>
          </a:p>
          <a:p>
            <a:pPr eaLnBrk="1" hangingPunct="1">
              <a:lnSpc>
                <a:spcPct val="80000"/>
              </a:lnSpc>
              <a:buNone/>
            </a:pPr>
            <a:r>
              <a:rPr lang="en-US" altLang="zh-CN" sz="1400" b="1">
                <a:ea typeface="宋体" panose="02010600030101010101" pitchFamily="2" charset="-122"/>
              </a:rPr>
              <a:t>		           </a:t>
            </a:r>
            <a:r>
              <a:rPr lang="en-US" altLang="zh-CN" sz="1400">
                <a:ea typeface="宋体" panose="02010600030101010101" pitchFamily="2" charset="-122"/>
              </a:rPr>
              <a:t>P(X|buys_computer=“no”) * P(buys_computer=“no”)= 0.019 x 0.357=0.007</a:t>
            </a:r>
            <a:endParaRPr lang="en-US" altLang="zh-CN" sz="1400">
              <a:ea typeface="宋体" panose="02010600030101010101" pitchFamily="2" charset="-122"/>
            </a:endParaRPr>
          </a:p>
          <a:p>
            <a:pPr eaLnBrk="1" hangingPunct="1">
              <a:lnSpc>
                <a:spcPct val="80000"/>
              </a:lnSpc>
              <a:buNone/>
            </a:pPr>
            <a:endParaRPr lang="en-US" altLang="zh-CN" sz="1400" b="1">
              <a:ea typeface="宋体" panose="02010600030101010101" pitchFamily="2" charset="-122"/>
            </a:endParaRPr>
          </a:p>
          <a:p>
            <a:pPr eaLnBrk="1" hangingPunct="1">
              <a:lnSpc>
                <a:spcPct val="80000"/>
              </a:lnSpc>
              <a:buNone/>
            </a:pPr>
            <a:r>
              <a:rPr lang="en-US" altLang="zh-CN" sz="1400" b="1">
                <a:ea typeface="宋体" panose="02010600030101010101" pitchFamily="2" charset="-122"/>
              </a:rPr>
              <a:t>Therefore,  X belongs to  class “buys_computer=yes”		</a:t>
            </a:r>
            <a:endParaRPr lang="en-US" altLang="zh-CN" sz="1400" b="1">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TextBox 25"/>
          <p:cNvSpPr txBox="1"/>
          <p:nvPr/>
        </p:nvSpPr>
        <p:spPr>
          <a:xfrm>
            <a:off x="219075" y="322263"/>
            <a:ext cx="2154238" cy="3460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690"/>
              </a:lnSpc>
              <a:spcBef>
                <a:spcPct val="0"/>
              </a:spcBef>
              <a:buClrTx/>
              <a:buSzTx/>
              <a:buFontTx/>
              <a:buNone/>
            </a:pPr>
            <a:r>
              <a:rPr lang="zh-CN" altLang="en-US" sz="2700">
                <a:solidFill>
                  <a:srgbClr val="000000"/>
                </a:solidFill>
                <a:latin typeface="幼圆" panose="02010509060101010101" pitchFamily="49" charset="-122"/>
                <a:ea typeface="幼圆" panose="02010509060101010101" pitchFamily="49" charset="-122"/>
              </a:rPr>
              <a:t>拉普拉斯修正</a:t>
            </a:r>
            <a:endParaRPr lang="zh-CN" altLang="en-US" sz="2700">
              <a:solidFill>
                <a:srgbClr val="000000"/>
              </a:solidFill>
              <a:latin typeface="幼圆" panose="02010509060101010101" pitchFamily="49" charset="-122"/>
              <a:ea typeface="幼圆" panose="02010509060101010101" pitchFamily="49" charset="-122"/>
            </a:endParaRPr>
          </a:p>
        </p:txBody>
      </p:sp>
      <p:sp>
        <p:nvSpPr>
          <p:cNvPr id="49154" name="TextBox 26"/>
          <p:cNvSpPr txBox="1"/>
          <p:nvPr/>
        </p:nvSpPr>
        <p:spPr>
          <a:xfrm>
            <a:off x="2478088" y="357188"/>
            <a:ext cx="2286000"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en-US" altLang="zh-CN" sz="2000">
                <a:solidFill>
                  <a:srgbClr val="000000"/>
                </a:solidFill>
                <a:latin typeface="Times New Roman" panose="02020603050405020304" pitchFamily="18" charset="0"/>
                <a:ea typeface="宋体" panose="02010600030101010101" pitchFamily="2" charset="-122"/>
              </a:rPr>
              <a:t>(Laplacian correction)</a:t>
            </a:r>
            <a:endParaRPr lang="zh-CN" altLang="en-US" sz="2000">
              <a:solidFill>
                <a:srgbClr val="000000"/>
              </a:solidFill>
              <a:latin typeface="Times New Roman" panose="02020603050405020304" pitchFamily="18" charset="0"/>
              <a:ea typeface="宋体" panose="02010600030101010101" pitchFamily="2" charset="-122"/>
            </a:endParaRPr>
          </a:p>
        </p:txBody>
      </p:sp>
      <p:sp>
        <p:nvSpPr>
          <p:cNvPr id="49155" name="TextBox 27"/>
          <p:cNvSpPr txBox="1"/>
          <p:nvPr/>
        </p:nvSpPr>
        <p:spPr>
          <a:xfrm>
            <a:off x="460375" y="914400"/>
            <a:ext cx="8118475" cy="8715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1925"/>
              </a:lnSpc>
              <a:spcBef>
                <a:spcPct val="0"/>
              </a:spcBef>
              <a:buClrTx/>
              <a:buSzTx/>
              <a:buFontTx/>
              <a:buNone/>
              <a:tabLst>
                <a:tab pos="76200" algn="l"/>
                <a:tab pos="558800" algn="l"/>
                <a:tab pos="901700" algn="l"/>
                <a:tab pos="1282700" algn="l"/>
              </a:tabLst>
            </a:pPr>
            <a:r>
              <a:rPr lang="zh-CN" altLang="en-US" sz="2000">
                <a:solidFill>
                  <a:srgbClr val="000000"/>
                </a:solidFill>
                <a:latin typeface="幼圆" panose="02010509060101010101" pitchFamily="49" charset="-122"/>
                <a:ea typeface="幼圆" panose="02010509060101010101" pitchFamily="49" charset="-122"/>
              </a:rPr>
              <a:t>若某个属性值在训练集中没有与某个类同时出现过，则直接计算会出现</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890"/>
              </a:lnSpc>
              <a:spcBef>
                <a:spcPct val="0"/>
              </a:spcBef>
              <a:buClrTx/>
              <a:buSzTx/>
              <a:buFontTx/>
              <a:buNone/>
              <a:tabLst>
                <a:tab pos="76200" algn="l"/>
                <a:tab pos="558800" algn="l"/>
                <a:tab pos="901700" algn="l"/>
                <a:tab pos="1282700" algn="l"/>
              </a:tabLst>
            </a:pPr>
            <a:r>
              <a:rPr lang="zh-CN" altLang="en-US" sz="2000">
                <a:solidFill>
                  <a:srgbClr val="000000"/>
                </a:solidFill>
                <a:latin typeface="幼圆" panose="02010509060101010101" pitchFamily="49" charset="-122"/>
                <a:ea typeface="幼圆" panose="02010509060101010101" pitchFamily="49" charset="-122"/>
              </a:rPr>
              <a:t>问题，因为概率连乘将</a:t>
            </a:r>
            <a:r>
              <a:rPr lang="zh-CN" altLang="en-US" sz="2000">
                <a:solidFill>
                  <a:srgbClr val="000000"/>
                </a:solidFill>
                <a:latin typeface="Arial" panose="020B0604020202020204" pitchFamily="34" charset="0"/>
                <a:ea typeface="幼圆" panose="02010509060101010101" pitchFamily="49" charset="-122"/>
              </a:rPr>
              <a:t>“</a:t>
            </a:r>
            <a:r>
              <a:rPr lang="zh-CN" altLang="en-US" sz="2000">
                <a:solidFill>
                  <a:srgbClr val="000000"/>
                </a:solidFill>
                <a:latin typeface="幼圆" panose="02010509060101010101" pitchFamily="49" charset="-122"/>
                <a:ea typeface="幼圆" panose="02010509060101010101" pitchFamily="49" charset="-122"/>
              </a:rPr>
              <a:t>抹去</a:t>
            </a:r>
            <a:r>
              <a:rPr lang="zh-CN" altLang="en-US" sz="2000">
                <a:solidFill>
                  <a:srgbClr val="000000"/>
                </a:solidFill>
                <a:latin typeface="Arial" panose="020B0604020202020204" pitchFamily="34" charset="0"/>
                <a:ea typeface="幼圆" panose="02010509060101010101" pitchFamily="49" charset="-122"/>
              </a:rPr>
              <a:t>”</a:t>
            </a:r>
            <a:r>
              <a:rPr lang="zh-CN" altLang="en-US" sz="2000">
                <a:solidFill>
                  <a:srgbClr val="000000"/>
                </a:solidFill>
                <a:latin typeface="幼圆" panose="02010509060101010101" pitchFamily="49" charset="-122"/>
                <a:ea typeface="幼圆" panose="02010509060101010101" pitchFamily="49" charset="-122"/>
              </a:rPr>
              <a:t>其他属性提供的信息</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p:txBody>
      </p:sp>
      <p:graphicFrame>
        <p:nvGraphicFramePr>
          <p:cNvPr id="49156" name="Object 2"/>
          <p:cNvGraphicFramePr/>
          <p:nvPr/>
        </p:nvGraphicFramePr>
        <p:xfrm>
          <a:off x="2743200" y="1828800"/>
          <a:ext cx="6167438" cy="4495800"/>
        </p:xfrm>
        <a:graphic>
          <a:graphicData uri="http://schemas.openxmlformats.org/presentationml/2006/ole">
            <mc:AlternateContent xmlns:mc="http://schemas.openxmlformats.org/markup-compatibility/2006">
              <mc:Choice xmlns:v="urn:schemas-microsoft-com:vml" Requires="v">
                <p:oleObj spid="_x0000_s3082" name="" r:id="rId1" imgW="6124575" imgH="4467225" progId="Excel.Sheet.8">
                  <p:embed/>
                </p:oleObj>
              </mc:Choice>
              <mc:Fallback>
                <p:oleObj name="" r:id="rId1" imgW="6124575" imgH="4467225" progId="Excel.Sheet.8">
                  <p:embed/>
                  <p:pic>
                    <p:nvPicPr>
                      <p:cNvPr id="0" name="图片 3081"/>
                      <p:cNvPicPr/>
                      <p:nvPr/>
                    </p:nvPicPr>
                    <p:blipFill>
                      <a:blip r:embed="rId2"/>
                      <a:stretch>
                        <a:fillRect/>
                      </a:stretch>
                    </p:blipFill>
                    <p:spPr>
                      <a:xfrm>
                        <a:off x="2743200" y="1828800"/>
                        <a:ext cx="6167438" cy="4495800"/>
                      </a:xfrm>
                      <a:prstGeom prst="rect">
                        <a:avLst/>
                      </a:prstGeom>
                      <a:noFill/>
                      <a:ln w="38100">
                        <a:noFill/>
                        <a:miter/>
                      </a:ln>
                    </p:spPr>
                  </p:pic>
                </p:oleObj>
              </mc:Fallback>
            </mc:AlternateContent>
          </a:graphicData>
        </a:graphic>
      </p:graphicFrame>
      <p:sp>
        <p:nvSpPr>
          <p:cNvPr id="49157" name="Text Box 4"/>
          <p:cNvSpPr txBox="1"/>
          <p:nvPr/>
        </p:nvSpPr>
        <p:spPr>
          <a:xfrm>
            <a:off x="228600" y="2057400"/>
            <a:ext cx="2468563" cy="3749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lang="en-US" altLang="zh-CN" sz="2000">
                <a:ea typeface="宋体" panose="02010600030101010101" pitchFamily="2" charset="-122"/>
              </a:rPr>
              <a:t>Class:</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C1:buys_computer=</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‘yes’</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C2:buys_computer=</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‘no’</a:t>
            </a:r>
            <a:endParaRPr lang="en-US" altLang="zh-CN" sz="2000">
              <a:ea typeface="宋体" panose="02010600030101010101" pitchFamily="2" charset="-122"/>
            </a:endParaRPr>
          </a:p>
          <a:p>
            <a:pPr marL="0" lvl="0" indent="0" eaLnBrk="1" hangingPunct="1">
              <a:spcBef>
                <a:spcPct val="0"/>
              </a:spcBef>
              <a:buClrTx/>
              <a:buSzTx/>
              <a:buFontTx/>
              <a:buNone/>
            </a:pP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Data sample </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X =(</a:t>
            </a:r>
            <a:r>
              <a:rPr lang="en-US" altLang="zh-CN" sz="2000">
                <a:solidFill>
                  <a:srgbClr val="FF0000"/>
                </a:solidFill>
                <a:ea typeface="宋体" panose="02010600030101010101" pitchFamily="2" charset="-122"/>
              </a:rPr>
              <a:t>age=31…40</a:t>
            </a:r>
            <a:r>
              <a:rPr lang="en-US" altLang="zh-CN" sz="2000">
                <a:ea typeface="宋体" panose="02010600030101010101" pitchFamily="2" charset="-122"/>
              </a:rPr>
              <a:t>,</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Income=medium,</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Student=yes</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Credit_rating=</a:t>
            </a:r>
            <a:endParaRPr lang="en-US" altLang="zh-CN" sz="2000">
              <a:ea typeface="宋体" panose="02010600030101010101" pitchFamily="2" charset="-122"/>
            </a:endParaRPr>
          </a:p>
          <a:p>
            <a:pPr marL="0" lvl="0" indent="0" eaLnBrk="1" hangingPunct="1">
              <a:spcBef>
                <a:spcPct val="0"/>
              </a:spcBef>
              <a:buClrTx/>
              <a:buSzTx/>
              <a:buFontTx/>
              <a:buNone/>
            </a:pPr>
            <a:r>
              <a:rPr lang="en-US" altLang="zh-CN" sz="2000">
                <a:ea typeface="宋体" panose="02010600030101010101" pitchFamily="2" charset="-122"/>
              </a:rPr>
              <a:t>Fair)</a:t>
            </a:r>
            <a:endParaRPr lang="en-US" altLang="zh-CN" sz="200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51202"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51203" name="Rectangle 2"/>
          <p:cNvSpPr>
            <a:spLocks noGrp="1"/>
          </p:cNvSpPr>
          <p:nvPr>
            <p:ph type="title"/>
          </p:nvPr>
        </p:nvSpPr>
        <p:spPr>
          <a:xfrm>
            <a:off x="609600" y="381000"/>
            <a:ext cx="7793038" cy="609600"/>
          </a:xfrm>
          <a:ln/>
        </p:spPr>
        <p:txBody>
          <a:bodyPr vert="horz" wrap="square" lIns="91440" tIns="45720" rIns="91440" bIns="45720" anchor="b" anchorCtr="0"/>
          <a:p>
            <a:pPr eaLnBrk="1" hangingPunct="1"/>
            <a:r>
              <a:rPr lang="zh-CN" altLang="en-US" sz="3200">
                <a:ea typeface="宋体" panose="02010600030101010101" pitchFamily="2" charset="-122"/>
              </a:rPr>
              <a:t>朴素贝叶斯</a:t>
            </a:r>
            <a:r>
              <a:rPr lang="en-US" altLang="zh-CN" sz="3200">
                <a:ea typeface="宋体" panose="02010600030101010101" pitchFamily="2" charset="-122"/>
              </a:rPr>
              <a:t>:</a:t>
            </a:r>
            <a:r>
              <a:rPr lang="zh-CN" altLang="en-US" sz="3200">
                <a:ea typeface="宋体" panose="02010600030101010101" pitchFamily="2" charset="-122"/>
              </a:rPr>
              <a:t> 例子</a:t>
            </a:r>
            <a:endParaRPr lang="en-US" altLang="zh-CN" sz="3200">
              <a:ea typeface="宋体" panose="02010600030101010101" pitchFamily="2" charset="-122"/>
            </a:endParaRPr>
          </a:p>
        </p:txBody>
      </p:sp>
      <p:sp>
        <p:nvSpPr>
          <p:cNvPr id="51204" name="Rectangle 3"/>
          <p:cNvSpPr>
            <a:spLocks noGrp="1"/>
          </p:cNvSpPr>
          <p:nvPr>
            <p:ph idx="1"/>
          </p:nvPr>
        </p:nvSpPr>
        <p:spPr>
          <a:ln/>
        </p:spPr>
        <p:txBody>
          <a:bodyPr vert="horz" wrap="square" lIns="91440" tIns="45720" rIns="91440" bIns="45720" anchor="t" anchorCtr="0"/>
          <a:p>
            <a:pPr eaLnBrk="1" hangingPunct="1">
              <a:lnSpc>
                <a:spcPct val="80000"/>
              </a:lnSpc>
            </a:pPr>
            <a:r>
              <a:rPr lang="en-US" altLang="zh-CN" sz="2000">
                <a:ea typeface="宋体" panose="02010600030101010101" pitchFamily="2" charset="-122"/>
              </a:rPr>
              <a:t>Compute P(X|Ci) for each class</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P(buys_computer=“yes”)  = 9/14=0.643</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P(buys_computer=“no”)  = 5/14=0.357</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P(age=“31…40” | buys_computer=“yes”)  </a:t>
            </a:r>
            <a:r>
              <a:rPr lang="en-US" altLang="zh-CN" sz="1400">
                <a:solidFill>
                  <a:srgbClr val="FF0000"/>
                </a:solidFill>
                <a:ea typeface="宋体" panose="02010600030101010101" pitchFamily="2" charset="-122"/>
              </a:rPr>
              <a:t>= 4/9=0.444</a:t>
            </a:r>
            <a:endParaRPr lang="en-US" altLang="zh-CN" sz="1400">
              <a:solidFill>
                <a:srgbClr val="FF0000"/>
              </a:solidFill>
              <a:ea typeface="宋体" panose="02010600030101010101" pitchFamily="2" charset="-122"/>
            </a:endParaRPr>
          </a:p>
          <a:p>
            <a:pPr eaLnBrk="1" hangingPunct="1">
              <a:lnSpc>
                <a:spcPct val="80000"/>
              </a:lnSpc>
              <a:buNone/>
            </a:pPr>
            <a:r>
              <a:rPr lang="en-US" altLang="zh-CN" sz="1400">
                <a:ea typeface="宋体" panose="02010600030101010101" pitchFamily="2" charset="-122"/>
              </a:rPr>
              <a:t>     P(income=“medium” | buys_computer=“yes”)= 4/9 =0.444</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P(student=“yes” | buys_computer=“yes)= 6/9 =0.667</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P(credit_rating=“fair” | buys_computer=“yes”)=6/9=0.667</a:t>
            </a:r>
            <a:endParaRPr lang="en-US" altLang="zh-CN" sz="1400">
              <a:ea typeface="宋体" panose="02010600030101010101" pitchFamily="2" charset="-122"/>
            </a:endParaRPr>
          </a:p>
          <a:p>
            <a:pPr eaLnBrk="1" hangingPunct="1">
              <a:lnSpc>
                <a:spcPct val="80000"/>
              </a:lnSpc>
              <a:buNone/>
            </a:pP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P(age=“30…40” | buys_computer=“no”) = </a:t>
            </a:r>
            <a:r>
              <a:rPr lang="en-US" altLang="zh-CN" sz="1400">
                <a:solidFill>
                  <a:srgbClr val="FF0000"/>
                </a:solidFill>
                <a:ea typeface="宋体" panose="02010600030101010101" pitchFamily="2" charset="-122"/>
              </a:rPr>
              <a:t>0/5 =0</a:t>
            </a:r>
            <a:endParaRPr lang="en-US" altLang="zh-CN" sz="1400">
              <a:solidFill>
                <a:srgbClr val="FF0000"/>
              </a:solidFill>
              <a:ea typeface="宋体" panose="02010600030101010101" pitchFamily="2" charset="-122"/>
            </a:endParaRPr>
          </a:p>
          <a:p>
            <a:pPr eaLnBrk="1" hangingPunct="1">
              <a:lnSpc>
                <a:spcPct val="80000"/>
              </a:lnSpc>
              <a:buNone/>
            </a:pPr>
            <a:r>
              <a:rPr lang="en-US" altLang="zh-CN" sz="1400">
                <a:ea typeface="宋体" panose="02010600030101010101" pitchFamily="2" charset="-122"/>
              </a:rPr>
              <a:t>     P(income=“medium” | buys_computer=“no”) = 2/5 = 0.4</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P(student=“yes” | buys_computer=“no”)= 1/5=0.2</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P(credit_rating=“fair” | buys_computer=“no”)=2/5=0.4</a:t>
            </a:r>
            <a:endParaRPr lang="en-US" altLang="zh-CN" sz="1400">
              <a:ea typeface="宋体" panose="02010600030101010101" pitchFamily="2" charset="-122"/>
            </a:endParaRPr>
          </a:p>
          <a:p>
            <a:pPr eaLnBrk="1" hangingPunct="1">
              <a:lnSpc>
                <a:spcPct val="80000"/>
              </a:lnSpc>
              <a:buNone/>
            </a:pPr>
            <a:endParaRPr lang="en-US" altLang="zh-CN" sz="1400">
              <a:ea typeface="宋体" panose="02010600030101010101" pitchFamily="2" charset="-122"/>
            </a:endParaRPr>
          </a:p>
          <a:p>
            <a:pPr eaLnBrk="1" hangingPunct="1">
              <a:lnSpc>
                <a:spcPct val="80000"/>
              </a:lnSpc>
              <a:buNone/>
            </a:pPr>
            <a:r>
              <a:rPr lang="en-US" altLang="zh-CN" sz="1400" b="1">
                <a:ea typeface="宋体" panose="02010600030101010101" pitchFamily="2" charset="-122"/>
              </a:rPr>
              <a:t>   X=(age&lt;=30 , income =medium, student=yes, credit_rating=fair)</a:t>
            </a:r>
            <a:endParaRPr lang="en-US" altLang="zh-CN" sz="1400" b="1">
              <a:ea typeface="宋体" panose="02010600030101010101" pitchFamily="2" charset="-122"/>
            </a:endParaRPr>
          </a:p>
          <a:p>
            <a:pPr eaLnBrk="1" hangingPunct="1">
              <a:lnSpc>
                <a:spcPct val="80000"/>
              </a:lnSpc>
              <a:buNone/>
            </a:pPr>
            <a:endParaRPr lang="en-US" altLang="zh-CN" sz="1400" b="1">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r>
              <a:rPr lang="en-US" altLang="zh-CN" sz="1400" b="1">
                <a:ea typeface="宋体" panose="02010600030101010101" pitchFamily="2" charset="-122"/>
              </a:rPr>
              <a:t>P(X|Ci) :</a:t>
            </a:r>
            <a:r>
              <a:rPr lang="en-US" altLang="zh-CN" sz="1400">
                <a:ea typeface="宋体" panose="02010600030101010101" pitchFamily="2" charset="-122"/>
              </a:rPr>
              <a:t> P(X|buys_computer=“yes”)= </a:t>
            </a:r>
            <a:r>
              <a:rPr lang="en-US" altLang="zh-CN" sz="1400">
                <a:solidFill>
                  <a:srgbClr val="FF0000"/>
                </a:solidFill>
                <a:ea typeface="宋体" panose="02010600030101010101" pitchFamily="2" charset="-122"/>
              </a:rPr>
              <a:t>0.444</a:t>
            </a:r>
            <a:r>
              <a:rPr lang="en-US" altLang="zh-CN" sz="1400">
                <a:ea typeface="宋体" panose="02010600030101010101" pitchFamily="2" charset="-122"/>
              </a:rPr>
              <a:t> x 0.444 x 0.667 x 0.667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P(X|buys_computer=“no”)= </a:t>
            </a:r>
            <a:r>
              <a:rPr lang="en-US" altLang="zh-CN" sz="1400">
                <a:solidFill>
                  <a:srgbClr val="FF0000"/>
                </a:solidFill>
                <a:ea typeface="宋体" panose="02010600030101010101" pitchFamily="2" charset="-122"/>
              </a:rPr>
              <a:t>0</a:t>
            </a:r>
            <a:r>
              <a:rPr lang="en-US" altLang="zh-CN" sz="1400">
                <a:ea typeface="宋体" panose="02010600030101010101" pitchFamily="2" charset="-122"/>
              </a:rPr>
              <a:t>x 0.4 x 0.2 x 0.4 =</a:t>
            </a:r>
            <a:r>
              <a:rPr lang="en-US" altLang="zh-CN" sz="1400">
                <a:solidFill>
                  <a:srgbClr val="FF0000"/>
                </a:solidFill>
                <a:ea typeface="宋体" panose="02010600030101010101" pitchFamily="2" charset="-122"/>
              </a:rPr>
              <a:t>0</a:t>
            </a:r>
            <a:endParaRPr lang="en-US" altLang="zh-CN" sz="1400">
              <a:solidFill>
                <a:srgbClr val="FF0000"/>
              </a:solidFill>
              <a:ea typeface="宋体" panose="02010600030101010101" pitchFamily="2" charset="-122"/>
            </a:endParaRPr>
          </a:p>
          <a:p>
            <a:pPr eaLnBrk="1" hangingPunct="1">
              <a:lnSpc>
                <a:spcPct val="80000"/>
              </a:lnSpc>
              <a:buNone/>
            </a:pPr>
            <a:r>
              <a:rPr lang="en-US" altLang="zh-CN" sz="1400" b="1">
                <a:ea typeface="宋体" panose="02010600030101010101" pitchFamily="2" charset="-122"/>
              </a:rPr>
              <a:t>P(X|Ci)*P(Ci ) : </a:t>
            </a:r>
            <a:r>
              <a:rPr lang="en-US" altLang="zh-CN" sz="1400">
                <a:ea typeface="宋体" panose="02010600030101010101" pitchFamily="2" charset="-122"/>
              </a:rPr>
              <a:t>P(X|buys_computer=“yes”) * P(buys_computer=“yes”)=0.044 x 0.643=0.028</a:t>
            </a:r>
            <a:endParaRPr lang="en-US" altLang="zh-CN" sz="1400">
              <a:ea typeface="宋体" panose="02010600030101010101" pitchFamily="2" charset="-122"/>
            </a:endParaRPr>
          </a:p>
          <a:p>
            <a:pPr eaLnBrk="1" hangingPunct="1">
              <a:lnSpc>
                <a:spcPct val="80000"/>
              </a:lnSpc>
              <a:buNone/>
            </a:pPr>
            <a:r>
              <a:rPr lang="en-US" altLang="zh-CN" sz="1400" b="1">
                <a:ea typeface="宋体" panose="02010600030101010101" pitchFamily="2" charset="-122"/>
              </a:rPr>
              <a:t>		           </a:t>
            </a:r>
            <a:r>
              <a:rPr lang="en-US" altLang="zh-CN" sz="1400">
                <a:ea typeface="宋体" panose="02010600030101010101" pitchFamily="2" charset="-122"/>
              </a:rPr>
              <a:t>P(X|buys_computer=“no”) * P(buys_computer=“no”)= </a:t>
            </a:r>
            <a:r>
              <a:rPr lang="en-US" altLang="zh-CN" sz="1400">
                <a:solidFill>
                  <a:srgbClr val="7030A0"/>
                </a:solidFill>
                <a:ea typeface="宋体" panose="02010600030101010101" pitchFamily="2" charset="-122"/>
              </a:rPr>
              <a:t>0 </a:t>
            </a:r>
            <a:r>
              <a:rPr lang="en-US" altLang="zh-CN" sz="1400">
                <a:ea typeface="宋体" panose="02010600030101010101" pitchFamily="2" charset="-122"/>
              </a:rPr>
              <a:t>x 0.357=</a:t>
            </a:r>
            <a:r>
              <a:rPr lang="en-US" altLang="zh-CN" sz="1400">
                <a:solidFill>
                  <a:srgbClr val="7030A0"/>
                </a:solidFill>
                <a:ea typeface="宋体" panose="02010600030101010101" pitchFamily="2" charset="-122"/>
              </a:rPr>
              <a:t>0</a:t>
            </a:r>
            <a:endParaRPr lang="en-US" altLang="zh-CN" sz="1400">
              <a:solidFill>
                <a:srgbClr val="7030A0"/>
              </a:solidFill>
              <a:ea typeface="宋体" panose="02010600030101010101" pitchFamily="2" charset="-122"/>
            </a:endParaRPr>
          </a:p>
          <a:p>
            <a:pPr eaLnBrk="1" hangingPunct="1">
              <a:lnSpc>
                <a:spcPct val="80000"/>
              </a:lnSpc>
              <a:buNone/>
            </a:pPr>
            <a:endParaRPr lang="en-US" altLang="zh-CN" sz="1400" b="1">
              <a:ea typeface="宋体" panose="02010600030101010101" pitchFamily="2" charset="-122"/>
            </a:endParaRPr>
          </a:p>
          <a:p>
            <a:pPr eaLnBrk="1" hangingPunct="1">
              <a:lnSpc>
                <a:spcPct val="80000"/>
              </a:lnSpc>
              <a:buNone/>
            </a:pPr>
            <a:r>
              <a:rPr lang="en-US" altLang="zh-CN" sz="1400" b="1">
                <a:ea typeface="宋体" panose="02010600030101010101" pitchFamily="2" charset="-122"/>
              </a:rPr>
              <a:t>Therefore,  X belongs to  class “buys_computer=yes”		</a:t>
            </a:r>
            <a:endParaRPr lang="en-US" altLang="zh-CN" sz="1400" b="1">
              <a:ea typeface="宋体" panose="02010600030101010101" pitchFamily="2"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5" name="图片 3" descr="ws_4863.tmp"/>
          <p:cNvPicPr/>
          <p:nvPr/>
        </p:nvPicPr>
        <p:blipFill>
          <a:blip r:embed="rId1"/>
          <a:stretch>
            <a:fillRect/>
          </a:stretch>
        </p:blipFill>
        <p:spPr>
          <a:xfrm>
            <a:off x="0" y="-1295400"/>
            <a:ext cx="9144000" cy="6858000"/>
          </a:xfrm>
          <a:prstGeom prst="rect">
            <a:avLst/>
          </a:prstGeom>
          <a:noFill/>
          <a:ln w="9525">
            <a:noFill/>
          </a:ln>
        </p:spPr>
      </p:pic>
      <p:sp>
        <p:nvSpPr>
          <p:cNvPr id="52226" name="TextBox 25"/>
          <p:cNvSpPr txBox="1"/>
          <p:nvPr/>
        </p:nvSpPr>
        <p:spPr>
          <a:xfrm>
            <a:off x="219075" y="322263"/>
            <a:ext cx="2154238" cy="3460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690"/>
              </a:lnSpc>
              <a:spcBef>
                <a:spcPct val="0"/>
              </a:spcBef>
              <a:buClrTx/>
              <a:buSzTx/>
              <a:buFontTx/>
              <a:buNone/>
            </a:pPr>
            <a:r>
              <a:rPr lang="zh-CN" altLang="en-US" sz="2700">
                <a:solidFill>
                  <a:srgbClr val="000000"/>
                </a:solidFill>
                <a:latin typeface="幼圆" panose="02010509060101010101" pitchFamily="49" charset="-122"/>
                <a:ea typeface="幼圆" panose="02010509060101010101" pitchFamily="49" charset="-122"/>
              </a:rPr>
              <a:t>拉普拉斯修正</a:t>
            </a:r>
            <a:endParaRPr lang="zh-CN" altLang="en-US" sz="2700">
              <a:solidFill>
                <a:srgbClr val="000000"/>
              </a:solidFill>
              <a:latin typeface="幼圆" panose="02010509060101010101" pitchFamily="49" charset="-122"/>
              <a:ea typeface="幼圆" panose="02010509060101010101" pitchFamily="49" charset="-122"/>
            </a:endParaRPr>
          </a:p>
        </p:txBody>
      </p:sp>
      <p:sp>
        <p:nvSpPr>
          <p:cNvPr id="52227" name="TextBox 26"/>
          <p:cNvSpPr txBox="1"/>
          <p:nvPr/>
        </p:nvSpPr>
        <p:spPr>
          <a:xfrm>
            <a:off x="2478088" y="357188"/>
            <a:ext cx="2286000"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en-US" altLang="zh-CN" sz="2000">
                <a:solidFill>
                  <a:srgbClr val="000000"/>
                </a:solidFill>
                <a:latin typeface="Times New Roman" panose="02020603050405020304" pitchFamily="18" charset="0"/>
                <a:ea typeface="宋体" panose="02010600030101010101" pitchFamily="2" charset="-122"/>
              </a:rPr>
              <a:t>(Laplacian correction)</a:t>
            </a:r>
            <a:endParaRPr lang="zh-CN" altLang="en-US" sz="2000">
              <a:solidFill>
                <a:srgbClr val="000000"/>
              </a:solidFill>
              <a:latin typeface="Times New Roman" panose="02020603050405020304" pitchFamily="18" charset="0"/>
              <a:ea typeface="宋体" panose="02010600030101010101" pitchFamily="2" charset="-122"/>
            </a:endParaRPr>
          </a:p>
        </p:txBody>
      </p:sp>
      <p:sp>
        <p:nvSpPr>
          <p:cNvPr id="52228" name="TextBox 27"/>
          <p:cNvSpPr txBox="1"/>
          <p:nvPr/>
        </p:nvSpPr>
        <p:spPr>
          <a:xfrm>
            <a:off x="512763" y="925513"/>
            <a:ext cx="8118475" cy="506571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215"/>
              </a:lnSpc>
              <a:spcBef>
                <a:spcPct val="0"/>
              </a:spcBef>
              <a:buClrTx/>
              <a:buSzTx/>
              <a:buFontTx/>
              <a:buNone/>
              <a:tabLst>
                <a:tab pos="76200" algn="l"/>
                <a:tab pos="558800" algn="l"/>
                <a:tab pos="901700" algn="l"/>
                <a:tab pos="1282700" algn="l"/>
              </a:tabLst>
            </a:pPr>
            <a:endParaRPr lang="en-US" altLang="zh-CN" sz="1600">
              <a:solidFill>
                <a:srgbClr val="00B050"/>
              </a:solidFill>
              <a:latin typeface="幼圆" panose="02010509060101010101" pitchFamily="49" charset="-122"/>
              <a:ea typeface="幼圆" panose="02010509060101010101" pitchFamily="49" charset="-122"/>
            </a:endParaRPr>
          </a:p>
          <a:p>
            <a:pPr marL="0" lvl="0" indent="0" defTabSz="914400" eaLnBrk="1" hangingPunct="1">
              <a:lnSpc>
                <a:spcPts val="2215"/>
              </a:lnSpc>
              <a:spcBef>
                <a:spcPct val="0"/>
              </a:spcBef>
              <a:buClrTx/>
              <a:buSzTx/>
              <a:buFontTx/>
              <a:buNone/>
              <a:tabLst>
                <a:tab pos="76200" algn="l"/>
                <a:tab pos="558800" algn="l"/>
                <a:tab pos="901700" algn="l"/>
                <a:tab pos="1282700" algn="l"/>
              </a:tabLst>
            </a:pPr>
            <a:endParaRPr lang="en-US" altLang="zh-CN" sz="1600">
              <a:solidFill>
                <a:srgbClr val="00B05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r>
              <a:rPr lang="zh-CN" altLang="en-US" sz="2400">
                <a:solidFill>
                  <a:srgbClr val="00B050"/>
                </a:solidFill>
                <a:latin typeface="Times New Roman" panose="02020603050405020304" pitchFamily="18" charset="0"/>
                <a:ea typeface="宋体" panose="02010600030101010101" pitchFamily="2" charset="-122"/>
              </a:rPr>
              <a:t>可以采用如下修正：</a:t>
            </a: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2725"/>
              </a:lnSpc>
              <a:spcBef>
                <a:spcPct val="0"/>
              </a:spcBef>
              <a:buClrTx/>
              <a:buSzTx/>
              <a:buFontTx/>
              <a:buNone/>
              <a:tabLst>
                <a:tab pos="76200" algn="l"/>
                <a:tab pos="558800" algn="l"/>
                <a:tab pos="901700" algn="l"/>
                <a:tab pos="1282700" algn="l"/>
              </a:tabLst>
            </a:pPr>
            <a:r>
              <a:rPr lang="en-US" altLang="zh-CN" sz="2400">
                <a:solidFill>
                  <a:srgbClr val="00B050"/>
                </a:solidFill>
                <a:latin typeface="Times New Roman" panose="02020603050405020304" pitchFamily="18" charset="0"/>
                <a:ea typeface="宋体" panose="02010600030101010101" pitchFamily="2" charset="-122"/>
              </a:rPr>
              <a:t>	</a:t>
            </a:r>
            <a:endParaRPr lang="en-US" altLang="zh-CN" sz="2400">
              <a:solidFill>
                <a:srgbClr val="00B050"/>
              </a:solidFill>
              <a:latin typeface="Times New Roman" panose="02020603050405020304" pitchFamily="18" charset="0"/>
              <a:ea typeface="宋体" panose="02010600030101010101" pitchFamily="2" charset="-122"/>
            </a:endParaRPr>
          </a:p>
          <a:p>
            <a:pPr marL="0" lvl="0" indent="0" defTabSz="914400" eaLnBrk="1" hangingPunct="1">
              <a:lnSpc>
                <a:spcPts val="2725"/>
              </a:lnSpc>
              <a:spcBef>
                <a:spcPct val="0"/>
              </a:spcBef>
              <a:buClrTx/>
              <a:buSzTx/>
              <a:buFontTx/>
              <a:buNone/>
              <a:tabLst>
                <a:tab pos="76200" algn="l"/>
                <a:tab pos="558800" algn="l"/>
                <a:tab pos="901700" algn="l"/>
                <a:tab pos="1282700" algn="l"/>
              </a:tabLst>
            </a:pPr>
            <a:r>
              <a:rPr lang="zh-CN" altLang="en-US" sz="2000">
                <a:solidFill>
                  <a:srgbClr val="000000"/>
                </a:solidFill>
                <a:latin typeface="幼圆" panose="02010509060101010101" pitchFamily="49" charset="-122"/>
                <a:ea typeface="幼圆" panose="02010509060101010101" pitchFamily="49" charset="-122"/>
              </a:rPr>
              <a:t>令 </a:t>
            </a:r>
            <a:r>
              <a:rPr lang="en-US" altLang="zh-CN" sz="2000" i="1">
                <a:solidFill>
                  <a:srgbClr val="000000"/>
                </a:solidFill>
                <a:latin typeface="Palatino Linotype" panose="02040502050505030304" pitchFamily="18" charset="0"/>
                <a:ea typeface="宋体" panose="02010600030101010101" pitchFamily="2" charset="-122"/>
              </a:rPr>
              <a:t>N </a:t>
            </a:r>
            <a:r>
              <a:rPr lang="zh-CN" altLang="en-US" sz="2000">
                <a:solidFill>
                  <a:srgbClr val="000000"/>
                </a:solidFill>
                <a:latin typeface="幼圆" panose="02010509060101010101" pitchFamily="49" charset="-122"/>
                <a:ea typeface="幼圆" panose="02010509060101010101" pitchFamily="49" charset="-122"/>
              </a:rPr>
              <a:t>表示训练集 </a:t>
            </a:r>
            <a:r>
              <a:rPr lang="en-US" altLang="zh-CN" sz="2000" i="1">
                <a:solidFill>
                  <a:srgbClr val="000000"/>
                </a:solidFill>
                <a:latin typeface="Palatino Linotype" panose="02040502050505030304" pitchFamily="18" charset="0"/>
                <a:ea typeface="宋体" panose="02010600030101010101" pitchFamily="2" charset="-122"/>
              </a:rPr>
              <a:t>D </a:t>
            </a:r>
            <a:r>
              <a:rPr lang="zh-CN" altLang="en-US" sz="2000">
                <a:solidFill>
                  <a:srgbClr val="000000"/>
                </a:solidFill>
                <a:latin typeface="幼圆" panose="02010509060101010101" pitchFamily="49" charset="-122"/>
                <a:ea typeface="幼圆" panose="02010509060101010101" pitchFamily="49" charset="-122"/>
              </a:rPr>
              <a:t>中可能的类别数，</a:t>
            </a:r>
            <a:r>
              <a:rPr lang="en-US" altLang="zh-CN" sz="2000" i="1">
                <a:solidFill>
                  <a:srgbClr val="000000"/>
                </a:solidFill>
                <a:latin typeface="Palatino Linotype" panose="02040502050505030304" pitchFamily="18" charset="0"/>
                <a:ea typeface="宋体" panose="02010600030101010101" pitchFamily="2" charset="-122"/>
              </a:rPr>
              <a:t>N</a:t>
            </a:r>
            <a:r>
              <a:rPr lang="en-US" altLang="zh-CN" sz="1300" i="1">
                <a:solidFill>
                  <a:srgbClr val="000000"/>
                </a:solidFill>
                <a:latin typeface="Palatino Linotype" panose="02040502050505030304" pitchFamily="18" charset="0"/>
                <a:ea typeface="宋体" panose="02010600030101010101" pitchFamily="2" charset="-122"/>
              </a:rPr>
              <a:t>i  </a:t>
            </a:r>
            <a:r>
              <a:rPr lang="zh-CN" altLang="en-US" sz="2000">
                <a:solidFill>
                  <a:srgbClr val="000000"/>
                </a:solidFill>
                <a:latin typeface="幼圆" panose="02010509060101010101" pitchFamily="49" charset="-122"/>
                <a:ea typeface="幼圆" panose="02010509060101010101" pitchFamily="49" charset="-122"/>
              </a:rPr>
              <a:t>表示第 </a:t>
            </a:r>
            <a:r>
              <a:rPr lang="en-US" altLang="zh-CN" sz="2000" i="1">
                <a:solidFill>
                  <a:srgbClr val="000000"/>
                </a:solidFill>
                <a:latin typeface="Palatino Linotype" panose="02040502050505030304" pitchFamily="18" charset="0"/>
                <a:ea typeface="宋体" panose="02010600030101010101" pitchFamily="2" charset="-122"/>
              </a:rPr>
              <a:t>i </a:t>
            </a:r>
            <a:r>
              <a:rPr lang="zh-CN" altLang="en-US" sz="2000">
                <a:solidFill>
                  <a:srgbClr val="000000"/>
                </a:solidFill>
                <a:latin typeface="幼圆" panose="02010509060101010101" pitchFamily="49" charset="-122"/>
                <a:ea typeface="幼圆" panose="02010509060101010101" pitchFamily="49" charset="-122"/>
              </a:rPr>
              <a:t>个属性可能的取值数</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76200" algn="l"/>
                <a:tab pos="558800" algn="l"/>
                <a:tab pos="901700" algn="l"/>
                <a:tab pos="1282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650"/>
              </a:lnSpc>
              <a:spcBef>
                <a:spcPct val="0"/>
              </a:spcBef>
              <a:buClrTx/>
              <a:buSzTx/>
              <a:buFontTx/>
              <a:buNone/>
              <a:tabLst>
                <a:tab pos="76200" algn="l"/>
                <a:tab pos="558800" algn="l"/>
                <a:tab pos="901700" algn="l"/>
                <a:tab pos="1282700" algn="l"/>
              </a:tabLst>
            </a:pPr>
            <a:r>
              <a:rPr lang="zh-CN" altLang="en-US" sz="2000">
                <a:solidFill>
                  <a:srgbClr val="000000"/>
                </a:solidFill>
                <a:latin typeface="幼圆" panose="02010509060101010101" pitchFamily="49" charset="-122"/>
                <a:ea typeface="幼圆" panose="02010509060101010101" pitchFamily="49" charset="-122"/>
              </a:rPr>
              <a:t>			</a:t>
            </a:r>
            <a:endParaRPr lang="zh-CN" altLang="en-US" sz="2000">
              <a:solidFill>
                <a:srgbClr val="0000FF"/>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53250"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53251" name="Rectangle 2"/>
          <p:cNvSpPr>
            <a:spLocks noGrp="1"/>
          </p:cNvSpPr>
          <p:nvPr>
            <p:ph type="title"/>
          </p:nvPr>
        </p:nvSpPr>
        <p:spPr>
          <a:xfrm>
            <a:off x="609600" y="381000"/>
            <a:ext cx="7793038" cy="609600"/>
          </a:xfrm>
          <a:ln/>
        </p:spPr>
        <p:txBody>
          <a:bodyPr vert="horz" wrap="square" lIns="91440" tIns="45720" rIns="91440" bIns="45720" anchor="b" anchorCtr="0"/>
          <a:p>
            <a:pPr algn="l">
              <a:lnSpc>
                <a:spcPts val="2690"/>
              </a:lnSpc>
            </a:pPr>
            <a:r>
              <a:rPr lang="zh-CN" altLang="en-US" sz="3200">
                <a:solidFill>
                  <a:srgbClr val="000000"/>
                </a:solidFill>
                <a:latin typeface="幼圆" panose="02010509060101010101" pitchFamily="49" charset="-122"/>
                <a:ea typeface="幼圆" panose="02010509060101010101" pitchFamily="49" charset="-122"/>
              </a:rPr>
              <a:t>拉普拉斯修正</a:t>
            </a:r>
            <a:endParaRPr lang="zh-CN" altLang="en-US" sz="3200">
              <a:solidFill>
                <a:srgbClr val="000000"/>
              </a:solidFill>
              <a:latin typeface="幼圆" panose="02010509060101010101" pitchFamily="49" charset="-122"/>
              <a:ea typeface="幼圆" panose="02010509060101010101" pitchFamily="49" charset="-122"/>
            </a:endParaRPr>
          </a:p>
        </p:txBody>
      </p:sp>
      <p:sp>
        <p:nvSpPr>
          <p:cNvPr id="53252" name="Rectangle 3"/>
          <p:cNvSpPr>
            <a:spLocks noGrp="1"/>
          </p:cNvSpPr>
          <p:nvPr>
            <p:ph idx="1"/>
          </p:nvPr>
        </p:nvSpPr>
        <p:spPr>
          <a:ln/>
        </p:spPr>
        <p:txBody>
          <a:bodyPr vert="horz" wrap="square" lIns="91440" tIns="45720" rIns="91440" bIns="45720" anchor="t" anchorCtr="0"/>
          <a:p>
            <a:pPr eaLnBrk="1" hangingPunct="1">
              <a:lnSpc>
                <a:spcPct val="80000"/>
              </a:lnSpc>
            </a:pPr>
            <a:r>
              <a:rPr lang="en-US" altLang="zh-CN" sz="2000">
                <a:ea typeface="宋体" panose="02010600030101010101" pitchFamily="2" charset="-122"/>
              </a:rPr>
              <a:t>Compute P(X|Ci) for each class</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P(buys_computer=“yes”)  = 9+1/14+2</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P(buys_computer=“no”)  = 5+1/14+2</a:t>
            </a:r>
            <a:endParaRPr lang="en-US" altLang="zh-CN" sz="2000">
              <a:ea typeface="宋体" panose="02010600030101010101" pitchFamily="2" charset="-122"/>
            </a:endParaRPr>
          </a:p>
          <a:p>
            <a:pPr eaLnBrk="1" hangingPunct="1">
              <a:lnSpc>
                <a:spcPct val="80000"/>
              </a:lnSpc>
              <a:buNone/>
            </a:pPr>
            <a:r>
              <a:rPr lang="en-US" altLang="zh-CN" sz="1400">
                <a:ea typeface="宋体" panose="02010600030101010101" pitchFamily="2" charset="-122"/>
              </a:rPr>
              <a:t>     </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P(age=“31…40” | buys_computer=“yes”)  = 4+1/9+3</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P(income=“low” | buys_computer=“yes”)= 3+1/9 +3</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P(student=“no” | buys_computer=“yes)= 3+1/9+2</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P(credit_rating=“fair” | buys_computer=“yes”)=6+1/9+2</a:t>
            </a:r>
            <a:endParaRPr lang="en-US" altLang="zh-CN" sz="1400">
              <a:ea typeface="宋体" panose="02010600030101010101" pitchFamily="2" charset="-122"/>
            </a:endParaRPr>
          </a:p>
          <a:p>
            <a:pPr eaLnBrk="1" hangingPunct="1">
              <a:lnSpc>
                <a:spcPct val="80000"/>
              </a:lnSpc>
              <a:buNone/>
            </a:pP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P(age=“31…40” | buys_computer=“no”) = 0+1/5+3</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P(income=“low” | buys_computer=“no”) = 1+1/5+3</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P(student=“no” | buys_computer=“no”)= 4+1/5+2</a:t>
            </a:r>
            <a:endParaRPr lang="en-US" altLang="zh-CN" sz="1400">
              <a:ea typeface="宋体" panose="02010600030101010101" pitchFamily="2" charset="-122"/>
            </a:endParaRPr>
          </a:p>
          <a:p>
            <a:pPr eaLnBrk="1" hangingPunct="1">
              <a:lnSpc>
                <a:spcPct val="80000"/>
              </a:lnSpc>
              <a:buNone/>
            </a:pPr>
            <a:r>
              <a:rPr lang="en-US" altLang="zh-CN" sz="1400">
                <a:ea typeface="宋体" panose="02010600030101010101" pitchFamily="2" charset="-122"/>
              </a:rPr>
              <a:t>     P(credit_rating=“fair” | buys_computer=“no”)=2+1/5+2</a:t>
            </a:r>
            <a:endParaRPr lang="en-US" altLang="zh-CN" sz="1400">
              <a:ea typeface="宋体" panose="02010600030101010101" pitchFamily="2" charset="-122"/>
            </a:endParaRPr>
          </a:p>
          <a:p>
            <a:pPr eaLnBrk="1" hangingPunct="1">
              <a:lnSpc>
                <a:spcPct val="80000"/>
              </a:lnSpc>
              <a:buNone/>
            </a:pPr>
            <a:endParaRPr lang="en-US" altLang="zh-CN" sz="1400">
              <a:ea typeface="宋体" panose="02010600030101010101" pitchFamily="2" charset="-122"/>
            </a:endParaRPr>
          </a:p>
          <a:p>
            <a:pPr eaLnBrk="1" hangingPunct="1">
              <a:lnSpc>
                <a:spcPct val="80000"/>
              </a:lnSpc>
              <a:buNone/>
            </a:pPr>
            <a:r>
              <a:rPr lang="en-US" altLang="zh-CN" sz="1400" b="1">
                <a:ea typeface="宋体" panose="02010600030101010101" pitchFamily="2" charset="-122"/>
              </a:rPr>
              <a:t>   X=(age=</a:t>
            </a:r>
            <a:r>
              <a:rPr lang="zh-CN" altLang="en-US" sz="1400" b="1">
                <a:ea typeface="宋体" panose="02010600030101010101" pitchFamily="2" charset="-122"/>
              </a:rPr>
              <a:t>“</a:t>
            </a:r>
            <a:r>
              <a:rPr lang="en-US" altLang="zh-CN" sz="1400" b="1">
                <a:ea typeface="宋体" panose="02010600030101010101" pitchFamily="2" charset="-122"/>
              </a:rPr>
              <a:t>30…40</a:t>
            </a:r>
            <a:r>
              <a:rPr lang="zh-CN" altLang="en-US" sz="1400" b="1">
                <a:ea typeface="宋体" panose="02010600030101010101" pitchFamily="2" charset="-122"/>
              </a:rPr>
              <a:t>”</a:t>
            </a:r>
            <a:r>
              <a:rPr lang="en-US" altLang="zh-CN" sz="1400" b="1">
                <a:ea typeface="宋体" panose="02010600030101010101" pitchFamily="2" charset="-122"/>
              </a:rPr>
              <a:t> , income =low, student=no, credit_rating=fair)</a:t>
            </a:r>
            <a:endParaRPr lang="en-US" altLang="zh-CN" sz="1400" b="1">
              <a:ea typeface="宋体" panose="02010600030101010101" pitchFamily="2" charset="-122"/>
            </a:endParaRPr>
          </a:p>
          <a:p>
            <a:pPr eaLnBrk="1" hangingPunct="1">
              <a:lnSpc>
                <a:spcPct val="80000"/>
              </a:lnSpc>
              <a:buNone/>
            </a:pPr>
            <a:endParaRPr lang="en-US" altLang="zh-CN" sz="1400" b="1">
              <a:ea typeface="宋体" panose="02010600030101010101" pitchFamily="2" charset="-122"/>
            </a:endParaRPr>
          </a:p>
          <a:p>
            <a:pPr eaLnBrk="1" hangingPunct="1">
              <a:lnSpc>
                <a:spcPct val="80000"/>
              </a:lnSpc>
              <a:buNone/>
            </a:pPr>
            <a:r>
              <a:rPr lang="en-US" altLang="zh-CN" sz="1400" b="1">
                <a:ea typeface="宋体" panose="02010600030101010101" pitchFamily="2" charset="-122"/>
              </a:rPr>
              <a:t>	</a:t>
            </a:r>
            <a:endParaRPr lang="en-US" altLang="zh-CN" sz="1400" b="1">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任意多边形 1"/>
          <p:cNvSpPr/>
          <p:nvPr/>
        </p:nvSpPr>
        <p:spPr>
          <a:xfrm>
            <a:off x="612775" y="3657600"/>
            <a:ext cx="3863975" cy="2174875"/>
          </a:xfrm>
          <a:custGeom>
            <a:avLst/>
            <a:gdLst/>
            <a:ahLst/>
            <a:cxnLst/>
            <a:rect l="0" t="0" r="0" b="0"/>
            <a:pathLst>
              <a:path w="3864864" h="2174748">
                <a:moveTo>
                  <a:pt x="0" y="2174747"/>
                </a:moveTo>
                <a:lnTo>
                  <a:pt x="3864863" y="2174747"/>
                </a:lnTo>
                <a:lnTo>
                  <a:pt x="3864863" y="0"/>
                </a:lnTo>
                <a:lnTo>
                  <a:pt x="0" y="0"/>
                </a:lnTo>
                <a:close/>
              </a:path>
            </a:pathLst>
          </a:custGeom>
          <a:solidFill>
            <a:srgbClr val="000000">
              <a:alpha val="0"/>
            </a:srgbClr>
          </a:solidFill>
          <a:ln w="12700" cap="flat" cmpd="sng" algn="ctr">
            <a:solidFill>
              <a:srgbClr val="0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 name="任意多边形 2"/>
          <p:cNvSpPr/>
          <p:nvPr/>
        </p:nvSpPr>
        <p:spPr>
          <a:xfrm>
            <a:off x="4908550" y="3657600"/>
            <a:ext cx="3865563" cy="2174875"/>
          </a:xfrm>
          <a:custGeom>
            <a:avLst/>
            <a:gdLst/>
            <a:ahLst/>
            <a:cxnLst/>
            <a:rect l="0" t="0" r="0" b="0"/>
            <a:pathLst>
              <a:path w="3864866" h="2174748">
                <a:moveTo>
                  <a:pt x="0" y="2174747"/>
                </a:moveTo>
                <a:lnTo>
                  <a:pt x="3864865" y="2174747"/>
                </a:lnTo>
                <a:lnTo>
                  <a:pt x="3864865" y="0"/>
                </a:lnTo>
                <a:lnTo>
                  <a:pt x="0" y="0"/>
                </a:lnTo>
                <a:close/>
              </a:path>
            </a:pathLst>
          </a:custGeom>
          <a:solidFill>
            <a:srgbClr val="000000">
              <a:alpha val="0"/>
            </a:srgbClr>
          </a:solidFill>
          <a:ln w="12700" cap="flat" cmpd="sng" algn="ctr">
            <a:solidFill>
              <a:srgbClr val="0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4275" name="图片 3" descr="ws_3495.tmp"/>
          <p:cNvPicPr/>
          <p:nvPr/>
        </p:nvPicPr>
        <p:blipFill>
          <a:blip r:embed="rId1"/>
          <a:stretch>
            <a:fillRect/>
          </a:stretch>
        </p:blipFill>
        <p:spPr>
          <a:xfrm>
            <a:off x="596900" y="1016000"/>
            <a:ext cx="1016000" cy="558800"/>
          </a:xfrm>
          <a:prstGeom prst="rect">
            <a:avLst/>
          </a:prstGeom>
          <a:noFill/>
          <a:ln w="9525">
            <a:noFill/>
          </a:ln>
        </p:spPr>
      </p:pic>
      <p:pic>
        <p:nvPicPr>
          <p:cNvPr id="54276" name="图片 4" descr="ws_34A6.tmp"/>
          <p:cNvPicPr/>
          <p:nvPr/>
        </p:nvPicPr>
        <p:blipFill>
          <a:blip r:embed="rId2"/>
          <a:stretch>
            <a:fillRect/>
          </a:stretch>
        </p:blipFill>
        <p:spPr>
          <a:xfrm>
            <a:off x="2362200" y="3708400"/>
            <a:ext cx="1003300" cy="558800"/>
          </a:xfrm>
          <a:prstGeom prst="rect">
            <a:avLst/>
          </a:prstGeom>
          <a:noFill/>
          <a:ln w="9525">
            <a:noFill/>
          </a:ln>
        </p:spPr>
      </p:pic>
      <p:pic>
        <p:nvPicPr>
          <p:cNvPr id="54277" name="图片 5" descr="ws_34A7.tmp"/>
          <p:cNvPicPr/>
          <p:nvPr/>
        </p:nvPicPr>
        <p:blipFill>
          <a:blip r:embed="rId3"/>
          <a:stretch>
            <a:fillRect/>
          </a:stretch>
        </p:blipFill>
        <p:spPr>
          <a:xfrm>
            <a:off x="6007100" y="3746500"/>
            <a:ext cx="2730500" cy="1574800"/>
          </a:xfrm>
          <a:prstGeom prst="rect">
            <a:avLst/>
          </a:prstGeom>
          <a:noFill/>
          <a:ln w="9525">
            <a:noFill/>
          </a:ln>
        </p:spPr>
      </p:pic>
      <p:pic>
        <p:nvPicPr>
          <p:cNvPr id="54278" name="图片 6" descr="ws_34A8.tmp"/>
          <p:cNvPicPr/>
          <p:nvPr/>
        </p:nvPicPr>
        <p:blipFill>
          <a:blip r:embed="rId4"/>
          <a:stretch>
            <a:fillRect/>
          </a:stretch>
        </p:blipFill>
        <p:spPr>
          <a:xfrm>
            <a:off x="0" y="0"/>
            <a:ext cx="9144000" cy="6858000"/>
          </a:xfrm>
          <a:prstGeom prst="rect">
            <a:avLst/>
          </a:prstGeom>
          <a:noFill/>
          <a:ln w="9525">
            <a:noFill/>
          </a:ln>
        </p:spPr>
      </p:pic>
      <p:sp>
        <p:nvSpPr>
          <p:cNvPr id="54279" name="TextBox 28"/>
          <p:cNvSpPr txBox="1"/>
          <p:nvPr/>
        </p:nvSpPr>
        <p:spPr>
          <a:xfrm>
            <a:off x="615950" y="3271838"/>
            <a:ext cx="512763" cy="2428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FF0000"/>
                </a:solidFill>
                <a:latin typeface="幼圆" panose="02010509060101010101" pitchFamily="49" charset="-122"/>
                <a:ea typeface="幼圆" panose="02010509060101010101" pitchFamily="49" charset="-122"/>
              </a:rPr>
              <a:t>判别</a:t>
            </a:r>
            <a:endParaRPr lang="zh-CN" altLang="en-US" sz="2000">
              <a:solidFill>
                <a:srgbClr val="FF0000"/>
              </a:solidFill>
              <a:latin typeface="幼圆" panose="02010509060101010101" pitchFamily="49" charset="-122"/>
              <a:ea typeface="幼圆" panose="02010509060101010101" pitchFamily="49" charset="-122"/>
            </a:endParaRPr>
          </a:p>
        </p:txBody>
      </p:sp>
      <p:sp>
        <p:nvSpPr>
          <p:cNvPr id="54280" name="TextBox 29"/>
          <p:cNvSpPr txBox="1"/>
          <p:nvPr/>
        </p:nvSpPr>
        <p:spPr>
          <a:xfrm>
            <a:off x="1466850" y="3276600"/>
            <a:ext cx="1306513" cy="2428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40"/>
              </a:lnSpc>
              <a:spcBef>
                <a:spcPct val="0"/>
              </a:spcBef>
              <a:buClrTx/>
              <a:buSzTx/>
              <a:buFontTx/>
              <a:buNone/>
            </a:pPr>
            <a:r>
              <a:rPr lang="en-US" altLang="zh-CN" sz="1500">
                <a:solidFill>
                  <a:srgbClr val="FF0000"/>
                </a:solidFill>
                <a:latin typeface="Times New Roman" panose="02020603050405020304" pitchFamily="18" charset="0"/>
                <a:ea typeface="宋体" panose="02010600030101010101" pitchFamily="2" charset="-122"/>
              </a:rPr>
              <a:t>(discriminative)</a:t>
            </a:r>
            <a:endParaRPr lang="zh-CN" altLang="en-US" sz="1500">
              <a:solidFill>
                <a:srgbClr val="FF0000"/>
              </a:solidFill>
              <a:latin typeface="Times New Roman" panose="02020603050405020304" pitchFamily="18" charset="0"/>
              <a:ea typeface="宋体" panose="02010600030101010101" pitchFamily="2" charset="-122"/>
            </a:endParaRPr>
          </a:p>
        </p:txBody>
      </p:sp>
      <p:sp>
        <p:nvSpPr>
          <p:cNvPr id="54281" name="TextBox 30"/>
          <p:cNvSpPr txBox="1"/>
          <p:nvPr/>
        </p:nvSpPr>
        <p:spPr>
          <a:xfrm>
            <a:off x="3140075" y="3271838"/>
            <a:ext cx="512763"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FF0000"/>
                </a:solidFill>
                <a:latin typeface="幼圆" panose="02010509060101010101" pitchFamily="49" charset="-122"/>
                <a:ea typeface="幼圆" panose="02010509060101010101" pitchFamily="49" charset="-122"/>
              </a:rPr>
              <a:t>模型</a:t>
            </a:r>
            <a:endParaRPr lang="zh-CN" altLang="en-US" sz="2000">
              <a:solidFill>
                <a:srgbClr val="FF0000"/>
              </a:solidFill>
              <a:latin typeface="幼圆" panose="02010509060101010101" pitchFamily="49" charset="-122"/>
              <a:ea typeface="幼圆" panose="02010509060101010101" pitchFamily="49" charset="-122"/>
            </a:endParaRPr>
          </a:p>
        </p:txBody>
      </p:sp>
      <p:sp>
        <p:nvSpPr>
          <p:cNvPr id="54282" name="TextBox 31"/>
          <p:cNvSpPr txBox="1"/>
          <p:nvPr/>
        </p:nvSpPr>
        <p:spPr>
          <a:xfrm>
            <a:off x="4926013" y="3265488"/>
            <a:ext cx="512762" cy="2428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FF"/>
                </a:solidFill>
                <a:latin typeface="幼圆" panose="02010509060101010101" pitchFamily="49" charset="-122"/>
                <a:ea typeface="幼圆" panose="02010509060101010101" pitchFamily="49" charset="-122"/>
              </a:rPr>
              <a:t>生成</a:t>
            </a:r>
            <a:endParaRPr lang="zh-CN" altLang="en-US" sz="2000">
              <a:solidFill>
                <a:srgbClr val="0000FF"/>
              </a:solidFill>
              <a:latin typeface="幼圆" panose="02010509060101010101" pitchFamily="49" charset="-122"/>
              <a:ea typeface="幼圆" panose="02010509060101010101" pitchFamily="49" charset="-122"/>
            </a:endParaRPr>
          </a:p>
        </p:txBody>
      </p:sp>
      <p:sp>
        <p:nvSpPr>
          <p:cNvPr id="54283" name="TextBox 32"/>
          <p:cNvSpPr txBox="1"/>
          <p:nvPr/>
        </p:nvSpPr>
        <p:spPr>
          <a:xfrm>
            <a:off x="5776913" y="3270250"/>
            <a:ext cx="1004887"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40"/>
              </a:lnSpc>
              <a:spcBef>
                <a:spcPct val="0"/>
              </a:spcBef>
              <a:buClrTx/>
              <a:buSzTx/>
              <a:buFontTx/>
              <a:buNone/>
            </a:pPr>
            <a:r>
              <a:rPr lang="en-US" altLang="zh-CN" sz="1500">
                <a:solidFill>
                  <a:srgbClr val="0000FF"/>
                </a:solidFill>
                <a:latin typeface="Times New Roman" panose="02020603050405020304" pitchFamily="18" charset="0"/>
                <a:ea typeface="宋体" panose="02010600030101010101" pitchFamily="2" charset="-122"/>
              </a:rPr>
              <a:t>(generative)</a:t>
            </a:r>
            <a:endParaRPr lang="zh-CN" altLang="en-US" sz="1500">
              <a:solidFill>
                <a:srgbClr val="0000FF"/>
              </a:solidFill>
              <a:latin typeface="Times New Roman" panose="02020603050405020304" pitchFamily="18" charset="0"/>
              <a:ea typeface="宋体" panose="02010600030101010101" pitchFamily="2" charset="-122"/>
            </a:endParaRPr>
          </a:p>
        </p:txBody>
      </p:sp>
      <p:sp>
        <p:nvSpPr>
          <p:cNvPr id="54284" name="TextBox 33"/>
          <p:cNvSpPr txBox="1"/>
          <p:nvPr/>
        </p:nvSpPr>
        <p:spPr>
          <a:xfrm>
            <a:off x="7110413" y="3265488"/>
            <a:ext cx="512762" cy="2460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FF"/>
                </a:solidFill>
                <a:latin typeface="幼圆" panose="02010509060101010101" pitchFamily="49" charset="-122"/>
                <a:ea typeface="幼圆" panose="02010509060101010101" pitchFamily="49" charset="-122"/>
              </a:rPr>
              <a:t>模型</a:t>
            </a:r>
            <a:endParaRPr lang="zh-CN" altLang="en-US" sz="2000">
              <a:solidFill>
                <a:srgbClr val="0000FF"/>
              </a:solidFill>
              <a:latin typeface="幼圆" panose="02010509060101010101" pitchFamily="49" charset="-122"/>
              <a:ea typeface="幼圆" panose="02010509060101010101" pitchFamily="49" charset="-122"/>
            </a:endParaRPr>
          </a:p>
        </p:txBody>
      </p:sp>
      <p:sp>
        <p:nvSpPr>
          <p:cNvPr id="54285" name="TextBox 34"/>
          <p:cNvSpPr txBox="1"/>
          <p:nvPr/>
        </p:nvSpPr>
        <p:spPr>
          <a:xfrm>
            <a:off x="3409950" y="3862388"/>
            <a:ext cx="512763"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建模</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4286" name="TextBox 35"/>
          <p:cNvSpPr txBox="1"/>
          <p:nvPr/>
        </p:nvSpPr>
        <p:spPr>
          <a:xfrm>
            <a:off x="896938" y="3862388"/>
            <a:ext cx="2074862" cy="17176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1925"/>
              </a:lnSpc>
              <a:spcBef>
                <a:spcPct val="0"/>
              </a:spcBef>
              <a:buClrTx/>
              <a:buSzTx/>
              <a:buFontTx/>
              <a:buNone/>
              <a:tabLst>
                <a:tab pos="457200" algn="l"/>
              </a:tabLst>
            </a:pPr>
            <a:r>
              <a:rPr lang="zh-CN" altLang="en-US" sz="2000">
                <a:solidFill>
                  <a:srgbClr val="000000"/>
                </a:solidFill>
                <a:latin typeface="幼圆" panose="02010509060101010101" pitchFamily="49" charset="-122"/>
                <a:ea typeface="幼圆" panose="02010509060101010101" pitchFamily="49" charset="-122"/>
              </a:rPr>
              <a:t>思路：直接对</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4572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4572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175"/>
              </a:lnSpc>
              <a:spcBef>
                <a:spcPct val="0"/>
              </a:spcBef>
              <a:buClrTx/>
              <a:buSzTx/>
              <a:buFontTx/>
              <a:buNone/>
              <a:tabLst>
                <a:tab pos="457200" algn="l"/>
              </a:tabLst>
            </a:pPr>
            <a:r>
              <a:rPr lang="zh-CN" altLang="en-US" sz="2000">
                <a:solidFill>
                  <a:srgbClr val="000000"/>
                </a:solidFill>
                <a:latin typeface="幼圆" panose="02010509060101010101" pitchFamily="49" charset="-122"/>
                <a:ea typeface="幼圆" panose="02010509060101010101" pitchFamily="49" charset="-122"/>
              </a:rPr>
              <a:t>代表：</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540"/>
              </a:lnSpc>
              <a:spcBef>
                <a:spcPct val="0"/>
              </a:spcBef>
              <a:buClrTx/>
              <a:buSzTx/>
              <a:buFontTx/>
              <a:buNone/>
              <a:tabLst>
                <a:tab pos="457200" algn="l"/>
              </a:tabLst>
            </a:pPr>
            <a:r>
              <a:rPr lang="zh-CN" altLang="en-US" sz="2000">
                <a:solidFill>
                  <a:srgbClr val="000000"/>
                </a:solidFill>
                <a:latin typeface="幼圆" panose="02010509060101010101" pitchFamily="49" charset="-122"/>
                <a:ea typeface="幼圆" panose="02010509060101010101" pitchFamily="49" charset="-122"/>
              </a:rPr>
              <a:t>	</a:t>
            </a:r>
            <a:r>
              <a:rPr lang="en-US" altLang="zh-CN" sz="2000">
                <a:solidFill>
                  <a:srgbClr val="000000"/>
                </a:solidFill>
                <a:latin typeface="Times New Roman" panose="02020603050405020304" pitchFamily="18" charset="0"/>
                <a:ea typeface="宋体" panose="02010600030101010101" pitchFamily="2" charset="-122"/>
              </a:rPr>
              <a:t>•  </a:t>
            </a:r>
            <a:r>
              <a:rPr lang="zh-CN" altLang="en-US" sz="2000">
                <a:solidFill>
                  <a:srgbClr val="000000"/>
                </a:solidFill>
                <a:latin typeface="幼圆" panose="02010509060101010101" pitchFamily="49" charset="-122"/>
                <a:ea typeface="幼圆" panose="02010509060101010101" pitchFamily="49" charset="-122"/>
              </a:rPr>
              <a:t>决策树</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400"/>
              </a:lnSpc>
              <a:spcBef>
                <a:spcPct val="0"/>
              </a:spcBef>
              <a:buClrTx/>
              <a:buSzTx/>
              <a:buFontTx/>
              <a:buNone/>
              <a:tabLst>
                <a:tab pos="457200" algn="l"/>
              </a:tabLst>
            </a:pPr>
            <a:r>
              <a:rPr lang="zh-CN" altLang="en-US" sz="2000">
                <a:solidFill>
                  <a:srgbClr val="000000"/>
                </a:solidFill>
                <a:latin typeface="幼圆" panose="02010509060101010101" pitchFamily="49" charset="-122"/>
                <a:ea typeface="幼圆" panose="02010509060101010101" pitchFamily="49" charset="-122"/>
              </a:rPr>
              <a:t>	</a:t>
            </a:r>
            <a:r>
              <a:rPr lang="en-US" altLang="zh-CN" sz="2000">
                <a:solidFill>
                  <a:srgbClr val="000000"/>
                </a:solidFill>
                <a:latin typeface="Times New Roman" panose="02020603050405020304" pitchFamily="18" charset="0"/>
                <a:ea typeface="宋体" panose="02010600030101010101" pitchFamily="2" charset="-122"/>
              </a:rPr>
              <a:t>•  BP </a:t>
            </a:r>
            <a:r>
              <a:rPr lang="zh-CN" altLang="en-US" sz="2000">
                <a:solidFill>
                  <a:srgbClr val="000000"/>
                </a:solidFill>
                <a:latin typeface="幼圆" panose="02010509060101010101" pitchFamily="49" charset="-122"/>
                <a:ea typeface="幼圆" panose="02010509060101010101" pitchFamily="49" charset="-122"/>
              </a:rPr>
              <a:t>神经网络</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375"/>
              </a:lnSpc>
              <a:spcBef>
                <a:spcPct val="0"/>
              </a:spcBef>
              <a:buClrTx/>
              <a:buSzTx/>
              <a:buFontTx/>
              <a:buNone/>
              <a:tabLst>
                <a:tab pos="457200" algn="l"/>
              </a:tabLst>
            </a:pPr>
            <a:r>
              <a:rPr lang="zh-CN" altLang="en-US" sz="2000">
                <a:solidFill>
                  <a:srgbClr val="000000"/>
                </a:solidFill>
                <a:latin typeface="幼圆" panose="02010509060101010101" pitchFamily="49" charset="-122"/>
                <a:ea typeface="幼圆" panose="02010509060101010101" pitchFamily="49" charset="-122"/>
              </a:rPr>
              <a:t>	</a:t>
            </a:r>
            <a:r>
              <a:rPr lang="en-US" altLang="zh-CN" sz="2000">
                <a:solidFill>
                  <a:srgbClr val="000000"/>
                </a:solidFill>
                <a:latin typeface="Times New Roman" panose="02020603050405020304" pitchFamily="18" charset="0"/>
                <a:ea typeface="宋体" panose="02010600030101010101" pitchFamily="2" charset="-122"/>
              </a:rPr>
              <a:t>•  SVM</a:t>
            </a:r>
            <a:endParaRPr lang="zh-CN" altLang="en-US" sz="2000">
              <a:solidFill>
                <a:srgbClr val="000000"/>
              </a:solidFill>
              <a:latin typeface="Times New Roman" panose="02020603050405020304" pitchFamily="18" charset="0"/>
              <a:ea typeface="宋体" panose="02010600030101010101" pitchFamily="2" charset="-122"/>
            </a:endParaRPr>
          </a:p>
        </p:txBody>
      </p:sp>
      <p:sp>
        <p:nvSpPr>
          <p:cNvPr id="54287" name="TextBox 36"/>
          <p:cNvSpPr txBox="1"/>
          <p:nvPr/>
        </p:nvSpPr>
        <p:spPr>
          <a:xfrm>
            <a:off x="228600" y="228600"/>
            <a:ext cx="8126413" cy="28082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3390"/>
              </a:lnSpc>
              <a:spcBef>
                <a:spcPct val="0"/>
              </a:spcBef>
              <a:buClrTx/>
              <a:buSzTx/>
              <a:buFontTx/>
              <a:buNone/>
              <a:tabLst>
                <a:tab pos="355600" algn="l"/>
                <a:tab pos="812800" algn="l"/>
                <a:tab pos="1422400" algn="l"/>
              </a:tabLst>
            </a:pPr>
            <a:r>
              <a:rPr lang="zh-CN" altLang="en-US" sz="2700">
                <a:solidFill>
                  <a:srgbClr val="000000"/>
                </a:solidFill>
                <a:latin typeface="幼圆" panose="02010509060101010101" pitchFamily="49" charset="-122"/>
                <a:ea typeface="幼圆" panose="02010509060101010101" pitchFamily="49" charset="-122"/>
              </a:rPr>
              <a:t>判别模型 </a:t>
            </a:r>
            <a:r>
              <a:rPr lang="en-US" altLang="zh-CN" sz="2700">
                <a:solidFill>
                  <a:srgbClr val="000000"/>
                </a:solidFill>
                <a:latin typeface="Times New Roman" panose="02020603050405020304" pitchFamily="18" charset="0"/>
                <a:ea typeface="宋体" panose="02010600030101010101" pitchFamily="2" charset="-122"/>
              </a:rPr>
              <a:t>vs. </a:t>
            </a:r>
            <a:r>
              <a:rPr lang="zh-CN" altLang="en-US" sz="2700">
                <a:solidFill>
                  <a:srgbClr val="000000"/>
                </a:solidFill>
                <a:latin typeface="幼圆" panose="02010509060101010101" pitchFamily="49" charset="-122"/>
                <a:ea typeface="幼圆" panose="02010509060101010101" pitchFamily="49" charset="-122"/>
              </a:rPr>
              <a:t>生成（概率）模型</a:t>
            </a: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940"/>
              </a:lnSpc>
              <a:spcBef>
                <a:spcPct val="0"/>
              </a:spcBef>
              <a:buClrTx/>
              <a:buSzTx/>
              <a:buFontTx/>
              <a:buNone/>
              <a:tabLst>
                <a:tab pos="355600" algn="l"/>
                <a:tab pos="812800" algn="l"/>
                <a:tab pos="1422400" algn="l"/>
              </a:tabLst>
            </a:pPr>
            <a:r>
              <a:rPr lang="zh-CN" altLang="en-US" sz="2700">
                <a:solidFill>
                  <a:srgbClr val="000000"/>
                </a:solidFill>
                <a:latin typeface="幼圆" panose="02010509060101010101" pitchFamily="49" charset="-122"/>
                <a:ea typeface="幼圆" panose="02010509060101010101" pitchFamily="49" charset="-122"/>
              </a:rPr>
              <a:t>			</a:t>
            </a:r>
            <a:r>
              <a:rPr lang="zh-CN" altLang="en-US" sz="2400">
                <a:solidFill>
                  <a:srgbClr val="000000"/>
                </a:solidFill>
                <a:latin typeface="幼圆" panose="02010509060101010101" pitchFamily="49" charset="-122"/>
                <a:ea typeface="幼圆" panose="02010509060101010101" pitchFamily="49" charset="-122"/>
              </a:rPr>
              <a:t>在现实中通常难以直接获得</a:t>
            </a:r>
            <a:endParaRPr lang="zh-CN" altLang="en-US" sz="24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4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4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165"/>
              </a:lnSpc>
              <a:spcBef>
                <a:spcPct val="0"/>
              </a:spcBef>
              <a:buClrTx/>
              <a:buSzTx/>
              <a:buFontTx/>
              <a:buNone/>
              <a:tabLst>
                <a:tab pos="355600" algn="l"/>
                <a:tab pos="812800" algn="l"/>
                <a:tab pos="1422400" algn="l"/>
              </a:tabLst>
            </a:pPr>
            <a:r>
              <a:rPr lang="zh-CN" altLang="en-US" sz="2400">
                <a:solidFill>
                  <a:srgbClr val="000000"/>
                </a:solidFill>
                <a:latin typeface="幼圆" panose="02010509060101010101" pitchFamily="49" charset="-122"/>
                <a:ea typeface="幼圆" panose="02010509060101010101" pitchFamily="49" charset="-122"/>
              </a:rPr>
              <a:t>		</a:t>
            </a:r>
            <a:r>
              <a:rPr lang="zh-CN" altLang="en-US" sz="2000">
                <a:solidFill>
                  <a:srgbClr val="000000"/>
                </a:solidFill>
                <a:latin typeface="幼圆" panose="02010509060101010101" pitchFamily="49" charset="-122"/>
                <a:ea typeface="幼圆" panose="02010509060101010101" pitchFamily="49" charset="-122"/>
              </a:rPr>
              <a:t>从这个角度来看，机器学习所要实现的是基于有限的训练样本</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875"/>
              </a:lnSpc>
              <a:spcBef>
                <a:spcPct val="0"/>
              </a:spcBef>
              <a:buClrTx/>
              <a:buSzTx/>
              <a:buFontTx/>
              <a:buNone/>
              <a:tabLst>
                <a:tab pos="355600" algn="l"/>
                <a:tab pos="812800" algn="l"/>
                <a:tab pos="1422400" algn="l"/>
              </a:tabLst>
            </a:pPr>
            <a:r>
              <a:rPr lang="zh-CN" altLang="en-US" sz="2000">
                <a:solidFill>
                  <a:srgbClr val="000000"/>
                </a:solidFill>
                <a:latin typeface="幼圆" panose="02010509060101010101" pitchFamily="49" charset="-122"/>
                <a:ea typeface="幼圆" panose="02010509060101010101" pitchFamily="49" charset="-122"/>
              </a:rPr>
              <a:t>		尽可能准确地估计出后验概率</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55600" algn="l"/>
                <a:tab pos="812800" algn="l"/>
                <a:tab pos="14224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515"/>
              </a:lnSpc>
              <a:spcBef>
                <a:spcPct val="0"/>
              </a:spcBef>
              <a:buClrTx/>
              <a:buSzTx/>
              <a:buFontTx/>
              <a:buNone/>
              <a:tabLst>
                <a:tab pos="355600" algn="l"/>
                <a:tab pos="812800" algn="l"/>
                <a:tab pos="1422400" algn="l"/>
              </a:tabLst>
            </a:pPr>
            <a:r>
              <a:rPr lang="zh-CN" altLang="en-US" sz="2000">
                <a:solidFill>
                  <a:srgbClr val="000000"/>
                </a:solidFill>
                <a:latin typeface="幼圆" panose="02010509060101010101" pitchFamily="49" charset="-122"/>
                <a:ea typeface="幼圆" panose="02010509060101010101" pitchFamily="49" charset="-122"/>
              </a:rPr>
              <a:t>	</a:t>
            </a:r>
            <a:r>
              <a:rPr lang="zh-CN" altLang="en-US" sz="2400">
                <a:solidFill>
                  <a:srgbClr val="000000"/>
                </a:solidFill>
                <a:latin typeface="幼圆" panose="02010509060101010101" pitchFamily="49" charset="-122"/>
                <a:ea typeface="幼圆" panose="02010509060101010101" pitchFamily="49" charset="-122"/>
              </a:rPr>
              <a:t>两种基本策略：</a:t>
            </a:r>
            <a:endParaRPr lang="zh-CN" altLang="en-US" sz="2400">
              <a:solidFill>
                <a:srgbClr val="000000"/>
              </a:solidFill>
              <a:latin typeface="幼圆" panose="02010509060101010101" pitchFamily="49" charset="-122"/>
              <a:ea typeface="幼圆" panose="02010509060101010101" pitchFamily="49" charset="-122"/>
            </a:endParaRPr>
          </a:p>
        </p:txBody>
      </p:sp>
      <p:sp>
        <p:nvSpPr>
          <p:cNvPr id="54288" name="TextBox 37"/>
          <p:cNvSpPr txBox="1"/>
          <p:nvPr/>
        </p:nvSpPr>
        <p:spPr>
          <a:xfrm>
            <a:off x="5033963" y="3790950"/>
            <a:ext cx="3527425" cy="26670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1925"/>
              </a:lnSpc>
              <a:spcBef>
                <a:spcPct val="0"/>
              </a:spcBef>
              <a:buClrTx/>
              <a:buSzTx/>
              <a:buFontTx/>
              <a:buNone/>
              <a:tabLst>
                <a:tab pos="342900" algn="l"/>
                <a:tab pos="1892300" algn="l"/>
              </a:tabLst>
            </a:pPr>
            <a:r>
              <a:rPr lang="zh-CN" altLang="en-US" sz="2000">
                <a:solidFill>
                  <a:srgbClr val="000000"/>
                </a:solidFill>
                <a:latin typeface="幼圆" panose="02010509060101010101" pitchFamily="49" charset="-122"/>
                <a:ea typeface="幼圆" panose="02010509060101010101" pitchFamily="49" charset="-122"/>
              </a:rPr>
              <a:t>思路：先对联合概率分布</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875"/>
              </a:lnSpc>
              <a:spcBef>
                <a:spcPct val="0"/>
              </a:spcBef>
              <a:buClrTx/>
              <a:buSzTx/>
              <a:buFontTx/>
              <a:buNone/>
              <a:tabLst>
                <a:tab pos="342900" algn="l"/>
                <a:tab pos="1892300" algn="l"/>
              </a:tabLst>
            </a:pPr>
            <a:r>
              <a:rPr lang="zh-CN" altLang="en-US" sz="2000">
                <a:solidFill>
                  <a:srgbClr val="000000"/>
                </a:solidFill>
                <a:latin typeface="幼圆" panose="02010509060101010101" pitchFamily="49" charset="-122"/>
                <a:ea typeface="幼圆" panose="02010509060101010101" pitchFamily="49" charset="-122"/>
              </a:rPr>
              <a:t>建模，再由此获得</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165"/>
              </a:lnSpc>
              <a:spcBef>
                <a:spcPct val="0"/>
              </a:spcBef>
              <a:buClrTx/>
              <a:buSzTx/>
              <a:buFontTx/>
              <a:buNone/>
              <a:tabLst>
                <a:tab pos="342900" algn="l"/>
                <a:tab pos="1892300" algn="l"/>
              </a:tabLst>
            </a:pPr>
            <a:r>
              <a:rPr lang="zh-CN" altLang="en-US" sz="2000">
                <a:solidFill>
                  <a:srgbClr val="000000"/>
                </a:solidFill>
                <a:latin typeface="幼圆" panose="02010509060101010101" pitchFamily="49" charset="-122"/>
                <a:ea typeface="幼圆" panose="02010509060101010101" pitchFamily="49" charset="-122"/>
              </a:rPr>
              <a:t>代表：贝叶斯分类器</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342900" algn="l"/>
                <a:tab pos="18923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075"/>
              </a:lnSpc>
              <a:spcBef>
                <a:spcPct val="0"/>
              </a:spcBef>
              <a:buClrTx/>
              <a:buSzTx/>
              <a:buFontTx/>
              <a:buNone/>
              <a:tabLst>
                <a:tab pos="342900" algn="l"/>
                <a:tab pos="1892300" algn="l"/>
              </a:tabLst>
            </a:pPr>
            <a:r>
              <a:rPr lang="zh-CN" altLang="en-US" sz="2000">
                <a:solidFill>
                  <a:srgbClr val="000000"/>
                </a:solidFill>
                <a:latin typeface="幼圆" panose="02010509060101010101" pitchFamily="49" charset="-122"/>
                <a:ea typeface="幼圆" panose="02010509060101010101" pitchFamily="49" charset="-122"/>
              </a:rPr>
              <a:t>	</a:t>
            </a:r>
            <a:r>
              <a:rPr lang="zh-CN" altLang="en-US" sz="1500">
                <a:solidFill>
                  <a:srgbClr val="000000"/>
                </a:solidFill>
                <a:latin typeface="幼圆" panose="02010509060101010101" pitchFamily="49" charset="-122"/>
                <a:ea typeface="幼圆" panose="02010509060101010101" pitchFamily="49" charset="-122"/>
              </a:rPr>
              <a:t>注意：贝叶斯分类器 </a:t>
            </a:r>
            <a:r>
              <a:rPr lang="zh-CN" altLang="en-US" sz="1500">
                <a:solidFill>
                  <a:srgbClr val="000000"/>
                </a:solidFill>
                <a:latin typeface="Times New Roman" panose="02020603050405020304" pitchFamily="18" charset="0"/>
                <a:ea typeface="宋体" panose="02010600030101010101" pitchFamily="2" charset="-122"/>
              </a:rPr>
              <a:t>≠  </a:t>
            </a:r>
            <a:r>
              <a:rPr lang="zh-CN" altLang="en-US" sz="1500">
                <a:solidFill>
                  <a:srgbClr val="000000"/>
                </a:solidFill>
                <a:latin typeface="幼圆" panose="02010509060101010101" pitchFamily="49" charset="-122"/>
                <a:ea typeface="幼圆" panose="02010509060101010101" pitchFamily="49" charset="-122"/>
              </a:rPr>
              <a:t>贝叶斯学习</a:t>
            </a:r>
            <a:endParaRPr lang="zh-CN" altLang="en-US" sz="15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675"/>
              </a:lnSpc>
              <a:spcBef>
                <a:spcPct val="0"/>
              </a:spcBef>
              <a:buClrTx/>
              <a:buSzTx/>
              <a:buFontTx/>
              <a:buNone/>
              <a:tabLst>
                <a:tab pos="342900" algn="l"/>
                <a:tab pos="1892300" algn="l"/>
              </a:tabLst>
            </a:pPr>
            <a:r>
              <a:rPr lang="zh-CN" altLang="en-US" sz="1500">
                <a:solidFill>
                  <a:srgbClr val="000000"/>
                </a:solidFill>
                <a:latin typeface="幼圆" panose="02010509060101010101" pitchFamily="49" charset="-122"/>
                <a:ea typeface="幼圆" panose="02010509060101010101" pitchFamily="49" charset="-122"/>
              </a:rPr>
              <a:t>		</a:t>
            </a:r>
            <a:r>
              <a:rPr lang="en-US" altLang="zh-CN" sz="1400">
                <a:solidFill>
                  <a:srgbClr val="000000"/>
                </a:solidFill>
                <a:latin typeface="Times New Roman" panose="02020603050405020304" pitchFamily="18" charset="0"/>
                <a:ea typeface="宋体" panose="02010600030101010101" pitchFamily="2" charset="-122"/>
              </a:rPr>
              <a:t>(Bayesian learning)</a:t>
            </a:r>
            <a:endParaRPr lang="zh-CN" altLang="en-US" sz="140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7" name="图片 1" descr="ws_38CD.tmp"/>
          <p:cNvPicPr/>
          <p:nvPr/>
        </p:nvPicPr>
        <p:blipFill>
          <a:blip r:embed="rId1"/>
          <a:stretch>
            <a:fillRect/>
          </a:stretch>
        </p:blipFill>
        <p:spPr>
          <a:xfrm>
            <a:off x="0" y="0"/>
            <a:ext cx="9144000" cy="6858000"/>
          </a:xfrm>
          <a:prstGeom prst="rect">
            <a:avLst/>
          </a:prstGeom>
          <a:noFill/>
          <a:ln w="9525">
            <a:noFill/>
          </a:ln>
        </p:spPr>
      </p:pic>
      <p:pic>
        <p:nvPicPr>
          <p:cNvPr id="55298" name="图片 2" descr="ws_38CE.tmp"/>
          <p:cNvPicPr/>
          <p:nvPr/>
        </p:nvPicPr>
        <p:blipFill>
          <a:blip r:embed="rId2"/>
          <a:stretch>
            <a:fillRect/>
          </a:stretch>
        </p:blipFill>
        <p:spPr>
          <a:xfrm>
            <a:off x="1943100" y="1028700"/>
            <a:ext cx="2844800" cy="1092200"/>
          </a:xfrm>
          <a:prstGeom prst="rect">
            <a:avLst/>
          </a:prstGeom>
          <a:noFill/>
          <a:ln w="9525">
            <a:noFill/>
          </a:ln>
        </p:spPr>
      </p:pic>
      <p:pic>
        <p:nvPicPr>
          <p:cNvPr id="55299" name="图片 3" descr="ws_38CF.tmp"/>
          <p:cNvPicPr/>
          <p:nvPr/>
        </p:nvPicPr>
        <p:blipFill>
          <a:blip r:embed="rId3"/>
          <a:stretch>
            <a:fillRect/>
          </a:stretch>
        </p:blipFill>
        <p:spPr>
          <a:xfrm>
            <a:off x="6819900" y="114300"/>
            <a:ext cx="2171700" cy="2324100"/>
          </a:xfrm>
          <a:prstGeom prst="rect">
            <a:avLst/>
          </a:prstGeom>
          <a:noFill/>
          <a:ln w="9525">
            <a:noFill/>
          </a:ln>
        </p:spPr>
      </p:pic>
      <p:pic>
        <p:nvPicPr>
          <p:cNvPr id="55300" name="图片 4" descr="ws_38E0.tmp"/>
          <p:cNvPicPr/>
          <p:nvPr/>
        </p:nvPicPr>
        <p:blipFill>
          <a:blip r:embed="rId4"/>
          <a:stretch>
            <a:fillRect/>
          </a:stretch>
        </p:blipFill>
        <p:spPr>
          <a:xfrm>
            <a:off x="1930400" y="2717800"/>
            <a:ext cx="4533900" cy="2209800"/>
          </a:xfrm>
          <a:prstGeom prst="rect">
            <a:avLst/>
          </a:prstGeom>
          <a:noFill/>
          <a:ln w="9525">
            <a:noFill/>
          </a:ln>
        </p:spPr>
      </p:pic>
      <p:pic>
        <p:nvPicPr>
          <p:cNvPr id="55301" name="图片 5" descr="ws_38E1.tmp"/>
          <p:cNvPicPr/>
          <p:nvPr/>
        </p:nvPicPr>
        <p:blipFill>
          <a:blip r:embed="rId5"/>
          <a:stretch>
            <a:fillRect/>
          </a:stretch>
        </p:blipFill>
        <p:spPr>
          <a:xfrm>
            <a:off x="7213600" y="5664200"/>
            <a:ext cx="850900" cy="381000"/>
          </a:xfrm>
          <a:prstGeom prst="rect">
            <a:avLst/>
          </a:prstGeom>
          <a:noFill/>
          <a:ln w="9525">
            <a:noFill/>
          </a:ln>
        </p:spPr>
      </p:pic>
      <p:pic>
        <p:nvPicPr>
          <p:cNvPr id="55302" name="图片 6" descr="ws_38E2.tmp"/>
          <p:cNvPicPr/>
          <p:nvPr/>
        </p:nvPicPr>
        <p:blipFill>
          <a:blip r:embed="rId6"/>
          <a:stretch>
            <a:fillRect/>
          </a:stretch>
        </p:blipFill>
        <p:spPr>
          <a:xfrm>
            <a:off x="0" y="0"/>
            <a:ext cx="9144000" cy="6858000"/>
          </a:xfrm>
          <a:prstGeom prst="rect">
            <a:avLst/>
          </a:prstGeom>
          <a:noFill/>
          <a:ln w="9525">
            <a:noFill/>
          </a:ln>
        </p:spPr>
      </p:pic>
      <p:sp>
        <p:nvSpPr>
          <p:cNvPr id="55303" name="TextBox 28"/>
          <p:cNvSpPr txBox="1"/>
          <p:nvPr/>
        </p:nvSpPr>
        <p:spPr>
          <a:xfrm>
            <a:off x="219075" y="322263"/>
            <a:ext cx="1795463" cy="3460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690"/>
              </a:lnSpc>
              <a:spcBef>
                <a:spcPct val="0"/>
              </a:spcBef>
              <a:buClrTx/>
              <a:buSzTx/>
              <a:buFontTx/>
              <a:buNone/>
            </a:pPr>
            <a:r>
              <a:rPr lang="zh-CN" altLang="en-US" sz="2700">
                <a:solidFill>
                  <a:srgbClr val="000000"/>
                </a:solidFill>
                <a:latin typeface="幼圆" panose="02010509060101010101" pitchFamily="49" charset="-122"/>
                <a:ea typeface="幼圆" panose="02010509060101010101" pitchFamily="49" charset="-122"/>
              </a:rPr>
              <a:t>贝叶斯定理</a:t>
            </a:r>
            <a:endParaRPr lang="zh-CN" altLang="en-US" sz="2700">
              <a:solidFill>
                <a:srgbClr val="000000"/>
              </a:solidFill>
              <a:latin typeface="幼圆" panose="02010509060101010101" pitchFamily="49" charset="-122"/>
              <a:ea typeface="幼圆" panose="02010509060101010101" pitchFamily="49" charset="-122"/>
            </a:endParaRPr>
          </a:p>
        </p:txBody>
      </p:sp>
      <p:sp>
        <p:nvSpPr>
          <p:cNvPr id="55304" name="TextBox 29"/>
          <p:cNvSpPr txBox="1"/>
          <p:nvPr/>
        </p:nvSpPr>
        <p:spPr>
          <a:xfrm>
            <a:off x="381000" y="2425700"/>
            <a:ext cx="2833688" cy="29352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1925"/>
              </a:lnSpc>
              <a:spcBef>
                <a:spcPct val="0"/>
              </a:spcBef>
              <a:buClrTx/>
              <a:buSzTx/>
              <a:buFontTx/>
              <a:buNone/>
              <a:tabLst>
                <a:tab pos="63500" algn="l"/>
                <a:tab pos="482600" algn="l"/>
              </a:tabLst>
            </a:pPr>
            <a:r>
              <a:rPr lang="zh-CN" altLang="en-US" sz="1800">
                <a:solidFill>
                  <a:srgbClr val="000000"/>
                </a:solidFill>
                <a:latin typeface="幼圆" panose="02010509060101010101" pitchFamily="49" charset="-122"/>
                <a:ea typeface="幼圆" panose="02010509060101010101" pitchFamily="49" charset="-122"/>
              </a:rPr>
              <a:t>根据贝叶斯定理，有</a:t>
            </a:r>
            <a:endParaRPr lang="zh-CN" altLang="en-US" sz="18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63500" algn="l"/>
                <a:tab pos="4826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350"/>
              </a:lnSpc>
              <a:spcBef>
                <a:spcPct val="0"/>
              </a:spcBef>
              <a:buClrTx/>
              <a:buSzTx/>
              <a:buFontTx/>
              <a:buNone/>
              <a:tabLst>
                <a:tab pos="63500" algn="l"/>
                <a:tab pos="482600" algn="l"/>
              </a:tabLst>
            </a:pPr>
            <a:r>
              <a:rPr lang="zh-CN" altLang="en-US" sz="2000">
                <a:solidFill>
                  <a:srgbClr val="000000"/>
                </a:solidFill>
                <a:latin typeface="幼圆" panose="02010509060101010101" pitchFamily="49" charset="-122"/>
                <a:ea typeface="幼圆" panose="02010509060101010101" pitchFamily="49" charset="-122"/>
              </a:rPr>
              <a:t>		</a:t>
            </a:r>
            <a:r>
              <a:rPr lang="zh-CN" altLang="en-US" sz="1800">
                <a:solidFill>
                  <a:srgbClr val="C00000"/>
                </a:solidFill>
                <a:latin typeface="幼圆" panose="02010509060101010101" pitchFamily="49" charset="-122"/>
                <a:ea typeface="幼圆" panose="02010509060101010101" pitchFamily="49" charset="-122"/>
              </a:rPr>
              <a:t>先验概率（</a:t>
            </a:r>
            <a:r>
              <a:rPr lang="en-US" altLang="zh-CN" sz="1800">
                <a:solidFill>
                  <a:srgbClr val="C00000"/>
                </a:solidFill>
                <a:latin typeface="幼圆" panose="02010509060101010101" pitchFamily="49" charset="-122"/>
                <a:ea typeface="幼圆" panose="02010509060101010101" pitchFamily="49" charset="-122"/>
              </a:rPr>
              <a:t>prior </a:t>
            </a:r>
            <a:r>
              <a:rPr lang="zh-CN" altLang="en-US" sz="1800">
                <a:solidFill>
                  <a:srgbClr val="C00000"/>
                </a:solidFill>
                <a:latin typeface="幼圆" panose="02010509060101010101" pitchFamily="49" charset="-122"/>
                <a:ea typeface="幼圆" panose="02010509060101010101" pitchFamily="49" charset="-122"/>
              </a:rPr>
              <a:t>）</a:t>
            </a:r>
            <a:endParaRPr lang="zh-CN" altLang="en-US" sz="1800">
              <a:solidFill>
                <a:srgbClr val="C00000"/>
              </a:solidFill>
              <a:latin typeface="幼圆" panose="02010509060101010101" pitchFamily="49" charset="-122"/>
              <a:ea typeface="幼圆" panose="02010509060101010101" pitchFamily="49" charset="-122"/>
            </a:endParaRPr>
          </a:p>
          <a:p>
            <a:pPr marL="0" lvl="0" indent="0" defTabSz="914400" eaLnBrk="1" hangingPunct="1">
              <a:lnSpc>
                <a:spcPts val="2165"/>
              </a:lnSpc>
              <a:spcBef>
                <a:spcPct val="0"/>
              </a:spcBef>
              <a:buClrTx/>
              <a:buSzTx/>
              <a:buFontTx/>
              <a:buNone/>
              <a:tabLst>
                <a:tab pos="63500" algn="l"/>
                <a:tab pos="482600" algn="l"/>
              </a:tabLst>
            </a:pPr>
            <a:r>
              <a:rPr lang="zh-CN" altLang="en-US" sz="1800">
                <a:solidFill>
                  <a:srgbClr val="C00000"/>
                </a:solidFill>
                <a:latin typeface="幼圆" panose="02010509060101010101" pitchFamily="49" charset="-122"/>
                <a:ea typeface="幼圆" panose="02010509060101010101" pitchFamily="49" charset="-122"/>
              </a:rPr>
              <a:t>	</a:t>
            </a:r>
            <a:r>
              <a:rPr lang="zh-CN" altLang="en-US" sz="1800">
                <a:solidFill>
                  <a:srgbClr val="000000"/>
                </a:solidFill>
                <a:latin typeface="幼圆" panose="02010509060101010101" pitchFamily="49" charset="-122"/>
                <a:ea typeface="幼圆" panose="02010509060101010101" pitchFamily="49" charset="-122"/>
              </a:rPr>
              <a:t>样本空间中各类样本所占的</a:t>
            </a:r>
            <a:endParaRPr lang="zh-CN" altLang="en-US" sz="18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165"/>
              </a:lnSpc>
              <a:spcBef>
                <a:spcPct val="0"/>
              </a:spcBef>
              <a:buClrTx/>
              <a:buSzTx/>
              <a:buFontTx/>
              <a:buNone/>
              <a:tabLst>
                <a:tab pos="63500" algn="l"/>
                <a:tab pos="482600" algn="l"/>
              </a:tabLst>
            </a:pPr>
            <a:r>
              <a:rPr lang="zh-CN" altLang="en-US" sz="1800">
                <a:solidFill>
                  <a:srgbClr val="000000"/>
                </a:solidFill>
                <a:latin typeface="幼圆" panose="02010509060101010101" pitchFamily="49" charset="-122"/>
                <a:ea typeface="幼圆" panose="02010509060101010101" pitchFamily="49" charset="-122"/>
              </a:rPr>
              <a:t>	比例，可通过各类样本出现</a:t>
            </a:r>
            <a:endParaRPr lang="zh-CN" altLang="en-US" sz="18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165"/>
              </a:lnSpc>
              <a:spcBef>
                <a:spcPct val="0"/>
              </a:spcBef>
              <a:buClrTx/>
              <a:buSzTx/>
              <a:buFontTx/>
              <a:buNone/>
              <a:tabLst>
                <a:tab pos="63500" algn="l"/>
                <a:tab pos="482600" algn="l"/>
              </a:tabLst>
            </a:pPr>
            <a:r>
              <a:rPr lang="zh-CN" altLang="en-US" sz="1800">
                <a:solidFill>
                  <a:srgbClr val="000000"/>
                </a:solidFill>
                <a:latin typeface="幼圆" panose="02010509060101010101" pitchFamily="49" charset="-122"/>
                <a:ea typeface="幼圆" panose="02010509060101010101" pitchFamily="49" charset="-122"/>
              </a:rPr>
              <a:t>	的频率估计（大数定律）</a:t>
            </a:r>
            <a:endParaRPr lang="zh-CN" altLang="en-US" sz="1800">
              <a:solidFill>
                <a:srgbClr val="000000"/>
              </a:solidFill>
              <a:latin typeface="幼圆" panose="02010509060101010101" pitchFamily="49" charset="-122"/>
              <a:ea typeface="幼圆" panose="02010509060101010101" pitchFamily="49" charset="-122"/>
            </a:endParaRPr>
          </a:p>
        </p:txBody>
      </p:sp>
      <p:sp>
        <p:nvSpPr>
          <p:cNvPr id="55305" name="TextBox 30"/>
          <p:cNvSpPr txBox="1"/>
          <p:nvPr/>
        </p:nvSpPr>
        <p:spPr>
          <a:xfrm>
            <a:off x="3914775" y="5054600"/>
            <a:ext cx="14033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40"/>
              </a:lnSpc>
              <a:spcBef>
                <a:spcPct val="0"/>
              </a:spcBef>
              <a:buClrTx/>
              <a:buSzTx/>
              <a:buFontTx/>
              <a:buNone/>
            </a:pPr>
            <a:r>
              <a:rPr lang="zh-CN" altLang="en-US" sz="1800">
                <a:solidFill>
                  <a:srgbClr val="0000FF"/>
                </a:solidFill>
                <a:latin typeface="幼圆" panose="02010509060101010101" pitchFamily="49" charset="-122"/>
                <a:ea typeface="幼圆" panose="02010509060101010101" pitchFamily="49" charset="-122"/>
              </a:rPr>
              <a:t>证据 </a:t>
            </a:r>
            <a:r>
              <a:rPr lang="en-US" altLang="zh-CN" sz="1500">
                <a:solidFill>
                  <a:srgbClr val="000000"/>
                </a:solidFill>
                <a:latin typeface="Times New Roman" panose="02020603050405020304" pitchFamily="18" charset="0"/>
                <a:ea typeface="宋体" panose="02010600030101010101" pitchFamily="2" charset="-122"/>
              </a:rPr>
              <a:t>(evidence)</a:t>
            </a: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55306" name="TextBox 31"/>
          <p:cNvSpPr txBox="1"/>
          <p:nvPr/>
        </p:nvSpPr>
        <p:spPr>
          <a:xfrm>
            <a:off x="3825875" y="5349875"/>
            <a:ext cx="1846263" cy="2190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725"/>
              </a:lnSpc>
              <a:spcBef>
                <a:spcPct val="0"/>
              </a:spcBef>
              <a:buClrTx/>
              <a:buSzTx/>
              <a:buFontTx/>
              <a:buNone/>
            </a:pPr>
            <a:r>
              <a:rPr lang="zh-CN" altLang="en-US" sz="1800">
                <a:solidFill>
                  <a:srgbClr val="000000"/>
                </a:solidFill>
                <a:latin typeface="幼圆" panose="02010509060101010101" pitchFamily="49" charset="-122"/>
                <a:ea typeface="幼圆" panose="02010509060101010101" pitchFamily="49" charset="-122"/>
              </a:rPr>
              <a:t>因子，与类别无关</a:t>
            </a:r>
            <a:endParaRPr lang="zh-CN" altLang="en-US" sz="1800">
              <a:solidFill>
                <a:srgbClr val="000000"/>
              </a:solidFill>
              <a:latin typeface="幼圆" panose="02010509060101010101" pitchFamily="49" charset="-122"/>
              <a:ea typeface="幼圆" panose="02010509060101010101" pitchFamily="49" charset="-122"/>
            </a:endParaRPr>
          </a:p>
        </p:txBody>
      </p:sp>
      <p:sp>
        <p:nvSpPr>
          <p:cNvPr id="55307" name="TextBox 32"/>
          <p:cNvSpPr txBox="1"/>
          <p:nvPr/>
        </p:nvSpPr>
        <p:spPr>
          <a:xfrm>
            <a:off x="5976938" y="2541588"/>
            <a:ext cx="2697162" cy="2166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1940"/>
              </a:lnSpc>
              <a:spcBef>
                <a:spcPct val="0"/>
              </a:spcBef>
              <a:buClrTx/>
              <a:buSzTx/>
              <a:buFontTx/>
              <a:buNone/>
              <a:tabLst>
                <a:tab pos="1231900" algn="l"/>
                <a:tab pos="1257300" algn="l"/>
              </a:tabLst>
            </a:pPr>
            <a:r>
              <a:rPr lang="en-US" altLang="zh-CN" sz="2400">
                <a:ea typeface="宋体" panose="02010600030101010101" pitchFamily="2" charset="-122"/>
              </a:rPr>
              <a:t>	</a:t>
            </a:r>
            <a:r>
              <a:rPr lang="en-US" altLang="zh-CN" sz="1500">
                <a:solidFill>
                  <a:srgbClr val="000000"/>
                </a:solidFill>
                <a:latin typeface="Times New Roman" panose="02020603050405020304" pitchFamily="18" charset="0"/>
                <a:ea typeface="宋体" panose="02010600030101010101" pitchFamily="2" charset="-122"/>
              </a:rPr>
              <a:t>Thomas Bayes</a:t>
            </a: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925"/>
              </a:lnSpc>
              <a:spcBef>
                <a:spcPct val="0"/>
              </a:spcBef>
              <a:buClrTx/>
              <a:buSzTx/>
              <a:buFontTx/>
              <a:buNone/>
              <a:tabLst>
                <a:tab pos="1231900" algn="l"/>
                <a:tab pos="1257300" algn="l"/>
              </a:tabLst>
            </a:pPr>
            <a:r>
              <a:rPr lang="en-US" altLang="zh-CN" sz="1500">
                <a:solidFill>
                  <a:srgbClr val="000000"/>
                </a:solidFill>
                <a:latin typeface="Times New Roman" panose="02020603050405020304" pitchFamily="18" charset="0"/>
                <a:ea typeface="宋体" panose="02010600030101010101" pitchFamily="2" charset="-122"/>
              </a:rPr>
              <a:t>		(1701?-1761)</a:t>
            </a: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1231900" algn="l"/>
                <a:tab pos="1257300" algn="l"/>
              </a:tabLst>
            </a:pP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1231900" algn="l"/>
                <a:tab pos="1257300" algn="l"/>
              </a:tabLst>
            </a:pP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1231900" algn="l"/>
                <a:tab pos="1257300" algn="l"/>
              </a:tabLst>
            </a:pP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1231900" algn="l"/>
                <a:tab pos="1257300" algn="l"/>
              </a:tabLst>
            </a:pP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000"/>
              </a:lnSpc>
              <a:spcBef>
                <a:spcPct val="0"/>
              </a:spcBef>
              <a:buClrTx/>
              <a:buSzTx/>
              <a:buFontTx/>
              <a:buNone/>
              <a:tabLst>
                <a:tab pos="1231900" algn="l"/>
                <a:tab pos="1257300" algn="l"/>
              </a:tabLst>
            </a:pPr>
            <a:endParaRPr lang="en-US" altLang="zh-CN" sz="15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1825"/>
              </a:lnSpc>
              <a:spcBef>
                <a:spcPct val="0"/>
              </a:spcBef>
              <a:buClrTx/>
              <a:buSzTx/>
              <a:buFontTx/>
              <a:buNone/>
              <a:tabLst>
                <a:tab pos="1231900" algn="l"/>
                <a:tab pos="1257300" algn="l"/>
              </a:tabLst>
            </a:pPr>
            <a:r>
              <a:rPr lang="zh-CN" altLang="en-US" sz="1800">
                <a:solidFill>
                  <a:srgbClr val="000000"/>
                </a:solidFill>
                <a:latin typeface="幼圆" panose="02010509060101010101" pitchFamily="49" charset="-122"/>
                <a:ea typeface="幼圆" panose="02010509060101010101" pitchFamily="49" charset="-122"/>
              </a:rPr>
              <a:t>样本相对于类标记的 </a:t>
            </a:r>
            <a:r>
              <a:rPr lang="zh-CN" altLang="en-US" sz="1800">
                <a:solidFill>
                  <a:srgbClr val="FF0000"/>
                </a:solidFill>
                <a:latin typeface="幼圆" panose="02010509060101010101" pitchFamily="49" charset="-122"/>
                <a:ea typeface="幼圆" panose="02010509060101010101" pitchFamily="49" charset="-122"/>
              </a:rPr>
              <a:t>类条</a:t>
            </a:r>
            <a:endParaRPr lang="zh-CN" altLang="en-US" sz="1800">
              <a:solidFill>
                <a:srgbClr val="FF0000"/>
              </a:solidFill>
              <a:latin typeface="幼圆" panose="02010509060101010101" pitchFamily="49" charset="-122"/>
              <a:ea typeface="幼圆" panose="02010509060101010101" pitchFamily="49" charset="-122"/>
            </a:endParaRPr>
          </a:p>
          <a:p>
            <a:pPr marL="0" lvl="0" indent="0" defTabSz="914400" eaLnBrk="1" hangingPunct="1">
              <a:lnSpc>
                <a:spcPts val="2175"/>
              </a:lnSpc>
              <a:spcBef>
                <a:spcPct val="0"/>
              </a:spcBef>
              <a:buClrTx/>
              <a:buSzTx/>
              <a:buFontTx/>
              <a:buNone/>
              <a:tabLst>
                <a:tab pos="1231900" algn="l"/>
                <a:tab pos="1257300" algn="l"/>
              </a:tabLst>
            </a:pPr>
            <a:r>
              <a:rPr lang="zh-CN" altLang="en-US" sz="1800">
                <a:solidFill>
                  <a:srgbClr val="FF0000"/>
                </a:solidFill>
                <a:latin typeface="幼圆" panose="02010509060101010101" pitchFamily="49" charset="-122"/>
                <a:ea typeface="幼圆" panose="02010509060101010101" pitchFamily="49" charset="-122"/>
              </a:rPr>
              <a:t>件概率 </a:t>
            </a:r>
            <a:r>
              <a:rPr lang="en-US" altLang="zh-CN" sz="1800">
                <a:solidFill>
                  <a:srgbClr val="000000"/>
                </a:solidFill>
                <a:latin typeface="Times New Roman" panose="02020603050405020304" pitchFamily="18" charset="0"/>
                <a:ea typeface="宋体" panose="02010600030101010101" pitchFamily="2" charset="-122"/>
              </a:rPr>
              <a:t>(class-conditional</a:t>
            </a:r>
            <a:endParaRPr lang="en-US" altLang="zh-CN" sz="1800">
              <a:solidFill>
                <a:srgbClr val="000000"/>
              </a:solidFill>
              <a:latin typeface="Times New Roman" panose="02020603050405020304" pitchFamily="18" charset="0"/>
              <a:ea typeface="宋体" panose="02010600030101010101" pitchFamily="2" charset="-122"/>
            </a:endParaRPr>
          </a:p>
          <a:p>
            <a:pPr marL="0" lvl="0" indent="0" defTabSz="914400" eaLnBrk="1" hangingPunct="1">
              <a:lnSpc>
                <a:spcPts val="2200"/>
              </a:lnSpc>
              <a:spcBef>
                <a:spcPct val="0"/>
              </a:spcBef>
              <a:buClrTx/>
              <a:buSzTx/>
              <a:buFontTx/>
              <a:buNone/>
              <a:tabLst>
                <a:tab pos="1231900" algn="l"/>
                <a:tab pos="1257300" algn="l"/>
              </a:tabLst>
            </a:pPr>
            <a:r>
              <a:rPr lang="en-US" altLang="zh-CN" sz="1800">
                <a:solidFill>
                  <a:srgbClr val="000000"/>
                </a:solidFill>
                <a:latin typeface="Times New Roman" panose="02020603050405020304" pitchFamily="18" charset="0"/>
                <a:ea typeface="宋体" panose="02010600030101010101" pitchFamily="2" charset="-122"/>
              </a:rPr>
              <a:t>probability), </a:t>
            </a:r>
            <a:r>
              <a:rPr lang="zh-CN" altLang="en-US" sz="1800">
                <a:solidFill>
                  <a:srgbClr val="000000"/>
                </a:solidFill>
                <a:latin typeface="幼圆" panose="02010509060101010101" pitchFamily="49" charset="-122"/>
                <a:ea typeface="幼圆" panose="02010509060101010101" pitchFamily="49" charset="-122"/>
              </a:rPr>
              <a:t>亦称 </a:t>
            </a:r>
            <a:r>
              <a:rPr lang="zh-CN" altLang="en-US" sz="1800">
                <a:solidFill>
                  <a:srgbClr val="FF0000"/>
                </a:solidFill>
                <a:latin typeface="幼圆" panose="02010509060101010101" pitchFamily="49" charset="-122"/>
                <a:ea typeface="幼圆" panose="02010509060101010101" pitchFamily="49" charset="-122"/>
              </a:rPr>
              <a:t>似然</a:t>
            </a:r>
            <a:endParaRPr lang="zh-CN" altLang="en-US" sz="1800">
              <a:solidFill>
                <a:srgbClr val="FF0000"/>
              </a:solidFill>
              <a:latin typeface="幼圆" panose="02010509060101010101" pitchFamily="49" charset="-122"/>
              <a:ea typeface="幼圆" panose="02010509060101010101" pitchFamily="49" charset="-122"/>
            </a:endParaRPr>
          </a:p>
          <a:p>
            <a:pPr marL="0" lvl="0" indent="0" defTabSz="914400" eaLnBrk="1" hangingPunct="1">
              <a:lnSpc>
                <a:spcPts val="1900"/>
              </a:lnSpc>
              <a:spcBef>
                <a:spcPct val="0"/>
              </a:spcBef>
              <a:buClrTx/>
              <a:buSzTx/>
              <a:buFontTx/>
              <a:buNone/>
              <a:tabLst>
                <a:tab pos="1231900" algn="l"/>
                <a:tab pos="1257300" algn="l"/>
              </a:tabLst>
            </a:pPr>
            <a:r>
              <a:rPr lang="en-US" altLang="zh-CN" sz="1800">
                <a:solidFill>
                  <a:srgbClr val="000000"/>
                </a:solidFill>
                <a:latin typeface="Times New Roman" panose="02020603050405020304" pitchFamily="18" charset="0"/>
                <a:ea typeface="宋体" panose="02010600030101010101" pitchFamily="2" charset="-122"/>
              </a:rPr>
              <a:t>(likelihood)</a:t>
            </a:r>
            <a:endParaRPr lang="zh-CN" altLang="en-US" sz="1800">
              <a:solidFill>
                <a:srgbClr val="000000"/>
              </a:solidFill>
              <a:latin typeface="Times New Roman" panose="02020603050405020304" pitchFamily="18" charset="0"/>
              <a:ea typeface="宋体" panose="02010600030101010101" pitchFamily="2" charset="-122"/>
            </a:endParaRPr>
          </a:p>
        </p:txBody>
      </p:sp>
      <p:sp>
        <p:nvSpPr>
          <p:cNvPr id="55308" name="TextBox 33"/>
          <p:cNvSpPr txBox="1"/>
          <p:nvPr/>
        </p:nvSpPr>
        <p:spPr>
          <a:xfrm>
            <a:off x="6491288" y="5391150"/>
            <a:ext cx="2308225" cy="2174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725"/>
              </a:lnSpc>
              <a:spcBef>
                <a:spcPct val="0"/>
              </a:spcBef>
              <a:buClrTx/>
              <a:buSzTx/>
              <a:buFontTx/>
              <a:buNone/>
            </a:pPr>
            <a:r>
              <a:rPr lang="zh-CN" altLang="en-US" sz="1800">
                <a:solidFill>
                  <a:srgbClr val="000000"/>
                </a:solidFill>
                <a:latin typeface="幼圆" panose="02010509060101010101" pitchFamily="49" charset="-122"/>
                <a:ea typeface="幼圆" panose="02010509060101010101" pitchFamily="49" charset="-122"/>
              </a:rPr>
              <a:t>主要困难在于估计似然</a:t>
            </a:r>
            <a:endParaRPr lang="zh-CN" altLang="en-US" sz="1800">
              <a:solidFill>
                <a:srgbClr val="000000"/>
              </a:solidFill>
              <a:latin typeface="幼圆" panose="02010509060101010101" pitchFamily="49" charset="-122"/>
              <a:ea typeface="幼圆" panose="020105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 name="任意多边形 1"/>
          <p:cNvSpPr/>
          <p:nvPr/>
        </p:nvSpPr>
        <p:spPr>
          <a:xfrm>
            <a:off x="6186488" y="2076450"/>
            <a:ext cx="219075" cy="0"/>
          </a:xfrm>
          <a:custGeom>
            <a:avLst/>
            <a:gdLst/>
            <a:ahLst/>
            <a:cxnLst/>
            <a:rect l="0" t="0" r="0" b="0"/>
            <a:pathLst>
              <a:path w="218522" h="1">
                <a:moveTo>
                  <a:pt x="0" y="0"/>
                </a:moveTo>
                <a:lnTo>
                  <a:pt x="218521"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任意多边形 2"/>
          <p:cNvSpPr/>
          <p:nvPr/>
        </p:nvSpPr>
        <p:spPr>
          <a:xfrm>
            <a:off x="4579938" y="2436813"/>
            <a:ext cx="219075" cy="0"/>
          </a:xfrm>
          <a:custGeom>
            <a:avLst/>
            <a:gdLst/>
            <a:ahLst/>
            <a:cxnLst/>
            <a:rect l="0" t="0" r="0" b="0"/>
            <a:pathLst>
              <a:path w="218522" h="1">
                <a:moveTo>
                  <a:pt x="0" y="0"/>
                </a:moveTo>
                <a:lnTo>
                  <a:pt x="218521" y="0"/>
                </a:lnTo>
              </a:path>
            </a:pathLst>
          </a:custGeom>
          <a:ln w="254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任意多边形 3"/>
          <p:cNvSpPr/>
          <p:nvPr/>
        </p:nvSpPr>
        <p:spPr>
          <a:xfrm>
            <a:off x="1144588" y="3073400"/>
            <a:ext cx="217488" cy="0"/>
          </a:xfrm>
          <a:custGeom>
            <a:avLst/>
            <a:gdLst/>
            <a:ahLst/>
            <a:cxnLst/>
            <a:rect l="0" t="0" r="0" b="0"/>
            <a:pathLst>
              <a:path w="217143" h="1">
                <a:moveTo>
                  <a:pt x="0" y="0"/>
                </a:moveTo>
                <a:lnTo>
                  <a:pt x="217142"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任意多边形 4"/>
          <p:cNvSpPr/>
          <p:nvPr/>
        </p:nvSpPr>
        <p:spPr>
          <a:xfrm>
            <a:off x="1814513" y="5762625"/>
            <a:ext cx="215900" cy="0"/>
          </a:xfrm>
          <a:custGeom>
            <a:avLst/>
            <a:gdLst/>
            <a:ahLst/>
            <a:cxnLst/>
            <a:rect l="0" t="0" r="0" b="0"/>
            <a:pathLst>
              <a:path w="217143" h="1">
                <a:moveTo>
                  <a:pt x="0" y="0"/>
                </a:moveTo>
                <a:lnTo>
                  <a:pt x="217142"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任意多边形 5"/>
          <p:cNvSpPr/>
          <p:nvPr/>
        </p:nvSpPr>
        <p:spPr>
          <a:xfrm>
            <a:off x="60325" y="6065838"/>
            <a:ext cx="9018588" cy="400050"/>
          </a:xfrm>
          <a:custGeom>
            <a:avLst/>
            <a:gdLst/>
            <a:ahLst/>
            <a:cxnLst/>
            <a:rect l="0" t="0" r="0" b="0"/>
            <a:pathLst>
              <a:path w="9017509" h="400813">
                <a:moveTo>
                  <a:pt x="0" y="400812"/>
                </a:moveTo>
                <a:lnTo>
                  <a:pt x="9017508" y="400812"/>
                </a:lnTo>
                <a:lnTo>
                  <a:pt x="9017508" y="0"/>
                </a:lnTo>
                <a:lnTo>
                  <a:pt x="0" y="0"/>
                </a:lnTo>
                <a:close/>
              </a:path>
            </a:pathLst>
          </a:custGeom>
          <a:solidFill>
            <a:srgbClr val="FFFF99"/>
          </a:solidFill>
          <a:ln w="12700" cap="flat" cmpd="sng" algn="ctr">
            <a:solidFill>
              <a:srgbClr val="000000">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6326" name="图片 6" descr="ws_3C5C.tmp"/>
          <p:cNvPicPr/>
          <p:nvPr/>
        </p:nvPicPr>
        <p:blipFill>
          <a:blip r:embed="rId1"/>
          <a:stretch>
            <a:fillRect/>
          </a:stretch>
        </p:blipFill>
        <p:spPr>
          <a:xfrm>
            <a:off x="1041400" y="1676400"/>
            <a:ext cx="1003300" cy="482600"/>
          </a:xfrm>
          <a:prstGeom prst="rect">
            <a:avLst/>
          </a:prstGeom>
          <a:noFill/>
          <a:ln w="9525">
            <a:noFill/>
          </a:ln>
        </p:spPr>
      </p:pic>
      <p:pic>
        <p:nvPicPr>
          <p:cNvPr id="56327" name="图片 7" descr="ws_3C6D.tmp"/>
          <p:cNvPicPr/>
          <p:nvPr/>
        </p:nvPicPr>
        <p:blipFill>
          <a:blip r:embed="rId2"/>
          <a:stretch>
            <a:fillRect/>
          </a:stretch>
        </p:blipFill>
        <p:spPr>
          <a:xfrm>
            <a:off x="6172200" y="1816100"/>
            <a:ext cx="241300" cy="266700"/>
          </a:xfrm>
          <a:prstGeom prst="rect">
            <a:avLst/>
          </a:prstGeom>
          <a:noFill/>
          <a:ln w="9525">
            <a:noFill/>
          </a:ln>
        </p:spPr>
      </p:pic>
      <p:pic>
        <p:nvPicPr>
          <p:cNvPr id="56328" name="图片 8" descr="ws_3C6E.tmp"/>
          <p:cNvPicPr/>
          <p:nvPr/>
        </p:nvPicPr>
        <p:blipFill>
          <a:blip r:embed="rId3"/>
          <a:stretch>
            <a:fillRect/>
          </a:stretch>
        </p:blipFill>
        <p:spPr>
          <a:xfrm>
            <a:off x="4572000" y="2171700"/>
            <a:ext cx="241300" cy="266700"/>
          </a:xfrm>
          <a:prstGeom prst="rect">
            <a:avLst/>
          </a:prstGeom>
          <a:noFill/>
          <a:ln w="9525">
            <a:noFill/>
          </a:ln>
        </p:spPr>
      </p:pic>
      <p:pic>
        <p:nvPicPr>
          <p:cNvPr id="56329" name="图片 9" descr="ws_3C6F.tmp"/>
          <p:cNvPicPr/>
          <p:nvPr/>
        </p:nvPicPr>
        <p:blipFill>
          <a:blip r:embed="rId4"/>
          <a:stretch>
            <a:fillRect/>
          </a:stretch>
        </p:blipFill>
        <p:spPr>
          <a:xfrm>
            <a:off x="1130300" y="2819400"/>
            <a:ext cx="241300" cy="254000"/>
          </a:xfrm>
          <a:prstGeom prst="rect">
            <a:avLst/>
          </a:prstGeom>
          <a:noFill/>
          <a:ln w="9525">
            <a:noFill/>
          </a:ln>
        </p:spPr>
      </p:pic>
      <p:pic>
        <p:nvPicPr>
          <p:cNvPr id="56330" name="图片 10" descr="ws_3C70.tmp"/>
          <p:cNvPicPr/>
          <p:nvPr/>
        </p:nvPicPr>
        <p:blipFill>
          <a:blip r:embed="rId5"/>
          <a:stretch>
            <a:fillRect/>
          </a:stretch>
        </p:blipFill>
        <p:spPr>
          <a:xfrm>
            <a:off x="2781300" y="3175000"/>
            <a:ext cx="3048000" cy="825500"/>
          </a:xfrm>
          <a:prstGeom prst="rect">
            <a:avLst/>
          </a:prstGeom>
          <a:noFill/>
          <a:ln w="9525">
            <a:noFill/>
          </a:ln>
        </p:spPr>
      </p:pic>
      <p:pic>
        <p:nvPicPr>
          <p:cNvPr id="56331" name="图片 11" descr="ws_3C80.tmp"/>
          <p:cNvPicPr/>
          <p:nvPr/>
        </p:nvPicPr>
        <p:blipFill>
          <a:blip r:embed="rId6"/>
          <a:stretch>
            <a:fillRect/>
          </a:stretch>
        </p:blipFill>
        <p:spPr>
          <a:xfrm>
            <a:off x="1485900" y="4495800"/>
            <a:ext cx="5600700" cy="800100"/>
          </a:xfrm>
          <a:prstGeom prst="rect">
            <a:avLst/>
          </a:prstGeom>
          <a:noFill/>
          <a:ln w="9525">
            <a:noFill/>
          </a:ln>
        </p:spPr>
      </p:pic>
      <p:pic>
        <p:nvPicPr>
          <p:cNvPr id="56332" name="图片 12" descr="ws_3C81.tmp"/>
          <p:cNvPicPr/>
          <p:nvPr/>
        </p:nvPicPr>
        <p:blipFill>
          <a:blip r:embed="rId7"/>
          <a:stretch>
            <a:fillRect/>
          </a:stretch>
        </p:blipFill>
        <p:spPr>
          <a:xfrm>
            <a:off x="1803400" y="5499100"/>
            <a:ext cx="241300" cy="266700"/>
          </a:xfrm>
          <a:prstGeom prst="rect">
            <a:avLst/>
          </a:prstGeom>
          <a:noFill/>
          <a:ln w="9525">
            <a:noFill/>
          </a:ln>
        </p:spPr>
      </p:pic>
      <p:pic>
        <p:nvPicPr>
          <p:cNvPr id="56333" name="图片 13" descr="ws_3C82.tmp"/>
          <p:cNvPicPr/>
          <p:nvPr/>
        </p:nvPicPr>
        <p:blipFill>
          <a:blip r:embed="rId8"/>
          <a:stretch>
            <a:fillRect/>
          </a:stretch>
        </p:blipFill>
        <p:spPr>
          <a:xfrm>
            <a:off x="4229100" y="5334000"/>
            <a:ext cx="2603500" cy="660400"/>
          </a:xfrm>
          <a:prstGeom prst="rect">
            <a:avLst/>
          </a:prstGeom>
          <a:noFill/>
          <a:ln w="9525">
            <a:noFill/>
          </a:ln>
        </p:spPr>
      </p:pic>
      <p:pic>
        <p:nvPicPr>
          <p:cNvPr id="56334" name="图片 14" descr="ws_3C83.tmp"/>
          <p:cNvPicPr/>
          <p:nvPr/>
        </p:nvPicPr>
        <p:blipFill>
          <a:blip r:embed="rId9"/>
          <a:stretch>
            <a:fillRect/>
          </a:stretch>
        </p:blipFill>
        <p:spPr>
          <a:xfrm>
            <a:off x="0" y="0"/>
            <a:ext cx="9144000" cy="6858000"/>
          </a:xfrm>
          <a:prstGeom prst="rect">
            <a:avLst/>
          </a:prstGeom>
          <a:noFill/>
          <a:ln w="9525">
            <a:noFill/>
          </a:ln>
        </p:spPr>
      </p:pic>
      <p:sp>
        <p:nvSpPr>
          <p:cNvPr id="56335" name="TextBox 36"/>
          <p:cNvSpPr txBox="1"/>
          <p:nvPr/>
        </p:nvSpPr>
        <p:spPr>
          <a:xfrm>
            <a:off x="219075" y="282575"/>
            <a:ext cx="7629525" cy="11652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2690"/>
              </a:lnSpc>
              <a:spcBef>
                <a:spcPct val="0"/>
              </a:spcBef>
              <a:buClrTx/>
              <a:buSzTx/>
              <a:buFontTx/>
              <a:buNone/>
              <a:tabLst>
                <a:tab pos="292100" algn="l"/>
              </a:tabLst>
            </a:pPr>
            <a:r>
              <a:rPr lang="zh-CN" altLang="en-US" sz="2700">
                <a:solidFill>
                  <a:srgbClr val="000000"/>
                </a:solidFill>
                <a:latin typeface="幼圆" panose="02010509060101010101" pitchFamily="49" charset="-122"/>
                <a:ea typeface="幼圆" panose="02010509060101010101" pitchFamily="49" charset="-122"/>
              </a:rPr>
              <a:t>极大似然估计</a:t>
            </a: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2921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2921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2921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292100" algn="l"/>
              </a:tabLst>
            </a:pPr>
            <a:endParaRPr lang="zh-CN" altLang="en-US" sz="27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2340"/>
              </a:lnSpc>
              <a:spcBef>
                <a:spcPct val="0"/>
              </a:spcBef>
              <a:buClrTx/>
              <a:buSzTx/>
              <a:buFontTx/>
              <a:buNone/>
              <a:tabLst>
                <a:tab pos="292100" algn="l"/>
              </a:tabLst>
            </a:pPr>
            <a:r>
              <a:rPr lang="zh-CN" altLang="en-US" sz="2700">
                <a:solidFill>
                  <a:srgbClr val="000000"/>
                </a:solidFill>
                <a:latin typeface="幼圆" panose="02010509060101010101" pitchFamily="49" charset="-122"/>
                <a:ea typeface="幼圆" panose="02010509060101010101" pitchFamily="49" charset="-122"/>
              </a:rPr>
              <a:t>	</a:t>
            </a:r>
            <a:r>
              <a:rPr lang="zh-CN" altLang="en-US" sz="2100">
                <a:solidFill>
                  <a:srgbClr val="FF0000"/>
                </a:solidFill>
                <a:latin typeface="幼圆" panose="02010509060101010101" pitchFamily="49" charset="-122"/>
                <a:ea typeface="幼圆" panose="02010509060101010101" pitchFamily="49" charset="-122"/>
              </a:rPr>
              <a:t>先假设某种概率分布形式，再基于训练样例对参数进行估计</a:t>
            </a:r>
            <a:endParaRPr lang="zh-CN" altLang="en-US" sz="2100">
              <a:solidFill>
                <a:srgbClr val="FF0000"/>
              </a:solidFill>
              <a:latin typeface="幼圆" panose="02010509060101010101" pitchFamily="49" charset="-122"/>
              <a:ea typeface="幼圆" panose="02010509060101010101" pitchFamily="49" charset="-122"/>
            </a:endParaRPr>
          </a:p>
        </p:txBody>
      </p:sp>
      <p:sp>
        <p:nvSpPr>
          <p:cNvPr id="56336" name="TextBox 37"/>
          <p:cNvSpPr txBox="1"/>
          <p:nvPr/>
        </p:nvSpPr>
        <p:spPr>
          <a:xfrm>
            <a:off x="530225" y="1795463"/>
            <a:ext cx="512763" cy="2460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假定</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37" name="TextBox 38"/>
          <p:cNvSpPr txBox="1"/>
          <p:nvPr/>
        </p:nvSpPr>
        <p:spPr>
          <a:xfrm>
            <a:off x="2016125" y="1811338"/>
            <a:ext cx="4103688" cy="2460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具有确定的概率分布形式，且被参数</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38" name="TextBox 39"/>
          <p:cNvSpPr txBox="1"/>
          <p:nvPr/>
        </p:nvSpPr>
        <p:spPr>
          <a:xfrm>
            <a:off x="6526213" y="1795463"/>
            <a:ext cx="1538287" cy="2460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唯一确定，则</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39" name="TextBox 40"/>
          <p:cNvSpPr txBox="1"/>
          <p:nvPr/>
        </p:nvSpPr>
        <p:spPr>
          <a:xfrm>
            <a:off x="530225" y="2149475"/>
            <a:ext cx="7713663" cy="974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defTabSz="914400" eaLnBrk="1" hangingPunct="1">
              <a:lnSpc>
                <a:spcPts val="2215"/>
              </a:lnSpc>
              <a:spcBef>
                <a:spcPct val="0"/>
              </a:spcBef>
              <a:buClrTx/>
              <a:buSzTx/>
              <a:buFontTx/>
              <a:buNone/>
              <a:tabLst>
                <a:tab pos="901700" algn="l"/>
              </a:tabLst>
            </a:pPr>
            <a:r>
              <a:rPr lang="zh-CN" altLang="en-US" sz="2000">
                <a:solidFill>
                  <a:srgbClr val="000000"/>
                </a:solidFill>
                <a:latin typeface="幼圆" panose="02010509060101010101" pitchFamily="49" charset="-122"/>
                <a:ea typeface="幼圆" panose="02010509060101010101" pitchFamily="49" charset="-122"/>
              </a:rPr>
              <a:t>任务就是利用训练集 </a:t>
            </a:r>
            <a:r>
              <a:rPr lang="en-US" altLang="zh-CN" sz="2000" i="1">
                <a:solidFill>
                  <a:srgbClr val="000000"/>
                </a:solidFill>
                <a:latin typeface="Palatino Linotype" panose="02040502050505030304" pitchFamily="18" charset="0"/>
                <a:ea typeface="宋体" panose="02010600030101010101" pitchFamily="2" charset="-122"/>
              </a:rPr>
              <a:t>D </a:t>
            </a:r>
            <a:r>
              <a:rPr lang="zh-CN" altLang="en-US" sz="2000">
                <a:solidFill>
                  <a:srgbClr val="000000"/>
                </a:solidFill>
                <a:latin typeface="幼圆" panose="02010509060101010101" pitchFamily="49" charset="-122"/>
                <a:ea typeface="幼圆" panose="02010509060101010101" pitchFamily="49" charset="-122"/>
              </a:rPr>
              <a:t>来估计参数</a:t>
            </a: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901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1000"/>
              </a:lnSpc>
              <a:spcBef>
                <a:spcPct val="0"/>
              </a:spcBef>
              <a:buClrTx/>
              <a:buSzTx/>
              <a:buFontTx/>
              <a:buNone/>
              <a:tabLst>
                <a:tab pos="901700" algn="l"/>
              </a:tabLst>
            </a:pPr>
            <a:endParaRPr lang="zh-CN" altLang="en-US" sz="2000">
              <a:solidFill>
                <a:srgbClr val="000000"/>
              </a:solidFill>
              <a:latin typeface="幼圆" panose="02010509060101010101" pitchFamily="49" charset="-122"/>
              <a:ea typeface="幼圆" panose="02010509060101010101" pitchFamily="49" charset="-122"/>
            </a:endParaRPr>
          </a:p>
          <a:p>
            <a:pPr marL="0" lvl="0" indent="0" defTabSz="914400" eaLnBrk="1" hangingPunct="1">
              <a:lnSpc>
                <a:spcPts val="3440"/>
              </a:lnSpc>
              <a:spcBef>
                <a:spcPct val="0"/>
              </a:spcBef>
              <a:buClrTx/>
              <a:buSzTx/>
              <a:buFontTx/>
              <a:buNone/>
              <a:tabLst>
                <a:tab pos="901700" algn="l"/>
              </a:tabLst>
            </a:pPr>
            <a:r>
              <a:rPr lang="zh-CN" altLang="en-US" sz="2000">
                <a:solidFill>
                  <a:srgbClr val="000000"/>
                </a:solidFill>
                <a:latin typeface="幼圆" panose="02010509060101010101" pitchFamily="49" charset="-122"/>
                <a:ea typeface="幼圆" panose="02010509060101010101" pitchFamily="49" charset="-122"/>
              </a:rPr>
              <a:t>	对于训练集 </a:t>
            </a:r>
            <a:r>
              <a:rPr lang="en-US" altLang="zh-CN" sz="2000" i="1">
                <a:solidFill>
                  <a:srgbClr val="000000"/>
                </a:solidFill>
                <a:latin typeface="Palatino Linotype" panose="02040502050505030304" pitchFamily="18" charset="0"/>
                <a:ea typeface="宋体" panose="02010600030101010101" pitchFamily="2" charset="-122"/>
              </a:rPr>
              <a:t>D </a:t>
            </a:r>
            <a:r>
              <a:rPr lang="zh-CN" altLang="en-US" sz="2000">
                <a:solidFill>
                  <a:srgbClr val="000000"/>
                </a:solidFill>
                <a:latin typeface="幼圆" panose="02010509060101010101" pitchFamily="49" charset="-122"/>
                <a:ea typeface="幼圆" panose="02010509060101010101" pitchFamily="49" charset="-122"/>
              </a:rPr>
              <a:t>中第 </a:t>
            </a:r>
            <a:r>
              <a:rPr lang="en-US" altLang="zh-CN" sz="2000" i="1">
                <a:solidFill>
                  <a:srgbClr val="000000"/>
                </a:solidFill>
                <a:latin typeface="Palatino Linotype" panose="02040502050505030304" pitchFamily="18" charset="0"/>
                <a:ea typeface="宋体" panose="02010600030101010101" pitchFamily="2" charset="-122"/>
              </a:rPr>
              <a:t>c </a:t>
            </a:r>
            <a:r>
              <a:rPr lang="zh-CN" altLang="en-US" sz="2000">
                <a:solidFill>
                  <a:srgbClr val="000000"/>
                </a:solidFill>
                <a:latin typeface="幼圆" panose="02010509060101010101" pitchFamily="49" charset="-122"/>
                <a:ea typeface="幼圆" panose="02010509060101010101" pitchFamily="49" charset="-122"/>
              </a:rPr>
              <a:t>类样本组成的集合 </a:t>
            </a:r>
            <a:r>
              <a:rPr lang="en-US" altLang="zh-CN" sz="2000" i="1">
                <a:solidFill>
                  <a:srgbClr val="000000"/>
                </a:solidFill>
                <a:latin typeface="Palatino Linotype" panose="02040502050505030304" pitchFamily="18" charset="0"/>
                <a:ea typeface="宋体" panose="02010600030101010101" pitchFamily="2" charset="-122"/>
              </a:rPr>
              <a:t>D</a:t>
            </a:r>
            <a:r>
              <a:rPr lang="en-US" altLang="zh-CN" sz="1300" i="1">
                <a:solidFill>
                  <a:srgbClr val="000000"/>
                </a:solidFill>
                <a:latin typeface="Palatino Linotype" panose="02040502050505030304" pitchFamily="18" charset="0"/>
                <a:ea typeface="宋体" panose="02010600030101010101" pitchFamily="2" charset="-122"/>
              </a:rPr>
              <a:t>c  </a:t>
            </a:r>
            <a:r>
              <a:rPr lang="zh-CN" altLang="en-US" sz="2000">
                <a:solidFill>
                  <a:srgbClr val="000000"/>
                </a:solidFill>
                <a:latin typeface="幼圆" panose="02010509060101010101" pitchFamily="49" charset="-122"/>
                <a:ea typeface="幼圆" panose="02010509060101010101" pitchFamily="49" charset="-122"/>
              </a:rPr>
              <a:t>的似然</a:t>
            </a:r>
            <a:r>
              <a:rPr lang="en-US" altLang="zh-CN" sz="1500">
                <a:solidFill>
                  <a:srgbClr val="000000"/>
                </a:solidFill>
                <a:latin typeface="Times New Roman" panose="02020603050405020304" pitchFamily="18" charset="0"/>
                <a:ea typeface="宋体" panose="02010600030101010101" pitchFamily="2" charset="-122"/>
              </a:rPr>
              <a:t>(likelihood)</a:t>
            </a:r>
            <a:r>
              <a:rPr lang="zh-CN" altLang="en-US" sz="2000">
                <a:solidFill>
                  <a:srgbClr val="000000"/>
                </a:solidFill>
                <a:latin typeface="幼圆" panose="02010509060101010101" pitchFamily="49" charset="-122"/>
                <a:ea typeface="幼圆" panose="02010509060101010101" pitchFamily="49" charset="-122"/>
              </a:rPr>
              <a:t>为</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40" name="TextBox 41"/>
          <p:cNvSpPr txBox="1"/>
          <p:nvPr/>
        </p:nvSpPr>
        <p:spPr>
          <a:xfrm>
            <a:off x="1098550" y="4113213"/>
            <a:ext cx="4616450" cy="2460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连乘易造成下溢，因此通常使用对数似然</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41" name="TextBox 42"/>
          <p:cNvSpPr txBox="1"/>
          <p:nvPr/>
        </p:nvSpPr>
        <p:spPr>
          <a:xfrm>
            <a:off x="5759450" y="4117975"/>
            <a:ext cx="1296988"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40"/>
              </a:lnSpc>
              <a:spcBef>
                <a:spcPct val="0"/>
              </a:spcBef>
              <a:buClrTx/>
              <a:buSzTx/>
              <a:buFontTx/>
              <a:buNone/>
            </a:pPr>
            <a:r>
              <a:rPr lang="en-US" altLang="zh-CN" sz="1500">
                <a:solidFill>
                  <a:srgbClr val="000000"/>
                </a:solidFill>
                <a:latin typeface="Times New Roman" panose="02020603050405020304" pitchFamily="18" charset="0"/>
                <a:ea typeface="宋体" panose="02010600030101010101" pitchFamily="2" charset="-122"/>
              </a:rPr>
              <a:t>(log-likelihood)</a:t>
            </a: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56342" name="TextBox 43"/>
          <p:cNvSpPr txBox="1"/>
          <p:nvPr/>
        </p:nvSpPr>
        <p:spPr>
          <a:xfrm>
            <a:off x="1120775" y="5505450"/>
            <a:ext cx="769938"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于是，</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43" name="TextBox 44"/>
          <p:cNvSpPr txBox="1"/>
          <p:nvPr/>
        </p:nvSpPr>
        <p:spPr>
          <a:xfrm>
            <a:off x="2149475" y="5505450"/>
            <a:ext cx="2052638"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的极大似然估计为</a:t>
            </a:r>
            <a:endParaRPr lang="zh-CN" altLang="en-US" sz="2000">
              <a:solidFill>
                <a:srgbClr val="000000"/>
              </a:solidFill>
              <a:latin typeface="幼圆" panose="02010509060101010101" pitchFamily="49" charset="-122"/>
              <a:ea typeface="幼圆" panose="02010509060101010101" pitchFamily="49" charset="-122"/>
            </a:endParaRPr>
          </a:p>
        </p:txBody>
      </p:sp>
      <p:sp>
        <p:nvSpPr>
          <p:cNvPr id="56344" name="TextBox 45"/>
          <p:cNvSpPr txBox="1"/>
          <p:nvPr/>
        </p:nvSpPr>
        <p:spPr>
          <a:xfrm>
            <a:off x="250825" y="6159500"/>
            <a:ext cx="8720138"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1925"/>
              </a:lnSpc>
              <a:spcBef>
                <a:spcPct val="0"/>
              </a:spcBef>
              <a:buClrTx/>
              <a:buSzTx/>
              <a:buFontTx/>
              <a:buNone/>
            </a:pPr>
            <a:r>
              <a:rPr lang="zh-CN" altLang="en-US" sz="2000">
                <a:solidFill>
                  <a:srgbClr val="000000"/>
                </a:solidFill>
                <a:latin typeface="幼圆" panose="02010509060101010101" pitchFamily="49" charset="-122"/>
                <a:ea typeface="幼圆" panose="02010509060101010101" pitchFamily="49" charset="-122"/>
              </a:rPr>
              <a:t>估计结果的准确性严重依赖于所假设的概率分布形式是否符合潜在的真实分布</a:t>
            </a:r>
            <a:endParaRPr lang="zh-CN" altLang="en-US" sz="2000">
              <a:solidFill>
                <a:srgbClr val="000000"/>
              </a:solidFill>
              <a:latin typeface="幼圆" panose="02010509060101010101" pitchFamily="49" charset="-122"/>
              <a:ea typeface="幼圆" panose="020105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5" name="图片 1" descr="ws_4CC7.tmp"/>
          <p:cNvPicPr/>
          <p:nvPr/>
        </p:nvPicPr>
        <p:blipFill>
          <a:blip r:embed="rId1"/>
          <a:stretch>
            <a:fillRect/>
          </a:stretch>
        </p:blipFill>
        <p:spPr>
          <a:xfrm>
            <a:off x="0" y="0"/>
            <a:ext cx="9144000" cy="6858000"/>
          </a:xfrm>
          <a:prstGeom prst="rect">
            <a:avLst/>
          </a:prstGeom>
          <a:noFill/>
          <a:ln w="9525">
            <a:noFill/>
          </a:ln>
        </p:spPr>
      </p:pic>
      <p:sp>
        <p:nvSpPr>
          <p:cNvPr id="57346" name="TextBox 23"/>
          <p:cNvSpPr txBox="1"/>
          <p:nvPr/>
        </p:nvSpPr>
        <p:spPr>
          <a:xfrm>
            <a:off x="219075" y="322263"/>
            <a:ext cx="3949700" cy="3460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690"/>
              </a:lnSpc>
              <a:spcBef>
                <a:spcPct val="0"/>
              </a:spcBef>
              <a:buClrTx/>
              <a:buSzTx/>
              <a:buFontTx/>
              <a:buNone/>
            </a:pPr>
            <a:r>
              <a:rPr lang="zh-CN" altLang="en-US" sz="2700">
                <a:solidFill>
                  <a:srgbClr val="000000"/>
                </a:solidFill>
                <a:latin typeface="幼圆" panose="02010509060101010101" pitchFamily="49" charset="-122"/>
                <a:ea typeface="幼圆" panose="02010509060101010101" pitchFamily="49" charset="-122"/>
              </a:rPr>
              <a:t>朴素贝叶斯分类器的使用</a:t>
            </a:r>
            <a:endParaRPr lang="zh-CN" altLang="en-US" sz="2700">
              <a:solidFill>
                <a:srgbClr val="000000"/>
              </a:solidFill>
              <a:latin typeface="幼圆" panose="02010509060101010101" pitchFamily="49" charset="-122"/>
              <a:ea typeface="幼圆" panose="02010509060101010101" pitchFamily="49" charset="-122"/>
            </a:endParaRPr>
          </a:p>
        </p:txBody>
      </p:sp>
      <p:sp>
        <p:nvSpPr>
          <p:cNvPr id="57347" name="TextBox 24"/>
          <p:cNvSpPr txBox="1"/>
          <p:nvPr/>
        </p:nvSpPr>
        <p:spPr>
          <a:xfrm>
            <a:off x="604838" y="1346200"/>
            <a:ext cx="3071812" cy="3063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zh-CN" altLang="en-US" sz="2100">
                <a:solidFill>
                  <a:srgbClr val="000000"/>
                </a:solidFill>
                <a:latin typeface="Wingdings" panose="05000000000000000000" pitchFamily="2" charset="2"/>
                <a:ea typeface="宋体" panose="02010600030101010101" pitchFamily="2" charset="-122"/>
              </a:rPr>
              <a:t> </a:t>
            </a:r>
            <a:r>
              <a:rPr lang="zh-CN" altLang="en-US" sz="2100">
                <a:solidFill>
                  <a:srgbClr val="000000"/>
                </a:solidFill>
                <a:latin typeface="幼圆" panose="02010509060101010101" pitchFamily="49" charset="-122"/>
                <a:ea typeface="幼圆" panose="02010509060101010101" pitchFamily="49" charset="-122"/>
              </a:rPr>
              <a:t>若对预测速度要求高</a:t>
            </a:r>
            <a:endParaRPr lang="zh-CN" altLang="en-US" sz="2100">
              <a:solidFill>
                <a:srgbClr val="000000"/>
              </a:solidFill>
              <a:latin typeface="幼圆" panose="02010509060101010101" pitchFamily="49" charset="-122"/>
              <a:ea typeface="幼圆" panose="02010509060101010101" pitchFamily="49" charset="-122"/>
            </a:endParaRPr>
          </a:p>
        </p:txBody>
      </p:sp>
      <p:sp>
        <p:nvSpPr>
          <p:cNvPr id="57348" name="TextBox 25"/>
          <p:cNvSpPr txBox="1"/>
          <p:nvPr/>
        </p:nvSpPr>
        <p:spPr>
          <a:xfrm>
            <a:off x="1062038" y="1825625"/>
            <a:ext cx="5354637"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zh-CN" altLang="en-US" sz="2100">
                <a:solidFill>
                  <a:srgbClr val="000000"/>
                </a:solidFill>
                <a:latin typeface="Wingdings" panose="05000000000000000000" pitchFamily="2" charset="2"/>
                <a:ea typeface="宋体" panose="02010600030101010101" pitchFamily="2" charset="-122"/>
              </a:rPr>
              <a:t> </a:t>
            </a:r>
            <a:r>
              <a:rPr lang="zh-CN" altLang="en-US" sz="2100">
                <a:solidFill>
                  <a:srgbClr val="000000"/>
                </a:solidFill>
                <a:latin typeface="幼圆" panose="02010509060101010101" pitchFamily="49" charset="-122"/>
                <a:ea typeface="幼圆" panose="02010509060101010101" pitchFamily="49" charset="-122"/>
              </a:rPr>
              <a:t>预计算所有概率估值，使用时</a:t>
            </a:r>
            <a:r>
              <a:rPr lang="zh-CN" altLang="en-US" sz="2100">
                <a:solidFill>
                  <a:srgbClr val="000000"/>
                </a:solidFill>
                <a:latin typeface="Arial" panose="020B0604020202020204" pitchFamily="34" charset="0"/>
                <a:ea typeface="幼圆" panose="02010509060101010101" pitchFamily="49" charset="-122"/>
              </a:rPr>
              <a:t>“</a:t>
            </a:r>
            <a:r>
              <a:rPr lang="zh-CN" altLang="en-US" sz="2100">
                <a:solidFill>
                  <a:srgbClr val="000000"/>
                </a:solidFill>
                <a:latin typeface="幼圆" panose="02010509060101010101" pitchFamily="49" charset="-122"/>
                <a:ea typeface="幼圆" panose="02010509060101010101" pitchFamily="49" charset="-122"/>
              </a:rPr>
              <a:t>查表</a:t>
            </a:r>
            <a:r>
              <a:rPr lang="zh-CN" altLang="en-US" sz="2100">
                <a:solidFill>
                  <a:srgbClr val="000000"/>
                </a:solidFill>
                <a:latin typeface="Arial" panose="020B0604020202020204" pitchFamily="34" charset="0"/>
                <a:ea typeface="幼圆" panose="02010509060101010101" pitchFamily="49" charset="-122"/>
              </a:rPr>
              <a:t>”</a:t>
            </a:r>
            <a:endParaRPr lang="zh-CN" altLang="en-US" sz="2100">
              <a:solidFill>
                <a:srgbClr val="000000"/>
              </a:solidFill>
              <a:latin typeface="幼圆" panose="02010509060101010101" pitchFamily="49" charset="-122"/>
              <a:ea typeface="幼圆" panose="02010509060101010101" pitchFamily="49" charset="-122"/>
            </a:endParaRPr>
          </a:p>
        </p:txBody>
      </p:sp>
      <p:sp>
        <p:nvSpPr>
          <p:cNvPr id="57349" name="TextBox 26"/>
          <p:cNvSpPr txBox="1"/>
          <p:nvPr/>
        </p:nvSpPr>
        <p:spPr>
          <a:xfrm>
            <a:off x="604838" y="2579688"/>
            <a:ext cx="2508250"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zh-CN" altLang="en-US" sz="2100">
                <a:solidFill>
                  <a:srgbClr val="000000"/>
                </a:solidFill>
                <a:latin typeface="Wingdings" panose="05000000000000000000" pitchFamily="2" charset="2"/>
                <a:ea typeface="宋体" panose="02010600030101010101" pitchFamily="2" charset="-122"/>
              </a:rPr>
              <a:t> </a:t>
            </a:r>
            <a:r>
              <a:rPr lang="zh-CN" altLang="en-US" sz="2100">
                <a:solidFill>
                  <a:srgbClr val="000000"/>
                </a:solidFill>
                <a:latin typeface="幼圆" panose="02010509060101010101" pitchFamily="49" charset="-122"/>
                <a:ea typeface="幼圆" panose="02010509060101010101" pitchFamily="49" charset="-122"/>
              </a:rPr>
              <a:t>若数据更替频繁</a:t>
            </a:r>
            <a:endParaRPr lang="zh-CN" altLang="en-US" sz="2100">
              <a:solidFill>
                <a:srgbClr val="000000"/>
              </a:solidFill>
              <a:latin typeface="幼圆" panose="02010509060101010101" pitchFamily="49" charset="-122"/>
              <a:ea typeface="幼圆" panose="02010509060101010101" pitchFamily="49" charset="-122"/>
            </a:endParaRPr>
          </a:p>
        </p:txBody>
      </p:sp>
      <p:sp>
        <p:nvSpPr>
          <p:cNvPr id="57350" name="TextBox 27"/>
          <p:cNvSpPr txBox="1"/>
          <p:nvPr/>
        </p:nvSpPr>
        <p:spPr>
          <a:xfrm>
            <a:off x="1062038" y="3195638"/>
            <a:ext cx="5635625"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zh-CN" altLang="en-US" sz="2100">
                <a:solidFill>
                  <a:srgbClr val="000000"/>
                </a:solidFill>
                <a:latin typeface="Wingdings" panose="05000000000000000000" pitchFamily="2" charset="2"/>
                <a:ea typeface="宋体" panose="02010600030101010101" pitchFamily="2" charset="-122"/>
              </a:rPr>
              <a:t> </a:t>
            </a:r>
            <a:r>
              <a:rPr lang="zh-CN" altLang="en-US" sz="2100">
                <a:solidFill>
                  <a:srgbClr val="000000"/>
                </a:solidFill>
                <a:latin typeface="幼圆" panose="02010509060101010101" pitchFamily="49" charset="-122"/>
                <a:ea typeface="幼圆" panose="02010509060101010101" pitchFamily="49" charset="-122"/>
              </a:rPr>
              <a:t>不进行任何训练，收到预测请求时再估值</a:t>
            </a:r>
            <a:endParaRPr lang="zh-CN" altLang="en-US" sz="2100">
              <a:solidFill>
                <a:srgbClr val="000000"/>
              </a:solidFill>
              <a:latin typeface="幼圆" panose="02010509060101010101" pitchFamily="49" charset="-122"/>
              <a:ea typeface="幼圆" panose="02010509060101010101" pitchFamily="49" charset="-122"/>
            </a:endParaRPr>
          </a:p>
        </p:txBody>
      </p:sp>
      <p:sp>
        <p:nvSpPr>
          <p:cNvPr id="57351" name="TextBox 28"/>
          <p:cNvSpPr txBox="1"/>
          <p:nvPr/>
        </p:nvSpPr>
        <p:spPr>
          <a:xfrm>
            <a:off x="1519238" y="3654425"/>
            <a:ext cx="2733675"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en-US" altLang="zh-CN" sz="2000">
                <a:solidFill>
                  <a:srgbClr val="000000"/>
                </a:solidFill>
                <a:latin typeface="Times New Roman" panose="02020603050405020304" pitchFamily="18" charset="0"/>
                <a:ea typeface="宋体" panose="02010600030101010101" pitchFamily="2" charset="-122"/>
              </a:rPr>
              <a:t>(</a:t>
            </a:r>
            <a:r>
              <a:rPr lang="zh-CN" altLang="en-US" sz="2000">
                <a:solidFill>
                  <a:srgbClr val="000000"/>
                </a:solidFill>
                <a:latin typeface="幼圆" panose="02010509060101010101" pitchFamily="49" charset="-122"/>
                <a:ea typeface="幼圆" panose="02010509060101010101" pitchFamily="49" charset="-122"/>
              </a:rPr>
              <a:t>懒惰学习 </a:t>
            </a:r>
            <a:r>
              <a:rPr lang="en-US" altLang="zh-CN" sz="2000">
                <a:solidFill>
                  <a:srgbClr val="000000"/>
                </a:solidFill>
                <a:latin typeface="Times New Roman" panose="02020603050405020304" pitchFamily="18" charset="0"/>
                <a:ea typeface="宋体" panose="02010600030101010101" pitchFamily="2" charset="-122"/>
              </a:rPr>
              <a:t>, lazy learning)</a:t>
            </a:r>
            <a:endParaRPr lang="zh-CN" altLang="en-US" sz="2000">
              <a:solidFill>
                <a:srgbClr val="000000"/>
              </a:solidFill>
              <a:latin typeface="Times New Roman" panose="02020603050405020304" pitchFamily="18" charset="0"/>
              <a:ea typeface="宋体" panose="02010600030101010101" pitchFamily="2" charset="-122"/>
            </a:endParaRPr>
          </a:p>
        </p:txBody>
      </p:sp>
      <p:sp>
        <p:nvSpPr>
          <p:cNvPr id="57352" name="TextBox 29"/>
          <p:cNvSpPr txBox="1"/>
          <p:nvPr/>
        </p:nvSpPr>
        <p:spPr>
          <a:xfrm>
            <a:off x="604838" y="4195763"/>
            <a:ext cx="2508250"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zh-CN" altLang="en-US" sz="2100">
                <a:solidFill>
                  <a:srgbClr val="000000"/>
                </a:solidFill>
                <a:latin typeface="Wingdings" panose="05000000000000000000" pitchFamily="2" charset="2"/>
                <a:ea typeface="宋体" panose="02010600030101010101" pitchFamily="2" charset="-122"/>
              </a:rPr>
              <a:t> </a:t>
            </a:r>
            <a:r>
              <a:rPr lang="zh-CN" altLang="en-US" sz="2100">
                <a:solidFill>
                  <a:srgbClr val="000000"/>
                </a:solidFill>
                <a:latin typeface="幼圆" panose="02010509060101010101" pitchFamily="49" charset="-122"/>
                <a:ea typeface="幼圆" panose="02010509060101010101" pitchFamily="49" charset="-122"/>
              </a:rPr>
              <a:t>若数据不断增加</a:t>
            </a:r>
            <a:endParaRPr lang="zh-CN" altLang="en-US" sz="2100">
              <a:solidFill>
                <a:srgbClr val="000000"/>
              </a:solidFill>
              <a:latin typeface="幼圆" panose="02010509060101010101" pitchFamily="49" charset="-122"/>
              <a:ea typeface="幼圆" panose="02010509060101010101" pitchFamily="49" charset="-122"/>
            </a:endParaRPr>
          </a:p>
        </p:txBody>
      </p:sp>
      <p:sp>
        <p:nvSpPr>
          <p:cNvPr id="57353" name="TextBox 30"/>
          <p:cNvSpPr txBox="1"/>
          <p:nvPr/>
        </p:nvSpPr>
        <p:spPr>
          <a:xfrm>
            <a:off x="1062038" y="4724400"/>
            <a:ext cx="6764337"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zh-CN" altLang="en-US" sz="2100">
                <a:solidFill>
                  <a:srgbClr val="000000"/>
                </a:solidFill>
                <a:latin typeface="Wingdings" panose="05000000000000000000" pitchFamily="2" charset="2"/>
                <a:ea typeface="宋体" panose="02010600030101010101" pitchFamily="2" charset="-122"/>
              </a:rPr>
              <a:t> </a:t>
            </a:r>
            <a:r>
              <a:rPr lang="zh-CN" altLang="en-US" sz="2100">
                <a:solidFill>
                  <a:srgbClr val="000000"/>
                </a:solidFill>
                <a:latin typeface="幼圆" panose="02010509060101010101" pitchFamily="49" charset="-122"/>
                <a:ea typeface="幼圆" panose="02010509060101010101" pitchFamily="49" charset="-122"/>
              </a:rPr>
              <a:t>基于现有估值，对新样本涉及的概率估值进行修正</a:t>
            </a:r>
            <a:endParaRPr lang="zh-CN" altLang="en-US" sz="2100">
              <a:solidFill>
                <a:srgbClr val="000000"/>
              </a:solidFill>
              <a:latin typeface="幼圆" panose="02010509060101010101" pitchFamily="49" charset="-122"/>
              <a:ea typeface="幼圆" panose="02010509060101010101" pitchFamily="49" charset="-122"/>
            </a:endParaRPr>
          </a:p>
        </p:txBody>
      </p:sp>
      <p:sp>
        <p:nvSpPr>
          <p:cNvPr id="57354" name="TextBox 31"/>
          <p:cNvSpPr txBox="1"/>
          <p:nvPr/>
        </p:nvSpPr>
        <p:spPr>
          <a:xfrm>
            <a:off x="1519238" y="5106988"/>
            <a:ext cx="3541712" cy="3079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ts val="2425"/>
              </a:lnSpc>
              <a:spcBef>
                <a:spcPct val="0"/>
              </a:spcBef>
              <a:buClrTx/>
              <a:buSzTx/>
              <a:buFontTx/>
              <a:buNone/>
            </a:pPr>
            <a:r>
              <a:rPr lang="en-US" altLang="zh-CN" sz="2000">
                <a:solidFill>
                  <a:srgbClr val="000000"/>
                </a:solidFill>
                <a:latin typeface="Times New Roman" panose="02020603050405020304" pitchFamily="18" charset="0"/>
                <a:ea typeface="宋体" panose="02010600030101010101" pitchFamily="2" charset="-122"/>
              </a:rPr>
              <a:t>(</a:t>
            </a:r>
            <a:r>
              <a:rPr lang="zh-CN" altLang="en-US" sz="2000">
                <a:solidFill>
                  <a:srgbClr val="000000"/>
                </a:solidFill>
                <a:latin typeface="幼圆" panose="02010509060101010101" pitchFamily="49" charset="-122"/>
                <a:ea typeface="幼圆" panose="02010509060101010101" pitchFamily="49" charset="-122"/>
              </a:rPr>
              <a:t>增量学习 </a:t>
            </a:r>
            <a:r>
              <a:rPr lang="en-US" altLang="zh-CN" sz="2000">
                <a:solidFill>
                  <a:srgbClr val="000000"/>
                </a:solidFill>
                <a:latin typeface="Times New Roman" panose="02020603050405020304" pitchFamily="18" charset="0"/>
                <a:ea typeface="宋体" panose="02010600030101010101" pitchFamily="2" charset="-122"/>
              </a:rPr>
              <a:t>, incremental learning)</a:t>
            </a:r>
            <a:endParaRPr lang="zh-CN" altLang="en-US" sz="200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58370"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58371" name="Rectangle 2"/>
          <p:cNvSpPr>
            <a:spLocks noGrp="1"/>
          </p:cNvSpPr>
          <p:nvPr>
            <p:ph type="title"/>
          </p:nvPr>
        </p:nvSpPr>
        <p:spPr>
          <a:xfrm>
            <a:off x="685800" y="381000"/>
            <a:ext cx="7793038" cy="609600"/>
          </a:xfrm>
          <a:ln/>
        </p:spPr>
        <p:txBody>
          <a:bodyPr vert="horz" wrap="square" lIns="91440" tIns="45720" rIns="91440" bIns="45720" anchor="b" anchorCtr="0"/>
          <a:p>
            <a:pPr eaLnBrk="1" hangingPunct="1"/>
            <a:r>
              <a:rPr lang="zh-CN" altLang="en-US" sz="3200">
                <a:ea typeface="宋体" panose="02010600030101010101" pitchFamily="2" charset="-122"/>
              </a:rPr>
              <a:t>朴素贝叶斯</a:t>
            </a:r>
            <a:r>
              <a:rPr lang="en-US" altLang="zh-CN" sz="3200">
                <a:ea typeface="宋体" panose="02010600030101010101" pitchFamily="2" charset="-122"/>
              </a:rPr>
              <a:t>: </a:t>
            </a:r>
            <a:r>
              <a:rPr lang="zh-CN" altLang="en-US" sz="3200">
                <a:ea typeface="宋体" panose="02010600030101010101" pitchFamily="2" charset="-122"/>
              </a:rPr>
              <a:t>优缺点</a:t>
            </a:r>
            <a:endParaRPr lang="en-US" altLang="zh-CN" sz="3200">
              <a:ea typeface="宋体" panose="02010600030101010101" pitchFamily="2" charset="-122"/>
            </a:endParaRPr>
          </a:p>
        </p:txBody>
      </p:sp>
      <p:sp>
        <p:nvSpPr>
          <p:cNvPr id="58372" name="Rectangle 3"/>
          <p:cNvSpPr>
            <a:spLocks noGrp="1"/>
          </p:cNvSpPr>
          <p:nvPr>
            <p:ph idx="1"/>
          </p:nvPr>
        </p:nvSpPr>
        <p:spPr>
          <a:xfrm>
            <a:off x="304800" y="1447800"/>
            <a:ext cx="8610600" cy="5105400"/>
          </a:xfrm>
          <a:ln/>
        </p:spPr>
        <p:txBody>
          <a:bodyPr vert="horz" wrap="square" lIns="91440" tIns="45720" rIns="91440" bIns="45720" anchor="t" anchorCtr="0"/>
          <a:p>
            <a:pPr eaLnBrk="1" hangingPunct="1">
              <a:lnSpc>
                <a:spcPct val="110000"/>
              </a:lnSpc>
            </a:pPr>
            <a:r>
              <a:rPr lang="zh-CN" altLang="en-US" sz="2400">
                <a:ea typeface="宋体" panose="02010600030101010101" pitchFamily="2" charset="-122"/>
              </a:rPr>
              <a:t>优点</a:t>
            </a:r>
            <a:endParaRPr lang="zh-CN" altLang="en-US" sz="2400">
              <a:ea typeface="宋体" panose="02010600030101010101" pitchFamily="2" charset="-122"/>
            </a:endParaRPr>
          </a:p>
          <a:p>
            <a:pPr lvl="1" eaLnBrk="1" hangingPunct="1">
              <a:lnSpc>
                <a:spcPct val="110000"/>
              </a:lnSpc>
            </a:pPr>
            <a:r>
              <a:rPr lang="zh-CN" altLang="en-US" sz="2400">
                <a:ea typeface="宋体" panose="02010600030101010101" pitchFamily="2" charset="-122"/>
              </a:rPr>
              <a:t>易于实现 </a:t>
            </a:r>
            <a:endParaRPr lang="zh-CN" altLang="en-US" sz="2400">
              <a:ea typeface="宋体" panose="02010600030101010101" pitchFamily="2" charset="-122"/>
            </a:endParaRPr>
          </a:p>
          <a:p>
            <a:pPr lvl="1" eaLnBrk="1" hangingPunct="1">
              <a:lnSpc>
                <a:spcPct val="110000"/>
              </a:lnSpc>
            </a:pPr>
            <a:r>
              <a:rPr lang="zh-CN" altLang="en-US" sz="2400">
                <a:ea typeface="宋体" panose="02010600030101010101" pitchFamily="2" charset="-122"/>
              </a:rPr>
              <a:t>多数情况下结果较满意</a:t>
            </a:r>
            <a:endParaRPr lang="en-US" altLang="zh-CN" sz="2400">
              <a:ea typeface="宋体" panose="02010600030101010101" pitchFamily="2" charset="-122"/>
            </a:endParaRPr>
          </a:p>
          <a:p>
            <a:pPr eaLnBrk="1" hangingPunct="1">
              <a:lnSpc>
                <a:spcPct val="110000"/>
              </a:lnSpc>
            </a:pPr>
            <a:r>
              <a:rPr lang="zh-CN" altLang="en-US" sz="2400">
                <a:ea typeface="宋体" panose="02010600030101010101" pitchFamily="2" charset="-122"/>
              </a:rPr>
              <a:t>缺点</a:t>
            </a:r>
            <a:endParaRPr lang="zh-CN" altLang="en-US" sz="2400">
              <a:ea typeface="宋体" panose="02010600030101010101" pitchFamily="2" charset="-122"/>
            </a:endParaRPr>
          </a:p>
          <a:p>
            <a:pPr lvl="1" eaLnBrk="1" hangingPunct="1">
              <a:lnSpc>
                <a:spcPct val="110000"/>
              </a:lnSpc>
            </a:pPr>
            <a:r>
              <a:rPr lang="zh-CN" altLang="en-US" sz="2400">
                <a:ea typeface="宋体" panose="02010600030101010101" pitchFamily="2" charset="-122"/>
              </a:rPr>
              <a:t>假设: 属性间独立, 丢失准确性</a:t>
            </a:r>
            <a:endParaRPr lang="zh-CN" altLang="en-US" sz="2400">
              <a:ea typeface="宋体" panose="02010600030101010101" pitchFamily="2" charset="-122"/>
            </a:endParaRPr>
          </a:p>
          <a:p>
            <a:pPr lvl="1" eaLnBrk="1" hangingPunct="1">
              <a:lnSpc>
                <a:spcPct val="110000"/>
              </a:lnSpc>
            </a:pPr>
            <a:r>
              <a:rPr lang="zh-CN" altLang="en-US" sz="2400">
                <a:ea typeface="宋体" panose="02010600030101010101" pitchFamily="2" charset="-122"/>
              </a:rPr>
              <a:t>实际上</a:t>
            </a:r>
            <a:r>
              <a:rPr lang="en-US" altLang="zh-CN" sz="2400">
                <a:ea typeface="宋体" panose="02010600030101010101" pitchFamily="2" charset="-122"/>
              </a:rPr>
              <a:t>, </a:t>
            </a:r>
            <a:r>
              <a:rPr lang="zh-CN" altLang="en-US" sz="2400">
                <a:ea typeface="宋体" panose="02010600030101010101" pitchFamily="2" charset="-122"/>
              </a:rPr>
              <a:t>属性间存在依赖 </a:t>
            </a:r>
            <a:endParaRPr lang="zh-CN" altLang="en-US" sz="2400">
              <a:ea typeface="宋体" panose="02010600030101010101" pitchFamily="2" charset="-122"/>
            </a:endParaRPr>
          </a:p>
          <a:p>
            <a:pPr eaLnBrk="1" hangingPunct="1">
              <a:lnSpc>
                <a:spcPct val="110000"/>
              </a:lnSpc>
            </a:pPr>
            <a:r>
              <a:rPr lang="zh-CN" altLang="en-US" sz="2400">
                <a:ea typeface="宋体" panose="02010600030101010101" pitchFamily="2" charset="-122"/>
              </a:rPr>
              <a:t>处理依赖</a:t>
            </a:r>
            <a:endParaRPr lang="en-US" altLang="zh-CN" sz="2400">
              <a:ea typeface="宋体" panose="02010600030101010101" pitchFamily="2" charset="-122"/>
            </a:endParaRPr>
          </a:p>
          <a:p>
            <a:pPr lvl="1" eaLnBrk="1" hangingPunct="1">
              <a:lnSpc>
                <a:spcPct val="110000"/>
              </a:lnSpc>
            </a:pPr>
            <a:r>
              <a:rPr lang="zh-CN" altLang="en-US" sz="2400">
                <a:ea typeface="宋体" panose="02010600030101010101" pitchFamily="2" charset="-122"/>
              </a:rPr>
              <a:t>贝叶斯信念网络（</a:t>
            </a:r>
            <a:r>
              <a:rPr lang="en-US" altLang="zh-CN" sz="2400">
                <a:ea typeface="宋体" panose="02010600030101010101" pitchFamily="2" charset="-122"/>
              </a:rPr>
              <a:t>Bayesian Belief Networks</a:t>
            </a:r>
            <a:r>
              <a:rPr lang="zh-CN" altLang="en-US" sz="2400">
                <a:ea typeface="宋体" panose="02010600030101010101" pitchFamily="2" charset="-122"/>
              </a:rPr>
              <a:t>）</a:t>
            </a:r>
            <a:endParaRPr lang="en-US" altLang="zh-CN" sz="240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59394"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59395" name="Rectangle 2"/>
          <p:cNvSpPr>
            <a:spLocks noGrp="1"/>
          </p:cNvSpPr>
          <p:nvPr>
            <p:ph type="title"/>
          </p:nvPr>
        </p:nvSpPr>
        <p:spPr>
          <a:ln/>
        </p:spPr>
        <p:txBody>
          <a:bodyPr vert="horz" wrap="square" lIns="91440" tIns="45720" rIns="91440" bIns="45720" anchor="b" anchorCtr="0"/>
          <a:p>
            <a:pPr eaLnBrk="1" hangingPunct="1"/>
            <a:r>
              <a:rPr lang="zh-CN" altLang="en-US">
                <a:ea typeface="宋体" panose="02010600030101010101" pitchFamily="2" charset="-122"/>
              </a:rPr>
              <a:t>贝叶斯信念网络</a:t>
            </a:r>
            <a:endParaRPr lang="en-US" altLang="zh-CN">
              <a:ea typeface="宋体" panose="02010600030101010101" pitchFamily="2" charset="-122"/>
            </a:endParaRPr>
          </a:p>
        </p:txBody>
      </p:sp>
      <p:sp>
        <p:nvSpPr>
          <p:cNvPr id="59396" name="Rectangle 3"/>
          <p:cNvSpPr>
            <a:spLocks noGrp="1"/>
          </p:cNvSpPr>
          <p:nvPr>
            <p:ph idx="1"/>
          </p:nvPr>
        </p:nvSpPr>
        <p:spPr>
          <a:xfrm>
            <a:off x="304800" y="1295400"/>
            <a:ext cx="8534400" cy="5257800"/>
          </a:xfrm>
          <a:ln/>
        </p:spPr>
        <p:txBody>
          <a:bodyPr vert="horz" wrap="square" lIns="91440" tIns="45720" rIns="91440" bIns="45720" anchor="t" anchorCtr="0"/>
          <a:p>
            <a:pPr eaLnBrk="1" hangingPunct="1">
              <a:lnSpc>
                <a:spcPct val="130000"/>
              </a:lnSpc>
            </a:pPr>
            <a:r>
              <a:rPr lang="zh-CN" altLang="en-US" sz="2400">
                <a:ea typeface="宋体" panose="02010600030101010101" pitchFamily="2" charset="-122"/>
              </a:rPr>
              <a:t>贝叶斯信念网络允许属性间存在依赖关系</a:t>
            </a:r>
            <a:endParaRPr lang="zh-CN" altLang="en-US" sz="2400">
              <a:ea typeface="宋体" panose="02010600030101010101" pitchFamily="2" charset="-122"/>
            </a:endParaRPr>
          </a:p>
          <a:p>
            <a:pPr eaLnBrk="1" hangingPunct="1">
              <a:lnSpc>
                <a:spcPct val="130000"/>
              </a:lnSpc>
            </a:pPr>
            <a:r>
              <a:rPr lang="zh-CN" altLang="en-US" sz="2400">
                <a:ea typeface="宋体" panose="02010600030101010101" pitchFamily="2" charset="-122"/>
              </a:rPr>
              <a:t>用一个</a:t>
            </a:r>
            <a:r>
              <a:rPr lang="zh-CN" altLang="en-US" sz="2400">
                <a:latin typeface="Times New Roman" panose="02020603050405020304" pitchFamily="18" charset="0"/>
                <a:ea typeface="宋体" panose="02010600030101010101" pitchFamily="2" charset="-122"/>
              </a:rPr>
              <a:t>有向无环图</a:t>
            </a:r>
            <a:r>
              <a:rPr lang="zh-CN" altLang="en-US" sz="2400">
                <a:ea typeface="宋体" panose="02010600030101010101" pitchFamily="2" charset="-122"/>
              </a:rPr>
              <a:t>来表示</a:t>
            </a:r>
            <a:endParaRPr lang="zh-CN" altLang="en-US" sz="2400">
              <a:ea typeface="宋体" panose="02010600030101010101" pitchFamily="2" charset="-122"/>
            </a:endParaRPr>
          </a:p>
          <a:p>
            <a:pPr lvl="1" eaLnBrk="1" hangingPunct="1"/>
            <a:r>
              <a:rPr lang="zh-CN" altLang="en-US" sz="2400">
                <a:latin typeface="Times New Roman" panose="02020603050405020304" pitchFamily="18" charset="0"/>
                <a:ea typeface="宋体" panose="02010600030101010101" pitchFamily="2" charset="-122"/>
              </a:rPr>
              <a:t>每个结点代表一个</a:t>
            </a:r>
            <a:r>
              <a:rPr lang="zh-CN" altLang="en-US" sz="2400">
                <a:solidFill>
                  <a:srgbClr val="FF0000"/>
                </a:solidFill>
                <a:latin typeface="Times New Roman" panose="02020603050405020304" pitchFamily="18" charset="0"/>
                <a:ea typeface="宋体" panose="02010600030101010101" pitchFamily="2" charset="-122"/>
              </a:rPr>
              <a:t>随机变量（状态）</a:t>
            </a:r>
            <a:endParaRPr lang="zh-CN" altLang="en-US" sz="2400">
              <a:solidFill>
                <a:srgbClr val="FF0000"/>
              </a:solidFill>
              <a:latin typeface="Times New Roman" panose="02020603050405020304" pitchFamily="18" charset="0"/>
              <a:ea typeface="宋体" panose="02010600030101010101" pitchFamily="2" charset="-122"/>
            </a:endParaRPr>
          </a:p>
          <a:p>
            <a:pPr lvl="1" eaLnBrk="1" hangingPunct="1"/>
            <a:r>
              <a:rPr lang="zh-CN" altLang="en-US" sz="2400">
                <a:latin typeface="Times New Roman" panose="02020603050405020304" pitchFamily="18" charset="0"/>
                <a:ea typeface="宋体" panose="02010600030101010101" pitchFamily="2" charset="-122"/>
              </a:rPr>
              <a:t>每条弧代表一个</a:t>
            </a:r>
            <a:r>
              <a:rPr lang="zh-CN" altLang="en-US" sz="2400">
                <a:solidFill>
                  <a:srgbClr val="FF0000"/>
                </a:solidFill>
                <a:latin typeface="Times New Roman" panose="02020603050405020304" pitchFamily="18" charset="0"/>
                <a:ea typeface="宋体" panose="02010600030101010101" pitchFamily="2" charset="-122"/>
              </a:rPr>
              <a:t>概率依赖</a:t>
            </a:r>
            <a:r>
              <a:rPr lang="zh-CN" altLang="en-US" sz="2400">
                <a:solidFill>
                  <a:srgbClr val="FF0000"/>
                </a:solidFill>
                <a:ea typeface="宋体" panose="02010600030101010101" pitchFamily="2" charset="-122"/>
              </a:rPr>
              <a:t> （状态间的因果关系）</a:t>
            </a:r>
            <a:endParaRPr lang="en-US" altLang="zh-CN" sz="2400">
              <a:solidFill>
                <a:srgbClr val="FF0000"/>
              </a:solidFill>
              <a:ea typeface="宋体" panose="02010600030101010101" pitchFamily="2" charset="-122"/>
            </a:endParaRPr>
          </a:p>
          <a:p>
            <a:pPr lvl="1" eaLnBrk="1" hangingPunct="1"/>
            <a:r>
              <a:rPr lang="zh-CN" altLang="en-US" sz="2400">
                <a:solidFill>
                  <a:srgbClr val="FF0000"/>
                </a:solidFill>
                <a:ea typeface="宋体" panose="02010600030101010101" pitchFamily="2" charset="-122"/>
              </a:rPr>
              <a:t>马尔科夫假设（便于计算）</a:t>
            </a:r>
            <a:r>
              <a:rPr lang="zh-CN" altLang="en-US" sz="2400">
                <a:ea typeface="宋体" panose="02010600030101010101" pitchFamily="2" charset="-122"/>
              </a:rPr>
              <a:t>，每个状态只与它直接相连的状态有关，与间接相连的状态没有</a:t>
            </a:r>
            <a:r>
              <a:rPr lang="zh-CN" altLang="en-US" sz="2400">
                <a:solidFill>
                  <a:srgbClr val="FF0000"/>
                </a:solidFill>
                <a:ea typeface="宋体" panose="02010600030101010101" pitchFamily="2" charset="-122"/>
              </a:rPr>
              <a:t>直接联系（但有间接相关性）</a:t>
            </a:r>
            <a:endParaRPr lang="en-US" altLang="zh-CN" sz="2400">
              <a:solidFill>
                <a:srgbClr val="FF0000"/>
              </a:solidFill>
              <a:ea typeface="宋体" panose="02010600030101010101" pitchFamily="2" charset="-122"/>
            </a:endParaRPr>
          </a:p>
        </p:txBody>
      </p:sp>
      <p:sp>
        <p:nvSpPr>
          <p:cNvPr id="59397" name="AutoShape 4"/>
          <p:cNvSpPr/>
          <p:nvPr/>
        </p:nvSpPr>
        <p:spPr>
          <a:xfrm>
            <a:off x="1447800" y="4876800"/>
            <a:ext cx="457200" cy="457200"/>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b="1">
                <a:ea typeface="宋体" panose="02010600030101010101" pitchFamily="2" charset="-122"/>
              </a:rPr>
              <a:t>X</a:t>
            </a:r>
            <a:endParaRPr lang="en-US" altLang="zh-CN" sz="2400" b="1">
              <a:ea typeface="宋体" panose="02010600030101010101" pitchFamily="2" charset="-122"/>
            </a:endParaRPr>
          </a:p>
        </p:txBody>
      </p:sp>
      <p:grpSp>
        <p:nvGrpSpPr>
          <p:cNvPr id="59398" name="Group 14"/>
          <p:cNvGrpSpPr/>
          <p:nvPr/>
        </p:nvGrpSpPr>
        <p:grpSpPr>
          <a:xfrm>
            <a:off x="1676400" y="4419600"/>
            <a:ext cx="1905000" cy="1905000"/>
            <a:chOff x="1344" y="2400"/>
            <a:chExt cx="1200" cy="1200"/>
          </a:xfrm>
        </p:grpSpPr>
        <p:sp>
          <p:nvSpPr>
            <p:cNvPr id="59400" name="AutoShape 5"/>
            <p:cNvSpPr/>
            <p:nvPr/>
          </p:nvSpPr>
          <p:spPr>
            <a:xfrm>
              <a:off x="2064" y="2640"/>
              <a:ext cx="288" cy="288"/>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b="1">
                  <a:ea typeface="宋体" panose="02010600030101010101" pitchFamily="2" charset="-122"/>
                </a:rPr>
                <a:t>Y</a:t>
              </a:r>
              <a:endParaRPr lang="en-US" altLang="zh-CN" sz="2400" b="1">
                <a:ea typeface="宋体" panose="02010600030101010101" pitchFamily="2" charset="-122"/>
              </a:endParaRPr>
            </a:p>
          </p:txBody>
        </p:sp>
        <p:sp>
          <p:nvSpPr>
            <p:cNvPr id="59401" name="AutoShape 6"/>
            <p:cNvSpPr/>
            <p:nvPr/>
          </p:nvSpPr>
          <p:spPr>
            <a:xfrm>
              <a:off x="1584" y="3168"/>
              <a:ext cx="288" cy="288"/>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b="1">
                  <a:ea typeface="宋体" panose="02010600030101010101" pitchFamily="2" charset="-122"/>
                </a:rPr>
                <a:t>Z</a:t>
              </a:r>
              <a:endParaRPr lang="en-US" altLang="zh-CN" sz="2400" b="1">
                <a:ea typeface="宋体" panose="02010600030101010101" pitchFamily="2" charset="-122"/>
              </a:endParaRPr>
            </a:p>
          </p:txBody>
        </p:sp>
        <p:sp>
          <p:nvSpPr>
            <p:cNvPr id="59402" name="Line 7"/>
            <p:cNvSpPr/>
            <p:nvPr/>
          </p:nvSpPr>
          <p:spPr>
            <a:xfrm>
              <a:off x="1440" y="2928"/>
              <a:ext cx="192" cy="288"/>
            </a:xfrm>
            <a:prstGeom prst="line">
              <a:avLst/>
            </a:prstGeom>
            <a:ln w="9525" cap="flat" cmpd="sng">
              <a:solidFill>
                <a:schemeClr val="tx1"/>
              </a:solidFill>
              <a:prstDash val="solid"/>
              <a:miter/>
              <a:headEnd type="none" w="med" len="med"/>
              <a:tailEnd type="triangle" w="med" len="med"/>
            </a:ln>
          </p:spPr>
        </p:sp>
        <p:sp>
          <p:nvSpPr>
            <p:cNvPr id="59403" name="Line 8"/>
            <p:cNvSpPr/>
            <p:nvPr/>
          </p:nvSpPr>
          <p:spPr>
            <a:xfrm flipH="1">
              <a:off x="1776" y="2880"/>
              <a:ext cx="336" cy="336"/>
            </a:xfrm>
            <a:prstGeom prst="line">
              <a:avLst/>
            </a:prstGeom>
            <a:ln w="9525" cap="flat" cmpd="sng">
              <a:solidFill>
                <a:schemeClr val="tx1"/>
              </a:solidFill>
              <a:prstDash val="solid"/>
              <a:miter/>
              <a:headEnd type="none" w="med" len="med"/>
              <a:tailEnd type="triangle" w="med" len="med"/>
            </a:ln>
          </p:spPr>
        </p:sp>
        <p:sp>
          <p:nvSpPr>
            <p:cNvPr id="59404" name="AutoShape 9"/>
            <p:cNvSpPr/>
            <p:nvPr/>
          </p:nvSpPr>
          <p:spPr>
            <a:xfrm>
              <a:off x="2256" y="3312"/>
              <a:ext cx="288" cy="288"/>
            </a:xfrm>
            <a:prstGeom prst="flowChartConnector">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en-US" altLang="zh-CN" sz="2400" b="1">
                  <a:ea typeface="宋体" panose="02010600030101010101" pitchFamily="2" charset="-122"/>
                </a:rPr>
                <a:t>P</a:t>
              </a:r>
              <a:endParaRPr lang="en-US" altLang="zh-CN" sz="2400" b="1">
                <a:ea typeface="宋体" panose="02010600030101010101" pitchFamily="2" charset="-122"/>
              </a:endParaRPr>
            </a:p>
          </p:txBody>
        </p:sp>
        <p:sp>
          <p:nvSpPr>
            <p:cNvPr id="59405" name="Line 10"/>
            <p:cNvSpPr/>
            <p:nvPr/>
          </p:nvSpPr>
          <p:spPr>
            <a:xfrm>
              <a:off x="2256" y="2928"/>
              <a:ext cx="96" cy="432"/>
            </a:xfrm>
            <a:prstGeom prst="line">
              <a:avLst/>
            </a:prstGeom>
            <a:ln w="9525" cap="flat" cmpd="sng">
              <a:solidFill>
                <a:schemeClr val="tx1"/>
              </a:solidFill>
              <a:prstDash val="solid"/>
              <a:miter/>
              <a:headEnd type="none" w="med" len="med"/>
              <a:tailEnd type="triangle" w="med" len="med"/>
            </a:ln>
          </p:spPr>
        </p:sp>
        <p:sp>
          <p:nvSpPr>
            <p:cNvPr id="59406" name="Line 11"/>
            <p:cNvSpPr/>
            <p:nvPr/>
          </p:nvSpPr>
          <p:spPr>
            <a:xfrm>
              <a:off x="1344" y="2400"/>
              <a:ext cx="0" cy="288"/>
            </a:xfrm>
            <a:prstGeom prst="line">
              <a:avLst/>
            </a:prstGeom>
            <a:ln w="9525" cap="flat" cmpd="sng">
              <a:solidFill>
                <a:schemeClr val="tx1"/>
              </a:solidFill>
              <a:prstDash val="solid"/>
              <a:miter/>
              <a:headEnd type="none" w="med" len="med"/>
              <a:tailEnd type="triangle" w="med" len="med"/>
            </a:ln>
          </p:spPr>
        </p:sp>
        <p:sp>
          <p:nvSpPr>
            <p:cNvPr id="59407" name="Line 12"/>
            <p:cNvSpPr/>
            <p:nvPr/>
          </p:nvSpPr>
          <p:spPr>
            <a:xfrm>
              <a:off x="2112" y="2400"/>
              <a:ext cx="48" cy="240"/>
            </a:xfrm>
            <a:prstGeom prst="line">
              <a:avLst/>
            </a:prstGeom>
            <a:ln w="9525" cap="flat" cmpd="sng">
              <a:solidFill>
                <a:schemeClr val="tx1"/>
              </a:solidFill>
              <a:prstDash val="solid"/>
              <a:miter/>
              <a:headEnd type="none" w="med" len="med"/>
              <a:tailEnd type="triangle" w="med" len="med"/>
            </a:ln>
          </p:spPr>
        </p:sp>
      </p:grpSp>
      <p:sp>
        <p:nvSpPr>
          <p:cNvPr id="59399" name="Text Box 13"/>
          <p:cNvSpPr txBox="1"/>
          <p:nvPr/>
        </p:nvSpPr>
        <p:spPr>
          <a:xfrm>
            <a:off x="4038600" y="4419600"/>
            <a:ext cx="4938713" cy="1679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ct val="130000"/>
              </a:lnSpc>
              <a:spcBef>
                <a:spcPct val="0"/>
              </a:spcBef>
              <a:buClrTx/>
              <a:buSzTx/>
              <a:buFont typeface="Wingdings" panose="05000000000000000000" pitchFamily="2" charset="2"/>
              <a:buChar char="q"/>
            </a:pPr>
            <a:r>
              <a:rPr lang="en-US" altLang="zh-CN" sz="2000">
                <a:ea typeface="宋体" panose="02010600030101010101" pitchFamily="2" charset="-122"/>
              </a:rPr>
              <a:t>X,Y are the parents of Z, and Y is the parent of P</a:t>
            </a:r>
            <a:endParaRPr lang="en-US" altLang="zh-CN" sz="2000">
              <a:ea typeface="宋体" panose="02010600030101010101" pitchFamily="2" charset="-122"/>
            </a:endParaRPr>
          </a:p>
          <a:p>
            <a:pPr marL="0" lvl="0" indent="0" eaLnBrk="1" hangingPunct="1">
              <a:lnSpc>
                <a:spcPct val="130000"/>
              </a:lnSpc>
              <a:spcBef>
                <a:spcPct val="0"/>
              </a:spcBef>
              <a:buClrTx/>
              <a:buSzTx/>
              <a:buFont typeface="Wingdings" panose="05000000000000000000" pitchFamily="2" charset="2"/>
              <a:buChar char="q"/>
            </a:pPr>
            <a:r>
              <a:rPr lang="en-US" altLang="zh-CN" sz="2000">
                <a:ea typeface="宋体" panose="02010600030101010101" pitchFamily="2" charset="-122"/>
              </a:rPr>
              <a:t>No dependency between Z and P</a:t>
            </a:r>
            <a:endParaRPr lang="en-US" altLang="zh-CN" sz="2000">
              <a:ea typeface="宋体" panose="02010600030101010101" pitchFamily="2" charset="-122"/>
            </a:endParaRPr>
          </a:p>
          <a:p>
            <a:pPr marL="0" lvl="0" indent="0" eaLnBrk="1" hangingPunct="1">
              <a:lnSpc>
                <a:spcPct val="130000"/>
              </a:lnSpc>
              <a:spcBef>
                <a:spcPct val="0"/>
              </a:spcBef>
              <a:buClrTx/>
              <a:buSzTx/>
              <a:buFont typeface="Wingdings" panose="05000000000000000000" pitchFamily="2" charset="2"/>
              <a:buChar char="q"/>
            </a:pPr>
            <a:r>
              <a:rPr lang="en-US" altLang="zh-CN" sz="2000">
                <a:ea typeface="宋体" panose="02010600030101010101" pitchFamily="2" charset="-122"/>
              </a:rPr>
              <a:t>Has no loops or cycles</a:t>
            </a:r>
            <a:endParaRPr lang="en-US" altLang="zh-CN" sz="200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0418" name="灯片编号占位符 5"/>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60419" name="Rectangle 2"/>
          <p:cNvSpPr>
            <a:spLocks noGrp="1"/>
          </p:cNvSpPr>
          <p:nvPr>
            <p:ph type="title"/>
          </p:nvPr>
        </p:nvSpPr>
        <p:spPr>
          <a:xfrm>
            <a:off x="1143000" y="457200"/>
            <a:ext cx="7793038" cy="609600"/>
          </a:xfrm>
          <a:ln/>
        </p:spPr>
        <p:txBody>
          <a:bodyPr vert="horz" wrap="square" lIns="91440" tIns="45720" rIns="91440" bIns="45720" anchor="b" anchorCtr="0"/>
          <a:p>
            <a:pPr eaLnBrk="1" hangingPunct="1"/>
            <a:r>
              <a:rPr lang="zh-CN" altLang="en-US" sz="3200">
                <a:ea typeface="宋体" panose="02010600030101010101" pitchFamily="2" charset="-122"/>
              </a:rPr>
              <a:t>贝叶斯信念网络</a:t>
            </a:r>
            <a:endParaRPr lang="en-US" altLang="zh-CN" sz="3200">
              <a:ea typeface="宋体" panose="02010600030101010101" pitchFamily="2" charset="-122"/>
            </a:endParaRPr>
          </a:p>
        </p:txBody>
      </p:sp>
      <p:sp>
        <p:nvSpPr>
          <p:cNvPr id="60420" name="Oval 3"/>
          <p:cNvSpPr/>
          <p:nvPr/>
        </p:nvSpPr>
        <p:spPr>
          <a:xfrm>
            <a:off x="457200" y="2209800"/>
            <a:ext cx="1295400" cy="762000"/>
          </a:xfrm>
          <a:prstGeom prst="ellipse">
            <a:avLst/>
          </a:prstGeom>
          <a:solidFill>
            <a:srgbClr val="F6E6EA"/>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Family</a:t>
            </a:r>
            <a:endParaRPr lang="en-US" altLang="zh-CN" sz="1800" b="1">
              <a:solidFill>
                <a:srgbClr val="000000"/>
              </a:solidFill>
              <a:latin typeface="Times New Roman" panose="02020603050405020304" pitchFamily="18" charset="0"/>
              <a:ea typeface="宋体" panose="02010600030101010101" pitchFamily="2" charset="-122"/>
            </a:endParaRPr>
          </a:p>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History</a:t>
            </a:r>
            <a:endParaRPr lang="en-US" altLang="zh-CN" sz="1800">
              <a:latin typeface="Times New Roman" panose="02020603050405020304" pitchFamily="18" charset="0"/>
              <a:ea typeface="宋体" panose="02010600030101010101" pitchFamily="2" charset="-122"/>
            </a:endParaRPr>
          </a:p>
        </p:txBody>
      </p:sp>
      <p:sp>
        <p:nvSpPr>
          <p:cNvPr id="60421" name="Oval 4"/>
          <p:cNvSpPr/>
          <p:nvPr/>
        </p:nvSpPr>
        <p:spPr>
          <a:xfrm>
            <a:off x="457200" y="3810000"/>
            <a:ext cx="1295400" cy="762000"/>
          </a:xfrm>
          <a:prstGeom prst="ellipse">
            <a:avLst/>
          </a:prstGeom>
          <a:solidFill>
            <a:srgbClr val="CCCC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LungCancer</a:t>
            </a:r>
            <a:endParaRPr lang="en-US" altLang="zh-CN" sz="1800">
              <a:latin typeface="Times New Roman" panose="02020603050405020304" pitchFamily="18" charset="0"/>
              <a:ea typeface="宋体" panose="02010600030101010101" pitchFamily="2" charset="-122"/>
            </a:endParaRPr>
          </a:p>
        </p:txBody>
      </p:sp>
      <p:sp>
        <p:nvSpPr>
          <p:cNvPr id="60422" name="Oval 5"/>
          <p:cNvSpPr/>
          <p:nvPr/>
        </p:nvSpPr>
        <p:spPr>
          <a:xfrm>
            <a:off x="533400" y="5486400"/>
            <a:ext cx="1295400" cy="762000"/>
          </a:xfrm>
          <a:prstGeom prst="ellipse">
            <a:avLst/>
          </a:prstGeom>
          <a:solidFill>
            <a:srgbClr val="FAE2F6"/>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PositiveXRay</a:t>
            </a:r>
            <a:endParaRPr lang="en-US" altLang="zh-CN" sz="1800">
              <a:latin typeface="Times New Roman" panose="02020603050405020304" pitchFamily="18" charset="0"/>
              <a:ea typeface="宋体" panose="02010600030101010101" pitchFamily="2" charset="-122"/>
            </a:endParaRPr>
          </a:p>
        </p:txBody>
      </p:sp>
      <p:sp>
        <p:nvSpPr>
          <p:cNvPr id="60423" name="Oval 6"/>
          <p:cNvSpPr/>
          <p:nvPr/>
        </p:nvSpPr>
        <p:spPr>
          <a:xfrm>
            <a:off x="2667000" y="2209800"/>
            <a:ext cx="1295400" cy="762000"/>
          </a:xfrm>
          <a:prstGeom prst="ellipse">
            <a:avLst/>
          </a:prstGeom>
          <a:solidFill>
            <a:srgbClr val="FFFF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Smoker</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60424" name="Oval 7"/>
          <p:cNvSpPr/>
          <p:nvPr/>
        </p:nvSpPr>
        <p:spPr>
          <a:xfrm>
            <a:off x="2743200" y="3810000"/>
            <a:ext cx="1295400" cy="762000"/>
          </a:xfrm>
          <a:prstGeom prst="ellipse">
            <a:avLst/>
          </a:prstGeom>
          <a:solidFill>
            <a:srgbClr val="CCFF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Emphysema</a:t>
            </a:r>
            <a:endParaRPr lang="en-US" altLang="zh-CN" sz="1800">
              <a:latin typeface="Times New Roman" panose="02020603050405020304" pitchFamily="18" charset="0"/>
              <a:ea typeface="宋体" panose="02010600030101010101" pitchFamily="2" charset="-122"/>
            </a:endParaRPr>
          </a:p>
        </p:txBody>
      </p:sp>
      <p:sp>
        <p:nvSpPr>
          <p:cNvPr id="60425" name="Oval 8"/>
          <p:cNvSpPr/>
          <p:nvPr/>
        </p:nvSpPr>
        <p:spPr>
          <a:xfrm>
            <a:off x="2895600" y="5486400"/>
            <a:ext cx="1295400" cy="762000"/>
          </a:xfrm>
          <a:prstGeom prst="ellipse">
            <a:avLst/>
          </a:prstGeom>
          <a:solidFill>
            <a:srgbClr val="99CCFF"/>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Dyspnea</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60426" name="Line 9"/>
          <p:cNvSpPr/>
          <p:nvPr/>
        </p:nvSpPr>
        <p:spPr>
          <a:xfrm>
            <a:off x="1143000" y="2971800"/>
            <a:ext cx="0" cy="838200"/>
          </a:xfrm>
          <a:prstGeom prst="line">
            <a:avLst/>
          </a:prstGeom>
          <a:ln w="38100" cap="flat" cmpd="sng">
            <a:solidFill>
              <a:srgbClr val="CC0099"/>
            </a:solidFill>
            <a:prstDash val="solid"/>
            <a:headEnd type="none" w="sm" len="sm"/>
            <a:tailEnd type="stealth" w="lg" len="lg"/>
          </a:ln>
        </p:spPr>
      </p:sp>
      <p:sp>
        <p:nvSpPr>
          <p:cNvPr id="60427" name="Line 10"/>
          <p:cNvSpPr/>
          <p:nvPr/>
        </p:nvSpPr>
        <p:spPr>
          <a:xfrm>
            <a:off x="1143000" y="4572000"/>
            <a:ext cx="0" cy="914400"/>
          </a:xfrm>
          <a:prstGeom prst="line">
            <a:avLst/>
          </a:prstGeom>
          <a:ln w="12700" cap="flat" cmpd="sng">
            <a:solidFill>
              <a:schemeClr val="tx1"/>
            </a:solidFill>
            <a:prstDash val="solid"/>
            <a:headEnd type="none" w="sm" len="sm"/>
            <a:tailEnd type="stealth" w="lg" len="lg"/>
          </a:ln>
        </p:spPr>
      </p:sp>
      <p:sp>
        <p:nvSpPr>
          <p:cNvPr id="60428" name="Line 11"/>
          <p:cNvSpPr/>
          <p:nvPr/>
        </p:nvSpPr>
        <p:spPr>
          <a:xfrm>
            <a:off x="3352800" y="2971800"/>
            <a:ext cx="0" cy="838200"/>
          </a:xfrm>
          <a:prstGeom prst="line">
            <a:avLst/>
          </a:prstGeom>
          <a:ln w="12700" cap="flat" cmpd="sng">
            <a:solidFill>
              <a:schemeClr val="tx1"/>
            </a:solidFill>
            <a:prstDash val="solid"/>
            <a:headEnd type="none" w="sm" len="sm"/>
            <a:tailEnd type="stealth" w="lg" len="lg"/>
          </a:ln>
        </p:spPr>
      </p:sp>
      <p:sp>
        <p:nvSpPr>
          <p:cNvPr id="60429" name="Line 12"/>
          <p:cNvSpPr/>
          <p:nvPr/>
        </p:nvSpPr>
        <p:spPr>
          <a:xfrm>
            <a:off x="3429000" y="4572000"/>
            <a:ext cx="0" cy="914400"/>
          </a:xfrm>
          <a:prstGeom prst="line">
            <a:avLst/>
          </a:prstGeom>
          <a:ln w="12700" cap="flat" cmpd="sng">
            <a:solidFill>
              <a:schemeClr val="tx1"/>
            </a:solidFill>
            <a:prstDash val="solid"/>
            <a:headEnd type="none" w="sm" len="sm"/>
            <a:tailEnd type="stealth" w="lg" len="lg"/>
          </a:ln>
        </p:spPr>
      </p:sp>
      <p:sp>
        <p:nvSpPr>
          <p:cNvPr id="60430" name="Line 13"/>
          <p:cNvSpPr/>
          <p:nvPr/>
        </p:nvSpPr>
        <p:spPr>
          <a:xfrm flipH="1">
            <a:off x="1219200" y="2895600"/>
            <a:ext cx="1752600" cy="914400"/>
          </a:xfrm>
          <a:prstGeom prst="line">
            <a:avLst/>
          </a:prstGeom>
          <a:ln w="38100" cap="flat" cmpd="sng">
            <a:solidFill>
              <a:srgbClr val="CC0099"/>
            </a:solidFill>
            <a:prstDash val="solid"/>
            <a:headEnd type="none" w="sm" len="sm"/>
            <a:tailEnd type="stealth" w="lg" len="lg"/>
          </a:ln>
        </p:spPr>
      </p:sp>
      <p:sp>
        <p:nvSpPr>
          <p:cNvPr id="60431" name="Line 14"/>
          <p:cNvSpPr/>
          <p:nvPr/>
        </p:nvSpPr>
        <p:spPr>
          <a:xfrm>
            <a:off x="1143000" y="4572000"/>
            <a:ext cx="2209800" cy="838200"/>
          </a:xfrm>
          <a:prstGeom prst="line">
            <a:avLst/>
          </a:prstGeom>
          <a:ln w="12700" cap="flat" cmpd="sng">
            <a:solidFill>
              <a:schemeClr val="tx1"/>
            </a:solidFill>
            <a:prstDash val="solid"/>
            <a:headEnd type="none" w="sm" len="sm"/>
            <a:tailEnd type="stealth" w="lg" len="lg"/>
          </a:ln>
        </p:spPr>
      </p:sp>
      <p:sp>
        <p:nvSpPr>
          <p:cNvPr id="60432" name="Rectangle 15"/>
          <p:cNvSpPr/>
          <p:nvPr/>
        </p:nvSpPr>
        <p:spPr>
          <a:xfrm>
            <a:off x="4267200" y="2590800"/>
            <a:ext cx="4648200" cy="1219200"/>
          </a:xfrm>
          <a:prstGeom prst="rect">
            <a:avLst/>
          </a:prstGeom>
          <a:solidFill>
            <a:srgbClr val="00E498"/>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endParaRPr lang="zh-CN" altLang="en-US" sz="1800">
              <a:latin typeface="Times New Roman" panose="02020603050405020304" pitchFamily="18" charset="0"/>
              <a:ea typeface="宋体" panose="02010600030101010101" pitchFamily="2" charset="-122"/>
            </a:endParaRPr>
          </a:p>
        </p:txBody>
      </p:sp>
      <p:sp>
        <p:nvSpPr>
          <p:cNvPr id="60433" name="Line 16"/>
          <p:cNvSpPr/>
          <p:nvPr/>
        </p:nvSpPr>
        <p:spPr>
          <a:xfrm>
            <a:off x="4419600" y="3200400"/>
            <a:ext cx="4495800" cy="0"/>
          </a:xfrm>
          <a:prstGeom prst="line">
            <a:avLst/>
          </a:prstGeom>
          <a:ln w="12700" cap="flat" cmpd="sng">
            <a:solidFill>
              <a:schemeClr val="tx1"/>
            </a:solidFill>
            <a:prstDash val="solid"/>
            <a:headEnd type="none" w="sm" len="sm"/>
            <a:tailEnd type="none" w="sm" len="sm"/>
          </a:ln>
        </p:spPr>
      </p:sp>
      <p:sp>
        <p:nvSpPr>
          <p:cNvPr id="60434" name="Line 17"/>
          <p:cNvSpPr/>
          <p:nvPr/>
        </p:nvSpPr>
        <p:spPr>
          <a:xfrm>
            <a:off x="5105400" y="2590800"/>
            <a:ext cx="0" cy="0"/>
          </a:xfrm>
          <a:prstGeom prst="line">
            <a:avLst/>
          </a:prstGeom>
          <a:ln w="12700" cap="flat" cmpd="sng">
            <a:solidFill>
              <a:schemeClr val="tx1"/>
            </a:solidFill>
            <a:prstDash val="solid"/>
            <a:headEnd type="none" w="sm" len="sm"/>
            <a:tailEnd type="none" w="sm" len="sm"/>
          </a:ln>
        </p:spPr>
      </p:sp>
      <p:sp>
        <p:nvSpPr>
          <p:cNvPr id="60435" name="Line 18"/>
          <p:cNvSpPr/>
          <p:nvPr/>
        </p:nvSpPr>
        <p:spPr>
          <a:xfrm>
            <a:off x="5486400" y="2590800"/>
            <a:ext cx="0" cy="1219200"/>
          </a:xfrm>
          <a:prstGeom prst="line">
            <a:avLst/>
          </a:prstGeom>
          <a:ln w="12700" cap="flat" cmpd="sng">
            <a:solidFill>
              <a:schemeClr val="tx1"/>
            </a:solidFill>
            <a:prstDash val="solid"/>
            <a:headEnd type="none" w="sm" len="sm"/>
            <a:tailEnd type="none" w="sm" len="sm"/>
          </a:ln>
        </p:spPr>
      </p:sp>
      <p:sp>
        <p:nvSpPr>
          <p:cNvPr id="60436" name="Line 19"/>
          <p:cNvSpPr/>
          <p:nvPr/>
        </p:nvSpPr>
        <p:spPr>
          <a:xfrm>
            <a:off x="7315200" y="2590800"/>
            <a:ext cx="0" cy="1219200"/>
          </a:xfrm>
          <a:prstGeom prst="line">
            <a:avLst/>
          </a:prstGeom>
          <a:ln w="12700" cap="flat" cmpd="sng">
            <a:solidFill>
              <a:schemeClr val="tx1"/>
            </a:solidFill>
            <a:prstDash val="solid"/>
            <a:headEnd type="none" w="sm" len="sm"/>
            <a:tailEnd type="none" w="sm" len="sm"/>
          </a:ln>
        </p:spPr>
      </p:sp>
      <p:sp>
        <p:nvSpPr>
          <p:cNvPr id="60437" name="Line 20"/>
          <p:cNvSpPr/>
          <p:nvPr/>
        </p:nvSpPr>
        <p:spPr>
          <a:xfrm>
            <a:off x="6400800" y="2590800"/>
            <a:ext cx="0" cy="1219200"/>
          </a:xfrm>
          <a:prstGeom prst="line">
            <a:avLst/>
          </a:prstGeom>
          <a:ln w="12700" cap="flat" cmpd="sng">
            <a:solidFill>
              <a:schemeClr val="tx1"/>
            </a:solidFill>
            <a:prstDash val="solid"/>
            <a:headEnd type="none" w="sm" len="sm"/>
            <a:tailEnd type="none" w="sm" len="sm"/>
          </a:ln>
        </p:spPr>
      </p:sp>
      <p:sp>
        <p:nvSpPr>
          <p:cNvPr id="60438" name="Line 21"/>
          <p:cNvSpPr/>
          <p:nvPr/>
        </p:nvSpPr>
        <p:spPr>
          <a:xfrm>
            <a:off x="8153400" y="2590800"/>
            <a:ext cx="0" cy="1219200"/>
          </a:xfrm>
          <a:prstGeom prst="line">
            <a:avLst/>
          </a:prstGeom>
          <a:ln w="12700" cap="flat" cmpd="sng">
            <a:solidFill>
              <a:schemeClr val="tx1"/>
            </a:solidFill>
            <a:prstDash val="solid"/>
            <a:headEnd type="none" w="sm" len="sm"/>
            <a:tailEnd type="none" w="sm" len="sm"/>
          </a:ln>
        </p:spPr>
      </p:sp>
      <p:sp>
        <p:nvSpPr>
          <p:cNvPr id="60439" name="Text Box 22"/>
          <p:cNvSpPr txBox="1"/>
          <p:nvPr/>
        </p:nvSpPr>
        <p:spPr>
          <a:xfrm>
            <a:off x="4738688" y="2719388"/>
            <a:ext cx="538162"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LC</a:t>
            </a:r>
            <a:endParaRPr lang="en-US" altLang="zh-CN" sz="1800">
              <a:latin typeface="Times New Roman" panose="02020603050405020304" pitchFamily="18" charset="0"/>
              <a:ea typeface="宋体" panose="02010600030101010101" pitchFamily="2" charset="-122"/>
            </a:endParaRPr>
          </a:p>
        </p:txBody>
      </p:sp>
      <p:sp>
        <p:nvSpPr>
          <p:cNvPr id="60440" name="Text Box 23"/>
          <p:cNvSpPr txBox="1"/>
          <p:nvPr/>
        </p:nvSpPr>
        <p:spPr>
          <a:xfrm>
            <a:off x="4578350" y="3252788"/>
            <a:ext cx="669925"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~LC</a:t>
            </a:r>
            <a:endParaRPr lang="en-US" altLang="zh-CN" sz="1800">
              <a:latin typeface="Times New Roman" panose="02020603050405020304" pitchFamily="18" charset="0"/>
              <a:ea typeface="宋体" panose="02010600030101010101" pitchFamily="2" charset="-122"/>
            </a:endParaRPr>
          </a:p>
        </p:txBody>
      </p:sp>
      <p:sp>
        <p:nvSpPr>
          <p:cNvPr id="60441" name="Text Box 24"/>
          <p:cNvSpPr txBox="1"/>
          <p:nvPr/>
        </p:nvSpPr>
        <p:spPr>
          <a:xfrm>
            <a:off x="5487988" y="2254250"/>
            <a:ext cx="817562"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1600" b="1">
                <a:solidFill>
                  <a:srgbClr val="CC0099"/>
                </a:solidFill>
                <a:latin typeface="Times New Roman" panose="02020603050405020304" pitchFamily="18" charset="0"/>
                <a:ea typeface="宋体" panose="02010600030101010101" pitchFamily="2" charset="-122"/>
              </a:rPr>
              <a:t>(FH, S)</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60442" name="Text Box 25"/>
          <p:cNvSpPr txBox="1"/>
          <p:nvPr/>
        </p:nvSpPr>
        <p:spPr>
          <a:xfrm>
            <a:off x="6324600" y="2230438"/>
            <a:ext cx="923925"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1600" b="1">
                <a:solidFill>
                  <a:srgbClr val="CC0099"/>
                </a:solidFill>
                <a:latin typeface="Times New Roman" panose="02020603050405020304" pitchFamily="18" charset="0"/>
                <a:ea typeface="宋体" panose="02010600030101010101" pitchFamily="2" charset="-122"/>
              </a:rPr>
              <a:t>(FH, ~S)</a:t>
            </a:r>
            <a:endParaRPr lang="en-US" altLang="zh-CN" sz="1600">
              <a:latin typeface="Times New Roman" panose="02020603050405020304" pitchFamily="18" charset="0"/>
              <a:ea typeface="宋体" panose="02010600030101010101" pitchFamily="2" charset="-122"/>
            </a:endParaRPr>
          </a:p>
        </p:txBody>
      </p:sp>
      <p:sp>
        <p:nvSpPr>
          <p:cNvPr id="60443" name="Text Box 26"/>
          <p:cNvSpPr txBox="1"/>
          <p:nvPr/>
        </p:nvSpPr>
        <p:spPr>
          <a:xfrm>
            <a:off x="7239000" y="2230438"/>
            <a:ext cx="923925"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1600" b="1">
                <a:solidFill>
                  <a:srgbClr val="CC0099"/>
                </a:solidFill>
                <a:latin typeface="Times New Roman" panose="02020603050405020304" pitchFamily="18" charset="0"/>
                <a:ea typeface="宋体" panose="02010600030101010101" pitchFamily="2" charset="-122"/>
              </a:rPr>
              <a:t>(~FH, S)</a:t>
            </a:r>
            <a:endParaRPr lang="en-US" altLang="zh-CN" sz="1600">
              <a:latin typeface="Times New Roman" panose="02020603050405020304" pitchFamily="18" charset="0"/>
              <a:ea typeface="宋体" panose="02010600030101010101" pitchFamily="2" charset="-122"/>
            </a:endParaRPr>
          </a:p>
        </p:txBody>
      </p:sp>
      <p:sp>
        <p:nvSpPr>
          <p:cNvPr id="60444" name="Text Box 27"/>
          <p:cNvSpPr txBox="1"/>
          <p:nvPr/>
        </p:nvSpPr>
        <p:spPr>
          <a:xfrm>
            <a:off x="8113713" y="2230438"/>
            <a:ext cx="1030287"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1600" b="1">
                <a:solidFill>
                  <a:srgbClr val="CC0099"/>
                </a:solidFill>
                <a:latin typeface="Times New Roman" panose="02020603050405020304" pitchFamily="18" charset="0"/>
                <a:ea typeface="宋体" panose="02010600030101010101" pitchFamily="2" charset="-122"/>
              </a:rPr>
              <a:t>(~FH, ~S)</a:t>
            </a:r>
            <a:endParaRPr lang="en-US" altLang="zh-CN" sz="1600">
              <a:latin typeface="Times New Roman" panose="02020603050405020304" pitchFamily="18" charset="0"/>
              <a:ea typeface="宋体" panose="02010600030101010101" pitchFamily="2" charset="-122"/>
            </a:endParaRPr>
          </a:p>
        </p:txBody>
      </p:sp>
      <p:sp>
        <p:nvSpPr>
          <p:cNvPr id="60445" name="Text Box 28"/>
          <p:cNvSpPr txBox="1"/>
          <p:nvPr/>
        </p:nvSpPr>
        <p:spPr>
          <a:xfrm>
            <a:off x="5762625" y="27574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0.8</a:t>
            </a:r>
            <a:endParaRPr lang="en-US" altLang="zh-CN" sz="1800">
              <a:latin typeface="Times New Roman" panose="02020603050405020304" pitchFamily="18" charset="0"/>
              <a:ea typeface="宋体" panose="02010600030101010101" pitchFamily="2" charset="-122"/>
            </a:endParaRPr>
          </a:p>
        </p:txBody>
      </p:sp>
      <p:sp>
        <p:nvSpPr>
          <p:cNvPr id="60446" name="Text Box 29"/>
          <p:cNvSpPr txBox="1"/>
          <p:nvPr/>
        </p:nvSpPr>
        <p:spPr>
          <a:xfrm>
            <a:off x="5759450" y="33289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0.2</a:t>
            </a:r>
            <a:endParaRPr lang="en-US" altLang="zh-CN" sz="1800">
              <a:latin typeface="Times New Roman" panose="02020603050405020304" pitchFamily="18" charset="0"/>
              <a:ea typeface="宋体" panose="02010600030101010101" pitchFamily="2" charset="-122"/>
            </a:endParaRPr>
          </a:p>
        </p:txBody>
      </p:sp>
      <p:sp>
        <p:nvSpPr>
          <p:cNvPr id="60447" name="Text Box 30"/>
          <p:cNvSpPr txBox="1"/>
          <p:nvPr/>
        </p:nvSpPr>
        <p:spPr>
          <a:xfrm>
            <a:off x="6677025" y="27574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0.5</a:t>
            </a:r>
            <a:endParaRPr lang="en-US" altLang="zh-CN" sz="1800">
              <a:latin typeface="Times New Roman" panose="02020603050405020304" pitchFamily="18" charset="0"/>
              <a:ea typeface="宋体" panose="02010600030101010101" pitchFamily="2" charset="-122"/>
            </a:endParaRPr>
          </a:p>
        </p:txBody>
      </p:sp>
      <p:sp>
        <p:nvSpPr>
          <p:cNvPr id="60448" name="Text Box 31"/>
          <p:cNvSpPr txBox="1"/>
          <p:nvPr/>
        </p:nvSpPr>
        <p:spPr>
          <a:xfrm>
            <a:off x="6673850" y="33289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0.5</a:t>
            </a:r>
            <a:endParaRPr lang="en-US" altLang="zh-CN" sz="1800">
              <a:latin typeface="Times New Roman" panose="02020603050405020304" pitchFamily="18" charset="0"/>
              <a:ea typeface="宋体" panose="02010600030101010101" pitchFamily="2" charset="-122"/>
            </a:endParaRPr>
          </a:p>
        </p:txBody>
      </p:sp>
      <p:sp>
        <p:nvSpPr>
          <p:cNvPr id="60449" name="Text Box 32"/>
          <p:cNvSpPr txBox="1"/>
          <p:nvPr/>
        </p:nvSpPr>
        <p:spPr>
          <a:xfrm>
            <a:off x="7512050" y="27193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0.7</a:t>
            </a:r>
            <a:endParaRPr lang="en-US" altLang="zh-CN" sz="1800">
              <a:latin typeface="Times New Roman" panose="02020603050405020304" pitchFamily="18" charset="0"/>
              <a:ea typeface="宋体" panose="02010600030101010101" pitchFamily="2" charset="-122"/>
            </a:endParaRPr>
          </a:p>
        </p:txBody>
      </p:sp>
      <p:sp>
        <p:nvSpPr>
          <p:cNvPr id="60450" name="Text Box 33"/>
          <p:cNvSpPr txBox="1"/>
          <p:nvPr/>
        </p:nvSpPr>
        <p:spPr>
          <a:xfrm>
            <a:off x="7515225" y="32908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0.3</a:t>
            </a:r>
            <a:endParaRPr lang="en-US" altLang="zh-CN" sz="1800">
              <a:latin typeface="Times New Roman" panose="02020603050405020304" pitchFamily="18" charset="0"/>
              <a:ea typeface="宋体" panose="02010600030101010101" pitchFamily="2" charset="-122"/>
            </a:endParaRPr>
          </a:p>
        </p:txBody>
      </p:sp>
      <p:sp>
        <p:nvSpPr>
          <p:cNvPr id="60451" name="Text Box 34"/>
          <p:cNvSpPr txBox="1"/>
          <p:nvPr/>
        </p:nvSpPr>
        <p:spPr>
          <a:xfrm>
            <a:off x="8277225" y="27574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0.1</a:t>
            </a:r>
            <a:endParaRPr lang="en-US" altLang="zh-CN" sz="1800">
              <a:latin typeface="Times New Roman" panose="02020603050405020304" pitchFamily="18" charset="0"/>
              <a:ea typeface="宋体" panose="02010600030101010101" pitchFamily="2" charset="-122"/>
            </a:endParaRPr>
          </a:p>
        </p:txBody>
      </p:sp>
      <p:sp>
        <p:nvSpPr>
          <p:cNvPr id="60452" name="Text Box 35"/>
          <p:cNvSpPr txBox="1"/>
          <p:nvPr/>
        </p:nvSpPr>
        <p:spPr>
          <a:xfrm>
            <a:off x="8274050" y="3328988"/>
            <a:ext cx="5016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0.9</a:t>
            </a:r>
            <a:endParaRPr lang="en-US" altLang="zh-CN" sz="1800">
              <a:latin typeface="Times New Roman" panose="02020603050405020304" pitchFamily="18" charset="0"/>
              <a:ea typeface="宋体" panose="02010600030101010101" pitchFamily="2" charset="-122"/>
            </a:endParaRPr>
          </a:p>
        </p:txBody>
      </p:sp>
      <p:sp>
        <p:nvSpPr>
          <p:cNvPr id="60453" name="Text Box 37"/>
          <p:cNvSpPr txBox="1"/>
          <p:nvPr/>
        </p:nvSpPr>
        <p:spPr>
          <a:xfrm>
            <a:off x="4419600" y="3810000"/>
            <a:ext cx="4551363" cy="295433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spcBef>
                <a:spcPct val="0"/>
              </a:spcBef>
              <a:buClrTx/>
              <a:buSzTx/>
              <a:buFontTx/>
              <a:buNone/>
            </a:pPr>
            <a:r>
              <a:rPr lang="zh-CN" altLang="en-US" sz="2400">
                <a:solidFill>
                  <a:srgbClr val="000000"/>
                </a:solidFill>
                <a:latin typeface="Times New Roman" panose="02020603050405020304" pitchFamily="18" charset="0"/>
                <a:ea typeface="宋体" panose="02010600030101010101" pitchFamily="2" charset="-122"/>
              </a:rPr>
              <a:t>变量</a:t>
            </a:r>
            <a:r>
              <a:rPr lang="en-US" altLang="zh-CN" sz="2400">
                <a:solidFill>
                  <a:srgbClr val="000000"/>
                </a:solidFill>
                <a:latin typeface="Times New Roman" panose="02020603050405020304" pitchFamily="18" charset="0"/>
                <a:ea typeface="宋体" panose="02010600030101010101" pitchFamily="2" charset="-122"/>
              </a:rPr>
              <a:t>LungCancer</a:t>
            </a:r>
            <a:r>
              <a:rPr lang="zh-CN" altLang="en-US" sz="2400">
                <a:solidFill>
                  <a:srgbClr val="000000"/>
                </a:solidFill>
                <a:latin typeface="Times New Roman" panose="02020603050405020304" pitchFamily="18" charset="0"/>
                <a:ea typeface="宋体" panose="02010600030101010101" pitchFamily="2" charset="-122"/>
              </a:rPr>
              <a:t>的条件概率表：表示其父母的每一种可能性组合的条件概率。这些概率量化地表示了变量间因果关系的可信度（</a:t>
            </a:r>
            <a:r>
              <a:rPr lang="en-US" altLang="zh-CN" sz="2400">
                <a:solidFill>
                  <a:srgbClr val="000000"/>
                </a:solidFill>
                <a:latin typeface="Times New Roman" panose="02020603050405020304" pitchFamily="18" charset="0"/>
                <a:ea typeface="宋体" panose="02010600030101010101" pitchFamily="2" charset="-122"/>
              </a:rPr>
              <a:t>Belief</a:t>
            </a:r>
            <a:r>
              <a:rPr lang="zh-CN" altLang="en-US" sz="2400">
                <a:solidFill>
                  <a:srgbClr val="000000"/>
                </a:solidFill>
                <a:latin typeface="Times New Roman" panose="02020603050405020304" pitchFamily="18" charset="0"/>
                <a:ea typeface="宋体" panose="02010600030101010101" pitchFamily="2" charset="-122"/>
              </a:rPr>
              <a:t>）。可以利用这个网络计算出得</a:t>
            </a:r>
            <a:r>
              <a:rPr lang="en-US" altLang="zh-CN" sz="2400">
                <a:solidFill>
                  <a:srgbClr val="000000"/>
                </a:solidFill>
                <a:latin typeface="Times New Roman" panose="02020603050405020304" pitchFamily="18" charset="0"/>
                <a:ea typeface="宋体" panose="02010600030101010101" pitchFamily="2" charset="-122"/>
              </a:rPr>
              <a:t>LungCancer</a:t>
            </a:r>
            <a:r>
              <a:rPr lang="zh-CN" altLang="en-US" sz="2400">
                <a:solidFill>
                  <a:srgbClr val="000000"/>
                </a:solidFill>
                <a:latin typeface="Times New Roman" panose="02020603050405020304" pitchFamily="18" charset="0"/>
                <a:ea typeface="宋体" panose="02010600030101010101" pitchFamily="2" charset="-122"/>
              </a:rPr>
              <a:t>的可能性</a:t>
            </a:r>
            <a:endParaRPr lang="en-US" altLang="zh-CN" sz="2400">
              <a:solidFill>
                <a:srgbClr val="000000"/>
              </a:solidFill>
              <a:latin typeface="Times New Roman" panose="02020603050405020304" pitchFamily="18" charset="0"/>
              <a:ea typeface="宋体" panose="02010600030101010101" pitchFamily="2" charset="-122"/>
            </a:endParaRPr>
          </a:p>
          <a:p>
            <a:pPr marL="0" lvl="0" indent="0" algn="r">
              <a:spcBef>
                <a:spcPct val="0"/>
              </a:spcBef>
              <a:buClrTx/>
              <a:buSzTx/>
              <a:buFontTx/>
              <a:buNone/>
            </a:pPr>
            <a:endParaRPr lang="en-US" altLang="zh-CN" sz="2400">
              <a:solidFill>
                <a:srgbClr val="000000"/>
              </a:solidFill>
              <a:latin typeface="Times New Roman" panose="02020603050405020304" pitchFamily="18" charset="0"/>
              <a:ea typeface="宋体" panose="02010600030101010101" pitchFamily="2" charset="-122"/>
            </a:endParaRPr>
          </a:p>
          <a:p>
            <a:pPr marL="0" lvl="0" indent="0" algn="r">
              <a:spcBef>
                <a:spcPct val="0"/>
              </a:spcBef>
              <a:buClrTx/>
              <a:buSzTx/>
              <a:buFontTx/>
              <a:buNone/>
            </a:pPr>
            <a:endParaRPr lang="zh-CN" altLang="en-US" sz="180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日期占位符 1"/>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1442" name="灯片编号占位符 2"/>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61443" name="TextBox 32"/>
          <p:cNvSpPr txBox="1"/>
          <p:nvPr/>
        </p:nvSpPr>
        <p:spPr>
          <a:xfrm>
            <a:off x="595313" y="1524000"/>
            <a:ext cx="6567487" cy="25860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lnSpc>
                <a:spcPct val="200000"/>
              </a:lnSpc>
              <a:spcBef>
                <a:spcPct val="0"/>
              </a:spcBef>
              <a:buClrTx/>
              <a:buSzTx/>
              <a:buFontTx/>
              <a:buNone/>
            </a:pPr>
            <a:r>
              <a:rPr lang="zh-CN" altLang="en-US">
                <a:solidFill>
                  <a:srgbClr val="000000"/>
                </a:solidFill>
                <a:latin typeface="幼圆" panose="02010509060101010101" pitchFamily="49" charset="-122"/>
                <a:ea typeface="幼圆" panose="02010509060101010101" pitchFamily="49" charset="-122"/>
              </a:rPr>
              <a:t>概率图模型 </a:t>
            </a:r>
            <a:r>
              <a:rPr lang="en-US" altLang="zh-CN">
                <a:solidFill>
                  <a:srgbClr val="000000"/>
                </a:solidFill>
                <a:latin typeface="幼圆" panose="02010509060101010101" pitchFamily="49" charset="-122"/>
                <a:ea typeface="幼圆" panose="02010509060101010101" pitchFamily="49" charset="-122"/>
              </a:rPr>
              <a:t>(</a:t>
            </a:r>
            <a:r>
              <a:rPr lang="en-US" altLang="zh-CN">
                <a:solidFill>
                  <a:srgbClr val="000000"/>
                </a:solidFill>
                <a:latin typeface="Times New Roman" panose="02020603050405020304" pitchFamily="18" charset="0"/>
                <a:ea typeface="宋体" panose="02010600030101010101" pitchFamily="2" charset="-122"/>
              </a:rPr>
              <a:t>Probabilistic graphical model</a:t>
            </a:r>
            <a:r>
              <a:rPr lang="en-US" altLang="zh-CN">
                <a:solidFill>
                  <a:srgbClr val="000000"/>
                </a:solidFill>
                <a:latin typeface="幼圆" panose="02010509060101010101" pitchFamily="49" charset="-122"/>
                <a:ea typeface="幼圆" panose="02010509060101010101" pitchFamily="49" charset="-122"/>
              </a:rPr>
              <a:t>)</a:t>
            </a:r>
            <a:endParaRPr lang="en-US" altLang="zh-CN">
              <a:solidFill>
                <a:srgbClr val="000000"/>
              </a:solidFill>
              <a:latin typeface="幼圆" panose="02010509060101010101" pitchFamily="49" charset="-122"/>
              <a:ea typeface="幼圆" panose="02010509060101010101" pitchFamily="49" charset="-122"/>
            </a:endParaRPr>
          </a:p>
          <a:p>
            <a:pPr marL="0" lvl="0" indent="0" eaLnBrk="1" hangingPunct="1">
              <a:lnSpc>
                <a:spcPct val="200000"/>
              </a:lnSpc>
              <a:spcBef>
                <a:spcPct val="0"/>
              </a:spcBef>
              <a:buClrTx/>
              <a:buSzTx/>
              <a:buFontTx/>
              <a:buNone/>
            </a:pPr>
            <a:r>
              <a:rPr lang="en-US" altLang="zh-CN">
                <a:solidFill>
                  <a:srgbClr val="000000"/>
                </a:solidFill>
                <a:latin typeface="Times New Roman" panose="02020603050405020304" pitchFamily="18" charset="0"/>
                <a:ea typeface="宋体" panose="02010600030101010101" pitchFamily="2" charset="-122"/>
              </a:rPr>
              <a:t>•   </a:t>
            </a:r>
            <a:r>
              <a:rPr lang="zh-CN" altLang="en-US">
                <a:solidFill>
                  <a:srgbClr val="000000"/>
                </a:solidFill>
                <a:latin typeface="幼圆" panose="02010509060101010101" pitchFamily="49" charset="-122"/>
                <a:ea typeface="幼圆" panose="02010509060101010101" pitchFamily="49" charset="-122"/>
              </a:rPr>
              <a:t>有向图模型 </a:t>
            </a:r>
            <a:r>
              <a:rPr lang="zh-CN" altLang="en-US">
                <a:solidFill>
                  <a:srgbClr val="000000"/>
                </a:solidFill>
                <a:latin typeface="Wingdings" panose="05000000000000000000" pitchFamily="2" charset="2"/>
                <a:ea typeface="宋体" panose="02010600030101010101" pitchFamily="2" charset="-122"/>
              </a:rPr>
              <a:t> </a:t>
            </a:r>
            <a:r>
              <a:rPr lang="zh-CN" altLang="en-US">
                <a:solidFill>
                  <a:srgbClr val="000000"/>
                </a:solidFill>
                <a:latin typeface="幼圆" panose="02010509060101010101" pitchFamily="49" charset="-122"/>
                <a:ea typeface="幼圆" panose="02010509060101010101" pitchFamily="49" charset="-122"/>
              </a:rPr>
              <a:t>贝叶斯网络</a:t>
            </a:r>
            <a:endParaRPr lang="zh-CN" altLang="en-US">
              <a:solidFill>
                <a:srgbClr val="000000"/>
              </a:solidFill>
              <a:latin typeface="幼圆" panose="02010509060101010101" pitchFamily="49" charset="-122"/>
              <a:ea typeface="幼圆" panose="02010509060101010101" pitchFamily="49" charset="-122"/>
            </a:endParaRPr>
          </a:p>
          <a:p>
            <a:pPr marL="0" lvl="0" indent="0" eaLnBrk="1" hangingPunct="1">
              <a:lnSpc>
                <a:spcPct val="200000"/>
              </a:lnSpc>
              <a:spcBef>
                <a:spcPct val="0"/>
              </a:spcBef>
              <a:buClrTx/>
              <a:buSzTx/>
              <a:buFontTx/>
              <a:buNone/>
            </a:pPr>
            <a:r>
              <a:rPr lang="en-US" altLang="zh-CN">
                <a:solidFill>
                  <a:srgbClr val="000000"/>
                </a:solidFill>
                <a:latin typeface="Times New Roman" panose="02020603050405020304" pitchFamily="18" charset="0"/>
                <a:ea typeface="宋体" panose="02010600030101010101" pitchFamily="2" charset="-122"/>
              </a:rPr>
              <a:t>•   </a:t>
            </a:r>
            <a:r>
              <a:rPr lang="zh-CN" altLang="en-US">
                <a:solidFill>
                  <a:srgbClr val="000000"/>
                </a:solidFill>
                <a:latin typeface="幼圆" panose="02010509060101010101" pitchFamily="49" charset="-122"/>
                <a:ea typeface="幼圆" panose="02010509060101010101" pitchFamily="49" charset="-122"/>
              </a:rPr>
              <a:t>无向图模型 </a:t>
            </a:r>
            <a:r>
              <a:rPr lang="zh-CN" altLang="en-US">
                <a:solidFill>
                  <a:srgbClr val="000000"/>
                </a:solidFill>
                <a:latin typeface="Wingdings" panose="05000000000000000000" pitchFamily="2" charset="2"/>
                <a:ea typeface="宋体" panose="02010600030101010101" pitchFamily="2" charset="-122"/>
              </a:rPr>
              <a:t> </a:t>
            </a:r>
            <a:r>
              <a:rPr lang="zh-CN" altLang="en-US">
                <a:solidFill>
                  <a:srgbClr val="000000"/>
                </a:solidFill>
                <a:latin typeface="幼圆" panose="02010509060101010101" pitchFamily="49" charset="-122"/>
                <a:ea typeface="幼圆" panose="02010509060101010101" pitchFamily="49" charset="-122"/>
              </a:rPr>
              <a:t>马尔可夫网</a:t>
            </a:r>
            <a:endParaRPr lang="zh-CN" altLang="en-US">
              <a:solidFill>
                <a:srgbClr val="000000"/>
              </a:solidFill>
              <a:latin typeface="幼圆" panose="02010509060101010101" pitchFamily="49" charset="-122"/>
              <a:ea typeface="幼圆" panose="020105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ln/>
        </p:spPr>
        <p:txBody>
          <a:bodyPr vert="horz" wrap="square" lIns="91440" tIns="45720" rIns="91440" bIns="45720" anchor="b" anchorCtr="0"/>
          <a:p>
            <a:r>
              <a:rPr lang="zh-CN" altLang="en-US">
                <a:ea typeface="宋体" panose="02010600030101010101" pitchFamily="2" charset="-122"/>
              </a:rPr>
              <a:t>贝叶斯信念网络</a:t>
            </a:r>
            <a:endParaRPr lang="zh-CN" altLang="en-US">
              <a:ea typeface="宋体" panose="02010600030101010101" pitchFamily="2" charset="-122"/>
            </a:endParaRPr>
          </a:p>
        </p:txBody>
      </p:sp>
      <p:sp>
        <p:nvSpPr>
          <p:cNvPr id="62466"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2467" name="灯片编号占位符 4"/>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62468" name="内容占位符 2"/>
          <p:cNvSpPr>
            <a:spLocks noGrp="1"/>
          </p:cNvSpPr>
          <p:nvPr>
            <p:ph idx="1"/>
          </p:nvPr>
        </p:nvSpPr>
        <p:spPr>
          <a:xfrm>
            <a:off x="0" y="1295400"/>
            <a:ext cx="3810000" cy="5105400"/>
          </a:xfrm>
          <a:ln/>
        </p:spPr>
        <p:txBody>
          <a:bodyPr vert="horz" wrap="square" lIns="91440" tIns="45720" rIns="91440" bIns="45720" anchor="t" anchorCtr="0"/>
          <a:p>
            <a:r>
              <a:rPr lang="zh-CN" altLang="en-US" sz="2000">
                <a:ea typeface="宋体" panose="02010600030101010101" pitchFamily="2" charset="-122"/>
              </a:rPr>
              <a:t>网络中每个节点概率的计算，都可以用贝叶斯公式来计算，贝叶斯网络因此而得名</a:t>
            </a:r>
            <a:endParaRPr lang="en-US" altLang="zh-CN" sz="2000">
              <a:ea typeface="宋体" panose="02010600030101010101" pitchFamily="2" charset="-122"/>
            </a:endParaRPr>
          </a:p>
          <a:p>
            <a:r>
              <a:rPr lang="zh-CN" altLang="en-US" sz="2000">
                <a:ea typeface="宋体" panose="02010600030101010101" pitchFamily="2" charset="-122"/>
              </a:rPr>
              <a:t>由于网络的每个弧都有一个可信度，贝叶斯网络也被称为信念网络</a:t>
            </a:r>
            <a:endParaRPr lang="en-US" altLang="zh-CN" sz="2000">
              <a:ea typeface="宋体" panose="02010600030101010101" pitchFamily="2" charset="-122"/>
            </a:endParaRPr>
          </a:p>
          <a:p>
            <a:r>
              <a:rPr lang="zh-CN" altLang="en-US" sz="2000">
                <a:ea typeface="宋体" panose="02010600030101010101" pitchFamily="2" charset="-122"/>
              </a:rPr>
              <a:t>右边是另一个简化的例子，假设每个状态取值只有“有”、“无”两种，图中的三个表各自代表了每个状态和组合状态不同取值时的条件概率</a:t>
            </a:r>
            <a:endParaRPr lang="en-US" altLang="zh-CN" sz="2000">
              <a:ea typeface="宋体" panose="02010600030101010101" pitchFamily="2" charset="-122"/>
            </a:endParaRPr>
          </a:p>
          <a:p>
            <a:r>
              <a:rPr lang="zh-CN" altLang="en-US" sz="2000">
                <a:ea typeface="宋体" panose="02010600030101010101" pitchFamily="2" charset="-122"/>
              </a:rPr>
              <a:t>比如，右下角的表说明，如果有家族史时，得高血脂的可能性是</a:t>
            </a:r>
            <a:r>
              <a:rPr lang="en-US" altLang="zh-CN" sz="2000">
                <a:ea typeface="宋体" panose="02010600030101010101" pitchFamily="2" charset="-122"/>
              </a:rPr>
              <a:t>0.2</a:t>
            </a:r>
            <a:r>
              <a:rPr lang="zh-CN" altLang="en-US" sz="2000">
                <a:ea typeface="宋体" panose="02010600030101010101" pitchFamily="2" charset="-122"/>
              </a:rPr>
              <a:t>，无家族史时是</a:t>
            </a:r>
            <a:r>
              <a:rPr lang="en-US" altLang="zh-CN" sz="2000">
                <a:ea typeface="宋体" panose="02010600030101010101" pitchFamily="2" charset="-122"/>
              </a:rPr>
              <a:t>0.8</a:t>
            </a:r>
            <a:endParaRPr lang="zh-CN" altLang="en-US" sz="2000">
              <a:ea typeface="宋体" panose="02010600030101010101" pitchFamily="2" charset="-122"/>
            </a:endParaRPr>
          </a:p>
        </p:txBody>
      </p:sp>
      <p:pic>
        <p:nvPicPr>
          <p:cNvPr id="62469" name="Picture 7"/>
          <p:cNvPicPr>
            <a:picLocks noChangeAspect="1"/>
          </p:cNvPicPr>
          <p:nvPr/>
        </p:nvPicPr>
        <p:blipFill>
          <a:blip r:embed="rId1"/>
          <a:srcRect l="7372" r="9091" b="12161"/>
          <a:stretch>
            <a:fillRect/>
          </a:stretch>
        </p:blipFill>
        <p:spPr>
          <a:xfrm>
            <a:off x="3733800" y="1371600"/>
            <a:ext cx="5410200" cy="4953000"/>
          </a:xfrm>
          <a:prstGeom prst="rect">
            <a:avLst/>
          </a:prstGeom>
          <a:noFill/>
          <a:ln w="9525">
            <a:noFill/>
          </a:ln>
        </p:spPr>
      </p:pic>
      <p:cxnSp>
        <p:nvCxnSpPr>
          <p:cNvPr id="62470" name="直接箭头连接符 9"/>
          <p:cNvCxnSpPr/>
          <p:nvPr/>
        </p:nvCxnSpPr>
        <p:spPr>
          <a:xfrm>
            <a:off x="5867400" y="4256088"/>
            <a:ext cx="1066800" cy="1587"/>
          </a:xfrm>
          <a:prstGeom prst="straightConnector1">
            <a:avLst/>
          </a:prstGeom>
          <a:ln w="38100" cap="flat" cmpd="sng">
            <a:solidFill>
              <a:schemeClr val="tx1"/>
            </a:solidFill>
            <a:prstDash val="solid"/>
            <a:miter/>
            <a:headEnd type="triangle" w="med" len="med"/>
            <a:tailEnd type="none" w="med" len="med"/>
          </a:ln>
        </p:spPr>
      </p:cxnSp>
      <p:cxnSp>
        <p:nvCxnSpPr>
          <p:cNvPr id="62471" name="直接箭头连接符 11"/>
          <p:cNvCxnSpPr/>
          <p:nvPr/>
        </p:nvCxnSpPr>
        <p:spPr>
          <a:xfrm rot="5400000" flipH="1" flipV="1">
            <a:off x="6553200" y="4724400"/>
            <a:ext cx="914400" cy="762000"/>
          </a:xfrm>
          <a:prstGeom prst="straightConnector1">
            <a:avLst/>
          </a:prstGeom>
          <a:ln w="38100" cap="flat" cmpd="sng">
            <a:solidFill>
              <a:schemeClr val="tx1"/>
            </a:solidFill>
            <a:prstDash val="solid"/>
            <a:miter/>
            <a:headEnd type="none" w="med" len="med"/>
            <a:tailEnd type="triangle" w="med" len="med"/>
          </a:ln>
        </p:spPr>
      </p:cxnSp>
      <p:cxnSp>
        <p:nvCxnSpPr>
          <p:cNvPr id="62472" name="直接箭头连接符 13"/>
          <p:cNvCxnSpPr/>
          <p:nvPr/>
        </p:nvCxnSpPr>
        <p:spPr>
          <a:xfrm rot="-5400000" flipV="1">
            <a:off x="5257800" y="4713288"/>
            <a:ext cx="914400" cy="762000"/>
          </a:xfrm>
          <a:prstGeom prst="straightConnector1">
            <a:avLst/>
          </a:prstGeom>
          <a:ln w="38100" cap="flat" cmpd="sng">
            <a:solidFill>
              <a:schemeClr val="tx1"/>
            </a:solidFill>
            <a:prstDash val="solid"/>
            <a:miter/>
            <a:headEnd type="none" w="med" len="med"/>
            <a:tailEnd type="triangle" w="med" len="med"/>
          </a:ln>
        </p:spPr>
      </p:cxnSp>
      <p:pic>
        <p:nvPicPr>
          <p:cNvPr id="62473" name="Picture 7"/>
          <p:cNvPicPr>
            <a:picLocks noChangeAspect="1"/>
          </p:cNvPicPr>
          <p:nvPr/>
        </p:nvPicPr>
        <p:blipFill>
          <a:blip r:embed="rId2"/>
          <a:stretch>
            <a:fillRect/>
          </a:stretch>
        </p:blipFill>
        <p:spPr>
          <a:xfrm>
            <a:off x="4343400" y="3059113"/>
            <a:ext cx="238125" cy="190500"/>
          </a:xfrm>
          <a:prstGeom prst="rect">
            <a:avLst/>
          </a:prstGeom>
          <a:noFill/>
          <a:ln w="9525">
            <a:noFill/>
          </a:ln>
        </p:spPr>
      </p:pic>
      <p:pic>
        <p:nvPicPr>
          <p:cNvPr id="62474" name="Picture 8"/>
          <p:cNvPicPr>
            <a:picLocks noChangeAspect="1"/>
          </p:cNvPicPr>
          <p:nvPr/>
        </p:nvPicPr>
        <p:blipFill>
          <a:blip r:embed="rId2"/>
          <a:stretch>
            <a:fillRect/>
          </a:stretch>
        </p:blipFill>
        <p:spPr>
          <a:xfrm>
            <a:off x="4340225" y="3429000"/>
            <a:ext cx="238125" cy="190500"/>
          </a:xfrm>
          <a:prstGeom prst="rect">
            <a:avLst/>
          </a:prstGeom>
          <a:noFill/>
          <a:ln w="9525">
            <a:noFill/>
          </a:ln>
        </p:spPr>
      </p:pic>
      <mc:AlternateContent xmlns:mc="http://schemas.openxmlformats.org/markup-compatibility/2006" xmlns:p14="http://schemas.microsoft.com/office/powerpoint/2010/main">
        <mc:Choice Requires="p14">
          <p:contentPart r:id="rId3" p14:bwMode="auto">
            <p14:nvContentPartPr>
              <p14:cNvPr id="6146" name="Ink 9"/>
              <p14:cNvContentPartPr/>
              <p14:nvPr/>
            </p14:nvContentPartPr>
            <p14:xfrm>
              <a:off x="4622800" y="2051050"/>
              <a:ext cx="69850" cy="222250"/>
            </p14:xfrm>
          </p:contentPart>
        </mc:Choice>
        <mc:Fallback xmlns="">
          <p:pic>
            <p:nvPicPr>
              <p:cNvPr id="6146" name="Ink 9"/>
            </p:nvPicPr>
            <p:blipFill>
              <a:blip r:embed="rId4"/>
            </p:blipFill>
            <p:spPr>
              <a:xfrm>
                <a:off x="4622800" y="2051050"/>
                <a:ext cx="69850" cy="2222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147" name="Ink 10"/>
              <p14:cNvContentPartPr/>
              <p14:nvPr/>
            </p14:nvContentPartPr>
            <p14:xfrm>
              <a:off x="7708900" y="2051050"/>
              <a:ext cx="127000" cy="228600"/>
            </p14:xfrm>
          </p:contentPart>
        </mc:Choice>
        <mc:Fallback xmlns="">
          <p:pic>
            <p:nvPicPr>
              <p:cNvPr id="6147" name="Ink 10"/>
            </p:nvPicPr>
            <p:blipFill>
              <a:blip r:embed="rId6"/>
            </p:blipFill>
            <p:spPr>
              <a:xfrm>
                <a:off x="7708900" y="2051050"/>
                <a:ext cx="127000" cy="228600"/>
              </a:xfrm>
              <a:prstGeom prst="rect"/>
            </p:spPr>
          </p:pic>
        </mc:Fallback>
      </mc:AlternateContent>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3490" name="灯片编号占位符 4"/>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63491" name="标题 1"/>
          <p:cNvSpPr>
            <a:spLocks noGrp="1"/>
          </p:cNvSpPr>
          <p:nvPr>
            <p:ph type="title"/>
          </p:nvPr>
        </p:nvSpPr>
        <p:spPr>
          <a:ln/>
        </p:spPr>
        <p:txBody>
          <a:bodyPr vert="horz" wrap="square" lIns="91440" tIns="45720" rIns="91440" bIns="45720" anchor="b" anchorCtr="0"/>
          <a:p>
            <a:r>
              <a:rPr lang="zh-CN" altLang="en-US">
                <a:ea typeface="宋体" panose="02010600030101010101" pitchFamily="2" charset="-122"/>
              </a:rPr>
              <a:t>贝叶斯信念网络</a:t>
            </a:r>
            <a:endParaRPr lang="zh-CN" altLang="en-US">
              <a:ea typeface="宋体" panose="02010600030101010101" pitchFamily="2" charset="-122"/>
            </a:endParaRPr>
          </a:p>
        </p:txBody>
      </p:sp>
      <p:pic>
        <p:nvPicPr>
          <p:cNvPr id="63492" name="Picture 6"/>
          <p:cNvPicPr>
            <a:picLocks noChangeAspect="1"/>
          </p:cNvPicPr>
          <p:nvPr/>
        </p:nvPicPr>
        <p:blipFill>
          <a:blip r:embed="rId1"/>
          <a:stretch>
            <a:fillRect/>
          </a:stretch>
        </p:blipFill>
        <p:spPr>
          <a:xfrm>
            <a:off x="762000" y="1828800"/>
            <a:ext cx="6734175" cy="2371725"/>
          </a:xfrm>
          <a:prstGeom prst="rect">
            <a:avLst/>
          </a:prstGeom>
          <a:noFill/>
          <a:ln w="9525">
            <a:noFill/>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a:ln/>
        </p:spPr>
        <p:txBody>
          <a:bodyPr vert="horz" wrap="square" lIns="91440" tIns="45720" rIns="91440" bIns="45720" anchor="b" anchorCtr="0"/>
          <a:p>
            <a:r>
              <a:rPr lang="zh-CN" altLang="en-US">
                <a:ea typeface="宋体" panose="02010600030101010101" pitchFamily="2" charset="-122"/>
              </a:rPr>
              <a:t>贝叶斯信念网络</a:t>
            </a:r>
            <a:endParaRPr lang="zh-CN" altLang="en-US">
              <a:ea typeface="宋体" panose="02010600030101010101" pitchFamily="2" charset="-122"/>
            </a:endParaRPr>
          </a:p>
        </p:txBody>
      </p:sp>
      <p:sp>
        <p:nvSpPr>
          <p:cNvPr id="64514" name="内容占位符 2"/>
          <p:cNvSpPr>
            <a:spLocks noGrp="1"/>
          </p:cNvSpPr>
          <p:nvPr>
            <p:ph idx="1"/>
          </p:nvPr>
        </p:nvSpPr>
        <p:spPr>
          <a:ln/>
        </p:spPr>
        <p:txBody>
          <a:bodyPr vert="horz" wrap="square" lIns="91440" tIns="45720" rIns="91440" bIns="45720" anchor="t" anchorCtr="0"/>
          <a:p>
            <a:r>
              <a:rPr lang="zh-CN" altLang="en-US">
                <a:ea typeface="宋体" panose="02010600030101010101" pitchFamily="2" charset="-122"/>
              </a:rPr>
              <a:t>如果问心血管疾病有多大的可能是由家族史引起的</a:t>
            </a:r>
            <a:r>
              <a:rPr lang="en-US" altLang="zh-CN">
                <a:ea typeface="宋体" panose="02010600030101010101" pitchFamily="2" charset="-122"/>
              </a:rPr>
              <a:t>,</a:t>
            </a:r>
            <a:r>
              <a:rPr lang="zh-CN" altLang="en-US">
                <a:ea typeface="宋体" panose="02010600030101010101" pitchFamily="2" charset="-122"/>
              </a:rPr>
              <a:t>也可以由这个贝叶斯网络计算出来</a:t>
            </a:r>
            <a:endParaRPr lang="en-US" altLang="zh-CN">
              <a:ea typeface="宋体" panose="02010600030101010101" pitchFamily="2" charset="-122"/>
            </a:endParaRPr>
          </a:p>
          <a:p>
            <a:endParaRPr lang="en-US" altLang="zh-CN">
              <a:ea typeface="宋体" panose="02010600030101010101" pitchFamily="2" charset="-122"/>
            </a:endParaRPr>
          </a:p>
          <a:p>
            <a:pPr>
              <a:buNone/>
            </a:pPr>
            <a:r>
              <a:rPr lang="en-US" altLang="zh-CN" sz="2000">
                <a:ea typeface="宋体" panose="02010600030101010101" pitchFamily="2" charset="-122"/>
              </a:rPr>
              <a:t>P(</a:t>
            </a:r>
            <a:r>
              <a:rPr lang="zh-CN" altLang="en-US" sz="2000">
                <a:ea typeface="宋体" panose="02010600030101010101" pitchFamily="2" charset="-122"/>
              </a:rPr>
              <a:t>有心血管疾病</a:t>
            </a:r>
            <a:r>
              <a:rPr lang="en-US" altLang="zh-CN" sz="2000">
                <a:ea typeface="宋体" panose="02010600030101010101" pitchFamily="2" charset="-122"/>
              </a:rPr>
              <a:t>|</a:t>
            </a:r>
            <a:r>
              <a:rPr lang="zh-CN" altLang="en-US" sz="2000">
                <a:ea typeface="宋体" panose="02010600030101010101" pitchFamily="2" charset="-122"/>
              </a:rPr>
              <a:t>有家族病史</a:t>
            </a:r>
            <a:r>
              <a:rPr lang="en-US" altLang="zh-CN" sz="2000">
                <a:ea typeface="宋体" panose="02010600030101010101" pitchFamily="2" charset="-122"/>
              </a:rPr>
              <a:t>)=</a:t>
            </a:r>
            <a:r>
              <a:rPr lang="en-US" altLang="zh-CN" sz="2000">
                <a:solidFill>
                  <a:srgbClr val="FF0000"/>
                </a:solidFill>
                <a:ea typeface="宋体" panose="02010600030101010101" pitchFamily="2" charset="-122"/>
              </a:rPr>
              <a:t>P(</a:t>
            </a:r>
            <a:r>
              <a:rPr lang="zh-CN" altLang="en-US" sz="2000">
                <a:solidFill>
                  <a:srgbClr val="FF0000"/>
                </a:solidFill>
                <a:ea typeface="宋体" panose="02010600030101010101" pitchFamily="2" charset="-122"/>
              </a:rPr>
              <a:t>有心血管疾病</a:t>
            </a:r>
            <a:r>
              <a:rPr lang="en-US" altLang="zh-CN" sz="2000">
                <a:solidFill>
                  <a:srgbClr val="FF0000"/>
                </a:solidFill>
                <a:ea typeface="宋体" panose="02010600030101010101" pitchFamily="2" charset="-122"/>
              </a:rPr>
              <a:t>,</a:t>
            </a:r>
            <a:r>
              <a:rPr lang="zh-CN" altLang="en-US" sz="2000">
                <a:solidFill>
                  <a:srgbClr val="FF0000"/>
                </a:solidFill>
                <a:ea typeface="宋体" panose="02010600030101010101" pitchFamily="2" charset="-122"/>
              </a:rPr>
              <a:t>有家族病史</a:t>
            </a:r>
            <a:r>
              <a:rPr lang="en-US" altLang="zh-CN" sz="2000">
                <a:solidFill>
                  <a:srgbClr val="FF0000"/>
                </a:solidFill>
                <a:ea typeface="宋体" panose="02010600030101010101" pitchFamily="2" charset="-122"/>
              </a:rPr>
              <a:t>)/</a:t>
            </a:r>
            <a:r>
              <a:rPr lang="en-US" altLang="zh-CN" sz="2000">
                <a:ea typeface="宋体" panose="02010600030101010101" pitchFamily="2" charset="-122"/>
              </a:rPr>
              <a:t>P(</a:t>
            </a:r>
            <a:r>
              <a:rPr lang="zh-CN" altLang="en-US" sz="2000">
                <a:ea typeface="宋体" panose="02010600030101010101" pitchFamily="2" charset="-122"/>
              </a:rPr>
              <a:t>有家族病史</a:t>
            </a:r>
            <a:r>
              <a:rPr lang="en-US" altLang="zh-CN" sz="2000">
                <a:ea typeface="宋体" panose="02010600030101010101" pitchFamily="2" charset="-122"/>
              </a:rPr>
              <a:t>) = 0.12 / 0.2 = 0.6</a:t>
            </a:r>
            <a:endParaRPr lang="en-US" altLang="zh-CN" sz="2000">
              <a:ea typeface="宋体" panose="02010600030101010101" pitchFamily="2" charset="-122"/>
            </a:endParaRPr>
          </a:p>
          <a:p>
            <a:pPr>
              <a:buNone/>
            </a:pPr>
            <a:endParaRPr lang="en-US" altLang="zh-CN" sz="2000">
              <a:ea typeface="宋体" panose="02010600030101010101" pitchFamily="2" charset="-122"/>
            </a:endParaRPr>
          </a:p>
          <a:p>
            <a:pPr>
              <a:buNone/>
            </a:pPr>
            <a:r>
              <a:rPr lang="en-US" altLang="zh-CN" sz="2000">
                <a:solidFill>
                  <a:srgbClr val="FF0000"/>
                </a:solidFill>
                <a:ea typeface="宋体" panose="02010600030101010101" pitchFamily="2" charset="-122"/>
              </a:rPr>
              <a:t>P(</a:t>
            </a:r>
            <a:r>
              <a:rPr lang="zh-CN" altLang="en-US" sz="2000">
                <a:solidFill>
                  <a:srgbClr val="FF0000"/>
                </a:solidFill>
                <a:ea typeface="宋体" panose="02010600030101010101" pitchFamily="2" charset="-122"/>
              </a:rPr>
              <a:t>有心血管疾病</a:t>
            </a:r>
            <a:r>
              <a:rPr lang="en-US" altLang="zh-CN" sz="2000">
                <a:solidFill>
                  <a:srgbClr val="FF0000"/>
                </a:solidFill>
                <a:ea typeface="宋体" panose="02010600030101010101" pitchFamily="2" charset="-122"/>
              </a:rPr>
              <a:t>,</a:t>
            </a:r>
            <a:r>
              <a:rPr lang="zh-CN" altLang="en-US" sz="2000">
                <a:solidFill>
                  <a:srgbClr val="FF0000"/>
                </a:solidFill>
                <a:ea typeface="宋体" panose="02010600030101010101" pitchFamily="2" charset="-122"/>
              </a:rPr>
              <a:t>有家族病史</a:t>
            </a:r>
            <a:r>
              <a:rPr lang="en-US" altLang="zh-CN" sz="2000">
                <a:ea typeface="宋体" panose="02010600030101010101" pitchFamily="2" charset="-122"/>
              </a:rPr>
              <a:t>)= </a:t>
            </a:r>
            <a:r>
              <a:rPr lang="en-US" altLang="zh-CN" sz="2000">
                <a:solidFill>
                  <a:srgbClr val="0070C0"/>
                </a:solidFill>
                <a:ea typeface="宋体" panose="02010600030101010101" pitchFamily="2" charset="-122"/>
              </a:rPr>
              <a:t>P(</a:t>
            </a:r>
            <a:r>
              <a:rPr lang="zh-CN" altLang="en-US" sz="2000">
                <a:solidFill>
                  <a:srgbClr val="0070C0"/>
                </a:solidFill>
                <a:ea typeface="宋体" panose="02010600030101010101" pitchFamily="2" charset="-122"/>
              </a:rPr>
              <a:t>有心血管疾病</a:t>
            </a:r>
            <a:r>
              <a:rPr lang="en-US" altLang="zh-CN" sz="2000">
                <a:solidFill>
                  <a:srgbClr val="0070C0"/>
                </a:solidFill>
                <a:ea typeface="宋体" panose="02010600030101010101" pitchFamily="2" charset="-122"/>
              </a:rPr>
              <a:t>,</a:t>
            </a:r>
            <a:r>
              <a:rPr lang="zh-CN" altLang="en-US" sz="2000">
                <a:solidFill>
                  <a:srgbClr val="0070C0"/>
                </a:solidFill>
                <a:ea typeface="宋体" panose="02010600030101010101" pitchFamily="2" charset="-122"/>
              </a:rPr>
              <a:t>有家族病史</a:t>
            </a:r>
            <a:r>
              <a:rPr lang="en-US" altLang="zh-CN" sz="2000">
                <a:solidFill>
                  <a:srgbClr val="0070C0"/>
                </a:solidFill>
                <a:ea typeface="宋体" panose="02010600030101010101" pitchFamily="2" charset="-122"/>
              </a:rPr>
              <a:t>,</a:t>
            </a:r>
            <a:r>
              <a:rPr lang="zh-CN" altLang="en-US" sz="2000">
                <a:solidFill>
                  <a:srgbClr val="0070C0"/>
                </a:solidFill>
                <a:ea typeface="宋体" panose="02010600030101010101" pitchFamily="2" charset="-122"/>
              </a:rPr>
              <a:t>无高血脂</a:t>
            </a:r>
            <a:r>
              <a:rPr lang="en-US" altLang="zh-CN" sz="2000">
                <a:ea typeface="宋体" panose="02010600030101010101" pitchFamily="2" charset="-122"/>
              </a:rPr>
              <a:t>)+ </a:t>
            </a:r>
            <a:r>
              <a:rPr lang="en-US" altLang="zh-CN" sz="2000">
                <a:solidFill>
                  <a:srgbClr val="7030A0"/>
                </a:solidFill>
                <a:ea typeface="宋体" panose="02010600030101010101" pitchFamily="2" charset="-122"/>
              </a:rPr>
              <a:t>P(</a:t>
            </a:r>
            <a:r>
              <a:rPr lang="zh-CN" altLang="en-US" sz="2000">
                <a:solidFill>
                  <a:srgbClr val="7030A0"/>
                </a:solidFill>
                <a:ea typeface="宋体" panose="02010600030101010101" pitchFamily="2" charset="-122"/>
              </a:rPr>
              <a:t>有心血管疾病</a:t>
            </a:r>
            <a:r>
              <a:rPr lang="en-US" altLang="zh-CN" sz="2000">
                <a:solidFill>
                  <a:srgbClr val="7030A0"/>
                </a:solidFill>
                <a:ea typeface="宋体" panose="02010600030101010101" pitchFamily="2" charset="-122"/>
              </a:rPr>
              <a:t>,</a:t>
            </a:r>
            <a:r>
              <a:rPr lang="zh-CN" altLang="en-US" sz="2000">
                <a:solidFill>
                  <a:srgbClr val="7030A0"/>
                </a:solidFill>
                <a:ea typeface="宋体" panose="02010600030101010101" pitchFamily="2" charset="-122"/>
              </a:rPr>
              <a:t>有家族病史</a:t>
            </a:r>
            <a:r>
              <a:rPr lang="en-US" altLang="zh-CN" sz="2000">
                <a:solidFill>
                  <a:srgbClr val="7030A0"/>
                </a:solidFill>
                <a:ea typeface="宋体" panose="02010600030101010101" pitchFamily="2" charset="-122"/>
              </a:rPr>
              <a:t>, </a:t>
            </a:r>
            <a:r>
              <a:rPr lang="zh-CN" altLang="en-US" sz="2000">
                <a:solidFill>
                  <a:srgbClr val="7030A0"/>
                </a:solidFill>
                <a:ea typeface="宋体" panose="02010600030101010101" pitchFamily="2" charset="-122"/>
              </a:rPr>
              <a:t>有高血脂</a:t>
            </a:r>
            <a:r>
              <a:rPr lang="en-US" altLang="zh-CN" sz="2000">
                <a:ea typeface="宋体" panose="02010600030101010101" pitchFamily="2" charset="-122"/>
              </a:rPr>
              <a:t>)=0.048+0.072=0.12</a:t>
            </a:r>
            <a:endParaRPr lang="en-US" altLang="zh-CN" sz="2000">
              <a:ea typeface="宋体" panose="02010600030101010101" pitchFamily="2" charset="-122"/>
            </a:endParaRPr>
          </a:p>
          <a:p>
            <a:pPr>
              <a:buNone/>
            </a:pPr>
            <a:endParaRPr lang="en-US" altLang="zh-CN" sz="2000">
              <a:ea typeface="宋体" panose="02010600030101010101" pitchFamily="2" charset="-122"/>
            </a:endParaRPr>
          </a:p>
          <a:p>
            <a:pPr>
              <a:buNone/>
            </a:pPr>
            <a:r>
              <a:rPr lang="en-US" altLang="zh-CN" sz="2000">
                <a:solidFill>
                  <a:srgbClr val="0070C0"/>
                </a:solidFill>
                <a:ea typeface="宋体" panose="02010600030101010101" pitchFamily="2" charset="-122"/>
              </a:rPr>
              <a:t>P(</a:t>
            </a:r>
            <a:r>
              <a:rPr lang="zh-CN" altLang="en-US" sz="2000">
                <a:solidFill>
                  <a:srgbClr val="0070C0"/>
                </a:solidFill>
                <a:ea typeface="宋体" panose="02010600030101010101" pitchFamily="2" charset="-122"/>
              </a:rPr>
              <a:t>有病</a:t>
            </a:r>
            <a:r>
              <a:rPr lang="en-US" altLang="zh-CN" sz="2000">
                <a:solidFill>
                  <a:srgbClr val="0070C0"/>
                </a:solidFill>
                <a:ea typeface="宋体" panose="02010600030101010101" pitchFamily="2" charset="-122"/>
              </a:rPr>
              <a:t>,</a:t>
            </a:r>
            <a:r>
              <a:rPr lang="zh-CN" altLang="en-US" sz="2000">
                <a:solidFill>
                  <a:srgbClr val="0070C0"/>
                </a:solidFill>
                <a:ea typeface="宋体" panose="02010600030101010101" pitchFamily="2" charset="-122"/>
              </a:rPr>
              <a:t>有史</a:t>
            </a:r>
            <a:r>
              <a:rPr lang="en-US" altLang="zh-CN" sz="2000">
                <a:solidFill>
                  <a:srgbClr val="0070C0"/>
                </a:solidFill>
                <a:ea typeface="宋体" panose="02010600030101010101" pitchFamily="2" charset="-122"/>
              </a:rPr>
              <a:t>,</a:t>
            </a:r>
            <a:r>
              <a:rPr lang="zh-CN" altLang="en-US" sz="2000">
                <a:solidFill>
                  <a:srgbClr val="0070C0"/>
                </a:solidFill>
                <a:ea typeface="宋体" panose="02010600030101010101" pitchFamily="2" charset="-122"/>
              </a:rPr>
              <a:t>无脂</a:t>
            </a:r>
            <a:r>
              <a:rPr lang="en-US" altLang="zh-CN" sz="2000">
                <a:ea typeface="宋体" panose="02010600030101010101" pitchFamily="2" charset="-122"/>
              </a:rPr>
              <a:t>)=P(</a:t>
            </a:r>
            <a:r>
              <a:rPr lang="zh-CN" altLang="en-US" sz="2000">
                <a:ea typeface="宋体" panose="02010600030101010101" pitchFamily="2" charset="-122"/>
              </a:rPr>
              <a:t>有病</a:t>
            </a:r>
            <a:r>
              <a:rPr lang="en-US" altLang="zh-CN" sz="2000">
                <a:ea typeface="宋体" panose="02010600030101010101" pitchFamily="2" charset="-122"/>
              </a:rPr>
              <a:t>|</a:t>
            </a:r>
            <a:r>
              <a:rPr lang="zh-CN" altLang="en-US" sz="2000">
                <a:ea typeface="宋体" panose="02010600030101010101" pitchFamily="2" charset="-122"/>
              </a:rPr>
              <a:t>有史</a:t>
            </a:r>
            <a:r>
              <a:rPr lang="en-US" altLang="zh-CN" sz="2000">
                <a:ea typeface="宋体" panose="02010600030101010101" pitchFamily="2" charset="-122"/>
              </a:rPr>
              <a:t>,</a:t>
            </a:r>
            <a:r>
              <a:rPr lang="zh-CN" altLang="en-US" sz="2000">
                <a:ea typeface="宋体" panose="02010600030101010101" pitchFamily="2" charset="-122"/>
              </a:rPr>
              <a:t>无脂</a:t>
            </a:r>
            <a:r>
              <a:rPr lang="en-US" altLang="zh-CN" sz="2000">
                <a:ea typeface="宋体" panose="02010600030101010101" pitchFamily="2" charset="-122"/>
              </a:rPr>
              <a:t>) P(</a:t>
            </a:r>
            <a:r>
              <a:rPr lang="zh-CN" altLang="en-US" sz="2000">
                <a:ea typeface="宋体" panose="02010600030101010101" pitchFamily="2" charset="-122"/>
              </a:rPr>
              <a:t>无脂</a:t>
            </a:r>
            <a:r>
              <a:rPr lang="en-US" altLang="zh-CN" sz="2000">
                <a:ea typeface="宋体" panose="02010600030101010101" pitchFamily="2" charset="-122"/>
              </a:rPr>
              <a:t>|</a:t>
            </a:r>
            <a:r>
              <a:rPr lang="zh-CN" altLang="en-US" sz="2000">
                <a:ea typeface="宋体" panose="02010600030101010101" pitchFamily="2" charset="-122"/>
              </a:rPr>
              <a:t>史</a:t>
            </a:r>
            <a:r>
              <a:rPr lang="en-US" altLang="zh-CN" sz="2000">
                <a:ea typeface="宋体" panose="02010600030101010101" pitchFamily="2" charset="-122"/>
              </a:rPr>
              <a:t>) P(</a:t>
            </a:r>
            <a:r>
              <a:rPr lang="zh-CN" altLang="en-US" sz="2000">
                <a:ea typeface="宋体" panose="02010600030101010101" pitchFamily="2" charset="-122"/>
              </a:rPr>
              <a:t>有史</a:t>
            </a:r>
            <a:r>
              <a:rPr lang="en-US" altLang="zh-CN" sz="2000">
                <a:ea typeface="宋体" panose="02010600030101010101" pitchFamily="2" charset="-122"/>
              </a:rPr>
              <a:t>)</a:t>
            </a:r>
            <a:r>
              <a:rPr lang="zh-CN" altLang="en-US" sz="2000">
                <a:ea typeface="宋体" panose="02010600030101010101" pitchFamily="2" charset="-122"/>
              </a:rPr>
              <a:t> </a:t>
            </a:r>
            <a:r>
              <a:rPr lang="en-US" altLang="zh-CN" sz="2000">
                <a:ea typeface="宋体" panose="02010600030101010101" pitchFamily="2" charset="-122"/>
              </a:rPr>
              <a:t>=</a:t>
            </a:r>
            <a:r>
              <a:rPr lang="zh-CN" altLang="en-US" sz="2000">
                <a:ea typeface="宋体" panose="02010600030101010101" pitchFamily="2" charset="-122"/>
              </a:rPr>
              <a:t> </a:t>
            </a:r>
            <a:r>
              <a:rPr lang="en-US" altLang="zh-CN" sz="2000">
                <a:ea typeface="宋体" panose="02010600030101010101" pitchFamily="2" charset="-122"/>
              </a:rPr>
              <a:t>0.4</a:t>
            </a:r>
            <a:r>
              <a:rPr lang="zh-CN" altLang="en-US" sz="2000">
                <a:ea typeface="宋体" panose="02010600030101010101" pitchFamily="2" charset="-122"/>
              </a:rPr>
              <a:t> * </a:t>
            </a:r>
            <a:r>
              <a:rPr lang="en-US" altLang="zh-CN" sz="2000">
                <a:ea typeface="宋体" panose="02010600030101010101" pitchFamily="2" charset="-122"/>
              </a:rPr>
              <a:t>0.6</a:t>
            </a:r>
            <a:r>
              <a:rPr lang="zh-CN" altLang="en-US" sz="2000">
                <a:ea typeface="宋体" panose="02010600030101010101" pitchFamily="2" charset="-122"/>
              </a:rPr>
              <a:t> * </a:t>
            </a:r>
            <a:r>
              <a:rPr lang="en-US" altLang="zh-CN" sz="2000">
                <a:ea typeface="宋体" panose="02010600030101010101" pitchFamily="2" charset="-122"/>
              </a:rPr>
              <a:t>0.2</a:t>
            </a:r>
            <a:r>
              <a:rPr lang="zh-CN" altLang="en-US" sz="2000">
                <a:ea typeface="宋体" panose="02010600030101010101" pitchFamily="2" charset="-122"/>
              </a:rPr>
              <a:t> </a:t>
            </a:r>
            <a:r>
              <a:rPr lang="en-US" altLang="zh-CN" sz="2000">
                <a:ea typeface="宋体" panose="02010600030101010101" pitchFamily="2" charset="-122"/>
              </a:rPr>
              <a:t>=</a:t>
            </a:r>
            <a:r>
              <a:rPr lang="zh-CN" altLang="en-US" sz="2000">
                <a:ea typeface="宋体" panose="02010600030101010101" pitchFamily="2" charset="-122"/>
              </a:rPr>
              <a:t> </a:t>
            </a:r>
            <a:r>
              <a:rPr lang="en-US" altLang="zh-CN" sz="2000">
                <a:ea typeface="宋体" panose="02010600030101010101" pitchFamily="2" charset="-122"/>
              </a:rPr>
              <a:t>0.048</a:t>
            </a:r>
            <a:endParaRPr lang="en-US" altLang="zh-CN" sz="2000">
              <a:ea typeface="宋体" panose="02010600030101010101" pitchFamily="2" charset="-122"/>
            </a:endParaRPr>
          </a:p>
          <a:p>
            <a:pPr>
              <a:buNone/>
            </a:pPr>
            <a:endParaRPr lang="en-US" altLang="zh-CN" sz="2000">
              <a:ea typeface="宋体" panose="02010600030101010101" pitchFamily="2" charset="-122"/>
            </a:endParaRPr>
          </a:p>
          <a:p>
            <a:pPr>
              <a:buNone/>
            </a:pPr>
            <a:r>
              <a:rPr lang="en-US" altLang="zh-CN" sz="2000">
                <a:solidFill>
                  <a:srgbClr val="7030A0"/>
                </a:solidFill>
                <a:ea typeface="宋体" panose="02010600030101010101" pitchFamily="2" charset="-122"/>
              </a:rPr>
              <a:t>P(</a:t>
            </a:r>
            <a:r>
              <a:rPr lang="zh-CN" altLang="en-US" sz="2000">
                <a:solidFill>
                  <a:srgbClr val="7030A0"/>
                </a:solidFill>
                <a:ea typeface="宋体" panose="02010600030101010101" pitchFamily="2" charset="-122"/>
              </a:rPr>
              <a:t>有病</a:t>
            </a:r>
            <a:r>
              <a:rPr lang="en-US" altLang="zh-CN" sz="2000">
                <a:solidFill>
                  <a:srgbClr val="7030A0"/>
                </a:solidFill>
                <a:ea typeface="宋体" panose="02010600030101010101" pitchFamily="2" charset="-122"/>
              </a:rPr>
              <a:t>,</a:t>
            </a:r>
            <a:r>
              <a:rPr lang="zh-CN" altLang="en-US" sz="2000">
                <a:solidFill>
                  <a:srgbClr val="7030A0"/>
                </a:solidFill>
                <a:ea typeface="宋体" panose="02010600030101010101" pitchFamily="2" charset="-122"/>
              </a:rPr>
              <a:t>有史</a:t>
            </a:r>
            <a:r>
              <a:rPr lang="en-US" altLang="zh-CN" sz="2000">
                <a:solidFill>
                  <a:srgbClr val="7030A0"/>
                </a:solidFill>
                <a:ea typeface="宋体" panose="02010600030101010101" pitchFamily="2" charset="-122"/>
              </a:rPr>
              <a:t>,</a:t>
            </a:r>
            <a:r>
              <a:rPr lang="zh-CN" altLang="en-US" sz="2000">
                <a:solidFill>
                  <a:srgbClr val="7030A0"/>
                </a:solidFill>
                <a:ea typeface="宋体" panose="02010600030101010101" pitchFamily="2" charset="-122"/>
              </a:rPr>
              <a:t>有脂</a:t>
            </a:r>
            <a:r>
              <a:rPr lang="en-US" altLang="zh-CN" sz="2000">
                <a:ea typeface="宋体" panose="02010600030101010101" pitchFamily="2" charset="-122"/>
              </a:rPr>
              <a:t>)=P(</a:t>
            </a:r>
            <a:r>
              <a:rPr lang="zh-CN" altLang="en-US" sz="2000">
                <a:ea typeface="宋体" panose="02010600030101010101" pitchFamily="2" charset="-122"/>
              </a:rPr>
              <a:t>有病</a:t>
            </a:r>
            <a:r>
              <a:rPr lang="en-US" altLang="zh-CN" sz="2000">
                <a:ea typeface="宋体" panose="02010600030101010101" pitchFamily="2" charset="-122"/>
              </a:rPr>
              <a:t>|</a:t>
            </a:r>
            <a:r>
              <a:rPr lang="zh-CN" altLang="en-US" sz="2000">
                <a:ea typeface="宋体" panose="02010600030101010101" pitchFamily="2" charset="-122"/>
              </a:rPr>
              <a:t>有史</a:t>
            </a:r>
            <a:r>
              <a:rPr lang="en-US" altLang="zh-CN" sz="2000">
                <a:ea typeface="宋体" panose="02010600030101010101" pitchFamily="2" charset="-122"/>
              </a:rPr>
              <a:t>,</a:t>
            </a:r>
            <a:r>
              <a:rPr lang="zh-CN" altLang="en-US" sz="2000">
                <a:ea typeface="宋体" panose="02010600030101010101" pitchFamily="2" charset="-122"/>
              </a:rPr>
              <a:t>有脂</a:t>
            </a:r>
            <a:r>
              <a:rPr lang="en-US" altLang="zh-CN" sz="2000">
                <a:ea typeface="宋体" panose="02010600030101010101" pitchFamily="2" charset="-122"/>
              </a:rPr>
              <a:t>) P(</a:t>
            </a:r>
            <a:r>
              <a:rPr lang="zh-CN" altLang="en-US" sz="2000">
                <a:ea typeface="宋体" panose="02010600030101010101" pitchFamily="2" charset="-122"/>
              </a:rPr>
              <a:t>有脂</a:t>
            </a:r>
            <a:r>
              <a:rPr lang="en-US" altLang="zh-CN" sz="2000">
                <a:ea typeface="宋体" panose="02010600030101010101" pitchFamily="2" charset="-122"/>
              </a:rPr>
              <a:t>|</a:t>
            </a:r>
            <a:r>
              <a:rPr lang="zh-CN" altLang="en-US" sz="2000">
                <a:ea typeface="宋体" panose="02010600030101010101" pitchFamily="2" charset="-122"/>
              </a:rPr>
              <a:t>有史</a:t>
            </a:r>
            <a:r>
              <a:rPr lang="en-US" altLang="zh-CN" sz="2000">
                <a:ea typeface="宋体" panose="02010600030101010101" pitchFamily="2" charset="-122"/>
              </a:rPr>
              <a:t>) P(</a:t>
            </a:r>
            <a:r>
              <a:rPr lang="zh-CN" altLang="en-US" sz="2000">
                <a:ea typeface="宋体" panose="02010600030101010101" pitchFamily="2" charset="-122"/>
              </a:rPr>
              <a:t>有史</a:t>
            </a:r>
            <a:r>
              <a:rPr lang="en-US" altLang="zh-CN" sz="2000">
                <a:ea typeface="宋体" panose="02010600030101010101" pitchFamily="2" charset="-122"/>
              </a:rPr>
              <a:t>)</a:t>
            </a:r>
            <a:r>
              <a:rPr lang="zh-CN" altLang="en-US" sz="2000">
                <a:ea typeface="宋体" panose="02010600030101010101" pitchFamily="2" charset="-122"/>
              </a:rPr>
              <a:t> </a:t>
            </a:r>
            <a:r>
              <a:rPr lang="en-US" altLang="zh-CN" sz="2000">
                <a:ea typeface="宋体" panose="02010600030101010101" pitchFamily="2" charset="-122"/>
              </a:rPr>
              <a:t>=</a:t>
            </a:r>
            <a:r>
              <a:rPr lang="zh-CN" altLang="en-US" sz="2000">
                <a:ea typeface="宋体" panose="02010600030101010101" pitchFamily="2" charset="-122"/>
              </a:rPr>
              <a:t> </a:t>
            </a:r>
            <a:r>
              <a:rPr lang="en-US" altLang="zh-CN" sz="2000">
                <a:ea typeface="宋体" panose="02010600030101010101" pitchFamily="2" charset="-122"/>
              </a:rPr>
              <a:t>0.9</a:t>
            </a:r>
            <a:r>
              <a:rPr lang="zh-CN" altLang="en-US" sz="2000">
                <a:ea typeface="宋体" panose="02010600030101010101" pitchFamily="2" charset="-122"/>
              </a:rPr>
              <a:t> * </a:t>
            </a:r>
            <a:r>
              <a:rPr lang="en-US" altLang="zh-CN" sz="2000">
                <a:ea typeface="宋体" panose="02010600030101010101" pitchFamily="2" charset="-122"/>
              </a:rPr>
              <a:t>0.4</a:t>
            </a:r>
            <a:r>
              <a:rPr lang="zh-CN" altLang="en-US" sz="2000">
                <a:ea typeface="宋体" panose="02010600030101010101" pitchFamily="2" charset="-122"/>
              </a:rPr>
              <a:t> * </a:t>
            </a:r>
            <a:r>
              <a:rPr lang="en-US" altLang="zh-CN" sz="2000">
                <a:ea typeface="宋体" panose="02010600030101010101" pitchFamily="2" charset="-122"/>
              </a:rPr>
              <a:t>0.2</a:t>
            </a:r>
            <a:r>
              <a:rPr lang="zh-CN" altLang="en-US" sz="2000">
                <a:ea typeface="宋体" panose="02010600030101010101" pitchFamily="2" charset="-122"/>
              </a:rPr>
              <a:t> </a:t>
            </a:r>
            <a:r>
              <a:rPr lang="en-US" altLang="zh-CN" sz="2000">
                <a:ea typeface="宋体" panose="02010600030101010101" pitchFamily="2" charset="-122"/>
              </a:rPr>
              <a:t>=</a:t>
            </a:r>
            <a:r>
              <a:rPr lang="zh-CN" altLang="en-US" sz="2000">
                <a:ea typeface="宋体" panose="02010600030101010101" pitchFamily="2" charset="-122"/>
              </a:rPr>
              <a:t> </a:t>
            </a:r>
            <a:r>
              <a:rPr lang="en-US" altLang="zh-CN" sz="2000">
                <a:ea typeface="宋体" panose="02010600030101010101" pitchFamily="2" charset="-122"/>
              </a:rPr>
              <a:t>0.072</a:t>
            </a:r>
            <a:endParaRPr lang="zh-CN" altLang="en-US" sz="2000">
              <a:ea typeface="宋体" panose="02010600030101010101" pitchFamily="2" charset="-122"/>
            </a:endParaRPr>
          </a:p>
          <a:p>
            <a:pPr>
              <a:buNone/>
            </a:pPr>
            <a:endParaRPr lang="zh-CN" altLang="en-US">
              <a:ea typeface="宋体" panose="02010600030101010101" pitchFamily="2" charset="-122"/>
            </a:endParaRPr>
          </a:p>
        </p:txBody>
      </p:sp>
      <p:sp>
        <p:nvSpPr>
          <p:cNvPr id="64515"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4516" name="灯片编号占位符 4"/>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ln/>
        </p:spPr>
        <p:txBody>
          <a:bodyPr vert="horz" wrap="square" lIns="91440" tIns="45720" rIns="91440" bIns="45720" anchor="b" anchorCtr="0"/>
          <a:p>
            <a:r>
              <a:rPr lang="zh-CN" altLang="en-US">
                <a:ea typeface="宋体" panose="02010600030101010101" pitchFamily="2" charset="-122"/>
              </a:rPr>
              <a:t>贝叶斯信念网络</a:t>
            </a:r>
            <a:endParaRPr lang="zh-CN" altLang="en-US">
              <a:ea typeface="宋体" panose="02010600030101010101" pitchFamily="2" charset="-122"/>
            </a:endParaRPr>
          </a:p>
        </p:txBody>
      </p:sp>
      <p:sp>
        <p:nvSpPr>
          <p:cNvPr id="65538" name="内容占位符 2"/>
          <p:cNvSpPr>
            <a:spLocks noGrp="1"/>
          </p:cNvSpPr>
          <p:nvPr>
            <p:ph idx="1"/>
          </p:nvPr>
        </p:nvSpPr>
        <p:spPr>
          <a:xfrm>
            <a:off x="152400" y="1371600"/>
            <a:ext cx="9220200" cy="5105400"/>
          </a:xfrm>
          <a:ln/>
        </p:spPr>
        <p:txBody>
          <a:bodyPr vert="horz" wrap="square" lIns="91440" tIns="45720" rIns="91440" bIns="45720" anchor="t" anchorCtr="0"/>
          <a:p>
            <a:r>
              <a:rPr lang="zh-CN" altLang="en-US">
                <a:ea typeface="宋体" panose="02010600030101010101" pitchFamily="2" charset="-122"/>
              </a:rPr>
              <a:t>如果想要通过这个网络计算得心血管疾病的概率，则：</a:t>
            </a:r>
            <a:endParaRPr lang="en-US" altLang="zh-CN">
              <a:ea typeface="宋体" panose="02010600030101010101" pitchFamily="2" charset="-122"/>
            </a:endParaRPr>
          </a:p>
          <a:p>
            <a:endParaRPr lang="en-US" altLang="zh-CN">
              <a:ea typeface="宋体" panose="02010600030101010101" pitchFamily="2" charset="-122"/>
            </a:endParaRPr>
          </a:p>
          <a:p>
            <a:pPr>
              <a:buNone/>
            </a:pPr>
            <a:r>
              <a:rPr lang="en-US" altLang="zh-CN">
                <a:ea typeface="宋体" panose="02010600030101010101" pitchFamily="2" charset="-122"/>
              </a:rPr>
              <a:t>P(</a:t>
            </a:r>
            <a:r>
              <a:rPr lang="zh-CN" altLang="en-US">
                <a:ea typeface="宋体" panose="02010600030101010101" pitchFamily="2" charset="-122"/>
              </a:rPr>
              <a:t>心血管疾病</a:t>
            </a:r>
            <a:r>
              <a:rPr lang="en-US" altLang="zh-CN">
                <a:ea typeface="宋体" panose="02010600030101010101" pitchFamily="2" charset="-122"/>
              </a:rPr>
              <a:t>)</a:t>
            </a:r>
            <a:endParaRPr lang="en-US" altLang="zh-CN">
              <a:ea typeface="宋体" panose="02010600030101010101" pitchFamily="2" charset="-122"/>
            </a:endParaRPr>
          </a:p>
          <a:p>
            <a:pPr>
              <a:buNone/>
            </a:pPr>
            <a:r>
              <a:rPr lang="en-US" altLang="zh-CN">
                <a:ea typeface="宋体" panose="02010600030101010101" pitchFamily="2" charset="-122"/>
              </a:rPr>
              <a:t>= P(</a:t>
            </a:r>
            <a:r>
              <a:rPr lang="zh-CN" altLang="en-US">
                <a:ea typeface="宋体" panose="02010600030101010101" pitchFamily="2" charset="-122"/>
              </a:rPr>
              <a:t>有心血管疾病</a:t>
            </a:r>
            <a:r>
              <a:rPr lang="en-US" altLang="zh-CN">
                <a:ea typeface="宋体" panose="02010600030101010101" pitchFamily="2" charset="-122"/>
              </a:rPr>
              <a:t>,</a:t>
            </a:r>
            <a:r>
              <a:rPr lang="zh-CN" altLang="en-US">
                <a:solidFill>
                  <a:srgbClr val="FF0000"/>
                </a:solidFill>
                <a:ea typeface="宋体" panose="02010600030101010101" pitchFamily="2" charset="-122"/>
              </a:rPr>
              <a:t>有</a:t>
            </a:r>
            <a:r>
              <a:rPr lang="zh-CN" altLang="en-US">
                <a:ea typeface="宋体" panose="02010600030101010101" pitchFamily="2" charset="-122"/>
              </a:rPr>
              <a:t>家族病史</a:t>
            </a:r>
            <a:r>
              <a:rPr lang="en-US" altLang="zh-CN">
                <a:ea typeface="宋体" panose="02010600030101010101" pitchFamily="2" charset="-122"/>
              </a:rPr>
              <a:t>,</a:t>
            </a:r>
            <a:r>
              <a:rPr lang="zh-CN" altLang="en-US">
                <a:solidFill>
                  <a:srgbClr val="FF0000"/>
                </a:solidFill>
                <a:ea typeface="宋体" panose="02010600030101010101" pitchFamily="2" charset="-122"/>
              </a:rPr>
              <a:t>有</a:t>
            </a:r>
            <a:r>
              <a:rPr lang="zh-CN" altLang="en-US">
                <a:ea typeface="宋体" panose="02010600030101010101" pitchFamily="2" charset="-122"/>
              </a:rPr>
              <a:t>高血脂</a:t>
            </a:r>
            <a:r>
              <a:rPr lang="en-US" altLang="zh-CN">
                <a:ea typeface="宋体" panose="02010600030101010101" pitchFamily="2" charset="-122"/>
              </a:rPr>
              <a:t>)</a:t>
            </a:r>
            <a:endParaRPr lang="en-US" altLang="zh-CN">
              <a:ea typeface="宋体" panose="02010600030101010101" pitchFamily="2" charset="-122"/>
            </a:endParaRPr>
          </a:p>
          <a:p>
            <a:pPr>
              <a:buNone/>
            </a:pPr>
            <a:r>
              <a:rPr lang="en-US" altLang="zh-CN">
                <a:ea typeface="宋体" panose="02010600030101010101" pitchFamily="2" charset="-122"/>
              </a:rPr>
              <a:t>+ P(</a:t>
            </a:r>
            <a:r>
              <a:rPr lang="zh-CN" altLang="en-US">
                <a:ea typeface="宋体" panose="02010600030101010101" pitchFamily="2" charset="-122"/>
              </a:rPr>
              <a:t>有心血管疾病</a:t>
            </a:r>
            <a:r>
              <a:rPr lang="en-US" altLang="zh-CN">
                <a:ea typeface="宋体" panose="02010600030101010101" pitchFamily="2" charset="-122"/>
              </a:rPr>
              <a:t>,</a:t>
            </a:r>
            <a:r>
              <a:rPr lang="zh-CN" altLang="en-US">
                <a:solidFill>
                  <a:srgbClr val="00B0F0"/>
                </a:solidFill>
                <a:ea typeface="宋体" panose="02010600030101010101" pitchFamily="2" charset="-122"/>
              </a:rPr>
              <a:t>有</a:t>
            </a:r>
            <a:r>
              <a:rPr lang="zh-CN" altLang="en-US">
                <a:ea typeface="宋体" panose="02010600030101010101" pitchFamily="2" charset="-122"/>
              </a:rPr>
              <a:t>家族病史</a:t>
            </a:r>
            <a:r>
              <a:rPr lang="en-US" altLang="zh-CN">
                <a:ea typeface="宋体" panose="02010600030101010101" pitchFamily="2" charset="-122"/>
              </a:rPr>
              <a:t>, </a:t>
            </a:r>
            <a:r>
              <a:rPr lang="zh-CN" altLang="en-US">
                <a:solidFill>
                  <a:srgbClr val="00B0F0"/>
                </a:solidFill>
                <a:ea typeface="宋体" panose="02010600030101010101" pitchFamily="2" charset="-122"/>
              </a:rPr>
              <a:t>无</a:t>
            </a:r>
            <a:r>
              <a:rPr lang="zh-CN" altLang="en-US">
                <a:ea typeface="宋体" panose="02010600030101010101" pitchFamily="2" charset="-122"/>
              </a:rPr>
              <a:t>高血脂</a:t>
            </a:r>
            <a:r>
              <a:rPr lang="en-US" altLang="zh-CN">
                <a:ea typeface="宋体" panose="02010600030101010101" pitchFamily="2" charset="-122"/>
              </a:rPr>
              <a:t>)</a:t>
            </a:r>
            <a:endParaRPr lang="en-US" altLang="zh-CN">
              <a:ea typeface="宋体" panose="02010600030101010101" pitchFamily="2" charset="-122"/>
            </a:endParaRPr>
          </a:p>
          <a:p>
            <a:pPr>
              <a:buNone/>
            </a:pPr>
            <a:r>
              <a:rPr lang="en-US" altLang="zh-CN">
                <a:ea typeface="宋体" panose="02010600030101010101" pitchFamily="2" charset="-122"/>
              </a:rPr>
              <a:t>+ P(</a:t>
            </a:r>
            <a:r>
              <a:rPr lang="zh-CN" altLang="en-US">
                <a:ea typeface="宋体" panose="02010600030101010101" pitchFamily="2" charset="-122"/>
              </a:rPr>
              <a:t>有心血管疾病</a:t>
            </a:r>
            <a:r>
              <a:rPr lang="en-US" altLang="zh-CN">
                <a:ea typeface="宋体" panose="02010600030101010101" pitchFamily="2" charset="-122"/>
              </a:rPr>
              <a:t>,</a:t>
            </a:r>
            <a:r>
              <a:rPr lang="zh-CN" altLang="en-US">
                <a:solidFill>
                  <a:srgbClr val="FF0000"/>
                </a:solidFill>
                <a:ea typeface="宋体" panose="02010600030101010101" pitchFamily="2" charset="-122"/>
              </a:rPr>
              <a:t>无</a:t>
            </a:r>
            <a:r>
              <a:rPr lang="zh-CN" altLang="en-US">
                <a:ea typeface="宋体" panose="02010600030101010101" pitchFamily="2" charset="-122"/>
              </a:rPr>
              <a:t>家族病史</a:t>
            </a:r>
            <a:r>
              <a:rPr lang="en-US" altLang="zh-CN">
                <a:ea typeface="宋体" panose="02010600030101010101" pitchFamily="2" charset="-122"/>
              </a:rPr>
              <a:t>,</a:t>
            </a:r>
            <a:r>
              <a:rPr lang="zh-CN" altLang="en-US">
                <a:solidFill>
                  <a:srgbClr val="FF0000"/>
                </a:solidFill>
                <a:ea typeface="宋体" panose="02010600030101010101" pitchFamily="2" charset="-122"/>
              </a:rPr>
              <a:t>有</a:t>
            </a:r>
            <a:r>
              <a:rPr lang="zh-CN" altLang="en-US">
                <a:ea typeface="宋体" panose="02010600030101010101" pitchFamily="2" charset="-122"/>
              </a:rPr>
              <a:t>高血脂</a:t>
            </a:r>
            <a:r>
              <a:rPr lang="en-US" altLang="zh-CN">
                <a:ea typeface="宋体" panose="02010600030101010101" pitchFamily="2" charset="-122"/>
              </a:rPr>
              <a:t>)</a:t>
            </a:r>
            <a:endParaRPr lang="en-US" altLang="zh-CN">
              <a:ea typeface="宋体" panose="02010600030101010101" pitchFamily="2" charset="-122"/>
            </a:endParaRPr>
          </a:p>
          <a:p>
            <a:pPr>
              <a:buNone/>
            </a:pPr>
            <a:r>
              <a:rPr lang="en-US" altLang="zh-CN">
                <a:ea typeface="宋体" panose="02010600030101010101" pitchFamily="2" charset="-122"/>
              </a:rPr>
              <a:t>+ P(</a:t>
            </a:r>
            <a:r>
              <a:rPr lang="zh-CN" altLang="en-US">
                <a:ea typeface="宋体" panose="02010600030101010101" pitchFamily="2" charset="-122"/>
              </a:rPr>
              <a:t>有心血管疾病</a:t>
            </a:r>
            <a:r>
              <a:rPr lang="en-US" altLang="zh-CN">
                <a:ea typeface="宋体" panose="02010600030101010101" pitchFamily="2" charset="-122"/>
              </a:rPr>
              <a:t>,</a:t>
            </a:r>
            <a:r>
              <a:rPr lang="zh-CN" altLang="en-US">
                <a:solidFill>
                  <a:srgbClr val="0070C0"/>
                </a:solidFill>
                <a:ea typeface="宋体" panose="02010600030101010101" pitchFamily="2" charset="-122"/>
              </a:rPr>
              <a:t>无</a:t>
            </a:r>
            <a:r>
              <a:rPr lang="zh-CN" altLang="en-US">
                <a:ea typeface="宋体" panose="02010600030101010101" pitchFamily="2" charset="-122"/>
              </a:rPr>
              <a:t>家族病史</a:t>
            </a:r>
            <a:r>
              <a:rPr lang="en-US" altLang="zh-CN">
                <a:ea typeface="宋体" panose="02010600030101010101" pitchFamily="2" charset="-122"/>
              </a:rPr>
              <a:t>,</a:t>
            </a:r>
            <a:r>
              <a:rPr lang="zh-CN" altLang="en-US">
                <a:solidFill>
                  <a:srgbClr val="0070C0"/>
                </a:solidFill>
                <a:ea typeface="宋体" panose="02010600030101010101" pitchFamily="2" charset="-122"/>
              </a:rPr>
              <a:t>无</a:t>
            </a:r>
            <a:r>
              <a:rPr lang="zh-CN" altLang="en-US">
                <a:ea typeface="宋体" panose="02010600030101010101" pitchFamily="2" charset="-122"/>
              </a:rPr>
              <a:t>高血脂</a:t>
            </a:r>
            <a:r>
              <a:rPr lang="en-US" altLang="zh-CN">
                <a:ea typeface="宋体" panose="02010600030101010101" pitchFamily="2" charset="-122"/>
              </a:rPr>
              <a:t>)+ </a:t>
            </a:r>
            <a:endParaRPr lang="zh-CN" altLang="en-US">
              <a:ea typeface="宋体" panose="02010600030101010101" pitchFamily="2" charset="-122"/>
            </a:endParaRPr>
          </a:p>
        </p:txBody>
      </p:sp>
      <p:sp>
        <p:nvSpPr>
          <p:cNvPr id="65539"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5540" name="灯片编号占位符 4"/>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a:ln/>
        </p:spPr>
        <p:txBody>
          <a:bodyPr vert="horz" wrap="square" lIns="91440" tIns="45720" rIns="91440" bIns="45720" anchor="b" anchorCtr="0"/>
          <a:p>
            <a:r>
              <a:rPr lang="zh-CN" altLang="en-US">
                <a:ea typeface="宋体" panose="02010600030101010101" pitchFamily="2" charset="-122"/>
              </a:rPr>
              <a:t>贝叶斯信念网络</a:t>
            </a:r>
            <a:endParaRPr lang="zh-CN" altLang="en-US">
              <a:ea typeface="宋体" panose="02010600030101010101" pitchFamily="2" charset="-122"/>
            </a:endParaRPr>
          </a:p>
        </p:txBody>
      </p:sp>
      <p:sp>
        <p:nvSpPr>
          <p:cNvPr id="66562"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6563" name="灯片编号占位符 4"/>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66564" name="TextBox 6"/>
          <p:cNvSpPr txBox="1"/>
          <p:nvPr/>
        </p:nvSpPr>
        <p:spPr>
          <a:xfrm>
            <a:off x="3651250" y="2667000"/>
            <a:ext cx="1828800" cy="46196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zh-CN" altLang="en-US" sz="2400">
                <a:ea typeface="宋体" panose="02010600030101010101" pitchFamily="2" charset="-122"/>
              </a:rPr>
              <a:t>网络结构</a:t>
            </a:r>
            <a:endParaRPr lang="zh-CN" altLang="en-US" sz="2400">
              <a:ea typeface="宋体" panose="02010600030101010101" pitchFamily="2" charset="-122"/>
            </a:endParaRPr>
          </a:p>
        </p:txBody>
      </p:sp>
      <p:sp>
        <p:nvSpPr>
          <p:cNvPr id="66565" name="TextBox 7"/>
          <p:cNvSpPr txBox="1"/>
          <p:nvPr/>
        </p:nvSpPr>
        <p:spPr>
          <a:xfrm>
            <a:off x="990600" y="3200400"/>
            <a:ext cx="1447800" cy="46196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zh-CN" altLang="en-US" sz="2400">
                <a:ea typeface="宋体" panose="02010600030101010101" pitchFamily="2" charset="-122"/>
              </a:rPr>
              <a:t>训练集</a:t>
            </a:r>
            <a:endParaRPr lang="zh-CN" altLang="en-US" sz="2400">
              <a:ea typeface="宋体" panose="02010600030101010101" pitchFamily="2" charset="-122"/>
            </a:endParaRPr>
          </a:p>
        </p:txBody>
      </p:sp>
      <p:sp>
        <p:nvSpPr>
          <p:cNvPr id="66566" name="TextBox 8"/>
          <p:cNvSpPr txBox="1"/>
          <p:nvPr/>
        </p:nvSpPr>
        <p:spPr>
          <a:xfrm>
            <a:off x="3651250" y="3657600"/>
            <a:ext cx="1828800" cy="461963"/>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zh-CN" altLang="en-US" sz="2400">
                <a:ea typeface="宋体" panose="02010600030101010101" pitchFamily="2" charset="-122"/>
              </a:rPr>
              <a:t>条件概率表</a:t>
            </a:r>
            <a:endParaRPr lang="zh-CN" altLang="en-US" sz="2400">
              <a:ea typeface="宋体" panose="02010600030101010101" pitchFamily="2" charset="-122"/>
            </a:endParaRPr>
          </a:p>
        </p:txBody>
      </p:sp>
      <p:sp>
        <p:nvSpPr>
          <p:cNvPr id="66567" name="TextBox 9"/>
          <p:cNvSpPr txBox="1"/>
          <p:nvPr/>
        </p:nvSpPr>
        <p:spPr>
          <a:xfrm>
            <a:off x="6934200" y="3021013"/>
            <a:ext cx="1524000" cy="830262"/>
          </a:xfrm>
          <a:prstGeom prst="rect">
            <a:avLst/>
          </a:prstGeom>
          <a:noFill/>
          <a:ln w="127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eaLnBrk="1" hangingPunct="1">
              <a:spcBef>
                <a:spcPct val="0"/>
              </a:spcBef>
              <a:buClrTx/>
              <a:buSzTx/>
              <a:buFontTx/>
              <a:buNone/>
            </a:pPr>
            <a:r>
              <a:rPr lang="zh-CN" altLang="en-US" sz="2400">
                <a:ea typeface="宋体" panose="02010600030101010101" pitchFamily="2" charset="-122"/>
              </a:rPr>
              <a:t>事件发生的概率</a:t>
            </a:r>
            <a:endParaRPr lang="zh-CN" altLang="en-US" sz="2400">
              <a:ea typeface="宋体" panose="02010600030101010101" pitchFamily="2" charset="-122"/>
            </a:endParaRPr>
          </a:p>
        </p:txBody>
      </p:sp>
      <p:sp>
        <p:nvSpPr>
          <p:cNvPr id="66568" name="矩形 10"/>
          <p:cNvSpPr/>
          <p:nvPr/>
        </p:nvSpPr>
        <p:spPr>
          <a:xfrm>
            <a:off x="3581400" y="2209800"/>
            <a:ext cx="1981200" cy="2438400"/>
          </a:xfrm>
          <a:prstGeom prst="rect">
            <a:avLst/>
          </a:prstGeom>
          <a:noFill/>
          <a:ln w="9525" cap="flat" cmpd="sng">
            <a:solidFill>
              <a:schemeClr val="tx1"/>
            </a:solidFill>
            <a:prstDash val="sysDash"/>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endParaRPr lang="zh-CN" altLang="en-US" sz="2400">
              <a:ea typeface="宋体" panose="02010600030101010101" pitchFamily="2" charset="-122"/>
            </a:endParaRPr>
          </a:p>
        </p:txBody>
      </p:sp>
      <p:cxnSp>
        <p:nvCxnSpPr>
          <p:cNvPr id="66569" name="直接箭头连接符 12"/>
          <p:cNvCxnSpPr>
            <a:stCxn id="66565" idx="3"/>
            <a:endCxn id="66568" idx="1"/>
          </p:cNvCxnSpPr>
          <p:nvPr/>
        </p:nvCxnSpPr>
        <p:spPr>
          <a:xfrm flipV="1">
            <a:off x="2438400" y="3429000"/>
            <a:ext cx="1143000" cy="3175"/>
          </a:xfrm>
          <a:prstGeom prst="straightConnector1">
            <a:avLst/>
          </a:prstGeom>
          <a:ln w="9525" cap="flat" cmpd="sng">
            <a:solidFill>
              <a:schemeClr val="tx1"/>
            </a:solidFill>
            <a:prstDash val="solid"/>
            <a:miter/>
            <a:headEnd type="none" w="med" len="med"/>
            <a:tailEnd type="arrow" w="med" len="med"/>
          </a:ln>
        </p:spPr>
      </p:cxnSp>
      <p:cxnSp>
        <p:nvCxnSpPr>
          <p:cNvPr id="66570" name="直接箭头连接符 14"/>
          <p:cNvCxnSpPr>
            <a:stCxn id="66568" idx="3"/>
            <a:endCxn id="66567" idx="1"/>
          </p:cNvCxnSpPr>
          <p:nvPr/>
        </p:nvCxnSpPr>
        <p:spPr>
          <a:xfrm>
            <a:off x="5562600" y="3429000"/>
            <a:ext cx="1371600" cy="7938"/>
          </a:xfrm>
          <a:prstGeom prst="straightConnector1">
            <a:avLst/>
          </a:prstGeom>
          <a:ln w="9525" cap="flat" cmpd="sng">
            <a:solidFill>
              <a:schemeClr val="tx1"/>
            </a:solidFill>
            <a:prstDash val="solid"/>
            <a:miter/>
            <a:headEnd type="none" w="med" len="med"/>
            <a:tailEnd type="arrow" w="med" len="med"/>
          </a:ln>
        </p:spPr>
      </p:cxnSp>
      <p:sp>
        <p:nvSpPr>
          <p:cNvPr id="66571" name="TextBox 15"/>
          <p:cNvSpPr txBox="1"/>
          <p:nvPr/>
        </p:nvSpPr>
        <p:spPr>
          <a:xfrm>
            <a:off x="2590800" y="2895600"/>
            <a:ext cx="838200" cy="15700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lang="zh-CN" altLang="en-US" sz="2400">
                <a:solidFill>
                  <a:srgbClr val="FF0000"/>
                </a:solidFill>
                <a:ea typeface="宋体" panose="02010600030101010101" pitchFamily="2" charset="-122"/>
              </a:rPr>
              <a:t>学习</a:t>
            </a:r>
            <a:endParaRPr lang="en-US" altLang="zh-CN" sz="2400">
              <a:solidFill>
                <a:srgbClr val="FF0000"/>
              </a:solidFill>
              <a:ea typeface="宋体" panose="02010600030101010101" pitchFamily="2" charset="-122"/>
            </a:endParaRPr>
          </a:p>
          <a:p>
            <a:pPr marL="0" lvl="0" indent="0" eaLnBrk="1" hangingPunct="1">
              <a:spcBef>
                <a:spcPct val="0"/>
              </a:spcBef>
              <a:buClrTx/>
              <a:buSzTx/>
              <a:buFontTx/>
              <a:buNone/>
            </a:pPr>
            <a:endParaRPr lang="en-US" altLang="zh-CN" sz="2400">
              <a:solidFill>
                <a:srgbClr val="FF0000"/>
              </a:solidFill>
              <a:ea typeface="宋体" panose="02010600030101010101" pitchFamily="2" charset="-122"/>
            </a:endParaRPr>
          </a:p>
          <a:p>
            <a:pPr marL="0" lvl="0" indent="0" eaLnBrk="1" hangingPunct="1">
              <a:spcBef>
                <a:spcPct val="0"/>
              </a:spcBef>
              <a:buClrTx/>
              <a:buSzTx/>
              <a:buFontTx/>
              <a:buNone/>
            </a:pPr>
            <a:r>
              <a:rPr lang="en-US" altLang="zh-CN" sz="2400">
                <a:solidFill>
                  <a:srgbClr val="FF0000"/>
                </a:solidFill>
                <a:ea typeface="宋体" panose="02010600030101010101" pitchFamily="2" charset="-122"/>
              </a:rPr>
              <a:t>NP-hard</a:t>
            </a:r>
            <a:endParaRPr lang="zh-CN" altLang="en-US" sz="2400">
              <a:solidFill>
                <a:srgbClr val="FF0000"/>
              </a:solidFill>
              <a:ea typeface="宋体" panose="02010600030101010101" pitchFamily="2" charset="-122"/>
            </a:endParaRPr>
          </a:p>
        </p:txBody>
      </p:sp>
      <p:sp>
        <p:nvSpPr>
          <p:cNvPr id="66572" name="TextBox 16"/>
          <p:cNvSpPr txBox="1"/>
          <p:nvPr/>
        </p:nvSpPr>
        <p:spPr>
          <a:xfrm>
            <a:off x="5867400" y="2895600"/>
            <a:ext cx="914400" cy="15700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lang="zh-CN" altLang="en-US" sz="2400">
                <a:solidFill>
                  <a:srgbClr val="FF0000"/>
                </a:solidFill>
                <a:ea typeface="宋体" panose="02010600030101010101" pitchFamily="2" charset="-122"/>
              </a:rPr>
              <a:t>推断</a:t>
            </a:r>
            <a:endParaRPr lang="en-US" altLang="zh-CN" sz="2400">
              <a:solidFill>
                <a:srgbClr val="FF0000"/>
              </a:solidFill>
              <a:ea typeface="宋体" panose="02010600030101010101" pitchFamily="2" charset="-122"/>
            </a:endParaRPr>
          </a:p>
          <a:p>
            <a:pPr marL="0" lvl="0" indent="0" eaLnBrk="1" hangingPunct="1">
              <a:spcBef>
                <a:spcPct val="0"/>
              </a:spcBef>
              <a:buClrTx/>
              <a:buSzTx/>
              <a:buFontTx/>
              <a:buNone/>
            </a:pPr>
            <a:endParaRPr lang="en-US" altLang="zh-CN" sz="2400">
              <a:solidFill>
                <a:srgbClr val="FF0000"/>
              </a:solidFill>
              <a:ea typeface="宋体" panose="02010600030101010101" pitchFamily="2" charset="-122"/>
            </a:endParaRPr>
          </a:p>
          <a:p>
            <a:pPr marL="0" lvl="0" indent="0" eaLnBrk="1" hangingPunct="1">
              <a:spcBef>
                <a:spcPct val="0"/>
              </a:spcBef>
              <a:buClrTx/>
              <a:buSzTx/>
              <a:buFontTx/>
              <a:buNone/>
            </a:pPr>
            <a:r>
              <a:rPr lang="en-US" altLang="zh-CN" sz="2400">
                <a:solidFill>
                  <a:srgbClr val="FF0000"/>
                </a:solidFill>
                <a:ea typeface="宋体" panose="02010600030101010101" pitchFamily="2" charset="-122"/>
              </a:rPr>
              <a:t>NP-hard</a:t>
            </a:r>
            <a:endParaRPr lang="zh-CN" altLang="en-US" sz="2400">
              <a:solidFill>
                <a:srgbClr val="FF0000"/>
              </a:solidFill>
              <a:ea typeface="宋体" panose="02010600030101010101" pitchFamily="2" charset="-122"/>
            </a:endParaRPr>
          </a:p>
        </p:txBody>
      </p:sp>
      <p:sp>
        <p:nvSpPr>
          <p:cNvPr id="66573" name="TextBox 18"/>
          <p:cNvSpPr txBox="1"/>
          <p:nvPr/>
        </p:nvSpPr>
        <p:spPr>
          <a:xfrm>
            <a:off x="4419600" y="3124200"/>
            <a:ext cx="990600" cy="307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lang="zh-CN" altLang="en-US" sz="1400" b="1">
                <a:ea typeface="宋体" panose="02010600030101010101" pitchFamily="2" charset="-122"/>
              </a:rPr>
              <a:t>结构学习</a:t>
            </a:r>
            <a:endParaRPr lang="zh-CN" altLang="en-US" sz="1400" b="1">
              <a:ea typeface="宋体" panose="02010600030101010101" pitchFamily="2" charset="-122"/>
            </a:endParaRPr>
          </a:p>
        </p:txBody>
      </p:sp>
      <p:sp>
        <p:nvSpPr>
          <p:cNvPr id="66574" name="TextBox 19"/>
          <p:cNvSpPr txBox="1"/>
          <p:nvPr/>
        </p:nvSpPr>
        <p:spPr>
          <a:xfrm>
            <a:off x="4495800" y="4114800"/>
            <a:ext cx="990600" cy="307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eaLnBrk="1" hangingPunct="1">
              <a:spcBef>
                <a:spcPct val="0"/>
              </a:spcBef>
              <a:buClrTx/>
              <a:buSzTx/>
              <a:buFontTx/>
              <a:buNone/>
            </a:pPr>
            <a:r>
              <a:rPr lang="zh-CN" altLang="en-US" sz="1400" b="1">
                <a:ea typeface="宋体" panose="02010600030101010101" pitchFamily="2" charset="-122"/>
              </a:rPr>
              <a:t>参数学习</a:t>
            </a:r>
            <a:endParaRPr lang="zh-CN" altLang="en-US" sz="1400" b="1">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1"/>
          <p:cNvSpPr>
            <a:spLocks noGrp="1"/>
          </p:cNvSpPr>
          <p:nvPr>
            <p:ph type="title"/>
          </p:nvPr>
        </p:nvSpPr>
        <p:spPr>
          <a:ln/>
        </p:spPr>
        <p:txBody>
          <a:bodyPr vert="horz" wrap="square" lIns="91440" tIns="45720" rIns="91440" bIns="45720" anchor="b" anchorCtr="0"/>
          <a:p>
            <a:r>
              <a:rPr lang="zh-CN" altLang="en-US">
                <a:ea typeface="宋体" panose="02010600030101010101" pitchFamily="2" charset="-122"/>
              </a:rPr>
              <a:t>结构学习</a:t>
            </a:r>
            <a:endParaRPr lang="zh-CN" altLang="en-US">
              <a:ea typeface="宋体" panose="02010600030101010101" pitchFamily="2" charset="-122"/>
            </a:endParaRPr>
          </a:p>
        </p:txBody>
      </p:sp>
      <p:sp>
        <p:nvSpPr>
          <p:cNvPr id="67586" name="内容占位符 2"/>
          <p:cNvSpPr>
            <a:spLocks noGrp="1"/>
          </p:cNvSpPr>
          <p:nvPr>
            <p:ph idx="1"/>
          </p:nvPr>
        </p:nvSpPr>
        <p:spPr>
          <a:ln/>
        </p:spPr>
        <p:txBody>
          <a:bodyPr vert="horz" wrap="square" lIns="91440" tIns="45720" rIns="91440" bIns="45720" anchor="t" anchorCtr="0"/>
          <a:p>
            <a:r>
              <a:rPr lang="zh-CN" altLang="en-US">
                <a:ea typeface="宋体" panose="02010600030101010101" pitchFamily="2" charset="-122"/>
              </a:rPr>
              <a:t>使用贝叶斯网络首先要确定它的结构。对于简单的问题，比如前面的心血管疾病的例子，由专家直接给出它的结构即可。但是，稍微复杂一点的问题已经无法人工给出结构了，需要通过机器学习得到。</a:t>
            </a:r>
            <a:endParaRPr lang="zh-CN" altLang="en-US">
              <a:ea typeface="宋体" panose="02010600030101010101" pitchFamily="2" charset="-122"/>
            </a:endParaRPr>
          </a:p>
        </p:txBody>
      </p:sp>
      <p:sp>
        <p:nvSpPr>
          <p:cNvPr id="67587" name="日期占位符 3"/>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7588" name="灯片编号占位符 4"/>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日期占位符 1"/>
          <p:cNvSpPr txBox="1">
            <a:spLocks noGrp="1"/>
          </p:cNvSpPr>
          <p:nvPr>
            <p:ph type="dt" sz="half" idx="10"/>
          </p:nvPr>
        </p:nvSpPr>
        <p:spPr>
          <a:ln/>
        </p:spPr>
        <p:txBody>
          <a:bodyPr anchor="b" anchorCtr="0"/>
          <a:p>
            <a:pPr marL="0" indent="0" eaLnBrk="1" hangingPunct="1">
              <a:spcBef>
                <a:spcPct val="0"/>
              </a:spcBef>
              <a:buClrTx/>
              <a:buSzTx/>
              <a:buFontTx/>
              <a:buNone/>
            </a:pPr>
            <a:fld id="{BB962C8B-B14F-4D97-AF65-F5344CB8AC3E}" type="datetime4">
              <a:rPr lang="zh-CN" altLang="en-US" sz="1200">
                <a:ea typeface="宋体" panose="02010600030101010101" pitchFamily="2" charset="-122"/>
              </a:rPr>
            </a:fld>
            <a:endParaRPr lang="zh-CN" altLang="en-US" sz="1200">
              <a:ea typeface="宋体" panose="02010600030101010101" pitchFamily="2" charset="-122"/>
            </a:endParaRPr>
          </a:p>
        </p:txBody>
      </p:sp>
      <p:sp>
        <p:nvSpPr>
          <p:cNvPr id="68610" name="灯片编号占位符 2"/>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pic>
        <p:nvPicPr>
          <p:cNvPr id="68611" name="Picture 2"/>
          <p:cNvPicPr>
            <a:picLocks noChangeAspect="1"/>
          </p:cNvPicPr>
          <p:nvPr/>
        </p:nvPicPr>
        <p:blipFill>
          <a:blip r:embed="rId1"/>
          <a:stretch>
            <a:fillRect/>
          </a:stretch>
        </p:blipFill>
        <p:spPr>
          <a:xfrm>
            <a:off x="823913" y="2562225"/>
            <a:ext cx="7496175" cy="1733550"/>
          </a:xfrm>
          <a:prstGeom prst="rect">
            <a:avLst/>
          </a:prstGeom>
          <a:noFill/>
          <a:ln w="9525">
            <a:noFill/>
          </a:ln>
        </p:spPr>
      </p:pic>
      <p:sp>
        <p:nvSpPr>
          <p:cNvPr id="68612" name="标题 1"/>
          <p:cNvSpPr txBox="1"/>
          <p:nvPr/>
        </p:nvSpPr>
        <p:spPr>
          <a:xfrm>
            <a:off x="304800" y="381000"/>
            <a:ext cx="8402638" cy="6096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stStyle>
          <a:p>
            <a:pPr marL="0" lvl="0" indent="0" algn="ctr">
              <a:spcBef>
                <a:spcPct val="0"/>
              </a:spcBef>
              <a:buClrTx/>
              <a:buSzTx/>
              <a:buFontTx/>
              <a:buNone/>
            </a:pPr>
            <a:r>
              <a:rPr lang="zh-CN" altLang="en-US" sz="3600">
                <a:solidFill>
                  <a:schemeClr val="tx2"/>
                </a:solidFill>
                <a:ea typeface="宋体" panose="02010600030101010101" pitchFamily="2" charset="-122"/>
              </a:rPr>
              <a:t>参数学习</a:t>
            </a:r>
            <a:endParaRPr lang="zh-CN" altLang="en-US" sz="3600">
              <a:solidFill>
                <a:schemeClr val="tx2"/>
              </a:solidFill>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KSO_WPP_MARK_KEY" val="d51da537-2690-4db9-8e01-308bb0226460"/>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9005</Words>
  <Application>WPS 演示</Application>
  <PresentationFormat>全屏显示(4:3)</PresentationFormat>
  <Paragraphs>750</Paragraphs>
  <Slides>49</Slides>
  <Notes>2</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21</vt:i4>
      </vt:variant>
      <vt:variant>
        <vt:lpstr>幻灯片标题</vt:lpstr>
      </vt:variant>
      <vt:variant>
        <vt:i4>49</vt:i4>
      </vt:variant>
    </vt:vector>
  </HeadingPairs>
  <TitlesOfParts>
    <vt:vector size="82" baseType="lpstr">
      <vt:lpstr>Arial</vt:lpstr>
      <vt:lpstr>宋体</vt:lpstr>
      <vt:lpstr>Wingdings</vt:lpstr>
      <vt:lpstr>Tahoma</vt:lpstr>
      <vt:lpstr>Times New Roman</vt:lpstr>
      <vt:lpstr>Monotype Sorts</vt:lpstr>
      <vt:lpstr>Wingdings</vt:lpstr>
      <vt:lpstr>幼圆</vt:lpstr>
      <vt:lpstr>Palatino Linotype</vt:lpstr>
      <vt:lpstr>微软雅黑</vt:lpstr>
      <vt:lpstr>Arial Unicode MS</vt:lpstr>
      <vt:lpstr>Blends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Excel.Sheet.8</vt:lpstr>
      <vt:lpstr>Excel.Sheet.8</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S.F.U.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7class</dc:title>
  <dc:creator>Jiawei Han</dc:creator>
  <cp:category>data mining book slides</cp:category>
  <cp:lastModifiedBy>Albert Yang</cp:lastModifiedBy>
  <cp:revision>444</cp:revision>
  <cp:lastPrinted>1999-09-10T20:38:56Z</cp:lastPrinted>
  <dcterms:created xsi:type="dcterms:W3CDTF">1998-06-19T04:38:52Z</dcterms:created>
  <dcterms:modified xsi:type="dcterms:W3CDTF">2023-06-11T09:13:59Z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F7CF122F490041538991232C76D0B10C_13</vt:lpwstr>
  </property>
  <property fmtid="{D5CDD505-2E9C-101B-9397-08002B2CF9AE}" pid="3" name="KSOProductBuildVer">
    <vt:lpwstr>2052-11.1.0.14309</vt:lpwstr>
  </property>
</Properties>
</file>