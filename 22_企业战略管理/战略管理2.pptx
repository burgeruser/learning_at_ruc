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0"/>
  </p:notesMasterIdLst>
  <p:sldIdLst>
    <p:sldId id="256" r:id="rId2"/>
    <p:sldId id="328" r:id="rId3"/>
    <p:sldId id="329" r:id="rId4"/>
    <p:sldId id="330" r:id="rId5"/>
    <p:sldId id="331" r:id="rId6"/>
    <p:sldId id="359" r:id="rId7"/>
    <p:sldId id="360" r:id="rId8"/>
    <p:sldId id="361" r:id="rId9"/>
    <p:sldId id="362" r:id="rId10"/>
    <p:sldId id="332" r:id="rId11"/>
    <p:sldId id="259" r:id="rId12"/>
    <p:sldId id="356" r:id="rId13"/>
    <p:sldId id="357" r:id="rId14"/>
    <p:sldId id="358" r:id="rId15"/>
    <p:sldId id="280" r:id="rId16"/>
    <p:sldId id="281" r:id="rId17"/>
    <p:sldId id="282" r:id="rId18"/>
    <p:sldId id="284" r:id="rId19"/>
    <p:sldId id="285" r:id="rId20"/>
    <p:sldId id="288" r:id="rId21"/>
    <p:sldId id="289" r:id="rId22"/>
    <p:sldId id="287" r:id="rId23"/>
    <p:sldId id="290" r:id="rId24"/>
    <p:sldId id="291" r:id="rId25"/>
    <p:sldId id="260" r:id="rId26"/>
    <p:sldId id="261" r:id="rId27"/>
    <p:sldId id="269" r:id="rId28"/>
    <p:sldId id="363" r:id="rId29"/>
    <p:sldId id="364" r:id="rId30"/>
    <p:sldId id="365" r:id="rId31"/>
    <p:sldId id="366" r:id="rId32"/>
    <p:sldId id="367" r:id="rId33"/>
    <p:sldId id="368" r:id="rId34"/>
    <p:sldId id="270" r:id="rId35"/>
    <p:sldId id="273" r:id="rId36"/>
    <p:sldId id="272" r:id="rId37"/>
    <p:sldId id="274" r:id="rId38"/>
    <p:sldId id="275" r:id="rId39"/>
    <p:sldId id="276" r:id="rId40"/>
    <p:sldId id="277" r:id="rId41"/>
    <p:sldId id="278" r:id="rId42"/>
    <p:sldId id="279" r:id="rId43"/>
    <p:sldId id="292" r:id="rId44"/>
    <p:sldId id="308" r:id="rId45"/>
    <p:sldId id="310" r:id="rId46"/>
    <p:sldId id="316" r:id="rId47"/>
    <p:sldId id="317" r:id="rId48"/>
    <p:sldId id="376" r:id="rId49"/>
    <p:sldId id="312" r:id="rId50"/>
    <p:sldId id="318" r:id="rId51"/>
    <p:sldId id="293" r:id="rId52"/>
    <p:sldId id="296" r:id="rId53"/>
    <p:sldId id="297" r:id="rId54"/>
    <p:sldId id="321" r:id="rId55"/>
    <p:sldId id="322" r:id="rId56"/>
    <p:sldId id="323" r:id="rId57"/>
    <p:sldId id="324" r:id="rId58"/>
    <p:sldId id="325" r:id="rId59"/>
    <p:sldId id="326" r:id="rId60"/>
    <p:sldId id="336" r:id="rId61"/>
    <p:sldId id="327" r:id="rId62"/>
    <p:sldId id="354" r:id="rId63"/>
    <p:sldId id="369" r:id="rId64"/>
    <p:sldId id="373" r:id="rId65"/>
    <p:sldId id="370" r:id="rId66"/>
    <p:sldId id="371" r:id="rId67"/>
    <p:sldId id="372" r:id="rId68"/>
    <p:sldId id="298" r:id="rId69"/>
    <p:sldId id="299" r:id="rId70"/>
    <p:sldId id="301" r:id="rId71"/>
    <p:sldId id="302" r:id="rId72"/>
    <p:sldId id="303" r:id="rId73"/>
    <p:sldId id="305" r:id="rId74"/>
    <p:sldId id="307" r:id="rId75"/>
    <p:sldId id="374" r:id="rId76"/>
    <p:sldId id="309" r:id="rId77"/>
    <p:sldId id="375" r:id="rId78"/>
    <p:sldId id="311" r:id="rId7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709"/>
  </p:normalViewPr>
  <p:slideViewPr>
    <p:cSldViewPr>
      <p:cViewPr varScale="1">
        <p:scale>
          <a:sx n="92" d="100"/>
          <a:sy n="92" d="100"/>
        </p:scale>
        <p:origin x="1664" y="16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18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A2B0DE7-DECC-49E3-98D8-C074616EF3A0}" type="datetimeFigureOut">
              <a:rPr lang="zh-CN" altLang="en-US" smtClean="0"/>
              <a:pPr/>
              <a:t>2019/10/19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701ACF-17C8-4128-A300-4AEBB86AFB97}" type="slidenum">
              <a:rPr lang="zh-CN" altLang="en-US" smtClean="0"/>
              <a:pPr/>
              <a:t>‹#›</a:t>
            </a:fld>
            <a:endParaRPr lang="zh-CN" altLang="en-US"/>
          </a:p>
        </p:txBody>
      </p:sp>
    </p:spTree>
    <p:extLst>
      <p:ext uri="{BB962C8B-B14F-4D97-AF65-F5344CB8AC3E}">
        <p14:creationId xmlns:p14="http://schemas.microsoft.com/office/powerpoint/2010/main" val="4171111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F426B896-01C9-4158-B45E-A8BDF1093885}" type="slidenum">
              <a:rPr lang="en-US" altLang="zh-CN"/>
              <a:pPr/>
              <a:t>2</a:t>
            </a:fld>
            <a:endParaRPr lang="en-US" altLang="zh-CN"/>
          </a:p>
        </p:txBody>
      </p:sp>
      <p:sp>
        <p:nvSpPr>
          <p:cNvPr id="77827" name="Rectangle 2"/>
          <p:cNvSpPr>
            <a:spLocks noGrp="1" noRot="1" noChangeAspect="1" noChangeArrowheads="1" noTextEdit="1"/>
          </p:cNvSpPr>
          <p:nvPr>
            <p:ph type="sldImg"/>
          </p:nvPr>
        </p:nvSpPr>
        <p:spPr>
          <a:xfrm>
            <a:off x="1295400" y="798513"/>
            <a:ext cx="4273550" cy="3205162"/>
          </a:xfrm>
          <a:solidFill>
            <a:srgbClr val="FFFFFF"/>
          </a:solidFill>
          <a:ln/>
        </p:spPr>
      </p:sp>
      <p:sp>
        <p:nvSpPr>
          <p:cNvPr id="77828" name="Rectangle 3"/>
          <p:cNvSpPr>
            <a:spLocks noGrp="1" noChangeArrowheads="1"/>
          </p:cNvSpPr>
          <p:nvPr>
            <p:ph type="body" idx="1"/>
          </p:nvPr>
        </p:nvSpPr>
        <p:spPr>
          <a:xfrm>
            <a:off x="914400" y="4343400"/>
            <a:ext cx="5029200" cy="4113213"/>
          </a:xfrm>
          <a:solidFill>
            <a:srgbClr val="FFFFFF"/>
          </a:solidFill>
          <a:ln>
            <a:solidFill>
              <a:srgbClr val="000000"/>
            </a:solidFill>
          </a:ln>
        </p:spPr>
        <p:txBody>
          <a:bodyPr/>
          <a:lstStyle/>
          <a:p>
            <a:pPr eaLnBrk="1" hangingPunct="1"/>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5836B3FF-D69E-4301-9EFB-4BA7502BB408}" type="slidenum">
              <a:rPr lang="en-US" altLang="zh-CN"/>
              <a:pPr/>
              <a:t>3</a:t>
            </a:fld>
            <a:endParaRPr lang="en-US" altLang="zh-CN"/>
          </a:p>
        </p:txBody>
      </p:sp>
      <p:sp>
        <p:nvSpPr>
          <p:cNvPr id="78851" name="Rectangle 2"/>
          <p:cNvSpPr>
            <a:spLocks noGrp="1" noRot="1" noChangeAspect="1" noChangeArrowheads="1" noTextEdit="1"/>
          </p:cNvSpPr>
          <p:nvPr>
            <p:ph type="sldImg"/>
          </p:nvPr>
        </p:nvSpPr>
        <p:spPr>
          <a:xfrm>
            <a:off x="1295400" y="798513"/>
            <a:ext cx="4273550" cy="3205162"/>
          </a:xfrm>
          <a:solidFill>
            <a:srgbClr val="FFFFFF"/>
          </a:solidFill>
          <a:ln/>
        </p:spPr>
      </p:sp>
      <p:sp>
        <p:nvSpPr>
          <p:cNvPr id="78852" name="Rectangle 3"/>
          <p:cNvSpPr>
            <a:spLocks noGrp="1" noChangeArrowheads="1"/>
          </p:cNvSpPr>
          <p:nvPr>
            <p:ph type="body" idx="1"/>
          </p:nvPr>
        </p:nvSpPr>
        <p:spPr>
          <a:xfrm>
            <a:off x="914400" y="4343400"/>
            <a:ext cx="5029200" cy="4113213"/>
          </a:xfrm>
          <a:solidFill>
            <a:srgbClr val="FFFFFF"/>
          </a:solidFill>
          <a:ln>
            <a:solidFill>
              <a:srgbClr val="000000"/>
            </a:solidFill>
          </a:ln>
        </p:spPr>
        <p:txBody>
          <a:bodyPr/>
          <a:lstStyle/>
          <a:p>
            <a:pPr eaLnBrk="1" hangingPunct="1"/>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3854293E-C730-48AD-82AF-4609929D3F34}" type="slidenum">
              <a:rPr lang="en-US" altLang="zh-CN"/>
              <a:pPr/>
              <a:t>10</a:t>
            </a:fld>
            <a:endParaRPr lang="en-US" altLang="zh-CN"/>
          </a:p>
        </p:txBody>
      </p:sp>
      <p:sp>
        <p:nvSpPr>
          <p:cNvPr id="79875" name="Rectangle 2"/>
          <p:cNvSpPr>
            <a:spLocks noGrp="1" noRot="1" noChangeAspect="1" noChangeArrowheads="1" noTextEdit="1"/>
          </p:cNvSpPr>
          <p:nvPr>
            <p:ph type="sldImg"/>
          </p:nvPr>
        </p:nvSpPr>
        <p:spPr>
          <a:xfrm>
            <a:off x="1146175" y="687388"/>
            <a:ext cx="4567238" cy="3425825"/>
          </a:xfrm>
          <a:solidFill>
            <a:srgbClr val="FFFFFF"/>
          </a:solidFill>
          <a:ln w="12700" cap="flat"/>
        </p:spPr>
      </p:sp>
      <p:sp>
        <p:nvSpPr>
          <p:cNvPr id="79876"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BCF4CE8D-AAA1-4D40-A7C0-72456360CAB1}" type="slidenum">
              <a:rPr lang="en-US" altLang="zh-CN"/>
              <a:pPr/>
              <a:t>12</a:t>
            </a:fld>
            <a:endParaRPr lang="en-US" altLang="zh-CN"/>
          </a:p>
        </p:txBody>
      </p:sp>
      <p:sp>
        <p:nvSpPr>
          <p:cNvPr id="81923" name="Rectangle 2"/>
          <p:cNvSpPr>
            <a:spLocks noGrp="1" noRot="1" noChangeAspect="1" noChangeArrowheads="1" noTextEdit="1"/>
          </p:cNvSpPr>
          <p:nvPr>
            <p:ph type="sldImg"/>
          </p:nvPr>
        </p:nvSpPr>
        <p:spPr>
          <a:xfrm>
            <a:off x="1146175" y="687388"/>
            <a:ext cx="4567238" cy="3425825"/>
          </a:xfrm>
          <a:solidFill>
            <a:srgbClr val="FFFFFF"/>
          </a:solidFill>
          <a:ln w="12700" cap="flat"/>
        </p:spPr>
      </p:sp>
      <p:sp>
        <p:nvSpPr>
          <p:cNvPr id="81924"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40B151AF-3957-4822-8BF9-AE4EEDFEF78E}" type="slidenum">
              <a:rPr lang="en-US" altLang="zh-CN"/>
              <a:pPr/>
              <a:t>13</a:t>
            </a:fld>
            <a:endParaRPr lang="en-US" altLang="zh-CN"/>
          </a:p>
        </p:txBody>
      </p:sp>
      <p:sp>
        <p:nvSpPr>
          <p:cNvPr id="82947" name="Rectangle 2"/>
          <p:cNvSpPr>
            <a:spLocks noGrp="1" noRot="1" noChangeAspect="1" noChangeArrowheads="1" noTextEdit="1"/>
          </p:cNvSpPr>
          <p:nvPr>
            <p:ph type="sldImg"/>
          </p:nvPr>
        </p:nvSpPr>
        <p:spPr>
          <a:xfrm>
            <a:off x="1146175" y="687388"/>
            <a:ext cx="4567238" cy="3425825"/>
          </a:xfrm>
          <a:solidFill>
            <a:srgbClr val="FFFFFF"/>
          </a:solidFill>
          <a:ln w="12700" cap="flat"/>
        </p:spPr>
      </p:sp>
      <p:sp>
        <p:nvSpPr>
          <p:cNvPr id="82948"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C0729745-AA6F-4CC1-8435-F795FE66424B}" type="slidenum">
              <a:rPr lang="en-US" altLang="zh-CN"/>
              <a:pPr/>
              <a:t>14</a:t>
            </a:fld>
            <a:endParaRPr lang="en-US" altLang="zh-CN"/>
          </a:p>
        </p:txBody>
      </p:sp>
      <p:sp>
        <p:nvSpPr>
          <p:cNvPr id="83971" name="Rectangle 2"/>
          <p:cNvSpPr>
            <a:spLocks noGrp="1" noRot="1" noChangeAspect="1" noChangeArrowheads="1" noTextEdit="1"/>
          </p:cNvSpPr>
          <p:nvPr>
            <p:ph type="sldImg"/>
          </p:nvPr>
        </p:nvSpPr>
        <p:spPr>
          <a:xfrm>
            <a:off x="1146175" y="687388"/>
            <a:ext cx="4567238" cy="3425825"/>
          </a:xfrm>
          <a:solidFill>
            <a:srgbClr val="FFFFFF"/>
          </a:solidFill>
          <a:ln w="12700" cap="flat"/>
        </p:spPr>
      </p:sp>
      <p:sp>
        <p:nvSpPr>
          <p:cNvPr id="83972"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EF2F2685-0637-47A8-8984-0FF9471E987F}" type="slidenum">
              <a:rPr lang="en-US" altLang="zh-CN"/>
              <a:pPr/>
              <a:t>16</a:t>
            </a:fld>
            <a:endParaRPr lang="en-US" altLang="zh-CN"/>
          </a:p>
        </p:txBody>
      </p:sp>
      <p:sp>
        <p:nvSpPr>
          <p:cNvPr id="86019" name="Rectangle 2"/>
          <p:cNvSpPr>
            <a:spLocks noGrp="1" noRot="1" noChangeAspect="1" noChangeArrowheads="1" noTextEdit="1"/>
          </p:cNvSpPr>
          <p:nvPr>
            <p:ph type="sldImg"/>
          </p:nvPr>
        </p:nvSpPr>
        <p:spPr>
          <a:xfrm>
            <a:off x="1146175" y="687388"/>
            <a:ext cx="4567238" cy="3425825"/>
          </a:xfrm>
          <a:solidFill>
            <a:srgbClr val="FFFFFF"/>
          </a:solidFill>
          <a:ln w="12700" cap="flat"/>
        </p:spPr>
      </p:sp>
      <p:sp>
        <p:nvSpPr>
          <p:cNvPr id="86020"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8B58D2A6-607B-43D1-9621-6D3B85E2E568}" type="slidenum">
              <a:rPr lang="en-US" altLang="zh-CN"/>
              <a:pPr/>
              <a:t>17</a:t>
            </a:fld>
            <a:endParaRPr lang="en-US" altLang="zh-CN"/>
          </a:p>
        </p:txBody>
      </p:sp>
      <p:sp>
        <p:nvSpPr>
          <p:cNvPr id="87043" name="Rectangle 2"/>
          <p:cNvSpPr>
            <a:spLocks noGrp="1" noRot="1" noChangeAspect="1" noChangeArrowheads="1" noTextEdit="1"/>
          </p:cNvSpPr>
          <p:nvPr>
            <p:ph type="sldImg"/>
          </p:nvPr>
        </p:nvSpPr>
        <p:spPr>
          <a:xfrm>
            <a:off x="1146175" y="687388"/>
            <a:ext cx="4567238" cy="3425825"/>
          </a:xfrm>
          <a:solidFill>
            <a:srgbClr val="FFFFFF"/>
          </a:solidFill>
          <a:ln w="12700" cap="flat"/>
        </p:spPr>
      </p:sp>
      <p:sp>
        <p:nvSpPr>
          <p:cNvPr id="87044"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AF856FAE-25F9-468E-A0FC-719C6F1422D7}" type="slidenum">
              <a:rPr lang="en-US" altLang="zh-CN"/>
              <a:pPr/>
              <a:t>18</a:t>
            </a:fld>
            <a:endParaRPr lang="en-US" altLang="zh-CN"/>
          </a:p>
        </p:txBody>
      </p:sp>
      <p:sp>
        <p:nvSpPr>
          <p:cNvPr id="89091" name="Rectangle 2"/>
          <p:cNvSpPr>
            <a:spLocks noGrp="1" noRot="1" noChangeAspect="1" noChangeArrowheads="1" noTextEdit="1"/>
          </p:cNvSpPr>
          <p:nvPr>
            <p:ph type="sldImg"/>
          </p:nvPr>
        </p:nvSpPr>
        <p:spPr>
          <a:solidFill>
            <a:srgbClr val="FFFFFF"/>
          </a:solidFill>
          <a:ln/>
        </p:spPr>
      </p:sp>
      <p:sp>
        <p:nvSpPr>
          <p:cNvPr id="89092" name="Rectangle 3"/>
          <p:cNvSpPr>
            <a:spLocks noGrp="1" noChangeArrowheads="1"/>
          </p:cNvSpPr>
          <p:nvPr>
            <p:ph type="body" idx="1"/>
          </p:nvPr>
        </p:nvSpPr>
        <p:spPr>
          <a:solidFill>
            <a:srgbClr val="FFFFFF"/>
          </a:solidFill>
          <a:ln>
            <a:solidFill>
              <a:srgbClr val="000000"/>
            </a:solidFill>
          </a:ln>
        </p:spPr>
        <p:txBody>
          <a:bodyPr lIns="92949" tIns="46474" rIns="92949" bIns="46474"/>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3978D5AF-ABDA-45D2-86EB-2F9E5C2D34F5}" type="slidenum">
              <a:rPr lang="en-US" altLang="zh-CN"/>
              <a:pPr/>
              <a:t>19</a:t>
            </a:fld>
            <a:endParaRPr lang="en-US" altLang="zh-CN"/>
          </a:p>
        </p:txBody>
      </p:sp>
      <p:sp>
        <p:nvSpPr>
          <p:cNvPr id="90115" name="Rectangle 2"/>
          <p:cNvSpPr>
            <a:spLocks noGrp="1" noRot="1" noChangeAspect="1" noChangeArrowheads="1" noTextEdit="1"/>
          </p:cNvSpPr>
          <p:nvPr>
            <p:ph type="sldImg"/>
          </p:nvPr>
        </p:nvSpPr>
        <p:spPr>
          <a:solidFill>
            <a:srgbClr val="FFFFFF"/>
          </a:solidFill>
          <a:ln/>
        </p:spPr>
      </p:sp>
      <p:sp>
        <p:nvSpPr>
          <p:cNvPr id="90116" name="Rectangle 3"/>
          <p:cNvSpPr>
            <a:spLocks noGrp="1" noChangeArrowheads="1"/>
          </p:cNvSpPr>
          <p:nvPr>
            <p:ph type="body" idx="1"/>
          </p:nvPr>
        </p:nvSpPr>
        <p:spPr>
          <a:solidFill>
            <a:srgbClr val="FFFFFF"/>
          </a:solidFill>
          <a:ln>
            <a:solidFill>
              <a:srgbClr val="000000"/>
            </a:solidFill>
          </a:ln>
        </p:spPr>
        <p:txBody>
          <a:bodyPr lIns="92949" tIns="46474" rIns="92949" bIns="46474"/>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CF867F78-C18B-4E0F-A088-7A62FC510627}" type="slidenum">
              <a:rPr lang="en-US" altLang="zh-CN"/>
              <a:pPr/>
              <a:t>22</a:t>
            </a:fld>
            <a:endParaRPr lang="en-US" altLang="zh-CN"/>
          </a:p>
        </p:txBody>
      </p:sp>
      <p:sp>
        <p:nvSpPr>
          <p:cNvPr id="88067" name="Rectangle 2"/>
          <p:cNvSpPr>
            <a:spLocks noGrp="1" noRot="1" noChangeAspect="1" noChangeArrowheads="1" noTextEdit="1"/>
          </p:cNvSpPr>
          <p:nvPr>
            <p:ph type="sldImg"/>
          </p:nvPr>
        </p:nvSpPr>
        <p:spPr>
          <a:xfrm>
            <a:off x="1146175" y="687388"/>
            <a:ext cx="4567238" cy="3425825"/>
          </a:xfrm>
          <a:solidFill>
            <a:srgbClr val="FFFFFF"/>
          </a:solidFill>
          <a:ln w="12700" cap="flat"/>
        </p:spPr>
      </p:sp>
      <p:sp>
        <p:nvSpPr>
          <p:cNvPr id="88068"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E3333EAC-4AF7-4E16-AEF8-CA9EA836A305}" type="slidenum">
              <a:rPr lang="en-US" altLang="zh-CN"/>
              <a:pPr/>
              <a:t>34</a:t>
            </a:fld>
            <a:endParaRPr lang="en-US" altLang="zh-CN"/>
          </a:p>
        </p:txBody>
      </p:sp>
      <p:sp>
        <p:nvSpPr>
          <p:cNvPr id="93187" name="Rectangle 2"/>
          <p:cNvSpPr>
            <a:spLocks noGrp="1" noRot="1" noChangeAspect="1" noChangeArrowheads="1" noTextEdit="1"/>
          </p:cNvSpPr>
          <p:nvPr>
            <p:ph type="sldImg"/>
          </p:nvPr>
        </p:nvSpPr>
        <p:spPr>
          <a:xfrm>
            <a:off x="1146175" y="687388"/>
            <a:ext cx="4567238" cy="3425825"/>
          </a:xfrm>
          <a:solidFill>
            <a:srgbClr val="FFFFFF"/>
          </a:solidFill>
          <a:ln w="12700" cap="flat"/>
        </p:spPr>
      </p:sp>
      <p:sp>
        <p:nvSpPr>
          <p:cNvPr id="93188"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FFF220E2-4316-4EF9-BF5F-6D180FDA13F8}" type="slidenum">
              <a:rPr lang="en-US" altLang="zh-CN"/>
              <a:pPr/>
              <a:t>37</a:t>
            </a:fld>
            <a:endParaRPr lang="en-US" altLang="zh-CN"/>
          </a:p>
        </p:txBody>
      </p:sp>
      <p:sp>
        <p:nvSpPr>
          <p:cNvPr id="96259" name="Rectangle 2"/>
          <p:cNvSpPr>
            <a:spLocks noChangeArrowheads="1"/>
          </p:cNvSpPr>
          <p:nvPr/>
        </p:nvSpPr>
        <p:spPr bwMode="auto">
          <a:xfrm>
            <a:off x="3886200" y="0"/>
            <a:ext cx="2971800" cy="457200"/>
          </a:xfrm>
          <a:prstGeom prst="rect">
            <a:avLst/>
          </a:prstGeom>
          <a:noFill/>
          <a:ln w="12700">
            <a:noFill/>
            <a:miter lim="800000"/>
            <a:headEnd/>
            <a:tailEnd/>
          </a:ln>
        </p:spPr>
        <p:txBody>
          <a:bodyPr wrap="none" anchor="ctr"/>
          <a:lstStyle/>
          <a:p>
            <a:endParaRPr lang="zh-CN" altLang="en-US"/>
          </a:p>
        </p:txBody>
      </p:sp>
      <p:sp>
        <p:nvSpPr>
          <p:cNvPr id="96260" name="Rectangle 3"/>
          <p:cNvSpPr>
            <a:spLocks noChangeArrowheads="1"/>
          </p:cNvSpPr>
          <p:nvPr/>
        </p:nvSpPr>
        <p:spPr bwMode="auto">
          <a:xfrm>
            <a:off x="3886200" y="8686800"/>
            <a:ext cx="2971800" cy="457200"/>
          </a:xfrm>
          <a:prstGeom prst="rect">
            <a:avLst/>
          </a:prstGeom>
          <a:noFill/>
          <a:ln w="12700">
            <a:noFill/>
            <a:miter lim="800000"/>
            <a:headEnd/>
            <a:tailEnd/>
          </a:ln>
        </p:spPr>
        <p:txBody>
          <a:bodyPr lIns="19047" tIns="0" rIns="19047" bIns="0" anchor="b"/>
          <a:lstStyle/>
          <a:p>
            <a:pPr algn="r" eaLnBrk="0" hangingPunct="0"/>
            <a:r>
              <a:rPr kumimoji="0" lang="en-US" altLang="zh-CN" sz="1000" i="1">
                <a:solidFill>
                  <a:schemeClr val="tx1"/>
                </a:solidFill>
                <a:ea typeface="宋体" pitchFamily="2" charset="-122"/>
              </a:rPr>
              <a:t>13</a:t>
            </a:r>
          </a:p>
        </p:txBody>
      </p:sp>
      <p:sp>
        <p:nvSpPr>
          <p:cNvPr id="96261" name="Rectangle 4"/>
          <p:cNvSpPr>
            <a:spLocks noChangeArrowheads="1"/>
          </p:cNvSpPr>
          <p:nvPr/>
        </p:nvSpPr>
        <p:spPr bwMode="auto">
          <a:xfrm>
            <a:off x="0" y="8686800"/>
            <a:ext cx="2971800" cy="457200"/>
          </a:xfrm>
          <a:prstGeom prst="rect">
            <a:avLst/>
          </a:prstGeom>
          <a:noFill/>
          <a:ln w="12700">
            <a:noFill/>
            <a:miter lim="800000"/>
            <a:headEnd/>
            <a:tailEnd/>
          </a:ln>
        </p:spPr>
        <p:txBody>
          <a:bodyPr wrap="none" anchor="ctr"/>
          <a:lstStyle/>
          <a:p>
            <a:endParaRPr lang="zh-CN" altLang="en-US"/>
          </a:p>
        </p:txBody>
      </p:sp>
      <p:sp>
        <p:nvSpPr>
          <p:cNvPr id="96262" name="Rectangle 5"/>
          <p:cNvSpPr>
            <a:spLocks noChangeArrowheads="1"/>
          </p:cNvSpPr>
          <p:nvPr/>
        </p:nvSpPr>
        <p:spPr bwMode="auto">
          <a:xfrm>
            <a:off x="0" y="0"/>
            <a:ext cx="2971800" cy="457200"/>
          </a:xfrm>
          <a:prstGeom prst="rect">
            <a:avLst/>
          </a:prstGeom>
          <a:noFill/>
          <a:ln w="12700">
            <a:noFill/>
            <a:miter lim="800000"/>
            <a:headEnd/>
            <a:tailEnd/>
          </a:ln>
        </p:spPr>
        <p:txBody>
          <a:bodyPr wrap="none" anchor="ctr"/>
          <a:lstStyle/>
          <a:p>
            <a:endParaRPr lang="zh-CN" altLang="en-US"/>
          </a:p>
        </p:txBody>
      </p:sp>
      <p:sp>
        <p:nvSpPr>
          <p:cNvPr id="96263" name="Rectangle 6"/>
          <p:cNvSpPr>
            <a:spLocks noGrp="1" noRot="1" noChangeAspect="1" noChangeArrowheads="1" noTextEdit="1"/>
          </p:cNvSpPr>
          <p:nvPr>
            <p:ph type="sldImg"/>
          </p:nvPr>
        </p:nvSpPr>
        <p:spPr>
          <a:xfrm>
            <a:off x="1150938" y="692150"/>
            <a:ext cx="4554537" cy="3416300"/>
          </a:xfrm>
          <a:ln w="12700" cap="flat">
            <a:solidFill>
              <a:schemeClr val="tx1"/>
            </a:solidFill>
          </a:ln>
        </p:spPr>
      </p:sp>
      <p:sp>
        <p:nvSpPr>
          <p:cNvPr id="96264" name="Rectangle 7"/>
          <p:cNvSpPr>
            <a:spLocks noGrp="1" noChangeArrowheads="1"/>
          </p:cNvSpPr>
          <p:nvPr>
            <p:ph type="body" idx="1"/>
          </p:nvPr>
        </p:nvSpPr>
        <p:spPr>
          <a:noFill/>
          <a:ln/>
        </p:spPr>
        <p:txBody>
          <a:bodyPr lIns="90477" tIns="44445" rIns="90477" bIns="44445"/>
          <a:lstStyle/>
          <a:p>
            <a:pPr eaLnBrk="1" hangingPunct="1"/>
            <a:endParaRPr lang="en-AU"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793E1417-4CC3-4B13-A726-11033158E4E6}" type="slidenum">
              <a:rPr lang="en-US" altLang="zh-CN"/>
              <a:pPr/>
              <a:t>38</a:t>
            </a:fld>
            <a:endParaRPr lang="en-US" altLang="zh-CN"/>
          </a:p>
        </p:txBody>
      </p:sp>
      <p:sp>
        <p:nvSpPr>
          <p:cNvPr id="97283" name="Rectangle 2"/>
          <p:cNvSpPr>
            <a:spLocks noChangeArrowheads="1"/>
          </p:cNvSpPr>
          <p:nvPr/>
        </p:nvSpPr>
        <p:spPr bwMode="auto">
          <a:xfrm>
            <a:off x="3886200" y="0"/>
            <a:ext cx="2971800" cy="457200"/>
          </a:xfrm>
          <a:prstGeom prst="rect">
            <a:avLst/>
          </a:prstGeom>
          <a:noFill/>
          <a:ln w="12700">
            <a:noFill/>
            <a:miter lim="800000"/>
            <a:headEnd/>
            <a:tailEnd/>
          </a:ln>
        </p:spPr>
        <p:txBody>
          <a:bodyPr wrap="none" anchor="ctr"/>
          <a:lstStyle/>
          <a:p>
            <a:endParaRPr lang="zh-CN" altLang="en-US"/>
          </a:p>
        </p:txBody>
      </p:sp>
      <p:sp>
        <p:nvSpPr>
          <p:cNvPr id="97284" name="Rectangle 3"/>
          <p:cNvSpPr>
            <a:spLocks noChangeArrowheads="1"/>
          </p:cNvSpPr>
          <p:nvPr/>
        </p:nvSpPr>
        <p:spPr bwMode="auto">
          <a:xfrm>
            <a:off x="3886200" y="8686800"/>
            <a:ext cx="2971800" cy="457200"/>
          </a:xfrm>
          <a:prstGeom prst="rect">
            <a:avLst/>
          </a:prstGeom>
          <a:noFill/>
          <a:ln w="12700">
            <a:noFill/>
            <a:miter lim="800000"/>
            <a:headEnd/>
            <a:tailEnd/>
          </a:ln>
        </p:spPr>
        <p:txBody>
          <a:bodyPr lIns="19047" tIns="0" rIns="19047" bIns="0" anchor="b"/>
          <a:lstStyle/>
          <a:p>
            <a:pPr algn="r" eaLnBrk="0" hangingPunct="0"/>
            <a:r>
              <a:rPr kumimoji="0" lang="en-US" altLang="zh-CN" sz="1000" i="1">
                <a:solidFill>
                  <a:schemeClr val="tx1"/>
                </a:solidFill>
                <a:ea typeface="宋体" pitchFamily="2" charset="-122"/>
              </a:rPr>
              <a:t>13</a:t>
            </a:r>
          </a:p>
        </p:txBody>
      </p:sp>
      <p:sp>
        <p:nvSpPr>
          <p:cNvPr id="97285" name="Rectangle 4"/>
          <p:cNvSpPr>
            <a:spLocks noChangeArrowheads="1"/>
          </p:cNvSpPr>
          <p:nvPr/>
        </p:nvSpPr>
        <p:spPr bwMode="auto">
          <a:xfrm>
            <a:off x="0" y="8686800"/>
            <a:ext cx="2971800" cy="457200"/>
          </a:xfrm>
          <a:prstGeom prst="rect">
            <a:avLst/>
          </a:prstGeom>
          <a:noFill/>
          <a:ln w="12700">
            <a:noFill/>
            <a:miter lim="800000"/>
            <a:headEnd/>
            <a:tailEnd/>
          </a:ln>
        </p:spPr>
        <p:txBody>
          <a:bodyPr wrap="none" anchor="ctr"/>
          <a:lstStyle/>
          <a:p>
            <a:endParaRPr lang="zh-CN" altLang="en-US"/>
          </a:p>
        </p:txBody>
      </p:sp>
      <p:sp>
        <p:nvSpPr>
          <p:cNvPr id="97286" name="Rectangle 5"/>
          <p:cNvSpPr>
            <a:spLocks noChangeArrowheads="1"/>
          </p:cNvSpPr>
          <p:nvPr/>
        </p:nvSpPr>
        <p:spPr bwMode="auto">
          <a:xfrm>
            <a:off x="0" y="0"/>
            <a:ext cx="2971800" cy="457200"/>
          </a:xfrm>
          <a:prstGeom prst="rect">
            <a:avLst/>
          </a:prstGeom>
          <a:noFill/>
          <a:ln w="12700">
            <a:noFill/>
            <a:miter lim="800000"/>
            <a:headEnd/>
            <a:tailEnd/>
          </a:ln>
        </p:spPr>
        <p:txBody>
          <a:bodyPr wrap="none" anchor="ctr"/>
          <a:lstStyle/>
          <a:p>
            <a:endParaRPr lang="zh-CN" altLang="en-US"/>
          </a:p>
        </p:txBody>
      </p:sp>
      <p:sp>
        <p:nvSpPr>
          <p:cNvPr id="97287" name="Rectangle 6"/>
          <p:cNvSpPr>
            <a:spLocks noGrp="1" noRot="1" noChangeAspect="1" noChangeArrowheads="1" noTextEdit="1"/>
          </p:cNvSpPr>
          <p:nvPr>
            <p:ph type="sldImg"/>
          </p:nvPr>
        </p:nvSpPr>
        <p:spPr>
          <a:xfrm>
            <a:off x="1150938" y="692150"/>
            <a:ext cx="4554537" cy="3416300"/>
          </a:xfrm>
          <a:ln w="12700" cap="flat">
            <a:solidFill>
              <a:schemeClr val="tx1"/>
            </a:solidFill>
          </a:ln>
        </p:spPr>
      </p:sp>
      <p:sp>
        <p:nvSpPr>
          <p:cNvPr id="97288" name="Rectangle 7"/>
          <p:cNvSpPr>
            <a:spLocks noGrp="1" noChangeArrowheads="1"/>
          </p:cNvSpPr>
          <p:nvPr>
            <p:ph type="body" idx="1"/>
          </p:nvPr>
        </p:nvSpPr>
        <p:spPr>
          <a:noFill/>
          <a:ln/>
        </p:spPr>
        <p:txBody>
          <a:bodyPr lIns="90477" tIns="44445" rIns="90477" bIns="44445"/>
          <a:lstStyle/>
          <a:p>
            <a:pPr eaLnBrk="1" hangingPunct="1"/>
            <a:endParaRPr lang="en-AU"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B7AB2F09-8EA4-4A85-84ED-3C8A4F9664EF}" type="slidenum">
              <a:rPr lang="en-US" altLang="zh-CN"/>
              <a:pPr/>
              <a:t>39</a:t>
            </a:fld>
            <a:endParaRPr lang="en-US" altLang="zh-CN"/>
          </a:p>
        </p:txBody>
      </p:sp>
      <p:sp>
        <p:nvSpPr>
          <p:cNvPr id="98307" name="Rectangle 2"/>
          <p:cNvSpPr>
            <a:spLocks noChangeArrowheads="1"/>
          </p:cNvSpPr>
          <p:nvPr/>
        </p:nvSpPr>
        <p:spPr bwMode="auto">
          <a:xfrm>
            <a:off x="3886200" y="0"/>
            <a:ext cx="2971800" cy="457200"/>
          </a:xfrm>
          <a:prstGeom prst="rect">
            <a:avLst/>
          </a:prstGeom>
          <a:noFill/>
          <a:ln w="12700">
            <a:noFill/>
            <a:miter lim="800000"/>
            <a:headEnd/>
            <a:tailEnd/>
          </a:ln>
        </p:spPr>
        <p:txBody>
          <a:bodyPr wrap="none" anchor="ctr"/>
          <a:lstStyle/>
          <a:p>
            <a:endParaRPr lang="zh-CN" altLang="en-US"/>
          </a:p>
        </p:txBody>
      </p:sp>
      <p:sp>
        <p:nvSpPr>
          <p:cNvPr id="98308" name="Rectangle 3"/>
          <p:cNvSpPr>
            <a:spLocks noChangeArrowheads="1"/>
          </p:cNvSpPr>
          <p:nvPr/>
        </p:nvSpPr>
        <p:spPr bwMode="auto">
          <a:xfrm>
            <a:off x="3886200" y="8686800"/>
            <a:ext cx="2971800" cy="457200"/>
          </a:xfrm>
          <a:prstGeom prst="rect">
            <a:avLst/>
          </a:prstGeom>
          <a:noFill/>
          <a:ln w="12700">
            <a:noFill/>
            <a:miter lim="800000"/>
            <a:headEnd/>
            <a:tailEnd/>
          </a:ln>
        </p:spPr>
        <p:txBody>
          <a:bodyPr lIns="19047" tIns="0" rIns="19047" bIns="0" anchor="b"/>
          <a:lstStyle/>
          <a:p>
            <a:pPr algn="r" eaLnBrk="0" hangingPunct="0"/>
            <a:r>
              <a:rPr kumimoji="0" lang="en-US" altLang="zh-CN" sz="1000" i="1">
                <a:solidFill>
                  <a:schemeClr val="tx1"/>
                </a:solidFill>
                <a:ea typeface="宋体" pitchFamily="2" charset="-122"/>
              </a:rPr>
              <a:t>13</a:t>
            </a:r>
          </a:p>
        </p:txBody>
      </p:sp>
      <p:sp>
        <p:nvSpPr>
          <p:cNvPr id="98309" name="Rectangle 4"/>
          <p:cNvSpPr>
            <a:spLocks noChangeArrowheads="1"/>
          </p:cNvSpPr>
          <p:nvPr/>
        </p:nvSpPr>
        <p:spPr bwMode="auto">
          <a:xfrm>
            <a:off x="0" y="8686800"/>
            <a:ext cx="2971800" cy="457200"/>
          </a:xfrm>
          <a:prstGeom prst="rect">
            <a:avLst/>
          </a:prstGeom>
          <a:noFill/>
          <a:ln w="12700">
            <a:noFill/>
            <a:miter lim="800000"/>
            <a:headEnd/>
            <a:tailEnd/>
          </a:ln>
        </p:spPr>
        <p:txBody>
          <a:bodyPr wrap="none" anchor="ctr"/>
          <a:lstStyle/>
          <a:p>
            <a:endParaRPr lang="zh-CN" altLang="en-US"/>
          </a:p>
        </p:txBody>
      </p:sp>
      <p:sp>
        <p:nvSpPr>
          <p:cNvPr id="98310" name="Rectangle 5"/>
          <p:cNvSpPr>
            <a:spLocks noChangeArrowheads="1"/>
          </p:cNvSpPr>
          <p:nvPr/>
        </p:nvSpPr>
        <p:spPr bwMode="auto">
          <a:xfrm>
            <a:off x="0" y="0"/>
            <a:ext cx="2971800" cy="457200"/>
          </a:xfrm>
          <a:prstGeom prst="rect">
            <a:avLst/>
          </a:prstGeom>
          <a:noFill/>
          <a:ln w="12700">
            <a:noFill/>
            <a:miter lim="800000"/>
            <a:headEnd/>
            <a:tailEnd/>
          </a:ln>
        </p:spPr>
        <p:txBody>
          <a:bodyPr wrap="none" anchor="ctr"/>
          <a:lstStyle/>
          <a:p>
            <a:endParaRPr lang="zh-CN" altLang="en-US"/>
          </a:p>
        </p:txBody>
      </p:sp>
      <p:sp>
        <p:nvSpPr>
          <p:cNvPr id="98311" name="Rectangle 6"/>
          <p:cNvSpPr>
            <a:spLocks noGrp="1" noRot="1" noChangeAspect="1" noChangeArrowheads="1" noTextEdit="1"/>
          </p:cNvSpPr>
          <p:nvPr>
            <p:ph type="sldImg"/>
          </p:nvPr>
        </p:nvSpPr>
        <p:spPr>
          <a:xfrm>
            <a:off x="1150938" y="692150"/>
            <a:ext cx="4554537" cy="3416300"/>
          </a:xfrm>
          <a:ln w="12700" cap="flat">
            <a:solidFill>
              <a:schemeClr val="tx1"/>
            </a:solidFill>
          </a:ln>
        </p:spPr>
      </p:sp>
      <p:sp>
        <p:nvSpPr>
          <p:cNvPr id="98312" name="Rectangle 7"/>
          <p:cNvSpPr>
            <a:spLocks noGrp="1" noChangeArrowheads="1"/>
          </p:cNvSpPr>
          <p:nvPr>
            <p:ph type="body" idx="1"/>
          </p:nvPr>
        </p:nvSpPr>
        <p:spPr>
          <a:noFill/>
          <a:ln/>
        </p:spPr>
        <p:txBody>
          <a:bodyPr lIns="90477" tIns="44445" rIns="90477" bIns="44445"/>
          <a:lstStyle/>
          <a:p>
            <a:pPr eaLnBrk="1" hangingPunct="1"/>
            <a:endParaRPr lang="en-AU"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BB8C862D-D92A-4F70-8E34-24F98B96C860}" type="slidenum">
              <a:rPr lang="en-US" altLang="zh-CN"/>
              <a:pPr/>
              <a:t>40</a:t>
            </a:fld>
            <a:endParaRPr lang="en-US" altLang="zh-CN"/>
          </a:p>
        </p:txBody>
      </p:sp>
      <p:sp>
        <p:nvSpPr>
          <p:cNvPr id="99331" name="Rectangle 2"/>
          <p:cNvSpPr>
            <a:spLocks noGrp="1" noRot="1" noChangeAspect="1" noChangeArrowheads="1" noTextEdit="1"/>
          </p:cNvSpPr>
          <p:nvPr>
            <p:ph type="sldImg"/>
          </p:nvPr>
        </p:nvSpPr>
        <p:spPr>
          <a:xfrm>
            <a:off x="1146175" y="687388"/>
            <a:ext cx="4567238" cy="3425825"/>
          </a:xfrm>
          <a:solidFill>
            <a:srgbClr val="FFFFFF"/>
          </a:solidFill>
          <a:ln w="12700" cap="flat"/>
        </p:spPr>
      </p:sp>
      <p:sp>
        <p:nvSpPr>
          <p:cNvPr id="99332"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C1128024-C908-4FC6-AED1-605A62E0C9C0}" type="slidenum">
              <a:rPr lang="en-US" altLang="zh-CN"/>
              <a:pPr/>
              <a:t>41</a:t>
            </a:fld>
            <a:endParaRPr lang="en-US" altLang="zh-CN"/>
          </a:p>
        </p:txBody>
      </p:sp>
      <p:sp>
        <p:nvSpPr>
          <p:cNvPr id="100355" name="Rectangle 2"/>
          <p:cNvSpPr>
            <a:spLocks noGrp="1" noRot="1" noChangeAspect="1" noChangeArrowheads="1" noTextEdit="1"/>
          </p:cNvSpPr>
          <p:nvPr>
            <p:ph type="sldImg"/>
          </p:nvPr>
        </p:nvSpPr>
        <p:spPr>
          <a:xfrm>
            <a:off x="1146175" y="687388"/>
            <a:ext cx="4567238" cy="3425825"/>
          </a:xfrm>
          <a:solidFill>
            <a:srgbClr val="FFFFFF"/>
          </a:solidFill>
          <a:ln w="12700" cap="flat"/>
        </p:spPr>
      </p:sp>
      <p:sp>
        <p:nvSpPr>
          <p:cNvPr id="100356"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5F836FEC-795E-4D9E-870E-BA9805A547D8}" type="slidenum">
              <a:rPr lang="en-US" altLang="zh-CN"/>
              <a:pPr/>
              <a:t>43</a:t>
            </a:fld>
            <a:endParaRPr lang="en-US" altLang="zh-CN"/>
          </a:p>
        </p:txBody>
      </p:sp>
      <p:sp>
        <p:nvSpPr>
          <p:cNvPr id="106499" name="Rectangle 2"/>
          <p:cNvSpPr>
            <a:spLocks noGrp="1" noRot="1" noChangeAspect="1" noChangeArrowheads="1" noTextEdit="1"/>
          </p:cNvSpPr>
          <p:nvPr>
            <p:ph type="sldImg"/>
          </p:nvPr>
        </p:nvSpPr>
        <p:spPr>
          <a:xfrm>
            <a:off x="1146175" y="687388"/>
            <a:ext cx="4567238" cy="3425825"/>
          </a:xfrm>
          <a:solidFill>
            <a:srgbClr val="FFFFFF"/>
          </a:solidFill>
          <a:ln w="12700" cap="flat"/>
        </p:spPr>
      </p:sp>
      <p:sp>
        <p:nvSpPr>
          <p:cNvPr id="106500"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043DD7B9-6FBE-432F-9EB1-1E6899970137}" type="slidenum">
              <a:rPr lang="en-US" altLang="zh-CN"/>
              <a:pPr/>
              <a:t>44</a:t>
            </a:fld>
            <a:endParaRPr lang="en-US" altLang="zh-CN"/>
          </a:p>
        </p:txBody>
      </p:sp>
      <p:sp>
        <p:nvSpPr>
          <p:cNvPr id="122883" name="Rectangle 2"/>
          <p:cNvSpPr>
            <a:spLocks noGrp="1" noRot="1" noChangeAspect="1" noChangeArrowheads="1" noTextEdit="1"/>
          </p:cNvSpPr>
          <p:nvPr>
            <p:ph type="sldImg"/>
          </p:nvPr>
        </p:nvSpPr>
        <p:spPr>
          <a:xfrm>
            <a:off x="1146175" y="687388"/>
            <a:ext cx="4567238" cy="3425825"/>
          </a:xfrm>
          <a:solidFill>
            <a:srgbClr val="FFFFFF"/>
          </a:solidFill>
          <a:ln w="12700" cap="flat"/>
        </p:spPr>
      </p:sp>
      <p:sp>
        <p:nvSpPr>
          <p:cNvPr id="122884"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p>
            <a:fld id="{50261ACE-6FD1-45C3-BE6D-370EB710A933}" type="slidenum">
              <a:rPr lang="en-US" altLang="zh-CN"/>
              <a:pPr/>
              <a:t>49</a:t>
            </a:fld>
            <a:endParaRPr lang="en-US" altLang="zh-CN"/>
          </a:p>
        </p:txBody>
      </p:sp>
      <p:sp>
        <p:nvSpPr>
          <p:cNvPr id="119811" name="Rectangle 2"/>
          <p:cNvSpPr>
            <a:spLocks noGrp="1" noRot="1" noChangeAspect="1" noChangeArrowheads="1" noTextEdit="1"/>
          </p:cNvSpPr>
          <p:nvPr>
            <p:ph type="sldImg"/>
          </p:nvPr>
        </p:nvSpPr>
        <p:spPr>
          <a:xfrm>
            <a:off x="1146175" y="687388"/>
            <a:ext cx="4567238" cy="3425825"/>
          </a:xfrm>
          <a:solidFill>
            <a:srgbClr val="FFFFFF"/>
          </a:solidFill>
          <a:ln w="12700" cap="flat"/>
        </p:spPr>
      </p:sp>
      <p:sp>
        <p:nvSpPr>
          <p:cNvPr id="119812"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E9E72279-75DD-417F-B639-C81251DFAC41}" type="slidenum">
              <a:rPr lang="en-US" altLang="zh-CN"/>
              <a:pPr/>
              <a:t>51</a:t>
            </a:fld>
            <a:endParaRPr lang="en-US" altLang="zh-CN"/>
          </a:p>
        </p:txBody>
      </p:sp>
      <p:sp>
        <p:nvSpPr>
          <p:cNvPr id="107523" name="Rectangle 2"/>
          <p:cNvSpPr>
            <a:spLocks noChangeArrowheads="1"/>
          </p:cNvSpPr>
          <p:nvPr/>
        </p:nvSpPr>
        <p:spPr bwMode="auto">
          <a:xfrm>
            <a:off x="3886200" y="0"/>
            <a:ext cx="2971800" cy="457200"/>
          </a:xfrm>
          <a:prstGeom prst="rect">
            <a:avLst/>
          </a:prstGeom>
          <a:noFill/>
          <a:ln w="12700">
            <a:noFill/>
            <a:miter lim="800000"/>
            <a:headEnd/>
            <a:tailEnd/>
          </a:ln>
        </p:spPr>
        <p:txBody>
          <a:bodyPr wrap="none" anchor="ctr"/>
          <a:lstStyle/>
          <a:p>
            <a:endParaRPr lang="zh-CN" altLang="en-US"/>
          </a:p>
        </p:txBody>
      </p:sp>
      <p:sp>
        <p:nvSpPr>
          <p:cNvPr id="107524" name="Rectangle 3"/>
          <p:cNvSpPr>
            <a:spLocks noChangeArrowheads="1"/>
          </p:cNvSpPr>
          <p:nvPr/>
        </p:nvSpPr>
        <p:spPr bwMode="auto">
          <a:xfrm>
            <a:off x="3886200" y="8686800"/>
            <a:ext cx="2971800" cy="457200"/>
          </a:xfrm>
          <a:prstGeom prst="rect">
            <a:avLst/>
          </a:prstGeom>
          <a:noFill/>
          <a:ln w="12700">
            <a:noFill/>
            <a:miter lim="800000"/>
            <a:headEnd/>
            <a:tailEnd/>
          </a:ln>
        </p:spPr>
        <p:txBody>
          <a:bodyPr lIns="19050" tIns="0" rIns="19050" bIns="0" anchor="b"/>
          <a:lstStyle/>
          <a:p>
            <a:pPr algn="r" eaLnBrk="0" hangingPunct="0"/>
            <a:r>
              <a:rPr kumimoji="0" lang="en-NZ" altLang="zh-CN" sz="1000" i="1">
                <a:solidFill>
                  <a:schemeClr val="tx1"/>
                </a:solidFill>
                <a:ea typeface="宋体" pitchFamily="2" charset="-122"/>
              </a:rPr>
              <a:t>3</a:t>
            </a:r>
          </a:p>
        </p:txBody>
      </p:sp>
      <p:sp>
        <p:nvSpPr>
          <p:cNvPr id="107525" name="Rectangle 4"/>
          <p:cNvSpPr>
            <a:spLocks noChangeArrowheads="1"/>
          </p:cNvSpPr>
          <p:nvPr/>
        </p:nvSpPr>
        <p:spPr bwMode="auto">
          <a:xfrm>
            <a:off x="0" y="8686800"/>
            <a:ext cx="2971800" cy="457200"/>
          </a:xfrm>
          <a:prstGeom prst="rect">
            <a:avLst/>
          </a:prstGeom>
          <a:noFill/>
          <a:ln w="12700">
            <a:noFill/>
            <a:miter lim="800000"/>
            <a:headEnd/>
            <a:tailEnd/>
          </a:ln>
        </p:spPr>
        <p:txBody>
          <a:bodyPr wrap="none" anchor="ctr"/>
          <a:lstStyle/>
          <a:p>
            <a:endParaRPr lang="zh-CN" altLang="en-US"/>
          </a:p>
        </p:txBody>
      </p:sp>
      <p:sp>
        <p:nvSpPr>
          <p:cNvPr id="107526" name="Rectangle 5"/>
          <p:cNvSpPr>
            <a:spLocks noChangeArrowheads="1"/>
          </p:cNvSpPr>
          <p:nvPr/>
        </p:nvSpPr>
        <p:spPr bwMode="auto">
          <a:xfrm>
            <a:off x="0" y="0"/>
            <a:ext cx="2971800" cy="457200"/>
          </a:xfrm>
          <a:prstGeom prst="rect">
            <a:avLst/>
          </a:prstGeom>
          <a:noFill/>
          <a:ln w="12700">
            <a:noFill/>
            <a:miter lim="800000"/>
            <a:headEnd/>
            <a:tailEnd/>
          </a:ln>
        </p:spPr>
        <p:txBody>
          <a:bodyPr wrap="none" anchor="ctr"/>
          <a:lstStyle/>
          <a:p>
            <a:endParaRPr lang="zh-CN" altLang="en-US"/>
          </a:p>
        </p:txBody>
      </p:sp>
      <p:sp>
        <p:nvSpPr>
          <p:cNvPr id="107527" name="Rectangle 6"/>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107528" name="Rectangle 7"/>
          <p:cNvSpPr>
            <a:spLocks noGrp="1" noChangeArrowheads="1"/>
          </p:cNvSpPr>
          <p:nvPr>
            <p:ph type="body" idx="1"/>
          </p:nvPr>
        </p:nvSpPr>
        <p:spPr>
          <a:noFill/>
          <a:ln/>
        </p:spPr>
        <p:txBody>
          <a:bodyPr lIns="90488" tIns="44450" rIns="90488" bIns="44450"/>
          <a:lstStyle/>
          <a:p>
            <a:pPr eaLnBrk="1" hangingPunct="1"/>
            <a:endParaRPr lang="en-NZ"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52916096-8420-4514-B655-2C2FB37F7B44}" type="slidenum">
              <a:rPr lang="en-US" altLang="zh-CN"/>
              <a:pPr/>
              <a:t>52</a:t>
            </a:fld>
            <a:endParaRPr lang="en-US" altLang="zh-CN"/>
          </a:p>
        </p:txBody>
      </p:sp>
      <p:sp>
        <p:nvSpPr>
          <p:cNvPr id="110595" name="Rectangle 2"/>
          <p:cNvSpPr>
            <a:spLocks noGrp="1" noRot="1" noChangeAspect="1" noChangeArrowheads="1" noTextEdit="1"/>
          </p:cNvSpPr>
          <p:nvPr>
            <p:ph type="sldImg"/>
          </p:nvPr>
        </p:nvSpPr>
        <p:spPr>
          <a:xfrm>
            <a:off x="1146175" y="687388"/>
            <a:ext cx="4567238" cy="3425825"/>
          </a:xfrm>
          <a:solidFill>
            <a:srgbClr val="FFFFFF"/>
          </a:solidFill>
          <a:ln w="12700" cap="flat"/>
        </p:spPr>
      </p:sp>
      <p:sp>
        <p:nvSpPr>
          <p:cNvPr id="110596"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C8DF0326-CF79-4979-8683-5F67DC1D7468}" type="slidenum">
              <a:rPr lang="en-US" altLang="zh-CN"/>
              <a:pPr/>
              <a:t>53</a:t>
            </a:fld>
            <a:endParaRPr lang="en-US" altLang="zh-CN"/>
          </a:p>
        </p:txBody>
      </p:sp>
      <p:sp>
        <p:nvSpPr>
          <p:cNvPr id="111619" name="Rectangle 2"/>
          <p:cNvSpPr>
            <a:spLocks noGrp="1" noRot="1" noChangeAspect="1" noChangeArrowheads="1" noTextEdit="1"/>
          </p:cNvSpPr>
          <p:nvPr>
            <p:ph type="sldImg"/>
          </p:nvPr>
        </p:nvSpPr>
        <p:spPr>
          <a:xfrm>
            <a:off x="1146175" y="687388"/>
            <a:ext cx="4567238" cy="3425825"/>
          </a:xfrm>
          <a:solidFill>
            <a:srgbClr val="FFFFFF"/>
          </a:solidFill>
          <a:ln w="12700" cap="flat"/>
        </p:spPr>
      </p:sp>
      <p:sp>
        <p:nvSpPr>
          <p:cNvPr id="111620" name="Rectangle 3"/>
          <p:cNvSpPr>
            <a:spLocks noGrp="1" noChangeArrowheads="1"/>
          </p:cNvSpPr>
          <p:nvPr>
            <p:ph type="body" idx="1"/>
          </p:nvPr>
        </p:nvSpPr>
        <p:spPr>
          <a:noFill/>
          <a:ln/>
        </p:spPr>
        <p:txBody>
          <a:bodyPr lIns="92075" tIns="46038" rIns="92075" bIns="46038"/>
          <a:lstStyle/>
          <a:p>
            <a:pPr eaLnBrk="1" hangingPunct="1"/>
            <a:endParaRPr lang="en-AU"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对角圆角矩形 6"/>
          <p:cNvSpPr/>
          <p:nvPr/>
        </p:nvSpPr>
        <p:spPr>
          <a:xfrm>
            <a:off x="164592" y="146304"/>
            <a:ext cx="8814816" cy="2505456"/>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464234" y="381001"/>
            <a:ext cx="8229600" cy="2209800"/>
          </a:xfrm>
        </p:spPr>
        <p:txBody>
          <a:bodyPr lIns="45720" rIns="228600" anchor="b">
            <a:normAutofit/>
          </a:bodyPr>
          <a:lstStyle>
            <a:lvl1pPr marL="0" algn="r">
              <a:defRPr sz="4800"/>
            </a:lvl1pPr>
            <a:extLst/>
          </a:lstStyle>
          <a:p>
            <a:r>
              <a:rPr kumimoji="0" lang="zh-CN" altLang="en-US"/>
              <a:t>单击此处编辑母版标题样式</a:t>
            </a:r>
            <a:endParaRPr kumimoji="0" lang="en-US"/>
          </a:p>
        </p:txBody>
      </p:sp>
      <p:sp>
        <p:nvSpPr>
          <p:cNvPr id="9" name="副标题 8"/>
          <p:cNvSpPr>
            <a:spLocks noGrp="1"/>
          </p:cNvSpPr>
          <p:nvPr>
            <p:ph type="subTitle" idx="1"/>
          </p:nvPr>
        </p:nvSpPr>
        <p:spPr>
          <a:xfrm>
            <a:off x="2133600" y="2819400"/>
            <a:ext cx="6560234" cy="1752600"/>
          </a:xfrm>
        </p:spPr>
        <p:txBody>
          <a:bodyPr lIns="45720" rIns="246888"/>
          <a:lstStyle>
            <a:lvl1pPr marL="0" indent="0" algn="r">
              <a:spcBef>
                <a:spcPts val="0"/>
              </a:spcBef>
              <a:buNone/>
              <a:defRPr>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a:t>单击此处编辑母版副标题样式</a:t>
            </a:r>
            <a:endParaRPr kumimoji="0" lang="en-US"/>
          </a:p>
        </p:txBody>
      </p:sp>
      <p:sp>
        <p:nvSpPr>
          <p:cNvPr id="10" name="日期占位符 9"/>
          <p:cNvSpPr>
            <a:spLocks noGrp="1"/>
          </p:cNvSpPr>
          <p:nvPr>
            <p:ph type="dt" sz="half" idx="10"/>
          </p:nvPr>
        </p:nvSpPr>
        <p:spPr>
          <a:xfrm>
            <a:off x="5562600" y="6509004"/>
            <a:ext cx="3002280" cy="274320"/>
          </a:xfrm>
        </p:spPr>
        <p:txBody>
          <a:bodyPr vert="horz" rtlCol="0"/>
          <a:lstStyle/>
          <a:p>
            <a:fld id="{8F3D1608-1D3B-483A-8ABC-27E9F63BAF0E}" type="datetimeFigureOut">
              <a:rPr lang="zh-CN" altLang="en-US" smtClean="0"/>
              <a:pPr/>
              <a:t>2019/10/19</a:t>
            </a:fld>
            <a:endParaRPr lang="zh-CN" altLang="en-US"/>
          </a:p>
        </p:txBody>
      </p:sp>
      <p:sp>
        <p:nvSpPr>
          <p:cNvPr id="11" name="灯片编号占位符 10"/>
          <p:cNvSpPr>
            <a:spLocks noGrp="1"/>
          </p:cNvSpPr>
          <p:nvPr>
            <p:ph type="sldNum" sz="quarter" idx="11"/>
          </p:nvPr>
        </p:nvSpPr>
        <p:spPr>
          <a:xfrm>
            <a:off x="8638952" y="6509004"/>
            <a:ext cx="464288" cy="274320"/>
          </a:xfrm>
        </p:spPr>
        <p:txBody>
          <a:bodyPr vert="horz" rtlCol="0"/>
          <a:lstStyle>
            <a:lvl1pPr>
              <a:defRPr>
                <a:solidFill>
                  <a:schemeClr val="tx2">
                    <a:shade val="90000"/>
                  </a:schemeClr>
                </a:solidFill>
              </a:defRPr>
            </a:lvl1pPr>
            <a:extLst/>
          </a:lstStyle>
          <a:p>
            <a:fld id="{F180EB38-3EA6-49A3-894C-72B69A44EBBC}" type="slidenum">
              <a:rPr lang="zh-CN" altLang="en-US" smtClean="0"/>
              <a:pPr/>
              <a:t>‹#›</a:t>
            </a:fld>
            <a:endParaRPr lang="zh-CN" altLang="en-US"/>
          </a:p>
        </p:txBody>
      </p:sp>
      <p:sp>
        <p:nvSpPr>
          <p:cNvPr id="12" name="页脚占位符 11"/>
          <p:cNvSpPr>
            <a:spLocks noGrp="1"/>
          </p:cNvSpPr>
          <p:nvPr>
            <p:ph type="ftr" sz="quarter" idx="12"/>
          </p:nvPr>
        </p:nvSpPr>
        <p:spPr>
          <a:xfrm>
            <a:off x="1600200" y="6509004"/>
            <a:ext cx="3907464" cy="274320"/>
          </a:xfrm>
        </p:spPr>
        <p:txBody>
          <a:bodyPr vert="horz" rtlCol="0"/>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8F3D1608-1D3B-483A-8ABC-27E9F63BAF0E}" type="datetimeFigureOut">
              <a:rPr lang="zh-CN" altLang="en-US" smtClean="0"/>
              <a:pPr/>
              <a:t>2019/10/19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180EB38-3EA6-49A3-894C-72B69A44EBBC}"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1000128" y="3267456"/>
            <a:ext cx="74066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722376" y="498230"/>
            <a:ext cx="7772400" cy="2731008"/>
          </a:xfrm>
        </p:spPr>
        <p:txBody>
          <a:bodyPr rIns="100584"/>
          <a:lstStyle>
            <a:lvl1pPr algn="r">
              <a:buNone/>
              <a:defRPr sz="4000" b="1" cap="none">
                <a:solidFill>
                  <a:schemeClr val="accent1">
                    <a:tint val="95000"/>
                    <a:satMod val="200000"/>
                  </a:schemeClr>
                </a:solidFill>
              </a:defRPr>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3287713"/>
            <a:ext cx="7772400" cy="1509712"/>
          </a:xfrm>
        </p:spPr>
        <p:txBody>
          <a:bodyPr rIns="128016" anchor="t"/>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CN" altLang="en-US"/>
              <a:t>单击此处编辑母版文本样式</a:t>
            </a:r>
          </a:p>
        </p:txBody>
      </p:sp>
      <p:sp>
        <p:nvSpPr>
          <p:cNvPr id="8" name="日期占位符 7"/>
          <p:cNvSpPr>
            <a:spLocks noGrp="1"/>
          </p:cNvSpPr>
          <p:nvPr>
            <p:ph type="dt" sz="half" idx="10"/>
          </p:nvPr>
        </p:nvSpPr>
        <p:spPr>
          <a:xfrm>
            <a:off x="5562600" y="6513670"/>
            <a:ext cx="3002280" cy="274320"/>
          </a:xfrm>
        </p:spPr>
        <p:txBody>
          <a:bodyPr vert="horz" rtlCol="0"/>
          <a:lstStyle/>
          <a:p>
            <a:fld id="{8F3D1608-1D3B-483A-8ABC-27E9F63BAF0E}" type="datetimeFigureOut">
              <a:rPr lang="zh-CN" altLang="en-US" smtClean="0"/>
              <a:pPr/>
              <a:t>2019/10/19</a:t>
            </a:fld>
            <a:endParaRPr lang="zh-CN" altLang="en-US"/>
          </a:p>
        </p:txBody>
      </p:sp>
      <p:sp>
        <p:nvSpPr>
          <p:cNvPr id="9" name="灯片编号占位符 8"/>
          <p:cNvSpPr>
            <a:spLocks noGrp="1"/>
          </p:cNvSpPr>
          <p:nvPr>
            <p:ph type="sldNum" sz="quarter" idx="11"/>
          </p:nvPr>
        </p:nvSpPr>
        <p:spPr>
          <a:xfrm>
            <a:off x="8638952" y="6513670"/>
            <a:ext cx="464288" cy="274320"/>
          </a:xfrm>
        </p:spPr>
        <p:txBody>
          <a:bodyPr vert="horz" rtlCol="0"/>
          <a:lstStyle>
            <a:lvl1pPr>
              <a:defRPr>
                <a:solidFill>
                  <a:schemeClr val="tx2">
                    <a:shade val="90000"/>
                  </a:schemeClr>
                </a:solidFill>
              </a:defRPr>
            </a:lvl1pPr>
            <a:extLst/>
          </a:lstStyle>
          <a:p>
            <a:fld id="{F180EB38-3EA6-49A3-894C-72B69A44EBBC}" type="slidenum">
              <a:rPr lang="zh-CN" altLang="en-US" smtClean="0"/>
              <a:pPr/>
              <a:t>‹#›</a:t>
            </a:fld>
            <a:endParaRPr lang="zh-CN" altLang="en-US"/>
          </a:p>
        </p:txBody>
      </p:sp>
      <p:sp>
        <p:nvSpPr>
          <p:cNvPr id="10" name="页脚占位符 9"/>
          <p:cNvSpPr>
            <a:spLocks noGrp="1"/>
          </p:cNvSpPr>
          <p:nvPr>
            <p:ph type="ftr" sz="quarter" idx="12"/>
          </p:nvPr>
        </p:nvSpPr>
        <p:spPr>
          <a:xfrm>
            <a:off x="1600200" y="6513670"/>
            <a:ext cx="3907464" cy="274320"/>
          </a:xfrm>
        </p:spPr>
        <p:txBody>
          <a:bodyPr vert="horz" rtlCol="0"/>
          <a:lstStyle/>
          <a:p>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45920"/>
            <a:ext cx="4038600" cy="45262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45920"/>
            <a:ext cx="4038600" cy="45262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8F3D1608-1D3B-483A-8ABC-27E9F63BAF0E}" type="datetimeFigureOut">
              <a:rPr lang="zh-CN" altLang="en-US" smtClean="0"/>
              <a:pPr/>
              <a:t>2019/10/19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8641080" y="6514568"/>
            <a:ext cx="464288" cy="274320"/>
          </a:xfrm>
        </p:spPr>
        <p:txBody>
          <a:bodyPr/>
          <a:lstStyle/>
          <a:p>
            <a:fld id="{F180EB38-3EA6-49A3-894C-72B69A44EBBC}" type="slidenum">
              <a:rPr lang="zh-CN" altLang="en-US" smtClean="0"/>
              <a:pPr/>
              <a:t>‹#›</a:t>
            </a:fld>
            <a:endParaRPr lang="zh-CN" altLang="en-US"/>
          </a:p>
        </p:txBody>
      </p:sp>
      <p:sp>
        <p:nvSpPr>
          <p:cNvPr id="10" name="矩形 9"/>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616744" y="216521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p>
            <a:pPr algn="ctr" eaLnBrk="1" latinLnBrk="0" hangingPunct="1"/>
            <a:endParaRPr kumimoji="0" lang="en-US"/>
          </a:p>
        </p:txBody>
      </p:sp>
      <p:sp>
        <p:nvSpPr>
          <p:cNvPr id="11" name="矩形 10"/>
          <p:cNvSpPr/>
          <p:nvPr/>
        </p:nvSpPr>
        <p:spPr>
          <a:xfrm>
            <a:off x="4800600" y="216521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p>
            <a:pPr algn="ctr" eaLnBrk="1" latinLnBrk="0" hangingPunct="1"/>
            <a:endParaRPr kumimoji="0" lang="en-US"/>
          </a:p>
        </p:txBody>
      </p:sp>
      <p:sp>
        <p:nvSpPr>
          <p:cNvPr id="2" name="标题 1"/>
          <p:cNvSpPr>
            <a:spLocks noGrp="1"/>
          </p:cNvSpPr>
          <p:nvPr>
            <p:ph type="title"/>
          </p:nvPr>
        </p:nvSpPr>
        <p:spPr>
          <a:xfrm>
            <a:off x="457200" y="251948"/>
            <a:ext cx="8229600" cy="1143000"/>
          </a:xfrm>
        </p:spPr>
        <p:txBody>
          <a:bodyPr anchor="b"/>
          <a:lstStyle>
            <a:lvl1pPr>
              <a:defRPr/>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645025" y="1535113"/>
            <a:ext cx="4041775"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2362200"/>
            <a:ext cx="4040188" cy="3941763"/>
          </a:xfrm>
        </p:spPr>
        <p:txBody>
          <a:bodyPr lIns="91440"/>
          <a:lstStyle>
            <a:lvl1pPr>
              <a:defRPr sz="22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645025" y="2362200"/>
            <a:ext cx="4041775" cy="3941763"/>
          </a:xfrm>
        </p:spPr>
        <p:txBody>
          <a:bodyPr/>
          <a:lstStyle>
            <a:lvl1pPr>
              <a:defRPr sz="22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8F3D1608-1D3B-483A-8ABC-27E9F63BAF0E}" type="datetimeFigureOut">
              <a:rPr lang="zh-CN" altLang="en-US" smtClean="0"/>
              <a:pPr/>
              <a:t>2019/10/19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a:xfrm>
            <a:off x="8641080" y="6514568"/>
            <a:ext cx="464288" cy="274320"/>
          </a:xfrm>
        </p:spPr>
        <p:txBody>
          <a:bodyPr/>
          <a:lstStyle/>
          <a:p>
            <a:fld id="{F180EB38-3EA6-49A3-894C-72B69A44EBBC}"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53218"/>
            <a:ext cx="8229600" cy="1143000"/>
          </a:xfrm>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8F3D1608-1D3B-483A-8ABC-27E9F63BAF0E}" type="datetimeFigureOut">
              <a:rPr lang="zh-CN" altLang="en-US" smtClean="0"/>
              <a:pPr/>
              <a:t>2019/10/19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180EB38-3EA6-49A3-894C-72B69A44EBBC}" type="slidenum">
              <a:rPr lang="zh-CN" altLang="en-US" smtClean="0"/>
              <a:pPr/>
              <a:t>‹#›</a:t>
            </a:fld>
            <a:endParaRPr lang="zh-CN" altLang="en-US"/>
          </a:p>
        </p:txBody>
      </p:sp>
      <p:sp>
        <p:nvSpPr>
          <p:cNvPr id="7" name="矩形 6"/>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F3D1608-1D3B-483A-8ABC-27E9F63BAF0E}" type="datetimeFigureOut">
              <a:rPr lang="zh-CN" altLang="en-US" smtClean="0"/>
              <a:pPr/>
              <a:t>2019/10/19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180EB38-3EA6-49A3-894C-72B69A44EBBC}"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5057552" y="105765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4963136" y="304800"/>
            <a:ext cx="3931920" cy="762000"/>
          </a:xfrm>
        </p:spPr>
        <p:txBody>
          <a:bodyPr anchor="b"/>
          <a:lstStyle>
            <a:lvl1pPr marL="0" algn="r">
              <a:buNone/>
              <a:defRPr sz="2000" b="1"/>
            </a:lvl1pPr>
            <a:extLst/>
          </a:lstStyle>
          <a:p>
            <a:r>
              <a:rPr kumimoji="0" lang="zh-CN" altLang="en-US"/>
              <a:t>单击此处编辑母版标题样式</a:t>
            </a:r>
            <a:endParaRPr kumimoji="0" lang="en-US"/>
          </a:p>
        </p:txBody>
      </p:sp>
      <p:sp>
        <p:nvSpPr>
          <p:cNvPr id="3" name="文本占位符 2"/>
          <p:cNvSpPr>
            <a:spLocks noGrp="1"/>
          </p:cNvSpPr>
          <p:nvPr>
            <p:ph type="body" idx="2"/>
          </p:nvPr>
        </p:nvSpPr>
        <p:spPr>
          <a:xfrm>
            <a:off x="4963136" y="1107560"/>
            <a:ext cx="3931920" cy="1066800"/>
          </a:xfrm>
        </p:spPr>
        <p:txBody>
          <a:bodyPr/>
          <a:lstStyle>
            <a:lvl1pPr marL="0" indent="0" algn="r">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zh-CN" altLang="en-US"/>
              <a:t>单击此处编辑母版文本样式</a:t>
            </a:r>
          </a:p>
        </p:txBody>
      </p:sp>
      <p:sp>
        <p:nvSpPr>
          <p:cNvPr id="4" name="内容占位符 3"/>
          <p:cNvSpPr>
            <a:spLocks noGrp="1"/>
          </p:cNvSpPr>
          <p:nvPr>
            <p:ph sz="half" idx="1"/>
          </p:nvPr>
        </p:nvSpPr>
        <p:spPr>
          <a:xfrm>
            <a:off x="228600" y="2209800"/>
            <a:ext cx="8666456" cy="3977640"/>
          </a:xfrm>
        </p:spPr>
        <p:txBody>
          <a:bodyPr/>
          <a:lstStyle>
            <a:lvl1pPr marL="292608">
              <a:defRPr sz="3200"/>
            </a:lvl1pPr>
            <a:lvl2pPr marL="594360">
              <a:defRPr sz="2800"/>
            </a:lvl2pPr>
            <a:lvl3pPr marL="822960">
              <a:defRPr sz="2400"/>
            </a:lvl3pPr>
            <a:lvl4pPr marL="1051560">
              <a:defRPr sz="2000"/>
            </a:lvl4pPr>
            <a:lvl5pPr marL="1261872">
              <a:defRPr sz="20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9" name="日期占位符 8"/>
          <p:cNvSpPr>
            <a:spLocks noGrp="1"/>
          </p:cNvSpPr>
          <p:nvPr>
            <p:ph type="dt" sz="half" idx="10"/>
          </p:nvPr>
        </p:nvSpPr>
        <p:spPr>
          <a:xfrm>
            <a:off x="5562600" y="6513670"/>
            <a:ext cx="3002280" cy="274320"/>
          </a:xfrm>
        </p:spPr>
        <p:txBody>
          <a:bodyPr vert="horz" rtlCol="0"/>
          <a:lstStyle/>
          <a:p>
            <a:fld id="{8F3D1608-1D3B-483A-8ABC-27E9F63BAF0E}" type="datetimeFigureOut">
              <a:rPr lang="zh-CN" altLang="en-US" smtClean="0"/>
              <a:pPr/>
              <a:t>2019/10/19</a:t>
            </a:fld>
            <a:endParaRPr lang="zh-CN" altLang="en-US"/>
          </a:p>
        </p:txBody>
      </p:sp>
      <p:sp>
        <p:nvSpPr>
          <p:cNvPr id="10" name="灯片编号占位符 9"/>
          <p:cNvSpPr>
            <a:spLocks noGrp="1"/>
          </p:cNvSpPr>
          <p:nvPr>
            <p:ph type="sldNum" sz="quarter" idx="11"/>
          </p:nvPr>
        </p:nvSpPr>
        <p:spPr>
          <a:xfrm>
            <a:off x="8638952" y="6513670"/>
            <a:ext cx="464288" cy="274320"/>
          </a:xfrm>
        </p:spPr>
        <p:txBody>
          <a:bodyPr vert="horz" rtlCol="0"/>
          <a:lstStyle>
            <a:lvl1pPr>
              <a:defRPr>
                <a:solidFill>
                  <a:schemeClr val="tx2">
                    <a:shade val="90000"/>
                  </a:schemeClr>
                </a:solidFill>
              </a:defRPr>
            </a:lvl1pPr>
            <a:extLst/>
          </a:lstStyle>
          <a:p>
            <a:fld id="{F180EB38-3EA6-49A3-894C-72B69A44EBBC}" type="slidenum">
              <a:rPr lang="zh-CN" altLang="en-US" smtClean="0"/>
              <a:pPr/>
              <a:t>‹#›</a:t>
            </a:fld>
            <a:endParaRPr lang="zh-CN" altLang="en-US"/>
          </a:p>
        </p:txBody>
      </p:sp>
      <p:sp>
        <p:nvSpPr>
          <p:cNvPr id="11" name="页脚占位符 10"/>
          <p:cNvSpPr>
            <a:spLocks noGrp="1"/>
          </p:cNvSpPr>
          <p:nvPr>
            <p:ph type="ftr" sz="quarter" idx="12"/>
          </p:nvPr>
        </p:nvSpPr>
        <p:spPr>
          <a:xfrm>
            <a:off x="1600200" y="6513670"/>
            <a:ext cx="3907464" cy="274320"/>
          </a:xfrm>
        </p:spPr>
        <p:txBody>
          <a:bodyPr vert="horz" rtlCol="0"/>
          <a:lstStyle/>
          <a:p>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040443" y="4724400"/>
            <a:ext cx="5486400" cy="664536"/>
          </a:xfrm>
        </p:spPr>
        <p:txBody>
          <a:bodyPr anchor="b"/>
          <a:lstStyle>
            <a:lvl1pPr marL="0" algn="r">
              <a:buNone/>
              <a:defRPr sz="2000" b="1"/>
            </a:lvl1pPr>
            <a:extLst/>
          </a:lstStyle>
          <a:p>
            <a:r>
              <a:rPr kumimoji="0" lang="zh-CN" altLang="en-US"/>
              <a:t>单击此处编辑母版标题样式</a:t>
            </a:r>
            <a:endParaRPr kumimoji="0" lang="en-US"/>
          </a:p>
        </p:txBody>
      </p:sp>
      <p:sp>
        <p:nvSpPr>
          <p:cNvPr id="4" name="文本占位符 3"/>
          <p:cNvSpPr>
            <a:spLocks noGrp="1"/>
          </p:cNvSpPr>
          <p:nvPr>
            <p:ph type="body" sz="half" idx="2"/>
          </p:nvPr>
        </p:nvSpPr>
        <p:spPr>
          <a:xfrm>
            <a:off x="3040443" y="5388936"/>
            <a:ext cx="5486400" cy="912255"/>
          </a:xfrm>
        </p:spPr>
        <p:txBody>
          <a:bodyPr/>
          <a:lstStyle>
            <a:lvl1pPr marL="0" indent="0" algn="r">
              <a:spcBef>
                <a:spcPts val="0"/>
              </a:spcBef>
              <a:buNone/>
              <a:defRPr sz="1400"/>
            </a:lvl1pPr>
            <a:lvl2pPr>
              <a:defRPr sz="1200"/>
            </a:lvl2pPr>
            <a:lvl3pPr>
              <a:defRPr sz="1000"/>
            </a:lvl3pPr>
            <a:lvl4pPr>
              <a:defRPr sz="900"/>
            </a:lvl4pPr>
            <a:lvl5pPr>
              <a:defRPr sz="900"/>
            </a:lvl5pPr>
            <a:extLst/>
          </a:lstStyle>
          <a:p>
            <a:pPr lvl="0" eaLnBrk="1" latinLnBrk="0" hangingPunct="1"/>
            <a:r>
              <a:rPr kumimoji="0" lang="zh-CN" altLang="en-US"/>
              <a:t>单击此处编辑母版文本样式</a:t>
            </a:r>
          </a:p>
        </p:txBody>
      </p:sp>
      <p:sp>
        <p:nvSpPr>
          <p:cNvPr id="13" name="图片占位符 12"/>
          <p:cNvSpPr>
            <a:spLocks noGrp="1"/>
          </p:cNvSpPr>
          <p:nvPr>
            <p:ph type="pic" idx="1"/>
          </p:nvPr>
        </p:nvSpPr>
        <p:spPr>
          <a:xfrm>
            <a:off x="304800" y="249864"/>
            <a:ext cx="8534400" cy="4343400"/>
          </a:xfrm>
          <a:prstGeom prst="round2DiagRect">
            <a:avLst>
              <a:gd name="adj1" fmla="val 11403"/>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extLst/>
          </a:lstStyle>
          <a:p>
            <a:pPr marL="0" algn="l" rtl="0" eaLnBrk="1" latinLnBrk="0" hangingPunct="1"/>
            <a:r>
              <a:rPr kumimoji="0" lang="zh-CN" altLang="en-US">
                <a:solidFill>
                  <a:schemeClr val="lt1"/>
                </a:solidFill>
                <a:latin typeface="+mn-lt"/>
                <a:ea typeface="+mn-ea"/>
                <a:cs typeface="+mn-cs"/>
              </a:rPr>
              <a:t>单击图标添加图片</a:t>
            </a:r>
            <a:endParaRPr kumimoji="0" lang="en-US" dirty="0">
              <a:solidFill>
                <a:schemeClr val="lt1"/>
              </a:solidFill>
              <a:latin typeface="+mn-lt"/>
              <a:ea typeface="+mn-ea"/>
              <a:cs typeface="+mn-cs"/>
            </a:endParaRPr>
          </a:p>
        </p:txBody>
      </p:sp>
      <p:sp>
        <p:nvSpPr>
          <p:cNvPr id="8" name="日期占位符 7"/>
          <p:cNvSpPr>
            <a:spLocks noGrp="1"/>
          </p:cNvSpPr>
          <p:nvPr>
            <p:ph type="dt" sz="half" idx="10"/>
          </p:nvPr>
        </p:nvSpPr>
        <p:spPr>
          <a:xfrm>
            <a:off x="5562600" y="6509004"/>
            <a:ext cx="3002280" cy="274320"/>
          </a:xfrm>
        </p:spPr>
        <p:txBody>
          <a:bodyPr vert="horz" rtlCol="0"/>
          <a:lstStyle/>
          <a:p>
            <a:fld id="{8F3D1608-1D3B-483A-8ABC-27E9F63BAF0E}" type="datetimeFigureOut">
              <a:rPr lang="zh-CN" altLang="en-US" smtClean="0"/>
              <a:pPr/>
              <a:t>2019/10/19</a:t>
            </a:fld>
            <a:endParaRPr lang="zh-CN" altLang="en-US"/>
          </a:p>
        </p:txBody>
      </p:sp>
      <p:sp>
        <p:nvSpPr>
          <p:cNvPr id="9" name="灯片编号占位符 8"/>
          <p:cNvSpPr>
            <a:spLocks noGrp="1"/>
          </p:cNvSpPr>
          <p:nvPr>
            <p:ph type="sldNum" sz="quarter" idx="11"/>
          </p:nvPr>
        </p:nvSpPr>
        <p:spPr>
          <a:xfrm>
            <a:off x="8638952" y="6509004"/>
            <a:ext cx="464288" cy="274320"/>
          </a:xfrm>
        </p:spPr>
        <p:txBody>
          <a:bodyPr vert="horz" rtlCol="0"/>
          <a:lstStyle>
            <a:lvl1pPr>
              <a:defRPr>
                <a:solidFill>
                  <a:schemeClr val="tx2">
                    <a:shade val="90000"/>
                  </a:schemeClr>
                </a:solidFill>
              </a:defRPr>
            </a:lvl1pPr>
            <a:extLst/>
          </a:lstStyle>
          <a:p>
            <a:fld id="{F180EB38-3EA6-49A3-894C-72B69A44EBBC}" type="slidenum">
              <a:rPr lang="zh-CN" altLang="en-US" smtClean="0"/>
              <a:pPr/>
              <a:t>‹#›</a:t>
            </a:fld>
            <a:endParaRPr lang="zh-CN" altLang="en-US"/>
          </a:p>
        </p:txBody>
      </p:sp>
      <p:sp>
        <p:nvSpPr>
          <p:cNvPr id="10" name="页脚占位符 9"/>
          <p:cNvSpPr>
            <a:spLocks noGrp="1"/>
          </p:cNvSpPr>
          <p:nvPr>
            <p:ph type="ftr" sz="quarter" idx="12"/>
          </p:nvPr>
        </p:nvSpPr>
        <p:spPr>
          <a:xfrm>
            <a:off x="1600200" y="6509004"/>
            <a:ext cx="3907464" cy="274320"/>
          </a:xfrm>
        </p:spPr>
        <p:txBody>
          <a:bodyPr vert="horz" rtlCol="0"/>
          <a:lstStyle/>
          <a:p>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8F3D1608-1D3B-483A-8ABC-27E9F63BAF0E}" type="datetimeFigureOut">
              <a:rPr lang="zh-CN" altLang="en-US" smtClean="0"/>
              <a:pPr/>
              <a:t>2019/10/19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180EB38-3EA6-49A3-894C-72B69A44EBBC}"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lvl1pPr algn="l">
              <a:defRPr/>
            </a:lvl1pPr>
            <a:extLs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0198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8F3D1608-1D3B-483A-8ABC-27E9F63BAF0E}" type="datetimeFigureOut">
              <a:rPr lang="zh-CN" altLang="en-US" smtClean="0"/>
              <a:pPr/>
              <a:t>2019/10/19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180EB38-3EA6-49A3-894C-72B69A44EBBC}"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685800"/>
            <a:ext cx="8540750" cy="1143000"/>
          </a:xfrm>
        </p:spPr>
        <p:txBody>
          <a:bodyPr/>
          <a:lstStyle/>
          <a:p>
            <a:r>
              <a:rPr lang="zh-CN" altLang="en-US"/>
              <a:t>单击此处编辑母版标题样式</a:t>
            </a:r>
          </a:p>
        </p:txBody>
      </p:sp>
      <p:sp>
        <p:nvSpPr>
          <p:cNvPr id="3" name="内容占位符 2"/>
          <p:cNvSpPr>
            <a:spLocks noGrp="1"/>
          </p:cNvSpPr>
          <p:nvPr>
            <p:ph sz="half" idx="1"/>
          </p:nvPr>
        </p:nvSpPr>
        <p:spPr>
          <a:xfrm>
            <a:off x="304800" y="1981200"/>
            <a:ext cx="4194175"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51375" y="1981200"/>
            <a:ext cx="4194175"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51375" y="4000500"/>
            <a:ext cx="4194175"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301625" y="6019800"/>
            <a:ext cx="2289175" cy="476250"/>
          </a:xfrm>
        </p:spPr>
        <p:txBody>
          <a:bodyPr/>
          <a:lstStyle>
            <a:lvl1pPr>
              <a:defRPr/>
            </a:lvl1pPr>
          </a:lstStyle>
          <a:p>
            <a:endParaRPr lang="en-US" altLang="zh-CN">
              <a:solidFill>
                <a:srgbClr val="0033CC"/>
              </a:solidFill>
            </a:endParaRPr>
          </a:p>
        </p:txBody>
      </p:sp>
      <p:sp>
        <p:nvSpPr>
          <p:cNvPr id="7" name="页脚占位符 6"/>
          <p:cNvSpPr>
            <a:spLocks noGrp="1"/>
          </p:cNvSpPr>
          <p:nvPr>
            <p:ph type="ftr" sz="quarter" idx="11"/>
          </p:nvPr>
        </p:nvSpPr>
        <p:spPr>
          <a:xfrm>
            <a:off x="3124200" y="6019800"/>
            <a:ext cx="2895600" cy="476250"/>
          </a:xfrm>
        </p:spPr>
        <p:txBody>
          <a:bodyPr/>
          <a:lstStyle>
            <a:lvl1pPr>
              <a:defRPr/>
            </a:lvl1pPr>
          </a:lstStyle>
          <a:p>
            <a:endParaRPr lang="en-US" altLang="zh-CN">
              <a:solidFill>
                <a:srgbClr val="0033CC"/>
              </a:solidFill>
            </a:endParaRPr>
          </a:p>
        </p:txBody>
      </p:sp>
      <p:sp>
        <p:nvSpPr>
          <p:cNvPr id="8" name="灯片编号占位符 7"/>
          <p:cNvSpPr>
            <a:spLocks noGrp="1"/>
          </p:cNvSpPr>
          <p:nvPr>
            <p:ph type="sldNum" sz="quarter" idx="12"/>
          </p:nvPr>
        </p:nvSpPr>
        <p:spPr>
          <a:xfrm>
            <a:off x="6553200" y="6019800"/>
            <a:ext cx="2289175" cy="476250"/>
          </a:xfrm>
        </p:spPr>
        <p:txBody>
          <a:bodyPr/>
          <a:lstStyle>
            <a:lvl1pPr>
              <a:defRPr/>
            </a:lvl1pPr>
          </a:lstStyle>
          <a:p>
            <a:fld id="{4AB46CE0-647A-4BFB-87D0-6CEB3C0DC01F}"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3871852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01625" y="685800"/>
            <a:ext cx="8540750" cy="1143000"/>
          </a:xfrm>
        </p:spPr>
        <p:txBody>
          <a:bodyPr/>
          <a:lstStyle/>
          <a:p>
            <a:r>
              <a:rPr lang="zh-CN" altLang="en-US"/>
              <a:t>单击此处编辑母版标题样式</a:t>
            </a:r>
          </a:p>
        </p:txBody>
      </p:sp>
      <p:sp>
        <p:nvSpPr>
          <p:cNvPr id="3" name="内容占位符 2"/>
          <p:cNvSpPr>
            <a:spLocks noGrp="1"/>
          </p:cNvSpPr>
          <p:nvPr>
            <p:ph sz="quarter" idx="1"/>
          </p:nvPr>
        </p:nvSpPr>
        <p:spPr>
          <a:xfrm>
            <a:off x="304800" y="1981200"/>
            <a:ext cx="4194175"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51375" y="1981200"/>
            <a:ext cx="4194175"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304800" y="4000500"/>
            <a:ext cx="4194175"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51375" y="4000500"/>
            <a:ext cx="4194175"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301625" y="6019800"/>
            <a:ext cx="2289175" cy="476250"/>
          </a:xfrm>
        </p:spPr>
        <p:txBody>
          <a:bodyPr/>
          <a:lstStyle>
            <a:lvl1pPr>
              <a:defRPr/>
            </a:lvl1pPr>
          </a:lstStyle>
          <a:p>
            <a:endParaRPr lang="en-US" altLang="zh-CN">
              <a:solidFill>
                <a:srgbClr val="0033CC"/>
              </a:solidFill>
            </a:endParaRPr>
          </a:p>
        </p:txBody>
      </p:sp>
      <p:sp>
        <p:nvSpPr>
          <p:cNvPr id="8" name="页脚占位符 7"/>
          <p:cNvSpPr>
            <a:spLocks noGrp="1"/>
          </p:cNvSpPr>
          <p:nvPr>
            <p:ph type="ftr" sz="quarter" idx="11"/>
          </p:nvPr>
        </p:nvSpPr>
        <p:spPr>
          <a:xfrm>
            <a:off x="3124200" y="6019800"/>
            <a:ext cx="2895600" cy="476250"/>
          </a:xfrm>
        </p:spPr>
        <p:txBody>
          <a:bodyPr/>
          <a:lstStyle>
            <a:lvl1pPr>
              <a:defRPr/>
            </a:lvl1pPr>
          </a:lstStyle>
          <a:p>
            <a:endParaRPr lang="en-US" altLang="zh-CN">
              <a:solidFill>
                <a:srgbClr val="0033CC"/>
              </a:solidFill>
            </a:endParaRPr>
          </a:p>
        </p:txBody>
      </p:sp>
      <p:sp>
        <p:nvSpPr>
          <p:cNvPr id="9" name="灯片编号占位符 8"/>
          <p:cNvSpPr>
            <a:spLocks noGrp="1"/>
          </p:cNvSpPr>
          <p:nvPr>
            <p:ph type="sldNum" sz="quarter" idx="12"/>
          </p:nvPr>
        </p:nvSpPr>
        <p:spPr>
          <a:xfrm>
            <a:off x="6553200" y="6019800"/>
            <a:ext cx="2289175" cy="476250"/>
          </a:xfrm>
        </p:spPr>
        <p:txBody>
          <a:bodyPr/>
          <a:lstStyle>
            <a:lvl1pPr>
              <a:defRPr/>
            </a:lvl1pPr>
          </a:lstStyle>
          <a:p>
            <a:fld id="{CC0604C8-95F5-45E2-A5F3-120783B2595A}" type="slidenum">
              <a:rPr lang="en-US" altLang="zh-CN">
                <a:solidFill>
                  <a:srgbClr val="0033CC"/>
                </a:solidFill>
              </a:rPr>
              <a:pPr/>
              <a:t>‹#›</a:t>
            </a:fld>
            <a:endParaRPr lang="en-US" altLang="zh-CN">
              <a:solidFill>
                <a:srgbClr val="0033CC"/>
              </a:solidFill>
            </a:endParaRPr>
          </a:p>
        </p:txBody>
      </p:sp>
    </p:spTree>
    <p:extLst>
      <p:ext uri="{BB962C8B-B14F-4D97-AF65-F5344CB8AC3E}">
        <p14:creationId xmlns:p14="http://schemas.microsoft.com/office/powerpoint/2010/main" val="2267460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7" name="对角圆角矩形 6"/>
          <p:cNvSpPr/>
          <p:nvPr/>
        </p:nvSpPr>
        <p:spPr>
          <a:xfrm>
            <a:off x="164592" y="147085"/>
            <a:ext cx="8810846" cy="6565392"/>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页脚占位符 2"/>
          <p:cNvSpPr>
            <a:spLocks noGrp="1"/>
          </p:cNvSpPr>
          <p:nvPr>
            <p:ph type="ftr" sz="quarter" idx="3"/>
          </p:nvPr>
        </p:nvSpPr>
        <p:spPr>
          <a:xfrm>
            <a:off x="1295400" y="6400800"/>
            <a:ext cx="4212264" cy="274320"/>
          </a:xfrm>
          <a:prstGeom prst="rect">
            <a:avLst/>
          </a:prstGeom>
        </p:spPr>
        <p:txBody>
          <a:bodyPr/>
          <a:lstStyle>
            <a:lvl1pPr algn="r" eaLnBrk="1" latinLnBrk="0" hangingPunct="1">
              <a:defRPr kumimoji="0" sz="1300">
                <a:solidFill>
                  <a:schemeClr val="bg2">
                    <a:tint val="60000"/>
                    <a:satMod val="155000"/>
                  </a:schemeClr>
                </a:solidFill>
              </a:defRPr>
            </a:lvl1pPr>
            <a:extLst/>
          </a:lstStyle>
          <a:p>
            <a:endParaRPr lang="zh-CN" altLang="en-US"/>
          </a:p>
        </p:txBody>
      </p:sp>
      <p:sp>
        <p:nvSpPr>
          <p:cNvPr id="14" name="日期占位符 13"/>
          <p:cNvSpPr>
            <a:spLocks noGrp="1"/>
          </p:cNvSpPr>
          <p:nvPr>
            <p:ph type="dt" sz="half" idx="2"/>
          </p:nvPr>
        </p:nvSpPr>
        <p:spPr>
          <a:xfrm>
            <a:off x="5562600" y="6400800"/>
            <a:ext cx="3002280" cy="274320"/>
          </a:xfrm>
          <a:prstGeom prst="rect">
            <a:avLst/>
          </a:prstGeom>
        </p:spPr>
        <p:txBody>
          <a:bodyPr/>
          <a:lstStyle>
            <a:lvl1pPr algn="l" eaLnBrk="1" latinLnBrk="0" hangingPunct="1">
              <a:defRPr kumimoji="0" sz="1300">
                <a:solidFill>
                  <a:schemeClr val="bg2">
                    <a:tint val="60000"/>
                    <a:satMod val="155000"/>
                  </a:schemeClr>
                </a:solidFill>
              </a:defRPr>
            </a:lvl1pPr>
            <a:extLst/>
          </a:lstStyle>
          <a:p>
            <a:fld id="{8F3D1608-1D3B-483A-8ABC-27E9F63BAF0E}" type="datetimeFigureOut">
              <a:rPr lang="zh-CN" altLang="en-US" smtClean="0"/>
              <a:pPr/>
              <a:t>2019/10/19</a:t>
            </a:fld>
            <a:endParaRPr lang="zh-CN" altLang="en-US"/>
          </a:p>
        </p:txBody>
      </p:sp>
      <p:sp>
        <p:nvSpPr>
          <p:cNvPr id="23" name="灯片编号占位符 22"/>
          <p:cNvSpPr>
            <a:spLocks noGrp="1"/>
          </p:cNvSpPr>
          <p:nvPr>
            <p:ph type="sldNum" sz="quarter" idx="4"/>
          </p:nvPr>
        </p:nvSpPr>
        <p:spPr>
          <a:xfrm>
            <a:off x="8638952" y="6514568"/>
            <a:ext cx="464288" cy="274320"/>
          </a:xfrm>
          <a:prstGeom prst="rect">
            <a:avLst/>
          </a:prstGeom>
        </p:spPr>
        <p:txBody>
          <a:bodyPr anchor="ctr"/>
          <a:lstStyle>
            <a:lvl1pPr algn="r" eaLnBrk="1" latinLnBrk="0" hangingPunct="1">
              <a:defRPr kumimoji="0" sz="1600">
                <a:solidFill>
                  <a:schemeClr val="tx2">
                    <a:shade val="90000"/>
                  </a:schemeClr>
                </a:solidFill>
                <a:effectLst/>
              </a:defRPr>
            </a:lvl1pPr>
            <a:extLst/>
          </a:lstStyle>
          <a:p>
            <a:fld id="{F180EB38-3EA6-49A3-894C-72B69A44EBBC}" type="slidenum">
              <a:rPr lang="zh-CN" altLang="en-US" smtClean="0"/>
              <a:pPr/>
              <a:t>‹#›</a:t>
            </a:fld>
            <a:endParaRPr lang="zh-CN" altLang="en-US"/>
          </a:p>
        </p:txBody>
      </p:sp>
      <p:sp>
        <p:nvSpPr>
          <p:cNvPr id="22" name="标题占位符 21"/>
          <p:cNvSpPr>
            <a:spLocks noGrp="1"/>
          </p:cNvSpPr>
          <p:nvPr>
            <p:ph type="title"/>
          </p:nvPr>
        </p:nvSpPr>
        <p:spPr>
          <a:xfrm>
            <a:off x="457200" y="253536"/>
            <a:ext cx="8229600" cy="1143000"/>
          </a:xfrm>
          <a:prstGeom prst="rect">
            <a:avLst/>
          </a:prstGeom>
        </p:spPr>
        <p:txBody>
          <a:bodyPr rIns="91440" anchor="b">
            <a:normAutofit/>
            <a:scene3d>
              <a:camera prst="orthographicFront"/>
              <a:lightRig rig="soft" dir="t">
                <a:rot lat="0" lon="0" rev="2400000"/>
              </a:lightRig>
            </a:scene3d>
            <a:sp3d>
              <a:bevelT w="19050" h="12700"/>
            </a:sp3d>
          </a:body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457200" y="1646237"/>
            <a:ext cx="8229600" cy="4526280"/>
          </a:xfrm>
          <a:prstGeom prst="rect">
            <a:avLst/>
          </a:prstGeom>
        </p:spPr>
        <p:txBody>
          <a:bodyPr>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marL="54864" algn="r" rtl="0" eaLnBrk="1" latinLnBrk="0" hangingPunct="1">
        <a:spcBef>
          <a:spcPct val="0"/>
        </a:spcBef>
        <a:buNone/>
        <a:defRPr kumimoji="0" sz="4600" kern="1200">
          <a:solidFill>
            <a:schemeClr val="tx2">
              <a:tint val="100000"/>
              <a:shade val="90000"/>
              <a:satMod val="250000"/>
              <a:alpha val="100000"/>
            </a:schemeClr>
          </a:solidFill>
          <a:effectLst>
            <a:outerShdw blurRad="38100" dist="25500" dir="5400000" algn="tl" rotWithShape="0">
              <a:srgbClr val="000000">
                <a:satMod val="180000"/>
                <a:alpha val="75000"/>
              </a:srgbClr>
            </a:outerShdw>
          </a:effectLst>
          <a:latin typeface="+mj-lt"/>
          <a:ea typeface="+mj-ea"/>
          <a:cs typeface="+mj-cs"/>
        </a:defRPr>
      </a:lvl1pPr>
      <a:extLst/>
    </p:titleStyle>
    <p:body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png"/><Relationship Id="rId4" Type="http://schemas.openxmlformats.org/officeDocument/2006/relationships/image" Target="../media/image3.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8.wmf"/><Relationship Id="rId4" Type="http://schemas.openxmlformats.org/officeDocument/2006/relationships/oleObject" Target="../embeddings/oleObject2.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7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2.xml"/><Relationship Id="rId4" Type="http://schemas.openxmlformats.org/officeDocument/2006/relationships/image" Target="../media/image16.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13.xml"/><Relationship Id="rId5" Type="http://schemas.openxmlformats.org/officeDocument/2006/relationships/image" Target="../media/image23.jpeg"/><Relationship Id="rId4" Type="http://schemas.openxmlformats.org/officeDocument/2006/relationships/image" Target="../media/image22.jpeg"/></Relationships>
</file>

<file path=ppt/slides/_rels/slide7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13.xml"/><Relationship Id="rId5" Type="http://schemas.openxmlformats.org/officeDocument/2006/relationships/image" Target="../media/image27.jpeg"/><Relationship Id="rId4" Type="http://schemas.openxmlformats.org/officeDocument/2006/relationships/image" Target="../media/image26.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 Id="rId4"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战略管理</a:t>
            </a:r>
            <a:r>
              <a:rPr lang="en-US" altLang="zh-CN" dirty="0"/>
              <a:t>2</a:t>
            </a:r>
            <a:endParaRPr lang="zh-CN" altLang="en-US" dirty="0"/>
          </a:p>
        </p:txBody>
      </p:sp>
      <p:sp>
        <p:nvSpPr>
          <p:cNvPr id="3" name="副标题 2"/>
          <p:cNvSpPr>
            <a:spLocks noGrp="1"/>
          </p:cNvSpPr>
          <p:nvPr>
            <p:ph type="subTitle" idx="1"/>
          </p:nvPr>
        </p:nvSpPr>
        <p:spPr/>
        <p:txBody>
          <a:bodyPr/>
          <a:lstStyle/>
          <a:p>
            <a:r>
              <a:rPr lang="zh-CN" altLang="en-US" dirty="0"/>
              <a:t>公司层战略及选择</a:t>
            </a:r>
            <a:endParaRPr lang="en-US" altLang="zh-CN" dirty="0"/>
          </a:p>
          <a:p>
            <a:r>
              <a:rPr lang="zh-CN" altLang="en-US" dirty="0"/>
              <a:t>竞争战略及选择</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2714625" y="3286125"/>
            <a:ext cx="2871788" cy="1798638"/>
            <a:chOff x="3024" y="2133"/>
            <a:chExt cx="1208" cy="1129"/>
          </a:xfrm>
        </p:grpSpPr>
        <p:sp>
          <p:nvSpPr>
            <p:cNvPr id="14343" name="Rectangle 3"/>
            <p:cNvSpPr>
              <a:spLocks noChangeArrowheads="1"/>
            </p:cNvSpPr>
            <p:nvPr/>
          </p:nvSpPr>
          <p:spPr bwMode="auto">
            <a:xfrm>
              <a:off x="3024" y="2133"/>
              <a:ext cx="1207" cy="843"/>
            </a:xfrm>
            <a:prstGeom prst="rect">
              <a:avLst/>
            </a:prstGeom>
            <a:solidFill>
              <a:schemeClr val="bg1"/>
            </a:solidFill>
            <a:ln w="9525">
              <a:noFill/>
              <a:miter lim="800000"/>
              <a:headEnd/>
              <a:tailEnd/>
            </a:ln>
          </p:spPr>
          <p:txBody>
            <a:bodyPr/>
            <a:lstStyle/>
            <a:p>
              <a:endParaRPr lang="zh-CN" altLang="en-US"/>
            </a:p>
          </p:txBody>
        </p:sp>
        <p:grpSp>
          <p:nvGrpSpPr>
            <p:cNvPr id="3" name="Group 4"/>
            <p:cNvGrpSpPr>
              <a:grpSpLocks/>
            </p:cNvGrpSpPr>
            <p:nvPr/>
          </p:nvGrpSpPr>
          <p:grpSpPr bwMode="auto">
            <a:xfrm>
              <a:off x="3067" y="2216"/>
              <a:ext cx="1165" cy="550"/>
              <a:chOff x="2466" y="1676"/>
              <a:chExt cx="1331" cy="550"/>
            </a:xfrm>
          </p:grpSpPr>
          <p:sp>
            <p:nvSpPr>
              <p:cNvPr id="14351" name="Freeform 5"/>
              <p:cNvSpPr>
                <a:spLocks/>
              </p:cNvSpPr>
              <p:nvPr/>
            </p:nvSpPr>
            <p:spPr bwMode="auto">
              <a:xfrm>
                <a:off x="3136" y="1830"/>
                <a:ext cx="8" cy="7"/>
              </a:xfrm>
              <a:custGeom>
                <a:avLst/>
                <a:gdLst>
                  <a:gd name="T0" fmla="*/ 23 w 23"/>
                  <a:gd name="T1" fmla="*/ 0 h 19"/>
                  <a:gd name="T2" fmla="*/ 23 w 23"/>
                  <a:gd name="T3" fmla="*/ 16 h 19"/>
                  <a:gd name="T4" fmla="*/ 14 w 23"/>
                  <a:gd name="T5" fmla="*/ 19 h 19"/>
                  <a:gd name="T6" fmla="*/ 0 w 23"/>
                  <a:gd name="T7" fmla="*/ 2 h 19"/>
                  <a:gd name="T8" fmla="*/ 7 w 23"/>
                  <a:gd name="T9" fmla="*/ 0 h 19"/>
                  <a:gd name="T10" fmla="*/ 23 w 23"/>
                  <a:gd name="T11" fmla="*/ 0 h 19"/>
                  <a:gd name="T12" fmla="*/ 0 60000 65536"/>
                  <a:gd name="T13" fmla="*/ 0 60000 65536"/>
                  <a:gd name="T14" fmla="*/ 0 60000 65536"/>
                  <a:gd name="T15" fmla="*/ 0 60000 65536"/>
                  <a:gd name="T16" fmla="*/ 0 60000 65536"/>
                  <a:gd name="T17" fmla="*/ 0 60000 65536"/>
                  <a:gd name="T18" fmla="*/ 0 w 23"/>
                  <a:gd name="T19" fmla="*/ 0 h 19"/>
                  <a:gd name="T20" fmla="*/ 23 w 23"/>
                  <a:gd name="T21" fmla="*/ 19 h 19"/>
                </a:gdLst>
                <a:ahLst/>
                <a:cxnLst>
                  <a:cxn ang="T12">
                    <a:pos x="T0" y="T1"/>
                  </a:cxn>
                  <a:cxn ang="T13">
                    <a:pos x="T2" y="T3"/>
                  </a:cxn>
                  <a:cxn ang="T14">
                    <a:pos x="T4" y="T5"/>
                  </a:cxn>
                  <a:cxn ang="T15">
                    <a:pos x="T6" y="T7"/>
                  </a:cxn>
                  <a:cxn ang="T16">
                    <a:pos x="T8" y="T9"/>
                  </a:cxn>
                  <a:cxn ang="T17">
                    <a:pos x="T10" y="T11"/>
                  </a:cxn>
                </a:cxnLst>
                <a:rect l="T18" t="T19" r="T20" b="T21"/>
                <a:pathLst>
                  <a:path w="23" h="19">
                    <a:moveTo>
                      <a:pt x="23" y="0"/>
                    </a:moveTo>
                    <a:lnTo>
                      <a:pt x="23" y="16"/>
                    </a:lnTo>
                    <a:lnTo>
                      <a:pt x="14" y="19"/>
                    </a:lnTo>
                    <a:lnTo>
                      <a:pt x="0" y="2"/>
                    </a:lnTo>
                    <a:lnTo>
                      <a:pt x="7" y="0"/>
                    </a:lnTo>
                    <a:lnTo>
                      <a:pt x="23" y="0"/>
                    </a:lnTo>
                    <a:close/>
                  </a:path>
                </a:pathLst>
              </a:custGeom>
              <a:solidFill>
                <a:schemeClr val="accent2"/>
              </a:solidFill>
              <a:ln w="9525">
                <a:noFill/>
                <a:round/>
                <a:headEnd/>
                <a:tailEnd/>
              </a:ln>
            </p:spPr>
            <p:txBody>
              <a:bodyPr/>
              <a:lstStyle/>
              <a:p>
                <a:endParaRPr lang="zh-CN" altLang="en-US"/>
              </a:p>
            </p:txBody>
          </p:sp>
          <p:sp>
            <p:nvSpPr>
              <p:cNvPr id="14352" name="Freeform 6"/>
              <p:cNvSpPr>
                <a:spLocks/>
              </p:cNvSpPr>
              <p:nvPr/>
            </p:nvSpPr>
            <p:spPr bwMode="auto">
              <a:xfrm>
                <a:off x="3123" y="1817"/>
                <a:ext cx="6" cy="11"/>
              </a:xfrm>
              <a:custGeom>
                <a:avLst/>
                <a:gdLst>
                  <a:gd name="T0" fmla="*/ 18 w 18"/>
                  <a:gd name="T1" fmla="*/ 0 h 31"/>
                  <a:gd name="T2" fmla="*/ 0 w 18"/>
                  <a:gd name="T3" fmla="*/ 9 h 31"/>
                  <a:gd name="T4" fmla="*/ 4 w 18"/>
                  <a:gd name="T5" fmla="*/ 31 h 31"/>
                  <a:gd name="T6" fmla="*/ 16 w 18"/>
                  <a:gd name="T7" fmla="*/ 30 h 31"/>
                  <a:gd name="T8" fmla="*/ 18 w 18"/>
                  <a:gd name="T9" fmla="*/ 0 h 31"/>
                  <a:gd name="T10" fmla="*/ 0 60000 65536"/>
                  <a:gd name="T11" fmla="*/ 0 60000 65536"/>
                  <a:gd name="T12" fmla="*/ 0 60000 65536"/>
                  <a:gd name="T13" fmla="*/ 0 60000 65536"/>
                  <a:gd name="T14" fmla="*/ 0 60000 65536"/>
                  <a:gd name="T15" fmla="*/ 0 w 18"/>
                  <a:gd name="T16" fmla="*/ 0 h 31"/>
                  <a:gd name="T17" fmla="*/ 18 w 18"/>
                  <a:gd name="T18" fmla="*/ 31 h 31"/>
                </a:gdLst>
                <a:ahLst/>
                <a:cxnLst>
                  <a:cxn ang="T10">
                    <a:pos x="T0" y="T1"/>
                  </a:cxn>
                  <a:cxn ang="T11">
                    <a:pos x="T2" y="T3"/>
                  </a:cxn>
                  <a:cxn ang="T12">
                    <a:pos x="T4" y="T5"/>
                  </a:cxn>
                  <a:cxn ang="T13">
                    <a:pos x="T6" y="T7"/>
                  </a:cxn>
                  <a:cxn ang="T14">
                    <a:pos x="T8" y="T9"/>
                  </a:cxn>
                </a:cxnLst>
                <a:rect l="T15" t="T16" r="T17" b="T18"/>
                <a:pathLst>
                  <a:path w="18" h="31">
                    <a:moveTo>
                      <a:pt x="18" y="0"/>
                    </a:moveTo>
                    <a:lnTo>
                      <a:pt x="0" y="9"/>
                    </a:lnTo>
                    <a:lnTo>
                      <a:pt x="4" y="31"/>
                    </a:lnTo>
                    <a:lnTo>
                      <a:pt x="16" y="30"/>
                    </a:lnTo>
                    <a:lnTo>
                      <a:pt x="18" y="0"/>
                    </a:lnTo>
                    <a:close/>
                  </a:path>
                </a:pathLst>
              </a:custGeom>
              <a:solidFill>
                <a:schemeClr val="accent2"/>
              </a:solidFill>
              <a:ln w="9525">
                <a:noFill/>
                <a:round/>
                <a:headEnd/>
                <a:tailEnd/>
              </a:ln>
            </p:spPr>
            <p:txBody>
              <a:bodyPr/>
              <a:lstStyle/>
              <a:p>
                <a:endParaRPr lang="zh-CN" altLang="en-US"/>
              </a:p>
            </p:txBody>
          </p:sp>
          <p:grpSp>
            <p:nvGrpSpPr>
              <p:cNvPr id="4" name="Group 7"/>
              <p:cNvGrpSpPr>
                <a:grpSpLocks/>
              </p:cNvGrpSpPr>
              <p:nvPr/>
            </p:nvGrpSpPr>
            <p:grpSpPr bwMode="auto">
              <a:xfrm>
                <a:off x="3680" y="2133"/>
                <a:ext cx="117" cy="55"/>
                <a:chOff x="3680" y="2133"/>
                <a:chExt cx="117" cy="55"/>
              </a:xfrm>
            </p:grpSpPr>
            <p:sp>
              <p:nvSpPr>
                <p:cNvPr id="14383" name="Freeform 8"/>
                <p:cNvSpPr>
                  <a:spLocks/>
                </p:cNvSpPr>
                <p:nvPr/>
              </p:nvSpPr>
              <p:spPr bwMode="auto">
                <a:xfrm>
                  <a:off x="3779" y="2133"/>
                  <a:ext cx="18" cy="34"/>
                </a:xfrm>
                <a:custGeom>
                  <a:avLst/>
                  <a:gdLst>
                    <a:gd name="T0" fmla="*/ 17 w 54"/>
                    <a:gd name="T1" fmla="*/ 1 h 103"/>
                    <a:gd name="T2" fmla="*/ 22 w 54"/>
                    <a:gd name="T3" fmla="*/ 0 h 103"/>
                    <a:gd name="T4" fmla="*/ 32 w 54"/>
                    <a:gd name="T5" fmla="*/ 13 h 103"/>
                    <a:gd name="T6" fmla="*/ 31 w 54"/>
                    <a:gd name="T7" fmla="*/ 44 h 103"/>
                    <a:gd name="T8" fmla="*/ 37 w 54"/>
                    <a:gd name="T9" fmla="*/ 44 h 103"/>
                    <a:gd name="T10" fmla="*/ 40 w 54"/>
                    <a:gd name="T11" fmla="*/ 50 h 103"/>
                    <a:gd name="T12" fmla="*/ 41 w 54"/>
                    <a:gd name="T13" fmla="*/ 53 h 103"/>
                    <a:gd name="T14" fmla="*/ 45 w 54"/>
                    <a:gd name="T15" fmla="*/ 59 h 103"/>
                    <a:gd name="T16" fmla="*/ 49 w 54"/>
                    <a:gd name="T17" fmla="*/ 57 h 103"/>
                    <a:gd name="T18" fmla="*/ 52 w 54"/>
                    <a:gd name="T19" fmla="*/ 51 h 103"/>
                    <a:gd name="T20" fmla="*/ 54 w 54"/>
                    <a:gd name="T21" fmla="*/ 53 h 103"/>
                    <a:gd name="T22" fmla="*/ 50 w 54"/>
                    <a:gd name="T23" fmla="*/ 60 h 103"/>
                    <a:gd name="T24" fmla="*/ 49 w 54"/>
                    <a:gd name="T25" fmla="*/ 64 h 103"/>
                    <a:gd name="T26" fmla="*/ 46 w 54"/>
                    <a:gd name="T27" fmla="*/ 73 h 103"/>
                    <a:gd name="T28" fmla="*/ 41 w 54"/>
                    <a:gd name="T29" fmla="*/ 76 h 103"/>
                    <a:gd name="T30" fmla="*/ 36 w 54"/>
                    <a:gd name="T31" fmla="*/ 78 h 103"/>
                    <a:gd name="T32" fmla="*/ 31 w 54"/>
                    <a:gd name="T33" fmla="*/ 83 h 103"/>
                    <a:gd name="T34" fmla="*/ 28 w 54"/>
                    <a:gd name="T35" fmla="*/ 87 h 103"/>
                    <a:gd name="T36" fmla="*/ 31 w 54"/>
                    <a:gd name="T37" fmla="*/ 90 h 103"/>
                    <a:gd name="T38" fmla="*/ 32 w 54"/>
                    <a:gd name="T39" fmla="*/ 96 h 103"/>
                    <a:gd name="T40" fmla="*/ 27 w 54"/>
                    <a:gd name="T41" fmla="*/ 99 h 103"/>
                    <a:gd name="T42" fmla="*/ 22 w 54"/>
                    <a:gd name="T43" fmla="*/ 101 h 103"/>
                    <a:gd name="T44" fmla="*/ 17 w 54"/>
                    <a:gd name="T45" fmla="*/ 103 h 103"/>
                    <a:gd name="T46" fmla="*/ 13 w 54"/>
                    <a:gd name="T47" fmla="*/ 101 h 103"/>
                    <a:gd name="T48" fmla="*/ 8 w 54"/>
                    <a:gd name="T49" fmla="*/ 99 h 103"/>
                    <a:gd name="T50" fmla="*/ 4 w 54"/>
                    <a:gd name="T51" fmla="*/ 96 h 103"/>
                    <a:gd name="T52" fmla="*/ 8 w 54"/>
                    <a:gd name="T53" fmla="*/ 92 h 103"/>
                    <a:gd name="T54" fmla="*/ 13 w 54"/>
                    <a:gd name="T55" fmla="*/ 90 h 103"/>
                    <a:gd name="T56" fmla="*/ 17 w 54"/>
                    <a:gd name="T57" fmla="*/ 85 h 103"/>
                    <a:gd name="T58" fmla="*/ 17 w 54"/>
                    <a:gd name="T59" fmla="*/ 82 h 103"/>
                    <a:gd name="T60" fmla="*/ 13 w 54"/>
                    <a:gd name="T61" fmla="*/ 78 h 103"/>
                    <a:gd name="T62" fmla="*/ 8 w 54"/>
                    <a:gd name="T63" fmla="*/ 75 h 103"/>
                    <a:gd name="T64" fmla="*/ 4 w 54"/>
                    <a:gd name="T65" fmla="*/ 75 h 103"/>
                    <a:gd name="T66" fmla="*/ 0 w 54"/>
                    <a:gd name="T67" fmla="*/ 73 h 103"/>
                    <a:gd name="T68" fmla="*/ 0 w 54"/>
                    <a:gd name="T69" fmla="*/ 71 h 103"/>
                    <a:gd name="T70" fmla="*/ 0 w 54"/>
                    <a:gd name="T71" fmla="*/ 66 h 103"/>
                    <a:gd name="T72" fmla="*/ 4 w 54"/>
                    <a:gd name="T73" fmla="*/ 66 h 103"/>
                    <a:gd name="T74" fmla="*/ 8 w 54"/>
                    <a:gd name="T75" fmla="*/ 64 h 103"/>
                    <a:gd name="T76" fmla="*/ 13 w 54"/>
                    <a:gd name="T77" fmla="*/ 60 h 103"/>
                    <a:gd name="T78" fmla="*/ 14 w 54"/>
                    <a:gd name="T79" fmla="*/ 59 h 103"/>
                    <a:gd name="T80" fmla="*/ 18 w 54"/>
                    <a:gd name="T81" fmla="*/ 44 h 103"/>
                    <a:gd name="T82" fmla="*/ 14 w 54"/>
                    <a:gd name="T83" fmla="*/ 41 h 103"/>
                    <a:gd name="T84" fmla="*/ 12 w 54"/>
                    <a:gd name="T85" fmla="*/ 36 h 103"/>
                    <a:gd name="T86" fmla="*/ 9 w 54"/>
                    <a:gd name="T87" fmla="*/ 28 h 103"/>
                    <a:gd name="T88" fmla="*/ 12 w 54"/>
                    <a:gd name="T89" fmla="*/ 21 h 103"/>
                    <a:gd name="T90" fmla="*/ 13 w 54"/>
                    <a:gd name="T91" fmla="*/ 16 h 103"/>
                    <a:gd name="T92" fmla="*/ 17 w 54"/>
                    <a:gd name="T93" fmla="*/ 1 h 10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54"/>
                    <a:gd name="T142" fmla="*/ 0 h 103"/>
                    <a:gd name="T143" fmla="*/ 54 w 54"/>
                    <a:gd name="T144" fmla="*/ 103 h 103"/>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54" h="103">
                      <a:moveTo>
                        <a:pt x="17" y="1"/>
                      </a:moveTo>
                      <a:lnTo>
                        <a:pt x="22" y="0"/>
                      </a:lnTo>
                      <a:lnTo>
                        <a:pt x="32" y="13"/>
                      </a:lnTo>
                      <a:lnTo>
                        <a:pt x="31" y="44"/>
                      </a:lnTo>
                      <a:lnTo>
                        <a:pt x="37" y="44"/>
                      </a:lnTo>
                      <a:lnTo>
                        <a:pt x="40" y="50"/>
                      </a:lnTo>
                      <a:lnTo>
                        <a:pt x="41" y="53"/>
                      </a:lnTo>
                      <a:lnTo>
                        <a:pt x="45" y="59"/>
                      </a:lnTo>
                      <a:lnTo>
                        <a:pt x="49" y="57"/>
                      </a:lnTo>
                      <a:lnTo>
                        <a:pt x="52" y="51"/>
                      </a:lnTo>
                      <a:lnTo>
                        <a:pt x="54" y="53"/>
                      </a:lnTo>
                      <a:lnTo>
                        <a:pt x="50" y="60"/>
                      </a:lnTo>
                      <a:lnTo>
                        <a:pt x="49" y="64"/>
                      </a:lnTo>
                      <a:lnTo>
                        <a:pt x="46" y="73"/>
                      </a:lnTo>
                      <a:lnTo>
                        <a:pt x="41" y="76"/>
                      </a:lnTo>
                      <a:lnTo>
                        <a:pt x="36" y="78"/>
                      </a:lnTo>
                      <a:lnTo>
                        <a:pt x="31" y="83"/>
                      </a:lnTo>
                      <a:lnTo>
                        <a:pt x="28" y="87"/>
                      </a:lnTo>
                      <a:lnTo>
                        <a:pt x="31" y="90"/>
                      </a:lnTo>
                      <a:lnTo>
                        <a:pt x="32" y="96"/>
                      </a:lnTo>
                      <a:lnTo>
                        <a:pt x="27" y="99"/>
                      </a:lnTo>
                      <a:lnTo>
                        <a:pt x="22" y="101"/>
                      </a:lnTo>
                      <a:lnTo>
                        <a:pt x="17" y="103"/>
                      </a:lnTo>
                      <a:lnTo>
                        <a:pt x="13" y="101"/>
                      </a:lnTo>
                      <a:lnTo>
                        <a:pt x="8" y="99"/>
                      </a:lnTo>
                      <a:lnTo>
                        <a:pt x="4" y="96"/>
                      </a:lnTo>
                      <a:lnTo>
                        <a:pt x="8" y="92"/>
                      </a:lnTo>
                      <a:lnTo>
                        <a:pt x="13" y="90"/>
                      </a:lnTo>
                      <a:lnTo>
                        <a:pt x="17" y="85"/>
                      </a:lnTo>
                      <a:lnTo>
                        <a:pt x="17" y="82"/>
                      </a:lnTo>
                      <a:lnTo>
                        <a:pt x="13" y="78"/>
                      </a:lnTo>
                      <a:lnTo>
                        <a:pt x="8" y="75"/>
                      </a:lnTo>
                      <a:lnTo>
                        <a:pt x="4" y="75"/>
                      </a:lnTo>
                      <a:lnTo>
                        <a:pt x="0" y="73"/>
                      </a:lnTo>
                      <a:lnTo>
                        <a:pt x="0" y="71"/>
                      </a:lnTo>
                      <a:lnTo>
                        <a:pt x="0" y="66"/>
                      </a:lnTo>
                      <a:lnTo>
                        <a:pt x="4" y="66"/>
                      </a:lnTo>
                      <a:lnTo>
                        <a:pt x="8" y="64"/>
                      </a:lnTo>
                      <a:lnTo>
                        <a:pt x="13" y="60"/>
                      </a:lnTo>
                      <a:lnTo>
                        <a:pt x="14" y="59"/>
                      </a:lnTo>
                      <a:lnTo>
                        <a:pt x="18" y="44"/>
                      </a:lnTo>
                      <a:lnTo>
                        <a:pt x="14" y="41"/>
                      </a:lnTo>
                      <a:lnTo>
                        <a:pt x="12" y="36"/>
                      </a:lnTo>
                      <a:lnTo>
                        <a:pt x="9" y="28"/>
                      </a:lnTo>
                      <a:lnTo>
                        <a:pt x="12" y="21"/>
                      </a:lnTo>
                      <a:lnTo>
                        <a:pt x="13" y="16"/>
                      </a:lnTo>
                      <a:lnTo>
                        <a:pt x="17" y="1"/>
                      </a:lnTo>
                      <a:close/>
                    </a:path>
                  </a:pathLst>
                </a:custGeom>
                <a:solidFill>
                  <a:schemeClr val="accent2"/>
                </a:solidFill>
                <a:ln w="9525">
                  <a:noFill/>
                  <a:round/>
                  <a:headEnd/>
                  <a:tailEnd/>
                </a:ln>
              </p:spPr>
              <p:txBody>
                <a:bodyPr/>
                <a:lstStyle/>
                <a:p>
                  <a:endParaRPr lang="zh-CN" altLang="en-US"/>
                </a:p>
              </p:txBody>
            </p:sp>
            <p:sp>
              <p:nvSpPr>
                <p:cNvPr id="14384" name="Freeform 9"/>
                <p:cNvSpPr>
                  <a:spLocks/>
                </p:cNvSpPr>
                <p:nvPr/>
              </p:nvSpPr>
              <p:spPr bwMode="auto">
                <a:xfrm>
                  <a:off x="3743" y="2160"/>
                  <a:ext cx="34" cy="28"/>
                </a:xfrm>
                <a:custGeom>
                  <a:avLst/>
                  <a:gdLst>
                    <a:gd name="T0" fmla="*/ 70 w 101"/>
                    <a:gd name="T1" fmla="*/ 0 h 85"/>
                    <a:gd name="T2" fmla="*/ 84 w 101"/>
                    <a:gd name="T3" fmla="*/ 0 h 85"/>
                    <a:gd name="T4" fmla="*/ 101 w 101"/>
                    <a:gd name="T5" fmla="*/ 25 h 85"/>
                    <a:gd name="T6" fmla="*/ 83 w 101"/>
                    <a:gd name="T7" fmla="*/ 42 h 85"/>
                    <a:gd name="T8" fmla="*/ 83 w 101"/>
                    <a:gd name="T9" fmla="*/ 51 h 85"/>
                    <a:gd name="T10" fmla="*/ 79 w 101"/>
                    <a:gd name="T11" fmla="*/ 54 h 85"/>
                    <a:gd name="T12" fmla="*/ 65 w 101"/>
                    <a:gd name="T13" fmla="*/ 54 h 85"/>
                    <a:gd name="T14" fmla="*/ 52 w 101"/>
                    <a:gd name="T15" fmla="*/ 63 h 85"/>
                    <a:gd name="T16" fmla="*/ 41 w 101"/>
                    <a:gd name="T17" fmla="*/ 76 h 85"/>
                    <a:gd name="T18" fmla="*/ 33 w 101"/>
                    <a:gd name="T19" fmla="*/ 85 h 85"/>
                    <a:gd name="T20" fmla="*/ 33 w 101"/>
                    <a:gd name="T21" fmla="*/ 76 h 85"/>
                    <a:gd name="T22" fmla="*/ 18 w 101"/>
                    <a:gd name="T23" fmla="*/ 80 h 85"/>
                    <a:gd name="T24" fmla="*/ 9 w 101"/>
                    <a:gd name="T25" fmla="*/ 80 h 85"/>
                    <a:gd name="T26" fmla="*/ 0 w 101"/>
                    <a:gd name="T27" fmla="*/ 80 h 85"/>
                    <a:gd name="T28" fmla="*/ 15 w 101"/>
                    <a:gd name="T29" fmla="*/ 63 h 85"/>
                    <a:gd name="T30" fmla="*/ 20 w 101"/>
                    <a:gd name="T31" fmla="*/ 58 h 85"/>
                    <a:gd name="T32" fmla="*/ 24 w 101"/>
                    <a:gd name="T33" fmla="*/ 58 h 85"/>
                    <a:gd name="T34" fmla="*/ 37 w 101"/>
                    <a:gd name="T35" fmla="*/ 44 h 85"/>
                    <a:gd name="T36" fmla="*/ 41 w 101"/>
                    <a:gd name="T37" fmla="*/ 44 h 85"/>
                    <a:gd name="T38" fmla="*/ 47 w 101"/>
                    <a:gd name="T39" fmla="*/ 40 h 85"/>
                    <a:gd name="T40" fmla="*/ 52 w 101"/>
                    <a:gd name="T41" fmla="*/ 40 h 85"/>
                    <a:gd name="T42" fmla="*/ 51 w 101"/>
                    <a:gd name="T43" fmla="*/ 28 h 85"/>
                    <a:gd name="T44" fmla="*/ 52 w 101"/>
                    <a:gd name="T45" fmla="*/ 28 h 85"/>
                    <a:gd name="T46" fmla="*/ 60 w 101"/>
                    <a:gd name="T47" fmla="*/ 23 h 85"/>
                    <a:gd name="T48" fmla="*/ 60 w 101"/>
                    <a:gd name="T49" fmla="*/ 26 h 85"/>
                    <a:gd name="T50" fmla="*/ 74 w 101"/>
                    <a:gd name="T51" fmla="*/ 17 h 85"/>
                    <a:gd name="T52" fmla="*/ 70 w 101"/>
                    <a:gd name="T53" fmla="*/ 0 h 8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1"/>
                    <a:gd name="T82" fmla="*/ 0 h 85"/>
                    <a:gd name="T83" fmla="*/ 101 w 101"/>
                    <a:gd name="T84" fmla="*/ 85 h 8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1" h="85">
                      <a:moveTo>
                        <a:pt x="70" y="0"/>
                      </a:moveTo>
                      <a:lnTo>
                        <a:pt x="84" y="0"/>
                      </a:lnTo>
                      <a:lnTo>
                        <a:pt x="101" y="25"/>
                      </a:lnTo>
                      <a:lnTo>
                        <a:pt x="83" y="42"/>
                      </a:lnTo>
                      <a:lnTo>
                        <a:pt x="83" y="51"/>
                      </a:lnTo>
                      <a:lnTo>
                        <a:pt x="79" y="54"/>
                      </a:lnTo>
                      <a:lnTo>
                        <a:pt x="65" y="54"/>
                      </a:lnTo>
                      <a:lnTo>
                        <a:pt x="52" y="63"/>
                      </a:lnTo>
                      <a:lnTo>
                        <a:pt x="41" y="76"/>
                      </a:lnTo>
                      <a:lnTo>
                        <a:pt x="33" y="85"/>
                      </a:lnTo>
                      <a:lnTo>
                        <a:pt x="33" y="76"/>
                      </a:lnTo>
                      <a:lnTo>
                        <a:pt x="18" y="80"/>
                      </a:lnTo>
                      <a:lnTo>
                        <a:pt x="9" y="80"/>
                      </a:lnTo>
                      <a:lnTo>
                        <a:pt x="0" y="80"/>
                      </a:lnTo>
                      <a:lnTo>
                        <a:pt x="15" y="63"/>
                      </a:lnTo>
                      <a:lnTo>
                        <a:pt x="20" y="58"/>
                      </a:lnTo>
                      <a:lnTo>
                        <a:pt x="24" y="58"/>
                      </a:lnTo>
                      <a:lnTo>
                        <a:pt x="37" y="44"/>
                      </a:lnTo>
                      <a:lnTo>
                        <a:pt x="41" y="44"/>
                      </a:lnTo>
                      <a:lnTo>
                        <a:pt x="47" y="40"/>
                      </a:lnTo>
                      <a:lnTo>
                        <a:pt x="52" y="40"/>
                      </a:lnTo>
                      <a:lnTo>
                        <a:pt x="51" y="28"/>
                      </a:lnTo>
                      <a:lnTo>
                        <a:pt x="52" y="28"/>
                      </a:lnTo>
                      <a:lnTo>
                        <a:pt x="60" y="23"/>
                      </a:lnTo>
                      <a:lnTo>
                        <a:pt x="60" y="26"/>
                      </a:lnTo>
                      <a:lnTo>
                        <a:pt x="74" y="17"/>
                      </a:lnTo>
                      <a:lnTo>
                        <a:pt x="70" y="0"/>
                      </a:lnTo>
                      <a:close/>
                    </a:path>
                  </a:pathLst>
                </a:custGeom>
                <a:solidFill>
                  <a:schemeClr val="accent2"/>
                </a:solidFill>
                <a:ln w="9525">
                  <a:noFill/>
                  <a:round/>
                  <a:headEnd/>
                  <a:tailEnd/>
                </a:ln>
              </p:spPr>
              <p:txBody>
                <a:bodyPr/>
                <a:lstStyle/>
                <a:p>
                  <a:endParaRPr lang="zh-CN" altLang="en-US"/>
                </a:p>
              </p:txBody>
            </p:sp>
            <p:sp>
              <p:nvSpPr>
                <p:cNvPr id="14385" name="Freeform 10"/>
                <p:cNvSpPr>
                  <a:spLocks/>
                </p:cNvSpPr>
                <p:nvPr/>
              </p:nvSpPr>
              <p:spPr bwMode="auto">
                <a:xfrm>
                  <a:off x="3680" y="2162"/>
                  <a:ext cx="13" cy="15"/>
                </a:xfrm>
                <a:custGeom>
                  <a:avLst/>
                  <a:gdLst>
                    <a:gd name="T0" fmla="*/ 0 w 38"/>
                    <a:gd name="T1" fmla="*/ 0 h 46"/>
                    <a:gd name="T2" fmla="*/ 9 w 38"/>
                    <a:gd name="T3" fmla="*/ 0 h 46"/>
                    <a:gd name="T4" fmla="*/ 18 w 38"/>
                    <a:gd name="T5" fmla="*/ 5 h 46"/>
                    <a:gd name="T6" fmla="*/ 38 w 38"/>
                    <a:gd name="T7" fmla="*/ 5 h 46"/>
                    <a:gd name="T8" fmla="*/ 35 w 38"/>
                    <a:gd name="T9" fmla="*/ 14 h 46"/>
                    <a:gd name="T10" fmla="*/ 38 w 38"/>
                    <a:gd name="T11" fmla="*/ 21 h 46"/>
                    <a:gd name="T12" fmla="*/ 32 w 38"/>
                    <a:gd name="T13" fmla="*/ 21 h 46"/>
                    <a:gd name="T14" fmla="*/ 30 w 38"/>
                    <a:gd name="T15" fmla="*/ 23 h 46"/>
                    <a:gd name="T16" fmla="*/ 26 w 38"/>
                    <a:gd name="T17" fmla="*/ 25 h 46"/>
                    <a:gd name="T18" fmla="*/ 30 w 38"/>
                    <a:gd name="T19" fmla="*/ 46 h 46"/>
                    <a:gd name="T20" fmla="*/ 18 w 38"/>
                    <a:gd name="T21" fmla="*/ 44 h 46"/>
                    <a:gd name="T22" fmla="*/ 6 w 38"/>
                    <a:gd name="T23" fmla="*/ 37 h 46"/>
                    <a:gd name="T24" fmla="*/ 6 w 38"/>
                    <a:gd name="T25" fmla="*/ 23 h 46"/>
                    <a:gd name="T26" fmla="*/ 6 w 38"/>
                    <a:gd name="T27" fmla="*/ 20 h 46"/>
                    <a:gd name="T28" fmla="*/ 0 w 38"/>
                    <a:gd name="T29" fmla="*/ 14 h 46"/>
                    <a:gd name="T30" fmla="*/ 0 w 38"/>
                    <a:gd name="T31" fmla="*/ 0 h 4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8"/>
                    <a:gd name="T49" fmla="*/ 0 h 46"/>
                    <a:gd name="T50" fmla="*/ 38 w 38"/>
                    <a:gd name="T51" fmla="*/ 46 h 4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8" h="46">
                      <a:moveTo>
                        <a:pt x="0" y="0"/>
                      </a:moveTo>
                      <a:lnTo>
                        <a:pt x="9" y="0"/>
                      </a:lnTo>
                      <a:lnTo>
                        <a:pt x="18" y="5"/>
                      </a:lnTo>
                      <a:lnTo>
                        <a:pt x="38" y="5"/>
                      </a:lnTo>
                      <a:lnTo>
                        <a:pt x="35" y="14"/>
                      </a:lnTo>
                      <a:lnTo>
                        <a:pt x="38" y="21"/>
                      </a:lnTo>
                      <a:lnTo>
                        <a:pt x="32" y="21"/>
                      </a:lnTo>
                      <a:lnTo>
                        <a:pt x="30" y="23"/>
                      </a:lnTo>
                      <a:lnTo>
                        <a:pt x="26" y="25"/>
                      </a:lnTo>
                      <a:lnTo>
                        <a:pt x="30" y="46"/>
                      </a:lnTo>
                      <a:lnTo>
                        <a:pt x="18" y="44"/>
                      </a:lnTo>
                      <a:lnTo>
                        <a:pt x="6" y="37"/>
                      </a:lnTo>
                      <a:lnTo>
                        <a:pt x="6" y="23"/>
                      </a:lnTo>
                      <a:lnTo>
                        <a:pt x="6" y="20"/>
                      </a:lnTo>
                      <a:lnTo>
                        <a:pt x="0" y="14"/>
                      </a:lnTo>
                      <a:lnTo>
                        <a:pt x="0" y="0"/>
                      </a:lnTo>
                      <a:close/>
                    </a:path>
                  </a:pathLst>
                </a:custGeom>
                <a:solidFill>
                  <a:schemeClr val="accent2"/>
                </a:solidFill>
                <a:ln w="9525">
                  <a:noFill/>
                  <a:round/>
                  <a:headEnd/>
                  <a:tailEnd/>
                </a:ln>
              </p:spPr>
              <p:txBody>
                <a:bodyPr/>
                <a:lstStyle/>
                <a:p>
                  <a:endParaRPr lang="zh-CN" altLang="en-US"/>
                </a:p>
              </p:txBody>
            </p:sp>
          </p:grpSp>
          <p:sp>
            <p:nvSpPr>
              <p:cNvPr id="14354" name="Freeform 11"/>
              <p:cNvSpPr>
                <a:spLocks/>
              </p:cNvSpPr>
              <p:nvPr/>
            </p:nvSpPr>
            <p:spPr bwMode="auto">
              <a:xfrm>
                <a:off x="3704" y="2002"/>
                <a:ext cx="21" cy="16"/>
              </a:xfrm>
              <a:custGeom>
                <a:avLst/>
                <a:gdLst>
                  <a:gd name="T0" fmla="*/ 12 w 64"/>
                  <a:gd name="T1" fmla="*/ 19 h 48"/>
                  <a:gd name="T2" fmla="*/ 0 w 64"/>
                  <a:gd name="T3" fmla="*/ 39 h 48"/>
                  <a:gd name="T4" fmla="*/ 3 w 64"/>
                  <a:gd name="T5" fmla="*/ 47 h 48"/>
                  <a:gd name="T6" fmla="*/ 23 w 64"/>
                  <a:gd name="T7" fmla="*/ 48 h 48"/>
                  <a:gd name="T8" fmla="*/ 37 w 64"/>
                  <a:gd name="T9" fmla="*/ 48 h 48"/>
                  <a:gd name="T10" fmla="*/ 44 w 64"/>
                  <a:gd name="T11" fmla="*/ 42 h 48"/>
                  <a:gd name="T12" fmla="*/ 47 w 64"/>
                  <a:gd name="T13" fmla="*/ 33 h 48"/>
                  <a:gd name="T14" fmla="*/ 64 w 64"/>
                  <a:gd name="T15" fmla="*/ 33 h 48"/>
                  <a:gd name="T16" fmla="*/ 60 w 64"/>
                  <a:gd name="T17" fmla="*/ 20 h 48"/>
                  <a:gd name="T18" fmla="*/ 60 w 64"/>
                  <a:gd name="T19" fmla="*/ 10 h 48"/>
                  <a:gd name="T20" fmla="*/ 46 w 64"/>
                  <a:gd name="T21" fmla="*/ 0 h 48"/>
                  <a:gd name="T22" fmla="*/ 42 w 64"/>
                  <a:gd name="T23" fmla="*/ 15 h 48"/>
                  <a:gd name="T24" fmla="*/ 51 w 64"/>
                  <a:gd name="T25" fmla="*/ 23 h 48"/>
                  <a:gd name="T26" fmla="*/ 35 w 64"/>
                  <a:gd name="T27" fmla="*/ 23 h 48"/>
                  <a:gd name="T28" fmla="*/ 30 w 64"/>
                  <a:gd name="T29" fmla="*/ 28 h 48"/>
                  <a:gd name="T30" fmla="*/ 12 w 64"/>
                  <a:gd name="T31" fmla="*/ 19 h 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4"/>
                  <a:gd name="T49" fmla="*/ 0 h 48"/>
                  <a:gd name="T50" fmla="*/ 64 w 64"/>
                  <a:gd name="T51" fmla="*/ 48 h 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4" h="48">
                    <a:moveTo>
                      <a:pt x="12" y="19"/>
                    </a:moveTo>
                    <a:lnTo>
                      <a:pt x="0" y="39"/>
                    </a:lnTo>
                    <a:lnTo>
                      <a:pt x="3" y="47"/>
                    </a:lnTo>
                    <a:lnTo>
                      <a:pt x="23" y="48"/>
                    </a:lnTo>
                    <a:lnTo>
                      <a:pt x="37" y="48"/>
                    </a:lnTo>
                    <a:lnTo>
                      <a:pt x="44" y="42"/>
                    </a:lnTo>
                    <a:lnTo>
                      <a:pt x="47" y="33"/>
                    </a:lnTo>
                    <a:lnTo>
                      <a:pt x="64" y="33"/>
                    </a:lnTo>
                    <a:lnTo>
                      <a:pt x="60" y="20"/>
                    </a:lnTo>
                    <a:lnTo>
                      <a:pt x="60" y="10"/>
                    </a:lnTo>
                    <a:lnTo>
                      <a:pt x="46" y="0"/>
                    </a:lnTo>
                    <a:lnTo>
                      <a:pt x="42" y="15"/>
                    </a:lnTo>
                    <a:lnTo>
                      <a:pt x="51" y="23"/>
                    </a:lnTo>
                    <a:lnTo>
                      <a:pt x="35" y="23"/>
                    </a:lnTo>
                    <a:lnTo>
                      <a:pt x="30" y="28"/>
                    </a:lnTo>
                    <a:lnTo>
                      <a:pt x="12" y="19"/>
                    </a:lnTo>
                    <a:close/>
                  </a:path>
                </a:pathLst>
              </a:custGeom>
              <a:solidFill>
                <a:schemeClr val="accent2"/>
              </a:solidFill>
              <a:ln w="9525">
                <a:noFill/>
                <a:round/>
                <a:headEnd/>
                <a:tailEnd/>
              </a:ln>
            </p:spPr>
            <p:txBody>
              <a:bodyPr/>
              <a:lstStyle/>
              <a:p>
                <a:endParaRPr lang="zh-CN" altLang="en-US"/>
              </a:p>
            </p:txBody>
          </p:sp>
          <p:grpSp>
            <p:nvGrpSpPr>
              <p:cNvPr id="5" name="Group 12"/>
              <p:cNvGrpSpPr>
                <a:grpSpLocks/>
              </p:cNvGrpSpPr>
              <p:nvPr/>
            </p:nvGrpSpPr>
            <p:grpSpPr bwMode="auto">
              <a:xfrm>
                <a:off x="3471" y="1757"/>
                <a:ext cx="248" cy="398"/>
                <a:chOff x="3471" y="1757"/>
                <a:chExt cx="248" cy="398"/>
              </a:xfrm>
            </p:grpSpPr>
            <p:grpSp>
              <p:nvGrpSpPr>
                <p:cNvPr id="6" name="Group 13"/>
                <p:cNvGrpSpPr>
                  <a:grpSpLocks/>
                </p:cNvGrpSpPr>
                <p:nvPr/>
              </p:nvGrpSpPr>
              <p:grpSpPr bwMode="auto">
                <a:xfrm>
                  <a:off x="3511" y="1798"/>
                  <a:ext cx="55" cy="119"/>
                  <a:chOff x="3511" y="1798"/>
                  <a:chExt cx="55" cy="119"/>
                </a:xfrm>
              </p:grpSpPr>
              <p:sp>
                <p:nvSpPr>
                  <p:cNvPr id="14380" name="Freeform 14"/>
                  <p:cNvSpPr>
                    <a:spLocks/>
                  </p:cNvSpPr>
                  <p:nvPr/>
                </p:nvSpPr>
                <p:spPr bwMode="auto">
                  <a:xfrm>
                    <a:off x="3511" y="1905"/>
                    <a:ext cx="13" cy="12"/>
                  </a:xfrm>
                  <a:custGeom>
                    <a:avLst/>
                    <a:gdLst>
                      <a:gd name="T0" fmla="*/ 0 w 38"/>
                      <a:gd name="T1" fmla="*/ 27 h 36"/>
                      <a:gd name="T2" fmla="*/ 6 w 38"/>
                      <a:gd name="T3" fmla="*/ 36 h 36"/>
                      <a:gd name="T4" fmla="*/ 15 w 38"/>
                      <a:gd name="T5" fmla="*/ 33 h 36"/>
                      <a:gd name="T6" fmla="*/ 28 w 38"/>
                      <a:gd name="T7" fmla="*/ 36 h 36"/>
                      <a:gd name="T8" fmla="*/ 37 w 38"/>
                      <a:gd name="T9" fmla="*/ 36 h 36"/>
                      <a:gd name="T10" fmla="*/ 38 w 38"/>
                      <a:gd name="T11" fmla="*/ 24 h 36"/>
                      <a:gd name="T12" fmla="*/ 34 w 38"/>
                      <a:gd name="T13" fmla="*/ 14 h 36"/>
                      <a:gd name="T14" fmla="*/ 29 w 38"/>
                      <a:gd name="T15" fmla="*/ 5 h 36"/>
                      <a:gd name="T16" fmla="*/ 23 w 38"/>
                      <a:gd name="T17" fmla="*/ 5 h 36"/>
                      <a:gd name="T18" fmla="*/ 19 w 38"/>
                      <a:gd name="T19" fmla="*/ 0 h 36"/>
                      <a:gd name="T20" fmla="*/ 10 w 38"/>
                      <a:gd name="T21" fmla="*/ 0 h 36"/>
                      <a:gd name="T22" fmla="*/ 10 w 38"/>
                      <a:gd name="T23" fmla="*/ 10 h 36"/>
                      <a:gd name="T24" fmla="*/ 0 w 38"/>
                      <a:gd name="T25" fmla="*/ 27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36"/>
                      <a:gd name="T41" fmla="*/ 38 w 38"/>
                      <a:gd name="T42" fmla="*/ 36 h 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36">
                        <a:moveTo>
                          <a:pt x="0" y="27"/>
                        </a:moveTo>
                        <a:lnTo>
                          <a:pt x="6" y="36"/>
                        </a:lnTo>
                        <a:lnTo>
                          <a:pt x="15" y="33"/>
                        </a:lnTo>
                        <a:lnTo>
                          <a:pt x="28" y="36"/>
                        </a:lnTo>
                        <a:lnTo>
                          <a:pt x="37" y="36"/>
                        </a:lnTo>
                        <a:lnTo>
                          <a:pt x="38" y="24"/>
                        </a:lnTo>
                        <a:lnTo>
                          <a:pt x="34" y="14"/>
                        </a:lnTo>
                        <a:lnTo>
                          <a:pt x="29" y="5"/>
                        </a:lnTo>
                        <a:lnTo>
                          <a:pt x="23" y="5"/>
                        </a:lnTo>
                        <a:lnTo>
                          <a:pt x="19" y="0"/>
                        </a:lnTo>
                        <a:lnTo>
                          <a:pt x="10" y="0"/>
                        </a:lnTo>
                        <a:lnTo>
                          <a:pt x="10" y="10"/>
                        </a:lnTo>
                        <a:lnTo>
                          <a:pt x="0" y="27"/>
                        </a:lnTo>
                        <a:close/>
                      </a:path>
                    </a:pathLst>
                  </a:custGeom>
                  <a:solidFill>
                    <a:schemeClr val="accent2"/>
                  </a:solidFill>
                  <a:ln w="9525">
                    <a:noFill/>
                    <a:round/>
                    <a:headEnd/>
                    <a:tailEnd/>
                  </a:ln>
                </p:spPr>
                <p:txBody>
                  <a:bodyPr/>
                  <a:lstStyle/>
                  <a:p>
                    <a:endParaRPr lang="zh-CN" altLang="en-US"/>
                  </a:p>
                </p:txBody>
              </p:sp>
              <p:sp>
                <p:nvSpPr>
                  <p:cNvPr id="14381" name="Freeform 15"/>
                  <p:cNvSpPr>
                    <a:spLocks/>
                  </p:cNvSpPr>
                  <p:nvPr/>
                </p:nvSpPr>
                <p:spPr bwMode="auto">
                  <a:xfrm>
                    <a:off x="3547" y="1884"/>
                    <a:ext cx="12" cy="15"/>
                  </a:xfrm>
                  <a:custGeom>
                    <a:avLst/>
                    <a:gdLst>
                      <a:gd name="T0" fmla="*/ 8 w 37"/>
                      <a:gd name="T1" fmla="*/ 0 h 45"/>
                      <a:gd name="T2" fmla="*/ 22 w 37"/>
                      <a:gd name="T3" fmla="*/ 3 h 45"/>
                      <a:gd name="T4" fmla="*/ 31 w 37"/>
                      <a:gd name="T5" fmla="*/ 14 h 45"/>
                      <a:gd name="T6" fmla="*/ 37 w 37"/>
                      <a:gd name="T7" fmla="*/ 22 h 45"/>
                      <a:gd name="T8" fmla="*/ 32 w 37"/>
                      <a:gd name="T9" fmla="*/ 27 h 45"/>
                      <a:gd name="T10" fmla="*/ 37 w 37"/>
                      <a:gd name="T11" fmla="*/ 33 h 45"/>
                      <a:gd name="T12" fmla="*/ 34 w 37"/>
                      <a:gd name="T13" fmla="*/ 41 h 45"/>
                      <a:gd name="T14" fmla="*/ 28 w 37"/>
                      <a:gd name="T15" fmla="*/ 45 h 45"/>
                      <a:gd name="T16" fmla="*/ 17 w 37"/>
                      <a:gd name="T17" fmla="*/ 45 h 45"/>
                      <a:gd name="T18" fmla="*/ 9 w 37"/>
                      <a:gd name="T19" fmla="*/ 45 h 45"/>
                      <a:gd name="T20" fmla="*/ 5 w 37"/>
                      <a:gd name="T21" fmla="*/ 40 h 45"/>
                      <a:gd name="T22" fmla="*/ 0 w 37"/>
                      <a:gd name="T23" fmla="*/ 32 h 45"/>
                      <a:gd name="T24" fmla="*/ 0 w 37"/>
                      <a:gd name="T25" fmla="*/ 27 h 45"/>
                      <a:gd name="T26" fmla="*/ 0 w 37"/>
                      <a:gd name="T27" fmla="*/ 17 h 45"/>
                      <a:gd name="T28" fmla="*/ 8 w 37"/>
                      <a:gd name="T29" fmla="*/ 0 h 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7"/>
                      <a:gd name="T46" fmla="*/ 0 h 45"/>
                      <a:gd name="T47" fmla="*/ 37 w 37"/>
                      <a:gd name="T48" fmla="*/ 45 h 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7" h="45">
                        <a:moveTo>
                          <a:pt x="8" y="0"/>
                        </a:moveTo>
                        <a:lnTo>
                          <a:pt x="22" y="3"/>
                        </a:lnTo>
                        <a:lnTo>
                          <a:pt x="31" y="14"/>
                        </a:lnTo>
                        <a:lnTo>
                          <a:pt x="37" y="22"/>
                        </a:lnTo>
                        <a:lnTo>
                          <a:pt x="32" y="27"/>
                        </a:lnTo>
                        <a:lnTo>
                          <a:pt x="37" y="33"/>
                        </a:lnTo>
                        <a:lnTo>
                          <a:pt x="34" y="41"/>
                        </a:lnTo>
                        <a:lnTo>
                          <a:pt x="28" y="45"/>
                        </a:lnTo>
                        <a:lnTo>
                          <a:pt x="17" y="45"/>
                        </a:lnTo>
                        <a:lnTo>
                          <a:pt x="9" y="45"/>
                        </a:lnTo>
                        <a:lnTo>
                          <a:pt x="5" y="40"/>
                        </a:lnTo>
                        <a:lnTo>
                          <a:pt x="0" y="32"/>
                        </a:lnTo>
                        <a:lnTo>
                          <a:pt x="0" y="27"/>
                        </a:lnTo>
                        <a:lnTo>
                          <a:pt x="0" y="17"/>
                        </a:lnTo>
                        <a:lnTo>
                          <a:pt x="8" y="0"/>
                        </a:lnTo>
                        <a:close/>
                      </a:path>
                    </a:pathLst>
                  </a:custGeom>
                  <a:solidFill>
                    <a:schemeClr val="accent2"/>
                  </a:solidFill>
                  <a:ln w="9525">
                    <a:noFill/>
                    <a:round/>
                    <a:headEnd/>
                    <a:tailEnd/>
                  </a:ln>
                </p:spPr>
                <p:txBody>
                  <a:bodyPr/>
                  <a:lstStyle/>
                  <a:p>
                    <a:endParaRPr lang="zh-CN" altLang="en-US"/>
                  </a:p>
                </p:txBody>
              </p:sp>
              <p:sp>
                <p:nvSpPr>
                  <p:cNvPr id="14382" name="Freeform 16"/>
                  <p:cNvSpPr>
                    <a:spLocks/>
                  </p:cNvSpPr>
                  <p:nvPr/>
                </p:nvSpPr>
                <p:spPr bwMode="auto">
                  <a:xfrm>
                    <a:off x="3543" y="1798"/>
                    <a:ext cx="23" cy="14"/>
                  </a:xfrm>
                  <a:custGeom>
                    <a:avLst/>
                    <a:gdLst>
                      <a:gd name="T0" fmla="*/ 10 w 69"/>
                      <a:gd name="T1" fmla="*/ 0 h 41"/>
                      <a:gd name="T2" fmla="*/ 19 w 69"/>
                      <a:gd name="T3" fmla="*/ 5 h 41"/>
                      <a:gd name="T4" fmla="*/ 28 w 69"/>
                      <a:gd name="T5" fmla="*/ 3 h 41"/>
                      <a:gd name="T6" fmla="*/ 42 w 69"/>
                      <a:gd name="T7" fmla="*/ 5 h 41"/>
                      <a:gd name="T8" fmla="*/ 51 w 69"/>
                      <a:gd name="T9" fmla="*/ 5 h 41"/>
                      <a:gd name="T10" fmla="*/ 56 w 69"/>
                      <a:gd name="T11" fmla="*/ 9 h 41"/>
                      <a:gd name="T12" fmla="*/ 64 w 69"/>
                      <a:gd name="T13" fmla="*/ 18 h 41"/>
                      <a:gd name="T14" fmla="*/ 69 w 69"/>
                      <a:gd name="T15" fmla="*/ 20 h 41"/>
                      <a:gd name="T16" fmla="*/ 53 w 69"/>
                      <a:gd name="T17" fmla="*/ 24 h 41"/>
                      <a:gd name="T18" fmla="*/ 47 w 69"/>
                      <a:gd name="T19" fmla="*/ 28 h 41"/>
                      <a:gd name="T20" fmla="*/ 53 w 69"/>
                      <a:gd name="T21" fmla="*/ 34 h 41"/>
                      <a:gd name="T22" fmla="*/ 53 w 69"/>
                      <a:gd name="T23" fmla="*/ 41 h 41"/>
                      <a:gd name="T24" fmla="*/ 38 w 69"/>
                      <a:gd name="T25" fmla="*/ 34 h 41"/>
                      <a:gd name="T26" fmla="*/ 27 w 69"/>
                      <a:gd name="T27" fmla="*/ 32 h 41"/>
                      <a:gd name="T28" fmla="*/ 19 w 69"/>
                      <a:gd name="T29" fmla="*/ 32 h 41"/>
                      <a:gd name="T30" fmla="*/ 19 w 69"/>
                      <a:gd name="T31" fmla="*/ 41 h 41"/>
                      <a:gd name="T32" fmla="*/ 10 w 69"/>
                      <a:gd name="T33" fmla="*/ 41 h 41"/>
                      <a:gd name="T34" fmla="*/ 9 w 69"/>
                      <a:gd name="T35" fmla="*/ 34 h 41"/>
                      <a:gd name="T36" fmla="*/ 6 w 69"/>
                      <a:gd name="T37" fmla="*/ 24 h 41"/>
                      <a:gd name="T38" fmla="*/ 0 w 69"/>
                      <a:gd name="T39" fmla="*/ 23 h 41"/>
                      <a:gd name="T40" fmla="*/ 6 w 69"/>
                      <a:gd name="T41" fmla="*/ 18 h 41"/>
                      <a:gd name="T42" fmla="*/ 13 w 69"/>
                      <a:gd name="T43" fmla="*/ 14 h 41"/>
                      <a:gd name="T44" fmla="*/ 10 w 69"/>
                      <a:gd name="T45" fmla="*/ 0 h 4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9"/>
                      <a:gd name="T70" fmla="*/ 0 h 41"/>
                      <a:gd name="T71" fmla="*/ 69 w 69"/>
                      <a:gd name="T72" fmla="*/ 41 h 4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9" h="41">
                        <a:moveTo>
                          <a:pt x="10" y="0"/>
                        </a:moveTo>
                        <a:lnTo>
                          <a:pt x="19" y="5"/>
                        </a:lnTo>
                        <a:lnTo>
                          <a:pt x="28" y="3"/>
                        </a:lnTo>
                        <a:lnTo>
                          <a:pt x="42" y="5"/>
                        </a:lnTo>
                        <a:lnTo>
                          <a:pt x="51" y="5"/>
                        </a:lnTo>
                        <a:lnTo>
                          <a:pt x="56" y="9"/>
                        </a:lnTo>
                        <a:lnTo>
                          <a:pt x="64" y="18"/>
                        </a:lnTo>
                        <a:lnTo>
                          <a:pt x="69" y="20"/>
                        </a:lnTo>
                        <a:lnTo>
                          <a:pt x="53" y="24"/>
                        </a:lnTo>
                        <a:lnTo>
                          <a:pt x="47" y="28"/>
                        </a:lnTo>
                        <a:lnTo>
                          <a:pt x="53" y="34"/>
                        </a:lnTo>
                        <a:lnTo>
                          <a:pt x="53" y="41"/>
                        </a:lnTo>
                        <a:lnTo>
                          <a:pt x="38" y="34"/>
                        </a:lnTo>
                        <a:lnTo>
                          <a:pt x="27" y="32"/>
                        </a:lnTo>
                        <a:lnTo>
                          <a:pt x="19" y="32"/>
                        </a:lnTo>
                        <a:lnTo>
                          <a:pt x="19" y="41"/>
                        </a:lnTo>
                        <a:lnTo>
                          <a:pt x="10" y="41"/>
                        </a:lnTo>
                        <a:lnTo>
                          <a:pt x="9" y="34"/>
                        </a:lnTo>
                        <a:lnTo>
                          <a:pt x="6" y="24"/>
                        </a:lnTo>
                        <a:lnTo>
                          <a:pt x="0" y="23"/>
                        </a:lnTo>
                        <a:lnTo>
                          <a:pt x="6" y="18"/>
                        </a:lnTo>
                        <a:lnTo>
                          <a:pt x="13" y="14"/>
                        </a:lnTo>
                        <a:lnTo>
                          <a:pt x="10" y="0"/>
                        </a:lnTo>
                        <a:close/>
                      </a:path>
                    </a:pathLst>
                  </a:custGeom>
                  <a:solidFill>
                    <a:schemeClr val="accent2"/>
                  </a:solidFill>
                  <a:ln w="9525">
                    <a:noFill/>
                    <a:round/>
                    <a:headEnd/>
                    <a:tailEnd/>
                  </a:ln>
                </p:spPr>
                <p:txBody>
                  <a:bodyPr/>
                  <a:lstStyle/>
                  <a:p>
                    <a:endParaRPr lang="zh-CN" altLang="en-US"/>
                  </a:p>
                </p:txBody>
              </p:sp>
            </p:grpSp>
            <p:sp>
              <p:nvSpPr>
                <p:cNvPr id="14371" name="Freeform 17"/>
                <p:cNvSpPr>
                  <a:spLocks/>
                </p:cNvSpPr>
                <p:nvPr/>
              </p:nvSpPr>
              <p:spPr bwMode="auto">
                <a:xfrm>
                  <a:off x="3563" y="2039"/>
                  <a:ext cx="156" cy="116"/>
                </a:xfrm>
                <a:custGeom>
                  <a:avLst/>
                  <a:gdLst>
                    <a:gd name="T0" fmla="*/ 361 w 469"/>
                    <a:gd name="T1" fmla="*/ 29 h 347"/>
                    <a:gd name="T2" fmla="*/ 379 w 469"/>
                    <a:gd name="T3" fmla="*/ 43 h 347"/>
                    <a:gd name="T4" fmla="*/ 398 w 469"/>
                    <a:gd name="T5" fmla="*/ 93 h 347"/>
                    <a:gd name="T6" fmla="*/ 443 w 469"/>
                    <a:gd name="T7" fmla="*/ 147 h 347"/>
                    <a:gd name="T8" fmla="*/ 469 w 469"/>
                    <a:gd name="T9" fmla="*/ 199 h 347"/>
                    <a:gd name="T10" fmla="*/ 450 w 469"/>
                    <a:gd name="T11" fmla="*/ 248 h 347"/>
                    <a:gd name="T12" fmla="*/ 432 w 469"/>
                    <a:gd name="T13" fmla="*/ 279 h 347"/>
                    <a:gd name="T14" fmla="*/ 420 w 469"/>
                    <a:gd name="T15" fmla="*/ 311 h 347"/>
                    <a:gd name="T16" fmla="*/ 409 w 469"/>
                    <a:gd name="T17" fmla="*/ 331 h 347"/>
                    <a:gd name="T18" fmla="*/ 386 w 469"/>
                    <a:gd name="T19" fmla="*/ 341 h 347"/>
                    <a:gd name="T20" fmla="*/ 351 w 469"/>
                    <a:gd name="T21" fmla="*/ 338 h 347"/>
                    <a:gd name="T22" fmla="*/ 315 w 469"/>
                    <a:gd name="T23" fmla="*/ 331 h 347"/>
                    <a:gd name="T24" fmla="*/ 296 w 469"/>
                    <a:gd name="T25" fmla="*/ 309 h 347"/>
                    <a:gd name="T26" fmla="*/ 291 w 469"/>
                    <a:gd name="T27" fmla="*/ 285 h 347"/>
                    <a:gd name="T28" fmla="*/ 277 w 469"/>
                    <a:gd name="T29" fmla="*/ 273 h 347"/>
                    <a:gd name="T30" fmla="*/ 259 w 469"/>
                    <a:gd name="T31" fmla="*/ 276 h 347"/>
                    <a:gd name="T32" fmla="*/ 238 w 469"/>
                    <a:gd name="T33" fmla="*/ 258 h 347"/>
                    <a:gd name="T34" fmla="*/ 224 w 469"/>
                    <a:gd name="T35" fmla="*/ 253 h 347"/>
                    <a:gd name="T36" fmla="*/ 199 w 469"/>
                    <a:gd name="T37" fmla="*/ 258 h 347"/>
                    <a:gd name="T38" fmla="*/ 177 w 469"/>
                    <a:gd name="T39" fmla="*/ 259 h 347"/>
                    <a:gd name="T40" fmla="*/ 161 w 469"/>
                    <a:gd name="T41" fmla="*/ 271 h 347"/>
                    <a:gd name="T42" fmla="*/ 134 w 469"/>
                    <a:gd name="T43" fmla="*/ 279 h 347"/>
                    <a:gd name="T44" fmla="*/ 108 w 469"/>
                    <a:gd name="T45" fmla="*/ 291 h 347"/>
                    <a:gd name="T46" fmla="*/ 92 w 469"/>
                    <a:gd name="T47" fmla="*/ 297 h 347"/>
                    <a:gd name="T48" fmla="*/ 54 w 469"/>
                    <a:gd name="T49" fmla="*/ 294 h 347"/>
                    <a:gd name="T50" fmla="*/ 46 w 469"/>
                    <a:gd name="T51" fmla="*/ 285 h 347"/>
                    <a:gd name="T52" fmla="*/ 46 w 469"/>
                    <a:gd name="T53" fmla="*/ 248 h 347"/>
                    <a:gd name="T54" fmla="*/ 33 w 469"/>
                    <a:gd name="T55" fmla="*/ 225 h 347"/>
                    <a:gd name="T56" fmla="*/ 20 w 469"/>
                    <a:gd name="T57" fmla="*/ 208 h 347"/>
                    <a:gd name="T58" fmla="*/ 5 w 469"/>
                    <a:gd name="T59" fmla="*/ 147 h 347"/>
                    <a:gd name="T60" fmla="*/ 5 w 469"/>
                    <a:gd name="T61" fmla="*/ 125 h 347"/>
                    <a:gd name="T62" fmla="*/ 40 w 469"/>
                    <a:gd name="T63" fmla="*/ 115 h 347"/>
                    <a:gd name="T64" fmla="*/ 63 w 469"/>
                    <a:gd name="T65" fmla="*/ 111 h 347"/>
                    <a:gd name="T66" fmla="*/ 79 w 469"/>
                    <a:gd name="T67" fmla="*/ 106 h 347"/>
                    <a:gd name="T68" fmla="*/ 86 w 469"/>
                    <a:gd name="T69" fmla="*/ 88 h 347"/>
                    <a:gd name="T70" fmla="*/ 83 w 469"/>
                    <a:gd name="T71" fmla="*/ 79 h 347"/>
                    <a:gd name="T72" fmla="*/ 117 w 469"/>
                    <a:gd name="T73" fmla="*/ 52 h 347"/>
                    <a:gd name="T74" fmla="*/ 143 w 469"/>
                    <a:gd name="T75" fmla="*/ 33 h 347"/>
                    <a:gd name="T76" fmla="*/ 168 w 469"/>
                    <a:gd name="T77" fmla="*/ 47 h 347"/>
                    <a:gd name="T78" fmla="*/ 184 w 469"/>
                    <a:gd name="T79" fmla="*/ 31 h 347"/>
                    <a:gd name="T80" fmla="*/ 204 w 469"/>
                    <a:gd name="T81" fmla="*/ 17 h 347"/>
                    <a:gd name="T82" fmla="*/ 223 w 469"/>
                    <a:gd name="T83" fmla="*/ 6 h 347"/>
                    <a:gd name="T84" fmla="*/ 254 w 469"/>
                    <a:gd name="T85" fmla="*/ 6 h 347"/>
                    <a:gd name="T86" fmla="*/ 265 w 469"/>
                    <a:gd name="T87" fmla="*/ 20 h 347"/>
                    <a:gd name="T88" fmla="*/ 265 w 469"/>
                    <a:gd name="T89" fmla="*/ 38 h 347"/>
                    <a:gd name="T90" fmla="*/ 291 w 469"/>
                    <a:gd name="T91" fmla="*/ 65 h 347"/>
                    <a:gd name="T92" fmla="*/ 314 w 469"/>
                    <a:gd name="T93" fmla="*/ 75 h 347"/>
                    <a:gd name="T94" fmla="*/ 331 w 469"/>
                    <a:gd name="T95" fmla="*/ 47 h 347"/>
                    <a:gd name="T96" fmla="*/ 337 w 469"/>
                    <a:gd name="T97" fmla="*/ 0 h 347"/>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69"/>
                    <a:gd name="T148" fmla="*/ 0 h 347"/>
                    <a:gd name="T149" fmla="*/ 469 w 469"/>
                    <a:gd name="T150" fmla="*/ 347 h 347"/>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69" h="347">
                      <a:moveTo>
                        <a:pt x="337" y="0"/>
                      </a:moveTo>
                      <a:lnTo>
                        <a:pt x="361" y="0"/>
                      </a:lnTo>
                      <a:lnTo>
                        <a:pt x="361" y="29"/>
                      </a:lnTo>
                      <a:lnTo>
                        <a:pt x="372" y="38"/>
                      </a:lnTo>
                      <a:lnTo>
                        <a:pt x="375" y="43"/>
                      </a:lnTo>
                      <a:lnTo>
                        <a:pt x="379" y="43"/>
                      </a:lnTo>
                      <a:lnTo>
                        <a:pt x="383" y="47"/>
                      </a:lnTo>
                      <a:lnTo>
                        <a:pt x="386" y="75"/>
                      </a:lnTo>
                      <a:lnTo>
                        <a:pt x="398" y="93"/>
                      </a:lnTo>
                      <a:lnTo>
                        <a:pt x="420" y="118"/>
                      </a:lnTo>
                      <a:lnTo>
                        <a:pt x="420" y="124"/>
                      </a:lnTo>
                      <a:lnTo>
                        <a:pt x="443" y="147"/>
                      </a:lnTo>
                      <a:lnTo>
                        <a:pt x="443" y="149"/>
                      </a:lnTo>
                      <a:lnTo>
                        <a:pt x="466" y="167"/>
                      </a:lnTo>
                      <a:lnTo>
                        <a:pt x="469" y="199"/>
                      </a:lnTo>
                      <a:lnTo>
                        <a:pt x="466" y="227"/>
                      </a:lnTo>
                      <a:lnTo>
                        <a:pt x="457" y="241"/>
                      </a:lnTo>
                      <a:lnTo>
                        <a:pt x="450" y="248"/>
                      </a:lnTo>
                      <a:lnTo>
                        <a:pt x="446" y="263"/>
                      </a:lnTo>
                      <a:lnTo>
                        <a:pt x="438" y="276"/>
                      </a:lnTo>
                      <a:lnTo>
                        <a:pt x="432" y="279"/>
                      </a:lnTo>
                      <a:lnTo>
                        <a:pt x="434" y="285"/>
                      </a:lnTo>
                      <a:lnTo>
                        <a:pt x="423" y="294"/>
                      </a:lnTo>
                      <a:lnTo>
                        <a:pt x="420" y="311"/>
                      </a:lnTo>
                      <a:lnTo>
                        <a:pt x="418" y="322"/>
                      </a:lnTo>
                      <a:lnTo>
                        <a:pt x="411" y="325"/>
                      </a:lnTo>
                      <a:lnTo>
                        <a:pt x="409" y="331"/>
                      </a:lnTo>
                      <a:lnTo>
                        <a:pt x="404" y="338"/>
                      </a:lnTo>
                      <a:lnTo>
                        <a:pt x="395" y="338"/>
                      </a:lnTo>
                      <a:lnTo>
                        <a:pt x="386" y="341"/>
                      </a:lnTo>
                      <a:lnTo>
                        <a:pt x="377" y="347"/>
                      </a:lnTo>
                      <a:lnTo>
                        <a:pt x="363" y="334"/>
                      </a:lnTo>
                      <a:lnTo>
                        <a:pt x="351" y="338"/>
                      </a:lnTo>
                      <a:lnTo>
                        <a:pt x="346" y="338"/>
                      </a:lnTo>
                      <a:lnTo>
                        <a:pt x="325" y="340"/>
                      </a:lnTo>
                      <a:lnTo>
                        <a:pt x="315" y="331"/>
                      </a:lnTo>
                      <a:lnTo>
                        <a:pt x="305" y="317"/>
                      </a:lnTo>
                      <a:lnTo>
                        <a:pt x="301" y="320"/>
                      </a:lnTo>
                      <a:lnTo>
                        <a:pt x="296" y="309"/>
                      </a:lnTo>
                      <a:lnTo>
                        <a:pt x="292" y="302"/>
                      </a:lnTo>
                      <a:lnTo>
                        <a:pt x="291" y="299"/>
                      </a:lnTo>
                      <a:lnTo>
                        <a:pt x="291" y="285"/>
                      </a:lnTo>
                      <a:lnTo>
                        <a:pt x="291" y="276"/>
                      </a:lnTo>
                      <a:lnTo>
                        <a:pt x="287" y="271"/>
                      </a:lnTo>
                      <a:lnTo>
                        <a:pt x="277" y="273"/>
                      </a:lnTo>
                      <a:lnTo>
                        <a:pt x="270" y="276"/>
                      </a:lnTo>
                      <a:lnTo>
                        <a:pt x="261" y="276"/>
                      </a:lnTo>
                      <a:lnTo>
                        <a:pt x="259" y="276"/>
                      </a:lnTo>
                      <a:lnTo>
                        <a:pt x="254" y="276"/>
                      </a:lnTo>
                      <a:lnTo>
                        <a:pt x="246" y="267"/>
                      </a:lnTo>
                      <a:lnTo>
                        <a:pt x="238" y="258"/>
                      </a:lnTo>
                      <a:lnTo>
                        <a:pt x="237" y="258"/>
                      </a:lnTo>
                      <a:lnTo>
                        <a:pt x="227" y="258"/>
                      </a:lnTo>
                      <a:lnTo>
                        <a:pt x="224" y="253"/>
                      </a:lnTo>
                      <a:lnTo>
                        <a:pt x="215" y="258"/>
                      </a:lnTo>
                      <a:lnTo>
                        <a:pt x="210" y="258"/>
                      </a:lnTo>
                      <a:lnTo>
                        <a:pt x="199" y="258"/>
                      </a:lnTo>
                      <a:lnTo>
                        <a:pt x="195" y="253"/>
                      </a:lnTo>
                      <a:lnTo>
                        <a:pt x="191" y="258"/>
                      </a:lnTo>
                      <a:lnTo>
                        <a:pt x="177" y="259"/>
                      </a:lnTo>
                      <a:lnTo>
                        <a:pt x="175" y="258"/>
                      </a:lnTo>
                      <a:lnTo>
                        <a:pt x="169" y="263"/>
                      </a:lnTo>
                      <a:lnTo>
                        <a:pt x="161" y="271"/>
                      </a:lnTo>
                      <a:lnTo>
                        <a:pt x="154" y="271"/>
                      </a:lnTo>
                      <a:lnTo>
                        <a:pt x="146" y="279"/>
                      </a:lnTo>
                      <a:lnTo>
                        <a:pt x="134" y="279"/>
                      </a:lnTo>
                      <a:lnTo>
                        <a:pt x="123" y="279"/>
                      </a:lnTo>
                      <a:lnTo>
                        <a:pt x="113" y="285"/>
                      </a:lnTo>
                      <a:lnTo>
                        <a:pt x="108" y="291"/>
                      </a:lnTo>
                      <a:lnTo>
                        <a:pt x="102" y="290"/>
                      </a:lnTo>
                      <a:lnTo>
                        <a:pt x="100" y="295"/>
                      </a:lnTo>
                      <a:lnTo>
                        <a:pt x="92" y="297"/>
                      </a:lnTo>
                      <a:lnTo>
                        <a:pt x="86" y="302"/>
                      </a:lnTo>
                      <a:lnTo>
                        <a:pt x="63" y="302"/>
                      </a:lnTo>
                      <a:lnTo>
                        <a:pt x="54" y="294"/>
                      </a:lnTo>
                      <a:lnTo>
                        <a:pt x="52" y="290"/>
                      </a:lnTo>
                      <a:lnTo>
                        <a:pt x="51" y="294"/>
                      </a:lnTo>
                      <a:lnTo>
                        <a:pt x="46" y="285"/>
                      </a:lnTo>
                      <a:lnTo>
                        <a:pt x="47" y="268"/>
                      </a:lnTo>
                      <a:lnTo>
                        <a:pt x="51" y="258"/>
                      </a:lnTo>
                      <a:lnTo>
                        <a:pt x="46" y="248"/>
                      </a:lnTo>
                      <a:lnTo>
                        <a:pt x="42" y="241"/>
                      </a:lnTo>
                      <a:lnTo>
                        <a:pt x="42" y="231"/>
                      </a:lnTo>
                      <a:lnTo>
                        <a:pt x="33" y="225"/>
                      </a:lnTo>
                      <a:lnTo>
                        <a:pt x="31" y="225"/>
                      </a:lnTo>
                      <a:lnTo>
                        <a:pt x="29" y="221"/>
                      </a:lnTo>
                      <a:lnTo>
                        <a:pt x="20" y="208"/>
                      </a:lnTo>
                      <a:lnTo>
                        <a:pt x="8" y="179"/>
                      </a:lnTo>
                      <a:lnTo>
                        <a:pt x="5" y="157"/>
                      </a:lnTo>
                      <a:lnTo>
                        <a:pt x="5" y="147"/>
                      </a:lnTo>
                      <a:lnTo>
                        <a:pt x="0" y="141"/>
                      </a:lnTo>
                      <a:lnTo>
                        <a:pt x="1" y="129"/>
                      </a:lnTo>
                      <a:lnTo>
                        <a:pt x="5" y="125"/>
                      </a:lnTo>
                      <a:lnTo>
                        <a:pt x="20" y="111"/>
                      </a:lnTo>
                      <a:lnTo>
                        <a:pt x="35" y="111"/>
                      </a:lnTo>
                      <a:lnTo>
                        <a:pt x="40" y="115"/>
                      </a:lnTo>
                      <a:lnTo>
                        <a:pt x="58" y="115"/>
                      </a:lnTo>
                      <a:lnTo>
                        <a:pt x="60" y="111"/>
                      </a:lnTo>
                      <a:lnTo>
                        <a:pt x="63" y="111"/>
                      </a:lnTo>
                      <a:lnTo>
                        <a:pt x="70" y="107"/>
                      </a:lnTo>
                      <a:lnTo>
                        <a:pt x="74" y="107"/>
                      </a:lnTo>
                      <a:lnTo>
                        <a:pt x="79" y="106"/>
                      </a:lnTo>
                      <a:lnTo>
                        <a:pt x="77" y="100"/>
                      </a:lnTo>
                      <a:lnTo>
                        <a:pt x="81" y="91"/>
                      </a:lnTo>
                      <a:lnTo>
                        <a:pt x="86" y="88"/>
                      </a:lnTo>
                      <a:lnTo>
                        <a:pt x="83" y="84"/>
                      </a:lnTo>
                      <a:lnTo>
                        <a:pt x="86" y="80"/>
                      </a:lnTo>
                      <a:lnTo>
                        <a:pt x="83" y="79"/>
                      </a:lnTo>
                      <a:lnTo>
                        <a:pt x="92" y="70"/>
                      </a:lnTo>
                      <a:lnTo>
                        <a:pt x="104" y="68"/>
                      </a:lnTo>
                      <a:lnTo>
                        <a:pt x="117" y="52"/>
                      </a:lnTo>
                      <a:lnTo>
                        <a:pt x="132" y="38"/>
                      </a:lnTo>
                      <a:lnTo>
                        <a:pt x="140" y="38"/>
                      </a:lnTo>
                      <a:lnTo>
                        <a:pt x="143" y="33"/>
                      </a:lnTo>
                      <a:lnTo>
                        <a:pt x="150" y="33"/>
                      </a:lnTo>
                      <a:lnTo>
                        <a:pt x="163" y="45"/>
                      </a:lnTo>
                      <a:lnTo>
                        <a:pt x="168" y="47"/>
                      </a:lnTo>
                      <a:lnTo>
                        <a:pt x="172" y="43"/>
                      </a:lnTo>
                      <a:lnTo>
                        <a:pt x="178" y="33"/>
                      </a:lnTo>
                      <a:lnTo>
                        <a:pt x="184" y="31"/>
                      </a:lnTo>
                      <a:lnTo>
                        <a:pt x="191" y="20"/>
                      </a:lnTo>
                      <a:lnTo>
                        <a:pt x="196" y="20"/>
                      </a:lnTo>
                      <a:lnTo>
                        <a:pt x="204" y="17"/>
                      </a:lnTo>
                      <a:lnTo>
                        <a:pt x="210" y="9"/>
                      </a:lnTo>
                      <a:lnTo>
                        <a:pt x="215" y="9"/>
                      </a:lnTo>
                      <a:lnTo>
                        <a:pt x="223" y="6"/>
                      </a:lnTo>
                      <a:lnTo>
                        <a:pt x="231" y="6"/>
                      </a:lnTo>
                      <a:lnTo>
                        <a:pt x="241" y="6"/>
                      </a:lnTo>
                      <a:lnTo>
                        <a:pt x="254" y="6"/>
                      </a:lnTo>
                      <a:lnTo>
                        <a:pt x="261" y="15"/>
                      </a:lnTo>
                      <a:lnTo>
                        <a:pt x="264" y="18"/>
                      </a:lnTo>
                      <a:lnTo>
                        <a:pt x="265" y="20"/>
                      </a:lnTo>
                      <a:lnTo>
                        <a:pt x="268" y="27"/>
                      </a:lnTo>
                      <a:lnTo>
                        <a:pt x="265" y="29"/>
                      </a:lnTo>
                      <a:lnTo>
                        <a:pt x="265" y="38"/>
                      </a:lnTo>
                      <a:lnTo>
                        <a:pt x="264" y="43"/>
                      </a:lnTo>
                      <a:lnTo>
                        <a:pt x="284" y="57"/>
                      </a:lnTo>
                      <a:lnTo>
                        <a:pt x="291" y="65"/>
                      </a:lnTo>
                      <a:lnTo>
                        <a:pt x="300" y="66"/>
                      </a:lnTo>
                      <a:lnTo>
                        <a:pt x="306" y="70"/>
                      </a:lnTo>
                      <a:lnTo>
                        <a:pt x="314" y="75"/>
                      </a:lnTo>
                      <a:lnTo>
                        <a:pt x="323" y="68"/>
                      </a:lnTo>
                      <a:lnTo>
                        <a:pt x="328" y="57"/>
                      </a:lnTo>
                      <a:lnTo>
                        <a:pt x="331" y="47"/>
                      </a:lnTo>
                      <a:lnTo>
                        <a:pt x="333" y="27"/>
                      </a:lnTo>
                      <a:lnTo>
                        <a:pt x="337" y="20"/>
                      </a:lnTo>
                      <a:lnTo>
                        <a:pt x="337" y="0"/>
                      </a:lnTo>
                      <a:close/>
                    </a:path>
                  </a:pathLst>
                </a:custGeom>
                <a:solidFill>
                  <a:schemeClr val="accent2"/>
                </a:solidFill>
                <a:ln w="9525">
                  <a:noFill/>
                  <a:round/>
                  <a:headEnd/>
                  <a:tailEnd/>
                </a:ln>
              </p:spPr>
              <p:txBody>
                <a:bodyPr/>
                <a:lstStyle/>
                <a:p>
                  <a:endParaRPr lang="zh-CN" altLang="en-US"/>
                </a:p>
              </p:txBody>
            </p:sp>
            <p:sp>
              <p:nvSpPr>
                <p:cNvPr id="14372" name="Freeform 18"/>
                <p:cNvSpPr>
                  <a:spLocks/>
                </p:cNvSpPr>
                <p:nvPr/>
              </p:nvSpPr>
              <p:spPr bwMode="auto">
                <a:xfrm>
                  <a:off x="3527" y="2015"/>
                  <a:ext cx="86" cy="15"/>
                </a:xfrm>
                <a:custGeom>
                  <a:avLst/>
                  <a:gdLst>
                    <a:gd name="T0" fmla="*/ 18 w 258"/>
                    <a:gd name="T1" fmla="*/ 7 h 47"/>
                    <a:gd name="T2" fmla="*/ 50 w 258"/>
                    <a:gd name="T3" fmla="*/ 7 h 47"/>
                    <a:gd name="T4" fmla="*/ 69 w 258"/>
                    <a:gd name="T5" fmla="*/ 8 h 47"/>
                    <a:gd name="T6" fmla="*/ 87 w 258"/>
                    <a:gd name="T7" fmla="*/ 22 h 47"/>
                    <a:gd name="T8" fmla="*/ 101 w 258"/>
                    <a:gd name="T9" fmla="*/ 26 h 47"/>
                    <a:gd name="T10" fmla="*/ 126 w 258"/>
                    <a:gd name="T11" fmla="*/ 31 h 47"/>
                    <a:gd name="T12" fmla="*/ 138 w 258"/>
                    <a:gd name="T13" fmla="*/ 35 h 47"/>
                    <a:gd name="T14" fmla="*/ 144 w 258"/>
                    <a:gd name="T15" fmla="*/ 22 h 47"/>
                    <a:gd name="T16" fmla="*/ 174 w 258"/>
                    <a:gd name="T17" fmla="*/ 26 h 47"/>
                    <a:gd name="T18" fmla="*/ 197 w 258"/>
                    <a:gd name="T19" fmla="*/ 30 h 47"/>
                    <a:gd name="T20" fmla="*/ 213 w 258"/>
                    <a:gd name="T21" fmla="*/ 31 h 47"/>
                    <a:gd name="T22" fmla="*/ 226 w 258"/>
                    <a:gd name="T23" fmla="*/ 26 h 47"/>
                    <a:gd name="T24" fmla="*/ 243 w 258"/>
                    <a:gd name="T25" fmla="*/ 22 h 47"/>
                    <a:gd name="T26" fmla="*/ 258 w 258"/>
                    <a:gd name="T27" fmla="*/ 21 h 47"/>
                    <a:gd name="T28" fmla="*/ 252 w 258"/>
                    <a:gd name="T29" fmla="*/ 35 h 47"/>
                    <a:gd name="T30" fmla="*/ 243 w 258"/>
                    <a:gd name="T31" fmla="*/ 38 h 47"/>
                    <a:gd name="T32" fmla="*/ 232 w 258"/>
                    <a:gd name="T33" fmla="*/ 40 h 47"/>
                    <a:gd name="T34" fmla="*/ 224 w 258"/>
                    <a:gd name="T35" fmla="*/ 44 h 47"/>
                    <a:gd name="T36" fmla="*/ 211 w 258"/>
                    <a:gd name="T37" fmla="*/ 44 h 47"/>
                    <a:gd name="T38" fmla="*/ 201 w 258"/>
                    <a:gd name="T39" fmla="*/ 44 h 47"/>
                    <a:gd name="T40" fmla="*/ 188 w 258"/>
                    <a:gd name="T41" fmla="*/ 47 h 47"/>
                    <a:gd name="T42" fmla="*/ 176 w 258"/>
                    <a:gd name="T43" fmla="*/ 38 h 47"/>
                    <a:gd name="T44" fmla="*/ 165 w 258"/>
                    <a:gd name="T45" fmla="*/ 47 h 47"/>
                    <a:gd name="T46" fmla="*/ 151 w 258"/>
                    <a:gd name="T47" fmla="*/ 38 h 47"/>
                    <a:gd name="T48" fmla="*/ 142 w 258"/>
                    <a:gd name="T49" fmla="*/ 40 h 47"/>
                    <a:gd name="T50" fmla="*/ 129 w 258"/>
                    <a:gd name="T51" fmla="*/ 44 h 47"/>
                    <a:gd name="T52" fmla="*/ 117 w 258"/>
                    <a:gd name="T53" fmla="*/ 41 h 47"/>
                    <a:gd name="T54" fmla="*/ 103 w 258"/>
                    <a:gd name="T55" fmla="*/ 40 h 47"/>
                    <a:gd name="T56" fmla="*/ 91 w 258"/>
                    <a:gd name="T57" fmla="*/ 44 h 47"/>
                    <a:gd name="T58" fmla="*/ 71 w 258"/>
                    <a:gd name="T59" fmla="*/ 36 h 47"/>
                    <a:gd name="T60" fmla="*/ 46 w 258"/>
                    <a:gd name="T61" fmla="*/ 32 h 47"/>
                    <a:gd name="T62" fmla="*/ 28 w 258"/>
                    <a:gd name="T63" fmla="*/ 30 h 47"/>
                    <a:gd name="T64" fmla="*/ 9 w 258"/>
                    <a:gd name="T65" fmla="*/ 21 h 47"/>
                    <a:gd name="T66" fmla="*/ 0 w 258"/>
                    <a:gd name="T67" fmla="*/ 18 h 47"/>
                    <a:gd name="T68" fmla="*/ 0 w 258"/>
                    <a:gd name="T69" fmla="*/ 0 h 4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8"/>
                    <a:gd name="T106" fmla="*/ 0 h 47"/>
                    <a:gd name="T107" fmla="*/ 258 w 258"/>
                    <a:gd name="T108" fmla="*/ 47 h 4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8" h="47">
                      <a:moveTo>
                        <a:pt x="0" y="0"/>
                      </a:moveTo>
                      <a:lnTo>
                        <a:pt x="18" y="7"/>
                      </a:lnTo>
                      <a:lnTo>
                        <a:pt x="36" y="7"/>
                      </a:lnTo>
                      <a:lnTo>
                        <a:pt x="50" y="7"/>
                      </a:lnTo>
                      <a:lnTo>
                        <a:pt x="60" y="7"/>
                      </a:lnTo>
                      <a:lnTo>
                        <a:pt x="69" y="8"/>
                      </a:lnTo>
                      <a:lnTo>
                        <a:pt x="79" y="12"/>
                      </a:lnTo>
                      <a:lnTo>
                        <a:pt x="87" y="22"/>
                      </a:lnTo>
                      <a:lnTo>
                        <a:pt x="92" y="26"/>
                      </a:lnTo>
                      <a:lnTo>
                        <a:pt x="101" y="26"/>
                      </a:lnTo>
                      <a:lnTo>
                        <a:pt x="114" y="26"/>
                      </a:lnTo>
                      <a:lnTo>
                        <a:pt x="126" y="31"/>
                      </a:lnTo>
                      <a:lnTo>
                        <a:pt x="133" y="35"/>
                      </a:lnTo>
                      <a:lnTo>
                        <a:pt x="138" y="35"/>
                      </a:lnTo>
                      <a:lnTo>
                        <a:pt x="140" y="26"/>
                      </a:lnTo>
                      <a:lnTo>
                        <a:pt x="144" y="22"/>
                      </a:lnTo>
                      <a:lnTo>
                        <a:pt x="161" y="26"/>
                      </a:lnTo>
                      <a:lnTo>
                        <a:pt x="174" y="26"/>
                      </a:lnTo>
                      <a:lnTo>
                        <a:pt x="188" y="26"/>
                      </a:lnTo>
                      <a:lnTo>
                        <a:pt x="197" y="30"/>
                      </a:lnTo>
                      <a:lnTo>
                        <a:pt x="202" y="32"/>
                      </a:lnTo>
                      <a:lnTo>
                        <a:pt x="213" y="31"/>
                      </a:lnTo>
                      <a:lnTo>
                        <a:pt x="220" y="30"/>
                      </a:lnTo>
                      <a:lnTo>
                        <a:pt x="226" y="26"/>
                      </a:lnTo>
                      <a:lnTo>
                        <a:pt x="235" y="26"/>
                      </a:lnTo>
                      <a:lnTo>
                        <a:pt x="243" y="22"/>
                      </a:lnTo>
                      <a:lnTo>
                        <a:pt x="252" y="21"/>
                      </a:lnTo>
                      <a:lnTo>
                        <a:pt x="258" y="21"/>
                      </a:lnTo>
                      <a:lnTo>
                        <a:pt x="255" y="30"/>
                      </a:lnTo>
                      <a:lnTo>
                        <a:pt x="252" y="35"/>
                      </a:lnTo>
                      <a:lnTo>
                        <a:pt x="249" y="38"/>
                      </a:lnTo>
                      <a:lnTo>
                        <a:pt x="243" y="38"/>
                      </a:lnTo>
                      <a:lnTo>
                        <a:pt x="241" y="38"/>
                      </a:lnTo>
                      <a:lnTo>
                        <a:pt x="232" y="40"/>
                      </a:lnTo>
                      <a:lnTo>
                        <a:pt x="227" y="44"/>
                      </a:lnTo>
                      <a:lnTo>
                        <a:pt x="224" y="44"/>
                      </a:lnTo>
                      <a:lnTo>
                        <a:pt x="217" y="41"/>
                      </a:lnTo>
                      <a:lnTo>
                        <a:pt x="211" y="44"/>
                      </a:lnTo>
                      <a:lnTo>
                        <a:pt x="206" y="44"/>
                      </a:lnTo>
                      <a:lnTo>
                        <a:pt x="201" y="44"/>
                      </a:lnTo>
                      <a:lnTo>
                        <a:pt x="197" y="47"/>
                      </a:lnTo>
                      <a:lnTo>
                        <a:pt x="188" y="47"/>
                      </a:lnTo>
                      <a:lnTo>
                        <a:pt x="183" y="44"/>
                      </a:lnTo>
                      <a:lnTo>
                        <a:pt x="176" y="38"/>
                      </a:lnTo>
                      <a:lnTo>
                        <a:pt x="170" y="44"/>
                      </a:lnTo>
                      <a:lnTo>
                        <a:pt x="165" y="47"/>
                      </a:lnTo>
                      <a:lnTo>
                        <a:pt x="160" y="47"/>
                      </a:lnTo>
                      <a:lnTo>
                        <a:pt x="151" y="38"/>
                      </a:lnTo>
                      <a:lnTo>
                        <a:pt x="149" y="40"/>
                      </a:lnTo>
                      <a:lnTo>
                        <a:pt x="142" y="40"/>
                      </a:lnTo>
                      <a:lnTo>
                        <a:pt x="137" y="44"/>
                      </a:lnTo>
                      <a:lnTo>
                        <a:pt x="129" y="44"/>
                      </a:lnTo>
                      <a:lnTo>
                        <a:pt x="120" y="44"/>
                      </a:lnTo>
                      <a:lnTo>
                        <a:pt x="117" y="41"/>
                      </a:lnTo>
                      <a:lnTo>
                        <a:pt x="112" y="38"/>
                      </a:lnTo>
                      <a:lnTo>
                        <a:pt x="103" y="40"/>
                      </a:lnTo>
                      <a:lnTo>
                        <a:pt x="96" y="44"/>
                      </a:lnTo>
                      <a:lnTo>
                        <a:pt x="91" y="44"/>
                      </a:lnTo>
                      <a:lnTo>
                        <a:pt x="79" y="41"/>
                      </a:lnTo>
                      <a:lnTo>
                        <a:pt x="71" y="36"/>
                      </a:lnTo>
                      <a:lnTo>
                        <a:pt x="63" y="36"/>
                      </a:lnTo>
                      <a:lnTo>
                        <a:pt x="46" y="32"/>
                      </a:lnTo>
                      <a:lnTo>
                        <a:pt x="36" y="30"/>
                      </a:lnTo>
                      <a:lnTo>
                        <a:pt x="28" y="30"/>
                      </a:lnTo>
                      <a:lnTo>
                        <a:pt x="18" y="26"/>
                      </a:lnTo>
                      <a:lnTo>
                        <a:pt x="9" y="21"/>
                      </a:lnTo>
                      <a:lnTo>
                        <a:pt x="4" y="21"/>
                      </a:lnTo>
                      <a:lnTo>
                        <a:pt x="0" y="18"/>
                      </a:lnTo>
                      <a:lnTo>
                        <a:pt x="0" y="15"/>
                      </a:lnTo>
                      <a:lnTo>
                        <a:pt x="0" y="0"/>
                      </a:lnTo>
                      <a:close/>
                    </a:path>
                  </a:pathLst>
                </a:custGeom>
                <a:solidFill>
                  <a:schemeClr val="accent2"/>
                </a:solidFill>
                <a:ln w="9525">
                  <a:noFill/>
                  <a:round/>
                  <a:headEnd/>
                  <a:tailEnd/>
                </a:ln>
              </p:spPr>
              <p:txBody>
                <a:bodyPr/>
                <a:lstStyle/>
                <a:p>
                  <a:endParaRPr lang="zh-CN" altLang="en-US"/>
                </a:p>
              </p:txBody>
            </p:sp>
            <p:sp>
              <p:nvSpPr>
                <p:cNvPr id="14373" name="Freeform 19"/>
                <p:cNvSpPr>
                  <a:spLocks/>
                </p:cNvSpPr>
                <p:nvPr/>
              </p:nvSpPr>
              <p:spPr bwMode="auto">
                <a:xfrm>
                  <a:off x="3573" y="1984"/>
                  <a:ext cx="40" cy="30"/>
                </a:xfrm>
                <a:custGeom>
                  <a:avLst/>
                  <a:gdLst>
                    <a:gd name="T0" fmla="*/ 57 w 118"/>
                    <a:gd name="T1" fmla="*/ 3 h 91"/>
                    <a:gd name="T2" fmla="*/ 100 w 118"/>
                    <a:gd name="T3" fmla="*/ 0 h 91"/>
                    <a:gd name="T4" fmla="*/ 107 w 118"/>
                    <a:gd name="T5" fmla="*/ 12 h 91"/>
                    <a:gd name="T6" fmla="*/ 92 w 118"/>
                    <a:gd name="T7" fmla="*/ 17 h 91"/>
                    <a:gd name="T8" fmla="*/ 91 w 118"/>
                    <a:gd name="T9" fmla="*/ 26 h 91"/>
                    <a:gd name="T10" fmla="*/ 84 w 118"/>
                    <a:gd name="T11" fmla="*/ 31 h 91"/>
                    <a:gd name="T12" fmla="*/ 73 w 118"/>
                    <a:gd name="T13" fmla="*/ 31 h 91"/>
                    <a:gd name="T14" fmla="*/ 62 w 118"/>
                    <a:gd name="T15" fmla="*/ 27 h 91"/>
                    <a:gd name="T16" fmla="*/ 52 w 118"/>
                    <a:gd name="T17" fmla="*/ 17 h 91"/>
                    <a:gd name="T18" fmla="*/ 39 w 118"/>
                    <a:gd name="T19" fmla="*/ 17 h 91"/>
                    <a:gd name="T20" fmla="*/ 36 w 118"/>
                    <a:gd name="T21" fmla="*/ 31 h 91"/>
                    <a:gd name="T22" fmla="*/ 39 w 118"/>
                    <a:gd name="T23" fmla="*/ 40 h 91"/>
                    <a:gd name="T24" fmla="*/ 52 w 118"/>
                    <a:gd name="T25" fmla="*/ 35 h 91"/>
                    <a:gd name="T26" fmla="*/ 61 w 118"/>
                    <a:gd name="T27" fmla="*/ 39 h 91"/>
                    <a:gd name="T28" fmla="*/ 59 w 118"/>
                    <a:gd name="T29" fmla="*/ 45 h 91"/>
                    <a:gd name="T30" fmla="*/ 57 w 118"/>
                    <a:gd name="T31" fmla="*/ 50 h 91"/>
                    <a:gd name="T32" fmla="*/ 59 w 118"/>
                    <a:gd name="T33" fmla="*/ 60 h 91"/>
                    <a:gd name="T34" fmla="*/ 66 w 118"/>
                    <a:gd name="T35" fmla="*/ 63 h 91"/>
                    <a:gd name="T36" fmla="*/ 62 w 118"/>
                    <a:gd name="T37" fmla="*/ 73 h 91"/>
                    <a:gd name="T38" fmla="*/ 59 w 118"/>
                    <a:gd name="T39" fmla="*/ 86 h 91"/>
                    <a:gd name="T40" fmla="*/ 50 w 118"/>
                    <a:gd name="T41" fmla="*/ 87 h 91"/>
                    <a:gd name="T42" fmla="*/ 46 w 118"/>
                    <a:gd name="T43" fmla="*/ 81 h 91"/>
                    <a:gd name="T44" fmla="*/ 39 w 118"/>
                    <a:gd name="T45" fmla="*/ 68 h 91"/>
                    <a:gd name="T46" fmla="*/ 39 w 118"/>
                    <a:gd name="T47" fmla="*/ 58 h 91"/>
                    <a:gd name="T48" fmla="*/ 25 w 118"/>
                    <a:gd name="T49" fmla="*/ 58 h 91"/>
                    <a:gd name="T50" fmla="*/ 16 w 118"/>
                    <a:gd name="T51" fmla="*/ 59 h 91"/>
                    <a:gd name="T52" fmla="*/ 29 w 118"/>
                    <a:gd name="T53" fmla="*/ 63 h 91"/>
                    <a:gd name="T54" fmla="*/ 34 w 118"/>
                    <a:gd name="T55" fmla="*/ 72 h 91"/>
                    <a:gd name="T56" fmla="*/ 30 w 118"/>
                    <a:gd name="T57" fmla="*/ 81 h 91"/>
                    <a:gd name="T58" fmla="*/ 21 w 118"/>
                    <a:gd name="T59" fmla="*/ 91 h 91"/>
                    <a:gd name="T60" fmla="*/ 21 w 118"/>
                    <a:gd name="T61" fmla="*/ 81 h 91"/>
                    <a:gd name="T62" fmla="*/ 16 w 118"/>
                    <a:gd name="T63" fmla="*/ 72 h 91"/>
                    <a:gd name="T64" fmla="*/ 9 w 118"/>
                    <a:gd name="T65" fmla="*/ 63 h 91"/>
                    <a:gd name="T66" fmla="*/ 2 w 118"/>
                    <a:gd name="T67" fmla="*/ 53 h 91"/>
                    <a:gd name="T68" fmla="*/ 13 w 118"/>
                    <a:gd name="T69" fmla="*/ 44 h 91"/>
                    <a:gd name="T70" fmla="*/ 16 w 118"/>
                    <a:gd name="T71" fmla="*/ 30 h 91"/>
                    <a:gd name="T72" fmla="*/ 20 w 118"/>
                    <a:gd name="T73" fmla="*/ 18 h 91"/>
                    <a:gd name="T74" fmla="*/ 16 w 118"/>
                    <a:gd name="T75" fmla="*/ 12 h 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18"/>
                    <a:gd name="T115" fmla="*/ 0 h 91"/>
                    <a:gd name="T116" fmla="*/ 118 w 118"/>
                    <a:gd name="T117" fmla="*/ 91 h 9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18" h="91">
                      <a:moveTo>
                        <a:pt x="30" y="0"/>
                      </a:moveTo>
                      <a:lnTo>
                        <a:pt x="57" y="3"/>
                      </a:lnTo>
                      <a:lnTo>
                        <a:pt x="86" y="3"/>
                      </a:lnTo>
                      <a:lnTo>
                        <a:pt x="100" y="0"/>
                      </a:lnTo>
                      <a:lnTo>
                        <a:pt x="118" y="8"/>
                      </a:lnTo>
                      <a:lnTo>
                        <a:pt x="107" y="12"/>
                      </a:lnTo>
                      <a:lnTo>
                        <a:pt x="100" y="16"/>
                      </a:lnTo>
                      <a:lnTo>
                        <a:pt x="92" y="17"/>
                      </a:lnTo>
                      <a:lnTo>
                        <a:pt x="91" y="21"/>
                      </a:lnTo>
                      <a:lnTo>
                        <a:pt x="91" y="26"/>
                      </a:lnTo>
                      <a:lnTo>
                        <a:pt x="91" y="27"/>
                      </a:lnTo>
                      <a:lnTo>
                        <a:pt x="84" y="31"/>
                      </a:lnTo>
                      <a:lnTo>
                        <a:pt x="77" y="31"/>
                      </a:lnTo>
                      <a:lnTo>
                        <a:pt x="73" y="31"/>
                      </a:lnTo>
                      <a:lnTo>
                        <a:pt x="66" y="31"/>
                      </a:lnTo>
                      <a:lnTo>
                        <a:pt x="62" y="27"/>
                      </a:lnTo>
                      <a:lnTo>
                        <a:pt x="57" y="22"/>
                      </a:lnTo>
                      <a:lnTo>
                        <a:pt x="52" y="17"/>
                      </a:lnTo>
                      <a:lnTo>
                        <a:pt x="41" y="17"/>
                      </a:lnTo>
                      <a:lnTo>
                        <a:pt x="39" y="17"/>
                      </a:lnTo>
                      <a:lnTo>
                        <a:pt x="34" y="27"/>
                      </a:lnTo>
                      <a:lnTo>
                        <a:pt x="36" y="31"/>
                      </a:lnTo>
                      <a:lnTo>
                        <a:pt x="36" y="36"/>
                      </a:lnTo>
                      <a:lnTo>
                        <a:pt x="39" y="40"/>
                      </a:lnTo>
                      <a:lnTo>
                        <a:pt x="45" y="40"/>
                      </a:lnTo>
                      <a:lnTo>
                        <a:pt x="52" y="35"/>
                      </a:lnTo>
                      <a:lnTo>
                        <a:pt x="57" y="35"/>
                      </a:lnTo>
                      <a:lnTo>
                        <a:pt x="61" y="39"/>
                      </a:lnTo>
                      <a:lnTo>
                        <a:pt x="61" y="40"/>
                      </a:lnTo>
                      <a:lnTo>
                        <a:pt x="59" y="45"/>
                      </a:lnTo>
                      <a:lnTo>
                        <a:pt x="57" y="46"/>
                      </a:lnTo>
                      <a:lnTo>
                        <a:pt x="57" y="50"/>
                      </a:lnTo>
                      <a:lnTo>
                        <a:pt x="57" y="55"/>
                      </a:lnTo>
                      <a:lnTo>
                        <a:pt x="59" y="60"/>
                      </a:lnTo>
                      <a:lnTo>
                        <a:pt x="64" y="64"/>
                      </a:lnTo>
                      <a:lnTo>
                        <a:pt x="66" y="63"/>
                      </a:lnTo>
                      <a:lnTo>
                        <a:pt x="66" y="68"/>
                      </a:lnTo>
                      <a:lnTo>
                        <a:pt x="62" y="73"/>
                      </a:lnTo>
                      <a:lnTo>
                        <a:pt x="61" y="77"/>
                      </a:lnTo>
                      <a:lnTo>
                        <a:pt x="59" y="86"/>
                      </a:lnTo>
                      <a:lnTo>
                        <a:pt x="54" y="87"/>
                      </a:lnTo>
                      <a:lnTo>
                        <a:pt x="50" y="87"/>
                      </a:lnTo>
                      <a:lnTo>
                        <a:pt x="46" y="87"/>
                      </a:lnTo>
                      <a:lnTo>
                        <a:pt x="46" y="81"/>
                      </a:lnTo>
                      <a:lnTo>
                        <a:pt x="45" y="72"/>
                      </a:lnTo>
                      <a:lnTo>
                        <a:pt x="39" y="68"/>
                      </a:lnTo>
                      <a:lnTo>
                        <a:pt x="39" y="64"/>
                      </a:lnTo>
                      <a:lnTo>
                        <a:pt x="39" y="58"/>
                      </a:lnTo>
                      <a:lnTo>
                        <a:pt x="34" y="53"/>
                      </a:lnTo>
                      <a:lnTo>
                        <a:pt x="25" y="58"/>
                      </a:lnTo>
                      <a:lnTo>
                        <a:pt x="21" y="53"/>
                      </a:lnTo>
                      <a:lnTo>
                        <a:pt x="16" y="59"/>
                      </a:lnTo>
                      <a:lnTo>
                        <a:pt x="21" y="63"/>
                      </a:lnTo>
                      <a:lnTo>
                        <a:pt x="29" y="63"/>
                      </a:lnTo>
                      <a:lnTo>
                        <a:pt x="30" y="67"/>
                      </a:lnTo>
                      <a:lnTo>
                        <a:pt x="34" y="72"/>
                      </a:lnTo>
                      <a:lnTo>
                        <a:pt x="34" y="76"/>
                      </a:lnTo>
                      <a:lnTo>
                        <a:pt x="30" y="81"/>
                      </a:lnTo>
                      <a:lnTo>
                        <a:pt x="25" y="90"/>
                      </a:lnTo>
                      <a:lnTo>
                        <a:pt x="21" y="91"/>
                      </a:lnTo>
                      <a:lnTo>
                        <a:pt x="21" y="86"/>
                      </a:lnTo>
                      <a:lnTo>
                        <a:pt x="21" y="81"/>
                      </a:lnTo>
                      <a:lnTo>
                        <a:pt x="23" y="76"/>
                      </a:lnTo>
                      <a:lnTo>
                        <a:pt x="16" y="72"/>
                      </a:lnTo>
                      <a:lnTo>
                        <a:pt x="11" y="68"/>
                      </a:lnTo>
                      <a:lnTo>
                        <a:pt x="9" y="63"/>
                      </a:lnTo>
                      <a:lnTo>
                        <a:pt x="0" y="63"/>
                      </a:lnTo>
                      <a:lnTo>
                        <a:pt x="2" y="53"/>
                      </a:lnTo>
                      <a:lnTo>
                        <a:pt x="9" y="49"/>
                      </a:lnTo>
                      <a:lnTo>
                        <a:pt x="13" y="44"/>
                      </a:lnTo>
                      <a:lnTo>
                        <a:pt x="16" y="36"/>
                      </a:lnTo>
                      <a:lnTo>
                        <a:pt x="16" y="30"/>
                      </a:lnTo>
                      <a:lnTo>
                        <a:pt x="16" y="22"/>
                      </a:lnTo>
                      <a:lnTo>
                        <a:pt x="20" y="18"/>
                      </a:lnTo>
                      <a:lnTo>
                        <a:pt x="21" y="17"/>
                      </a:lnTo>
                      <a:lnTo>
                        <a:pt x="16" y="12"/>
                      </a:lnTo>
                      <a:lnTo>
                        <a:pt x="30" y="0"/>
                      </a:lnTo>
                      <a:close/>
                    </a:path>
                  </a:pathLst>
                </a:custGeom>
                <a:solidFill>
                  <a:schemeClr val="accent2"/>
                </a:solidFill>
                <a:ln w="9525">
                  <a:noFill/>
                  <a:round/>
                  <a:headEnd/>
                  <a:tailEnd/>
                </a:ln>
              </p:spPr>
              <p:txBody>
                <a:bodyPr/>
                <a:lstStyle/>
                <a:p>
                  <a:endParaRPr lang="zh-CN" altLang="en-US"/>
                </a:p>
              </p:txBody>
            </p:sp>
            <p:sp>
              <p:nvSpPr>
                <p:cNvPr id="14374" name="Freeform 20"/>
                <p:cNvSpPr>
                  <a:spLocks/>
                </p:cNvSpPr>
                <p:nvPr/>
              </p:nvSpPr>
              <p:spPr bwMode="auto">
                <a:xfrm>
                  <a:off x="3533" y="1970"/>
                  <a:ext cx="42" cy="43"/>
                </a:xfrm>
                <a:custGeom>
                  <a:avLst/>
                  <a:gdLst>
                    <a:gd name="T0" fmla="*/ 0 w 128"/>
                    <a:gd name="T1" fmla="*/ 45 h 128"/>
                    <a:gd name="T2" fmla="*/ 24 w 128"/>
                    <a:gd name="T3" fmla="*/ 23 h 128"/>
                    <a:gd name="T4" fmla="*/ 41 w 128"/>
                    <a:gd name="T5" fmla="*/ 14 h 128"/>
                    <a:gd name="T6" fmla="*/ 46 w 128"/>
                    <a:gd name="T7" fmla="*/ 9 h 128"/>
                    <a:gd name="T8" fmla="*/ 65 w 128"/>
                    <a:gd name="T9" fmla="*/ 0 h 128"/>
                    <a:gd name="T10" fmla="*/ 79 w 128"/>
                    <a:gd name="T11" fmla="*/ 18 h 128"/>
                    <a:gd name="T12" fmla="*/ 88 w 128"/>
                    <a:gd name="T13" fmla="*/ 11 h 128"/>
                    <a:gd name="T14" fmla="*/ 94 w 128"/>
                    <a:gd name="T15" fmla="*/ 8 h 128"/>
                    <a:gd name="T16" fmla="*/ 102 w 128"/>
                    <a:gd name="T17" fmla="*/ 0 h 128"/>
                    <a:gd name="T18" fmla="*/ 110 w 128"/>
                    <a:gd name="T19" fmla="*/ 0 h 128"/>
                    <a:gd name="T20" fmla="*/ 110 w 128"/>
                    <a:gd name="T21" fmla="*/ 9 h 128"/>
                    <a:gd name="T22" fmla="*/ 110 w 128"/>
                    <a:gd name="T23" fmla="*/ 13 h 128"/>
                    <a:gd name="T24" fmla="*/ 106 w 128"/>
                    <a:gd name="T25" fmla="*/ 18 h 128"/>
                    <a:gd name="T26" fmla="*/ 106 w 128"/>
                    <a:gd name="T27" fmla="*/ 23 h 128"/>
                    <a:gd name="T28" fmla="*/ 119 w 128"/>
                    <a:gd name="T29" fmla="*/ 41 h 128"/>
                    <a:gd name="T30" fmla="*/ 122 w 128"/>
                    <a:gd name="T31" fmla="*/ 50 h 128"/>
                    <a:gd name="T32" fmla="*/ 126 w 128"/>
                    <a:gd name="T33" fmla="*/ 50 h 128"/>
                    <a:gd name="T34" fmla="*/ 128 w 128"/>
                    <a:gd name="T35" fmla="*/ 58 h 128"/>
                    <a:gd name="T36" fmla="*/ 122 w 128"/>
                    <a:gd name="T37" fmla="*/ 63 h 128"/>
                    <a:gd name="T38" fmla="*/ 119 w 128"/>
                    <a:gd name="T39" fmla="*/ 59 h 128"/>
                    <a:gd name="T40" fmla="*/ 110 w 128"/>
                    <a:gd name="T41" fmla="*/ 64 h 128"/>
                    <a:gd name="T42" fmla="*/ 110 w 128"/>
                    <a:gd name="T43" fmla="*/ 74 h 128"/>
                    <a:gd name="T44" fmla="*/ 99 w 128"/>
                    <a:gd name="T45" fmla="*/ 82 h 128"/>
                    <a:gd name="T46" fmla="*/ 99 w 128"/>
                    <a:gd name="T47" fmla="*/ 101 h 128"/>
                    <a:gd name="T48" fmla="*/ 99 w 128"/>
                    <a:gd name="T49" fmla="*/ 111 h 128"/>
                    <a:gd name="T50" fmla="*/ 94 w 128"/>
                    <a:gd name="T51" fmla="*/ 118 h 128"/>
                    <a:gd name="T52" fmla="*/ 88 w 128"/>
                    <a:gd name="T53" fmla="*/ 128 h 128"/>
                    <a:gd name="T54" fmla="*/ 83 w 128"/>
                    <a:gd name="T55" fmla="*/ 123 h 128"/>
                    <a:gd name="T56" fmla="*/ 76 w 128"/>
                    <a:gd name="T57" fmla="*/ 120 h 128"/>
                    <a:gd name="T58" fmla="*/ 69 w 128"/>
                    <a:gd name="T59" fmla="*/ 118 h 128"/>
                    <a:gd name="T60" fmla="*/ 61 w 128"/>
                    <a:gd name="T61" fmla="*/ 110 h 128"/>
                    <a:gd name="T62" fmla="*/ 42 w 128"/>
                    <a:gd name="T63" fmla="*/ 110 h 128"/>
                    <a:gd name="T64" fmla="*/ 27 w 128"/>
                    <a:gd name="T65" fmla="*/ 106 h 128"/>
                    <a:gd name="T66" fmla="*/ 15 w 128"/>
                    <a:gd name="T67" fmla="*/ 95 h 128"/>
                    <a:gd name="T68" fmla="*/ 9 w 128"/>
                    <a:gd name="T69" fmla="*/ 87 h 128"/>
                    <a:gd name="T70" fmla="*/ 4 w 128"/>
                    <a:gd name="T71" fmla="*/ 82 h 128"/>
                    <a:gd name="T72" fmla="*/ 4 w 128"/>
                    <a:gd name="T73" fmla="*/ 69 h 128"/>
                    <a:gd name="T74" fmla="*/ 0 w 128"/>
                    <a:gd name="T75" fmla="*/ 45 h 12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28"/>
                    <a:gd name="T115" fmla="*/ 0 h 128"/>
                    <a:gd name="T116" fmla="*/ 128 w 128"/>
                    <a:gd name="T117" fmla="*/ 128 h 12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28" h="128">
                      <a:moveTo>
                        <a:pt x="0" y="45"/>
                      </a:moveTo>
                      <a:lnTo>
                        <a:pt x="24" y="23"/>
                      </a:lnTo>
                      <a:lnTo>
                        <a:pt x="41" y="14"/>
                      </a:lnTo>
                      <a:lnTo>
                        <a:pt x="46" y="9"/>
                      </a:lnTo>
                      <a:lnTo>
                        <a:pt x="65" y="0"/>
                      </a:lnTo>
                      <a:lnTo>
                        <a:pt x="79" y="18"/>
                      </a:lnTo>
                      <a:lnTo>
                        <a:pt x="88" y="11"/>
                      </a:lnTo>
                      <a:lnTo>
                        <a:pt x="94" y="8"/>
                      </a:lnTo>
                      <a:lnTo>
                        <a:pt x="102" y="0"/>
                      </a:lnTo>
                      <a:lnTo>
                        <a:pt x="110" y="0"/>
                      </a:lnTo>
                      <a:lnTo>
                        <a:pt x="110" y="9"/>
                      </a:lnTo>
                      <a:lnTo>
                        <a:pt x="110" y="13"/>
                      </a:lnTo>
                      <a:lnTo>
                        <a:pt x="106" y="18"/>
                      </a:lnTo>
                      <a:lnTo>
                        <a:pt x="106" y="23"/>
                      </a:lnTo>
                      <a:lnTo>
                        <a:pt x="119" y="41"/>
                      </a:lnTo>
                      <a:lnTo>
                        <a:pt x="122" y="50"/>
                      </a:lnTo>
                      <a:lnTo>
                        <a:pt x="126" y="50"/>
                      </a:lnTo>
                      <a:lnTo>
                        <a:pt x="128" y="58"/>
                      </a:lnTo>
                      <a:lnTo>
                        <a:pt x="122" y="63"/>
                      </a:lnTo>
                      <a:lnTo>
                        <a:pt x="119" y="59"/>
                      </a:lnTo>
                      <a:lnTo>
                        <a:pt x="110" y="64"/>
                      </a:lnTo>
                      <a:lnTo>
                        <a:pt x="110" y="74"/>
                      </a:lnTo>
                      <a:lnTo>
                        <a:pt x="99" y="82"/>
                      </a:lnTo>
                      <a:lnTo>
                        <a:pt x="99" y="101"/>
                      </a:lnTo>
                      <a:lnTo>
                        <a:pt x="99" y="111"/>
                      </a:lnTo>
                      <a:lnTo>
                        <a:pt x="94" y="118"/>
                      </a:lnTo>
                      <a:lnTo>
                        <a:pt x="88" y="128"/>
                      </a:lnTo>
                      <a:lnTo>
                        <a:pt x="83" y="123"/>
                      </a:lnTo>
                      <a:lnTo>
                        <a:pt x="76" y="120"/>
                      </a:lnTo>
                      <a:lnTo>
                        <a:pt x="69" y="118"/>
                      </a:lnTo>
                      <a:lnTo>
                        <a:pt x="61" y="110"/>
                      </a:lnTo>
                      <a:lnTo>
                        <a:pt x="42" y="110"/>
                      </a:lnTo>
                      <a:lnTo>
                        <a:pt x="27" y="106"/>
                      </a:lnTo>
                      <a:lnTo>
                        <a:pt x="15" y="95"/>
                      </a:lnTo>
                      <a:lnTo>
                        <a:pt x="9" y="87"/>
                      </a:lnTo>
                      <a:lnTo>
                        <a:pt x="4" y="82"/>
                      </a:lnTo>
                      <a:lnTo>
                        <a:pt x="4" y="69"/>
                      </a:lnTo>
                      <a:lnTo>
                        <a:pt x="0" y="45"/>
                      </a:lnTo>
                      <a:close/>
                    </a:path>
                  </a:pathLst>
                </a:custGeom>
                <a:solidFill>
                  <a:schemeClr val="accent2"/>
                </a:solidFill>
                <a:ln w="9525">
                  <a:noFill/>
                  <a:round/>
                  <a:headEnd/>
                  <a:tailEnd/>
                </a:ln>
              </p:spPr>
              <p:txBody>
                <a:bodyPr/>
                <a:lstStyle/>
                <a:p>
                  <a:endParaRPr lang="zh-CN" altLang="en-US"/>
                </a:p>
              </p:txBody>
            </p:sp>
            <p:sp>
              <p:nvSpPr>
                <p:cNvPr id="14375" name="Freeform 21"/>
                <p:cNvSpPr>
                  <a:spLocks/>
                </p:cNvSpPr>
                <p:nvPr/>
              </p:nvSpPr>
              <p:spPr bwMode="auto">
                <a:xfrm>
                  <a:off x="3624" y="1994"/>
                  <a:ext cx="83" cy="39"/>
                </a:xfrm>
                <a:custGeom>
                  <a:avLst/>
                  <a:gdLst>
                    <a:gd name="T0" fmla="*/ 24 w 248"/>
                    <a:gd name="T1" fmla="*/ 0 h 117"/>
                    <a:gd name="T2" fmla="*/ 48 w 248"/>
                    <a:gd name="T3" fmla="*/ 18 h 117"/>
                    <a:gd name="T4" fmla="*/ 52 w 248"/>
                    <a:gd name="T5" fmla="*/ 28 h 117"/>
                    <a:gd name="T6" fmla="*/ 67 w 248"/>
                    <a:gd name="T7" fmla="*/ 22 h 117"/>
                    <a:gd name="T8" fmla="*/ 76 w 248"/>
                    <a:gd name="T9" fmla="*/ 27 h 117"/>
                    <a:gd name="T10" fmla="*/ 85 w 248"/>
                    <a:gd name="T11" fmla="*/ 18 h 117"/>
                    <a:gd name="T12" fmla="*/ 100 w 248"/>
                    <a:gd name="T13" fmla="*/ 14 h 117"/>
                    <a:gd name="T14" fmla="*/ 132 w 248"/>
                    <a:gd name="T15" fmla="*/ 22 h 117"/>
                    <a:gd name="T16" fmla="*/ 150 w 248"/>
                    <a:gd name="T17" fmla="*/ 32 h 117"/>
                    <a:gd name="T18" fmla="*/ 167 w 248"/>
                    <a:gd name="T19" fmla="*/ 38 h 117"/>
                    <a:gd name="T20" fmla="*/ 193 w 248"/>
                    <a:gd name="T21" fmla="*/ 55 h 117"/>
                    <a:gd name="T22" fmla="*/ 195 w 248"/>
                    <a:gd name="T23" fmla="*/ 64 h 117"/>
                    <a:gd name="T24" fmla="*/ 208 w 248"/>
                    <a:gd name="T25" fmla="*/ 69 h 117"/>
                    <a:gd name="T26" fmla="*/ 218 w 248"/>
                    <a:gd name="T27" fmla="*/ 73 h 117"/>
                    <a:gd name="T28" fmla="*/ 231 w 248"/>
                    <a:gd name="T29" fmla="*/ 87 h 117"/>
                    <a:gd name="T30" fmla="*/ 238 w 248"/>
                    <a:gd name="T31" fmla="*/ 96 h 117"/>
                    <a:gd name="T32" fmla="*/ 238 w 248"/>
                    <a:gd name="T33" fmla="*/ 117 h 117"/>
                    <a:gd name="T34" fmla="*/ 229 w 248"/>
                    <a:gd name="T35" fmla="*/ 117 h 117"/>
                    <a:gd name="T36" fmla="*/ 222 w 248"/>
                    <a:gd name="T37" fmla="*/ 111 h 117"/>
                    <a:gd name="T38" fmla="*/ 195 w 248"/>
                    <a:gd name="T39" fmla="*/ 91 h 117"/>
                    <a:gd name="T40" fmla="*/ 170 w 248"/>
                    <a:gd name="T41" fmla="*/ 91 h 117"/>
                    <a:gd name="T42" fmla="*/ 162 w 248"/>
                    <a:gd name="T43" fmla="*/ 97 h 117"/>
                    <a:gd name="T44" fmla="*/ 158 w 248"/>
                    <a:gd name="T45" fmla="*/ 102 h 117"/>
                    <a:gd name="T46" fmla="*/ 139 w 248"/>
                    <a:gd name="T47" fmla="*/ 106 h 117"/>
                    <a:gd name="T48" fmla="*/ 123 w 248"/>
                    <a:gd name="T49" fmla="*/ 105 h 117"/>
                    <a:gd name="T50" fmla="*/ 113 w 248"/>
                    <a:gd name="T51" fmla="*/ 105 h 117"/>
                    <a:gd name="T52" fmla="*/ 99 w 248"/>
                    <a:gd name="T53" fmla="*/ 78 h 117"/>
                    <a:gd name="T54" fmla="*/ 81 w 248"/>
                    <a:gd name="T55" fmla="*/ 55 h 117"/>
                    <a:gd name="T56" fmla="*/ 58 w 248"/>
                    <a:gd name="T57" fmla="*/ 46 h 117"/>
                    <a:gd name="T58" fmla="*/ 38 w 248"/>
                    <a:gd name="T59" fmla="*/ 45 h 117"/>
                    <a:gd name="T60" fmla="*/ 16 w 248"/>
                    <a:gd name="T61" fmla="*/ 37 h 117"/>
                    <a:gd name="T62" fmla="*/ 17 w 248"/>
                    <a:gd name="T63" fmla="*/ 13 h 1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48"/>
                    <a:gd name="T97" fmla="*/ 0 h 117"/>
                    <a:gd name="T98" fmla="*/ 248 w 248"/>
                    <a:gd name="T99" fmla="*/ 117 h 11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48" h="117">
                      <a:moveTo>
                        <a:pt x="0" y="0"/>
                      </a:moveTo>
                      <a:lnTo>
                        <a:pt x="24" y="0"/>
                      </a:lnTo>
                      <a:lnTo>
                        <a:pt x="40" y="1"/>
                      </a:lnTo>
                      <a:lnTo>
                        <a:pt x="48" y="18"/>
                      </a:lnTo>
                      <a:lnTo>
                        <a:pt x="49" y="24"/>
                      </a:lnTo>
                      <a:lnTo>
                        <a:pt x="52" y="28"/>
                      </a:lnTo>
                      <a:lnTo>
                        <a:pt x="58" y="22"/>
                      </a:lnTo>
                      <a:lnTo>
                        <a:pt x="67" y="22"/>
                      </a:lnTo>
                      <a:lnTo>
                        <a:pt x="75" y="28"/>
                      </a:lnTo>
                      <a:lnTo>
                        <a:pt x="76" y="27"/>
                      </a:lnTo>
                      <a:lnTo>
                        <a:pt x="84" y="18"/>
                      </a:lnTo>
                      <a:lnTo>
                        <a:pt x="85" y="18"/>
                      </a:lnTo>
                      <a:lnTo>
                        <a:pt x="93" y="14"/>
                      </a:lnTo>
                      <a:lnTo>
                        <a:pt x="100" y="14"/>
                      </a:lnTo>
                      <a:lnTo>
                        <a:pt x="121" y="22"/>
                      </a:lnTo>
                      <a:lnTo>
                        <a:pt x="132" y="22"/>
                      </a:lnTo>
                      <a:lnTo>
                        <a:pt x="141" y="32"/>
                      </a:lnTo>
                      <a:lnTo>
                        <a:pt x="150" y="32"/>
                      </a:lnTo>
                      <a:lnTo>
                        <a:pt x="159" y="37"/>
                      </a:lnTo>
                      <a:lnTo>
                        <a:pt x="167" y="38"/>
                      </a:lnTo>
                      <a:lnTo>
                        <a:pt x="185" y="45"/>
                      </a:lnTo>
                      <a:lnTo>
                        <a:pt x="193" y="55"/>
                      </a:lnTo>
                      <a:lnTo>
                        <a:pt x="197" y="60"/>
                      </a:lnTo>
                      <a:lnTo>
                        <a:pt x="195" y="64"/>
                      </a:lnTo>
                      <a:lnTo>
                        <a:pt x="202" y="68"/>
                      </a:lnTo>
                      <a:lnTo>
                        <a:pt x="208" y="69"/>
                      </a:lnTo>
                      <a:lnTo>
                        <a:pt x="211" y="70"/>
                      </a:lnTo>
                      <a:lnTo>
                        <a:pt x="218" y="73"/>
                      </a:lnTo>
                      <a:lnTo>
                        <a:pt x="231" y="82"/>
                      </a:lnTo>
                      <a:lnTo>
                        <a:pt x="231" y="87"/>
                      </a:lnTo>
                      <a:lnTo>
                        <a:pt x="236" y="92"/>
                      </a:lnTo>
                      <a:lnTo>
                        <a:pt x="238" y="96"/>
                      </a:lnTo>
                      <a:lnTo>
                        <a:pt x="248" y="105"/>
                      </a:lnTo>
                      <a:lnTo>
                        <a:pt x="238" y="117"/>
                      </a:lnTo>
                      <a:lnTo>
                        <a:pt x="236" y="117"/>
                      </a:lnTo>
                      <a:lnTo>
                        <a:pt x="229" y="117"/>
                      </a:lnTo>
                      <a:lnTo>
                        <a:pt x="225" y="111"/>
                      </a:lnTo>
                      <a:lnTo>
                        <a:pt x="222" y="111"/>
                      </a:lnTo>
                      <a:lnTo>
                        <a:pt x="214" y="111"/>
                      </a:lnTo>
                      <a:lnTo>
                        <a:pt x="195" y="91"/>
                      </a:lnTo>
                      <a:lnTo>
                        <a:pt x="182" y="92"/>
                      </a:lnTo>
                      <a:lnTo>
                        <a:pt x="170" y="91"/>
                      </a:lnTo>
                      <a:lnTo>
                        <a:pt x="167" y="93"/>
                      </a:lnTo>
                      <a:lnTo>
                        <a:pt x="162" y="97"/>
                      </a:lnTo>
                      <a:lnTo>
                        <a:pt x="162" y="96"/>
                      </a:lnTo>
                      <a:lnTo>
                        <a:pt x="158" y="102"/>
                      </a:lnTo>
                      <a:lnTo>
                        <a:pt x="147" y="111"/>
                      </a:lnTo>
                      <a:lnTo>
                        <a:pt x="139" y="106"/>
                      </a:lnTo>
                      <a:lnTo>
                        <a:pt x="132" y="105"/>
                      </a:lnTo>
                      <a:lnTo>
                        <a:pt x="123" y="105"/>
                      </a:lnTo>
                      <a:lnTo>
                        <a:pt x="118" y="102"/>
                      </a:lnTo>
                      <a:lnTo>
                        <a:pt x="113" y="105"/>
                      </a:lnTo>
                      <a:lnTo>
                        <a:pt x="108" y="91"/>
                      </a:lnTo>
                      <a:lnTo>
                        <a:pt x="99" y="78"/>
                      </a:lnTo>
                      <a:lnTo>
                        <a:pt x="86" y="64"/>
                      </a:lnTo>
                      <a:lnTo>
                        <a:pt x="81" y="55"/>
                      </a:lnTo>
                      <a:lnTo>
                        <a:pt x="75" y="46"/>
                      </a:lnTo>
                      <a:lnTo>
                        <a:pt x="58" y="46"/>
                      </a:lnTo>
                      <a:lnTo>
                        <a:pt x="47" y="50"/>
                      </a:lnTo>
                      <a:lnTo>
                        <a:pt x="38" y="45"/>
                      </a:lnTo>
                      <a:lnTo>
                        <a:pt x="24" y="41"/>
                      </a:lnTo>
                      <a:lnTo>
                        <a:pt x="16" y="37"/>
                      </a:lnTo>
                      <a:lnTo>
                        <a:pt x="16" y="19"/>
                      </a:lnTo>
                      <a:lnTo>
                        <a:pt x="17" y="13"/>
                      </a:lnTo>
                      <a:lnTo>
                        <a:pt x="0" y="0"/>
                      </a:lnTo>
                      <a:close/>
                    </a:path>
                  </a:pathLst>
                </a:custGeom>
                <a:solidFill>
                  <a:schemeClr val="accent2"/>
                </a:solidFill>
                <a:ln w="9525">
                  <a:noFill/>
                  <a:round/>
                  <a:headEnd/>
                  <a:tailEnd/>
                </a:ln>
              </p:spPr>
              <p:txBody>
                <a:bodyPr/>
                <a:lstStyle/>
                <a:p>
                  <a:endParaRPr lang="zh-CN" altLang="en-US"/>
                </a:p>
              </p:txBody>
            </p:sp>
            <p:sp>
              <p:nvSpPr>
                <p:cNvPr id="14376" name="Freeform 22"/>
                <p:cNvSpPr>
                  <a:spLocks/>
                </p:cNvSpPr>
                <p:nvPr/>
              </p:nvSpPr>
              <p:spPr bwMode="auto">
                <a:xfrm>
                  <a:off x="3471" y="1967"/>
                  <a:ext cx="51" cy="50"/>
                </a:xfrm>
                <a:custGeom>
                  <a:avLst/>
                  <a:gdLst>
                    <a:gd name="T0" fmla="*/ 0 w 152"/>
                    <a:gd name="T1" fmla="*/ 5 h 152"/>
                    <a:gd name="T2" fmla="*/ 16 w 152"/>
                    <a:gd name="T3" fmla="*/ 0 h 152"/>
                    <a:gd name="T4" fmla="*/ 34 w 152"/>
                    <a:gd name="T5" fmla="*/ 5 h 152"/>
                    <a:gd name="T6" fmla="*/ 36 w 152"/>
                    <a:gd name="T7" fmla="*/ 12 h 152"/>
                    <a:gd name="T8" fmla="*/ 36 w 152"/>
                    <a:gd name="T9" fmla="*/ 18 h 152"/>
                    <a:gd name="T10" fmla="*/ 43 w 152"/>
                    <a:gd name="T11" fmla="*/ 19 h 152"/>
                    <a:gd name="T12" fmla="*/ 43 w 152"/>
                    <a:gd name="T13" fmla="*/ 21 h 152"/>
                    <a:gd name="T14" fmla="*/ 47 w 152"/>
                    <a:gd name="T15" fmla="*/ 23 h 152"/>
                    <a:gd name="T16" fmla="*/ 47 w 152"/>
                    <a:gd name="T17" fmla="*/ 28 h 152"/>
                    <a:gd name="T18" fmla="*/ 62 w 152"/>
                    <a:gd name="T19" fmla="*/ 42 h 152"/>
                    <a:gd name="T20" fmla="*/ 66 w 152"/>
                    <a:gd name="T21" fmla="*/ 42 h 152"/>
                    <a:gd name="T22" fmla="*/ 70 w 152"/>
                    <a:gd name="T23" fmla="*/ 47 h 152"/>
                    <a:gd name="T24" fmla="*/ 73 w 152"/>
                    <a:gd name="T25" fmla="*/ 52 h 152"/>
                    <a:gd name="T26" fmla="*/ 76 w 152"/>
                    <a:gd name="T27" fmla="*/ 52 h 152"/>
                    <a:gd name="T28" fmla="*/ 88 w 152"/>
                    <a:gd name="T29" fmla="*/ 59 h 152"/>
                    <a:gd name="T30" fmla="*/ 112 w 152"/>
                    <a:gd name="T31" fmla="*/ 60 h 152"/>
                    <a:gd name="T32" fmla="*/ 115 w 152"/>
                    <a:gd name="T33" fmla="*/ 79 h 152"/>
                    <a:gd name="T34" fmla="*/ 117 w 152"/>
                    <a:gd name="T35" fmla="*/ 83 h 152"/>
                    <a:gd name="T36" fmla="*/ 116 w 152"/>
                    <a:gd name="T37" fmla="*/ 91 h 152"/>
                    <a:gd name="T38" fmla="*/ 130 w 152"/>
                    <a:gd name="T39" fmla="*/ 98 h 152"/>
                    <a:gd name="T40" fmla="*/ 144 w 152"/>
                    <a:gd name="T41" fmla="*/ 102 h 152"/>
                    <a:gd name="T42" fmla="*/ 144 w 152"/>
                    <a:gd name="T43" fmla="*/ 133 h 152"/>
                    <a:gd name="T44" fmla="*/ 152 w 152"/>
                    <a:gd name="T45" fmla="*/ 148 h 152"/>
                    <a:gd name="T46" fmla="*/ 145 w 152"/>
                    <a:gd name="T47" fmla="*/ 151 h 152"/>
                    <a:gd name="T48" fmla="*/ 139 w 152"/>
                    <a:gd name="T49" fmla="*/ 152 h 152"/>
                    <a:gd name="T50" fmla="*/ 138 w 152"/>
                    <a:gd name="T51" fmla="*/ 143 h 152"/>
                    <a:gd name="T52" fmla="*/ 121 w 152"/>
                    <a:gd name="T53" fmla="*/ 152 h 152"/>
                    <a:gd name="T54" fmla="*/ 115 w 152"/>
                    <a:gd name="T55" fmla="*/ 138 h 152"/>
                    <a:gd name="T56" fmla="*/ 108 w 152"/>
                    <a:gd name="T57" fmla="*/ 125 h 152"/>
                    <a:gd name="T58" fmla="*/ 91 w 152"/>
                    <a:gd name="T59" fmla="*/ 111 h 152"/>
                    <a:gd name="T60" fmla="*/ 85 w 152"/>
                    <a:gd name="T61" fmla="*/ 111 h 152"/>
                    <a:gd name="T62" fmla="*/ 70 w 152"/>
                    <a:gd name="T63" fmla="*/ 101 h 152"/>
                    <a:gd name="T64" fmla="*/ 68 w 152"/>
                    <a:gd name="T65" fmla="*/ 93 h 152"/>
                    <a:gd name="T66" fmla="*/ 68 w 152"/>
                    <a:gd name="T67" fmla="*/ 88 h 152"/>
                    <a:gd name="T68" fmla="*/ 57 w 152"/>
                    <a:gd name="T69" fmla="*/ 65 h 152"/>
                    <a:gd name="T70" fmla="*/ 50 w 152"/>
                    <a:gd name="T71" fmla="*/ 52 h 152"/>
                    <a:gd name="T72" fmla="*/ 34 w 152"/>
                    <a:gd name="T73" fmla="*/ 41 h 152"/>
                    <a:gd name="T74" fmla="*/ 15 w 152"/>
                    <a:gd name="T75" fmla="*/ 21 h 152"/>
                    <a:gd name="T76" fmla="*/ 0 w 152"/>
                    <a:gd name="T77" fmla="*/ 5 h 15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52"/>
                    <a:gd name="T118" fmla="*/ 0 h 152"/>
                    <a:gd name="T119" fmla="*/ 152 w 152"/>
                    <a:gd name="T120" fmla="*/ 152 h 152"/>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52" h="152">
                      <a:moveTo>
                        <a:pt x="0" y="5"/>
                      </a:moveTo>
                      <a:lnTo>
                        <a:pt x="16" y="0"/>
                      </a:lnTo>
                      <a:lnTo>
                        <a:pt x="34" y="5"/>
                      </a:lnTo>
                      <a:lnTo>
                        <a:pt x="36" y="12"/>
                      </a:lnTo>
                      <a:lnTo>
                        <a:pt x="36" y="18"/>
                      </a:lnTo>
                      <a:lnTo>
                        <a:pt x="43" y="19"/>
                      </a:lnTo>
                      <a:lnTo>
                        <a:pt x="43" y="21"/>
                      </a:lnTo>
                      <a:lnTo>
                        <a:pt x="47" y="23"/>
                      </a:lnTo>
                      <a:lnTo>
                        <a:pt x="47" y="28"/>
                      </a:lnTo>
                      <a:lnTo>
                        <a:pt x="62" y="42"/>
                      </a:lnTo>
                      <a:lnTo>
                        <a:pt x="66" y="42"/>
                      </a:lnTo>
                      <a:lnTo>
                        <a:pt x="70" y="47"/>
                      </a:lnTo>
                      <a:lnTo>
                        <a:pt x="73" y="52"/>
                      </a:lnTo>
                      <a:lnTo>
                        <a:pt x="76" y="52"/>
                      </a:lnTo>
                      <a:lnTo>
                        <a:pt x="88" y="59"/>
                      </a:lnTo>
                      <a:lnTo>
                        <a:pt x="112" y="60"/>
                      </a:lnTo>
                      <a:lnTo>
                        <a:pt x="115" y="79"/>
                      </a:lnTo>
                      <a:lnTo>
                        <a:pt x="117" y="83"/>
                      </a:lnTo>
                      <a:lnTo>
                        <a:pt x="116" y="91"/>
                      </a:lnTo>
                      <a:lnTo>
                        <a:pt x="130" y="98"/>
                      </a:lnTo>
                      <a:lnTo>
                        <a:pt x="144" y="102"/>
                      </a:lnTo>
                      <a:lnTo>
                        <a:pt x="144" y="133"/>
                      </a:lnTo>
                      <a:lnTo>
                        <a:pt x="152" y="148"/>
                      </a:lnTo>
                      <a:lnTo>
                        <a:pt x="145" y="151"/>
                      </a:lnTo>
                      <a:lnTo>
                        <a:pt x="139" y="152"/>
                      </a:lnTo>
                      <a:lnTo>
                        <a:pt x="138" y="143"/>
                      </a:lnTo>
                      <a:lnTo>
                        <a:pt x="121" y="152"/>
                      </a:lnTo>
                      <a:lnTo>
                        <a:pt x="115" y="138"/>
                      </a:lnTo>
                      <a:lnTo>
                        <a:pt x="108" y="125"/>
                      </a:lnTo>
                      <a:lnTo>
                        <a:pt x="91" y="111"/>
                      </a:lnTo>
                      <a:lnTo>
                        <a:pt x="85" y="111"/>
                      </a:lnTo>
                      <a:lnTo>
                        <a:pt x="70" y="101"/>
                      </a:lnTo>
                      <a:lnTo>
                        <a:pt x="68" y="93"/>
                      </a:lnTo>
                      <a:lnTo>
                        <a:pt x="68" y="88"/>
                      </a:lnTo>
                      <a:lnTo>
                        <a:pt x="57" y="65"/>
                      </a:lnTo>
                      <a:lnTo>
                        <a:pt x="50" y="52"/>
                      </a:lnTo>
                      <a:lnTo>
                        <a:pt x="34" y="41"/>
                      </a:lnTo>
                      <a:lnTo>
                        <a:pt x="15" y="21"/>
                      </a:lnTo>
                      <a:lnTo>
                        <a:pt x="0" y="5"/>
                      </a:lnTo>
                      <a:close/>
                    </a:path>
                  </a:pathLst>
                </a:custGeom>
                <a:solidFill>
                  <a:schemeClr val="accent2"/>
                </a:solidFill>
                <a:ln w="9525">
                  <a:noFill/>
                  <a:round/>
                  <a:headEnd/>
                  <a:tailEnd/>
                </a:ln>
              </p:spPr>
              <p:txBody>
                <a:bodyPr/>
                <a:lstStyle/>
                <a:p>
                  <a:endParaRPr lang="zh-CN" altLang="en-US"/>
                </a:p>
              </p:txBody>
            </p:sp>
            <p:sp>
              <p:nvSpPr>
                <p:cNvPr id="14377" name="Freeform 23"/>
                <p:cNvSpPr>
                  <a:spLocks/>
                </p:cNvSpPr>
                <p:nvPr/>
              </p:nvSpPr>
              <p:spPr bwMode="auto">
                <a:xfrm>
                  <a:off x="3560" y="1911"/>
                  <a:ext cx="49" cy="57"/>
                </a:xfrm>
                <a:custGeom>
                  <a:avLst/>
                  <a:gdLst>
                    <a:gd name="T0" fmla="*/ 10 w 147"/>
                    <a:gd name="T1" fmla="*/ 0 h 172"/>
                    <a:gd name="T2" fmla="*/ 24 w 147"/>
                    <a:gd name="T3" fmla="*/ 0 h 172"/>
                    <a:gd name="T4" fmla="*/ 37 w 147"/>
                    <a:gd name="T5" fmla="*/ 18 h 172"/>
                    <a:gd name="T6" fmla="*/ 33 w 147"/>
                    <a:gd name="T7" fmla="*/ 35 h 172"/>
                    <a:gd name="T8" fmla="*/ 42 w 147"/>
                    <a:gd name="T9" fmla="*/ 41 h 172"/>
                    <a:gd name="T10" fmla="*/ 46 w 147"/>
                    <a:gd name="T11" fmla="*/ 51 h 172"/>
                    <a:gd name="T12" fmla="*/ 56 w 147"/>
                    <a:gd name="T13" fmla="*/ 56 h 172"/>
                    <a:gd name="T14" fmla="*/ 67 w 147"/>
                    <a:gd name="T15" fmla="*/ 58 h 172"/>
                    <a:gd name="T16" fmla="*/ 85 w 147"/>
                    <a:gd name="T17" fmla="*/ 67 h 172"/>
                    <a:gd name="T18" fmla="*/ 95 w 147"/>
                    <a:gd name="T19" fmla="*/ 78 h 172"/>
                    <a:gd name="T20" fmla="*/ 97 w 147"/>
                    <a:gd name="T21" fmla="*/ 78 h 172"/>
                    <a:gd name="T22" fmla="*/ 111 w 147"/>
                    <a:gd name="T23" fmla="*/ 85 h 172"/>
                    <a:gd name="T24" fmla="*/ 111 w 147"/>
                    <a:gd name="T25" fmla="*/ 106 h 172"/>
                    <a:gd name="T26" fmla="*/ 117 w 147"/>
                    <a:gd name="T27" fmla="*/ 117 h 172"/>
                    <a:gd name="T28" fmla="*/ 120 w 147"/>
                    <a:gd name="T29" fmla="*/ 122 h 172"/>
                    <a:gd name="T30" fmla="*/ 126 w 147"/>
                    <a:gd name="T31" fmla="*/ 127 h 172"/>
                    <a:gd name="T32" fmla="*/ 131 w 147"/>
                    <a:gd name="T33" fmla="*/ 135 h 172"/>
                    <a:gd name="T34" fmla="*/ 132 w 147"/>
                    <a:gd name="T35" fmla="*/ 142 h 172"/>
                    <a:gd name="T36" fmla="*/ 147 w 147"/>
                    <a:gd name="T37" fmla="*/ 149 h 172"/>
                    <a:gd name="T38" fmla="*/ 145 w 147"/>
                    <a:gd name="T39" fmla="*/ 158 h 172"/>
                    <a:gd name="T40" fmla="*/ 132 w 147"/>
                    <a:gd name="T41" fmla="*/ 159 h 172"/>
                    <a:gd name="T42" fmla="*/ 127 w 147"/>
                    <a:gd name="T43" fmla="*/ 154 h 172"/>
                    <a:gd name="T44" fmla="*/ 120 w 147"/>
                    <a:gd name="T45" fmla="*/ 154 h 172"/>
                    <a:gd name="T46" fmla="*/ 120 w 147"/>
                    <a:gd name="T47" fmla="*/ 172 h 172"/>
                    <a:gd name="T48" fmla="*/ 113 w 147"/>
                    <a:gd name="T49" fmla="*/ 172 h 172"/>
                    <a:gd name="T50" fmla="*/ 104 w 147"/>
                    <a:gd name="T51" fmla="*/ 163 h 172"/>
                    <a:gd name="T52" fmla="*/ 99 w 147"/>
                    <a:gd name="T53" fmla="*/ 158 h 172"/>
                    <a:gd name="T54" fmla="*/ 99 w 147"/>
                    <a:gd name="T55" fmla="*/ 149 h 172"/>
                    <a:gd name="T56" fmla="*/ 88 w 147"/>
                    <a:gd name="T57" fmla="*/ 149 h 172"/>
                    <a:gd name="T58" fmla="*/ 83 w 147"/>
                    <a:gd name="T59" fmla="*/ 158 h 172"/>
                    <a:gd name="T60" fmla="*/ 79 w 147"/>
                    <a:gd name="T61" fmla="*/ 149 h 172"/>
                    <a:gd name="T62" fmla="*/ 76 w 147"/>
                    <a:gd name="T63" fmla="*/ 138 h 172"/>
                    <a:gd name="T64" fmla="*/ 92 w 147"/>
                    <a:gd name="T65" fmla="*/ 135 h 172"/>
                    <a:gd name="T66" fmla="*/ 101 w 147"/>
                    <a:gd name="T67" fmla="*/ 136 h 172"/>
                    <a:gd name="T68" fmla="*/ 101 w 147"/>
                    <a:gd name="T69" fmla="*/ 119 h 172"/>
                    <a:gd name="T70" fmla="*/ 94 w 147"/>
                    <a:gd name="T71" fmla="*/ 115 h 172"/>
                    <a:gd name="T72" fmla="*/ 88 w 147"/>
                    <a:gd name="T73" fmla="*/ 101 h 172"/>
                    <a:gd name="T74" fmla="*/ 85 w 147"/>
                    <a:gd name="T75" fmla="*/ 83 h 172"/>
                    <a:gd name="T76" fmla="*/ 69 w 147"/>
                    <a:gd name="T77" fmla="*/ 79 h 172"/>
                    <a:gd name="T78" fmla="*/ 61 w 147"/>
                    <a:gd name="T79" fmla="*/ 70 h 172"/>
                    <a:gd name="T80" fmla="*/ 51 w 147"/>
                    <a:gd name="T81" fmla="*/ 67 h 172"/>
                    <a:gd name="T82" fmla="*/ 56 w 147"/>
                    <a:gd name="T83" fmla="*/ 81 h 172"/>
                    <a:gd name="T84" fmla="*/ 42 w 147"/>
                    <a:gd name="T85" fmla="*/ 88 h 172"/>
                    <a:gd name="T86" fmla="*/ 33 w 147"/>
                    <a:gd name="T87" fmla="*/ 73 h 172"/>
                    <a:gd name="T88" fmla="*/ 28 w 147"/>
                    <a:gd name="T89" fmla="*/ 67 h 172"/>
                    <a:gd name="T90" fmla="*/ 28 w 147"/>
                    <a:gd name="T91" fmla="*/ 58 h 172"/>
                    <a:gd name="T92" fmla="*/ 17 w 147"/>
                    <a:gd name="T93" fmla="*/ 46 h 172"/>
                    <a:gd name="T94" fmla="*/ 5 w 147"/>
                    <a:gd name="T95" fmla="*/ 41 h 172"/>
                    <a:gd name="T96" fmla="*/ 0 w 147"/>
                    <a:gd name="T97" fmla="*/ 33 h 172"/>
                    <a:gd name="T98" fmla="*/ 3 w 147"/>
                    <a:gd name="T99" fmla="*/ 27 h 172"/>
                    <a:gd name="T100" fmla="*/ 12 w 147"/>
                    <a:gd name="T101" fmla="*/ 32 h 172"/>
                    <a:gd name="T102" fmla="*/ 14 w 147"/>
                    <a:gd name="T103" fmla="*/ 23 h 172"/>
                    <a:gd name="T104" fmla="*/ 12 w 147"/>
                    <a:gd name="T105" fmla="*/ 14 h 172"/>
                    <a:gd name="T106" fmla="*/ 10 w 147"/>
                    <a:gd name="T107" fmla="*/ 0 h 17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47"/>
                    <a:gd name="T163" fmla="*/ 0 h 172"/>
                    <a:gd name="T164" fmla="*/ 147 w 147"/>
                    <a:gd name="T165" fmla="*/ 172 h 17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47" h="172">
                      <a:moveTo>
                        <a:pt x="10" y="0"/>
                      </a:moveTo>
                      <a:lnTo>
                        <a:pt x="24" y="0"/>
                      </a:lnTo>
                      <a:lnTo>
                        <a:pt x="37" y="18"/>
                      </a:lnTo>
                      <a:lnTo>
                        <a:pt x="33" y="35"/>
                      </a:lnTo>
                      <a:lnTo>
                        <a:pt x="42" y="41"/>
                      </a:lnTo>
                      <a:lnTo>
                        <a:pt x="46" y="51"/>
                      </a:lnTo>
                      <a:lnTo>
                        <a:pt x="56" y="56"/>
                      </a:lnTo>
                      <a:lnTo>
                        <a:pt x="67" y="58"/>
                      </a:lnTo>
                      <a:lnTo>
                        <a:pt x="85" y="67"/>
                      </a:lnTo>
                      <a:lnTo>
                        <a:pt x="95" y="78"/>
                      </a:lnTo>
                      <a:lnTo>
                        <a:pt x="97" y="78"/>
                      </a:lnTo>
                      <a:lnTo>
                        <a:pt x="111" y="85"/>
                      </a:lnTo>
                      <a:lnTo>
                        <a:pt x="111" y="106"/>
                      </a:lnTo>
                      <a:lnTo>
                        <a:pt x="117" y="117"/>
                      </a:lnTo>
                      <a:lnTo>
                        <a:pt x="120" y="122"/>
                      </a:lnTo>
                      <a:lnTo>
                        <a:pt x="126" y="127"/>
                      </a:lnTo>
                      <a:lnTo>
                        <a:pt x="131" y="135"/>
                      </a:lnTo>
                      <a:lnTo>
                        <a:pt x="132" y="142"/>
                      </a:lnTo>
                      <a:lnTo>
                        <a:pt x="147" y="149"/>
                      </a:lnTo>
                      <a:lnTo>
                        <a:pt x="145" y="158"/>
                      </a:lnTo>
                      <a:lnTo>
                        <a:pt x="132" y="159"/>
                      </a:lnTo>
                      <a:lnTo>
                        <a:pt x="127" y="154"/>
                      </a:lnTo>
                      <a:lnTo>
                        <a:pt x="120" y="154"/>
                      </a:lnTo>
                      <a:lnTo>
                        <a:pt x="120" y="172"/>
                      </a:lnTo>
                      <a:lnTo>
                        <a:pt x="113" y="172"/>
                      </a:lnTo>
                      <a:lnTo>
                        <a:pt x="104" y="163"/>
                      </a:lnTo>
                      <a:lnTo>
                        <a:pt x="99" y="158"/>
                      </a:lnTo>
                      <a:lnTo>
                        <a:pt x="99" y="149"/>
                      </a:lnTo>
                      <a:lnTo>
                        <a:pt x="88" y="149"/>
                      </a:lnTo>
                      <a:lnTo>
                        <a:pt x="83" y="158"/>
                      </a:lnTo>
                      <a:lnTo>
                        <a:pt x="79" y="149"/>
                      </a:lnTo>
                      <a:lnTo>
                        <a:pt x="76" y="138"/>
                      </a:lnTo>
                      <a:lnTo>
                        <a:pt x="92" y="135"/>
                      </a:lnTo>
                      <a:lnTo>
                        <a:pt x="101" y="136"/>
                      </a:lnTo>
                      <a:lnTo>
                        <a:pt x="101" y="119"/>
                      </a:lnTo>
                      <a:lnTo>
                        <a:pt x="94" y="115"/>
                      </a:lnTo>
                      <a:lnTo>
                        <a:pt x="88" y="101"/>
                      </a:lnTo>
                      <a:lnTo>
                        <a:pt x="85" y="83"/>
                      </a:lnTo>
                      <a:lnTo>
                        <a:pt x="69" y="79"/>
                      </a:lnTo>
                      <a:lnTo>
                        <a:pt x="61" y="70"/>
                      </a:lnTo>
                      <a:lnTo>
                        <a:pt x="51" y="67"/>
                      </a:lnTo>
                      <a:lnTo>
                        <a:pt x="56" y="81"/>
                      </a:lnTo>
                      <a:lnTo>
                        <a:pt x="42" y="88"/>
                      </a:lnTo>
                      <a:lnTo>
                        <a:pt x="33" y="73"/>
                      </a:lnTo>
                      <a:lnTo>
                        <a:pt x="28" y="67"/>
                      </a:lnTo>
                      <a:lnTo>
                        <a:pt x="28" y="58"/>
                      </a:lnTo>
                      <a:lnTo>
                        <a:pt x="17" y="46"/>
                      </a:lnTo>
                      <a:lnTo>
                        <a:pt x="5" y="41"/>
                      </a:lnTo>
                      <a:lnTo>
                        <a:pt x="0" y="33"/>
                      </a:lnTo>
                      <a:lnTo>
                        <a:pt x="3" y="27"/>
                      </a:lnTo>
                      <a:lnTo>
                        <a:pt x="12" y="32"/>
                      </a:lnTo>
                      <a:lnTo>
                        <a:pt x="14" y="23"/>
                      </a:lnTo>
                      <a:lnTo>
                        <a:pt x="12" y="14"/>
                      </a:lnTo>
                      <a:lnTo>
                        <a:pt x="10" y="0"/>
                      </a:lnTo>
                      <a:close/>
                    </a:path>
                  </a:pathLst>
                </a:custGeom>
                <a:solidFill>
                  <a:schemeClr val="accent2"/>
                </a:solidFill>
                <a:ln w="9525">
                  <a:noFill/>
                  <a:round/>
                  <a:headEnd/>
                  <a:tailEnd/>
                </a:ln>
              </p:spPr>
              <p:txBody>
                <a:bodyPr/>
                <a:lstStyle/>
                <a:p>
                  <a:endParaRPr lang="zh-CN" altLang="en-US"/>
                </a:p>
              </p:txBody>
            </p:sp>
            <p:sp>
              <p:nvSpPr>
                <p:cNvPr id="14378" name="Freeform 24"/>
                <p:cNvSpPr>
                  <a:spLocks/>
                </p:cNvSpPr>
                <p:nvPr/>
              </p:nvSpPr>
              <p:spPr bwMode="auto">
                <a:xfrm>
                  <a:off x="3549" y="1815"/>
                  <a:ext cx="36" cy="48"/>
                </a:xfrm>
                <a:custGeom>
                  <a:avLst/>
                  <a:gdLst>
                    <a:gd name="T0" fmla="*/ 23 w 106"/>
                    <a:gd name="T1" fmla="*/ 0 h 143"/>
                    <a:gd name="T2" fmla="*/ 42 w 106"/>
                    <a:gd name="T3" fmla="*/ 7 h 143"/>
                    <a:gd name="T4" fmla="*/ 56 w 106"/>
                    <a:gd name="T5" fmla="*/ 19 h 143"/>
                    <a:gd name="T6" fmla="*/ 64 w 106"/>
                    <a:gd name="T7" fmla="*/ 30 h 143"/>
                    <a:gd name="T8" fmla="*/ 69 w 106"/>
                    <a:gd name="T9" fmla="*/ 30 h 143"/>
                    <a:gd name="T10" fmla="*/ 69 w 106"/>
                    <a:gd name="T11" fmla="*/ 38 h 143"/>
                    <a:gd name="T12" fmla="*/ 76 w 106"/>
                    <a:gd name="T13" fmla="*/ 46 h 143"/>
                    <a:gd name="T14" fmla="*/ 83 w 106"/>
                    <a:gd name="T15" fmla="*/ 53 h 143"/>
                    <a:gd name="T16" fmla="*/ 97 w 106"/>
                    <a:gd name="T17" fmla="*/ 69 h 143"/>
                    <a:gd name="T18" fmla="*/ 106 w 106"/>
                    <a:gd name="T19" fmla="*/ 89 h 143"/>
                    <a:gd name="T20" fmla="*/ 88 w 106"/>
                    <a:gd name="T21" fmla="*/ 88 h 143"/>
                    <a:gd name="T22" fmla="*/ 74 w 106"/>
                    <a:gd name="T23" fmla="*/ 84 h 143"/>
                    <a:gd name="T24" fmla="*/ 85 w 106"/>
                    <a:gd name="T25" fmla="*/ 98 h 143"/>
                    <a:gd name="T26" fmla="*/ 85 w 106"/>
                    <a:gd name="T27" fmla="*/ 107 h 143"/>
                    <a:gd name="T28" fmla="*/ 85 w 106"/>
                    <a:gd name="T29" fmla="*/ 115 h 143"/>
                    <a:gd name="T30" fmla="*/ 78 w 106"/>
                    <a:gd name="T31" fmla="*/ 112 h 143"/>
                    <a:gd name="T32" fmla="*/ 70 w 106"/>
                    <a:gd name="T33" fmla="*/ 106 h 143"/>
                    <a:gd name="T34" fmla="*/ 60 w 106"/>
                    <a:gd name="T35" fmla="*/ 94 h 143"/>
                    <a:gd name="T36" fmla="*/ 52 w 106"/>
                    <a:gd name="T37" fmla="*/ 92 h 143"/>
                    <a:gd name="T38" fmla="*/ 41 w 106"/>
                    <a:gd name="T39" fmla="*/ 94 h 143"/>
                    <a:gd name="T40" fmla="*/ 33 w 106"/>
                    <a:gd name="T41" fmla="*/ 98 h 143"/>
                    <a:gd name="T42" fmla="*/ 37 w 106"/>
                    <a:gd name="T43" fmla="*/ 106 h 143"/>
                    <a:gd name="T44" fmla="*/ 49 w 106"/>
                    <a:gd name="T45" fmla="*/ 112 h 143"/>
                    <a:gd name="T46" fmla="*/ 60 w 106"/>
                    <a:gd name="T47" fmla="*/ 116 h 143"/>
                    <a:gd name="T48" fmla="*/ 65 w 106"/>
                    <a:gd name="T49" fmla="*/ 127 h 143"/>
                    <a:gd name="T50" fmla="*/ 64 w 106"/>
                    <a:gd name="T51" fmla="*/ 139 h 143"/>
                    <a:gd name="T52" fmla="*/ 64 w 106"/>
                    <a:gd name="T53" fmla="*/ 143 h 143"/>
                    <a:gd name="T54" fmla="*/ 60 w 106"/>
                    <a:gd name="T55" fmla="*/ 143 h 143"/>
                    <a:gd name="T56" fmla="*/ 52 w 106"/>
                    <a:gd name="T57" fmla="*/ 139 h 143"/>
                    <a:gd name="T58" fmla="*/ 49 w 106"/>
                    <a:gd name="T59" fmla="*/ 138 h 143"/>
                    <a:gd name="T60" fmla="*/ 46 w 106"/>
                    <a:gd name="T61" fmla="*/ 135 h 143"/>
                    <a:gd name="T62" fmla="*/ 41 w 106"/>
                    <a:gd name="T63" fmla="*/ 141 h 143"/>
                    <a:gd name="T64" fmla="*/ 33 w 106"/>
                    <a:gd name="T65" fmla="*/ 143 h 143"/>
                    <a:gd name="T66" fmla="*/ 29 w 106"/>
                    <a:gd name="T67" fmla="*/ 138 h 143"/>
                    <a:gd name="T68" fmla="*/ 29 w 106"/>
                    <a:gd name="T69" fmla="*/ 125 h 143"/>
                    <a:gd name="T70" fmla="*/ 28 w 106"/>
                    <a:gd name="T71" fmla="*/ 118 h 143"/>
                    <a:gd name="T72" fmla="*/ 20 w 106"/>
                    <a:gd name="T73" fmla="*/ 112 h 143"/>
                    <a:gd name="T74" fmla="*/ 11 w 106"/>
                    <a:gd name="T75" fmla="*/ 121 h 143"/>
                    <a:gd name="T76" fmla="*/ 1 w 106"/>
                    <a:gd name="T77" fmla="*/ 121 h 143"/>
                    <a:gd name="T78" fmla="*/ 0 w 106"/>
                    <a:gd name="T79" fmla="*/ 115 h 143"/>
                    <a:gd name="T80" fmla="*/ 1 w 106"/>
                    <a:gd name="T81" fmla="*/ 100 h 143"/>
                    <a:gd name="T82" fmla="*/ 10 w 106"/>
                    <a:gd name="T83" fmla="*/ 93 h 143"/>
                    <a:gd name="T84" fmla="*/ 9 w 106"/>
                    <a:gd name="T85" fmla="*/ 71 h 143"/>
                    <a:gd name="T86" fmla="*/ 9 w 106"/>
                    <a:gd name="T87" fmla="*/ 65 h 143"/>
                    <a:gd name="T88" fmla="*/ 15 w 106"/>
                    <a:gd name="T89" fmla="*/ 62 h 143"/>
                    <a:gd name="T90" fmla="*/ 24 w 106"/>
                    <a:gd name="T91" fmla="*/ 69 h 143"/>
                    <a:gd name="T92" fmla="*/ 37 w 106"/>
                    <a:gd name="T93" fmla="*/ 74 h 143"/>
                    <a:gd name="T94" fmla="*/ 37 w 106"/>
                    <a:gd name="T95" fmla="*/ 61 h 143"/>
                    <a:gd name="T96" fmla="*/ 29 w 106"/>
                    <a:gd name="T97" fmla="*/ 57 h 143"/>
                    <a:gd name="T98" fmla="*/ 29 w 106"/>
                    <a:gd name="T99" fmla="*/ 53 h 143"/>
                    <a:gd name="T100" fmla="*/ 32 w 106"/>
                    <a:gd name="T101" fmla="*/ 53 h 143"/>
                    <a:gd name="T102" fmla="*/ 35 w 106"/>
                    <a:gd name="T103" fmla="*/ 53 h 143"/>
                    <a:gd name="T104" fmla="*/ 37 w 106"/>
                    <a:gd name="T105" fmla="*/ 53 h 143"/>
                    <a:gd name="T106" fmla="*/ 41 w 106"/>
                    <a:gd name="T107" fmla="*/ 53 h 143"/>
                    <a:gd name="T108" fmla="*/ 46 w 106"/>
                    <a:gd name="T109" fmla="*/ 48 h 143"/>
                    <a:gd name="T110" fmla="*/ 44 w 106"/>
                    <a:gd name="T111" fmla="*/ 46 h 143"/>
                    <a:gd name="T112" fmla="*/ 38 w 106"/>
                    <a:gd name="T113" fmla="*/ 34 h 143"/>
                    <a:gd name="T114" fmla="*/ 29 w 106"/>
                    <a:gd name="T115" fmla="*/ 25 h 143"/>
                    <a:gd name="T116" fmla="*/ 20 w 106"/>
                    <a:gd name="T117" fmla="*/ 20 h 143"/>
                    <a:gd name="T118" fmla="*/ 14 w 106"/>
                    <a:gd name="T119" fmla="*/ 14 h 143"/>
                    <a:gd name="T120" fmla="*/ 23 w 106"/>
                    <a:gd name="T121" fmla="*/ 0 h 14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6"/>
                    <a:gd name="T184" fmla="*/ 0 h 143"/>
                    <a:gd name="T185" fmla="*/ 106 w 106"/>
                    <a:gd name="T186" fmla="*/ 143 h 14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6" h="143">
                      <a:moveTo>
                        <a:pt x="23" y="0"/>
                      </a:moveTo>
                      <a:lnTo>
                        <a:pt x="42" y="7"/>
                      </a:lnTo>
                      <a:lnTo>
                        <a:pt x="56" y="19"/>
                      </a:lnTo>
                      <a:lnTo>
                        <a:pt x="64" y="30"/>
                      </a:lnTo>
                      <a:lnTo>
                        <a:pt x="69" y="30"/>
                      </a:lnTo>
                      <a:lnTo>
                        <a:pt x="69" y="38"/>
                      </a:lnTo>
                      <a:lnTo>
                        <a:pt x="76" y="46"/>
                      </a:lnTo>
                      <a:lnTo>
                        <a:pt x="83" y="53"/>
                      </a:lnTo>
                      <a:lnTo>
                        <a:pt x="97" y="69"/>
                      </a:lnTo>
                      <a:lnTo>
                        <a:pt x="106" y="89"/>
                      </a:lnTo>
                      <a:lnTo>
                        <a:pt x="88" y="88"/>
                      </a:lnTo>
                      <a:lnTo>
                        <a:pt x="74" y="84"/>
                      </a:lnTo>
                      <a:lnTo>
                        <a:pt x="85" y="98"/>
                      </a:lnTo>
                      <a:lnTo>
                        <a:pt x="85" y="107"/>
                      </a:lnTo>
                      <a:lnTo>
                        <a:pt x="85" y="115"/>
                      </a:lnTo>
                      <a:lnTo>
                        <a:pt x="78" y="112"/>
                      </a:lnTo>
                      <a:lnTo>
                        <a:pt x="70" y="106"/>
                      </a:lnTo>
                      <a:lnTo>
                        <a:pt x="60" y="94"/>
                      </a:lnTo>
                      <a:lnTo>
                        <a:pt x="52" y="92"/>
                      </a:lnTo>
                      <a:lnTo>
                        <a:pt x="41" y="94"/>
                      </a:lnTo>
                      <a:lnTo>
                        <a:pt x="33" y="98"/>
                      </a:lnTo>
                      <a:lnTo>
                        <a:pt x="37" y="106"/>
                      </a:lnTo>
                      <a:lnTo>
                        <a:pt x="49" y="112"/>
                      </a:lnTo>
                      <a:lnTo>
                        <a:pt x="60" y="116"/>
                      </a:lnTo>
                      <a:lnTo>
                        <a:pt x="65" y="127"/>
                      </a:lnTo>
                      <a:lnTo>
                        <a:pt x="64" y="139"/>
                      </a:lnTo>
                      <a:lnTo>
                        <a:pt x="64" y="143"/>
                      </a:lnTo>
                      <a:lnTo>
                        <a:pt x="60" y="143"/>
                      </a:lnTo>
                      <a:lnTo>
                        <a:pt x="52" y="139"/>
                      </a:lnTo>
                      <a:lnTo>
                        <a:pt x="49" y="138"/>
                      </a:lnTo>
                      <a:lnTo>
                        <a:pt x="46" y="135"/>
                      </a:lnTo>
                      <a:lnTo>
                        <a:pt x="41" y="141"/>
                      </a:lnTo>
                      <a:lnTo>
                        <a:pt x="33" y="143"/>
                      </a:lnTo>
                      <a:lnTo>
                        <a:pt x="29" y="138"/>
                      </a:lnTo>
                      <a:lnTo>
                        <a:pt x="29" y="125"/>
                      </a:lnTo>
                      <a:lnTo>
                        <a:pt x="28" y="118"/>
                      </a:lnTo>
                      <a:lnTo>
                        <a:pt x="20" y="112"/>
                      </a:lnTo>
                      <a:lnTo>
                        <a:pt x="11" y="121"/>
                      </a:lnTo>
                      <a:lnTo>
                        <a:pt x="1" y="121"/>
                      </a:lnTo>
                      <a:lnTo>
                        <a:pt x="0" y="115"/>
                      </a:lnTo>
                      <a:lnTo>
                        <a:pt x="1" y="100"/>
                      </a:lnTo>
                      <a:lnTo>
                        <a:pt x="10" y="93"/>
                      </a:lnTo>
                      <a:lnTo>
                        <a:pt x="9" y="71"/>
                      </a:lnTo>
                      <a:lnTo>
                        <a:pt x="9" y="65"/>
                      </a:lnTo>
                      <a:lnTo>
                        <a:pt x="15" y="62"/>
                      </a:lnTo>
                      <a:lnTo>
                        <a:pt x="24" y="69"/>
                      </a:lnTo>
                      <a:lnTo>
                        <a:pt x="37" y="74"/>
                      </a:lnTo>
                      <a:lnTo>
                        <a:pt x="37" y="61"/>
                      </a:lnTo>
                      <a:lnTo>
                        <a:pt x="29" y="57"/>
                      </a:lnTo>
                      <a:lnTo>
                        <a:pt x="29" y="53"/>
                      </a:lnTo>
                      <a:lnTo>
                        <a:pt x="32" y="53"/>
                      </a:lnTo>
                      <a:lnTo>
                        <a:pt x="35" y="53"/>
                      </a:lnTo>
                      <a:lnTo>
                        <a:pt x="37" y="53"/>
                      </a:lnTo>
                      <a:lnTo>
                        <a:pt x="41" y="53"/>
                      </a:lnTo>
                      <a:lnTo>
                        <a:pt x="46" y="48"/>
                      </a:lnTo>
                      <a:lnTo>
                        <a:pt x="44" y="46"/>
                      </a:lnTo>
                      <a:lnTo>
                        <a:pt x="38" y="34"/>
                      </a:lnTo>
                      <a:lnTo>
                        <a:pt x="29" y="25"/>
                      </a:lnTo>
                      <a:lnTo>
                        <a:pt x="20" y="20"/>
                      </a:lnTo>
                      <a:lnTo>
                        <a:pt x="14" y="14"/>
                      </a:lnTo>
                      <a:lnTo>
                        <a:pt x="23" y="0"/>
                      </a:lnTo>
                      <a:close/>
                    </a:path>
                  </a:pathLst>
                </a:custGeom>
                <a:solidFill>
                  <a:schemeClr val="accent2"/>
                </a:solidFill>
                <a:ln w="9525">
                  <a:noFill/>
                  <a:round/>
                  <a:headEnd/>
                  <a:tailEnd/>
                </a:ln>
              </p:spPr>
              <p:txBody>
                <a:bodyPr/>
                <a:lstStyle/>
                <a:p>
                  <a:endParaRPr lang="zh-CN" altLang="en-US"/>
                </a:p>
              </p:txBody>
            </p:sp>
            <p:sp>
              <p:nvSpPr>
                <p:cNvPr id="14379" name="Freeform 25"/>
                <p:cNvSpPr>
                  <a:spLocks/>
                </p:cNvSpPr>
                <p:nvPr/>
              </p:nvSpPr>
              <p:spPr bwMode="auto">
                <a:xfrm>
                  <a:off x="3508" y="1757"/>
                  <a:ext cx="39" cy="40"/>
                </a:xfrm>
                <a:custGeom>
                  <a:avLst/>
                  <a:gdLst>
                    <a:gd name="T0" fmla="*/ 0 w 115"/>
                    <a:gd name="T1" fmla="*/ 0 h 118"/>
                    <a:gd name="T2" fmla="*/ 9 w 115"/>
                    <a:gd name="T3" fmla="*/ 0 h 118"/>
                    <a:gd name="T4" fmla="*/ 14 w 115"/>
                    <a:gd name="T5" fmla="*/ 9 h 118"/>
                    <a:gd name="T6" fmla="*/ 31 w 115"/>
                    <a:gd name="T7" fmla="*/ 20 h 118"/>
                    <a:gd name="T8" fmla="*/ 37 w 115"/>
                    <a:gd name="T9" fmla="*/ 34 h 118"/>
                    <a:gd name="T10" fmla="*/ 49 w 115"/>
                    <a:gd name="T11" fmla="*/ 35 h 118"/>
                    <a:gd name="T12" fmla="*/ 56 w 115"/>
                    <a:gd name="T13" fmla="*/ 37 h 118"/>
                    <a:gd name="T14" fmla="*/ 64 w 115"/>
                    <a:gd name="T15" fmla="*/ 44 h 118"/>
                    <a:gd name="T16" fmla="*/ 73 w 115"/>
                    <a:gd name="T17" fmla="*/ 44 h 118"/>
                    <a:gd name="T18" fmla="*/ 82 w 115"/>
                    <a:gd name="T19" fmla="*/ 50 h 118"/>
                    <a:gd name="T20" fmla="*/ 91 w 115"/>
                    <a:gd name="T21" fmla="*/ 57 h 118"/>
                    <a:gd name="T22" fmla="*/ 100 w 115"/>
                    <a:gd name="T23" fmla="*/ 64 h 118"/>
                    <a:gd name="T24" fmla="*/ 97 w 115"/>
                    <a:gd name="T25" fmla="*/ 68 h 118"/>
                    <a:gd name="T26" fmla="*/ 92 w 115"/>
                    <a:gd name="T27" fmla="*/ 69 h 118"/>
                    <a:gd name="T28" fmla="*/ 87 w 115"/>
                    <a:gd name="T29" fmla="*/ 69 h 118"/>
                    <a:gd name="T30" fmla="*/ 86 w 115"/>
                    <a:gd name="T31" fmla="*/ 73 h 118"/>
                    <a:gd name="T32" fmla="*/ 96 w 115"/>
                    <a:gd name="T33" fmla="*/ 82 h 118"/>
                    <a:gd name="T34" fmla="*/ 102 w 115"/>
                    <a:gd name="T35" fmla="*/ 89 h 118"/>
                    <a:gd name="T36" fmla="*/ 115 w 115"/>
                    <a:gd name="T37" fmla="*/ 100 h 118"/>
                    <a:gd name="T38" fmla="*/ 109 w 115"/>
                    <a:gd name="T39" fmla="*/ 109 h 118"/>
                    <a:gd name="T40" fmla="*/ 101 w 115"/>
                    <a:gd name="T41" fmla="*/ 110 h 118"/>
                    <a:gd name="T42" fmla="*/ 101 w 115"/>
                    <a:gd name="T43" fmla="*/ 118 h 118"/>
                    <a:gd name="T44" fmla="*/ 91 w 115"/>
                    <a:gd name="T45" fmla="*/ 118 h 118"/>
                    <a:gd name="T46" fmla="*/ 87 w 115"/>
                    <a:gd name="T47" fmla="*/ 112 h 118"/>
                    <a:gd name="T48" fmla="*/ 77 w 115"/>
                    <a:gd name="T49" fmla="*/ 103 h 118"/>
                    <a:gd name="T50" fmla="*/ 69 w 115"/>
                    <a:gd name="T51" fmla="*/ 92 h 118"/>
                    <a:gd name="T52" fmla="*/ 59 w 115"/>
                    <a:gd name="T53" fmla="*/ 74 h 118"/>
                    <a:gd name="T54" fmla="*/ 45 w 115"/>
                    <a:gd name="T55" fmla="*/ 64 h 118"/>
                    <a:gd name="T56" fmla="*/ 32 w 115"/>
                    <a:gd name="T57" fmla="*/ 44 h 118"/>
                    <a:gd name="T58" fmla="*/ 23 w 115"/>
                    <a:gd name="T59" fmla="*/ 39 h 118"/>
                    <a:gd name="T60" fmla="*/ 17 w 115"/>
                    <a:gd name="T61" fmla="*/ 35 h 118"/>
                    <a:gd name="T62" fmla="*/ 13 w 115"/>
                    <a:gd name="T63" fmla="*/ 25 h 118"/>
                    <a:gd name="T64" fmla="*/ 3 w 115"/>
                    <a:gd name="T65" fmla="*/ 16 h 118"/>
                    <a:gd name="T66" fmla="*/ 3 w 115"/>
                    <a:gd name="T67" fmla="*/ 12 h 118"/>
                    <a:gd name="T68" fmla="*/ 0 w 115"/>
                    <a:gd name="T69" fmla="*/ 0 h 1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5"/>
                    <a:gd name="T106" fmla="*/ 0 h 118"/>
                    <a:gd name="T107" fmla="*/ 115 w 115"/>
                    <a:gd name="T108" fmla="*/ 118 h 11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5" h="118">
                      <a:moveTo>
                        <a:pt x="0" y="0"/>
                      </a:moveTo>
                      <a:lnTo>
                        <a:pt x="9" y="0"/>
                      </a:lnTo>
                      <a:lnTo>
                        <a:pt x="14" y="9"/>
                      </a:lnTo>
                      <a:lnTo>
                        <a:pt x="31" y="20"/>
                      </a:lnTo>
                      <a:lnTo>
                        <a:pt x="37" y="34"/>
                      </a:lnTo>
                      <a:lnTo>
                        <a:pt x="49" y="35"/>
                      </a:lnTo>
                      <a:lnTo>
                        <a:pt x="56" y="37"/>
                      </a:lnTo>
                      <a:lnTo>
                        <a:pt x="64" y="44"/>
                      </a:lnTo>
                      <a:lnTo>
                        <a:pt x="73" y="44"/>
                      </a:lnTo>
                      <a:lnTo>
                        <a:pt x="82" y="50"/>
                      </a:lnTo>
                      <a:lnTo>
                        <a:pt x="91" y="57"/>
                      </a:lnTo>
                      <a:lnTo>
                        <a:pt x="100" y="64"/>
                      </a:lnTo>
                      <a:lnTo>
                        <a:pt x="97" y="68"/>
                      </a:lnTo>
                      <a:lnTo>
                        <a:pt x="92" y="69"/>
                      </a:lnTo>
                      <a:lnTo>
                        <a:pt x="87" y="69"/>
                      </a:lnTo>
                      <a:lnTo>
                        <a:pt x="86" y="73"/>
                      </a:lnTo>
                      <a:lnTo>
                        <a:pt x="96" y="82"/>
                      </a:lnTo>
                      <a:lnTo>
                        <a:pt x="102" y="89"/>
                      </a:lnTo>
                      <a:lnTo>
                        <a:pt x="115" y="100"/>
                      </a:lnTo>
                      <a:lnTo>
                        <a:pt x="109" y="109"/>
                      </a:lnTo>
                      <a:lnTo>
                        <a:pt x="101" y="110"/>
                      </a:lnTo>
                      <a:lnTo>
                        <a:pt x="101" y="118"/>
                      </a:lnTo>
                      <a:lnTo>
                        <a:pt x="91" y="118"/>
                      </a:lnTo>
                      <a:lnTo>
                        <a:pt x="87" y="112"/>
                      </a:lnTo>
                      <a:lnTo>
                        <a:pt x="77" y="103"/>
                      </a:lnTo>
                      <a:lnTo>
                        <a:pt x="69" y="92"/>
                      </a:lnTo>
                      <a:lnTo>
                        <a:pt x="59" y="74"/>
                      </a:lnTo>
                      <a:lnTo>
                        <a:pt x="45" y="64"/>
                      </a:lnTo>
                      <a:lnTo>
                        <a:pt x="32" y="44"/>
                      </a:lnTo>
                      <a:lnTo>
                        <a:pt x="23" y="39"/>
                      </a:lnTo>
                      <a:lnTo>
                        <a:pt x="17" y="35"/>
                      </a:lnTo>
                      <a:lnTo>
                        <a:pt x="13" y="25"/>
                      </a:lnTo>
                      <a:lnTo>
                        <a:pt x="3" y="16"/>
                      </a:lnTo>
                      <a:lnTo>
                        <a:pt x="3" y="12"/>
                      </a:lnTo>
                      <a:lnTo>
                        <a:pt x="0" y="0"/>
                      </a:lnTo>
                      <a:close/>
                    </a:path>
                  </a:pathLst>
                </a:custGeom>
                <a:solidFill>
                  <a:schemeClr val="accent2"/>
                </a:solidFill>
                <a:ln w="9525">
                  <a:noFill/>
                  <a:round/>
                  <a:headEnd/>
                  <a:tailEnd/>
                </a:ln>
              </p:spPr>
              <p:txBody>
                <a:bodyPr/>
                <a:lstStyle/>
                <a:p>
                  <a:endParaRPr lang="zh-CN" altLang="en-US"/>
                </a:p>
              </p:txBody>
            </p:sp>
          </p:grpSp>
          <p:sp>
            <p:nvSpPr>
              <p:cNvPr id="14356" name="Freeform 26"/>
              <p:cNvSpPr>
                <a:spLocks/>
              </p:cNvSpPr>
              <p:nvPr/>
            </p:nvSpPr>
            <p:spPr bwMode="auto">
              <a:xfrm>
                <a:off x="2997" y="1837"/>
                <a:ext cx="283" cy="299"/>
              </a:xfrm>
              <a:custGeom>
                <a:avLst/>
                <a:gdLst>
                  <a:gd name="T0" fmla="*/ 651 w 850"/>
                  <a:gd name="T1" fmla="*/ 145 h 897"/>
                  <a:gd name="T2" fmla="*/ 729 w 850"/>
                  <a:gd name="T3" fmla="*/ 295 h 897"/>
                  <a:gd name="T4" fmla="*/ 761 w 850"/>
                  <a:gd name="T5" fmla="*/ 333 h 897"/>
                  <a:gd name="T6" fmla="*/ 832 w 850"/>
                  <a:gd name="T7" fmla="*/ 323 h 897"/>
                  <a:gd name="T8" fmla="*/ 848 w 850"/>
                  <a:gd name="T9" fmla="*/ 358 h 897"/>
                  <a:gd name="T10" fmla="*/ 768 w 850"/>
                  <a:gd name="T11" fmla="*/ 458 h 897"/>
                  <a:gd name="T12" fmla="*/ 697 w 850"/>
                  <a:gd name="T13" fmla="*/ 574 h 897"/>
                  <a:gd name="T14" fmla="*/ 707 w 850"/>
                  <a:gd name="T15" fmla="*/ 614 h 897"/>
                  <a:gd name="T16" fmla="*/ 707 w 850"/>
                  <a:gd name="T17" fmla="*/ 658 h 897"/>
                  <a:gd name="T18" fmla="*/ 679 w 850"/>
                  <a:gd name="T19" fmla="*/ 672 h 897"/>
                  <a:gd name="T20" fmla="*/ 633 w 850"/>
                  <a:gd name="T21" fmla="*/ 731 h 897"/>
                  <a:gd name="T22" fmla="*/ 618 w 850"/>
                  <a:gd name="T23" fmla="*/ 778 h 897"/>
                  <a:gd name="T24" fmla="*/ 573 w 850"/>
                  <a:gd name="T25" fmla="*/ 846 h 897"/>
                  <a:gd name="T26" fmla="*/ 550 w 850"/>
                  <a:gd name="T27" fmla="*/ 860 h 897"/>
                  <a:gd name="T28" fmla="*/ 497 w 850"/>
                  <a:gd name="T29" fmla="*/ 894 h 897"/>
                  <a:gd name="T30" fmla="*/ 437 w 850"/>
                  <a:gd name="T31" fmla="*/ 882 h 897"/>
                  <a:gd name="T32" fmla="*/ 428 w 850"/>
                  <a:gd name="T33" fmla="*/ 850 h 897"/>
                  <a:gd name="T34" fmla="*/ 399 w 850"/>
                  <a:gd name="T35" fmla="*/ 808 h 897"/>
                  <a:gd name="T36" fmla="*/ 394 w 850"/>
                  <a:gd name="T37" fmla="*/ 768 h 897"/>
                  <a:gd name="T38" fmla="*/ 387 w 850"/>
                  <a:gd name="T39" fmla="*/ 745 h 897"/>
                  <a:gd name="T40" fmla="*/ 360 w 850"/>
                  <a:gd name="T41" fmla="*/ 717 h 897"/>
                  <a:gd name="T42" fmla="*/ 345 w 850"/>
                  <a:gd name="T43" fmla="*/ 681 h 897"/>
                  <a:gd name="T44" fmla="*/ 365 w 850"/>
                  <a:gd name="T45" fmla="*/ 619 h 897"/>
                  <a:gd name="T46" fmla="*/ 356 w 850"/>
                  <a:gd name="T47" fmla="*/ 532 h 897"/>
                  <a:gd name="T48" fmla="*/ 318 w 850"/>
                  <a:gd name="T49" fmla="*/ 487 h 897"/>
                  <a:gd name="T50" fmla="*/ 314 w 850"/>
                  <a:gd name="T51" fmla="*/ 422 h 897"/>
                  <a:gd name="T52" fmla="*/ 259 w 850"/>
                  <a:gd name="T53" fmla="*/ 395 h 897"/>
                  <a:gd name="T54" fmla="*/ 186 w 850"/>
                  <a:gd name="T55" fmla="*/ 403 h 897"/>
                  <a:gd name="T56" fmla="*/ 42 w 850"/>
                  <a:gd name="T57" fmla="*/ 349 h 897"/>
                  <a:gd name="T58" fmla="*/ 8 w 850"/>
                  <a:gd name="T59" fmla="*/ 263 h 897"/>
                  <a:gd name="T60" fmla="*/ 32 w 850"/>
                  <a:gd name="T61" fmla="*/ 199 h 897"/>
                  <a:gd name="T62" fmla="*/ 83 w 850"/>
                  <a:gd name="T63" fmla="*/ 131 h 897"/>
                  <a:gd name="T64" fmla="*/ 157 w 850"/>
                  <a:gd name="T65" fmla="*/ 78 h 897"/>
                  <a:gd name="T66" fmla="*/ 209 w 850"/>
                  <a:gd name="T67" fmla="*/ 23 h 897"/>
                  <a:gd name="T68" fmla="*/ 259 w 850"/>
                  <a:gd name="T69" fmla="*/ 40 h 897"/>
                  <a:gd name="T70" fmla="*/ 314 w 850"/>
                  <a:gd name="T71" fmla="*/ 14 h 897"/>
                  <a:gd name="T72" fmla="*/ 351 w 850"/>
                  <a:gd name="T73" fmla="*/ 3 h 897"/>
                  <a:gd name="T74" fmla="*/ 382 w 850"/>
                  <a:gd name="T75" fmla="*/ 28 h 897"/>
                  <a:gd name="T76" fmla="*/ 442 w 850"/>
                  <a:gd name="T77" fmla="*/ 75 h 897"/>
                  <a:gd name="T78" fmla="*/ 479 w 850"/>
                  <a:gd name="T79" fmla="*/ 55 h 897"/>
                  <a:gd name="T80" fmla="*/ 541 w 850"/>
                  <a:gd name="T81" fmla="*/ 69 h 897"/>
                  <a:gd name="T82" fmla="*/ 609 w 850"/>
                  <a:gd name="T83" fmla="*/ 69 h 89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850"/>
                  <a:gd name="T127" fmla="*/ 0 h 897"/>
                  <a:gd name="T128" fmla="*/ 850 w 850"/>
                  <a:gd name="T129" fmla="*/ 897 h 89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850" h="897">
                    <a:moveTo>
                      <a:pt x="637" y="107"/>
                    </a:moveTo>
                    <a:lnTo>
                      <a:pt x="651" y="145"/>
                    </a:lnTo>
                    <a:lnTo>
                      <a:pt x="679" y="203"/>
                    </a:lnTo>
                    <a:lnTo>
                      <a:pt x="729" y="295"/>
                    </a:lnTo>
                    <a:lnTo>
                      <a:pt x="751" y="305"/>
                    </a:lnTo>
                    <a:lnTo>
                      <a:pt x="761" y="333"/>
                    </a:lnTo>
                    <a:lnTo>
                      <a:pt x="804" y="332"/>
                    </a:lnTo>
                    <a:lnTo>
                      <a:pt x="832" y="323"/>
                    </a:lnTo>
                    <a:lnTo>
                      <a:pt x="850" y="323"/>
                    </a:lnTo>
                    <a:lnTo>
                      <a:pt x="848" y="358"/>
                    </a:lnTo>
                    <a:lnTo>
                      <a:pt x="845" y="378"/>
                    </a:lnTo>
                    <a:lnTo>
                      <a:pt x="768" y="458"/>
                    </a:lnTo>
                    <a:lnTo>
                      <a:pt x="697" y="541"/>
                    </a:lnTo>
                    <a:lnTo>
                      <a:pt x="697" y="574"/>
                    </a:lnTo>
                    <a:lnTo>
                      <a:pt x="719" y="598"/>
                    </a:lnTo>
                    <a:lnTo>
                      <a:pt x="707" y="614"/>
                    </a:lnTo>
                    <a:lnTo>
                      <a:pt x="715" y="640"/>
                    </a:lnTo>
                    <a:lnTo>
                      <a:pt x="707" y="658"/>
                    </a:lnTo>
                    <a:lnTo>
                      <a:pt x="692" y="672"/>
                    </a:lnTo>
                    <a:lnTo>
                      <a:pt x="679" y="672"/>
                    </a:lnTo>
                    <a:lnTo>
                      <a:pt x="655" y="699"/>
                    </a:lnTo>
                    <a:lnTo>
                      <a:pt x="633" y="731"/>
                    </a:lnTo>
                    <a:lnTo>
                      <a:pt x="637" y="763"/>
                    </a:lnTo>
                    <a:lnTo>
                      <a:pt x="618" y="778"/>
                    </a:lnTo>
                    <a:lnTo>
                      <a:pt x="596" y="813"/>
                    </a:lnTo>
                    <a:lnTo>
                      <a:pt x="573" y="846"/>
                    </a:lnTo>
                    <a:lnTo>
                      <a:pt x="560" y="856"/>
                    </a:lnTo>
                    <a:lnTo>
                      <a:pt x="550" y="860"/>
                    </a:lnTo>
                    <a:lnTo>
                      <a:pt x="531" y="882"/>
                    </a:lnTo>
                    <a:lnTo>
                      <a:pt x="497" y="894"/>
                    </a:lnTo>
                    <a:lnTo>
                      <a:pt x="458" y="897"/>
                    </a:lnTo>
                    <a:lnTo>
                      <a:pt x="437" y="882"/>
                    </a:lnTo>
                    <a:lnTo>
                      <a:pt x="431" y="869"/>
                    </a:lnTo>
                    <a:lnTo>
                      <a:pt x="428" y="850"/>
                    </a:lnTo>
                    <a:lnTo>
                      <a:pt x="414" y="841"/>
                    </a:lnTo>
                    <a:lnTo>
                      <a:pt x="399" y="808"/>
                    </a:lnTo>
                    <a:lnTo>
                      <a:pt x="396" y="790"/>
                    </a:lnTo>
                    <a:lnTo>
                      <a:pt x="394" y="768"/>
                    </a:lnTo>
                    <a:lnTo>
                      <a:pt x="387" y="754"/>
                    </a:lnTo>
                    <a:lnTo>
                      <a:pt x="387" y="745"/>
                    </a:lnTo>
                    <a:lnTo>
                      <a:pt x="374" y="730"/>
                    </a:lnTo>
                    <a:lnTo>
                      <a:pt x="360" y="717"/>
                    </a:lnTo>
                    <a:lnTo>
                      <a:pt x="350" y="695"/>
                    </a:lnTo>
                    <a:lnTo>
                      <a:pt x="345" y="681"/>
                    </a:lnTo>
                    <a:lnTo>
                      <a:pt x="347" y="655"/>
                    </a:lnTo>
                    <a:lnTo>
                      <a:pt x="365" y="619"/>
                    </a:lnTo>
                    <a:lnTo>
                      <a:pt x="370" y="577"/>
                    </a:lnTo>
                    <a:lnTo>
                      <a:pt x="356" y="532"/>
                    </a:lnTo>
                    <a:lnTo>
                      <a:pt x="333" y="514"/>
                    </a:lnTo>
                    <a:lnTo>
                      <a:pt x="318" y="487"/>
                    </a:lnTo>
                    <a:lnTo>
                      <a:pt x="324" y="449"/>
                    </a:lnTo>
                    <a:lnTo>
                      <a:pt x="314" y="422"/>
                    </a:lnTo>
                    <a:lnTo>
                      <a:pt x="287" y="418"/>
                    </a:lnTo>
                    <a:lnTo>
                      <a:pt x="259" y="395"/>
                    </a:lnTo>
                    <a:lnTo>
                      <a:pt x="223" y="385"/>
                    </a:lnTo>
                    <a:lnTo>
                      <a:pt x="186" y="403"/>
                    </a:lnTo>
                    <a:lnTo>
                      <a:pt x="92" y="398"/>
                    </a:lnTo>
                    <a:lnTo>
                      <a:pt x="42" y="349"/>
                    </a:lnTo>
                    <a:lnTo>
                      <a:pt x="0" y="286"/>
                    </a:lnTo>
                    <a:lnTo>
                      <a:pt x="8" y="263"/>
                    </a:lnTo>
                    <a:lnTo>
                      <a:pt x="27" y="243"/>
                    </a:lnTo>
                    <a:lnTo>
                      <a:pt x="32" y="199"/>
                    </a:lnTo>
                    <a:lnTo>
                      <a:pt x="48" y="167"/>
                    </a:lnTo>
                    <a:lnTo>
                      <a:pt x="83" y="131"/>
                    </a:lnTo>
                    <a:lnTo>
                      <a:pt x="121" y="114"/>
                    </a:lnTo>
                    <a:lnTo>
                      <a:pt x="157" y="78"/>
                    </a:lnTo>
                    <a:lnTo>
                      <a:pt x="163" y="63"/>
                    </a:lnTo>
                    <a:lnTo>
                      <a:pt x="209" y="23"/>
                    </a:lnTo>
                    <a:lnTo>
                      <a:pt x="239" y="40"/>
                    </a:lnTo>
                    <a:lnTo>
                      <a:pt x="259" y="40"/>
                    </a:lnTo>
                    <a:lnTo>
                      <a:pt x="286" y="17"/>
                    </a:lnTo>
                    <a:lnTo>
                      <a:pt x="314" y="14"/>
                    </a:lnTo>
                    <a:lnTo>
                      <a:pt x="333" y="19"/>
                    </a:lnTo>
                    <a:lnTo>
                      <a:pt x="351" y="3"/>
                    </a:lnTo>
                    <a:lnTo>
                      <a:pt x="376" y="0"/>
                    </a:lnTo>
                    <a:lnTo>
                      <a:pt x="382" y="28"/>
                    </a:lnTo>
                    <a:lnTo>
                      <a:pt x="396" y="52"/>
                    </a:lnTo>
                    <a:lnTo>
                      <a:pt x="442" y="75"/>
                    </a:lnTo>
                    <a:lnTo>
                      <a:pt x="477" y="80"/>
                    </a:lnTo>
                    <a:lnTo>
                      <a:pt x="479" y="55"/>
                    </a:lnTo>
                    <a:lnTo>
                      <a:pt x="508" y="55"/>
                    </a:lnTo>
                    <a:lnTo>
                      <a:pt x="541" y="69"/>
                    </a:lnTo>
                    <a:lnTo>
                      <a:pt x="577" y="78"/>
                    </a:lnTo>
                    <a:lnTo>
                      <a:pt x="609" y="69"/>
                    </a:lnTo>
                    <a:lnTo>
                      <a:pt x="637" y="107"/>
                    </a:lnTo>
                    <a:close/>
                  </a:path>
                </a:pathLst>
              </a:custGeom>
              <a:solidFill>
                <a:schemeClr val="accent2"/>
              </a:solidFill>
              <a:ln w="9525">
                <a:noFill/>
                <a:round/>
                <a:headEnd/>
                <a:tailEnd/>
              </a:ln>
            </p:spPr>
            <p:txBody>
              <a:bodyPr/>
              <a:lstStyle/>
              <a:p>
                <a:endParaRPr lang="zh-CN" altLang="en-US"/>
              </a:p>
            </p:txBody>
          </p:sp>
          <p:grpSp>
            <p:nvGrpSpPr>
              <p:cNvPr id="7" name="Group 27"/>
              <p:cNvGrpSpPr>
                <a:grpSpLocks/>
              </p:cNvGrpSpPr>
              <p:nvPr/>
            </p:nvGrpSpPr>
            <p:grpSpPr bwMode="auto">
              <a:xfrm>
                <a:off x="3017" y="1677"/>
                <a:ext cx="125" cy="102"/>
                <a:chOff x="3017" y="1677"/>
                <a:chExt cx="125" cy="102"/>
              </a:xfrm>
            </p:grpSpPr>
            <p:grpSp>
              <p:nvGrpSpPr>
                <p:cNvPr id="8" name="Group 28"/>
                <p:cNvGrpSpPr>
                  <a:grpSpLocks/>
                </p:cNvGrpSpPr>
                <p:nvPr/>
              </p:nvGrpSpPr>
              <p:grpSpPr bwMode="auto">
                <a:xfrm>
                  <a:off x="3066" y="1740"/>
                  <a:ext cx="39" cy="39"/>
                  <a:chOff x="3066" y="1740"/>
                  <a:chExt cx="39" cy="39"/>
                </a:xfrm>
              </p:grpSpPr>
              <p:sp>
                <p:nvSpPr>
                  <p:cNvPr id="14368" name="Freeform 29"/>
                  <p:cNvSpPr>
                    <a:spLocks/>
                  </p:cNvSpPr>
                  <p:nvPr/>
                </p:nvSpPr>
                <p:spPr bwMode="auto">
                  <a:xfrm>
                    <a:off x="3066" y="1754"/>
                    <a:ext cx="19" cy="22"/>
                  </a:xfrm>
                  <a:custGeom>
                    <a:avLst/>
                    <a:gdLst>
                      <a:gd name="T0" fmla="*/ 13 w 55"/>
                      <a:gd name="T1" fmla="*/ 21 h 64"/>
                      <a:gd name="T2" fmla="*/ 18 w 55"/>
                      <a:gd name="T3" fmla="*/ 14 h 64"/>
                      <a:gd name="T4" fmla="*/ 28 w 55"/>
                      <a:gd name="T5" fmla="*/ 14 h 64"/>
                      <a:gd name="T6" fmla="*/ 41 w 55"/>
                      <a:gd name="T7" fmla="*/ 0 h 64"/>
                      <a:gd name="T8" fmla="*/ 46 w 55"/>
                      <a:gd name="T9" fmla="*/ 9 h 64"/>
                      <a:gd name="T10" fmla="*/ 51 w 55"/>
                      <a:gd name="T11" fmla="*/ 9 h 64"/>
                      <a:gd name="T12" fmla="*/ 55 w 55"/>
                      <a:gd name="T13" fmla="*/ 14 h 64"/>
                      <a:gd name="T14" fmla="*/ 51 w 55"/>
                      <a:gd name="T15" fmla="*/ 21 h 64"/>
                      <a:gd name="T16" fmla="*/ 46 w 55"/>
                      <a:gd name="T17" fmla="*/ 21 h 64"/>
                      <a:gd name="T18" fmla="*/ 46 w 55"/>
                      <a:gd name="T19" fmla="*/ 29 h 64"/>
                      <a:gd name="T20" fmla="*/ 46 w 55"/>
                      <a:gd name="T21" fmla="*/ 30 h 64"/>
                      <a:gd name="T22" fmla="*/ 42 w 55"/>
                      <a:gd name="T23" fmla="*/ 36 h 64"/>
                      <a:gd name="T24" fmla="*/ 46 w 55"/>
                      <a:gd name="T25" fmla="*/ 41 h 64"/>
                      <a:gd name="T26" fmla="*/ 41 w 55"/>
                      <a:gd name="T27" fmla="*/ 46 h 64"/>
                      <a:gd name="T28" fmla="*/ 36 w 55"/>
                      <a:gd name="T29" fmla="*/ 50 h 64"/>
                      <a:gd name="T30" fmla="*/ 32 w 55"/>
                      <a:gd name="T31" fmla="*/ 50 h 64"/>
                      <a:gd name="T32" fmla="*/ 31 w 55"/>
                      <a:gd name="T33" fmla="*/ 50 h 64"/>
                      <a:gd name="T34" fmla="*/ 31 w 55"/>
                      <a:gd name="T35" fmla="*/ 55 h 64"/>
                      <a:gd name="T36" fmla="*/ 23 w 55"/>
                      <a:gd name="T37" fmla="*/ 57 h 64"/>
                      <a:gd name="T38" fmla="*/ 23 w 55"/>
                      <a:gd name="T39" fmla="*/ 55 h 64"/>
                      <a:gd name="T40" fmla="*/ 15 w 55"/>
                      <a:gd name="T41" fmla="*/ 59 h 64"/>
                      <a:gd name="T42" fmla="*/ 13 w 55"/>
                      <a:gd name="T43" fmla="*/ 59 h 64"/>
                      <a:gd name="T44" fmla="*/ 7 w 55"/>
                      <a:gd name="T45" fmla="*/ 64 h 64"/>
                      <a:gd name="T46" fmla="*/ 5 w 55"/>
                      <a:gd name="T47" fmla="*/ 64 h 64"/>
                      <a:gd name="T48" fmla="*/ 4 w 55"/>
                      <a:gd name="T49" fmla="*/ 60 h 64"/>
                      <a:gd name="T50" fmla="*/ 1 w 55"/>
                      <a:gd name="T51" fmla="*/ 55 h 64"/>
                      <a:gd name="T52" fmla="*/ 0 w 55"/>
                      <a:gd name="T53" fmla="*/ 53 h 64"/>
                      <a:gd name="T54" fmla="*/ 0 w 55"/>
                      <a:gd name="T55" fmla="*/ 48 h 64"/>
                      <a:gd name="T56" fmla="*/ 5 w 55"/>
                      <a:gd name="T57" fmla="*/ 44 h 64"/>
                      <a:gd name="T58" fmla="*/ 9 w 55"/>
                      <a:gd name="T59" fmla="*/ 43 h 64"/>
                      <a:gd name="T60" fmla="*/ 10 w 55"/>
                      <a:gd name="T61" fmla="*/ 36 h 64"/>
                      <a:gd name="T62" fmla="*/ 15 w 55"/>
                      <a:gd name="T63" fmla="*/ 36 h 64"/>
                      <a:gd name="T64" fmla="*/ 19 w 55"/>
                      <a:gd name="T65" fmla="*/ 41 h 64"/>
                      <a:gd name="T66" fmla="*/ 23 w 55"/>
                      <a:gd name="T67" fmla="*/ 36 h 64"/>
                      <a:gd name="T68" fmla="*/ 19 w 55"/>
                      <a:gd name="T69" fmla="*/ 36 h 64"/>
                      <a:gd name="T70" fmla="*/ 13 w 55"/>
                      <a:gd name="T71" fmla="*/ 21 h 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5"/>
                      <a:gd name="T109" fmla="*/ 0 h 64"/>
                      <a:gd name="T110" fmla="*/ 55 w 55"/>
                      <a:gd name="T111" fmla="*/ 64 h 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5" h="64">
                        <a:moveTo>
                          <a:pt x="13" y="21"/>
                        </a:moveTo>
                        <a:lnTo>
                          <a:pt x="18" y="14"/>
                        </a:lnTo>
                        <a:lnTo>
                          <a:pt x="28" y="14"/>
                        </a:lnTo>
                        <a:lnTo>
                          <a:pt x="41" y="0"/>
                        </a:lnTo>
                        <a:lnTo>
                          <a:pt x="46" y="9"/>
                        </a:lnTo>
                        <a:lnTo>
                          <a:pt x="51" y="9"/>
                        </a:lnTo>
                        <a:lnTo>
                          <a:pt x="55" y="14"/>
                        </a:lnTo>
                        <a:lnTo>
                          <a:pt x="51" y="21"/>
                        </a:lnTo>
                        <a:lnTo>
                          <a:pt x="46" y="21"/>
                        </a:lnTo>
                        <a:lnTo>
                          <a:pt x="46" y="29"/>
                        </a:lnTo>
                        <a:lnTo>
                          <a:pt x="46" y="30"/>
                        </a:lnTo>
                        <a:lnTo>
                          <a:pt x="42" y="36"/>
                        </a:lnTo>
                        <a:lnTo>
                          <a:pt x="46" y="41"/>
                        </a:lnTo>
                        <a:lnTo>
                          <a:pt x="41" y="46"/>
                        </a:lnTo>
                        <a:lnTo>
                          <a:pt x="36" y="50"/>
                        </a:lnTo>
                        <a:lnTo>
                          <a:pt x="32" y="50"/>
                        </a:lnTo>
                        <a:lnTo>
                          <a:pt x="31" y="50"/>
                        </a:lnTo>
                        <a:lnTo>
                          <a:pt x="31" y="55"/>
                        </a:lnTo>
                        <a:lnTo>
                          <a:pt x="23" y="57"/>
                        </a:lnTo>
                        <a:lnTo>
                          <a:pt x="23" y="55"/>
                        </a:lnTo>
                        <a:lnTo>
                          <a:pt x="15" y="59"/>
                        </a:lnTo>
                        <a:lnTo>
                          <a:pt x="13" y="59"/>
                        </a:lnTo>
                        <a:lnTo>
                          <a:pt x="7" y="64"/>
                        </a:lnTo>
                        <a:lnTo>
                          <a:pt x="5" y="64"/>
                        </a:lnTo>
                        <a:lnTo>
                          <a:pt x="4" y="60"/>
                        </a:lnTo>
                        <a:lnTo>
                          <a:pt x="1" y="55"/>
                        </a:lnTo>
                        <a:lnTo>
                          <a:pt x="0" y="53"/>
                        </a:lnTo>
                        <a:lnTo>
                          <a:pt x="0" y="48"/>
                        </a:lnTo>
                        <a:lnTo>
                          <a:pt x="5" y="44"/>
                        </a:lnTo>
                        <a:lnTo>
                          <a:pt x="9" y="43"/>
                        </a:lnTo>
                        <a:lnTo>
                          <a:pt x="10" y="36"/>
                        </a:lnTo>
                        <a:lnTo>
                          <a:pt x="15" y="36"/>
                        </a:lnTo>
                        <a:lnTo>
                          <a:pt x="19" y="41"/>
                        </a:lnTo>
                        <a:lnTo>
                          <a:pt x="23" y="36"/>
                        </a:lnTo>
                        <a:lnTo>
                          <a:pt x="19" y="36"/>
                        </a:lnTo>
                        <a:lnTo>
                          <a:pt x="13" y="21"/>
                        </a:lnTo>
                        <a:close/>
                      </a:path>
                    </a:pathLst>
                  </a:custGeom>
                  <a:solidFill>
                    <a:schemeClr val="accent2"/>
                  </a:solidFill>
                  <a:ln w="9525">
                    <a:noFill/>
                    <a:round/>
                    <a:headEnd/>
                    <a:tailEnd/>
                  </a:ln>
                </p:spPr>
                <p:txBody>
                  <a:bodyPr/>
                  <a:lstStyle/>
                  <a:p>
                    <a:endParaRPr lang="zh-CN" altLang="en-US"/>
                  </a:p>
                </p:txBody>
              </p:sp>
              <p:sp>
                <p:nvSpPr>
                  <p:cNvPr id="14369" name="Freeform 30"/>
                  <p:cNvSpPr>
                    <a:spLocks/>
                  </p:cNvSpPr>
                  <p:nvPr/>
                </p:nvSpPr>
                <p:spPr bwMode="auto">
                  <a:xfrm>
                    <a:off x="3083" y="1740"/>
                    <a:ext cx="22" cy="39"/>
                  </a:xfrm>
                  <a:custGeom>
                    <a:avLst/>
                    <a:gdLst>
                      <a:gd name="T0" fmla="*/ 27 w 65"/>
                      <a:gd name="T1" fmla="*/ 13 h 116"/>
                      <a:gd name="T2" fmla="*/ 40 w 65"/>
                      <a:gd name="T3" fmla="*/ 11 h 116"/>
                      <a:gd name="T4" fmla="*/ 45 w 65"/>
                      <a:gd name="T5" fmla="*/ 8 h 116"/>
                      <a:gd name="T6" fmla="*/ 51 w 65"/>
                      <a:gd name="T7" fmla="*/ 4 h 116"/>
                      <a:gd name="T8" fmla="*/ 65 w 65"/>
                      <a:gd name="T9" fmla="*/ 3 h 116"/>
                      <a:gd name="T10" fmla="*/ 63 w 65"/>
                      <a:gd name="T11" fmla="*/ 11 h 116"/>
                      <a:gd name="T12" fmla="*/ 55 w 65"/>
                      <a:gd name="T13" fmla="*/ 14 h 116"/>
                      <a:gd name="T14" fmla="*/ 46 w 65"/>
                      <a:gd name="T15" fmla="*/ 23 h 116"/>
                      <a:gd name="T16" fmla="*/ 56 w 65"/>
                      <a:gd name="T17" fmla="*/ 23 h 116"/>
                      <a:gd name="T18" fmla="*/ 65 w 65"/>
                      <a:gd name="T19" fmla="*/ 23 h 116"/>
                      <a:gd name="T20" fmla="*/ 59 w 65"/>
                      <a:gd name="T21" fmla="*/ 32 h 116"/>
                      <a:gd name="T22" fmla="*/ 50 w 65"/>
                      <a:gd name="T23" fmla="*/ 37 h 116"/>
                      <a:gd name="T24" fmla="*/ 49 w 65"/>
                      <a:gd name="T25" fmla="*/ 43 h 116"/>
                      <a:gd name="T26" fmla="*/ 56 w 65"/>
                      <a:gd name="T27" fmla="*/ 54 h 116"/>
                      <a:gd name="T28" fmla="*/ 63 w 65"/>
                      <a:gd name="T29" fmla="*/ 64 h 116"/>
                      <a:gd name="T30" fmla="*/ 65 w 65"/>
                      <a:gd name="T31" fmla="*/ 75 h 116"/>
                      <a:gd name="T32" fmla="*/ 63 w 65"/>
                      <a:gd name="T33" fmla="*/ 91 h 116"/>
                      <a:gd name="T34" fmla="*/ 55 w 65"/>
                      <a:gd name="T35" fmla="*/ 98 h 116"/>
                      <a:gd name="T36" fmla="*/ 63 w 65"/>
                      <a:gd name="T37" fmla="*/ 109 h 116"/>
                      <a:gd name="T38" fmla="*/ 45 w 65"/>
                      <a:gd name="T39" fmla="*/ 109 h 116"/>
                      <a:gd name="T40" fmla="*/ 36 w 65"/>
                      <a:gd name="T41" fmla="*/ 107 h 116"/>
                      <a:gd name="T42" fmla="*/ 27 w 65"/>
                      <a:gd name="T43" fmla="*/ 111 h 116"/>
                      <a:gd name="T44" fmla="*/ 17 w 65"/>
                      <a:gd name="T45" fmla="*/ 114 h 116"/>
                      <a:gd name="T46" fmla="*/ 9 w 65"/>
                      <a:gd name="T47" fmla="*/ 116 h 116"/>
                      <a:gd name="T48" fmla="*/ 4 w 65"/>
                      <a:gd name="T49" fmla="*/ 109 h 116"/>
                      <a:gd name="T50" fmla="*/ 0 w 65"/>
                      <a:gd name="T51" fmla="*/ 102 h 116"/>
                      <a:gd name="T52" fmla="*/ 8 w 65"/>
                      <a:gd name="T53" fmla="*/ 96 h 116"/>
                      <a:gd name="T54" fmla="*/ 17 w 65"/>
                      <a:gd name="T55" fmla="*/ 96 h 116"/>
                      <a:gd name="T56" fmla="*/ 10 w 65"/>
                      <a:gd name="T57" fmla="*/ 91 h 116"/>
                      <a:gd name="T58" fmla="*/ 10 w 65"/>
                      <a:gd name="T59" fmla="*/ 84 h 116"/>
                      <a:gd name="T60" fmla="*/ 18 w 65"/>
                      <a:gd name="T61" fmla="*/ 79 h 116"/>
                      <a:gd name="T62" fmla="*/ 27 w 65"/>
                      <a:gd name="T63" fmla="*/ 79 h 116"/>
                      <a:gd name="T64" fmla="*/ 31 w 65"/>
                      <a:gd name="T65" fmla="*/ 64 h 116"/>
                      <a:gd name="T66" fmla="*/ 33 w 65"/>
                      <a:gd name="T67" fmla="*/ 54 h 116"/>
                      <a:gd name="T68" fmla="*/ 28 w 65"/>
                      <a:gd name="T69" fmla="*/ 45 h 116"/>
                      <a:gd name="T70" fmla="*/ 14 w 65"/>
                      <a:gd name="T71" fmla="*/ 41 h 116"/>
                      <a:gd name="T72" fmla="*/ 19 w 65"/>
                      <a:gd name="T73" fmla="*/ 17 h 11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5"/>
                      <a:gd name="T112" fmla="*/ 0 h 116"/>
                      <a:gd name="T113" fmla="*/ 65 w 65"/>
                      <a:gd name="T114" fmla="*/ 116 h 11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5" h="116">
                        <a:moveTo>
                          <a:pt x="19" y="17"/>
                        </a:moveTo>
                        <a:lnTo>
                          <a:pt x="27" y="13"/>
                        </a:lnTo>
                        <a:lnTo>
                          <a:pt x="36" y="14"/>
                        </a:lnTo>
                        <a:lnTo>
                          <a:pt x="40" y="11"/>
                        </a:lnTo>
                        <a:lnTo>
                          <a:pt x="42" y="8"/>
                        </a:lnTo>
                        <a:lnTo>
                          <a:pt x="45" y="8"/>
                        </a:lnTo>
                        <a:lnTo>
                          <a:pt x="49" y="5"/>
                        </a:lnTo>
                        <a:lnTo>
                          <a:pt x="51" y="4"/>
                        </a:lnTo>
                        <a:lnTo>
                          <a:pt x="59" y="0"/>
                        </a:lnTo>
                        <a:lnTo>
                          <a:pt x="65" y="3"/>
                        </a:lnTo>
                        <a:lnTo>
                          <a:pt x="64" y="8"/>
                        </a:lnTo>
                        <a:lnTo>
                          <a:pt x="63" y="11"/>
                        </a:lnTo>
                        <a:lnTo>
                          <a:pt x="59" y="13"/>
                        </a:lnTo>
                        <a:lnTo>
                          <a:pt x="55" y="14"/>
                        </a:lnTo>
                        <a:lnTo>
                          <a:pt x="46" y="17"/>
                        </a:lnTo>
                        <a:lnTo>
                          <a:pt x="46" y="23"/>
                        </a:lnTo>
                        <a:lnTo>
                          <a:pt x="49" y="27"/>
                        </a:lnTo>
                        <a:lnTo>
                          <a:pt x="56" y="23"/>
                        </a:lnTo>
                        <a:lnTo>
                          <a:pt x="64" y="18"/>
                        </a:lnTo>
                        <a:lnTo>
                          <a:pt x="65" y="23"/>
                        </a:lnTo>
                        <a:lnTo>
                          <a:pt x="65" y="31"/>
                        </a:lnTo>
                        <a:lnTo>
                          <a:pt x="59" y="32"/>
                        </a:lnTo>
                        <a:lnTo>
                          <a:pt x="55" y="32"/>
                        </a:lnTo>
                        <a:lnTo>
                          <a:pt x="50" y="37"/>
                        </a:lnTo>
                        <a:lnTo>
                          <a:pt x="49" y="40"/>
                        </a:lnTo>
                        <a:lnTo>
                          <a:pt x="49" y="43"/>
                        </a:lnTo>
                        <a:lnTo>
                          <a:pt x="51" y="49"/>
                        </a:lnTo>
                        <a:lnTo>
                          <a:pt x="56" y="54"/>
                        </a:lnTo>
                        <a:lnTo>
                          <a:pt x="59" y="59"/>
                        </a:lnTo>
                        <a:lnTo>
                          <a:pt x="63" y="64"/>
                        </a:lnTo>
                        <a:lnTo>
                          <a:pt x="63" y="68"/>
                        </a:lnTo>
                        <a:lnTo>
                          <a:pt x="65" y="75"/>
                        </a:lnTo>
                        <a:lnTo>
                          <a:pt x="65" y="86"/>
                        </a:lnTo>
                        <a:lnTo>
                          <a:pt x="63" y="91"/>
                        </a:lnTo>
                        <a:lnTo>
                          <a:pt x="56" y="96"/>
                        </a:lnTo>
                        <a:lnTo>
                          <a:pt x="55" y="98"/>
                        </a:lnTo>
                        <a:lnTo>
                          <a:pt x="59" y="102"/>
                        </a:lnTo>
                        <a:lnTo>
                          <a:pt x="63" y="109"/>
                        </a:lnTo>
                        <a:lnTo>
                          <a:pt x="51" y="109"/>
                        </a:lnTo>
                        <a:lnTo>
                          <a:pt x="45" y="109"/>
                        </a:lnTo>
                        <a:lnTo>
                          <a:pt x="42" y="107"/>
                        </a:lnTo>
                        <a:lnTo>
                          <a:pt x="36" y="107"/>
                        </a:lnTo>
                        <a:lnTo>
                          <a:pt x="31" y="109"/>
                        </a:lnTo>
                        <a:lnTo>
                          <a:pt x="27" y="111"/>
                        </a:lnTo>
                        <a:lnTo>
                          <a:pt x="19" y="111"/>
                        </a:lnTo>
                        <a:lnTo>
                          <a:pt x="17" y="114"/>
                        </a:lnTo>
                        <a:lnTo>
                          <a:pt x="10" y="116"/>
                        </a:lnTo>
                        <a:lnTo>
                          <a:pt x="9" y="116"/>
                        </a:lnTo>
                        <a:lnTo>
                          <a:pt x="8" y="111"/>
                        </a:lnTo>
                        <a:lnTo>
                          <a:pt x="4" y="109"/>
                        </a:lnTo>
                        <a:lnTo>
                          <a:pt x="0" y="109"/>
                        </a:lnTo>
                        <a:lnTo>
                          <a:pt x="0" y="102"/>
                        </a:lnTo>
                        <a:lnTo>
                          <a:pt x="4" y="96"/>
                        </a:lnTo>
                        <a:lnTo>
                          <a:pt x="8" y="96"/>
                        </a:lnTo>
                        <a:lnTo>
                          <a:pt x="10" y="96"/>
                        </a:lnTo>
                        <a:lnTo>
                          <a:pt x="17" y="96"/>
                        </a:lnTo>
                        <a:lnTo>
                          <a:pt x="17" y="93"/>
                        </a:lnTo>
                        <a:lnTo>
                          <a:pt x="10" y="91"/>
                        </a:lnTo>
                        <a:lnTo>
                          <a:pt x="10" y="87"/>
                        </a:lnTo>
                        <a:lnTo>
                          <a:pt x="10" y="84"/>
                        </a:lnTo>
                        <a:lnTo>
                          <a:pt x="17" y="84"/>
                        </a:lnTo>
                        <a:lnTo>
                          <a:pt x="18" y="79"/>
                        </a:lnTo>
                        <a:lnTo>
                          <a:pt x="22" y="79"/>
                        </a:lnTo>
                        <a:lnTo>
                          <a:pt x="27" y="79"/>
                        </a:lnTo>
                        <a:lnTo>
                          <a:pt x="31" y="77"/>
                        </a:lnTo>
                        <a:lnTo>
                          <a:pt x="31" y="64"/>
                        </a:lnTo>
                        <a:lnTo>
                          <a:pt x="33" y="59"/>
                        </a:lnTo>
                        <a:lnTo>
                          <a:pt x="33" y="54"/>
                        </a:lnTo>
                        <a:lnTo>
                          <a:pt x="27" y="52"/>
                        </a:lnTo>
                        <a:lnTo>
                          <a:pt x="28" y="45"/>
                        </a:lnTo>
                        <a:lnTo>
                          <a:pt x="19" y="41"/>
                        </a:lnTo>
                        <a:lnTo>
                          <a:pt x="14" y="41"/>
                        </a:lnTo>
                        <a:lnTo>
                          <a:pt x="22" y="32"/>
                        </a:lnTo>
                        <a:lnTo>
                          <a:pt x="19" y="17"/>
                        </a:lnTo>
                        <a:close/>
                      </a:path>
                    </a:pathLst>
                  </a:custGeom>
                  <a:solidFill>
                    <a:schemeClr val="accent2"/>
                  </a:solidFill>
                  <a:ln w="9525">
                    <a:noFill/>
                    <a:round/>
                    <a:headEnd/>
                    <a:tailEnd/>
                  </a:ln>
                </p:spPr>
                <p:txBody>
                  <a:bodyPr/>
                  <a:lstStyle/>
                  <a:p>
                    <a:endParaRPr lang="zh-CN" altLang="en-US"/>
                  </a:p>
                </p:txBody>
              </p:sp>
            </p:grpSp>
            <p:sp>
              <p:nvSpPr>
                <p:cNvPr id="14367" name="Freeform 31"/>
                <p:cNvSpPr>
                  <a:spLocks/>
                </p:cNvSpPr>
                <p:nvPr/>
              </p:nvSpPr>
              <p:spPr bwMode="auto">
                <a:xfrm>
                  <a:off x="3017" y="1677"/>
                  <a:ext cx="125" cy="64"/>
                </a:xfrm>
                <a:custGeom>
                  <a:avLst/>
                  <a:gdLst>
                    <a:gd name="T0" fmla="*/ 24 w 376"/>
                    <a:gd name="T1" fmla="*/ 185 h 192"/>
                    <a:gd name="T2" fmla="*/ 37 w 376"/>
                    <a:gd name="T3" fmla="*/ 171 h 192"/>
                    <a:gd name="T4" fmla="*/ 46 w 376"/>
                    <a:gd name="T5" fmla="*/ 169 h 192"/>
                    <a:gd name="T6" fmla="*/ 56 w 376"/>
                    <a:gd name="T7" fmla="*/ 165 h 192"/>
                    <a:gd name="T8" fmla="*/ 65 w 376"/>
                    <a:gd name="T9" fmla="*/ 165 h 192"/>
                    <a:gd name="T10" fmla="*/ 76 w 376"/>
                    <a:gd name="T11" fmla="*/ 160 h 192"/>
                    <a:gd name="T12" fmla="*/ 85 w 376"/>
                    <a:gd name="T13" fmla="*/ 151 h 192"/>
                    <a:gd name="T14" fmla="*/ 95 w 376"/>
                    <a:gd name="T15" fmla="*/ 146 h 192"/>
                    <a:gd name="T16" fmla="*/ 104 w 376"/>
                    <a:gd name="T17" fmla="*/ 143 h 192"/>
                    <a:gd name="T18" fmla="*/ 117 w 376"/>
                    <a:gd name="T19" fmla="*/ 137 h 192"/>
                    <a:gd name="T20" fmla="*/ 130 w 376"/>
                    <a:gd name="T21" fmla="*/ 134 h 192"/>
                    <a:gd name="T22" fmla="*/ 153 w 376"/>
                    <a:gd name="T23" fmla="*/ 137 h 192"/>
                    <a:gd name="T24" fmla="*/ 172 w 376"/>
                    <a:gd name="T25" fmla="*/ 130 h 192"/>
                    <a:gd name="T26" fmla="*/ 180 w 376"/>
                    <a:gd name="T27" fmla="*/ 119 h 192"/>
                    <a:gd name="T28" fmla="*/ 195 w 376"/>
                    <a:gd name="T29" fmla="*/ 107 h 192"/>
                    <a:gd name="T30" fmla="*/ 200 w 376"/>
                    <a:gd name="T31" fmla="*/ 97 h 192"/>
                    <a:gd name="T32" fmla="*/ 208 w 376"/>
                    <a:gd name="T33" fmla="*/ 91 h 192"/>
                    <a:gd name="T34" fmla="*/ 227 w 376"/>
                    <a:gd name="T35" fmla="*/ 79 h 192"/>
                    <a:gd name="T36" fmla="*/ 222 w 376"/>
                    <a:gd name="T37" fmla="*/ 92 h 192"/>
                    <a:gd name="T38" fmla="*/ 233 w 376"/>
                    <a:gd name="T39" fmla="*/ 97 h 192"/>
                    <a:gd name="T40" fmla="*/ 245 w 376"/>
                    <a:gd name="T41" fmla="*/ 93 h 192"/>
                    <a:gd name="T42" fmla="*/ 250 w 376"/>
                    <a:gd name="T43" fmla="*/ 83 h 192"/>
                    <a:gd name="T44" fmla="*/ 255 w 376"/>
                    <a:gd name="T45" fmla="*/ 74 h 192"/>
                    <a:gd name="T46" fmla="*/ 263 w 376"/>
                    <a:gd name="T47" fmla="*/ 68 h 192"/>
                    <a:gd name="T48" fmla="*/ 279 w 376"/>
                    <a:gd name="T49" fmla="*/ 68 h 192"/>
                    <a:gd name="T50" fmla="*/ 303 w 376"/>
                    <a:gd name="T51" fmla="*/ 53 h 192"/>
                    <a:gd name="T52" fmla="*/ 324 w 376"/>
                    <a:gd name="T53" fmla="*/ 45 h 192"/>
                    <a:gd name="T54" fmla="*/ 346 w 376"/>
                    <a:gd name="T55" fmla="*/ 19 h 192"/>
                    <a:gd name="T56" fmla="*/ 363 w 376"/>
                    <a:gd name="T57" fmla="*/ 9 h 192"/>
                    <a:gd name="T58" fmla="*/ 358 w 376"/>
                    <a:gd name="T59" fmla="*/ 0 h 192"/>
                    <a:gd name="T60" fmla="*/ 326 w 376"/>
                    <a:gd name="T61" fmla="*/ 3 h 192"/>
                    <a:gd name="T62" fmla="*/ 303 w 376"/>
                    <a:gd name="T63" fmla="*/ 12 h 192"/>
                    <a:gd name="T64" fmla="*/ 278 w 376"/>
                    <a:gd name="T65" fmla="*/ 16 h 192"/>
                    <a:gd name="T66" fmla="*/ 250 w 376"/>
                    <a:gd name="T67" fmla="*/ 24 h 192"/>
                    <a:gd name="T68" fmla="*/ 227 w 376"/>
                    <a:gd name="T69" fmla="*/ 36 h 192"/>
                    <a:gd name="T70" fmla="*/ 199 w 376"/>
                    <a:gd name="T71" fmla="*/ 45 h 192"/>
                    <a:gd name="T72" fmla="*/ 180 w 376"/>
                    <a:gd name="T73" fmla="*/ 59 h 192"/>
                    <a:gd name="T74" fmla="*/ 164 w 376"/>
                    <a:gd name="T75" fmla="*/ 68 h 192"/>
                    <a:gd name="T76" fmla="*/ 135 w 376"/>
                    <a:gd name="T77" fmla="*/ 83 h 192"/>
                    <a:gd name="T78" fmla="*/ 101 w 376"/>
                    <a:gd name="T79" fmla="*/ 106 h 192"/>
                    <a:gd name="T80" fmla="*/ 78 w 376"/>
                    <a:gd name="T81" fmla="*/ 123 h 192"/>
                    <a:gd name="T82" fmla="*/ 56 w 376"/>
                    <a:gd name="T83" fmla="*/ 142 h 192"/>
                    <a:gd name="T84" fmla="*/ 33 w 376"/>
                    <a:gd name="T85" fmla="*/ 156 h 192"/>
                    <a:gd name="T86" fmla="*/ 0 w 376"/>
                    <a:gd name="T87" fmla="*/ 192 h 19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192"/>
                    <a:gd name="T134" fmla="*/ 376 w 376"/>
                    <a:gd name="T135" fmla="*/ 192 h 19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192">
                      <a:moveTo>
                        <a:pt x="0" y="192"/>
                      </a:moveTo>
                      <a:lnTo>
                        <a:pt x="24" y="185"/>
                      </a:lnTo>
                      <a:lnTo>
                        <a:pt x="30" y="180"/>
                      </a:lnTo>
                      <a:lnTo>
                        <a:pt x="37" y="171"/>
                      </a:lnTo>
                      <a:lnTo>
                        <a:pt x="39" y="169"/>
                      </a:lnTo>
                      <a:lnTo>
                        <a:pt x="46" y="169"/>
                      </a:lnTo>
                      <a:lnTo>
                        <a:pt x="51" y="165"/>
                      </a:lnTo>
                      <a:lnTo>
                        <a:pt x="56" y="165"/>
                      </a:lnTo>
                      <a:lnTo>
                        <a:pt x="62" y="165"/>
                      </a:lnTo>
                      <a:lnTo>
                        <a:pt x="65" y="165"/>
                      </a:lnTo>
                      <a:lnTo>
                        <a:pt x="69" y="165"/>
                      </a:lnTo>
                      <a:lnTo>
                        <a:pt x="76" y="160"/>
                      </a:lnTo>
                      <a:lnTo>
                        <a:pt x="80" y="156"/>
                      </a:lnTo>
                      <a:lnTo>
                        <a:pt x="85" y="151"/>
                      </a:lnTo>
                      <a:lnTo>
                        <a:pt x="90" y="151"/>
                      </a:lnTo>
                      <a:lnTo>
                        <a:pt x="95" y="146"/>
                      </a:lnTo>
                      <a:lnTo>
                        <a:pt x="101" y="143"/>
                      </a:lnTo>
                      <a:lnTo>
                        <a:pt x="104" y="143"/>
                      </a:lnTo>
                      <a:lnTo>
                        <a:pt x="112" y="139"/>
                      </a:lnTo>
                      <a:lnTo>
                        <a:pt x="117" y="137"/>
                      </a:lnTo>
                      <a:lnTo>
                        <a:pt x="122" y="133"/>
                      </a:lnTo>
                      <a:lnTo>
                        <a:pt x="130" y="134"/>
                      </a:lnTo>
                      <a:lnTo>
                        <a:pt x="140" y="137"/>
                      </a:lnTo>
                      <a:lnTo>
                        <a:pt x="153" y="137"/>
                      </a:lnTo>
                      <a:lnTo>
                        <a:pt x="164" y="133"/>
                      </a:lnTo>
                      <a:lnTo>
                        <a:pt x="172" y="130"/>
                      </a:lnTo>
                      <a:lnTo>
                        <a:pt x="176" y="124"/>
                      </a:lnTo>
                      <a:lnTo>
                        <a:pt x="180" y="119"/>
                      </a:lnTo>
                      <a:lnTo>
                        <a:pt x="190" y="110"/>
                      </a:lnTo>
                      <a:lnTo>
                        <a:pt x="195" y="107"/>
                      </a:lnTo>
                      <a:lnTo>
                        <a:pt x="195" y="101"/>
                      </a:lnTo>
                      <a:lnTo>
                        <a:pt x="200" y="97"/>
                      </a:lnTo>
                      <a:lnTo>
                        <a:pt x="205" y="93"/>
                      </a:lnTo>
                      <a:lnTo>
                        <a:pt x="208" y="91"/>
                      </a:lnTo>
                      <a:lnTo>
                        <a:pt x="210" y="88"/>
                      </a:lnTo>
                      <a:lnTo>
                        <a:pt x="227" y="79"/>
                      </a:lnTo>
                      <a:lnTo>
                        <a:pt x="227" y="88"/>
                      </a:lnTo>
                      <a:lnTo>
                        <a:pt x="222" y="92"/>
                      </a:lnTo>
                      <a:lnTo>
                        <a:pt x="227" y="96"/>
                      </a:lnTo>
                      <a:lnTo>
                        <a:pt x="233" y="97"/>
                      </a:lnTo>
                      <a:lnTo>
                        <a:pt x="240" y="97"/>
                      </a:lnTo>
                      <a:lnTo>
                        <a:pt x="245" y="93"/>
                      </a:lnTo>
                      <a:lnTo>
                        <a:pt x="250" y="88"/>
                      </a:lnTo>
                      <a:lnTo>
                        <a:pt x="250" y="83"/>
                      </a:lnTo>
                      <a:lnTo>
                        <a:pt x="255" y="79"/>
                      </a:lnTo>
                      <a:lnTo>
                        <a:pt x="255" y="74"/>
                      </a:lnTo>
                      <a:lnTo>
                        <a:pt x="259" y="70"/>
                      </a:lnTo>
                      <a:lnTo>
                        <a:pt x="263" y="68"/>
                      </a:lnTo>
                      <a:lnTo>
                        <a:pt x="268" y="68"/>
                      </a:lnTo>
                      <a:lnTo>
                        <a:pt x="279" y="68"/>
                      </a:lnTo>
                      <a:lnTo>
                        <a:pt x="292" y="61"/>
                      </a:lnTo>
                      <a:lnTo>
                        <a:pt x="303" y="53"/>
                      </a:lnTo>
                      <a:lnTo>
                        <a:pt x="311" y="50"/>
                      </a:lnTo>
                      <a:lnTo>
                        <a:pt x="324" y="45"/>
                      </a:lnTo>
                      <a:lnTo>
                        <a:pt x="329" y="33"/>
                      </a:lnTo>
                      <a:lnTo>
                        <a:pt x="346" y="19"/>
                      </a:lnTo>
                      <a:lnTo>
                        <a:pt x="356" y="14"/>
                      </a:lnTo>
                      <a:lnTo>
                        <a:pt x="363" y="9"/>
                      </a:lnTo>
                      <a:lnTo>
                        <a:pt x="376" y="1"/>
                      </a:lnTo>
                      <a:lnTo>
                        <a:pt x="358" y="0"/>
                      </a:lnTo>
                      <a:lnTo>
                        <a:pt x="340" y="0"/>
                      </a:lnTo>
                      <a:lnTo>
                        <a:pt x="326" y="3"/>
                      </a:lnTo>
                      <a:lnTo>
                        <a:pt x="317" y="9"/>
                      </a:lnTo>
                      <a:lnTo>
                        <a:pt x="303" y="12"/>
                      </a:lnTo>
                      <a:lnTo>
                        <a:pt x="288" y="12"/>
                      </a:lnTo>
                      <a:lnTo>
                        <a:pt x="278" y="16"/>
                      </a:lnTo>
                      <a:lnTo>
                        <a:pt x="263" y="21"/>
                      </a:lnTo>
                      <a:lnTo>
                        <a:pt x="250" y="24"/>
                      </a:lnTo>
                      <a:lnTo>
                        <a:pt x="240" y="32"/>
                      </a:lnTo>
                      <a:lnTo>
                        <a:pt x="227" y="36"/>
                      </a:lnTo>
                      <a:lnTo>
                        <a:pt x="210" y="37"/>
                      </a:lnTo>
                      <a:lnTo>
                        <a:pt x="199" y="45"/>
                      </a:lnTo>
                      <a:lnTo>
                        <a:pt x="187" y="50"/>
                      </a:lnTo>
                      <a:lnTo>
                        <a:pt x="180" y="59"/>
                      </a:lnTo>
                      <a:lnTo>
                        <a:pt x="172" y="64"/>
                      </a:lnTo>
                      <a:lnTo>
                        <a:pt x="164" y="68"/>
                      </a:lnTo>
                      <a:lnTo>
                        <a:pt x="149" y="74"/>
                      </a:lnTo>
                      <a:lnTo>
                        <a:pt x="135" y="83"/>
                      </a:lnTo>
                      <a:lnTo>
                        <a:pt x="117" y="93"/>
                      </a:lnTo>
                      <a:lnTo>
                        <a:pt x="101" y="106"/>
                      </a:lnTo>
                      <a:lnTo>
                        <a:pt x="89" y="115"/>
                      </a:lnTo>
                      <a:lnTo>
                        <a:pt x="78" y="123"/>
                      </a:lnTo>
                      <a:lnTo>
                        <a:pt x="65" y="133"/>
                      </a:lnTo>
                      <a:lnTo>
                        <a:pt x="56" y="142"/>
                      </a:lnTo>
                      <a:lnTo>
                        <a:pt x="46" y="151"/>
                      </a:lnTo>
                      <a:lnTo>
                        <a:pt x="33" y="156"/>
                      </a:lnTo>
                      <a:lnTo>
                        <a:pt x="24" y="161"/>
                      </a:lnTo>
                      <a:lnTo>
                        <a:pt x="0" y="192"/>
                      </a:lnTo>
                      <a:close/>
                    </a:path>
                  </a:pathLst>
                </a:custGeom>
                <a:solidFill>
                  <a:schemeClr val="accent2"/>
                </a:solidFill>
                <a:ln w="9525">
                  <a:noFill/>
                  <a:round/>
                  <a:headEnd/>
                  <a:tailEnd/>
                </a:ln>
              </p:spPr>
              <p:txBody>
                <a:bodyPr/>
                <a:lstStyle/>
                <a:p>
                  <a:endParaRPr lang="zh-CN" altLang="en-US"/>
                </a:p>
              </p:txBody>
            </p:sp>
          </p:grpSp>
          <p:sp>
            <p:nvSpPr>
              <p:cNvPr id="14358" name="Freeform 32"/>
              <p:cNvSpPr>
                <a:spLocks/>
              </p:cNvSpPr>
              <p:nvPr/>
            </p:nvSpPr>
            <p:spPr bwMode="auto">
              <a:xfrm>
                <a:off x="3239" y="2041"/>
                <a:ext cx="37" cy="64"/>
              </a:xfrm>
              <a:custGeom>
                <a:avLst/>
                <a:gdLst>
                  <a:gd name="T0" fmla="*/ 22 w 112"/>
                  <a:gd name="T1" fmla="*/ 60 h 192"/>
                  <a:gd name="T2" fmla="*/ 20 w 112"/>
                  <a:gd name="T3" fmla="*/ 100 h 192"/>
                  <a:gd name="T4" fmla="*/ 9 w 112"/>
                  <a:gd name="T5" fmla="*/ 123 h 192"/>
                  <a:gd name="T6" fmla="*/ 0 w 112"/>
                  <a:gd name="T7" fmla="*/ 146 h 192"/>
                  <a:gd name="T8" fmla="*/ 0 w 112"/>
                  <a:gd name="T9" fmla="*/ 161 h 192"/>
                  <a:gd name="T10" fmla="*/ 4 w 112"/>
                  <a:gd name="T11" fmla="*/ 174 h 192"/>
                  <a:gd name="T12" fmla="*/ 15 w 112"/>
                  <a:gd name="T13" fmla="*/ 187 h 192"/>
                  <a:gd name="T14" fmla="*/ 22 w 112"/>
                  <a:gd name="T15" fmla="*/ 188 h 192"/>
                  <a:gd name="T16" fmla="*/ 29 w 112"/>
                  <a:gd name="T17" fmla="*/ 188 h 192"/>
                  <a:gd name="T18" fmla="*/ 36 w 112"/>
                  <a:gd name="T19" fmla="*/ 192 h 192"/>
                  <a:gd name="T20" fmla="*/ 43 w 112"/>
                  <a:gd name="T21" fmla="*/ 182 h 192"/>
                  <a:gd name="T22" fmla="*/ 47 w 112"/>
                  <a:gd name="T23" fmla="*/ 155 h 192"/>
                  <a:gd name="T24" fmla="*/ 59 w 112"/>
                  <a:gd name="T25" fmla="*/ 141 h 192"/>
                  <a:gd name="T26" fmla="*/ 61 w 112"/>
                  <a:gd name="T27" fmla="*/ 114 h 192"/>
                  <a:gd name="T28" fmla="*/ 66 w 112"/>
                  <a:gd name="T29" fmla="*/ 105 h 192"/>
                  <a:gd name="T30" fmla="*/ 73 w 112"/>
                  <a:gd name="T31" fmla="*/ 96 h 192"/>
                  <a:gd name="T32" fmla="*/ 77 w 112"/>
                  <a:gd name="T33" fmla="*/ 78 h 192"/>
                  <a:gd name="T34" fmla="*/ 86 w 112"/>
                  <a:gd name="T35" fmla="*/ 69 h 192"/>
                  <a:gd name="T36" fmla="*/ 89 w 112"/>
                  <a:gd name="T37" fmla="*/ 59 h 192"/>
                  <a:gd name="T38" fmla="*/ 97 w 112"/>
                  <a:gd name="T39" fmla="*/ 53 h 192"/>
                  <a:gd name="T40" fmla="*/ 97 w 112"/>
                  <a:gd name="T41" fmla="*/ 50 h 192"/>
                  <a:gd name="T42" fmla="*/ 109 w 112"/>
                  <a:gd name="T43" fmla="*/ 39 h 192"/>
                  <a:gd name="T44" fmla="*/ 111 w 112"/>
                  <a:gd name="T45" fmla="*/ 23 h 192"/>
                  <a:gd name="T46" fmla="*/ 112 w 112"/>
                  <a:gd name="T47" fmla="*/ 14 h 192"/>
                  <a:gd name="T48" fmla="*/ 100 w 112"/>
                  <a:gd name="T49" fmla="*/ 11 h 192"/>
                  <a:gd name="T50" fmla="*/ 95 w 112"/>
                  <a:gd name="T51" fmla="*/ 0 h 192"/>
                  <a:gd name="T52" fmla="*/ 86 w 112"/>
                  <a:gd name="T53" fmla="*/ 11 h 192"/>
                  <a:gd name="T54" fmla="*/ 77 w 112"/>
                  <a:gd name="T55" fmla="*/ 25 h 192"/>
                  <a:gd name="T56" fmla="*/ 66 w 112"/>
                  <a:gd name="T57" fmla="*/ 37 h 192"/>
                  <a:gd name="T58" fmla="*/ 59 w 112"/>
                  <a:gd name="T59" fmla="*/ 48 h 192"/>
                  <a:gd name="T60" fmla="*/ 54 w 112"/>
                  <a:gd name="T61" fmla="*/ 48 h 192"/>
                  <a:gd name="T62" fmla="*/ 47 w 112"/>
                  <a:gd name="T63" fmla="*/ 53 h 192"/>
                  <a:gd name="T64" fmla="*/ 43 w 112"/>
                  <a:gd name="T65" fmla="*/ 59 h 192"/>
                  <a:gd name="T66" fmla="*/ 22 w 112"/>
                  <a:gd name="T67" fmla="*/ 60 h 19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2"/>
                  <a:gd name="T103" fmla="*/ 0 h 192"/>
                  <a:gd name="T104" fmla="*/ 112 w 112"/>
                  <a:gd name="T105" fmla="*/ 192 h 19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2" h="192">
                    <a:moveTo>
                      <a:pt x="22" y="60"/>
                    </a:moveTo>
                    <a:lnTo>
                      <a:pt x="20" y="100"/>
                    </a:lnTo>
                    <a:lnTo>
                      <a:pt x="9" y="123"/>
                    </a:lnTo>
                    <a:lnTo>
                      <a:pt x="0" y="146"/>
                    </a:lnTo>
                    <a:lnTo>
                      <a:pt x="0" y="161"/>
                    </a:lnTo>
                    <a:lnTo>
                      <a:pt x="4" y="174"/>
                    </a:lnTo>
                    <a:lnTo>
                      <a:pt x="15" y="187"/>
                    </a:lnTo>
                    <a:lnTo>
                      <a:pt x="22" y="188"/>
                    </a:lnTo>
                    <a:lnTo>
                      <a:pt x="29" y="188"/>
                    </a:lnTo>
                    <a:lnTo>
                      <a:pt x="36" y="192"/>
                    </a:lnTo>
                    <a:lnTo>
                      <a:pt x="43" y="182"/>
                    </a:lnTo>
                    <a:lnTo>
                      <a:pt x="47" y="155"/>
                    </a:lnTo>
                    <a:lnTo>
                      <a:pt x="59" y="141"/>
                    </a:lnTo>
                    <a:lnTo>
                      <a:pt x="61" y="114"/>
                    </a:lnTo>
                    <a:lnTo>
                      <a:pt x="66" y="105"/>
                    </a:lnTo>
                    <a:lnTo>
                      <a:pt x="73" y="96"/>
                    </a:lnTo>
                    <a:lnTo>
                      <a:pt x="77" y="78"/>
                    </a:lnTo>
                    <a:lnTo>
                      <a:pt x="86" y="69"/>
                    </a:lnTo>
                    <a:lnTo>
                      <a:pt x="89" y="59"/>
                    </a:lnTo>
                    <a:lnTo>
                      <a:pt x="97" y="53"/>
                    </a:lnTo>
                    <a:lnTo>
                      <a:pt x="97" y="50"/>
                    </a:lnTo>
                    <a:lnTo>
                      <a:pt x="109" y="39"/>
                    </a:lnTo>
                    <a:lnTo>
                      <a:pt x="111" y="23"/>
                    </a:lnTo>
                    <a:lnTo>
                      <a:pt x="112" y="14"/>
                    </a:lnTo>
                    <a:lnTo>
                      <a:pt x="100" y="11"/>
                    </a:lnTo>
                    <a:lnTo>
                      <a:pt x="95" y="0"/>
                    </a:lnTo>
                    <a:lnTo>
                      <a:pt x="86" y="11"/>
                    </a:lnTo>
                    <a:lnTo>
                      <a:pt x="77" y="25"/>
                    </a:lnTo>
                    <a:lnTo>
                      <a:pt x="66" y="37"/>
                    </a:lnTo>
                    <a:lnTo>
                      <a:pt x="59" y="48"/>
                    </a:lnTo>
                    <a:lnTo>
                      <a:pt x="54" y="48"/>
                    </a:lnTo>
                    <a:lnTo>
                      <a:pt x="47" y="53"/>
                    </a:lnTo>
                    <a:lnTo>
                      <a:pt x="43" y="59"/>
                    </a:lnTo>
                    <a:lnTo>
                      <a:pt x="22" y="60"/>
                    </a:lnTo>
                    <a:close/>
                  </a:path>
                </a:pathLst>
              </a:custGeom>
              <a:solidFill>
                <a:schemeClr val="accent2"/>
              </a:solidFill>
              <a:ln w="9525">
                <a:noFill/>
                <a:round/>
                <a:headEnd/>
                <a:tailEnd/>
              </a:ln>
            </p:spPr>
            <p:txBody>
              <a:bodyPr/>
              <a:lstStyle/>
              <a:p>
                <a:endParaRPr lang="zh-CN" altLang="en-US"/>
              </a:p>
            </p:txBody>
          </p:sp>
          <p:sp>
            <p:nvSpPr>
              <p:cNvPr id="14359" name="Freeform 33"/>
              <p:cNvSpPr>
                <a:spLocks/>
              </p:cNvSpPr>
              <p:nvPr/>
            </p:nvSpPr>
            <p:spPr bwMode="auto">
              <a:xfrm>
                <a:off x="3059" y="1682"/>
                <a:ext cx="509" cy="298"/>
              </a:xfrm>
              <a:custGeom>
                <a:avLst/>
                <a:gdLst>
                  <a:gd name="T0" fmla="*/ 90 w 1527"/>
                  <a:gd name="T1" fmla="*/ 372 h 894"/>
                  <a:gd name="T2" fmla="*/ 104 w 1527"/>
                  <a:gd name="T3" fmla="*/ 308 h 894"/>
                  <a:gd name="T4" fmla="*/ 152 w 1527"/>
                  <a:gd name="T5" fmla="*/ 271 h 894"/>
                  <a:gd name="T6" fmla="*/ 208 w 1527"/>
                  <a:gd name="T7" fmla="*/ 237 h 894"/>
                  <a:gd name="T8" fmla="*/ 236 w 1527"/>
                  <a:gd name="T9" fmla="*/ 225 h 894"/>
                  <a:gd name="T10" fmla="*/ 314 w 1527"/>
                  <a:gd name="T11" fmla="*/ 169 h 894"/>
                  <a:gd name="T12" fmla="*/ 336 w 1527"/>
                  <a:gd name="T13" fmla="*/ 155 h 894"/>
                  <a:gd name="T14" fmla="*/ 340 w 1527"/>
                  <a:gd name="T15" fmla="*/ 109 h 894"/>
                  <a:gd name="T16" fmla="*/ 328 w 1527"/>
                  <a:gd name="T17" fmla="*/ 90 h 894"/>
                  <a:gd name="T18" fmla="*/ 284 w 1527"/>
                  <a:gd name="T19" fmla="*/ 130 h 894"/>
                  <a:gd name="T20" fmla="*/ 268 w 1527"/>
                  <a:gd name="T21" fmla="*/ 199 h 894"/>
                  <a:gd name="T22" fmla="*/ 236 w 1527"/>
                  <a:gd name="T23" fmla="*/ 191 h 894"/>
                  <a:gd name="T24" fmla="*/ 219 w 1527"/>
                  <a:gd name="T25" fmla="*/ 169 h 894"/>
                  <a:gd name="T26" fmla="*/ 165 w 1527"/>
                  <a:gd name="T27" fmla="*/ 184 h 894"/>
                  <a:gd name="T28" fmla="*/ 160 w 1527"/>
                  <a:gd name="T29" fmla="*/ 154 h 894"/>
                  <a:gd name="T30" fmla="*/ 170 w 1527"/>
                  <a:gd name="T31" fmla="*/ 130 h 894"/>
                  <a:gd name="T32" fmla="*/ 220 w 1527"/>
                  <a:gd name="T33" fmla="*/ 114 h 894"/>
                  <a:gd name="T34" fmla="*/ 256 w 1527"/>
                  <a:gd name="T35" fmla="*/ 67 h 894"/>
                  <a:gd name="T36" fmla="*/ 316 w 1527"/>
                  <a:gd name="T37" fmla="*/ 25 h 894"/>
                  <a:gd name="T38" fmla="*/ 396 w 1527"/>
                  <a:gd name="T39" fmla="*/ 3 h 894"/>
                  <a:gd name="T40" fmla="*/ 446 w 1527"/>
                  <a:gd name="T41" fmla="*/ 63 h 894"/>
                  <a:gd name="T42" fmla="*/ 436 w 1527"/>
                  <a:gd name="T43" fmla="*/ 114 h 894"/>
                  <a:gd name="T44" fmla="*/ 466 w 1527"/>
                  <a:gd name="T45" fmla="*/ 137 h 894"/>
                  <a:gd name="T46" fmla="*/ 493 w 1527"/>
                  <a:gd name="T47" fmla="*/ 104 h 894"/>
                  <a:gd name="T48" fmla="*/ 625 w 1527"/>
                  <a:gd name="T49" fmla="*/ 58 h 894"/>
                  <a:gd name="T50" fmla="*/ 801 w 1527"/>
                  <a:gd name="T51" fmla="*/ 16 h 894"/>
                  <a:gd name="T52" fmla="*/ 1049 w 1527"/>
                  <a:gd name="T53" fmla="*/ 52 h 894"/>
                  <a:gd name="T54" fmla="*/ 1495 w 1527"/>
                  <a:gd name="T55" fmla="*/ 127 h 894"/>
                  <a:gd name="T56" fmla="*/ 1472 w 1527"/>
                  <a:gd name="T57" fmla="*/ 167 h 894"/>
                  <a:gd name="T58" fmla="*/ 1459 w 1527"/>
                  <a:gd name="T59" fmla="*/ 260 h 894"/>
                  <a:gd name="T60" fmla="*/ 1356 w 1527"/>
                  <a:gd name="T61" fmla="*/ 176 h 894"/>
                  <a:gd name="T62" fmla="*/ 1279 w 1527"/>
                  <a:gd name="T63" fmla="*/ 232 h 894"/>
                  <a:gd name="T64" fmla="*/ 1393 w 1527"/>
                  <a:gd name="T65" fmla="*/ 385 h 894"/>
                  <a:gd name="T66" fmla="*/ 1344 w 1527"/>
                  <a:gd name="T67" fmla="*/ 490 h 894"/>
                  <a:gd name="T68" fmla="*/ 1413 w 1527"/>
                  <a:gd name="T69" fmla="*/ 641 h 894"/>
                  <a:gd name="T70" fmla="*/ 1379 w 1527"/>
                  <a:gd name="T71" fmla="*/ 730 h 894"/>
                  <a:gd name="T72" fmla="*/ 1298 w 1527"/>
                  <a:gd name="T73" fmla="*/ 767 h 894"/>
                  <a:gd name="T74" fmla="*/ 1312 w 1527"/>
                  <a:gd name="T75" fmla="*/ 858 h 894"/>
                  <a:gd name="T76" fmla="*/ 1281 w 1527"/>
                  <a:gd name="T77" fmla="*/ 817 h 894"/>
                  <a:gd name="T78" fmla="*/ 1181 w 1527"/>
                  <a:gd name="T79" fmla="*/ 691 h 894"/>
                  <a:gd name="T80" fmla="*/ 1040 w 1527"/>
                  <a:gd name="T81" fmla="*/ 728 h 894"/>
                  <a:gd name="T82" fmla="*/ 957 w 1527"/>
                  <a:gd name="T83" fmla="*/ 750 h 894"/>
                  <a:gd name="T84" fmla="*/ 779 w 1527"/>
                  <a:gd name="T85" fmla="*/ 612 h 894"/>
                  <a:gd name="T86" fmla="*/ 612 w 1527"/>
                  <a:gd name="T87" fmla="*/ 583 h 894"/>
                  <a:gd name="T88" fmla="*/ 755 w 1527"/>
                  <a:gd name="T89" fmla="*/ 663 h 894"/>
                  <a:gd name="T90" fmla="*/ 562 w 1527"/>
                  <a:gd name="T91" fmla="*/ 733 h 894"/>
                  <a:gd name="T92" fmla="*/ 505 w 1527"/>
                  <a:gd name="T93" fmla="*/ 646 h 894"/>
                  <a:gd name="T94" fmla="*/ 423 w 1527"/>
                  <a:gd name="T95" fmla="*/ 533 h 894"/>
                  <a:gd name="T96" fmla="*/ 381 w 1527"/>
                  <a:gd name="T97" fmla="*/ 473 h 894"/>
                  <a:gd name="T98" fmla="*/ 359 w 1527"/>
                  <a:gd name="T99" fmla="*/ 435 h 894"/>
                  <a:gd name="T100" fmla="*/ 331 w 1527"/>
                  <a:gd name="T101" fmla="*/ 414 h 894"/>
                  <a:gd name="T102" fmla="*/ 318 w 1527"/>
                  <a:gd name="T103" fmla="*/ 459 h 894"/>
                  <a:gd name="T104" fmla="*/ 272 w 1527"/>
                  <a:gd name="T105" fmla="*/ 385 h 894"/>
                  <a:gd name="T106" fmla="*/ 231 w 1527"/>
                  <a:gd name="T107" fmla="*/ 375 h 894"/>
                  <a:gd name="T108" fmla="*/ 279 w 1527"/>
                  <a:gd name="T109" fmla="*/ 432 h 894"/>
                  <a:gd name="T110" fmla="*/ 263 w 1527"/>
                  <a:gd name="T111" fmla="*/ 428 h 894"/>
                  <a:gd name="T112" fmla="*/ 219 w 1527"/>
                  <a:gd name="T113" fmla="*/ 395 h 894"/>
                  <a:gd name="T114" fmla="*/ 170 w 1527"/>
                  <a:gd name="T115" fmla="*/ 372 h 894"/>
                  <a:gd name="T116" fmla="*/ 118 w 1527"/>
                  <a:gd name="T117" fmla="*/ 412 h 894"/>
                  <a:gd name="T118" fmla="*/ 106 w 1527"/>
                  <a:gd name="T119" fmla="*/ 450 h 894"/>
                  <a:gd name="T120" fmla="*/ 60 w 1527"/>
                  <a:gd name="T121" fmla="*/ 473 h 894"/>
                  <a:gd name="T122" fmla="*/ 8 w 1527"/>
                  <a:gd name="T123" fmla="*/ 444 h 8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527"/>
                  <a:gd name="T187" fmla="*/ 0 h 894"/>
                  <a:gd name="T188" fmla="*/ 1527 w 1527"/>
                  <a:gd name="T189" fmla="*/ 894 h 8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527" h="894">
                    <a:moveTo>
                      <a:pt x="0" y="400"/>
                    </a:moveTo>
                    <a:lnTo>
                      <a:pt x="17" y="389"/>
                    </a:lnTo>
                    <a:lnTo>
                      <a:pt x="23" y="380"/>
                    </a:lnTo>
                    <a:lnTo>
                      <a:pt x="44" y="380"/>
                    </a:lnTo>
                    <a:lnTo>
                      <a:pt x="60" y="381"/>
                    </a:lnTo>
                    <a:lnTo>
                      <a:pt x="77" y="375"/>
                    </a:lnTo>
                    <a:lnTo>
                      <a:pt x="90" y="372"/>
                    </a:lnTo>
                    <a:lnTo>
                      <a:pt x="91" y="357"/>
                    </a:lnTo>
                    <a:lnTo>
                      <a:pt x="101" y="348"/>
                    </a:lnTo>
                    <a:lnTo>
                      <a:pt x="81" y="334"/>
                    </a:lnTo>
                    <a:lnTo>
                      <a:pt x="77" y="325"/>
                    </a:lnTo>
                    <a:lnTo>
                      <a:pt x="78" y="310"/>
                    </a:lnTo>
                    <a:lnTo>
                      <a:pt x="92" y="310"/>
                    </a:lnTo>
                    <a:lnTo>
                      <a:pt x="104" y="308"/>
                    </a:lnTo>
                    <a:lnTo>
                      <a:pt x="105" y="310"/>
                    </a:lnTo>
                    <a:lnTo>
                      <a:pt x="115" y="301"/>
                    </a:lnTo>
                    <a:lnTo>
                      <a:pt x="128" y="298"/>
                    </a:lnTo>
                    <a:lnTo>
                      <a:pt x="132" y="298"/>
                    </a:lnTo>
                    <a:lnTo>
                      <a:pt x="138" y="289"/>
                    </a:lnTo>
                    <a:lnTo>
                      <a:pt x="146" y="287"/>
                    </a:lnTo>
                    <a:lnTo>
                      <a:pt x="152" y="271"/>
                    </a:lnTo>
                    <a:lnTo>
                      <a:pt x="161" y="275"/>
                    </a:lnTo>
                    <a:lnTo>
                      <a:pt x="173" y="266"/>
                    </a:lnTo>
                    <a:lnTo>
                      <a:pt x="184" y="257"/>
                    </a:lnTo>
                    <a:lnTo>
                      <a:pt x="196" y="252"/>
                    </a:lnTo>
                    <a:lnTo>
                      <a:pt x="206" y="252"/>
                    </a:lnTo>
                    <a:lnTo>
                      <a:pt x="213" y="252"/>
                    </a:lnTo>
                    <a:lnTo>
                      <a:pt x="208" y="237"/>
                    </a:lnTo>
                    <a:lnTo>
                      <a:pt x="205" y="228"/>
                    </a:lnTo>
                    <a:lnTo>
                      <a:pt x="201" y="204"/>
                    </a:lnTo>
                    <a:lnTo>
                      <a:pt x="219" y="202"/>
                    </a:lnTo>
                    <a:lnTo>
                      <a:pt x="228" y="200"/>
                    </a:lnTo>
                    <a:lnTo>
                      <a:pt x="224" y="209"/>
                    </a:lnTo>
                    <a:lnTo>
                      <a:pt x="231" y="214"/>
                    </a:lnTo>
                    <a:lnTo>
                      <a:pt x="236" y="225"/>
                    </a:lnTo>
                    <a:lnTo>
                      <a:pt x="240" y="230"/>
                    </a:lnTo>
                    <a:lnTo>
                      <a:pt x="259" y="228"/>
                    </a:lnTo>
                    <a:lnTo>
                      <a:pt x="279" y="207"/>
                    </a:lnTo>
                    <a:lnTo>
                      <a:pt x="291" y="199"/>
                    </a:lnTo>
                    <a:lnTo>
                      <a:pt x="297" y="190"/>
                    </a:lnTo>
                    <a:lnTo>
                      <a:pt x="304" y="182"/>
                    </a:lnTo>
                    <a:lnTo>
                      <a:pt x="314" y="169"/>
                    </a:lnTo>
                    <a:lnTo>
                      <a:pt x="320" y="176"/>
                    </a:lnTo>
                    <a:lnTo>
                      <a:pt x="320" y="168"/>
                    </a:lnTo>
                    <a:lnTo>
                      <a:pt x="325" y="167"/>
                    </a:lnTo>
                    <a:lnTo>
                      <a:pt x="336" y="167"/>
                    </a:lnTo>
                    <a:lnTo>
                      <a:pt x="357" y="184"/>
                    </a:lnTo>
                    <a:lnTo>
                      <a:pt x="354" y="135"/>
                    </a:lnTo>
                    <a:lnTo>
                      <a:pt x="336" y="155"/>
                    </a:lnTo>
                    <a:lnTo>
                      <a:pt x="322" y="155"/>
                    </a:lnTo>
                    <a:lnTo>
                      <a:pt x="318" y="144"/>
                    </a:lnTo>
                    <a:lnTo>
                      <a:pt x="318" y="135"/>
                    </a:lnTo>
                    <a:lnTo>
                      <a:pt x="314" y="130"/>
                    </a:lnTo>
                    <a:lnTo>
                      <a:pt x="325" y="121"/>
                    </a:lnTo>
                    <a:lnTo>
                      <a:pt x="331" y="112"/>
                    </a:lnTo>
                    <a:lnTo>
                      <a:pt x="340" y="109"/>
                    </a:lnTo>
                    <a:lnTo>
                      <a:pt x="345" y="108"/>
                    </a:lnTo>
                    <a:lnTo>
                      <a:pt x="348" y="99"/>
                    </a:lnTo>
                    <a:lnTo>
                      <a:pt x="354" y="99"/>
                    </a:lnTo>
                    <a:lnTo>
                      <a:pt x="360" y="99"/>
                    </a:lnTo>
                    <a:lnTo>
                      <a:pt x="348" y="86"/>
                    </a:lnTo>
                    <a:lnTo>
                      <a:pt x="336" y="90"/>
                    </a:lnTo>
                    <a:lnTo>
                      <a:pt x="328" y="90"/>
                    </a:lnTo>
                    <a:lnTo>
                      <a:pt x="320" y="85"/>
                    </a:lnTo>
                    <a:lnTo>
                      <a:pt x="320" y="91"/>
                    </a:lnTo>
                    <a:lnTo>
                      <a:pt x="314" y="103"/>
                    </a:lnTo>
                    <a:lnTo>
                      <a:pt x="304" y="114"/>
                    </a:lnTo>
                    <a:lnTo>
                      <a:pt x="293" y="121"/>
                    </a:lnTo>
                    <a:lnTo>
                      <a:pt x="288" y="121"/>
                    </a:lnTo>
                    <a:lnTo>
                      <a:pt x="284" y="130"/>
                    </a:lnTo>
                    <a:lnTo>
                      <a:pt x="284" y="135"/>
                    </a:lnTo>
                    <a:lnTo>
                      <a:pt x="279" y="140"/>
                    </a:lnTo>
                    <a:lnTo>
                      <a:pt x="286" y="155"/>
                    </a:lnTo>
                    <a:lnTo>
                      <a:pt x="291" y="167"/>
                    </a:lnTo>
                    <a:lnTo>
                      <a:pt x="282" y="177"/>
                    </a:lnTo>
                    <a:lnTo>
                      <a:pt x="272" y="184"/>
                    </a:lnTo>
                    <a:lnTo>
                      <a:pt x="268" y="199"/>
                    </a:lnTo>
                    <a:lnTo>
                      <a:pt x="263" y="207"/>
                    </a:lnTo>
                    <a:lnTo>
                      <a:pt x="258" y="207"/>
                    </a:lnTo>
                    <a:lnTo>
                      <a:pt x="251" y="209"/>
                    </a:lnTo>
                    <a:lnTo>
                      <a:pt x="240" y="213"/>
                    </a:lnTo>
                    <a:lnTo>
                      <a:pt x="236" y="210"/>
                    </a:lnTo>
                    <a:lnTo>
                      <a:pt x="236" y="204"/>
                    </a:lnTo>
                    <a:lnTo>
                      <a:pt x="236" y="191"/>
                    </a:lnTo>
                    <a:lnTo>
                      <a:pt x="231" y="191"/>
                    </a:lnTo>
                    <a:lnTo>
                      <a:pt x="225" y="186"/>
                    </a:lnTo>
                    <a:lnTo>
                      <a:pt x="228" y="177"/>
                    </a:lnTo>
                    <a:lnTo>
                      <a:pt x="229" y="169"/>
                    </a:lnTo>
                    <a:lnTo>
                      <a:pt x="228" y="168"/>
                    </a:lnTo>
                    <a:lnTo>
                      <a:pt x="222" y="169"/>
                    </a:lnTo>
                    <a:lnTo>
                      <a:pt x="219" y="169"/>
                    </a:lnTo>
                    <a:lnTo>
                      <a:pt x="213" y="169"/>
                    </a:lnTo>
                    <a:lnTo>
                      <a:pt x="211" y="168"/>
                    </a:lnTo>
                    <a:lnTo>
                      <a:pt x="205" y="173"/>
                    </a:lnTo>
                    <a:lnTo>
                      <a:pt x="199" y="181"/>
                    </a:lnTo>
                    <a:lnTo>
                      <a:pt x="192" y="187"/>
                    </a:lnTo>
                    <a:lnTo>
                      <a:pt x="176" y="186"/>
                    </a:lnTo>
                    <a:lnTo>
                      <a:pt x="165" y="184"/>
                    </a:lnTo>
                    <a:lnTo>
                      <a:pt x="160" y="178"/>
                    </a:lnTo>
                    <a:lnTo>
                      <a:pt x="160" y="173"/>
                    </a:lnTo>
                    <a:lnTo>
                      <a:pt x="164" y="168"/>
                    </a:lnTo>
                    <a:lnTo>
                      <a:pt x="169" y="167"/>
                    </a:lnTo>
                    <a:lnTo>
                      <a:pt x="173" y="159"/>
                    </a:lnTo>
                    <a:lnTo>
                      <a:pt x="164" y="161"/>
                    </a:lnTo>
                    <a:lnTo>
                      <a:pt x="160" y="154"/>
                    </a:lnTo>
                    <a:lnTo>
                      <a:pt x="160" y="150"/>
                    </a:lnTo>
                    <a:lnTo>
                      <a:pt x="173" y="149"/>
                    </a:lnTo>
                    <a:lnTo>
                      <a:pt x="184" y="146"/>
                    </a:lnTo>
                    <a:lnTo>
                      <a:pt x="178" y="144"/>
                    </a:lnTo>
                    <a:lnTo>
                      <a:pt x="164" y="145"/>
                    </a:lnTo>
                    <a:lnTo>
                      <a:pt x="164" y="137"/>
                    </a:lnTo>
                    <a:lnTo>
                      <a:pt x="170" y="130"/>
                    </a:lnTo>
                    <a:lnTo>
                      <a:pt x="182" y="126"/>
                    </a:lnTo>
                    <a:lnTo>
                      <a:pt x="184" y="121"/>
                    </a:lnTo>
                    <a:lnTo>
                      <a:pt x="192" y="117"/>
                    </a:lnTo>
                    <a:lnTo>
                      <a:pt x="201" y="114"/>
                    </a:lnTo>
                    <a:lnTo>
                      <a:pt x="208" y="117"/>
                    </a:lnTo>
                    <a:lnTo>
                      <a:pt x="213" y="121"/>
                    </a:lnTo>
                    <a:lnTo>
                      <a:pt x="220" y="114"/>
                    </a:lnTo>
                    <a:lnTo>
                      <a:pt x="213" y="114"/>
                    </a:lnTo>
                    <a:lnTo>
                      <a:pt x="213" y="104"/>
                    </a:lnTo>
                    <a:lnTo>
                      <a:pt x="231" y="91"/>
                    </a:lnTo>
                    <a:lnTo>
                      <a:pt x="240" y="84"/>
                    </a:lnTo>
                    <a:lnTo>
                      <a:pt x="245" y="81"/>
                    </a:lnTo>
                    <a:lnTo>
                      <a:pt x="245" y="77"/>
                    </a:lnTo>
                    <a:lnTo>
                      <a:pt x="256" y="67"/>
                    </a:lnTo>
                    <a:lnTo>
                      <a:pt x="263" y="54"/>
                    </a:lnTo>
                    <a:lnTo>
                      <a:pt x="274" y="49"/>
                    </a:lnTo>
                    <a:lnTo>
                      <a:pt x="266" y="44"/>
                    </a:lnTo>
                    <a:lnTo>
                      <a:pt x="290" y="31"/>
                    </a:lnTo>
                    <a:lnTo>
                      <a:pt x="297" y="31"/>
                    </a:lnTo>
                    <a:lnTo>
                      <a:pt x="297" y="25"/>
                    </a:lnTo>
                    <a:lnTo>
                      <a:pt x="316" y="25"/>
                    </a:lnTo>
                    <a:lnTo>
                      <a:pt x="351" y="2"/>
                    </a:lnTo>
                    <a:lnTo>
                      <a:pt x="357" y="0"/>
                    </a:lnTo>
                    <a:lnTo>
                      <a:pt x="351" y="17"/>
                    </a:lnTo>
                    <a:lnTo>
                      <a:pt x="359" y="7"/>
                    </a:lnTo>
                    <a:lnTo>
                      <a:pt x="369" y="5"/>
                    </a:lnTo>
                    <a:lnTo>
                      <a:pt x="366" y="12"/>
                    </a:lnTo>
                    <a:lnTo>
                      <a:pt x="396" y="3"/>
                    </a:lnTo>
                    <a:lnTo>
                      <a:pt x="410" y="8"/>
                    </a:lnTo>
                    <a:lnTo>
                      <a:pt x="389" y="20"/>
                    </a:lnTo>
                    <a:lnTo>
                      <a:pt x="396" y="25"/>
                    </a:lnTo>
                    <a:lnTo>
                      <a:pt x="424" y="25"/>
                    </a:lnTo>
                    <a:lnTo>
                      <a:pt x="465" y="37"/>
                    </a:lnTo>
                    <a:lnTo>
                      <a:pt x="461" y="52"/>
                    </a:lnTo>
                    <a:lnTo>
                      <a:pt x="446" y="63"/>
                    </a:lnTo>
                    <a:lnTo>
                      <a:pt x="420" y="68"/>
                    </a:lnTo>
                    <a:lnTo>
                      <a:pt x="415" y="85"/>
                    </a:lnTo>
                    <a:lnTo>
                      <a:pt x="418" y="99"/>
                    </a:lnTo>
                    <a:lnTo>
                      <a:pt x="424" y="103"/>
                    </a:lnTo>
                    <a:lnTo>
                      <a:pt x="424" y="109"/>
                    </a:lnTo>
                    <a:lnTo>
                      <a:pt x="428" y="112"/>
                    </a:lnTo>
                    <a:lnTo>
                      <a:pt x="436" y="114"/>
                    </a:lnTo>
                    <a:lnTo>
                      <a:pt x="437" y="122"/>
                    </a:lnTo>
                    <a:lnTo>
                      <a:pt x="443" y="131"/>
                    </a:lnTo>
                    <a:lnTo>
                      <a:pt x="443" y="137"/>
                    </a:lnTo>
                    <a:lnTo>
                      <a:pt x="452" y="137"/>
                    </a:lnTo>
                    <a:lnTo>
                      <a:pt x="456" y="140"/>
                    </a:lnTo>
                    <a:lnTo>
                      <a:pt x="461" y="144"/>
                    </a:lnTo>
                    <a:lnTo>
                      <a:pt x="466" y="137"/>
                    </a:lnTo>
                    <a:lnTo>
                      <a:pt x="470" y="130"/>
                    </a:lnTo>
                    <a:lnTo>
                      <a:pt x="474" y="127"/>
                    </a:lnTo>
                    <a:lnTo>
                      <a:pt x="479" y="127"/>
                    </a:lnTo>
                    <a:lnTo>
                      <a:pt x="488" y="121"/>
                    </a:lnTo>
                    <a:lnTo>
                      <a:pt x="488" y="113"/>
                    </a:lnTo>
                    <a:lnTo>
                      <a:pt x="493" y="108"/>
                    </a:lnTo>
                    <a:lnTo>
                      <a:pt x="493" y="104"/>
                    </a:lnTo>
                    <a:lnTo>
                      <a:pt x="510" y="99"/>
                    </a:lnTo>
                    <a:lnTo>
                      <a:pt x="524" y="94"/>
                    </a:lnTo>
                    <a:lnTo>
                      <a:pt x="542" y="90"/>
                    </a:lnTo>
                    <a:lnTo>
                      <a:pt x="562" y="91"/>
                    </a:lnTo>
                    <a:lnTo>
                      <a:pt x="584" y="91"/>
                    </a:lnTo>
                    <a:lnTo>
                      <a:pt x="618" y="91"/>
                    </a:lnTo>
                    <a:lnTo>
                      <a:pt x="625" y="58"/>
                    </a:lnTo>
                    <a:lnTo>
                      <a:pt x="644" y="61"/>
                    </a:lnTo>
                    <a:lnTo>
                      <a:pt x="659" y="86"/>
                    </a:lnTo>
                    <a:lnTo>
                      <a:pt x="660" y="63"/>
                    </a:lnTo>
                    <a:lnTo>
                      <a:pt x="723" y="3"/>
                    </a:lnTo>
                    <a:lnTo>
                      <a:pt x="750" y="3"/>
                    </a:lnTo>
                    <a:lnTo>
                      <a:pt x="773" y="17"/>
                    </a:lnTo>
                    <a:lnTo>
                      <a:pt x="801" y="16"/>
                    </a:lnTo>
                    <a:lnTo>
                      <a:pt x="839" y="37"/>
                    </a:lnTo>
                    <a:lnTo>
                      <a:pt x="885" y="49"/>
                    </a:lnTo>
                    <a:lnTo>
                      <a:pt x="916" y="48"/>
                    </a:lnTo>
                    <a:lnTo>
                      <a:pt x="958" y="61"/>
                    </a:lnTo>
                    <a:lnTo>
                      <a:pt x="992" y="61"/>
                    </a:lnTo>
                    <a:lnTo>
                      <a:pt x="1010" y="52"/>
                    </a:lnTo>
                    <a:lnTo>
                      <a:pt x="1049" y="52"/>
                    </a:lnTo>
                    <a:lnTo>
                      <a:pt x="1070" y="61"/>
                    </a:lnTo>
                    <a:lnTo>
                      <a:pt x="1121" y="61"/>
                    </a:lnTo>
                    <a:lnTo>
                      <a:pt x="1166" y="81"/>
                    </a:lnTo>
                    <a:lnTo>
                      <a:pt x="1249" y="77"/>
                    </a:lnTo>
                    <a:lnTo>
                      <a:pt x="1379" y="86"/>
                    </a:lnTo>
                    <a:lnTo>
                      <a:pt x="1440" y="113"/>
                    </a:lnTo>
                    <a:lnTo>
                      <a:pt x="1495" y="127"/>
                    </a:lnTo>
                    <a:lnTo>
                      <a:pt x="1527" y="144"/>
                    </a:lnTo>
                    <a:lnTo>
                      <a:pt x="1517" y="146"/>
                    </a:lnTo>
                    <a:lnTo>
                      <a:pt x="1495" y="137"/>
                    </a:lnTo>
                    <a:lnTo>
                      <a:pt x="1440" y="131"/>
                    </a:lnTo>
                    <a:lnTo>
                      <a:pt x="1453" y="144"/>
                    </a:lnTo>
                    <a:lnTo>
                      <a:pt x="1480" y="149"/>
                    </a:lnTo>
                    <a:lnTo>
                      <a:pt x="1472" y="167"/>
                    </a:lnTo>
                    <a:lnTo>
                      <a:pt x="1445" y="178"/>
                    </a:lnTo>
                    <a:lnTo>
                      <a:pt x="1439" y="196"/>
                    </a:lnTo>
                    <a:lnTo>
                      <a:pt x="1472" y="213"/>
                    </a:lnTo>
                    <a:lnTo>
                      <a:pt x="1495" y="236"/>
                    </a:lnTo>
                    <a:lnTo>
                      <a:pt x="1508" y="266"/>
                    </a:lnTo>
                    <a:lnTo>
                      <a:pt x="1494" y="269"/>
                    </a:lnTo>
                    <a:lnTo>
                      <a:pt x="1459" y="260"/>
                    </a:lnTo>
                    <a:lnTo>
                      <a:pt x="1425" y="237"/>
                    </a:lnTo>
                    <a:lnTo>
                      <a:pt x="1411" y="225"/>
                    </a:lnTo>
                    <a:lnTo>
                      <a:pt x="1403" y="207"/>
                    </a:lnTo>
                    <a:lnTo>
                      <a:pt x="1393" y="182"/>
                    </a:lnTo>
                    <a:lnTo>
                      <a:pt x="1380" y="173"/>
                    </a:lnTo>
                    <a:lnTo>
                      <a:pt x="1366" y="173"/>
                    </a:lnTo>
                    <a:lnTo>
                      <a:pt x="1356" y="176"/>
                    </a:lnTo>
                    <a:lnTo>
                      <a:pt x="1370" y="196"/>
                    </a:lnTo>
                    <a:lnTo>
                      <a:pt x="1334" y="199"/>
                    </a:lnTo>
                    <a:lnTo>
                      <a:pt x="1320" y="187"/>
                    </a:lnTo>
                    <a:lnTo>
                      <a:pt x="1292" y="191"/>
                    </a:lnTo>
                    <a:lnTo>
                      <a:pt x="1268" y="209"/>
                    </a:lnTo>
                    <a:lnTo>
                      <a:pt x="1268" y="216"/>
                    </a:lnTo>
                    <a:lnTo>
                      <a:pt x="1279" y="232"/>
                    </a:lnTo>
                    <a:lnTo>
                      <a:pt x="1312" y="236"/>
                    </a:lnTo>
                    <a:lnTo>
                      <a:pt x="1339" y="252"/>
                    </a:lnTo>
                    <a:lnTo>
                      <a:pt x="1388" y="298"/>
                    </a:lnTo>
                    <a:lnTo>
                      <a:pt x="1407" y="328"/>
                    </a:lnTo>
                    <a:lnTo>
                      <a:pt x="1408" y="359"/>
                    </a:lnTo>
                    <a:lnTo>
                      <a:pt x="1404" y="385"/>
                    </a:lnTo>
                    <a:lnTo>
                      <a:pt x="1393" y="385"/>
                    </a:lnTo>
                    <a:lnTo>
                      <a:pt x="1380" y="376"/>
                    </a:lnTo>
                    <a:lnTo>
                      <a:pt x="1362" y="389"/>
                    </a:lnTo>
                    <a:lnTo>
                      <a:pt x="1344" y="400"/>
                    </a:lnTo>
                    <a:lnTo>
                      <a:pt x="1343" y="421"/>
                    </a:lnTo>
                    <a:lnTo>
                      <a:pt x="1361" y="441"/>
                    </a:lnTo>
                    <a:lnTo>
                      <a:pt x="1351" y="459"/>
                    </a:lnTo>
                    <a:lnTo>
                      <a:pt x="1344" y="490"/>
                    </a:lnTo>
                    <a:lnTo>
                      <a:pt x="1370" y="510"/>
                    </a:lnTo>
                    <a:lnTo>
                      <a:pt x="1394" y="514"/>
                    </a:lnTo>
                    <a:lnTo>
                      <a:pt x="1422" y="536"/>
                    </a:lnTo>
                    <a:lnTo>
                      <a:pt x="1445" y="564"/>
                    </a:lnTo>
                    <a:lnTo>
                      <a:pt x="1448" y="607"/>
                    </a:lnTo>
                    <a:lnTo>
                      <a:pt x="1440" y="626"/>
                    </a:lnTo>
                    <a:lnTo>
                      <a:pt x="1413" y="641"/>
                    </a:lnTo>
                    <a:lnTo>
                      <a:pt x="1384" y="649"/>
                    </a:lnTo>
                    <a:lnTo>
                      <a:pt x="1365" y="663"/>
                    </a:lnTo>
                    <a:lnTo>
                      <a:pt x="1352" y="658"/>
                    </a:lnTo>
                    <a:lnTo>
                      <a:pt x="1344" y="663"/>
                    </a:lnTo>
                    <a:lnTo>
                      <a:pt x="1342" y="695"/>
                    </a:lnTo>
                    <a:lnTo>
                      <a:pt x="1348" y="710"/>
                    </a:lnTo>
                    <a:lnTo>
                      <a:pt x="1379" y="730"/>
                    </a:lnTo>
                    <a:lnTo>
                      <a:pt x="1389" y="753"/>
                    </a:lnTo>
                    <a:lnTo>
                      <a:pt x="1402" y="765"/>
                    </a:lnTo>
                    <a:lnTo>
                      <a:pt x="1399" y="787"/>
                    </a:lnTo>
                    <a:lnTo>
                      <a:pt x="1379" y="803"/>
                    </a:lnTo>
                    <a:lnTo>
                      <a:pt x="1357" y="803"/>
                    </a:lnTo>
                    <a:lnTo>
                      <a:pt x="1324" y="780"/>
                    </a:lnTo>
                    <a:lnTo>
                      <a:pt x="1298" y="767"/>
                    </a:lnTo>
                    <a:lnTo>
                      <a:pt x="1292" y="764"/>
                    </a:lnTo>
                    <a:lnTo>
                      <a:pt x="1281" y="778"/>
                    </a:lnTo>
                    <a:lnTo>
                      <a:pt x="1284" y="797"/>
                    </a:lnTo>
                    <a:lnTo>
                      <a:pt x="1293" y="813"/>
                    </a:lnTo>
                    <a:lnTo>
                      <a:pt x="1297" y="835"/>
                    </a:lnTo>
                    <a:lnTo>
                      <a:pt x="1318" y="844"/>
                    </a:lnTo>
                    <a:lnTo>
                      <a:pt x="1312" y="858"/>
                    </a:lnTo>
                    <a:lnTo>
                      <a:pt x="1315" y="876"/>
                    </a:lnTo>
                    <a:lnTo>
                      <a:pt x="1320" y="894"/>
                    </a:lnTo>
                    <a:lnTo>
                      <a:pt x="1306" y="890"/>
                    </a:lnTo>
                    <a:lnTo>
                      <a:pt x="1292" y="872"/>
                    </a:lnTo>
                    <a:lnTo>
                      <a:pt x="1293" y="849"/>
                    </a:lnTo>
                    <a:lnTo>
                      <a:pt x="1286" y="842"/>
                    </a:lnTo>
                    <a:lnTo>
                      <a:pt x="1281" y="817"/>
                    </a:lnTo>
                    <a:lnTo>
                      <a:pt x="1274" y="810"/>
                    </a:lnTo>
                    <a:lnTo>
                      <a:pt x="1270" y="774"/>
                    </a:lnTo>
                    <a:lnTo>
                      <a:pt x="1261" y="753"/>
                    </a:lnTo>
                    <a:lnTo>
                      <a:pt x="1243" y="732"/>
                    </a:lnTo>
                    <a:lnTo>
                      <a:pt x="1213" y="723"/>
                    </a:lnTo>
                    <a:lnTo>
                      <a:pt x="1190" y="704"/>
                    </a:lnTo>
                    <a:lnTo>
                      <a:pt x="1181" y="691"/>
                    </a:lnTo>
                    <a:lnTo>
                      <a:pt x="1166" y="674"/>
                    </a:lnTo>
                    <a:lnTo>
                      <a:pt x="1143" y="640"/>
                    </a:lnTo>
                    <a:lnTo>
                      <a:pt x="1121" y="644"/>
                    </a:lnTo>
                    <a:lnTo>
                      <a:pt x="1093" y="659"/>
                    </a:lnTo>
                    <a:lnTo>
                      <a:pt x="1081" y="673"/>
                    </a:lnTo>
                    <a:lnTo>
                      <a:pt x="1056" y="700"/>
                    </a:lnTo>
                    <a:lnTo>
                      <a:pt x="1040" y="728"/>
                    </a:lnTo>
                    <a:lnTo>
                      <a:pt x="1031" y="737"/>
                    </a:lnTo>
                    <a:lnTo>
                      <a:pt x="1040" y="769"/>
                    </a:lnTo>
                    <a:lnTo>
                      <a:pt x="1037" y="803"/>
                    </a:lnTo>
                    <a:lnTo>
                      <a:pt x="1017" y="824"/>
                    </a:lnTo>
                    <a:lnTo>
                      <a:pt x="1001" y="826"/>
                    </a:lnTo>
                    <a:lnTo>
                      <a:pt x="976" y="782"/>
                    </a:lnTo>
                    <a:lnTo>
                      <a:pt x="957" y="750"/>
                    </a:lnTo>
                    <a:lnTo>
                      <a:pt x="914" y="686"/>
                    </a:lnTo>
                    <a:lnTo>
                      <a:pt x="911" y="663"/>
                    </a:lnTo>
                    <a:lnTo>
                      <a:pt x="902" y="653"/>
                    </a:lnTo>
                    <a:lnTo>
                      <a:pt x="897" y="667"/>
                    </a:lnTo>
                    <a:lnTo>
                      <a:pt x="861" y="632"/>
                    </a:lnTo>
                    <a:lnTo>
                      <a:pt x="811" y="607"/>
                    </a:lnTo>
                    <a:lnTo>
                      <a:pt x="779" y="612"/>
                    </a:lnTo>
                    <a:lnTo>
                      <a:pt x="737" y="608"/>
                    </a:lnTo>
                    <a:lnTo>
                      <a:pt x="714" y="589"/>
                    </a:lnTo>
                    <a:lnTo>
                      <a:pt x="691" y="594"/>
                    </a:lnTo>
                    <a:lnTo>
                      <a:pt x="659" y="585"/>
                    </a:lnTo>
                    <a:lnTo>
                      <a:pt x="589" y="516"/>
                    </a:lnTo>
                    <a:lnTo>
                      <a:pt x="591" y="544"/>
                    </a:lnTo>
                    <a:lnTo>
                      <a:pt x="612" y="583"/>
                    </a:lnTo>
                    <a:lnTo>
                      <a:pt x="636" y="608"/>
                    </a:lnTo>
                    <a:lnTo>
                      <a:pt x="662" y="621"/>
                    </a:lnTo>
                    <a:lnTo>
                      <a:pt x="689" y="612"/>
                    </a:lnTo>
                    <a:lnTo>
                      <a:pt x="712" y="612"/>
                    </a:lnTo>
                    <a:lnTo>
                      <a:pt x="741" y="636"/>
                    </a:lnTo>
                    <a:lnTo>
                      <a:pt x="756" y="653"/>
                    </a:lnTo>
                    <a:lnTo>
                      <a:pt x="755" y="663"/>
                    </a:lnTo>
                    <a:lnTo>
                      <a:pt x="705" y="715"/>
                    </a:lnTo>
                    <a:lnTo>
                      <a:pt x="673" y="733"/>
                    </a:lnTo>
                    <a:lnTo>
                      <a:pt x="602" y="762"/>
                    </a:lnTo>
                    <a:lnTo>
                      <a:pt x="582" y="767"/>
                    </a:lnTo>
                    <a:lnTo>
                      <a:pt x="568" y="762"/>
                    </a:lnTo>
                    <a:lnTo>
                      <a:pt x="565" y="750"/>
                    </a:lnTo>
                    <a:lnTo>
                      <a:pt x="562" y="733"/>
                    </a:lnTo>
                    <a:lnTo>
                      <a:pt x="557" y="719"/>
                    </a:lnTo>
                    <a:lnTo>
                      <a:pt x="547" y="707"/>
                    </a:lnTo>
                    <a:lnTo>
                      <a:pt x="538" y="695"/>
                    </a:lnTo>
                    <a:lnTo>
                      <a:pt x="528" y="681"/>
                    </a:lnTo>
                    <a:lnTo>
                      <a:pt x="519" y="672"/>
                    </a:lnTo>
                    <a:lnTo>
                      <a:pt x="515" y="659"/>
                    </a:lnTo>
                    <a:lnTo>
                      <a:pt x="505" y="646"/>
                    </a:lnTo>
                    <a:lnTo>
                      <a:pt x="488" y="621"/>
                    </a:lnTo>
                    <a:lnTo>
                      <a:pt x="479" y="608"/>
                    </a:lnTo>
                    <a:lnTo>
                      <a:pt x="470" y="595"/>
                    </a:lnTo>
                    <a:lnTo>
                      <a:pt x="451" y="571"/>
                    </a:lnTo>
                    <a:lnTo>
                      <a:pt x="441" y="559"/>
                    </a:lnTo>
                    <a:lnTo>
                      <a:pt x="433" y="550"/>
                    </a:lnTo>
                    <a:lnTo>
                      <a:pt x="423" y="533"/>
                    </a:lnTo>
                    <a:lnTo>
                      <a:pt x="452" y="516"/>
                    </a:lnTo>
                    <a:lnTo>
                      <a:pt x="465" y="481"/>
                    </a:lnTo>
                    <a:lnTo>
                      <a:pt x="438" y="472"/>
                    </a:lnTo>
                    <a:lnTo>
                      <a:pt x="400" y="475"/>
                    </a:lnTo>
                    <a:lnTo>
                      <a:pt x="389" y="473"/>
                    </a:lnTo>
                    <a:lnTo>
                      <a:pt x="386" y="473"/>
                    </a:lnTo>
                    <a:lnTo>
                      <a:pt x="381" y="473"/>
                    </a:lnTo>
                    <a:lnTo>
                      <a:pt x="377" y="473"/>
                    </a:lnTo>
                    <a:lnTo>
                      <a:pt x="374" y="464"/>
                    </a:lnTo>
                    <a:lnTo>
                      <a:pt x="373" y="459"/>
                    </a:lnTo>
                    <a:lnTo>
                      <a:pt x="373" y="449"/>
                    </a:lnTo>
                    <a:lnTo>
                      <a:pt x="364" y="444"/>
                    </a:lnTo>
                    <a:lnTo>
                      <a:pt x="364" y="436"/>
                    </a:lnTo>
                    <a:lnTo>
                      <a:pt x="359" y="435"/>
                    </a:lnTo>
                    <a:lnTo>
                      <a:pt x="355" y="428"/>
                    </a:lnTo>
                    <a:lnTo>
                      <a:pt x="354" y="423"/>
                    </a:lnTo>
                    <a:lnTo>
                      <a:pt x="351" y="418"/>
                    </a:lnTo>
                    <a:lnTo>
                      <a:pt x="348" y="414"/>
                    </a:lnTo>
                    <a:lnTo>
                      <a:pt x="341" y="414"/>
                    </a:lnTo>
                    <a:lnTo>
                      <a:pt x="332" y="414"/>
                    </a:lnTo>
                    <a:lnTo>
                      <a:pt x="331" y="414"/>
                    </a:lnTo>
                    <a:lnTo>
                      <a:pt x="328" y="421"/>
                    </a:lnTo>
                    <a:lnTo>
                      <a:pt x="328" y="428"/>
                    </a:lnTo>
                    <a:lnTo>
                      <a:pt x="328" y="436"/>
                    </a:lnTo>
                    <a:lnTo>
                      <a:pt x="328" y="445"/>
                    </a:lnTo>
                    <a:lnTo>
                      <a:pt x="328" y="451"/>
                    </a:lnTo>
                    <a:lnTo>
                      <a:pt x="323" y="454"/>
                    </a:lnTo>
                    <a:lnTo>
                      <a:pt x="318" y="459"/>
                    </a:lnTo>
                    <a:lnTo>
                      <a:pt x="311" y="451"/>
                    </a:lnTo>
                    <a:lnTo>
                      <a:pt x="304" y="440"/>
                    </a:lnTo>
                    <a:lnTo>
                      <a:pt x="304" y="427"/>
                    </a:lnTo>
                    <a:lnTo>
                      <a:pt x="297" y="409"/>
                    </a:lnTo>
                    <a:lnTo>
                      <a:pt x="291" y="398"/>
                    </a:lnTo>
                    <a:lnTo>
                      <a:pt x="282" y="391"/>
                    </a:lnTo>
                    <a:lnTo>
                      <a:pt x="272" y="385"/>
                    </a:lnTo>
                    <a:lnTo>
                      <a:pt x="266" y="375"/>
                    </a:lnTo>
                    <a:lnTo>
                      <a:pt x="261" y="367"/>
                    </a:lnTo>
                    <a:lnTo>
                      <a:pt x="254" y="366"/>
                    </a:lnTo>
                    <a:lnTo>
                      <a:pt x="251" y="363"/>
                    </a:lnTo>
                    <a:lnTo>
                      <a:pt x="242" y="363"/>
                    </a:lnTo>
                    <a:lnTo>
                      <a:pt x="236" y="368"/>
                    </a:lnTo>
                    <a:lnTo>
                      <a:pt x="231" y="375"/>
                    </a:lnTo>
                    <a:lnTo>
                      <a:pt x="243" y="382"/>
                    </a:lnTo>
                    <a:lnTo>
                      <a:pt x="252" y="391"/>
                    </a:lnTo>
                    <a:lnTo>
                      <a:pt x="263" y="403"/>
                    </a:lnTo>
                    <a:lnTo>
                      <a:pt x="268" y="409"/>
                    </a:lnTo>
                    <a:lnTo>
                      <a:pt x="279" y="414"/>
                    </a:lnTo>
                    <a:lnTo>
                      <a:pt x="286" y="423"/>
                    </a:lnTo>
                    <a:lnTo>
                      <a:pt x="279" y="432"/>
                    </a:lnTo>
                    <a:lnTo>
                      <a:pt x="274" y="428"/>
                    </a:lnTo>
                    <a:lnTo>
                      <a:pt x="274" y="423"/>
                    </a:lnTo>
                    <a:lnTo>
                      <a:pt x="272" y="436"/>
                    </a:lnTo>
                    <a:lnTo>
                      <a:pt x="270" y="446"/>
                    </a:lnTo>
                    <a:lnTo>
                      <a:pt x="261" y="450"/>
                    </a:lnTo>
                    <a:lnTo>
                      <a:pt x="265" y="436"/>
                    </a:lnTo>
                    <a:lnTo>
                      <a:pt x="263" y="428"/>
                    </a:lnTo>
                    <a:lnTo>
                      <a:pt x="256" y="423"/>
                    </a:lnTo>
                    <a:lnTo>
                      <a:pt x="251" y="421"/>
                    </a:lnTo>
                    <a:lnTo>
                      <a:pt x="245" y="417"/>
                    </a:lnTo>
                    <a:lnTo>
                      <a:pt x="236" y="413"/>
                    </a:lnTo>
                    <a:lnTo>
                      <a:pt x="231" y="405"/>
                    </a:lnTo>
                    <a:lnTo>
                      <a:pt x="225" y="400"/>
                    </a:lnTo>
                    <a:lnTo>
                      <a:pt x="219" y="395"/>
                    </a:lnTo>
                    <a:lnTo>
                      <a:pt x="213" y="389"/>
                    </a:lnTo>
                    <a:lnTo>
                      <a:pt x="213" y="381"/>
                    </a:lnTo>
                    <a:lnTo>
                      <a:pt x="208" y="380"/>
                    </a:lnTo>
                    <a:lnTo>
                      <a:pt x="201" y="372"/>
                    </a:lnTo>
                    <a:lnTo>
                      <a:pt x="192" y="372"/>
                    </a:lnTo>
                    <a:lnTo>
                      <a:pt x="179" y="375"/>
                    </a:lnTo>
                    <a:lnTo>
                      <a:pt x="170" y="372"/>
                    </a:lnTo>
                    <a:lnTo>
                      <a:pt x="150" y="375"/>
                    </a:lnTo>
                    <a:lnTo>
                      <a:pt x="137" y="376"/>
                    </a:lnTo>
                    <a:lnTo>
                      <a:pt x="132" y="380"/>
                    </a:lnTo>
                    <a:lnTo>
                      <a:pt x="132" y="389"/>
                    </a:lnTo>
                    <a:lnTo>
                      <a:pt x="132" y="398"/>
                    </a:lnTo>
                    <a:lnTo>
                      <a:pt x="123" y="405"/>
                    </a:lnTo>
                    <a:lnTo>
                      <a:pt x="118" y="412"/>
                    </a:lnTo>
                    <a:lnTo>
                      <a:pt x="114" y="414"/>
                    </a:lnTo>
                    <a:lnTo>
                      <a:pt x="109" y="421"/>
                    </a:lnTo>
                    <a:lnTo>
                      <a:pt x="106" y="427"/>
                    </a:lnTo>
                    <a:lnTo>
                      <a:pt x="113" y="431"/>
                    </a:lnTo>
                    <a:lnTo>
                      <a:pt x="113" y="440"/>
                    </a:lnTo>
                    <a:lnTo>
                      <a:pt x="109" y="444"/>
                    </a:lnTo>
                    <a:lnTo>
                      <a:pt x="106" y="450"/>
                    </a:lnTo>
                    <a:lnTo>
                      <a:pt x="101" y="459"/>
                    </a:lnTo>
                    <a:lnTo>
                      <a:pt x="95" y="455"/>
                    </a:lnTo>
                    <a:lnTo>
                      <a:pt x="91" y="458"/>
                    </a:lnTo>
                    <a:lnTo>
                      <a:pt x="87" y="460"/>
                    </a:lnTo>
                    <a:lnTo>
                      <a:pt x="78" y="463"/>
                    </a:lnTo>
                    <a:lnTo>
                      <a:pt x="69" y="472"/>
                    </a:lnTo>
                    <a:lnTo>
                      <a:pt x="60" y="473"/>
                    </a:lnTo>
                    <a:lnTo>
                      <a:pt x="53" y="473"/>
                    </a:lnTo>
                    <a:lnTo>
                      <a:pt x="45" y="473"/>
                    </a:lnTo>
                    <a:lnTo>
                      <a:pt x="27" y="475"/>
                    </a:lnTo>
                    <a:lnTo>
                      <a:pt x="18" y="475"/>
                    </a:lnTo>
                    <a:lnTo>
                      <a:pt x="13" y="464"/>
                    </a:lnTo>
                    <a:lnTo>
                      <a:pt x="12" y="454"/>
                    </a:lnTo>
                    <a:lnTo>
                      <a:pt x="8" y="444"/>
                    </a:lnTo>
                    <a:lnTo>
                      <a:pt x="8" y="431"/>
                    </a:lnTo>
                    <a:lnTo>
                      <a:pt x="8" y="418"/>
                    </a:lnTo>
                    <a:lnTo>
                      <a:pt x="0" y="400"/>
                    </a:lnTo>
                    <a:close/>
                  </a:path>
                </a:pathLst>
              </a:custGeom>
              <a:solidFill>
                <a:schemeClr val="accent2"/>
              </a:solidFill>
              <a:ln w="9525">
                <a:noFill/>
                <a:round/>
                <a:headEnd/>
                <a:tailEnd/>
              </a:ln>
            </p:spPr>
            <p:txBody>
              <a:bodyPr/>
              <a:lstStyle/>
              <a:p>
                <a:endParaRPr lang="zh-CN" altLang="en-US"/>
              </a:p>
            </p:txBody>
          </p:sp>
          <p:sp>
            <p:nvSpPr>
              <p:cNvPr id="14360" name="Freeform 34"/>
              <p:cNvSpPr>
                <a:spLocks/>
              </p:cNvSpPr>
              <p:nvPr/>
            </p:nvSpPr>
            <p:spPr bwMode="auto">
              <a:xfrm>
                <a:off x="2466" y="1700"/>
                <a:ext cx="300" cy="258"/>
              </a:xfrm>
              <a:custGeom>
                <a:avLst/>
                <a:gdLst>
                  <a:gd name="T0" fmla="*/ 71 w 902"/>
                  <a:gd name="T1" fmla="*/ 146 h 773"/>
                  <a:gd name="T2" fmla="*/ 57 w 902"/>
                  <a:gd name="T3" fmla="*/ 101 h 773"/>
                  <a:gd name="T4" fmla="*/ 127 w 902"/>
                  <a:gd name="T5" fmla="*/ 65 h 773"/>
                  <a:gd name="T6" fmla="*/ 159 w 902"/>
                  <a:gd name="T7" fmla="*/ 38 h 773"/>
                  <a:gd name="T8" fmla="*/ 217 w 902"/>
                  <a:gd name="T9" fmla="*/ 32 h 773"/>
                  <a:gd name="T10" fmla="*/ 387 w 902"/>
                  <a:gd name="T11" fmla="*/ 33 h 773"/>
                  <a:gd name="T12" fmla="*/ 476 w 902"/>
                  <a:gd name="T13" fmla="*/ 46 h 773"/>
                  <a:gd name="T14" fmla="*/ 441 w 902"/>
                  <a:gd name="T15" fmla="*/ 46 h 773"/>
                  <a:gd name="T16" fmla="*/ 418 w 902"/>
                  <a:gd name="T17" fmla="*/ 1 h 773"/>
                  <a:gd name="T18" fmla="*/ 464 w 902"/>
                  <a:gd name="T19" fmla="*/ 0 h 773"/>
                  <a:gd name="T20" fmla="*/ 496 w 902"/>
                  <a:gd name="T21" fmla="*/ 22 h 773"/>
                  <a:gd name="T22" fmla="*/ 549 w 902"/>
                  <a:gd name="T23" fmla="*/ 54 h 773"/>
                  <a:gd name="T24" fmla="*/ 537 w 902"/>
                  <a:gd name="T25" fmla="*/ 15 h 773"/>
                  <a:gd name="T26" fmla="*/ 633 w 902"/>
                  <a:gd name="T27" fmla="*/ 51 h 773"/>
                  <a:gd name="T28" fmla="*/ 633 w 902"/>
                  <a:gd name="T29" fmla="*/ 64 h 773"/>
                  <a:gd name="T30" fmla="*/ 606 w 902"/>
                  <a:gd name="T31" fmla="*/ 97 h 773"/>
                  <a:gd name="T32" fmla="*/ 583 w 902"/>
                  <a:gd name="T33" fmla="*/ 156 h 773"/>
                  <a:gd name="T34" fmla="*/ 670 w 902"/>
                  <a:gd name="T35" fmla="*/ 186 h 773"/>
                  <a:gd name="T36" fmla="*/ 672 w 902"/>
                  <a:gd name="T37" fmla="*/ 240 h 773"/>
                  <a:gd name="T38" fmla="*/ 684 w 902"/>
                  <a:gd name="T39" fmla="*/ 199 h 773"/>
                  <a:gd name="T40" fmla="*/ 684 w 902"/>
                  <a:gd name="T41" fmla="*/ 125 h 773"/>
                  <a:gd name="T42" fmla="*/ 748 w 902"/>
                  <a:gd name="T43" fmla="*/ 147 h 773"/>
                  <a:gd name="T44" fmla="*/ 787 w 902"/>
                  <a:gd name="T45" fmla="*/ 125 h 773"/>
                  <a:gd name="T46" fmla="*/ 856 w 902"/>
                  <a:gd name="T47" fmla="*/ 179 h 773"/>
                  <a:gd name="T48" fmla="*/ 902 w 902"/>
                  <a:gd name="T49" fmla="*/ 222 h 773"/>
                  <a:gd name="T50" fmla="*/ 864 w 902"/>
                  <a:gd name="T51" fmla="*/ 241 h 773"/>
                  <a:gd name="T52" fmla="*/ 800 w 902"/>
                  <a:gd name="T53" fmla="*/ 257 h 773"/>
                  <a:gd name="T54" fmla="*/ 845 w 902"/>
                  <a:gd name="T55" fmla="*/ 268 h 773"/>
                  <a:gd name="T56" fmla="*/ 864 w 902"/>
                  <a:gd name="T57" fmla="*/ 309 h 773"/>
                  <a:gd name="T58" fmla="*/ 848 w 902"/>
                  <a:gd name="T59" fmla="*/ 313 h 773"/>
                  <a:gd name="T60" fmla="*/ 823 w 902"/>
                  <a:gd name="T61" fmla="*/ 328 h 773"/>
                  <a:gd name="T62" fmla="*/ 779 w 902"/>
                  <a:gd name="T63" fmla="*/ 365 h 773"/>
                  <a:gd name="T64" fmla="*/ 775 w 902"/>
                  <a:gd name="T65" fmla="*/ 420 h 773"/>
                  <a:gd name="T66" fmla="*/ 733 w 902"/>
                  <a:gd name="T67" fmla="*/ 498 h 773"/>
                  <a:gd name="T68" fmla="*/ 743 w 902"/>
                  <a:gd name="T69" fmla="*/ 569 h 773"/>
                  <a:gd name="T70" fmla="*/ 716 w 902"/>
                  <a:gd name="T71" fmla="*/ 521 h 773"/>
                  <a:gd name="T72" fmla="*/ 675 w 902"/>
                  <a:gd name="T73" fmla="*/ 502 h 773"/>
                  <a:gd name="T74" fmla="*/ 638 w 902"/>
                  <a:gd name="T75" fmla="*/ 516 h 773"/>
                  <a:gd name="T76" fmla="*/ 577 w 902"/>
                  <a:gd name="T77" fmla="*/ 521 h 773"/>
                  <a:gd name="T78" fmla="*/ 545 w 902"/>
                  <a:gd name="T79" fmla="*/ 574 h 773"/>
                  <a:gd name="T80" fmla="*/ 614 w 902"/>
                  <a:gd name="T81" fmla="*/ 643 h 773"/>
                  <a:gd name="T82" fmla="*/ 625 w 902"/>
                  <a:gd name="T83" fmla="*/ 606 h 773"/>
                  <a:gd name="T84" fmla="*/ 666 w 902"/>
                  <a:gd name="T85" fmla="*/ 633 h 773"/>
                  <a:gd name="T86" fmla="*/ 688 w 902"/>
                  <a:gd name="T87" fmla="*/ 674 h 773"/>
                  <a:gd name="T88" fmla="*/ 707 w 902"/>
                  <a:gd name="T89" fmla="*/ 709 h 773"/>
                  <a:gd name="T90" fmla="*/ 748 w 902"/>
                  <a:gd name="T91" fmla="*/ 760 h 773"/>
                  <a:gd name="T92" fmla="*/ 810 w 902"/>
                  <a:gd name="T93" fmla="*/ 760 h 773"/>
                  <a:gd name="T94" fmla="*/ 773 w 902"/>
                  <a:gd name="T95" fmla="*/ 768 h 773"/>
                  <a:gd name="T96" fmla="*/ 701 w 902"/>
                  <a:gd name="T97" fmla="*/ 759 h 773"/>
                  <a:gd name="T98" fmla="*/ 649 w 902"/>
                  <a:gd name="T99" fmla="*/ 711 h 773"/>
                  <a:gd name="T100" fmla="*/ 610 w 902"/>
                  <a:gd name="T101" fmla="*/ 691 h 773"/>
                  <a:gd name="T102" fmla="*/ 550 w 902"/>
                  <a:gd name="T103" fmla="*/ 670 h 773"/>
                  <a:gd name="T104" fmla="*/ 444 w 902"/>
                  <a:gd name="T105" fmla="*/ 593 h 773"/>
                  <a:gd name="T106" fmla="*/ 358 w 902"/>
                  <a:gd name="T107" fmla="*/ 484 h 773"/>
                  <a:gd name="T108" fmla="*/ 387 w 902"/>
                  <a:gd name="T109" fmla="*/ 583 h 773"/>
                  <a:gd name="T110" fmla="*/ 329 w 902"/>
                  <a:gd name="T111" fmla="*/ 514 h 773"/>
                  <a:gd name="T112" fmla="*/ 280 w 902"/>
                  <a:gd name="T113" fmla="*/ 382 h 773"/>
                  <a:gd name="T114" fmla="*/ 286 w 902"/>
                  <a:gd name="T115" fmla="*/ 282 h 773"/>
                  <a:gd name="T116" fmla="*/ 268 w 902"/>
                  <a:gd name="T117" fmla="*/ 207 h 773"/>
                  <a:gd name="T118" fmla="*/ 251 w 902"/>
                  <a:gd name="T119" fmla="*/ 163 h 773"/>
                  <a:gd name="T120" fmla="*/ 218 w 902"/>
                  <a:gd name="T121" fmla="*/ 137 h 773"/>
                  <a:gd name="T122" fmla="*/ 144 w 902"/>
                  <a:gd name="T123" fmla="*/ 146 h 773"/>
                  <a:gd name="T124" fmla="*/ 87 w 902"/>
                  <a:gd name="T125" fmla="*/ 172 h 77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902"/>
                  <a:gd name="T190" fmla="*/ 0 h 773"/>
                  <a:gd name="T191" fmla="*/ 902 w 902"/>
                  <a:gd name="T192" fmla="*/ 773 h 773"/>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902" h="773">
                    <a:moveTo>
                      <a:pt x="0" y="199"/>
                    </a:moveTo>
                    <a:lnTo>
                      <a:pt x="42" y="172"/>
                    </a:lnTo>
                    <a:lnTo>
                      <a:pt x="67" y="161"/>
                    </a:lnTo>
                    <a:lnTo>
                      <a:pt x="71" y="146"/>
                    </a:lnTo>
                    <a:lnTo>
                      <a:pt x="51" y="134"/>
                    </a:lnTo>
                    <a:lnTo>
                      <a:pt x="49" y="115"/>
                    </a:lnTo>
                    <a:lnTo>
                      <a:pt x="58" y="111"/>
                    </a:lnTo>
                    <a:lnTo>
                      <a:pt x="57" y="101"/>
                    </a:lnTo>
                    <a:lnTo>
                      <a:pt x="89" y="97"/>
                    </a:lnTo>
                    <a:lnTo>
                      <a:pt x="99" y="84"/>
                    </a:lnTo>
                    <a:lnTo>
                      <a:pt x="101" y="69"/>
                    </a:lnTo>
                    <a:lnTo>
                      <a:pt x="127" y="65"/>
                    </a:lnTo>
                    <a:lnTo>
                      <a:pt x="131" y="54"/>
                    </a:lnTo>
                    <a:lnTo>
                      <a:pt x="103" y="46"/>
                    </a:lnTo>
                    <a:lnTo>
                      <a:pt x="117" y="38"/>
                    </a:lnTo>
                    <a:lnTo>
                      <a:pt x="159" y="38"/>
                    </a:lnTo>
                    <a:lnTo>
                      <a:pt x="172" y="27"/>
                    </a:lnTo>
                    <a:lnTo>
                      <a:pt x="191" y="24"/>
                    </a:lnTo>
                    <a:lnTo>
                      <a:pt x="203" y="15"/>
                    </a:lnTo>
                    <a:lnTo>
                      <a:pt x="217" y="32"/>
                    </a:lnTo>
                    <a:lnTo>
                      <a:pt x="268" y="31"/>
                    </a:lnTo>
                    <a:lnTo>
                      <a:pt x="295" y="46"/>
                    </a:lnTo>
                    <a:lnTo>
                      <a:pt x="376" y="41"/>
                    </a:lnTo>
                    <a:lnTo>
                      <a:pt x="387" y="33"/>
                    </a:lnTo>
                    <a:lnTo>
                      <a:pt x="418" y="46"/>
                    </a:lnTo>
                    <a:lnTo>
                      <a:pt x="450" y="60"/>
                    </a:lnTo>
                    <a:lnTo>
                      <a:pt x="467" y="55"/>
                    </a:lnTo>
                    <a:lnTo>
                      <a:pt x="476" y="46"/>
                    </a:lnTo>
                    <a:lnTo>
                      <a:pt x="502" y="54"/>
                    </a:lnTo>
                    <a:lnTo>
                      <a:pt x="485" y="41"/>
                    </a:lnTo>
                    <a:lnTo>
                      <a:pt x="468" y="42"/>
                    </a:lnTo>
                    <a:lnTo>
                      <a:pt x="441" y="46"/>
                    </a:lnTo>
                    <a:lnTo>
                      <a:pt x="431" y="32"/>
                    </a:lnTo>
                    <a:lnTo>
                      <a:pt x="417" y="24"/>
                    </a:lnTo>
                    <a:lnTo>
                      <a:pt x="417" y="13"/>
                    </a:lnTo>
                    <a:lnTo>
                      <a:pt x="418" y="1"/>
                    </a:lnTo>
                    <a:lnTo>
                      <a:pt x="433" y="0"/>
                    </a:lnTo>
                    <a:lnTo>
                      <a:pt x="447" y="10"/>
                    </a:lnTo>
                    <a:lnTo>
                      <a:pt x="450" y="4"/>
                    </a:lnTo>
                    <a:lnTo>
                      <a:pt x="464" y="0"/>
                    </a:lnTo>
                    <a:lnTo>
                      <a:pt x="479" y="8"/>
                    </a:lnTo>
                    <a:lnTo>
                      <a:pt x="487" y="1"/>
                    </a:lnTo>
                    <a:lnTo>
                      <a:pt x="495" y="10"/>
                    </a:lnTo>
                    <a:lnTo>
                      <a:pt x="496" y="22"/>
                    </a:lnTo>
                    <a:lnTo>
                      <a:pt x="519" y="31"/>
                    </a:lnTo>
                    <a:lnTo>
                      <a:pt x="509" y="38"/>
                    </a:lnTo>
                    <a:lnTo>
                      <a:pt x="509" y="50"/>
                    </a:lnTo>
                    <a:lnTo>
                      <a:pt x="549" y="54"/>
                    </a:lnTo>
                    <a:lnTo>
                      <a:pt x="559" y="38"/>
                    </a:lnTo>
                    <a:lnTo>
                      <a:pt x="551" y="31"/>
                    </a:lnTo>
                    <a:lnTo>
                      <a:pt x="533" y="32"/>
                    </a:lnTo>
                    <a:lnTo>
                      <a:pt x="537" y="15"/>
                    </a:lnTo>
                    <a:lnTo>
                      <a:pt x="572" y="24"/>
                    </a:lnTo>
                    <a:lnTo>
                      <a:pt x="579" y="37"/>
                    </a:lnTo>
                    <a:lnTo>
                      <a:pt x="609" y="37"/>
                    </a:lnTo>
                    <a:lnTo>
                      <a:pt x="633" y="51"/>
                    </a:lnTo>
                    <a:lnTo>
                      <a:pt x="647" y="46"/>
                    </a:lnTo>
                    <a:lnTo>
                      <a:pt x="661" y="60"/>
                    </a:lnTo>
                    <a:lnTo>
                      <a:pt x="647" y="74"/>
                    </a:lnTo>
                    <a:lnTo>
                      <a:pt x="633" y="64"/>
                    </a:lnTo>
                    <a:lnTo>
                      <a:pt x="625" y="68"/>
                    </a:lnTo>
                    <a:lnTo>
                      <a:pt x="614" y="77"/>
                    </a:lnTo>
                    <a:lnTo>
                      <a:pt x="596" y="87"/>
                    </a:lnTo>
                    <a:lnTo>
                      <a:pt x="606" y="97"/>
                    </a:lnTo>
                    <a:lnTo>
                      <a:pt x="588" y="100"/>
                    </a:lnTo>
                    <a:lnTo>
                      <a:pt x="577" y="116"/>
                    </a:lnTo>
                    <a:lnTo>
                      <a:pt x="560" y="137"/>
                    </a:lnTo>
                    <a:lnTo>
                      <a:pt x="583" y="156"/>
                    </a:lnTo>
                    <a:lnTo>
                      <a:pt x="597" y="177"/>
                    </a:lnTo>
                    <a:lnTo>
                      <a:pt x="629" y="181"/>
                    </a:lnTo>
                    <a:lnTo>
                      <a:pt x="658" y="177"/>
                    </a:lnTo>
                    <a:lnTo>
                      <a:pt x="670" y="186"/>
                    </a:lnTo>
                    <a:lnTo>
                      <a:pt x="661" y="193"/>
                    </a:lnTo>
                    <a:lnTo>
                      <a:pt x="656" y="204"/>
                    </a:lnTo>
                    <a:lnTo>
                      <a:pt x="669" y="222"/>
                    </a:lnTo>
                    <a:lnTo>
                      <a:pt x="672" y="240"/>
                    </a:lnTo>
                    <a:lnTo>
                      <a:pt x="688" y="245"/>
                    </a:lnTo>
                    <a:lnTo>
                      <a:pt x="710" y="231"/>
                    </a:lnTo>
                    <a:lnTo>
                      <a:pt x="704" y="213"/>
                    </a:lnTo>
                    <a:lnTo>
                      <a:pt x="684" y="199"/>
                    </a:lnTo>
                    <a:lnTo>
                      <a:pt x="706" y="181"/>
                    </a:lnTo>
                    <a:lnTo>
                      <a:pt x="688" y="149"/>
                    </a:lnTo>
                    <a:lnTo>
                      <a:pt x="672" y="137"/>
                    </a:lnTo>
                    <a:lnTo>
                      <a:pt x="684" y="125"/>
                    </a:lnTo>
                    <a:lnTo>
                      <a:pt x="681" y="111"/>
                    </a:lnTo>
                    <a:lnTo>
                      <a:pt x="692" y="100"/>
                    </a:lnTo>
                    <a:lnTo>
                      <a:pt x="710" y="111"/>
                    </a:lnTo>
                    <a:lnTo>
                      <a:pt x="748" y="147"/>
                    </a:lnTo>
                    <a:lnTo>
                      <a:pt x="772" y="151"/>
                    </a:lnTo>
                    <a:lnTo>
                      <a:pt x="777" y="143"/>
                    </a:lnTo>
                    <a:lnTo>
                      <a:pt x="772" y="123"/>
                    </a:lnTo>
                    <a:lnTo>
                      <a:pt x="787" y="125"/>
                    </a:lnTo>
                    <a:lnTo>
                      <a:pt x="809" y="149"/>
                    </a:lnTo>
                    <a:lnTo>
                      <a:pt x="813" y="160"/>
                    </a:lnTo>
                    <a:lnTo>
                      <a:pt x="828" y="166"/>
                    </a:lnTo>
                    <a:lnTo>
                      <a:pt x="856" y="179"/>
                    </a:lnTo>
                    <a:lnTo>
                      <a:pt x="869" y="195"/>
                    </a:lnTo>
                    <a:lnTo>
                      <a:pt x="891" y="207"/>
                    </a:lnTo>
                    <a:lnTo>
                      <a:pt x="901" y="213"/>
                    </a:lnTo>
                    <a:lnTo>
                      <a:pt x="902" y="222"/>
                    </a:lnTo>
                    <a:lnTo>
                      <a:pt x="887" y="229"/>
                    </a:lnTo>
                    <a:lnTo>
                      <a:pt x="878" y="222"/>
                    </a:lnTo>
                    <a:lnTo>
                      <a:pt x="868" y="222"/>
                    </a:lnTo>
                    <a:lnTo>
                      <a:pt x="864" y="241"/>
                    </a:lnTo>
                    <a:lnTo>
                      <a:pt x="851" y="245"/>
                    </a:lnTo>
                    <a:lnTo>
                      <a:pt x="837" y="236"/>
                    </a:lnTo>
                    <a:lnTo>
                      <a:pt x="805" y="236"/>
                    </a:lnTo>
                    <a:lnTo>
                      <a:pt x="800" y="257"/>
                    </a:lnTo>
                    <a:lnTo>
                      <a:pt x="809" y="269"/>
                    </a:lnTo>
                    <a:lnTo>
                      <a:pt x="823" y="261"/>
                    </a:lnTo>
                    <a:lnTo>
                      <a:pt x="833" y="257"/>
                    </a:lnTo>
                    <a:lnTo>
                      <a:pt x="845" y="268"/>
                    </a:lnTo>
                    <a:lnTo>
                      <a:pt x="828" y="281"/>
                    </a:lnTo>
                    <a:lnTo>
                      <a:pt x="845" y="295"/>
                    </a:lnTo>
                    <a:lnTo>
                      <a:pt x="868" y="300"/>
                    </a:lnTo>
                    <a:lnTo>
                      <a:pt x="864" y="309"/>
                    </a:lnTo>
                    <a:lnTo>
                      <a:pt x="859" y="310"/>
                    </a:lnTo>
                    <a:lnTo>
                      <a:pt x="837" y="356"/>
                    </a:lnTo>
                    <a:lnTo>
                      <a:pt x="837" y="327"/>
                    </a:lnTo>
                    <a:lnTo>
                      <a:pt x="848" y="313"/>
                    </a:lnTo>
                    <a:lnTo>
                      <a:pt x="837" y="304"/>
                    </a:lnTo>
                    <a:lnTo>
                      <a:pt x="825" y="313"/>
                    </a:lnTo>
                    <a:lnTo>
                      <a:pt x="832" y="322"/>
                    </a:lnTo>
                    <a:lnTo>
                      <a:pt x="823" y="328"/>
                    </a:lnTo>
                    <a:lnTo>
                      <a:pt x="810" y="336"/>
                    </a:lnTo>
                    <a:lnTo>
                      <a:pt x="813" y="352"/>
                    </a:lnTo>
                    <a:lnTo>
                      <a:pt x="800" y="361"/>
                    </a:lnTo>
                    <a:lnTo>
                      <a:pt x="779" y="365"/>
                    </a:lnTo>
                    <a:lnTo>
                      <a:pt x="787" y="375"/>
                    </a:lnTo>
                    <a:lnTo>
                      <a:pt x="779" y="388"/>
                    </a:lnTo>
                    <a:lnTo>
                      <a:pt x="787" y="398"/>
                    </a:lnTo>
                    <a:lnTo>
                      <a:pt x="775" y="420"/>
                    </a:lnTo>
                    <a:lnTo>
                      <a:pt x="772" y="438"/>
                    </a:lnTo>
                    <a:lnTo>
                      <a:pt x="754" y="451"/>
                    </a:lnTo>
                    <a:lnTo>
                      <a:pt x="733" y="480"/>
                    </a:lnTo>
                    <a:lnTo>
                      <a:pt x="733" y="498"/>
                    </a:lnTo>
                    <a:lnTo>
                      <a:pt x="738" y="518"/>
                    </a:lnTo>
                    <a:lnTo>
                      <a:pt x="748" y="541"/>
                    </a:lnTo>
                    <a:lnTo>
                      <a:pt x="752" y="560"/>
                    </a:lnTo>
                    <a:lnTo>
                      <a:pt x="743" y="569"/>
                    </a:lnTo>
                    <a:lnTo>
                      <a:pt x="733" y="564"/>
                    </a:lnTo>
                    <a:lnTo>
                      <a:pt x="733" y="554"/>
                    </a:lnTo>
                    <a:lnTo>
                      <a:pt x="727" y="527"/>
                    </a:lnTo>
                    <a:lnTo>
                      <a:pt x="716" y="521"/>
                    </a:lnTo>
                    <a:lnTo>
                      <a:pt x="713" y="509"/>
                    </a:lnTo>
                    <a:lnTo>
                      <a:pt x="702" y="509"/>
                    </a:lnTo>
                    <a:lnTo>
                      <a:pt x="688" y="498"/>
                    </a:lnTo>
                    <a:lnTo>
                      <a:pt x="675" y="502"/>
                    </a:lnTo>
                    <a:lnTo>
                      <a:pt x="661" y="495"/>
                    </a:lnTo>
                    <a:lnTo>
                      <a:pt x="647" y="502"/>
                    </a:lnTo>
                    <a:lnTo>
                      <a:pt x="620" y="497"/>
                    </a:lnTo>
                    <a:lnTo>
                      <a:pt x="638" y="516"/>
                    </a:lnTo>
                    <a:lnTo>
                      <a:pt x="614" y="514"/>
                    </a:lnTo>
                    <a:lnTo>
                      <a:pt x="597" y="498"/>
                    </a:lnTo>
                    <a:lnTo>
                      <a:pt x="569" y="498"/>
                    </a:lnTo>
                    <a:lnTo>
                      <a:pt x="577" y="521"/>
                    </a:lnTo>
                    <a:lnTo>
                      <a:pt x="554" y="516"/>
                    </a:lnTo>
                    <a:lnTo>
                      <a:pt x="545" y="541"/>
                    </a:lnTo>
                    <a:lnTo>
                      <a:pt x="551" y="550"/>
                    </a:lnTo>
                    <a:lnTo>
                      <a:pt x="545" y="574"/>
                    </a:lnTo>
                    <a:lnTo>
                      <a:pt x="554" y="606"/>
                    </a:lnTo>
                    <a:lnTo>
                      <a:pt x="564" y="625"/>
                    </a:lnTo>
                    <a:lnTo>
                      <a:pt x="577" y="645"/>
                    </a:lnTo>
                    <a:lnTo>
                      <a:pt x="614" y="643"/>
                    </a:lnTo>
                    <a:lnTo>
                      <a:pt x="629" y="642"/>
                    </a:lnTo>
                    <a:lnTo>
                      <a:pt x="633" y="625"/>
                    </a:lnTo>
                    <a:lnTo>
                      <a:pt x="624" y="615"/>
                    </a:lnTo>
                    <a:lnTo>
                      <a:pt x="625" y="606"/>
                    </a:lnTo>
                    <a:lnTo>
                      <a:pt x="649" y="607"/>
                    </a:lnTo>
                    <a:lnTo>
                      <a:pt x="674" y="605"/>
                    </a:lnTo>
                    <a:lnTo>
                      <a:pt x="674" y="615"/>
                    </a:lnTo>
                    <a:lnTo>
                      <a:pt x="666" y="633"/>
                    </a:lnTo>
                    <a:lnTo>
                      <a:pt x="656" y="647"/>
                    </a:lnTo>
                    <a:lnTo>
                      <a:pt x="652" y="666"/>
                    </a:lnTo>
                    <a:lnTo>
                      <a:pt x="669" y="675"/>
                    </a:lnTo>
                    <a:lnTo>
                      <a:pt x="688" y="674"/>
                    </a:lnTo>
                    <a:lnTo>
                      <a:pt x="702" y="677"/>
                    </a:lnTo>
                    <a:lnTo>
                      <a:pt x="713" y="677"/>
                    </a:lnTo>
                    <a:lnTo>
                      <a:pt x="716" y="688"/>
                    </a:lnTo>
                    <a:lnTo>
                      <a:pt x="707" y="709"/>
                    </a:lnTo>
                    <a:lnTo>
                      <a:pt x="715" y="718"/>
                    </a:lnTo>
                    <a:lnTo>
                      <a:pt x="716" y="741"/>
                    </a:lnTo>
                    <a:lnTo>
                      <a:pt x="733" y="757"/>
                    </a:lnTo>
                    <a:lnTo>
                      <a:pt x="748" y="760"/>
                    </a:lnTo>
                    <a:lnTo>
                      <a:pt x="763" y="757"/>
                    </a:lnTo>
                    <a:lnTo>
                      <a:pt x="768" y="759"/>
                    </a:lnTo>
                    <a:lnTo>
                      <a:pt x="791" y="759"/>
                    </a:lnTo>
                    <a:lnTo>
                      <a:pt x="810" y="760"/>
                    </a:lnTo>
                    <a:lnTo>
                      <a:pt x="818" y="750"/>
                    </a:lnTo>
                    <a:lnTo>
                      <a:pt x="800" y="768"/>
                    </a:lnTo>
                    <a:lnTo>
                      <a:pt x="787" y="766"/>
                    </a:lnTo>
                    <a:lnTo>
                      <a:pt x="773" y="768"/>
                    </a:lnTo>
                    <a:lnTo>
                      <a:pt x="748" y="773"/>
                    </a:lnTo>
                    <a:lnTo>
                      <a:pt x="729" y="764"/>
                    </a:lnTo>
                    <a:lnTo>
                      <a:pt x="710" y="757"/>
                    </a:lnTo>
                    <a:lnTo>
                      <a:pt x="701" y="759"/>
                    </a:lnTo>
                    <a:lnTo>
                      <a:pt x="702" y="748"/>
                    </a:lnTo>
                    <a:lnTo>
                      <a:pt x="701" y="732"/>
                    </a:lnTo>
                    <a:lnTo>
                      <a:pt x="683" y="718"/>
                    </a:lnTo>
                    <a:lnTo>
                      <a:pt x="649" y="711"/>
                    </a:lnTo>
                    <a:lnTo>
                      <a:pt x="643" y="703"/>
                    </a:lnTo>
                    <a:lnTo>
                      <a:pt x="633" y="706"/>
                    </a:lnTo>
                    <a:lnTo>
                      <a:pt x="623" y="698"/>
                    </a:lnTo>
                    <a:lnTo>
                      <a:pt x="610" y="691"/>
                    </a:lnTo>
                    <a:lnTo>
                      <a:pt x="592" y="674"/>
                    </a:lnTo>
                    <a:lnTo>
                      <a:pt x="573" y="666"/>
                    </a:lnTo>
                    <a:lnTo>
                      <a:pt x="563" y="677"/>
                    </a:lnTo>
                    <a:lnTo>
                      <a:pt x="550" y="670"/>
                    </a:lnTo>
                    <a:lnTo>
                      <a:pt x="533" y="670"/>
                    </a:lnTo>
                    <a:lnTo>
                      <a:pt x="504" y="662"/>
                    </a:lnTo>
                    <a:lnTo>
                      <a:pt x="447" y="628"/>
                    </a:lnTo>
                    <a:lnTo>
                      <a:pt x="444" y="593"/>
                    </a:lnTo>
                    <a:lnTo>
                      <a:pt x="438" y="582"/>
                    </a:lnTo>
                    <a:lnTo>
                      <a:pt x="429" y="569"/>
                    </a:lnTo>
                    <a:lnTo>
                      <a:pt x="417" y="551"/>
                    </a:lnTo>
                    <a:lnTo>
                      <a:pt x="358" y="484"/>
                    </a:lnTo>
                    <a:lnTo>
                      <a:pt x="358" y="509"/>
                    </a:lnTo>
                    <a:lnTo>
                      <a:pt x="395" y="555"/>
                    </a:lnTo>
                    <a:lnTo>
                      <a:pt x="410" y="591"/>
                    </a:lnTo>
                    <a:lnTo>
                      <a:pt x="387" y="583"/>
                    </a:lnTo>
                    <a:lnTo>
                      <a:pt x="381" y="560"/>
                    </a:lnTo>
                    <a:lnTo>
                      <a:pt x="353" y="547"/>
                    </a:lnTo>
                    <a:lnTo>
                      <a:pt x="371" y="541"/>
                    </a:lnTo>
                    <a:lnTo>
                      <a:pt x="329" y="514"/>
                    </a:lnTo>
                    <a:lnTo>
                      <a:pt x="346" y="498"/>
                    </a:lnTo>
                    <a:lnTo>
                      <a:pt x="333" y="472"/>
                    </a:lnTo>
                    <a:lnTo>
                      <a:pt x="286" y="414"/>
                    </a:lnTo>
                    <a:lnTo>
                      <a:pt x="280" y="382"/>
                    </a:lnTo>
                    <a:lnTo>
                      <a:pt x="282" y="352"/>
                    </a:lnTo>
                    <a:lnTo>
                      <a:pt x="295" y="328"/>
                    </a:lnTo>
                    <a:lnTo>
                      <a:pt x="295" y="300"/>
                    </a:lnTo>
                    <a:lnTo>
                      <a:pt x="286" y="282"/>
                    </a:lnTo>
                    <a:lnTo>
                      <a:pt x="312" y="277"/>
                    </a:lnTo>
                    <a:lnTo>
                      <a:pt x="280" y="245"/>
                    </a:lnTo>
                    <a:lnTo>
                      <a:pt x="282" y="229"/>
                    </a:lnTo>
                    <a:lnTo>
                      <a:pt x="268" y="207"/>
                    </a:lnTo>
                    <a:lnTo>
                      <a:pt x="273" y="195"/>
                    </a:lnTo>
                    <a:lnTo>
                      <a:pt x="263" y="188"/>
                    </a:lnTo>
                    <a:lnTo>
                      <a:pt x="263" y="175"/>
                    </a:lnTo>
                    <a:lnTo>
                      <a:pt x="251" y="163"/>
                    </a:lnTo>
                    <a:lnTo>
                      <a:pt x="263" y="154"/>
                    </a:lnTo>
                    <a:lnTo>
                      <a:pt x="250" y="149"/>
                    </a:lnTo>
                    <a:lnTo>
                      <a:pt x="233" y="157"/>
                    </a:lnTo>
                    <a:lnTo>
                      <a:pt x="218" y="137"/>
                    </a:lnTo>
                    <a:lnTo>
                      <a:pt x="196" y="131"/>
                    </a:lnTo>
                    <a:lnTo>
                      <a:pt x="171" y="131"/>
                    </a:lnTo>
                    <a:lnTo>
                      <a:pt x="153" y="149"/>
                    </a:lnTo>
                    <a:lnTo>
                      <a:pt x="144" y="146"/>
                    </a:lnTo>
                    <a:lnTo>
                      <a:pt x="158" y="120"/>
                    </a:lnTo>
                    <a:lnTo>
                      <a:pt x="144" y="125"/>
                    </a:lnTo>
                    <a:lnTo>
                      <a:pt x="117" y="149"/>
                    </a:lnTo>
                    <a:lnTo>
                      <a:pt x="87" y="172"/>
                    </a:lnTo>
                    <a:lnTo>
                      <a:pt x="62" y="179"/>
                    </a:lnTo>
                    <a:lnTo>
                      <a:pt x="16" y="199"/>
                    </a:lnTo>
                    <a:lnTo>
                      <a:pt x="0" y="199"/>
                    </a:lnTo>
                    <a:close/>
                  </a:path>
                </a:pathLst>
              </a:custGeom>
              <a:solidFill>
                <a:schemeClr val="accent2"/>
              </a:solidFill>
              <a:ln w="9525">
                <a:noFill/>
                <a:round/>
                <a:headEnd/>
                <a:tailEnd/>
              </a:ln>
            </p:spPr>
            <p:txBody>
              <a:bodyPr/>
              <a:lstStyle/>
              <a:p>
                <a:endParaRPr lang="zh-CN" altLang="en-US"/>
              </a:p>
            </p:txBody>
          </p:sp>
          <p:sp>
            <p:nvSpPr>
              <p:cNvPr id="14361" name="Freeform 35"/>
              <p:cNvSpPr>
                <a:spLocks/>
              </p:cNvSpPr>
              <p:nvPr/>
            </p:nvSpPr>
            <p:spPr bwMode="auto">
              <a:xfrm>
                <a:off x="2681" y="1676"/>
                <a:ext cx="103" cy="67"/>
              </a:xfrm>
              <a:custGeom>
                <a:avLst/>
                <a:gdLst>
                  <a:gd name="T0" fmla="*/ 0 w 310"/>
                  <a:gd name="T1" fmla="*/ 40 h 202"/>
                  <a:gd name="T2" fmla="*/ 6 w 310"/>
                  <a:gd name="T3" fmla="*/ 25 h 202"/>
                  <a:gd name="T4" fmla="*/ 6 w 310"/>
                  <a:gd name="T5" fmla="*/ 14 h 202"/>
                  <a:gd name="T6" fmla="*/ 15 w 310"/>
                  <a:gd name="T7" fmla="*/ 0 h 202"/>
                  <a:gd name="T8" fmla="*/ 72 w 310"/>
                  <a:gd name="T9" fmla="*/ 7 h 202"/>
                  <a:gd name="T10" fmla="*/ 168 w 310"/>
                  <a:gd name="T11" fmla="*/ 25 h 202"/>
                  <a:gd name="T12" fmla="*/ 208 w 310"/>
                  <a:gd name="T13" fmla="*/ 41 h 202"/>
                  <a:gd name="T14" fmla="*/ 256 w 310"/>
                  <a:gd name="T15" fmla="*/ 55 h 202"/>
                  <a:gd name="T16" fmla="*/ 283 w 310"/>
                  <a:gd name="T17" fmla="*/ 81 h 202"/>
                  <a:gd name="T18" fmla="*/ 310 w 310"/>
                  <a:gd name="T19" fmla="*/ 96 h 202"/>
                  <a:gd name="T20" fmla="*/ 299 w 310"/>
                  <a:gd name="T21" fmla="*/ 105 h 202"/>
                  <a:gd name="T22" fmla="*/ 299 w 310"/>
                  <a:gd name="T23" fmla="*/ 118 h 202"/>
                  <a:gd name="T24" fmla="*/ 288 w 310"/>
                  <a:gd name="T25" fmla="*/ 119 h 202"/>
                  <a:gd name="T26" fmla="*/ 281 w 310"/>
                  <a:gd name="T27" fmla="*/ 132 h 202"/>
                  <a:gd name="T28" fmla="*/ 288 w 310"/>
                  <a:gd name="T29" fmla="*/ 142 h 202"/>
                  <a:gd name="T30" fmla="*/ 288 w 310"/>
                  <a:gd name="T31" fmla="*/ 150 h 202"/>
                  <a:gd name="T32" fmla="*/ 278 w 310"/>
                  <a:gd name="T33" fmla="*/ 164 h 202"/>
                  <a:gd name="T34" fmla="*/ 279 w 310"/>
                  <a:gd name="T35" fmla="*/ 173 h 202"/>
                  <a:gd name="T36" fmla="*/ 297 w 310"/>
                  <a:gd name="T37" fmla="*/ 187 h 202"/>
                  <a:gd name="T38" fmla="*/ 297 w 310"/>
                  <a:gd name="T39" fmla="*/ 196 h 202"/>
                  <a:gd name="T40" fmla="*/ 293 w 310"/>
                  <a:gd name="T41" fmla="*/ 201 h 202"/>
                  <a:gd name="T42" fmla="*/ 274 w 310"/>
                  <a:gd name="T43" fmla="*/ 202 h 202"/>
                  <a:gd name="T44" fmla="*/ 264 w 310"/>
                  <a:gd name="T45" fmla="*/ 197 h 202"/>
                  <a:gd name="T46" fmla="*/ 250 w 310"/>
                  <a:gd name="T47" fmla="*/ 184 h 202"/>
                  <a:gd name="T48" fmla="*/ 245 w 310"/>
                  <a:gd name="T49" fmla="*/ 184 h 202"/>
                  <a:gd name="T50" fmla="*/ 237 w 310"/>
                  <a:gd name="T51" fmla="*/ 175 h 202"/>
                  <a:gd name="T52" fmla="*/ 228 w 310"/>
                  <a:gd name="T53" fmla="*/ 161 h 202"/>
                  <a:gd name="T54" fmla="*/ 222 w 310"/>
                  <a:gd name="T55" fmla="*/ 155 h 202"/>
                  <a:gd name="T56" fmla="*/ 204 w 310"/>
                  <a:gd name="T57" fmla="*/ 147 h 202"/>
                  <a:gd name="T58" fmla="*/ 187 w 310"/>
                  <a:gd name="T59" fmla="*/ 141 h 202"/>
                  <a:gd name="T60" fmla="*/ 164 w 310"/>
                  <a:gd name="T61" fmla="*/ 127 h 202"/>
                  <a:gd name="T62" fmla="*/ 156 w 310"/>
                  <a:gd name="T63" fmla="*/ 114 h 202"/>
                  <a:gd name="T64" fmla="*/ 158 w 310"/>
                  <a:gd name="T65" fmla="*/ 106 h 202"/>
                  <a:gd name="T66" fmla="*/ 167 w 310"/>
                  <a:gd name="T67" fmla="*/ 100 h 202"/>
                  <a:gd name="T68" fmla="*/ 159 w 310"/>
                  <a:gd name="T69" fmla="*/ 88 h 202"/>
                  <a:gd name="T70" fmla="*/ 150 w 310"/>
                  <a:gd name="T71" fmla="*/ 96 h 202"/>
                  <a:gd name="T72" fmla="*/ 136 w 310"/>
                  <a:gd name="T73" fmla="*/ 81 h 202"/>
                  <a:gd name="T74" fmla="*/ 133 w 310"/>
                  <a:gd name="T75" fmla="*/ 88 h 202"/>
                  <a:gd name="T76" fmla="*/ 122 w 310"/>
                  <a:gd name="T77" fmla="*/ 88 h 202"/>
                  <a:gd name="T78" fmla="*/ 118 w 310"/>
                  <a:gd name="T79" fmla="*/ 83 h 202"/>
                  <a:gd name="T80" fmla="*/ 118 w 310"/>
                  <a:gd name="T81" fmla="*/ 74 h 202"/>
                  <a:gd name="T82" fmla="*/ 113 w 310"/>
                  <a:gd name="T83" fmla="*/ 68 h 202"/>
                  <a:gd name="T84" fmla="*/ 104 w 310"/>
                  <a:gd name="T85" fmla="*/ 69 h 202"/>
                  <a:gd name="T86" fmla="*/ 94 w 310"/>
                  <a:gd name="T87" fmla="*/ 54 h 202"/>
                  <a:gd name="T88" fmla="*/ 87 w 310"/>
                  <a:gd name="T89" fmla="*/ 51 h 202"/>
                  <a:gd name="T90" fmla="*/ 70 w 310"/>
                  <a:gd name="T91" fmla="*/ 45 h 202"/>
                  <a:gd name="T92" fmla="*/ 46 w 310"/>
                  <a:gd name="T93" fmla="*/ 49 h 202"/>
                  <a:gd name="T94" fmla="*/ 20 w 310"/>
                  <a:gd name="T95" fmla="*/ 45 h 202"/>
                  <a:gd name="T96" fmla="*/ 0 w 310"/>
                  <a:gd name="T97" fmla="*/ 40 h 20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10"/>
                  <a:gd name="T148" fmla="*/ 0 h 202"/>
                  <a:gd name="T149" fmla="*/ 310 w 310"/>
                  <a:gd name="T150" fmla="*/ 202 h 20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10" h="202">
                    <a:moveTo>
                      <a:pt x="0" y="40"/>
                    </a:moveTo>
                    <a:lnTo>
                      <a:pt x="6" y="25"/>
                    </a:lnTo>
                    <a:lnTo>
                      <a:pt x="6" y="14"/>
                    </a:lnTo>
                    <a:lnTo>
                      <a:pt x="15" y="0"/>
                    </a:lnTo>
                    <a:lnTo>
                      <a:pt x="72" y="7"/>
                    </a:lnTo>
                    <a:lnTo>
                      <a:pt x="168" y="25"/>
                    </a:lnTo>
                    <a:lnTo>
                      <a:pt x="208" y="41"/>
                    </a:lnTo>
                    <a:lnTo>
                      <a:pt x="256" y="55"/>
                    </a:lnTo>
                    <a:lnTo>
                      <a:pt x="283" y="81"/>
                    </a:lnTo>
                    <a:lnTo>
                      <a:pt x="310" y="96"/>
                    </a:lnTo>
                    <a:lnTo>
                      <a:pt x="299" y="105"/>
                    </a:lnTo>
                    <a:lnTo>
                      <a:pt x="299" y="118"/>
                    </a:lnTo>
                    <a:lnTo>
                      <a:pt x="288" y="119"/>
                    </a:lnTo>
                    <a:lnTo>
                      <a:pt x="281" y="132"/>
                    </a:lnTo>
                    <a:lnTo>
                      <a:pt x="288" y="142"/>
                    </a:lnTo>
                    <a:lnTo>
                      <a:pt x="288" y="150"/>
                    </a:lnTo>
                    <a:lnTo>
                      <a:pt x="278" y="164"/>
                    </a:lnTo>
                    <a:lnTo>
                      <a:pt x="279" y="173"/>
                    </a:lnTo>
                    <a:lnTo>
                      <a:pt x="297" y="187"/>
                    </a:lnTo>
                    <a:lnTo>
                      <a:pt x="297" y="196"/>
                    </a:lnTo>
                    <a:lnTo>
                      <a:pt x="293" y="201"/>
                    </a:lnTo>
                    <a:lnTo>
                      <a:pt x="274" y="202"/>
                    </a:lnTo>
                    <a:lnTo>
                      <a:pt x="264" y="197"/>
                    </a:lnTo>
                    <a:lnTo>
                      <a:pt x="250" y="184"/>
                    </a:lnTo>
                    <a:lnTo>
                      <a:pt x="245" y="184"/>
                    </a:lnTo>
                    <a:lnTo>
                      <a:pt x="237" y="175"/>
                    </a:lnTo>
                    <a:lnTo>
                      <a:pt x="228" y="161"/>
                    </a:lnTo>
                    <a:lnTo>
                      <a:pt x="222" y="155"/>
                    </a:lnTo>
                    <a:lnTo>
                      <a:pt x="204" y="147"/>
                    </a:lnTo>
                    <a:lnTo>
                      <a:pt x="187" y="141"/>
                    </a:lnTo>
                    <a:lnTo>
                      <a:pt x="164" y="127"/>
                    </a:lnTo>
                    <a:lnTo>
                      <a:pt x="156" y="114"/>
                    </a:lnTo>
                    <a:lnTo>
                      <a:pt x="158" y="106"/>
                    </a:lnTo>
                    <a:lnTo>
                      <a:pt x="167" y="100"/>
                    </a:lnTo>
                    <a:lnTo>
                      <a:pt x="159" y="88"/>
                    </a:lnTo>
                    <a:lnTo>
                      <a:pt x="150" y="96"/>
                    </a:lnTo>
                    <a:lnTo>
                      <a:pt x="136" y="81"/>
                    </a:lnTo>
                    <a:lnTo>
                      <a:pt x="133" y="88"/>
                    </a:lnTo>
                    <a:lnTo>
                      <a:pt x="122" y="88"/>
                    </a:lnTo>
                    <a:lnTo>
                      <a:pt x="118" y="83"/>
                    </a:lnTo>
                    <a:lnTo>
                      <a:pt x="118" y="74"/>
                    </a:lnTo>
                    <a:lnTo>
                      <a:pt x="113" y="68"/>
                    </a:lnTo>
                    <a:lnTo>
                      <a:pt x="104" y="69"/>
                    </a:lnTo>
                    <a:lnTo>
                      <a:pt x="94" y="54"/>
                    </a:lnTo>
                    <a:lnTo>
                      <a:pt x="87" y="51"/>
                    </a:lnTo>
                    <a:lnTo>
                      <a:pt x="70" y="45"/>
                    </a:lnTo>
                    <a:lnTo>
                      <a:pt x="46" y="49"/>
                    </a:lnTo>
                    <a:lnTo>
                      <a:pt x="20" y="45"/>
                    </a:lnTo>
                    <a:lnTo>
                      <a:pt x="0" y="40"/>
                    </a:lnTo>
                    <a:close/>
                  </a:path>
                </a:pathLst>
              </a:custGeom>
              <a:solidFill>
                <a:schemeClr val="accent2"/>
              </a:solidFill>
              <a:ln w="9525">
                <a:noFill/>
                <a:round/>
                <a:headEnd/>
                <a:tailEnd/>
              </a:ln>
            </p:spPr>
            <p:txBody>
              <a:bodyPr/>
              <a:lstStyle/>
              <a:p>
                <a:endParaRPr lang="zh-CN" altLang="en-US"/>
              </a:p>
            </p:txBody>
          </p:sp>
          <p:sp>
            <p:nvSpPr>
              <p:cNvPr id="14362" name="Freeform 36"/>
              <p:cNvSpPr>
                <a:spLocks/>
              </p:cNvSpPr>
              <p:nvPr/>
            </p:nvSpPr>
            <p:spPr bwMode="auto">
              <a:xfrm>
                <a:off x="2660" y="1700"/>
                <a:ext cx="66" cy="34"/>
              </a:xfrm>
              <a:custGeom>
                <a:avLst/>
                <a:gdLst>
                  <a:gd name="T0" fmla="*/ 5 w 198"/>
                  <a:gd name="T1" fmla="*/ 0 h 103"/>
                  <a:gd name="T2" fmla="*/ 0 w 198"/>
                  <a:gd name="T3" fmla="*/ 6 h 103"/>
                  <a:gd name="T4" fmla="*/ 0 w 198"/>
                  <a:gd name="T5" fmla="*/ 16 h 103"/>
                  <a:gd name="T6" fmla="*/ 13 w 198"/>
                  <a:gd name="T7" fmla="*/ 28 h 103"/>
                  <a:gd name="T8" fmla="*/ 19 w 198"/>
                  <a:gd name="T9" fmla="*/ 25 h 103"/>
                  <a:gd name="T10" fmla="*/ 26 w 198"/>
                  <a:gd name="T11" fmla="*/ 29 h 103"/>
                  <a:gd name="T12" fmla="*/ 35 w 198"/>
                  <a:gd name="T13" fmla="*/ 32 h 103"/>
                  <a:gd name="T14" fmla="*/ 37 w 198"/>
                  <a:gd name="T15" fmla="*/ 24 h 103"/>
                  <a:gd name="T16" fmla="*/ 59 w 198"/>
                  <a:gd name="T17" fmla="*/ 25 h 103"/>
                  <a:gd name="T18" fmla="*/ 60 w 198"/>
                  <a:gd name="T19" fmla="*/ 32 h 103"/>
                  <a:gd name="T20" fmla="*/ 69 w 198"/>
                  <a:gd name="T21" fmla="*/ 34 h 103"/>
                  <a:gd name="T22" fmla="*/ 86 w 198"/>
                  <a:gd name="T23" fmla="*/ 33 h 103"/>
                  <a:gd name="T24" fmla="*/ 91 w 198"/>
                  <a:gd name="T25" fmla="*/ 38 h 103"/>
                  <a:gd name="T26" fmla="*/ 98 w 198"/>
                  <a:gd name="T27" fmla="*/ 39 h 103"/>
                  <a:gd name="T28" fmla="*/ 105 w 198"/>
                  <a:gd name="T29" fmla="*/ 51 h 103"/>
                  <a:gd name="T30" fmla="*/ 105 w 198"/>
                  <a:gd name="T31" fmla="*/ 61 h 103"/>
                  <a:gd name="T32" fmla="*/ 100 w 198"/>
                  <a:gd name="T33" fmla="*/ 62 h 103"/>
                  <a:gd name="T34" fmla="*/ 101 w 198"/>
                  <a:gd name="T35" fmla="*/ 69 h 103"/>
                  <a:gd name="T36" fmla="*/ 95 w 198"/>
                  <a:gd name="T37" fmla="*/ 75 h 103"/>
                  <a:gd name="T38" fmla="*/ 95 w 198"/>
                  <a:gd name="T39" fmla="*/ 85 h 103"/>
                  <a:gd name="T40" fmla="*/ 107 w 198"/>
                  <a:gd name="T41" fmla="*/ 85 h 103"/>
                  <a:gd name="T42" fmla="*/ 114 w 198"/>
                  <a:gd name="T43" fmla="*/ 83 h 103"/>
                  <a:gd name="T44" fmla="*/ 118 w 198"/>
                  <a:gd name="T45" fmla="*/ 78 h 103"/>
                  <a:gd name="T46" fmla="*/ 121 w 198"/>
                  <a:gd name="T47" fmla="*/ 83 h 103"/>
                  <a:gd name="T48" fmla="*/ 128 w 198"/>
                  <a:gd name="T49" fmla="*/ 79 h 103"/>
                  <a:gd name="T50" fmla="*/ 144 w 198"/>
                  <a:gd name="T51" fmla="*/ 85 h 103"/>
                  <a:gd name="T52" fmla="*/ 153 w 198"/>
                  <a:gd name="T53" fmla="*/ 94 h 103"/>
                  <a:gd name="T54" fmla="*/ 157 w 198"/>
                  <a:gd name="T55" fmla="*/ 94 h 103"/>
                  <a:gd name="T56" fmla="*/ 157 w 198"/>
                  <a:gd name="T57" fmla="*/ 101 h 103"/>
                  <a:gd name="T58" fmla="*/ 167 w 198"/>
                  <a:gd name="T59" fmla="*/ 103 h 103"/>
                  <a:gd name="T60" fmla="*/ 180 w 198"/>
                  <a:gd name="T61" fmla="*/ 103 h 103"/>
                  <a:gd name="T62" fmla="*/ 171 w 198"/>
                  <a:gd name="T63" fmla="*/ 98 h 103"/>
                  <a:gd name="T64" fmla="*/ 174 w 198"/>
                  <a:gd name="T65" fmla="*/ 93 h 103"/>
                  <a:gd name="T66" fmla="*/ 183 w 198"/>
                  <a:gd name="T67" fmla="*/ 98 h 103"/>
                  <a:gd name="T68" fmla="*/ 192 w 198"/>
                  <a:gd name="T69" fmla="*/ 98 h 103"/>
                  <a:gd name="T70" fmla="*/ 194 w 198"/>
                  <a:gd name="T71" fmla="*/ 92 h 103"/>
                  <a:gd name="T72" fmla="*/ 185 w 198"/>
                  <a:gd name="T73" fmla="*/ 85 h 103"/>
                  <a:gd name="T74" fmla="*/ 178 w 198"/>
                  <a:gd name="T75" fmla="*/ 85 h 103"/>
                  <a:gd name="T76" fmla="*/ 167 w 198"/>
                  <a:gd name="T77" fmla="*/ 75 h 103"/>
                  <a:gd name="T78" fmla="*/ 178 w 198"/>
                  <a:gd name="T79" fmla="*/ 75 h 103"/>
                  <a:gd name="T80" fmla="*/ 185 w 198"/>
                  <a:gd name="T81" fmla="*/ 83 h 103"/>
                  <a:gd name="T82" fmla="*/ 198 w 198"/>
                  <a:gd name="T83" fmla="*/ 83 h 103"/>
                  <a:gd name="T84" fmla="*/ 194 w 198"/>
                  <a:gd name="T85" fmla="*/ 74 h 103"/>
                  <a:gd name="T86" fmla="*/ 183 w 198"/>
                  <a:gd name="T87" fmla="*/ 65 h 103"/>
                  <a:gd name="T88" fmla="*/ 174 w 198"/>
                  <a:gd name="T89" fmla="*/ 62 h 103"/>
                  <a:gd name="T90" fmla="*/ 162 w 198"/>
                  <a:gd name="T91" fmla="*/ 55 h 103"/>
                  <a:gd name="T92" fmla="*/ 148 w 198"/>
                  <a:gd name="T93" fmla="*/ 52 h 103"/>
                  <a:gd name="T94" fmla="*/ 133 w 198"/>
                  <a:gd name="T95" fmla="*/ 47 h 103"/>
                  <a:gd name="T96" fmla="*/ 124 w 198"/>
                  <a:gd name="T97" fmla="*/ 34 h 103"/>
                  <a:gd name="T98" fmla="*/ 118 w 198"/>
                  <a:gd name="T99" fmla="*/ 16 h 103"/>
                  <a:gd name="T100" fmla="*/ 107 w 198"/>
                  <a:gd name="T101" fmla="*/ 16 h 103"/>
                  <a:gd name="T102" fmla="*/ 105 w 198"/>
                  <a:gd name="T103" fmla="*/ 14 h 103"/>
                  <a:gd name="T104" fmla="*/ 98 w 198"/>
                  <a:gd name="T105" fmla="*/ 15 h 103"/>
                  <a:gd name="T106" fmla="*/ 89 w 198"/>
                  <a:gd name="T107" fmla="*/ 9 h 103"/>
                  <a:gd name="T108" fmla="*/ 73 w 198"/>
                  <a:gd name="T109" fmla="*/ 5 h 103"/>
                  <a:gd name="T110" fmla="*/ 66 w 198"/>
                  <a:gd name="T111" fmla="*/ 9 h 103"/>
                  <a:gd name="T112" fmla="*/ 50 w 198"/>
                  <a:gd name="T113" fmla="*/ 5 h 103"/>
                  <a:gd name="T114" fmla="*/ 40 w 198"/>
                  <a:gd name="T115" fmla="*/ 5 h 103"/>
                  <a:gd name="T116" fmla="*/ 37 w 198"/>
                  <a:gd name="T117" fmla="*/ 1 h 103"/>
                  <a:gd name="T118" fmla="*/ 31 w 198"/>
                  <a:gd name="T119" fmla="*/ 0 h 103"/>
                  <a:gd name="T120" fmla="*/ 26 w 198"/>
                  <a:gd name="T121" fmla="*/ 1 h 103"/>
                  <a:gd name="T122" fmla="*/ 5 w 198"/>
                  <a:gd name="T123" fmla="*/ 0 h 10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8"/>
                  <a:gd name="T187" fmla="*/ 0 h 103"/>
                  <a:gd name="T188" fmla="*/ 198 w 198"/>
                  <a:gd name="T189" fmla="*/ 103 h 10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8" h="103">
                    <a:moveTo>
                      <a:pt x="5" y="0"/>
                    </a:moveTo>
                    <a:lnTo>
                      <a:pt x="0" y="6"/>
                    </a:lnTo>
                    <a:lnTo>
                      <a:pt x="0" y="16"/>
                    </a:lnTo>
                    <a:lnTo>
                      <a:pt x="13" y="28"/>
                    </a:lnTo>
                    <a:lnTo>
                      <a:pt x="19" y="25"/>
                    </a:lnTo>
                    <a:lnTo>
                      <a:pt x="26" y="29"/>
                    </a:lnTo>
                    <a:lnTo>
                      <a:pt x="35" y="32"/>
                    </a:lnTo>
                    <a:lnTo>
                      <a:pt x="37" y="24"/>
                    </a:lnTo>
                    <a:lnTo>
                      <a:pt x="59" y="25"/>
                    </a:lnTo>
                    <a:lnTo>
                      <a:pt x="60" y="32"/>
                    </a:lnTo>
                    <a:lnTo>
                      <a:pt x="69" y="34"/>
                    </a:lnTo>
                    <a:lnTo>
                      <a:pt x="86" y="33"/>
                    </a:lnTo>
                    <a:lnTo>
                      <a:pt x="91" y="38"/>
                    </a:lnTo>
                    <a:lnTo>
                      <a:pt x="98" y="39"/>
                    </a:lnTo>
                    <a:lnTo>
                      <a:pt x="105" y="51"/>
                    </a:lnTo>
                    <a:lnTo>
                      <a:pt x="105" y="61"/>
                    </a:lnTo>
                    <a:lnTo>
                      <a:pt x="100" y="62"/>
                    </a:lnTo>
                    <a:lnTo>
                      <a:pt x="101" y="69"/>
                    </a:lnTo>
                    <a:lnTo>
                      <a:pt x="95" y="75"/>
                    </a:lnTo>
                    <a:lnTo>
                      <a:pt x="95" y="85"/>
                    </a:lnTo>
                    <a:lnTo>
                      <a:pt x="107" y="85"/>
                    </a:lnTo>
                    <a:lnTo>
                      <a:pt x="114" y="83"/>
                    </a:lnTo>
                    <a:lnTo>
                      <a:pt x="118" y="78"/>
                    </a:lnTo>
                    <a:lnTo>
                      <a:pt x="121" y="83"/>
                    </a:lnTo>
                    <a:lnTo>
                      <a:pt x="128" y="79"/>
                    </a:lnTo>
                    <a:lnTo>
                      <a:pt x="144" y="85"/>
                    </a:lnTo>
                    <a:lnTo>
                      <a:pt x="153" y="94"/>
                    </a:lnTo>
                    <a:lnTo>
                      <a:pt x="157" y="94"/>
                    </a:lnTo>
                    <a:lnTo>
                      <a:pt x="157" y="101"/>
                    </a:lnTo>
                    <a:lnTo>
                      <a:pt x="167" y="103"/>
                    </a:lnTo>
                    <a:lnTo>
                      <a:pt x="180" y="103"/>
                    </a:lnTo>
                    <a:lnTo>
                      <a:pt x="171" y="98"/>
                    </a:lnTo>
                    <a:lnTo>
                      <a:pt x="174" y="93"/>
                    </a:lnTo>
                    <a:lnTo>
                      <a:pt x="183" y="98"/>
                    </a:lnTo>
                    <a:lnTo>
                      <a:pt x="192" y="98"/>
                    </a:lnTo>
                    <a:lnTo>
                      <a:pt x="194" y="92"/>
                    </a:lnTo>
                    <a:lnTo>
                      <a:pt x="185" y="85"/>
                    </a:lnTo>
                    <a:lnTo>
                      <a:pt x="178" y="85"/>
                    </a:lnTo>
                    <a:lnTo>
                      <a:pt x="167" y="75"/>
                    </a:lnTo>
                    <a:lnTo>
                      <a:pt x="178" y="75"/>
                    </a:lnTo>
                    <a:lnTo>
                      <a:pt x="185" y="83"/>
                    </a:lnTo>
                    <a:lnTo>
                      <a:pt x="198" y="83"/>
                    </a:lnTo>
                    <a:lnTo>
                      <a:pt x="194" y="74"/>
                    </a:lnTo>
                    <a:lnTo>
                      <a:pt x="183" y="65"/>
                    </a:lnTo>
                    <a:lnTo>
                      <a:pt x="174" y="62"/>
                    </a:lnTo>
                    <a:lnTo>
                      <a:pt x="162" y="55"/>
                    </a:lnTo>
                    <a:lnTo>
                      <a:pt x="148" y="52"/>
                    </a:lnTo>
                    <a:lnTo>
                      <a:pt x="133" y="47"/>
                    </a:lnTo>
                    <a:lnTo>
                      <a:pt x="124" y="34"/>
                    </a:lnTo>
                    <a:lnTo>
                      <a:pt x="118" y="16"/>
                    </a:lnTo>
                    <a:lnTo>
                      <a:pt x="107" y="16"/>
                    </a:lnTo>
                    <a:lnTo>
                      <a:pt x="105" y="14"/>
                    </a:lnTo>
                    <a:lnTo>
                      <a:pt x="98" y="15"/>
                    </a:lnTo>
                    <a:lnTo>
                      <a:pt x="89" y="9"/>
                    </a:lnTo>
                    <a:lnTo>
                      <a:pt x="73" y="5"/>
                    </a:lnTo>
                    <a:lnTo>
                      <a:pt x="66" y="9"/>
                    </a:lnTo>
                    <a:lnTo>
                      <a:pt x="50" y="5"/>
                    </a:lnTo>
                    <a:lnTo>
                      <a:pt x="40" y="5"/>
                    </a:lnTo>
                    <a:lnTo>
                      <a:pt x="37" y="1"/>
                    </a:lnTo>
                    <a:lnTo>
                      <a:pt x="31" y="0"/>
                    </a:lnTo>
                    <a:lnTo>
                      <a:pt x="26" y="1"/>
                    </a:lnTo>
                    <a:lnTo>
                      <a:pt x="5" y="0"/>
                    </a:lnTo>
                    <a:close/>
                  </a:path>
                </a:pathLst>
              </a:custGeom>
              <a:solidFill>
                <a:schemeClr val="accent2"/>
              </a:solidFill>
              <a:ln w="9525">
                <a:noFill/>
                <a:round/>
                <a:headEnd/>
                <a:tailEnd/>
              </a:ln>
            </p:spPr>
            <p:txBody>
              <a:bodyPr/>
              <a:lstStyle/>
              <a:p>
                <a:endParaRPr lang="zh-CN" altLang="en-US"/>
              </a:p>
            </p:txBody>
          </p:sp>
          <p:sp>
            <p:nvSpPr>
              <p:cNvPr id="14363" name="Freeform 37"/>
              <p:cNvSpPr>
                <a:spLocks/>
              </p:cNvSpPr>
              <p:nvPr/>
            </p:nvSpPr>
            <p:spPr bwMode="auto">
              <a:xfrm>
                <a:off x="2697" y="1894"/>
                <a:ext cx="47" cy="15"/>
              </a:xfrm>
              <a:custGeom>
                <a:avLst/>
                <a:gdLst>
                  <a:gd name="T0" fmla="*/ 0 w 143"/>
                  <a:gd name="T1" fmla="*/ 23 h 45"/>
                  <a:gd name="T2" fmla="*/ 14 w 143"/>
                  <a:gd name="T3" fmla="*/ 8 h 45"/>
                  <a:gd name="T4" fmla="*/ 20 w 143"/>
                  <a:gd name="T5" fmla="*/ 8 h 45"/>
                  <a:gd name="T6" fmla="*/ 29 w 143"/>
                  <a:gd name="T7" fmla="*/ 1 h 45"/>
                  <a:gd name="T8" fmla="*/ 40 w 143"/>
                  <a:gd name="T9" fmla="*/ 1 h 45"/>
                  <a:gd name="T10" fmla="*/ 43 w 143"/>
                  <a:gd name="T11" fmla="*/ 0 h 45"/>
                  <a:gd name="T12" fmla="*/ 47 w 143"/>
                  <a:gd name="T13" fmla="*/ 0 h 45"/>
                  <a:gd name="T14" fmla="*/ 61 w 143"/>
                  <a:gd name="T15" fmla="*/ 8 h 45"/>
                  <a:gd name="T16" fmla="*/ 66 w 143"/>
                  <a:gd name="T17" fmla="*/ 13 h 45"/>
                  <a:gd name="T18" fmla="*/ 70 w 143"/>
                  <a:gd name="T19" fmla="*/ 9 h 45"/>
                  <a:gd name="T20" fmla="*/ 79 w 143"/>
                  <a:gd name="T21" fmla="*/ 17 h 45"/>
                  <a:gd name="T22" fmla="*/ 86 w 143"/>
                  <a:gd name="T23" fmla="*/ 17 h 45"/>
                  <a:gd name="T24" fmla="*/ 94 w 143"/>
                  <a:gd name="T25" fmla="*/ 22 h 45"/>
                  <a:gd name="T26" fmla="*/ 102 w 143"/>
                  <a:gd name="T27" fmla="*/ 23 h 45"/>
                  <a:gd name="T28" fmla="*/ 102 w 143"/>
                  <a:gd name="T29" fmla="*/ 31 h 45"/>
                  <a:gd name="T30" fmla="*/ 120 w 143"/>
                  <a:gd name="T31" fmla="*/ 31 h 45"/>
                  <a:gd name="T32" fmla="*/ 125 w 143"/>
                  <a:gd name="T33" fmla="*/ 36 h 45"/>
                  <a:gd name="T34" fmla="*/ 135 w 143"/>
                  <a:gd name="T35" fmla="*/ 36 h 45"/>
                  <a:gd name="T36" fmla="*/ 143 w 143"/>
                  <a:gd name="T37" fmla="*/ 45 h 45"/>
                  <a:gd name="T38" fmla="*/ 139 w 143"/>
                  <a:gd name="T39" fmla="*/ 45 h 45"/>
                  <a:gd name="T40" fmla="*/ 135 w 143"/>
                  <a:gd name="T41" fmla="*/ 42 h 45"/>
                  <a:gd name="T42" fmla="*/ 134 w 143"/>
                  <a:gd name="T43" fmla="*/ 41 h 45"/>
                  <a:gd name="T44" fmla="*/ 125 w 143"/>
                  <a:gd name="T45" fmla="*/ 42 h 45"/>
                  <a:gd name="T46" fmla="*/ 120 w 143"/>
                  <a:gd name="T47" fmla="*/ 45 h 45"/>
                  <a:gd name="T48" fmla="*/ 114 w 143"/>
                  <a:gd name="T49" fmla="*/ 45 h 45"/>
                  <a:gd name="T50" fmla="*/ 100 w 143"/>
                  <a:gd name="T51" fmla="*/ 45 h 45"/>
                  <a:gd name="T52" fmla="*/ 94 w 143"/>
                  <a:gd name="T53" fmla="*/ 45 h 45"/>
                  <a:gd name="T54" fmla="*/ 94 w 143"/>
                  <a:gd name="T55" fmla="*/ 41 h 45"/>
                  <a:gd name="T56" fmla="*/ 79 w 143"/>
                  <a:gd name="T57" fmla="*/ 31 h 45"/>
                  <a:gd name="T58" fmla="*/ 79 w 143"/>
                  <a:gd name="T59" fmla="*/ 23 h 45"/>
                  <a:gd name="T60" fmla="*/ 66 w 143"/>
                  <a:gd name="T61" fmla="*/ 23 h 45"/>
                  <a:gd name="T62" fmla="*/ 59 w 143"/>
                  <a:gd name="T63" fmla="*/ 22 h 45"/>
                  <a:gd name="T64" fmla="*/ 55 w 143"/>
                  <a:gd name="T65" fmla="*/ 23 h 45"/>
                  <a:gd name="T66" fmla="*/ 52 w 143"/>
                  <a:gd name="T67" fmla="*/ 19 h 45"/>
                  <a:gd name="T68" fmla="*/ 47 w 143"/>
                  <a:gd name="T69" fmla="*/ 19 h 45"/>
                  <a:gd name="T70" fmla="*/ 47 w 143"/>
                  <a:gd name="T71" fmla="*/ 10 h 45"/>
                  <a:gd name="T72" fmla="*/ 43 w 143"/>
                  <a:gd name="T73" fmla="*/ 8 h 45"/>
                  <a:gd name="T74" fmla="*/ 31 w 143"/>
                  <a:gd name="T75" fmla="*/ 9 h 45"/>
                  <a:gd name="T76" fmla="*/ 22 w 143"/>
                  <a:gd name="T77" fmla="*/ 19 h 45"/>
                  <a:gd name="T78" fmla="*/ 13 w 143"/>
                  <a:gd name="T79" fmla="*/ 22 h 45"/>
                  <a:gd name="T80" fmla="*/ 0 w 143"/>
                  <a:gd name="T81" fmla="*/ 23 h 4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3"/>
                  <a:gd name="T124" fmla="*/ 0 h 45"/>
                  <a:gd name="T125" fmla="*/ 143 w 143"/>
                  <a:gd name="T126" fmla="*/ 45 h 4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3" h="45">
                    <a:moveTo>
                      <a:pt x="0" y="23"/>
                    </a:moveTo>
                    <a:lnTo>
                      <a:pt x="14" y="8"/>
                    </a:lnTo>
                    <a:lnTo>
                      <a:pt x="20" y="8"/>
                    </a:lnTo>
                    <a:lnTo>
                      <a:pt x="29" y="1"/>
                    </a:lnTo>
                    <a:lnTo>
                      <a:pt x="40" y="1"/>
                    </a:lnTo>
                    <a:lnTo>
                      <a:pt x="43" y="0"/>
                    </a:lnTo>
                    <a:lnTo>
                      <a:pt x="47" y="0"/>
                    </a:lnTo>
                    <a:lnTo>
                      <a:pt x="61" y="8"/>
                    </a:lnTo>
                    <a:lnTo>
                      <a:pt x="66" y="13"/>
                    </a:lnTo>
                    <a:lnTo>
                      <a:pt x="70" y="9"/>
                    </a:lnTo>
                    <a:lnTo>
                      <a:pt x="79" y="17"/>
                    </a:lnTo>
                    <a:lnTo>
                      <a:pt x="86" y="17"/>
                    </a:lnTo>
                    <a:lnTo>
                      <a:pt x="94" y="22"/>
                    </a:lnTo>
                    <a:lnTo>
                      <a:pt x="102" y="23"/>
                    </a:lnTo>
                    <a:lnTo>
                      <a:pt x="102" y="31"/>
                    </a:lnTo>
                    <a:lnTo>
                      <a:pt x="120" y="31"/>
                    </a:lnTo>
                    <a:lnTo>
                      <a:pt x="125" y="36"/>
                    </a:lnTo>
                    <a:lnTo>
                      <a:pt x="135" y="36"/>
                    </a:lnTo>
                    <a:lnTo>
                      <a:pt x="143" y="45"/>
                    </a:lnTo>
                    <a:lnTo>
                      <a:pt x="139" y="45"/>
                    </a:lnTo>
                    <a:lnTo>
                      <a:pt x="135" y="42"/>
                    </a:lnTo>
                    <a:lnTo>
                      <a:pt x="134" y="41"/>
                    </a:lnTo>
                    <a:lnTo>
                      <a:pt x="125" y="42"/>
                    </a:lnTo>
                    <a:lnTo>
                      <a:pt x="120" y="45"/>
                    </a:lnTo>
                    <a:lnTo>
                      <a:pt x="114" y="45"/>
                    </a:lnTo>
                    <a:lnTo>
                      <a:pt x="100" y="45"/>
                    </a:lnTo>
                    <a:lnTo>
                      <a:pt x="94" y="45"/>
                    </a:lnTo>
                    <a:lnTo>
                      <a:pt x="94" y="41"/>
                    </a:lnTo>
                    <a:lnTo>
                      <a:pt x="79" y="31"/>
                    </a:lnTo>
                    <a:lnTo>
                      <a:pt x="79" y="23"/>
                    </a:lnTo>
                    <a:lnTo>
                      <a:pt x="66" y="23"/>
                    </a:lnTo>
                    <a:lnTo>
                      <a:pt x="59" y="22"/>
                    </a:lnTo>
                    <a:lnTo>
                      <a:pt x="55" y="23"/>
                    </a:lnTo>
                    <a:lnTo>
                      <a:pt x="52" y="19"/>
                    </a:lnTo>
                    <a:lnTo>
                      <a:pt x="47" y="19"/>
                    </a:lnTo>
                    <a:lnTo>
                      <a:pt x="47" y="10"/>
                    </a:lnTo>
                    <a:lnTo>
                      <a:pt x="43" y="8"/>
                    </a:lnTo>
                    <a:lnTo>
                      <a:pt x="31" y="9"/>
                    </a:lnTo>
                    <a:lnTo>
                      <a:pt x="22" y="19"/>
                    </a:lnTo>
                    <a:lnTo>
                      <a:pt x="13" y="22"/>
                    </a:lnTo>
                    <a:lnTo>
                      <a:pt x="0" y="23"/>
                    </a:lnTo>
                    <a:close/>
                  </a:path>
                </a:pathLst>
              </a:custGeom>
              <a:solidFill>
                <a:schemeClr val="accent2"/>
              </a:solidFill>
              <a:ln w="9525">
                <a:noFill/>
                <a:round/>
                <a:headEnd/>
                <a:tailEnd/>
              </a:ln>
            </p:spPr>
            <p:txBody>
              <a:bodyPr/>
              <a:lstStyle/>
              <a:p>
                <a:endParaRPr lang="zh-CN" altLang="en-US"/>
              </a:p>
            </p:txBody>
          </p:sp>
          <p:sp>
            <p:nvSpPr>
              <p:cNvPr id="14364" name="Freeform 38"/>
              <p:cNvSpPr>
                <a:spLocks/>
              </p:cNvSpPr>
              <p:nvPr/>
            </p:nvSpPr>
            <p:spPr bwMode="auto">
              <a:xfrm>
                <a:off x="2739" y="1905"/>
                <a:ext cx="30" cy="14"/>
              </a:xfrm>
              <a:custGeom>
                <a:avLst/>
                <a:gdLst>
                  <a:gd name="T0" fmla="*/ 0 w 90"/>
                  <a:gd name="T1" fmla="*/ 31 h 40"/>
                  <a:gd name="T2" fmla="*/ 8 w 90"/>
                  <a:gd name="T3" fmla="*/ 32 h 40"/>
                  <a:gd name="T4" fmla="*/ 26 w 90"/>
                  <a:gd name="T5" fmla="*/ 31 h 40"/>
                  <a:gd name="T6" fmla="*/ 36 w 90"/>
                  <a:gd name="T7" fmla="*/ 38 h 40"/>
                  <a:gd name="T8" fmla="*/ 45 w 90"/>
                  <a:gd name="T9" fmla="*/ 40 h 40"/>
                  <a:gd name="T10" fmla="*/ 53 w 90"/>
                  <a:gd name="T11" fmla="*/ 31 h 40"/>
                  <a:gd name="T12" fmla="*/ 49 w 90"/>
                  <a:gd name="T13" fmla="*/ 27 h 40"/>
                  <a:gd name="T14" fmla="*/ 54 w 90"/>
                  <a:gd name="T15" fmla="*/ 26 h 40"/>
                  <a:gd name="T16" fmla="*/ 67 w 90"/>
                  <a:gd name="T17" fmla="*/ 31 h 40"/>
                  <a:gd name="T18" fmla="*/ 76 w 90"/>
                  <a:gd name="T19" fmla="*/ 31 h 40"/>
                  <a:gd name="T20" fmla="*/ 76 w 90"/>
                  <a:gd name="T21" fmla="*/ 26 h 40"/>
                  <a:gd name="T22" fmla="*/ 81 w 90"/>
                  <a:gd name="T23" fmla="*/ 26 h 40"/>
                  <a:gd name="T24" fmla="*/ 90 w 90"/>
                  <a:gd name="T25" fmla="*/ 21 h 40"/>
                  <a:gd name="T26" fmla="*/ 82 w 90"/>
                  <a:gd name="T27" fmla="*/ 21 h 40"/>
                  <a:gd name="T28" fmla="*/ 82 w 90"/>
                  <a:gd name="T29" fmla="*/ 12 h 40"/>
                  <a:gd name="T30" fmla="*/ 82 w 90"/>
                  <a:gd name="T31" fmla="*/ 5 h 40"/>
                  <a:gd name="T32" fmla="*/ 72 w 90"/>
                  <a:gd name="T33" fmla="*/ 4 h 40"/>
                  <a:gd name="T34" fmla="*/ 63 w 90"/>
                  <a:gd name="T35" fmla="*/ 5 h 40"/>
                  <a:gd name="T36" fmla="*/ 53 w 90"/>
                  <a:gd name="T37" fmla="*/ 5 h 40"/>
                  <a:gd name="T38" fmla="*/ 41 w 90"/>
                  <a:gd name="T39" fmla="*/ 4 h 40"/>
                  <a:gd name="T40" fmla="*/ 31 w 90"/>
                  <a:gd name="T41" fmla="*/ 0 h 40"/>
                  <a:gd name="T42" fmla="*/ 26 w 90"/>
                  <a:gd name="T43" fmla="*/ 4 h 40"/>
                  <a:gd name="T44" fmla="*/ 26 w 90"/>
                  <a:gd name="T45" fmla="*/ 12 h 40"/>
                  <a:gd name="T46" fmla="*/ 17 w 90"/>
                  <a:gd name="T47" fmla="*/ 12 h 40"/>
                  <a:gd name="T48" fmla="*/ 13 w 90"/>
                  <a:gd name="T49" fmla="*/ 21 h 40"/>
                  <a:gd name="T50" fmla="*/ 8 w 90"/>
                  <a:gd name="T51" fmla="*/ 23 h 40"/>
                  <a:gd name="T52" fmla="*/ 0 w 90"/>
                  <a:gd name="T53" fmla="*/ 31 h 4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0"/>
                  <a:gd name="T82" fmla="*/ 0 h 40"/>
                  <a:gd name="T83" fmla="*/ 90 w 90"/>
                  <a:gd name="T84" fmla="*/ 40 h 4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0" h="40">
                    <a:moveTo>
                      <a:pt x="0" y="31"/>
                    </a:moveTo>
                    <a:lnTo>
                      <a:pt x="8" y="32"/>
                    </a:lnTo>
                    <a:lnTo>
                      <a:pt x="26" y="31"/>
                    </a:lnTo>
                    <a:lnTo>
                      <a:pt x="36" y="38"/>
                    </a:lnTo>
                    <a:lnTo>
                      <a:pt x="45" y="40"/>
                    </a:lnTo>
                    <a:lnTo>
                      <a:pt x="53" y="31"/>
                    </a:lnTo>
                    <a:lnTo>
                      <a:pt x="49" y="27"/>
                    </a:lnTo>
                    <a:lnTo>
                      <a:pt x="54" y="26"/>
                    </a:lnTo>
                    <a:lnTo>
                      <a:pt x="67" y="31"/>
                    </a:lnTo>
                    <a:lnTo>
                      <a:pt x="76" y="31"/>
                    </a:lnTo>
                    <a:lnTo>
                      <a:pt x="76" y="26"/>
                    </a:lnTo>
                    <a:lnTo>
                      <a:pt x="81" y="26"/>
                    </a:lnTo>
                    <a:lnTo>
                      <a:pt x="90" y="21"/>
                    </a:lnTo>
                    <a:lnTo>
                      <a:pt x="82" y="21"/>
                    </a:lnTo>
                    <a:lnTo>
                      <a:pt x="82" y="12"/>
                    </a:lnTo>
                    <a:lnTo>
                      <a:pt x="82" y="5"/>
                    </a:lnTo>
                    <a:lnTo>
                      <a:pt x="72" y="4"/>
                    </a:lnTo>
                    <a:lnTo>
                      <a:pt x="63" y="5"/>
                    </a:lnTo>
                    <a:lnTo>
                      <a:pt x="53" y="5"/>
                    </a:lnTo>
                    <a:lnTo>
                      <a:pt x="41" y="4"/>
                    </a:lnTo>
                    <a:lnTo>
                      <a:pt x="31" y="0"/>
                    </a:lnTo>
                    <a:lnTo>
                      <a:pt x="26" y="4"/>
                    </a:lnTo>
                    <a:lnTo>
                      <a:pt x="26" y="12"/>
                    </a:lnTo>
                    <a:lnTo>
                      <a:pt x="17" y="12"/>
                    </a:lnTo>
                    <a:lnTo>
                      <a:pt x="13" y="21"/>
                    </a:lnTo>
                    <a:lnTo>
                      <a:pt x="8" y="23"/>
                    </a:lnTo>
                    <a:lnTo>
                      <a:pt x="0" y="31"/>
                    </a:lnTo>
                    <a:close/>
                  </a:path>
                </a:pathLst>
              </a:custGeom>
              <a:solidFill>
                <a:schemeClr val="accent2"/>
              </a:solidFill>
              <a:ln w="9525">
                <a:noFill/>
                <a:round/>
                <a:headEnd/>
                <a:tailEnd/>
              </a:ln>
            </p:spPr>
            <p:txBody>
              <a:bodyPr/>
              <a:lstStyle/>
              <a:p>
                <a:endParaRPr lang="zh-CN" altLang="en-US"/>
              </a:p>
            </p:txBody>
          </p:sp>
          <p:sp>
            <p:nvSpPr>
              <p:cNvPr id="14365" name="Freeform 39"/>
              <p:cNvSpPr>
                <a:spLocks/>
              </p:cNvSpPr>
              <p:nvPr/>
            </p:nvSpPr>
            <p:spPr bwMode="auto">
              <a:xfrm>
                <a:off x="2720" y="1945"/>
                <a:ext cx="191" cy="281"/>
              </a:xfrm>
              <a:custGeom>
                <a:avLst/>
                <a:gdLst>
                  <a:gd name="T0" fmla="*/ 64 w 572"/>
                  <a:gd name="T1" fmla="*/ 14 h 845"/>
                  <a:gd name="T2" fmla="*/ 106 w 572"/>
                  <a:gd name="T3" fmla="*/ 2 h 845"/>
                  <a:gd name="T4" fmla="*/ 88 w 572"/>
                  <a:gd name="T5" fmla="*/ 30 h 845"/>
                  <a:gd name="T6" fmla="*/ 106 w 572"/>
                  <a:gd name="T7" fmla="*/ 28 h 845"/>
                  <a:gd name="T8" fmla="*/ 125 w 572"/>
                  <a:gd name="T9" fmla="*/ 26 h 845"/>
                  <a:gd name="T10" fmla="*/ 152 w 572"/>
                  <a:gd name="T11" fmla="*/ 35 h 845"/>
                  <a:gd name="T12" fmla="*/ 230 w 572"/>
                  <a:gd name="T13" fmla="*/ 53 h 845"/>
                  <a:gd name="T14" fmla="*/ 267 w 572"/>
                  <a:gd name="T15" fmla="*/ 67 h 845"/>
                  <a:gd name="T16" fmla="*/ 311 w 572"/>
                  <a:gd name="T17" fmla="*/ 75 h 845"/>
                  <a:gd name="T18" fmla="*/ 379 w 572"/>
                  <a:gd name="T19" fmla="*/ 117 h 845"/>
                  <a:gd name="T20" fmla="*/ 415 w 572"/>
                  <a:gd name="T21" fmla="*/ 167 h 845"/>
                  <a:gd name="T22" fmla="*/ 556 w 572"/>
                  <a:gd name="T23" fmla="*/ 210 h 845"/>
                  <a:gd name="T24" fmla="*/ 558 w 572"/>
                  <a:gd name="T25" fmla="*/ 280 h 845"/>
                  <a:gd name="T26" fmla="*/ 522 w 572"/>
                  <a:gd name="T27" fmla="*/ 321 h 845"/>
                  <a:gd name="T28" fmla="*/ 516 w 572"/>
                  <a:gd name="T29" fmla="*/ 374 h 845"/>
                  <a:gd name="T30" fmla="*/ 494 w 572"/>
                  <a:gd name="T31" fmla="*/ 399 h 845"/>
                  <a:gd name="T32" fmla="*/ 462 w 572"/>
                  <a:gd name="T33" fmla="*/ 436 h 845"/>
                  <a:gd name="T34" fmla="*/ 412 w 572"/>
                  <a:gd name="T35" fmla="*/ 454 h 845"/>
                  <a:gd name="T36" fmla="*/ 385 w 572"/>
                  <a:gd name="T37" fmla="*/ 492 h 845"/>
                  <a:gd name="T38" fmla="*/ 380 w 572"/>
                  <a:gd name="T39" fmla="*/ 527 h 845"/>
                  <a:gd name="T40" fmla="*/ 343 w 572"/>
                  <a:gd name="T41" fmla="*/ 559 h 845"/>
                  <a:gd name="T42" fmla="*/ 320 w 572"/>
                  <a:gd name="T43" fmla="*/ 585 h 845"/>
                  <a:gd name="T44" fmla="*/ 305 w 572"/>
                  <a:gd name="T45" fmla="*/ 598 h 845"/>
                  <a:gd name="T46" fmla="*/ 297 w 572"/>
                  <a:gd name="T47" fmla="*/ 630 h 845"/>
                  <a:gd name="T48" fmla="*/ 256 w 572"/>
                  <a:gd name="T49" fmla="*/ 644 h 845"/>
                  <a:gd name="T50" fmla="*/ 226 w 572"/>
                  <a:gd name="T51" fmla="*/ 658 h 845"/>
                  <a:gd name="T52" fmla="*/ 226 w 572"/>
                  <a:gd name="T53" fmla="*/ 690 h 845"/>
                  <a:gd name="T54" fmla="*/ 194 w 572"/>
                  <a:gd name="T55" fmla="*/ 717 h 845"/>
                  <a:gd name="T56" fmla="*/ 214 w 572"/>
                  <a:gd name="T57" fmla="*/ 738 h 845"/>
                  <a:gd name="T58" fmla="*/ 185 w 572"/>
                  <a:gd name="T59" fmla="*/ 759 h 845"/>
                  <a:gd name="T60" fmla="*/ 170 w 572"/>
                  <a:gd name="T61" fmla="*/ 795 h 845"/>
                  <a:gd name="T62" fmla="*/ 208 w 572"/>
                  <a:gd name="T63" fmla="*/ 845 h 845"/>
                  <a:gd name="T64" fmla="*/ 162 w 572"/>
                  <a:gd name="T65" fmla="*/ 819 h 845"/>
                  <a:gd name="T66" fmla="*/ 133 w 572"/>
                  <a:gd name="T67" fmla="*/ 776 h 845"/>
                  <a:gd name="T68" fmla="*/ 129 w 572"/>
                  <a:gd name="T69" fmla="*/ 658 h 845"/>
                  <a:gd name="T70" fmla="*/ 125 w 572"/>
                  <a:gd name="T71" fmla="*/ 608 h 845"/>
                  <a:gd name="T72" fmla="*/ 128 w 572"/>
                  <a:gd name="T73" fmla="*/ 554 h 845"/>
                  <a:gd name="T74" fmla="*/ 133 w 572"/>
                  <a:gd name="T75" fmla="*/ 510 h 845"/>
                  <a:gd name="T76" fmla="*/ 132 w 572"/>
                  <a:gd name="T77" fmla="*/ 441 h 845"/>
                  <a:gd name="T78" fmla="*/ 134 w 572"/>
                  <a:gd name="T79" fmla="*/ 385 h 845"/>
                  <a:gd name="T80" fmla="*/ 101 w 572"/>
                  <a:gd name="T81" fmla="*/ 346 h 845"/>
                  <a:gd name="T82" fmla="*/ 50 w 572"/>
                  <a:gd name="T83" fmla="*/ 314 h 845"/>
                  <a:gd name="T84" fmla="*/ 32 w 572"/>
                  <a:gd name="T85" fmla="*/ 268 h 845"/>
                  <a:gd name="T86" fmla="*/ 9 w 572"/>
                  <a:gd name="T87" fmla="*/ 241 h 845"/>
                  <a:gd name="T88" fmla="*/ 9 w 572"/>
                  <a:gd name="T89" fmla="*/ 196 h 845"/>
                  <a:gd name="T90" fmla="*/ 5 w 572"/>
                  <a:gd name="T91" fmla="*/ 154 h 845"/>
                  <a:gd name="T92" fmla="*/ 41 w 572"/>
                  <a:gd name="T93" fmla="*/ 71 h 84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572"/>
                  <a:gd name="T142" fmla="*/ 0 h 845"/>
                  <a:gd name="T143" fmla="*/ 572 w 572"/>
                  <a:gd name="T144" fmla="*/ 845 h 84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572" h="845">
                    <a:moveTo>
                      <a:pt x="44" y="37"/>
                    </a:moveTo>
                    <a:lnTo>
                      <a:pt x="50" y="28"/>
                    </a:lnTo>
                    <a:lnTo>
                      <a:pt x="64" y="14"/>
                    </a:lnTo>
                    <a:lnTo>
                      <a:pt x="85" y="5"/>
                    </a:lnTo>
                    <a:lnTo>
                      <a:pt x="97" y="0"/>
                    </a:lnTo>
                    <a:lnTo>
                      <a:pt x="106" y="2"/>
                    </a:lnTo>
                    <a:lnTo>
                      <a:pt x="105" y="9"/>
                    </a:lnTo>
                    <a:lnTo>
                      <a:pt x="92" y="16"/>
                    </a:lnTo>
                    <a:lnTo>
                      <a:pt x="88" y="30"/>
                    </a:lnTo>
                    <a:lnTo>
                      <a:pt x="92" y="39"/>
                    </a:lnTo>
                    <a:lnTo>
                      <a:pt x="101" y="39"/>
                    </a:lnTo>
                    <a:lnTo>
                      <a:pt x="106" y="28"/>
                    </a:lnTo>
                    <a:lnTo>
                      <a:pt x="110" y="16"/>
                    </a:lnTo>
                    <a:lnTo>
                      <a:pt x="119" y="18"/>
                    </a:lnTo>
                    <a:lnTo>
                      <a:pt x="125" y="26"/>
                    </a:lnTo>
                    <a:lnTo>
                      <a:pt x="138" y="25"/>
                    </a:lnTo>
                    <a:lnTo>
                      <a:pt x="148" y="30"/>
                    </a:lnTo>
                    <a:lnTo>
                      <a:pt x="152" y="35"/>
                    </a:lnTo>
                    <a:lnTo>
                      <a:pt x="171" y="34"/>
                    </a:lnTo>
                    <a:lnTo>
                      <a:pt x="214" y="30"/>
                    </a:lnTo>
                    <a:lnTo>
                      <a:pt x="230" y="53"/>
                    </a:lnTo>
                    <a:lnTo>
                      <a:pt x="255" y="62"/>
                    </a:lnTo>
                    <a:lnTo>
                      <a:pt x="253" y="71"/>
                    </a:lnTo>
                    <a:lnTo>
                      <a:pt x="267" y="67"/>
                    </a:lnTo>
                    <a:lnTo>
                      <a:pt x="278" y="67"/>
                    </a:lnTo>
                    <a:lnTo>
                      <a:pt x="292" y="76"/>
                    </a:lnTo>
                    <a:lnTo>
                      <a:pt x="311" y="75"/>
                    </a:lnTo>
                    <a:lnTo>
                      <a:pt x="328" y="76"/>
                    </a:lnTo>
                    <a:lnTo>
                      <a:pt x="351" y="94"/>
                    </a:lnTo>
                    <a:lnTo>
                      <a:pt x="379" y="117"/>
                    </a:lnTo>
                    <a:lnTo>
                      <a:pt x="392" y="144"/>
                    </a:lnTo>
                    <a:lnTo>
                      <a:pt x="380" y="162"/>
                    </a:lnTo>
                    <a:lnTo>
                      <a:pt x="415" y="167"/>
                    </a:lnTo>
                    <a:lnTo>
                      <a:pt x="467" y="178"/>
                    </a:lnTo>
                    <a:lnTo>
                      <a:pt x="522" y="187"/>
                    </a:lnTo>
                    <a:lnTo>
                      <a:pt x="556" y="210"/>
                    </a:lnTo>
                    <a:lnTo>
                      <a:pt x="572" y="231"/>
                    </a:lnTo>
                    <a:lnTo>
                      <a:pt x="572" y="257"/>
                    </a:lnTo>
                    <a:lnTo>
                      <a:pt x="558" y="280"/>
                    </a:lnTo>
                    <a:lnTo>
                      <a:pt x="544" y="292"/>
                    </a:lnTo>
                    <a:lnTo>
                      <a:pt x="533" y="303"/>
                    </a:lnTo>
                    <a:lnTo>
                      <a:pt x="522" y="321"/>
                    </a:lnTo>
                    <a:lnTo>
                      <a:pt x="521" y="335"/>
                    </a:lnTo>
                    <a:lnTo>
                      <a:pt x="522" y="353"/>
                    </a:lnTo>
                    <a:lnTo>
                      <a:pt x="516" y="374"/>
                    </a:lnTo>
                    <a:lnTo>
                      <a:pt x="510" y="378"/>
                    </a:lnTo>
                    <a:lnTo>
                      <a:pt x="504" y="390"/>
                    </a:lnTo>
                    <a:lnTo>
                      <a:pt x="494" y="399"/>
                    </a:lnTo>
                    <a:lnTo>
                      <a:pt x="493" y="408"/>
                    </a:lnTo>
                    <a:lnTo>
                      <a:pt x="481" y="418"/>
                    </a:lnTo>
                    <a:lnTo>
                      <a:pt x="462" y="436"/>
                    </a:lnTo>
                    <a:lnTo>
                      <a:pt x="444" y="444"/>
                    </a:lnTo>
                    <a:lnTo>
                      <a:pt x="434" y="441"/>
                    </a:lnTo>
                    <a:lnTo>
                      <a:pt x="412" y="454"/>
                    </a:lnTo>
                    <a:lnTo>
                      <a:pt x="393" y="472"/>
                    </a:lnTo>
                    <a:lnTo>
                      <a:pt x="385" y="482"/>
                    </a:lnTo>
                    <a:lnTo>
                      <a:pt x="385" y="492"/>
                    </a:lnTo>
                    <a:lnTo>
                      <a:pt x="393" y="505"/>
                    </a:lnTo>
                    <a:lnTo>
                      <a:pt x="380" y="518"/>
                    </a:lnTo>
                    <a:lnTo>
                      <a:pt x="380" y="527"/>
                    </a:lnTo>
                    <a:lnTo>
                      <a:pt x="365" y="541"/>
                    </a:lnTo>
                    <a:lnTo>
                      <a:pt x="355" y="546"/>
                    </a:lnTo>
                    <a:lnTo>
                      <a:pt x="343" y="559"/>
                    </a:lnTo>
                    <a:lnTo>
                      <a:pt x="339" y="573"/>
                    </a:lnTo>
                    <a:lnTo>
                      <a:pt x="324" y="587"/>
                    </a:lnTo>
                    <a:lnTo>
                      <a:pt x="320" y="585"/>
                    </a:lnTo>
                    <a:lnTo>
                      <a:pt x="308" y="585"/>
                    </a:lnTo>
                    <a:lnTo>
                      <a:pt x="293" y="591"/>
                    </a:lnTo>
                    <a:lnTo>
                      <a:pt x="305" y="598"/>
                    </a:lnTo>
                    <a:lnTo>
                      <a:pt x="305" y="612"/>
                    </a:lnTo>
                    <a:lnTo>
                      <a:pt x="305" y="621"/>
                    </a:lnTo>
                    <a:lnTo>
                      <a:pt x="297" y="630"/>
                    </a:lnTo>
                    <a:lnTo>
                      <a:pt x="278" y="633"/>
                    </a:lnTo>
                    <a:lnTo>
                      <a:pt x="264" y="637"/>
                    </a:lnTo>
                    <a:lnTo>
                      <a:pt x="256" y="644"/>
                    </a:lnTo>
                    <a:lnTo>
                      <a:pt x="256" y="658"/>
                    </a:lnTo>
                    <a:lnTo>
                      <a:pt x="240" y="660"/>
                    </a:lnTo>
                    <a:lnTo>
                      <a:pt x="226" y="658"/>
                    </a:lnTo>
                    <a:lnTo>
                      <a:pt x="223" y="665"/>
                    </a:lnTo>
                    <a:lnTo>
                      <a:pt x="230" y="672"/>
                    </a:lnTo>
                    <a:lnTo>
                      <a:pt x="226" y="690"/>
                    </a:lnTo>
                    <a:lnTo>
                      <a:pt x="219" y="708"/>
                    </a:lnTo>
                    <a:lnTo>
                      <a:pt x="201" y="708"/>
                    </a:lnTo>
                    <a:lnTo>
                      <a:pt x="194" y="717"/>
                    </a:lnTo>
                    <a:lnTo>
                      <a:pt x="196" y="731"/>
                    </a:lnTo>
                    <a:lnTo>
                      <a:pt x="208" y="731"/>
                    </a:lnTo>
                    <a:lnTo>
                      <a:pt x="214" y="738"/>
                    </a:lnTo>
                    <a:lnTo>
                      <a:pt x="210" y="753"/>
                    </a:lnTo>
                    <a:lnTo>
                      <a:pt x="199" y="753"/>
                    </a:lnTo>
                    <a:lnTo>
                      <a:pt x="185" y="759"/>
                    </a:lnTo>
                    <a:lnTo>
                      <a:pt x="180" y="769"/>
                    </a:lnTo>
                    <a:lnTo>
                      <a:pt x="180" y="787"/>
                    </a:lnTo>
                    <a:lnTo>
                      <a:pt x="170" y="795"/>
                    </a:lnTo>
                    <a:lnTo>
                      <a:pt x="203" y="823"/>
                    </a:lnTo>
                    <a:lnTo>
                      <a:pt x="214" y="836"/>
                    </a:lnTo>
                    <a:lnTo>
                      <a:pt x="208" y="845"/>
                    </a:lnTo>
                    <a:lnTo>
                      <a:pt x="194" y="838"/>
                    </a:lnTo>
                    <a:lnTo>
                      <a:pt x="180" y="828"/>
                    </a:lnTo>
                    <a:lnTo>
                      <a:pt x="162" y="819"/>
                    </a:lnTo>
                    <a:lnTo>
                      <a:pt x="146" y="805"/>
                    </a:lnTo>
                    <a:lnTo>
                      <a:pt x="133" y="791"/>
                    </a:lnTo>
                    <a:lnTo>
                      <a:pt x="133" y="776"/>
                    </a:lnTo>
                    <a:lnTo>
                      <a:pt x="134" y="764"/>
                    </a:lnTo>
                    <a:lnTo>
                      <a:pt x="133" y="674"/>
                    </a:lnTo>
                    <a:lnTo>
                      <a:pt x="129" y="658"/>
                    </a:lnTo>
                    <a:lnTo>
                      <a:pt x="119" y="640"/>
                    </a:lnTo>
                    <a:lnTo>
                      <a:pt x="119" y="626"/>
                    </a:lnTo>
                    <a:lnTo>
                      <a:pt x="125" y="608"/>
                    </a:lnTo>
                    <a:lnTo>
                      <a:pt x="133" y="585"/>
                    </a:lnTo>
                    <a:lnTo>
                      <a:pt x="129" y="562"/>
                    </a:lnTo>
                    <a:lnTo>
                      <a:pt x="128" y="554"/>
                    </a:lnTo>
                    <a:lnTo>
                      <a:pt x="128" y="542"/>
                    </a:lnTo>
                    <a:lnTo>
                      <a:pt x="132" y="536"/>
                    </a:lnTo>
                    <a:lnTo>
                      <a:pt x="133" y="510"/>
                    </a:lnTo>
                    <a:lnTo>
                      <a:pt x="132" y="499"/>
                    </a:lnTo>
                    <a:lnTo>
                      <a:pt x="137" y="468"/>
                    </a:lnTo>
                    <a:lnTo>
                      <a:pt x="132" y="441"/>
                    </a:lnTo>
                    <a:lnTo>
                      <a:pt x="134" y="430"/>
                    </a:lnTo>
                    <a:lnTo>
                      <a:pt x="142" y="401"/>
                    </a:lnTo>
                    <a:lnTo>
                      <a:pt x="134" y="385"/>
                    </a:lnTo>
                    <a:lnTo>
                      <a:pt x="120" y="372"/>
                    </a:lnTo>
                    <a:lnTo>
                      <a:pt x="119" y="360"/>
                    </a:lnTo>
                    <a:lnTo>
                      <a:pt x="101" y="346"/>
                    </a:lnTo>
                    <a:lnTo>
                      <a:pt x="85" y="339"/>
                    </a:lnTo>
                    <a:lnTo>
                      <a:pt x="62" y="335"/>
                    </a:lnTo>
                    <a:lnTo>
                      <a:pt x="50" y="314"/>
                    </a:lnTo>
                    <a:lnTo>
                      <a:pt x="35" y="298"/>
                    </a:lnTo>
                    <a:lnTo>
                      <a:pt x="33" y="280"/>
                    </a:lnTo>
                    <a:lnTo>
                      <a:pt x="32" y="268"/>
                    </a:lnTo>
                    <a:lnTo>
                      <a:pt x="28" y="257"/>
                    </a:lnTo>
                    <a:lnTo>
                      <a:pt x="19" y="246"/>
                    </a:lnTo>
                    <a:lnTo>
                      <a:pt x="9" y="241"/>
                    </a:lnTo>
                    <a:lnTo>
                      <a:pt x="0" y="231"/>
                    </a:lnTo>
                    <a:lnTo>
                      <a:pt x="9" y="219"/>
                    </a:lnTo>
                    <a:lnTo>
                      <a:pt x="9" y="196"/>
                    </a:lnTo>
                    <a:lnTo>
                      <a:pt x="5" y="185"/>
                    </a:lnTo>
                    <a:lnTo>
                      <a:pt x="0" y="171"/>
                    </a:lnTo>
                    <a:lnTo>
                      <a:pt x="5" y="154"/>
                    </a:lnTo>
                    <a:lnTo>
                      <a:pt x="26" y="108"/>
                    </a:lnTo>
                    <a:lnTo>
                      <a:pt x="28" y="90"/>
                    </a:lnTo>
                    <a:lnTo>
                      <a:pt x="41" y="71"/>
                    </a:lnTo>
                    <a:lnTo>
                      <a:pt x="41" y="58"/>
                    </a:lnTo>
                    <a:lnTo>
                      <a:pt x="44" y="37"/>
                    </a:lnTo>
                    <a:close/>
                  </a:path>
                </a:pathLst>
              </a:custGeom>
              <a:solidFill>
                <a:schemeClr val="accent2"/>
              </a:solidFill>
              <a:ln w="9525">
                <a:noFill/>
                <a:round/>
                <a:headEnd/>
                <a:tailEnd/>
              </a:ln>
            </p:spPr>
            <p:txBody>
              <a:bodyPr/>
              <a:lstStyle/>
              <a:p>
                <a:endParaRPr lang="zh-CN" altLang="en-US"/>
              </a:p>
            </p:txBody>
          </p:sp>
        </p:grpSp>
        <p:grpSp>
          <p:nvGrpSpPr>
            <p:cNvPr id="9" name="Group 40"/>
            <p:cNvGrpSpPr>
              <a:grpSpLocks/>
            </p:cNvGrpSpPr>
            <p:nvPr/>
          </p:nvGrpSpPr>
          <p:grpSpPr bwMode="auto">
            <a:xfrm>
              <a:off x="3327" y="2419"/>
              <a:ext cx="578" cy="843"/>
              <a:chOff x="2775" y="1879"/>
              <a:chExt cx="661" cy="843"/>
            </a:xfrm>
          </p:grpSpPr>
          <p:sp>
            <p:nvSpPr>
              <p:cNvPr id="14346" name="Freeform 41"/>
              <p:cNvSpPr>
                <a:spLocks/>
              </p:cNvSpPr>
              <p:nvPr/>
            </p:nvSpPr>
            <p:spPr bwMode="auto">
              <a:xfrm>
                <a:off x="2775" y="1879"/>
                <a:ext cx="410" cy="843"/>
              </a:xfrm>
              <a:custGeom>
                <a:avLst/>
                <a:gdLst>
                  <a:gd name="T0" fmla="*/ 421 w 1230"/>
                  <a:gd name="T1" fmla="*/ 105 h 2530"/>
                  <a:gd name="T2" fmla="*/ 360 w 1230"/>
                  <a:gd name="T3" fmla="*/ 175 h 2530"/>
                  <a:gd name="T4" fmla="*/ 380 w 1230"/>
                  <a:gd name="T5" fmla="*/ 269 h 2530"/>
                  <a:gd name="T6" fmla="*/ 447 w 1230"/>
                  <a:gd name="T7" fmla="*/ 341 h 2530"/>
                  <a:gd name="T8" fmla="*/ 401 w 1230"/>
                  <a:gd name="T9" fmla="*/ 422 h 2530"/>
                  <a:gd name="T10" fmla="*/ 0 w 1230"/>
                  <a:gd name="T11" fmla="*/ 843 h 2530"/>
                  <a:gd name="T12" fmla="*/ 302 w 1230"/>
                  <a:gd name="T13" fmla="*/ 983 h 2530"/>
                  <a:gd name="T14" fmla="*/ 206 w 1230"/>
                  <a:gd name="T15" fmla="*/ 877 h 2530"/>
                  <a:gd name="T16" fmla="*/ 248 w 1230"/>
                  <a:gd name="T17" fmla="*/ 765 h 2530"/>
                  <a:gd name="T18" fmla="*/ 303 w 1230"/>
                  <a:gd name="T19" fmla="*/ 982 h 2530"/>
                  <a:gd name="T20" fmla="*/ 325 w 1230"/>
                  <a:gd name="T21" fmla="*/ 1114 h 2530"/>
                  <a:gd name="T22" fmla="*/ 314 w 1230"/>
                  <a:gd name="T23" fmla="*/ 1448 h 2530"/>
                  <a:gd name="T24" fmla="*/ 271 w 1230"/>
                  <a:gd name="T25" fmla="*/ 2016 h 2530"/>
                  <a:gd name="T26" fmla="*/ 320 w 1230"/>
                  <a:gd name="T27" fmla="*/ 2439 h 2530"/>
                  <a:gd name="T28" fmla="*/ 348 w 1230"/>
                  <a:gd name="T29" fmla="*/ 2512 h 2530"/>
                  <a:gd name="T30" fmla="*/ 437 w 1230"/>
                  <a:gd name="T31" fmla="*/ 2508 h 2530"/>
                  <a:gd name="T32" fmla="*/ 469 w 1230"/>
                  <a:gd name="T33" fmla="*/ 2431 h 2530"/>
                  <a:gd name="T34" fmla="*/ 502 w 1230"/>
                  <a:gd name="T35" fmla="*/ 2047 h 2530"/>
                  <a:gd name="T36" fmla="*/ 575 w 1230"/>
                  <a:gd name="T37" fmla="*/ 1478 h 2530"/>
                  <a:gd name="T38" fmla="*/ 662 w 1230"/>
                  <a:gd name="T39" fmla="*/ 1798 h 2530"/>
                  <a:gd name="T40" fmla="*/ 712 w 1230"/>
                  <a:gd name="T41" fmla="*/ 2149 h 2530"/>
                  <a:gd name="T42" fmla="*/ 781 w 1230"/>
                  <a:gd name="T43" fmla="*/ 2434 h 2530"/>
                  <a:gd name="T44" fmla="*/ 802 w 1230"/>
                  <a:gd name="T45" fmla="*/ 2530 h 2530"/>
                  <a:gd name="T46" fmla="*/ 861 w 1230"/>
                  <a:gd name="T47" fmla="*/ 2530 h 2530"/>
                  <a:gd name="T48" fmla="*/ 953 w 1230"/>
                  <a:gd name="T49" fmla="*/ 2480 h 2530"/>
                  <a:gd name="T50" fmla="*/ 1082 w 1230"/>
                  <a:gd name="T51" fmla="*/ 2406 h 2530"/>
                  <a:gd name="T52" fmla="*/ 1064 w 1230"/>
                  <a:gd name="T53" fmla="*/ 2365 h 2530"/>
                  <a:gd name="T54" fmla="*/ 986 w 1230"/>
                  <a:gd name="T55" fmla="*/ 2359 h 2530"/>
                  <a:gd name="T56" fmla="*/ 888 w 1230"/>
                  <a:gd name="T57" fmla="*/ 1816 h 2530"/>
                  <a:gd name="T58" fmla="*/ 857 w 1230"/>
                  <a:gd name="T59" fmla="*/ 1428 h 2530"/>
                  <a:gd name="T60" fmla="*/ 793 w 1230"/>
                  <a:gd name="T61" fmla="*/ 983 h 2530"/>
                  <a:gd name="T62" fmla="*/ 825 w 1230"/>
                  <a:gd name="T63" fmla="*/ 613 h 2530"/>
                  <a:gd name="T64" fmla="*/ 1031 w 1230"/>
                  <a:gd name="T65" fmla="*/ 523 h 2530"/>
                  <a:gd name="T66" fmla="*/ 1155 w 1230"/>
                  <a:gd name="T67" fmla="*/ 304 h 2530"/>
                  <a:gd name="T68" fmla="*/ 1144 w 1230"/>
                  <a:gd name="T69" fmla="*/ 245 h 2530"/>
                  <a:gd name="T70" fmla="*/ 1181 w 1230"/>
                  <a:gd name="T71" fmla="*/ 207 h 2530"/>
                  <a:gd name="T72" fmla="*/ 1193 w 1230"/>
                  <a:gd name="T73" fmla="*/ 163 h 2530"/>
                  <a:gd name="T74" fmla="*/ 1196 w 1230"/>
                  <a:gd name="T75" fmla="*/ 119 h 2530"/>
                  <a:gd name="T76" fmla="*/ 1194 w 1230"/>
                  <a:gd name="T77" fmla="*/ 77 h 2530"/>
                  <a:gd name="T78" fmla="*/ 1230 w 1230"/>
                  <a:gd name="T79" fmla="*/ 4 h 2530"/>
                  <a:gd name="T80" fmla="*/ 1208 w 1230"/>
                  <a:gd name="T81" fmla="*/ 13 h 2530"/>
                  <a:gd name="T82" fmla="*/ 1171 w 1230"/>
                  <a:gd name="T83" fmla="*/ 69 h 2530"/>
                  <a:gd name="T84" fmla="*/ 1116 w 1230"/>
                  <a:gd name="T85" fmla="*/ 123 h 2530"/>
                  <a:gd name="T86" fmla="*/ 1111 w 1230"/>
                  <a:gd name="T87" fmla="*/ 78 h 2530"/>
                  <a:gd name="T88" fmla="*/ 1091 w 1230"/>
                  <a:gd name="T89" fmla="*/ 54 h 2530"/>
                  <a:gd name="T90" fmla="*/ 1070 w 1230"/>
                  <a:gd name="T91" fmla="*/ 133 h 2530"/>
                  <a:gd name="T92" fmla="*/ 1052 w 1230"/>
                  <a:gd name="T93" fmla="*/ 209 h 2530"/>
                  <a:gd name="T94" fmla="*/ 962 w 1230"/>
                  <a:gd name="T95" fmla="*/ 382 h 2530"/>
                  <a:gd name="T96" fmla="*/ 949 w 1230"/>
                  <a:gd name="T97" fmla="*/ 384 h 2530"/>
                  <a:gd name="T98" fmla="*/ 779 w 1230"/>
                  <a:gd name="T99" fmla="*/ 414 h 2530"/>
                  <a:gd name="T100" fmla="*/ 643 w 1230"/>
                  <a:gd name="T101" fmla="*/ 415 h 2530"/>
                  <a:gd name="T102" fmla="*/ 648 w 1230"/>
                  <a:gd name="T103" fmla="*/ 290 h 2530"/>
                  <a:gd name="T104" fmla="*/ 652 w 1230"/>
                  <a:gd name="T105" fmla="*/ 220 h 2530"/>
                  <a:gd name="T106" fmla="*/ 677 w 1230"/>
                  <a:gd name="T107" fmla="*/ 161 h 2530"/>
                  <a:gd name="T108" fmla="*/ 676 w 1230"/>
                  <a:gd name="T109" fmla="*/ 149 h 2530"/>
                  <a:gd name="T110" fmla="*/ 594 w 1230"/>
                  <a:gd name="T111" fmla="*/ 97 h 2530"/>
                  <a:gd name="T112" fmla="*/ 510 w 1230"/>
                  <a:gd name="T113" fmla="*/ 68 h 253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230"/>
                  <a:gd name="T172" fmla="*/ 0 h 2530"/>
                  <a:gd name="T173" fmla="*/ 1230 w 1230"/>
                  <a:gd name="T174" fmla="*/ 2530 h 253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230" h="2530">
                    <a:moveTo>
                      <a:pt x="469" y="78"/>
                    </a:moveTo>
                    <a:lnTo>
                      <a:pt x="421" y="105"/>
                    </a:lnTo>
                    <a:lnTo>
                      <a:pt x="372" y="147"/>
                    </a:lnTo>
                    <a:lnTo>
                      <a:pt x="360" y="175"/>
                    </a:lnTo>
                    <a:lnTo>
                      <a:pt x="380" y="234"/>
                    </a:lnTo>
                    <a:lnTo>
                      <a:pt x="380" y="269"/>
                    </a:lnTo>
                    <a:lnTo>
                      <a:pt x="413" y="324"/>
                    </a:lnTo>
                    <a:lnTo>
                      <a:pt x="447" y="341"/>
                    </a:lnTo>
                    <a:lnTo>
                      <a:pt x="438" y="384"/>
                    </a:lnTo>
                    <a:lnTo>
                      <a:pt x="401" y="422"/>
                    </a:lnTo>
                    <a:lnTo>
                      <a:pt x="207" y="491"/>
                    </a:lnTo>
                    <a:lnTo>
                      <a:pt x="0" y="843"/>
                    </a:lnTo>
                    <a:lnTo>
                      <a:pt x="229" y="1116"/>
                    </a:lnTo>
                    <a:lnTo>
                      <a:pt x="302" y="983"/>
                    </a:lnTo>
                    <a:lnTo>
                      <a:pt x="242" y="927"/>
                    </a:lnTo>
                    <a:lnTo>
                      <a:pt x="206" y="877"/>
                    </a:lnTo>
                    <a:lnTo>
                      <a:pt x="182" y="836"/>
                    </a:lnTo>
                    <a:lnTo>
                      <a:pt x="248" y="765"/>
                    </a:lnTo>
                    <a:lnTo>
                      <a:pt x="349" y="969"/>
                    </a:lnTo>
                    <a:lnTo>
                      <a:pt x="303" y="982"/>
                    </a:lnTo>
                    <a:lnTo>
                      <a:pt x="253" y="1071"/>
                    </a:lnTo>
                    <a:lnTo>
                      <a:pt x="325" y="1114"/>
                    </a:lnTo>
                    <a:lnTo>
                      <a:pt x="283" y="1448"/>
                    </a:lnTo>
                    <a:lnTo>
                      <a:pt x="314" y="1448"/>
                    </a:lnTo>
                    <a:lnTo>
                      <a:pt x="284" y="1835"/>
                    </a:lnTo>
                    <a:lnTo>
                      <a:pt x="271" y="2016"/>
                    </a:lnTo>
                    <a:lnTo>
                      <a:pt x="283" y="2429"/>
                    </a:lnTo>
                    <a:lnTo>
                      <a:pt x="320" y="2439"/>
                    </a:lnTo>
                    <a:lnTo>
                      <a:pt x="325" y="2499"/>
                    </a:lnTo>
                    <a:lnTo>
                      <a:pt x="348" y="2512"/>
                    </a:lnTo>
                    <a:lnTo>
                      <a:pt x="392" y="2518"/>
                    </a:lnTo>
                    <a:lnTo>
                      <a:pt x="437" y="2508"/>
                    </a:lnTo>
                    <a:lnTo>
                      <a:pt x="463" y="2489"/>
                    </a:lnTo>
                    <a:lnTo>
                      <a:pt x="469" y="2431"/>
                    </a:lnTo>
                    <a:lnTo>
                      <a:pt x="502" y="2408"/>
                    </a:lnTo>
                    <a:lnTo>
                      <a:pt x="502" y="2047"/>
                    </a:lnTo>
                    <a:lnTo>
                      <a:pt x="530" y="1704"/>
                    </a:lnTo>
                    <a:lnTo>
                      <a:pt x="575" y="1478"/>
                    </a:lnTo>
                    <a:lnTo>
                      <a:pt x="607" y="1476"/>
                    </a:lnTo>
                    <a:lnTo>
                      <a:pt x="662" y="1798"/>
                    </a:lnTo>
                    <a:lnTo>
                      <a:pt x="683" y="1843"/>
                    </a:lnTo>
                    <a:lnTo>
                      <a:pt x="712" y="2149"/>
                    </a:lnTo>
                    <a:lnTo>
                      <a:pt x="756" y="2412"/>
                    </a:lnTo>
                    <a:lnTo>
                      <a:pt x="781" y="2434"/>
                    </a:lnTo>
                    <a:lnTo>
                      <a:pt x="782" y="2512"/>
                    </a:lnTo>
                    <a:lnTo>
                      <a:pt x="802" y="2530"/>
                    </a:lnTo>
                    <a:lnTo>
                      <a:pt x="829" y="2527"/>
                    </a:lnTo>
                    <a:lnTo>
                      <a:pt x="861" y="2530"/>
                    </a:lnTo>
                    <a:lnTo>
                      <a:pt x="908" y="2507"/>
                    </a:lnTo>
                    <a:lnTo>
                      <a:pt x="953" y="2480"/>
                    </a:lnTo>
                    <a:lnTo>
                      <a:pt x="1005" y="2466"/>
                    </a:lnTo>
                    <a:lnTo>
                      <a:pt x="1082" y="2406"/>
                    </a:lnTo>
                    <a:lnTo>
                      <a:pt x="1087" y="2380"/>
                    </a:lnTo>
                    <a:lnTo>
                      <a:pt x="1064" y="2365"/>
                    </a:lnTo>
                    <a:lnTo>
                      <a:pt x="972" y="2375"/>
                    </a:lnTo>
                    <a:lnTo>
                      <a:pt x="986" y="2359"/>
                    </a:lnTo>
                    <a:lnTo>
                      <a:pt x="876" y="1871"/>
                    </a:lnTo>
                    <a:lnTo>
                      <a:pt x="888" y="1816"/>
                    </a:lnTo>
                    <a:lnTo>
                      <a:pt x="876" y="1742"/>
                    </a:lnTo>
                    <a:lnTo>
                      <a:pt x="857" y="1428"/>
                    </a:lnTo>
                    <a:lnTo>
                      <a:pt x="890" y="1373"/>
                    </a:lnTo>
                    <a:lnTo>
                      <a:pt x="793" y="983"/>
                    </a:lnTo>
                    <a:lnTo>
                      <a:pt x="793" y="850"/>
                    </a:lnTo>
                    <a:lnTo>
                      <a:pt x="825" y="613"/>
                    </a:lnTo>
                    <a:lnTo>
                      <a:pt x="934" y="578"/>
                    </a:lnTo>
                    <a:lnTo>
                      <a:pt x="1031" y="523"/>
                    </a:lnTo>
                    <a:lnTo>
                      <a:pt x="1055" y="486"/>
                    </a:lnTo>
                    <a:lnTo>
                      <a:pt x="1155" y="304"/>
                    </a:lnTo>
                    <a:lnTo>
                      <a:pt x="1128" y="250"/>
                    </a:lnTo>
                    <a:lnTo>
                      <a:pt x="1144" y="245"/>
                    </a:lnTo>
                    <a:lnTo>
                      <a:pt x="1162" y="234"/>
                    </a:lnTo>
                    <a:lnTo>
                      <a:pt x="1181" y="207"/>
                    </a:lnTo>
                    <a:lnTo>
                      <a:pt x="1194" y="181"/>
                    </a:lnTo>
                    <a:lnTo>
                      <a:pt x="1193" y="163"/>
                    </a:lnTo>
                    <a:lnTo>
                      <a:pt x="1204" y="131"/>
                    </a:lnTo>
                    <a:lnTo>
                      <a:pt x="1196" y="119"/>
                    </a:lnTo>
                    <a:lnTo>
                      <a:pt x="1201" y="93"/>
                    </a:lnTo>
                    <a:lnTo>
                      <a:pt x="1194" y="77"/>
                    </a:lnTo>
                    <a:lnTo>
                      <a:pt x="1216" y="28"/>
                    </a:lnTo>
                    <a:lnTo>
                      <a:pt x="1230" y="4"/>
                    </a:lnTo>
                    <a:lnTo>
                      <a:pt x="1221" y="0"/>
                    </a:lnTo>
                    <a:lnTo>
                      <a:pt x="1208" y="13"/>
                    </a:lnTo>
                    <a:lnTo>
                      <a:pt x="1194" y="36"/>
                    </a:lnTo>
                    <a:lnTo>
                      <a:pt x="1171" y="69"/>
                    </a:lnTo>
                    <a:lnTo>
                      <a:pt x="1143" y="117"/>
                    </a:lnTo>
                    <a:lnTo>
                      <a:pt x="1116" y="123"/>
                    </a:lnTo>
                    <a:lnTo>
                      <a:pt x="1112" y="100"/>
                    </a:lnTo>
                    <a:lnTo>
                      <a:pt x="1111" y="78"/>
                    </a:lnTo>
                    <a:lnTo>
                      <a:pt x="1105" y="60"/>
                    </a:lnTo>
                    <a:lnTo>
                      <a:pt x="1091" y="54"/>
                    </a:lnTo>
                    <a:lnTo>
                      <a:pt x="1096" y="83"/>
                    </a:lnTo>
                    <a:lnTo>
                      <a:pt x="1070" y="133"/>
                    </a:lnTo>
                    <a:lnTo>
                      <a:pt x="1061" y="220"/>
                    </a:lnTo>
                    <a:lnTo>
                      <a:pt x="1052" y="209"/>
                    </a:lnTo>
                    <a:lnTo>
                      <a:pt x="991" y="347"/>
                    </a:lnTo>
                    <a:lnTo>
                      <a:pt x="962" y="382"/>
                    </a:lnTo>
                    <a:lnTo>
                      <a:pt x="966" y="393"/>
                    </a:lnTo>
                    <a:lnTo>
                      <a:pt x="949" y="384"/>
                    </a:lnTo>
                    <a:lnTo>
                      <a:pt x="913" y="402"/>
                    </a:lnTo>
                    <a:lnTo>
                      <a:pt x="779" y="414"/>
                    </a:lnTo>
                    <a:lnTo>
                      <a:pt x="659" y="402"/>
                    </a:lnTo>
                    <a:lnTo>
                      <a:pt x="643" y="415"/>
                    </a:lnTo>
                    <a:lnTo>
                      <a:pt x="611" y="391"/>
                    </a:lnTo>
                    <a:lnTo>
                      <a:pt x="648" y="290"/>
                    </a:lnTo>
                    <a:lnTo>
                      <a:pt x="640" y="250"/>
                    </a:lnTo>
                    <a:lnTo>
                      <a:pt x="652" y="220"/>
                    </a:lnTo>
                    <a:lnTo>
                      <a:pt x="652" y="177"/>
                    </a:lnTo>
                    <a:lnTo>
                      <a:pt x="677" y="161"/>
                    </a:lnTo>
                    <a:lnTo>
                      <a:pt x="663" y="160"/>
                    </a:lnTo>
                    <a:lnTo>
                      <a:pt x="676" y="149"/>
                    </a:lnTo>
                    <a:lnTo>
                      <a:pt x="631" y="131"/>
                    </a:lnTo>
                    <a:lnTo>
                      <a:pt x="594" y="97"/>
                    </a:lnTo>
                    <a:lnTo>
                      <a:pt x="556" y="88"/>
                    </a:lnTo>
                    <a:lnTo>
                      <a:pt x="510" y="68"/>
                    </a:lnTo>
                    <a:lnTo>
                      <a:pt x="469" y="78"/>
                    </a:lnTo>
                    <a:close/>
                  </a:path>
                </a:pathLst>
              </a:custGeom>
              <a:solidFill>
                <a:srgbClr val="000000"/>
              </a:solidFill>
              <a:ln w="9525">
                <a:noFill/>
                <a:round/>
                <a:headEnd/>
                <a:tailEnd/>
              </a:ln>
            </p:spPr>
            <p:txBody>
              <a:bodyPr/>
              <a:lstStyle/>
              <a:p>
                <a:endParaRPr lang="zh-CN" altLang="en-US"/>
              </a:p>
            </p:txBody>
          </p:sp>
          <p:grpSp>
            <p:nvGrpSpPr>
              <p:cNvPr id="10" name="Group 42"/>
              <p:cNvGrpSpPr>
                <a:grpSpLocks/>
              </p:cNvGrpSpPr>
              <p:nvPr/>
            </p:nvGrpSpPr>
            <p:grpSpPr bwMode="auto">
              <a:xfrm>
                <a:off x="3154" y="1887"/>
                <a:ext cx="282" cy="817"/>
                <a:chOff x="3154" y="1887"/>
                <a:chExt cx="282" cy="817"/>
              </a:xfrm>
            </p:grpSpPr>
            <p:sp>
              <p:nvSpPr>
                <p:cNvPr id="14348" name="Freeform 43"/>
                <p:cNvSpPr>
                  <a:spLocks/>
                </p:cNvSpPr>
                <p:nvPr/>
              </p:nvSpPr>
              <p:spPr bwMode="auto">
                <a:xfrm>
                  <a:off x="3154" y="1887"/>
                  <a:ext cx="282" cy="817"/>
                </a:xfrm>
                <a:custGeom>
                  <a:avLst/>
                  <a:gdLst>
                    <a:gd name="T0" fmla="*/ 235 w 844"/>
                    <a:gd name="T1" fmla="*/ 45 h 2452"/>
                    <a:gd name="T2" fmla="*/ 358 w 844"/>
                    <a:gd name="T3" fmla="*/ 1 h 2452"/>
                    <a:gd name="T4" fmla="*/ 434 w 844"/>
                    <a:gd name="T5" fmla="*/ 18 h 2452"/>
                    <a:gd name="T6" fmla="*/ 516 w 844"/>
                    <a:gd name="T7" fmla="*/ 82 h 2452"/>
                    <a:gd name="T8" fmla="*/ 498 w 844"/>
                    <a:gd name="T9" fmla="*/ 223 h 2452"/>
                    <a:gd name="T10" fmla="*/ 507 w 844"/>
                    <a:gd name="T11" fmla="*/ 236 h 2452"/>
                    <a:gd name="T12" fmla="*/ 533 w 844"/>
                    <a:gd name="T13" fmla="*/ 249 h 2452"/>
                    <a:gd name="T14" fmla="*/ 672 w 844"/>
                    <a:gd name="T15" fmla="*/ 373 h 2452"/>
                    <a:gd name="T16" fmla="*/ 752 w 844"/>
                    <a:gd name="T17" fmla="*/ 560 h 2452"/>
                    <a:gd name="T18" fmla="*/ 844 w 844"/>
                    <a:gd name="T19" fmla="*/ 818 h 2452"/>
                    <a:gd name="T20" fmla="*/ 779 w 844"/>
                    <a:gd name="T21" fmla="*/ 1275 h 2452"/>
                    <a:gd name="T22" fmla="*/ 654 w 844"/>
                    <a:gd name="T23" fmla="*/ 1688 h 2452"/>
                    <a:gd name="T24" fmla="*/ 662 w 844"/>
                    <a:gd name="T25" fmla="*/ 2212 h 2452"/>
                    <a:gd name="T26" fmla="*/ 611 w 844"/>
                    <a:gd name="T27" fmla="*/ 2371 h 2452"/>
                    <a:gd name="T28" fmla="*/ 533 w 844"/>
                    <a:gd name="T29" fmla="*/ 2352 h 2452"/>
                    <a:gd name="T30" fmla="*/ 426 w 844"/>
                    <a:gd name="T31" fmla="*/ 2356 h 2452"/>
                    <a:gd name="T32" fmla="*/ 388 w 844"/>
                    <a:gd name="T33" fmla="*/ 2438 h 2452"/>
                    <a:gd name="T34" fmla="*/ 257 w 844"/>
                    <a:gd name="T35" fmla="*/ 2434 h 2452"/>
                    <a:gd name="T36" fmla="*/ 57 w 844"/>
                    <a:gd name="T37" fmla="*/ 2452 h 2452"/>
                    <a:gd name="T38" fmla="*/ 0 w 844"/>
                    <a:gd name="T39" fmla="*/ 2399 h 2452"/>
                    <a:gd name="T40" fmla="*/ 174 w 844"/>
                    <a:gd name="T41" fmla="*/ 2309 h 2452"/>
                    <a:gd name="T42" fmla="*/ 219 w 844"/>
                    <a:gd name="T43" fmla="*/ 1771 h 2452"/>
                    <a:gd name="T44" fmla="*/ 224 w 844"/>
                    <a:gd name="T45" fmla="*/ 1448 h 2452"/>
                    <a:gd name="T46" fmla="*/ 238 w 844"/>
                    <a:gd name="T47" fmla="*/ 1162 h 2452"/>
                    <a:gd name="T48" fmla="*/ 239 w 844"/>
                    <a:gd name="T49" fmla="*/ 978 h 2452"/>
                    <a:gd name="T50" fmla="*/ 229 w 844"/>
                    <a:gd name="T51" fmla="*/ 860 h 2452"/>
                    <a:gd name="T52" fmla="*/ 300 w 844"/>
                    <a:gd name="T53" fmla="*/ 504 h 2452"/>
                    <a:gd name="T54" fmla="*/ 337 w 844"/>
                    <a:gd name="T55" fmla="*/ 419 h 2452"/>
                    <a:gd name="T56" fmla="*/ 360 w 844"/>
                    <a:gd name="T57" fmla="*/ 346 h 2452"/>
                    <a:gd name="T58" fmla="*/ 358 w 844"/>
                    <a:gd name="T59" fmla="*/ 327 h 2452"/>
                    <a:gd name="T60" fmla="*/ 282 w 844"/>
                    <a:gd name="T61" fmla="*/ 324 h 2452"/>
                    <a:gd name="T62" fmla="*/ 265 w 844"/>
                    <a:gd name="T63" fmla="*/ 292 h 2452"/>
                    <a:gd name="T64" fmla="*/ 261 w 844"/>
                    <a:gd name="T65" fmla="*/ 264 h 2452"/>
                    <a:gd name="T66" fmla="*/ 229 w 844"/>
                    <a:gd name="T67" fmla="*/ 249 h 2452"/>
                    <a:gd name="T68" fmla="*/ 234 w 844"/>
                    <a:gd name="T69" fmla="*/ 169 h 2452"/>
                    <a:gd name="T70" fmla="*/ 207 w 844"/>
                    <a:gd name="T71" fmla="*/ 94 h 245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4"/>
                    <a:gd name="T109" fmla="*/ 0 h 2452"/>
                    <a:gd name="T110" fmla="*/ 844 w 844"/>
                    <a:gd name="T111" fmla="*/ 2452 h 245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4" h="2452">
                      <a:moveTo>
                        <a:pt x="207" y="94"/>
                      </a:moveTo>
                      <a:lnTo>
                        <a:pt x="235" y="45"/>
                      </a:lnTo>
                      <a:lnTo>
                        <a:pt x="300" y="24"/>
                      </a:lnTo>
                      <a:lnTo>
                        <a:pt x="358" y="1"/>
                      </a:lnTo>
                      <a:lnTo>
                        <a:pt x="394" y="0"/>
                      </a:lnTo>
                      <a:lnTo>
                        <a:pt x="434" y="18"/>
                      </a:lnTo>
                      <a:lnTo>
                        <a:pt x="449" y="27"/>
                      </a:lnTo>
                      <a:lnTo>
                        <a:pt x="516" y="82"/>
                      </a:lnTo>
                      <a:lnTo>
                        <a:pt x="534" y="146"/>
                      </a:lnTo>
                      <a:lnTo>
                        <a:pt x="498" y="223"/>
                      </a:lnTo>
                      <a:lnTo>
                        <a:pt x="498" y="243"/>
                      </a:lnTo>
                      <a:lnTo>
                        <a:pt x="507" y="236"/>
                      </a:lnTo>
                      <a:lnTo>
                        <a:pt x="521" y="259"/>
                      </a:lnTo>
                      <a:lnTo>
                        <a:pt x="533" y="249"/>
                      </a:lnTo>
                      <a:lnTo>
                        <a:pt x="553" y="300"/>
                      </a:lnTo>
                      <a:lnTo>
                        <a:pt x="672" y="373"/>
                      </a:lnTo>
                      <a:lnTo>
                        <a:pt x="687" y="387"/>
                      </a:lnTo>
                      <a:lnTo>
                        <a:pt x="752" y="560"/>
                      </a:lnTo>
                      <a:lnTo>
                        <a:pt x="844" y="784"/>
                      </a:lnTo>
                      <a:lnTo>
                        <a:pt x="844" y="818"/>
                      </a:lnTo>
                      <a:lnTo>
                        <a:pt x="694" y="978"/>
                      </a:lnTo>
                      <a:lnTo>
                        <a:pt x="779" y="1275"/>
                      </a:lnTo>
                      <a:lnTo>
                        <a:pt x="651" y="1375"/>
                      </a:lnTo>
                      <a:lnTo>
                        <a:pt x="654" y="1688"/>
                      </a:lnTo>
                      <a:lnTo>
                        <a:pt x="681" y="2024"/>
                      </a:lnTo>
                      <a:lnTo>
                        <a:pt x="662" y="2212"/>
                      </a:lnTo>
                      <a:lnTo>
                        <a:pt x="660" y="2352"/>
                      </a:lnTo>
                      <a:lnTo>
                        <a:pt x="611" y="2371"/>
                      </a:lnTo>
                      <a:lnTo>
                        <a:pt x="567" y="2366"/>
                      </a:lnTo>
                      <a:lnTo>
                        <a:pt x="533" y="2352"/>
                      </a:lnTo>
                      <a:lnTo>
                        <a:pt x="483" y="2352"/>
                      </a:lnTo>
                      <a:lnTo>
                        <a:pt x="426" y="2356"/>
                      </a:lnTo>
                      <a:lnTo>
                        <a:pt x="405" y="2347"/>
                      </a:lnTo>
                      <a:lnTo>
                        <a:pt x="388" y="2438"/>
                      </a:lnTo>
                      <a:lnTo>
                        <a:pt x="280" y="2444"/>
                      </a:lnTo>
                      <a:lnTo>
                        <a:pt x="257" y="2434"/>
                      </a:lnTo>
                      <a:lnTo>
                        <a:pt x="188" y="2444"/>
                      </a:lnTo>
                      <a:lnTo>
                        <a:pt x="57" y="2452"/>
                      </a:lnTo>
                      <a:lnTo>
                        <a:pt x="0" y="2439"/>
                      </a:lnTo>
                      <a:lnTo>
                        <a:pt x="0" y="2399"/>
                      </a:lnTo>
                      <a:lnTo>
                        <a:pt x="123" y="2359"/>
                      </a:lnTo>
                      <a:lnTo>
                        <a:pt x="174" y="2309"/>
                      </a:lnTo>
                      <a:lnTo>
                        <a:pt x="197" y="2024"/>
                      </a:lnTo>
                      <a:lnTo>
                        <a:pt x="219" y="1771"/>
                      </a:lnTo>
                      <a:lnTo>
                        <a:pt x="196" y="1697"/>
                      </a:lnTo>
                      <a:lnTo>
                        <a:pt x="224" y="1448"/>
                      </a:lnTo>
                      <a:lnTo>
                        <a:pt x="250" y="1234"/>
                      </a:lnTo>
                      <a:lnTo>
                        <a:pt x="238" y="1162"/>
                      </a:lnTo>
                      <a:lnTo>
                        <a:pt x="229" y="1103"/>
                      </a:lnTo>
                      <a:lnTo>
                        <a:pt x="239" y="978"/>
                      </a:lnTo>
                      <a:lnTo>
                        <a:pt x="229" y="950"/>
                      </a:lnTo>
                      <a:lnTo>
                        <a:pt x="229" y="860"/>
                      </a:lnTo>
                      <a:lnTo>
                        <a:pt x="229" y="779"/>
                      </a:lnTo>
                      <a:lnTo>
                        <a:pt x="300" y="504"/>
                      </a:lnTo>
                      <a:lnTo>
                        <a:pt x="321" y="465"/>
                      </a:lnTo>
                      <a:lnTo>
                        <a:pt x="337" y="419"/>
                      </a:lnTo>
                      <a:lnTo>
                        <a:pt x="337" y="397"/>
                      </a:lnTo>
                      <a:lnTo>
                        <a:pt x="360" y="346"/>
                      </a:lnTo>
                      <a:lnTo>
                        <a:pt x="373" y="338"/>
                      </a:lnTo>
                      <a:lnTo>
                        <a:pt x="358" y="327"/>
                      </a:lnTo>
                      <a:lnTo>
                        <a:pt x="293" y="336"/>
                      </a:lnTo>
                      <a:lnTo>
                        <a:pt x="282" y="324"/>
                      </a:lnTo>
                      <a:lnTo>
                        <a:pt x="275" y="301"/>
                      </a:lnTo>
                      <a:lnTo>
                        <a:pt x="265" y="292"/>
                      </a:lnTo>
                      <a:lnTo>
                        <a:pt x="261" y="281"/>
                      </a:lnTo>
                      <a:lnTo>
                        <a:pt x="261" y="264"/>
                      </a:lnTo>
                      <a:lnTo>
                        <a:pt x="259" y="254"/>
                      </a:lnTo>
                      <a:lnTo>
                        <a:pt x="229" y="249"/>
                      </a:lnTo>
                      <a:lnTo>
                        <a:pt x="247" y="190"/>
                      </a:lnTo>
                      <a:lnTo>
                        <a:pt x="234" y="169"/>
                      </a:lnTo>
                      <a:lnTo>
                        <a:pt x="239" y="114"/>
                      </a:lnTo>
                      <a:lnTo>
                        <a:pt x="207" y="94"/>
                      </a:lnTo>
                      <a:close/>
                    </a:path>
                  </a:pathLst>
                </a:custGeom>
                <a:solidFill>
                  <a:srgbClr val="000000"/>
                </a:solidFill>
                <a:ln w="9525">
                  <a:noFill/>
                  <a:round/>
                  <a:headEnd/>
                  <a:tailEnd/>
                </a:ln>
              </p:spPr>
              <p:txBody>
                <a:bodyPr/>
                <a:lstStyle/>
                <a:p>
                  <a:endParaRPr lang="zh-CN" altLang="en-US"/>
                </a:p>
              </p:txBody>
            </p:sp>
            <p:sp>
              <p:nvSpPr>
                <p:cNvPr id="14349" name="Freeform 44"/>
                <p:cNvSpPr>
                  <a:spLocks/>
                </p:cNvSpPr>
                <p:nvPr/>
              </p:nvSpPr>
              <p:spPr bwMode="auto">
                <a:xfrm>
                  <a:off x="3230" y="1965"/>
                  <a:ext cx="99" cy="231"/>
                </a:xfrm>
                <a:custGeom>
                  <a:avLst/>
                  <a:gdLst>
                    <a:gd name="T0" fmla="*/ 283 w 298"/>
                    <a:gd name="T1" fmla="*/ 0 h 692"/>
                    <a:gd name="T2" fmla="*/ 298 w 298"/>
                    <a:gd name="T3" fmla="*/ 32 h 692"/>
                    <a:gd name="T4" fmla="*/ 110 w 298"/>
                    <a:gd name="T5" fmla="*/ 356 h 692"/>
                    <a:gd name="T6" fmla="*/ 99 w 298"/>
                    <a:gd name="T7" fmla="*/ 589 h 692"/>
                    <a:gd name="T8" fmla="*/ 172 w 298"/>
                    <a:gd name="T9" fmla="*/ 679 h 692"/>
                    <a:gd name="T10" fmla="*/ 0 w 298"/>
                    <a:gd name="T11" fmla="*/ 692 h 692"/>
                    <a:gd name="T12" fmla="*/ 0 w 298"/>
                    <a:gd name="T13" fmla="*/ 523 h 692"/>
                    <a:gd name="T14" fmla="*/ 73 w 298"/>
                    <a:gd name="T15" fmla="*/ 271 h 692"/>
                    <a:gd name="T16" fmla="*/ 110 w 298"/>
                    <a:gd name="T17" fmla="*/ 186 h 692"/>
                    <a:gd name="T18" fmla="*/ 155 w 298"/>
                    <a:gd name="T19" fmla="*/ 152 h 692"/>
                    <a:gd name="T20" fmla="*/ 133 w 298"/>
                    <a:gd name="T21" fmla="*/ 110 h 692"/>
                    <a:gd name="T22" fmla="*/ 283 w 298"/>
                    <a:gd name="T23" fmla="*/ 0 h 6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8"/>
                    <a:gd name="T37" fmla="*/ 0 h 692"/>
                    <a:gd name="T38" fmla="*/ 298 w 298"/>
                    <a:gd name="T39" fmla="*/ 692 h 6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8" h="692">
                      <a:moveTo>
                        <a:pt x="283" y="0"/>
                      </a:moveTo>
                      <a:lnTo>
                        <a:pt x="298" y="32"/>
                      </a:lnTo>
                      <a:lnTo>
                        <a:pt x="110" y="356"/>
                      </a:lnTo>
                      <a:lnTo>
                        <a:pt x="99" y="589"/>
                      </a:lnTo>
                      <a:lnTo>
                        <a:pt x="172" y="679"/>
                      </a:lnTo>
                      <a:lnTo>
                        <a:pt x="0" y="692"/>
                      </a:lnTo>
                      <a:lnTo>
                        <a:pt x="0" y="523"/>
                      </a:lnTo>
                      <a:lnTo>
                        <a:pt x="73" y="271"/>
                      </a:lnTo>
                      <a:lnTo>
                        <a:pt x="110" y="186"/>
                      </a:lnTo>
                      <a:lnTo>
                        <a:pt x="155" y="152"/>
                      </a:lnTo>
                      <a:lnTo>
                        <a:pt x="133" y="110"/>
                      </a:lnTo>
                      <a:lnTo>
                        <a:pt x="283" y="0"/>
                      </a:lnTo>
                      <a:close/>
                    </a:path>
                  </a:pathLst>
                </a:custGeom>
                <a:solidFill>
                  <a:srgbClr val="FFFFFF"/>
                </a:solidFill>
                <a:ln w="9525">
                  <a:noFill/>
                  <a:round/>
                  <a:headEnd/>
                  <a:tailEnd/>
                </a:ln>
              </p:spPr>
              <p:txBody>
                <a:bodyPr/>
                <a:lstStyle/>
                <a:p>
                  <a:endParaRPr lang="zh-CN" altLang="en-US"/>
                </a:p>
              </p:txBody>
            </p:sp>
            <p:sp>
              <p:nvSpPr>
                <p:cNvPr id="14350" name="Freeform 45"/>
                <p:cNvSpPr>
                  <a:spLocks/>
                </p:cNvSpPr>
                <p:nvPr/>
              </p:nvSpPr>
              <p:spPr bwMode="auto">
                <a:xfrm>
                  <a:off x="3229" y="2003"/>
                  <a:ext cx="53" cy="147"/>
                </a:xfrm>
                <a:custGeom>
                  <a:avLst/>
                  <a:gdLst>
                    <a:gd name="T0" fmla="*/ 134 w 159"/>
                    <a:gd name="T1" fmla="*/ 0 h 439"/>
                    <a:gd name="T2" fmla="*/ 159 w 159"/>
                    <a:gd name="T3" fmla="*/ 41 h 439"/>
                    <a:gd name="T4" fmla="*/ 124 w 159"/>
                    <a:gd name="T5" fmla="*/ 70 h 439"/>
                    <a:gd name="T6" fmla="*/ 41 w 159"/>
                    <a:gd name="T7" fmla="*/ 425 h 439"/>
                    <a:gd name="T8" fmla="*/ 11 w 159"/>
                    <a:gd name="T9" fmla="*/ 439 h 439"/>
                    <a:gd name="T10" fmla="*/ 0 w 159"/>
                    <a:gd name="T11" fmla="*/ 411 h 439"/>
                    <a:gd name="T12" fmla="*/ 76 w 159"/>
                    <a:gd name="T13" fmla="*/ 159 h 439"/>
                    <a:gd name="T14" fmla="*/ 90 w 159"/>
                    <a:gd name="T15" fmla="*/ 125 h 439"/>
                    <a:gd name="T16" fmla="*/ 115 w 159"/>
                    <a:gd name="T17" fmla="*/ 70 h 439"/>
                    <a:gd name="T18" fmla="*/ 113 w 159"/>
                    <a:gd name="T19" fmla="*/ 49 h 439"/>
                    <a:gd name="T20" fmla="*/ 134 w 159"/>
                    <a:gd name="T21" fmla="*/ 0 h 4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9"/>
                    <a:gd name="T34" fmla="*/ 0 h 439"/>
                    <a:gd name="T35" fmla="*/ 159 w 159"/>
                    <a:gd name="T36" fmla="*/ 439 h 4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9" h="439">
                      <a:moveTo>
                        <a:pt x="134" y="0"/>
                      </a:moveTo>
                      <a:lnTo>
                        <a:pt x="159" y="41"/>
                      </a:lnTo>
                      <a:lnTo>
                        <a:pt x="124" y="70"/>
                      </a:lnTo>
                      <a:lnTo>
                        <a:pt x="41" y="425"/>
                      </a:lnTo>
                      <a:lnTo>
                        <a:pt x="11" y="439"/>
                      </a:lnTo>
                      <a:lnTo>
                        <a:pt x="0" y="411"/>
                      </a:lnTo>
                      <a:lnTo>
                        <a:pt x="76" y="159"/>
                      </a:lnTo>
                      <a:lnTo>
                        <a:pt x="90" y="125"/>
                      </a:lnTo>
                      <a:lnTo>
                        <a:pt x="115" y="70"/>
                      </a:lnTo>
                      <a:lnTo>
                        <a:pt x="113" y="49"/>
                      </a:lnTo>
                      <a:lnTo>
                        <a:pt x="134" y="0"/>
                      </a:lnTo>
                      <a:close/>
                    </a:path>
                  </a:pathLst>
                </a:custGeom>
                <a:solidFill>
                  <a:srgbClr val="000000"/>
                </a:solidFill>
                <a:ln w="9525">
                  <a:noFill/>
                  <a:round/>
                  <a:headEnd/>
                  <a:tailEnd/>
                </a:ln>
              </p:spPr>
              <p:txBody>
                <a:bodyPr/>
                <a:lstStyle/>
                <a:p>
                  <a:endParaRPr lang="zh-CN" altLang="en-US"/>
                </a:p>
              </p:txBody>
            </p:sp>
          </p:grpSp>
        </p:grpSp>
      </p:grpSp>
      <p:sp>
        <p:nvSpPr>
          <p:cNvPr id="14339" name="Rectangle 46"/>
          <p:cNvSpPr>
            <a:spLocks noChangeArrowheads="1"/>
          </p:cNvSpPr>
          <p:nvPr/>
        </p:nvSpPr>
        <p:spPr bwMode="auto">
          <a:xfrm>
            <a:off x="6049963" y="198438"/>
            <a:ext cx="2249487" cy="212725"/>
          </a:xfrm>
          <a:prstGeom prst="rect">
            <a:avLst/>
          </a:prstGeom>
          <a:noFill/>
          <a:ln w="12700">
            <a:noFill/>
            <a:miter lim="800000"/>
            <a:headEnd/>
            <a:tailEnd/>
          </a:ln>
        </p:spPr>
        <p:txBody>
          <a:bodyPr lIns="0" tIns="0" rIns="0" bIns="0">
            <a:spAutoFit/>
          </a:bodyPr>
          <a:lstStyle/>
          <a:p>
            <a:pPr algn="r" eaLnBrk="0" hangingPunct="0">
              <a:spcBef>
                <a:spcPct val="50000"/>
              </a:spcBef>
            </a:pPr>
            <a:r>
              <a:rPr kumimoji="0" lang="zh-TW" altLang="en-US" sz="1400">
                <a:solidFill>
                  <a:schemeClr val="tx1"/>
                </a:solidFill>
                <a:ea typeface="PMingLiU" pitchFamily="18" charset="-120"/>
              </a:rPr>
              <a:t>     </a:t>
            </a:r>
          </a:p>
        </p:txBody>
      </p:sp>
      <p:sp>
        <p:nvSpPr>
          <p:cNvPr id="14340" name="Text Box 47"/>
          <p:cNvSpPr txBox="1">
            <a:spLocks noChangeArrowheads="1"/>
          </p:cNvSpPr>
          <p:nvPr/>
        </p:nvSpPr>
        <p:spPr bwMode="auto">
          <a:xfrm>
            <a:off x="5572125" y="2014538"/>
            <a:ext cx="2771775" cy="4143375"/>
          </a:xfrm>
          <a:prstGeom prst="rect">
            <a:avLst/>
          </a:prstGeom>
          <a:gradFill rotWithShape="1">
            <a:gsLst>
              <a:gs pos="0">
                <a:schemeClr val="bg1"/>
              </a:gs>
              <a:gs pos="100000">
                <a:srgbClr val="FF66FF"/>
              </a:gs>
            </a:gsLst>
            <a:lin ang="0" scaled="1"/>
          </a:gradFill>
          <a:ln w="12700">
            <a:solidFill>
              <a:srgbClr val="000099"/>
            </a:solidFill>
            <a:miter lim="800000"/>
            <a:headEnd/>
            <a:tailEnd/>
          </a:ln>
        </p:spPr>
        <p:txBody>
          <a:bodyPr lIns="144000" tIns="72000" rIns="144000" bIns="72000" anchor="ctr"/>
          <a:lstStyle/>
          <a:p>
            <a:pPr marL="193675" indent="-193675" algn="l" eaLnBrk="0" hangingPunct="0">
              <a:spcBef>
                <a:spcPct val="130000"/>
              </a:spcBef>
              <a:buFontTx/>
              <a:buChar char="•"/>
            </a:pPr>
            <a:r>
              <a:rPr kumimoji="0" lang="zh-CN" altLang="en-US" sz="1600" b="1">
                <a:solidFill>
                  <a:schemeClr val="tx1"/>
                </a:solidFill>
                <a:latin typeface="楷体" pitchFamily="2" charset="-122"/>
                <a:ea typeface="楷体" pitchFamily="2" charset="-122"/>
              </a:rPr>
              <a:t>什么是增长的驱动因素？</a:t>
            </a:r>
          </a:p>
          <a:p>
            <a:pPr marL="193675" indent="-193675" algn="l" eaLnBrk="0" hangingPunct="0">
              <a:spcBef>
                <a:spcPct val="130000"/>
              </a:spcBef>
              <a:buFontTx/>
              <a:buChar char="•"/>
            </a:pPr>
            <a:r>
              <a:rPr kumimoji="0" lang="zh-CN" altLang="en-US" sz="1600" b="1">
                <a:solidFill>
                  <a:schemeClr val="tx1"/>
                </a:solidFill>
                <a:latin typeface="楷体" pitchFamily="2" charset="-122"/>
                <a:ea typeface="楷体" pitchFamily="2" charset="-122"/>
              </a:rPr>
              <a:t>哪里竞争和如何竞争？</a:t>
            </a:r>
          </a:p>
          <a:p>
            <a:pPr marL="193675" indent="-193675" algn="l" eaLnBrk="0" hangingPunct="0">
              <a:spcBef>
                <a:spcPct val="130000"/>
              </a:spcBef>
              <a:buFontTx/>
              <a:buChar char="•"/>
            </a:pPr>
            <a:r>
              <a:rPr kumimoji="0" lang="zh-CN" altLang="en-US" sz="1600" b="1">
                <a:solidFill>
                  <a:schemeClr val="tx1"/>
                </a:solidFill>
                <a:latin typeface="楷体" pitchFamily="2" charset="-122"/>
                <a:ea typeface="楷体" pitchFamily="2" charset="-122"/>
              </a:rPr>
              <a:t>退出哪一项业务？</a:t>
            </a:r>
          </a:p>
          <a:p>
            <a:pPr marL="193675" indent="-193675" algn="l" eaLnBrk="0" hangingPunct="0">
              <a:spcBef>
                <a:spcPct val="130000"/>
              </a:spcBef>
              <a:buFontTx/>
              <a:buChar char="•"/>
            </a:pPr>
            <a:r>
              <a:rPr kumimoji="0" lang="zh-CN" altLang="en-US" sz="1600" b="1">
                <a:solidFill>
                  <a:schemeClr val="tx1"/>
                </a:solidFill>
                <a:latin typeface="楷体" pitchFamily="2" charset="-122"/>
                <a:ea typeface="楷体" pitchFamily="2" charset="-122"/>
              </a:rPr>
              <a:t>应该把重点放在哪个发展机会？</a:t>
            </a:r>
          </a:p>
          <a:p>
            <a:pPr marL="193675" indent="-193675" algn="l" eaLnBrk="0" hangingPunct="0">
              <a:spcBef>
                <a:spcPct val="130000"/>
              </a:spcBef>
              <a:buFontTx/>
              <a:buChar char="•"/>
            </a:pPr>
            <a:r>
              <a:rPr kumimoji="0" lang="zh-TW" altLang="en-US" sz="1600" b="1">
                <a:solidFill>
                  <a:schemeClr val="tx1"/>
                </a:solidFill>
                <a:latin typeface="楷体" pitchFamily="2" charset="-122"/>
                <a:ea typeface="楷体" pitchFamily="2" charset="-122"/>
              </a:rPr>
              <a:t>怎样使增长持续下去？</a:t>
            </a:r>
          </a:p>
        </p:txBody>
      </p:sp>
      <p:sp>
        <p:nvSpPr>
          <p:cNvPr id="1213493" name="AutoShape 53"/>
          <p:cNvSpPr>
            <a:spLocks noChangeArrowheads="1"/>
          </p:cNvSpPr>
          <p:nvPr/>
        </p:nvSpPr>
        <p:spPr bwMode="auto">
          <a:xfrm>
            <a:off x="1071563" y="2006600"/>
            <a:ext cx="1643062" cy="4154488"/>
          </a:xfrm>
          <a:prstGeom prst="flowChartProcess">
            <a:avLst/>
          </a:prstGeom>
          <a:gradFill rotWithShape="0">
            <a:gsLst>
              <a:gs pos="0">
                <a:srgbClr val="FF66FF"/>
              </a:gs>
              <a:gs pos="50000">
                <a:schemeClr val="bg1"/>
              </a:gs>
              <a:gs pos="100000">
                <a:srgbClr val="FF66FF"/>
              </a:gs>
            </a:gsLst>
            <a:lin ang="0" scaled="1"/>
          </a:gradFill>
          <a:ln w="12700">
            <a:solidFill>
              <a:srgbClr val="000099"/>
            </a:solidFill>
            <a:miter lim="800000"/>
            <a:headEnd/>
            <a:tailEnd/>
          </a:ln>
          <a:effectLst/>
        </p:spPr>
        <p:txBody>
          <a:bodyPr lIns="72000" tIns="72000" rIns="72000" bIns="72000" anchor="ctr"/>
          <a:lstStyle/>
          <a:p>
            <a:pPr eaLnBrk="0" hangingPunct="0">
              <a:lnSpc>
                <a:spcPct val="105000"/>
              </a:lnSpc>
              <a:spcBef>
                <a:spcPct val="50000"/>
              </a:spcBef>
              <a:defRPr/>
            </a:pPr>
            <a:r>
              <a:rPr kumimoji="0" lang="zh-TW" altLang="en-US" sz="1600" b="1">
                <a:solidFill>
                  <a:schemeClr val="tx1"/>
                </a:solidFill>
                <a:latin typeface="楷体" pitchFamily="2" charset="-122"/>
                <a:ea typeface="楷体" pitchFamily="2" charset="-122"/>
              </a:rPr>
              <a:t>激烈的竞争 / 变化的市场要求</a:t>
            </a:r>
            <a:endParaRPr kumimoji="0" lang="zh-CN" altLang="zh-TW" sz="1600" b="1">
              <a:solidFill>
                <a:schemeClr val="tx1"/>
              </a:solidFill>
              <a:latin typeface="楷体" pitchFamily="2" charset="-122"/>
              <a:ea typeface="楷体" pitchFamily="2" charset="-122"/>
            </a:endParaRPr>
          </a:p>
        </p:txBody>
      </p:sp>
      <p:sp>
        <p:nvSpPr>
          <p:cNvPr id="14342" name="Rectangle 54"/>
          <p:cNvSpPr>
            <a:spLocks noGrp="1" noChangeArrowheads="1"/>
          </p:cNvSpPr>
          <p:nvPr>
            <p:ph type="title"/>
          </p:nvPr>
        </p:nvSpPr>
        <p:spPr>
          <a:xfrm>
            <a:off x="280988" y="228600"/>
            <a:ext cx="8618537" cy="914400"/>
          </a:xfrm>
        </p:spPr>
        <p:txBody>
          <a:bodyPr/>
          <a:lstStyle/>
          <a:p>
            <a:pPr eaLnBrk="1" hangingPunct="1"/>
            <a:r>
              <a:rPr lang="zh-TW" altLang="en-US" sz="3600" dirty="0">
                <a:solidFill>
                  <a:schemeClr val="tx1"/>
                </a:solidFill>
                <a:latin typeface="楷体" pitchFamily="2" charset="-122"/>
              </a:rPr>
              <a:t>企业增长是全世界企业首脑所关注的问题</a:t>
            </a:r>
            <a:endParaRPr lang="zh-CN" altLang="zh-TW" sz="3600" dirty="0">
              <a:solidFill>
                <a:schemeClr val="tx1"/>
              </a:solidFill>
              <a:latin typeface="楷体"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AutoShape 2"/>
          <p:cNvSpPr>
            <a:spLocks noChangeArrowheads="1"/>
          </p:cNvSpPr>
          <p:nvPr/>
        </p:nvSpPr>
        <p:spPr bwMode="auto">
          <a:xfrm flipV="1">
            <a:off x="4583113" y="2400300"/>
            <a:ext cx="3729037" cy="4241800"/>
          </a:xfrm>
          <a:prstGeom prst="upArrow">
            <a:avLst>
              <a:gd name="adj1" fmla="val 77046"/>
              <a:gd name="adj2" fmla="val 29080"/>
            </a:avLst>
          </a:prstGeom>
          <a:gradFill rotWithShape="1">
            <a:gsLst>
              <a:gs pos="0">
                <a:srgbClr val="EF9100"/>
              </a:gs>
              <a:gs pos="100000">
                <a:schemeClr val="bg1"/>
              </a:gs>
            </a:gsLst>
            <a:lin ang="2700000" scaled="1"/>
          </a:gradFill>
          <a:ln w="12700">
            <a:solidFill>
              <a:schemeClr val="tx1"/>
            </a:solidFill>
            <a:miter lim="800000"/>
            <a:headEnd/>
            <a:tailEnd/>
          </a:ln>
        </p:spPr>
        <p:txBody>
          <a:bodyPr wrap="none" lIns="72000" tIns="72000" rIns="72000" bIns="72000" anchor="ctr"/>
          <a:lstStyle/>
          <a:p>
            <a:endParaRPr lang="zh-CN" altLang="en-US"/>
          </a:p>
        </p:txBody>
      </p:sp>
      <p:sp>
        <p:nvSpPr>
          <p:cNvPr id="1215491" name="Rectangle 3"/>
          <p:cNvSpPr>
            <a:spLocks noChangeArrowheads="1"/>
          </p:cNvSpPr>
          <p:nvPr/>
        </p:nvSpPr>
        <p:spPr bwMode="auto">
          <a:xfrm>
            <a:off x="5056188" y="2413000"/>
            <a:ext cx="2782887" cy="3251200"/>
          </a:xfrm>
          <a:prstGeom prst="rect">
            <a:avLst/>
          </a:prstGeom>
          <a:noFill/>
          <a:ln w="12700">
            <a:noFill/>
            <a:miter lim="800000"/>
            <a:headEnd/>
            <a:tailEnd/>
          </a:ln>
          <a:effectLst/>
        </p:spPr>
        <p:txBody>
          <a:bodyPr tIns="90000"/>
          <a:lstStyle/>
          <a:p>
            <a:pPr marL="288925" indent="-288925" algn="l" eaLnBrk="0" hangingPunct="0">
              <a:lnSpc>
                <a:spcPct val="90000"/>
              </a:lnSpc>
              <a:spcBef>
                <a:spcPct val="10000"/>
              </a:spcBef>
              <a:spcAft>
                <a:spcPct val="30000"/>
              </a:spcAft>
              <a:buClr>
                <a:schemeClr val="tx1"/>
              </a:buClr>
              <a:buSzPct val="65000"/>
              <a:buFont typeface="Monotype Sorts"/>
              <a:buChar char="n"/>
              <a:defRPr/>
            </a:pPr>
            <a:r>
              <a:rPr kumimoji="0" lang="zh-CN" altLang="en-GB" sz="1800" b="1">
                <a:solidFill>
                  <a:schemeClr val="tx1"/>
                </a:solidFill>
                <a:effectLst>
                  <a:outerShdw blurRad="38100" dist="38100" dir="2700000" algn="tl">
                    <a:srgbClr val="C0C0C0"/>
                  </a:outerShdw>
                </a:effectLst>
                <a:ea typeface="楷体" pitchFamily="2" charset="-122"/>
              </a:rPr>
              <a:t>成为行业合并的牺牲品</a:t>
            </a:r>
          </a:p>
          <a:p>
            <a:pPr marL="288925" indent="-288925" algn="l" eaLnBrk="0" hangingPunct="0">
              <a:lnSpc>
                <a:spcPct val="90000"/>
              </a:lnSpc>
              <a:spcBef>
                <a:spcPct val="10000"/>
              </a:spcBef>
              <a:spcAft>
                <a:spcPct val="30000"/>
              </a:spcAft>
              <a:buClr>
                <a:schemeClr val="tx1"/>
              </a:buClr>
              <a:buSzPct val="65000"/>
              <a:buFont typeface="Monotype Sorts"/>
              <a:buChar char="n"/>
              <a:defRPr/>
            </a:pPr>
            <a:r>
              <a:rPr kumimoji="0" lang="zh-TW" altLang="en-US" sz="1800" b="1">
                <a:solidFill>
                  <a:schemeClr val="tx1"/>
                </a:solidFill>
                <a:effectLst>
                  <a:outerShdw blurRad="38100" dist="38100" dir="2700000" algn="tl">
                    <a:srgbClr val="C0C0C0"/>
                  </a:outerShdw>
                </a:effectLst>
                <a:ea typeface="楷体" pitchFamily="2" charset="-122"/>
              </a:rPr>
              <a:t>脑力枯竭</a:t>
            </a:r>
          </a:p>
          <a:p>
            <a:pPr marL="288925" indent="-288925" algn="l" eaLnBrk="0" hangingPunct="0">
              <a:lnSpc>
                <a:spcPct val="90000"/>
              </a:lnSpc>
              <a:spcBef>
                <a:spcPct val="10000"/>
              </a:spcBef>
              <a:spcAft>
                <a:spcPct val="30000"/>
              </a:spcAft>
              <a:buClr>
                <a:schemeClr val="tx1"/>
              </a:buClr>
              <a:buSzPct val="65000"/>
              <a:buFont typeface="Monotype Sorts"/>
              <a:buChar char="n"/>
              <a:defRPr/>
            </a:pPr>
            <a:r>
              <a:rPr kumimoji="0" lang="zh-TW" altLang="en-US" sz="1800" b="1">
                <a:solidFill>
                  <a:schemeClr val="tx1"/>
                </a:solidFill>
                <a:effectLst>
                  <a:outerShdw blurRad="38100" dist="38100" dir="2700000" algn="tl">
                    <a:srgbClr val="C0C0C0"/>
                  </a:outerShdw>
                </a:effectLst>
                <a:ea typeface="楷体" pitchFamily="2" charset="-122"/>
              </a:rPr>
              <a:t>雇用人员时缺乏吸引力</a:t>
            </a:r>
          </a:p>
          <a:p>
            <a:pPr marL="288925" indent="-288925" algn="l" eaLnBrk="0" hangingPunct="0">
              <a:lnSpc>
                <a:spcPct val="90000"/>
              </a:lnSpc>
              <a:spcBef>
                <a:spcPct val="10000"/>
              </a:spcBef>
              <a:spcAft>
                <a:spcPct val="30000"/>
              </a:spcAft>
              <a:buClr>
                <a:schemeClr val="tx1"/>
              </a:buClr>
              <a:buSzPct val="65000"/>
              <a:buFont typeface="Monotype Sorts"/>
              <a:buChar char="n"/>
              <a:defRPr/>
            </a:pPr>
            <a:r>
              <a:rPr kumimoji="0" lang="zh-TW" altLang="en-US" sz="1800" b="1">
                <a:solidFill>
                  <a:schemeClr val="tx1"/>
                </a:solidFill>
                <a:effectLst>
                  <a:outerShdw blurRad="38100" dist="38100" dir="2700000" algn="tl">
                    <a:srgbClr val="C0C0C0"/>
                  </a:outerShdw>
                </a:effectLst>
                <a:ea typeface="楷体" pitchFamily="2" charset="-122"/>
              </a:rPr>
              <a:t>衰退的公司文化</a:t>
            </a:r>
          </a:p>
          <a:p>
            <a:pPr marL="288925" indent="-288925" algn="l" eaLnBrk="0" hangingPunct="0">
              <a:lnSpc>
                <a:spcPct val="90000"/>
              </a:lnSpc>
              <a:spcBef>
                <a:spcPct val="10000"/>
              </a:spcBef>
              <a:spcAft>
                <a:spcPct val="30000"/>
              </a:spcAft>
              <a:buClr>
                <a:schemeClr val="tx1"/>
              </a:buClr>
              <a:buSzPct val="65000"/>
              <a:buFont typeface="Monotype Sorts"/>
              <a:buChar char="n"/>
              <a:defRPr/>
            </a:pPr>
            <a:r>
              <a:rPr kumimoji="0" lang="zh-TW" altLang="en-US" sz="1800" b="1">
                <a:solidFill>
                  <a:schemeClr val="tx1"/>
                </a:solidFill>
                <a:effectLst>
                  <a:outerShdw blurRad="38100" dist="38100" dir="2700000" algn="tl">
                    <a:srgbClr val="C0C0C0"/>
                  </a:outerShdw>
                </a:effectLst>
                <a:ea typeface="楷体" pitchFamily="2" charset="-122"/>
              </a:rPr>
              <a:t>接触不到外部资本</a:t>
            </a:r>
          </a:p>
          <a:p>
            <a:pPr marL="288925" indent="-288925" algn="l" eaLnBrk="0" hangingPunct="0">
              <a:lnSpc>
                <a:spcPct val="90000"/>
              </a:lnSpc>
              <a:spcBef>
                <a:spcPct val="10000"/>
              </a:spcBef>
              <a:spcAft>
                <a:spcPct val="30000"/>
              </a:spcAft>
              <a:buClr>
                <a:schemeClr val="tx1"/>
              </a:buClr>
              <a:buSzPct val="65000"/>
              <a:buFont typeface="Monotype Sorts"/>
              <a:buChar char="n"/>
              <a:defRPr/>
            </a:pPr>
            <a:r>
              <a:rPr kumimoji="0" lang="zh-TW" altLang="en-US" sz="1800" b="1">
                <a:solidFill>
                  <a:schemeClr val="tx1"/>
                </a:solidFill>
                <a:effectLst>
                  <a:outerShdw blurRad="38100" dist="38100" dir="2700000" algn="tl">
                    <a:srgbClr val="C0C0C0"/>
                  </a:outerShdw>
                </a:effectLst>
                <a:ea typeface="楷体" pitchFamily="2" charset="-122"/>
              </a:rPr>
              <a:t>...</a:t>
            </a:r>
          </a:p>
        </p:txBody>
      </p:sp>
      <p:sp>
        <p:nvSpPr>
          <p:cNvPr id="15364" name="Rectangle 4"/>
          <p:cNvSpPr>
            <a:spLocks noChangeArrowheads="1"/>
          </p:cNvSpPr>
          <p:nvPr/>
        </p:nvSpPr>
        <p:spPr bwMode="auto">
          <a:xfrm>
            <a:off x="4968875" y="1600200"/>
            <a:ext cx="2957513" cy="447675"/>
          </a:xfrm>
          <a:prstGeom prst="rect">
            <a:avLst/>
          </a:prstGeom>
          <a:noFill/>
          <a:ln w="12700">
            <a:noFill/>
            <a:miter lim="800000"/>
            <a:headEnd/>
            <a:tailEnd/>
          </a:ln>
        </p:spPr>
        <p:txBody>
          <a:bodyPr wrap="none" anchor="ctr"/>
          <a:lstStyle/>
          <a:p>
            <a:pPr eaLnBrk="0" hangingPunct="0"/>
            <a:r>
              <a:rPr kumimoji="0" lang="zh-CN" altLang="en-GB" sz="2400" b="1">
                <a:ea typeface="楷体" pitchFamily="2" charset="-122"/>
              </a:rPr>
              <a:t>不增长的风险</a:t>
            </a:r>
            <a:endParaRPr kumimoji="0" lang="zh-TW" altLang="en-US" sz="2400">
              <a:ea typeface="PMingLiU" pitchFamily="18" charset="-120"/>
            </a:endParaRPr>
          </a:p>
        </p:txBody>
      </p:sp>
      <p:sp>
        <p:nvSpPr>
          <p:cNvPr id="15365" name="Rectangle 5"/>
          <p:cNvSpPr>
            <a:spLocks noChangeArrowheads="1"/>
          </p:cNvSpPr>
          <p:nvPr/>
        </p:nvSpPr>
        <p:spPr bwMode="auto">
          <a:xfrm>
            <a:off x="1276350" y="1600200"/>
            <a:ext cx="2863850" cy="447675"/>
          </a:xfrm>
          <a:prstGeom prst="rect">
            <a:avLst/>
          </a:prstGeom>
          <a:noFill/>
          <a:ln w="12700">
            <a:noFill/>
            <a:miter lim="800000"/>
            <a:headEnd/>
            <a:tailEnd/>
          </a:ln>
        </p:spPr>
        <p:txBody>
          <a:bodyPr wrap="none" anchor="ctr"/>
          <a:lstStyle/>
          <a:p>
            <a:pPr eaLnBrk="0" hangingPunct="0"/>
            <a:r>
              <a:rPr kumimoji="0" lang="zh-CN" altLang="en-GB" sz="2400" b="1" dirty="0">
                <a:ea typeface="楷体" pitchFamily="2" charset="-122"/>
              </a:rPr>
              <a:t>为何增长?</a:t>
            </a:r>
            <a:endParaRPr kumimoji="0" lang="zh-TW" altLang="en-US" sz="2400" dirty="0">
              <a:ea typeface="PMingLiU" pitchFamily="18" charset="-120"/>
            </a:endParaRPr>
          </a:p>
        </p:txBody>
      </p:sp>
      <p:sp>
        <p:nvSpPr>
          <p:cNvPr id="15366" name="AutoShape 6"/>
          <p:cNvSpPr>
            <a:spLocks noChangeArrowheads="1"/>
          </p:cNvSpPr>
          <p:nvPr/>
        </p:nvSpPr>
        <p:spPr bwMode="auto">
          <a:xfrm>
            <a:off x="844550" y="2362200"/>
            <a:ext cx="3727450" cy="4229100"/>
          </a:xfrm>
          <a:prstGeom prst="upArrow">
            <a:avLst>
              <a:gd name="adj1" fmla="val 77046"/>
              <a:gd name="adj2" fmla="val 29005"/>
            </a:avLst>
          </a:prstGeom>
          <a:gradFill rotWithShape="0">
            <a:gsLst>
              <a:gs pos="0">
                <a:srgbClr val="FF9900"/>
              </a:gs>
              <a:gs pos="100000">
                <a:schemeClr val="bg1"/>
              </a:gs>
            </a:gsLst>
            <a:lin ang="5400000" scaled="1"/>
          </a:gradFill>
          <a:ln w="12700">
            <a:solidFill>
              <a:schemeClr val="tx1"/>
            </a:solidFill>
            <a:miter lim="800000"/>
            <a:headEnd/>
            <a:tailEnd/>
          </a:ln>
        </p:spPr>
        <p:txBody>
          <a:bodyPr wrap="none" lIns="72000" tIns="72000" rIns="72000" bIns="72000" anchor="ctr"/>
          <a:lstStyle/>
          <a:p>
            <a:pPr eaLnBrk="0" hangingPunct="0">
              <a:lnSpc>
                <a:spcPct val="90000"/>
              </a:lnSpc>
              <a:spcBef>
                <a:spcPct val="30000"/>
              </a:spcBef>
            </a:pPr>
            <a:endParaRPr kumimoji="0" lang="en-GB" altLang="en-US" sz="1800" b="1">
              <a:solidFill>
                <a:schemeClr val="tx1"/>
              </a:solidFill>
              <a:ea typeface="楷体" pitchFamily="2" charset="-122"/>
            </a:endParaRPr>
          </a:p>
        </p:txBody>
      </p:sp>
      <p:sp>
        <p:nvSpPr>
          <p:cNvPr id="1215495" name="Rectangle 7"/>
          <p:cNvSpPr>
            <a:spLocks noChangeArrowheads="1"/>
          </p:cNvSpPr>
          <p:nvPr/>
        </p:nvSpPr>
        <p:spPr bwMode="auto">
          <a:xfrm>
            <a:off x="1276350" y="3086100"/>
            <a:ext cx="2863850" cy="3251200"/>
          </a:xfrm>
          <a:prstGeom prst="rect">
            <a:avLst/>
          </a:prstGeom>
          <a:noFill/>
          <a:ln w="12700">
            <a:noFill/>
            <a:miter lim="800000"/>
            <a:headEnd/>
            <a:tailEnd/>
          </a:ln>
          <a:effectLst/>
        </p:spPr>
        <p:txBody>
          <a:bodyPr tIns="90000"/>
          <a:lstStyle/>
          <a:p>
            <a:pPr marL="288925" indent="-288925" algn="l" eaLnBrk="0" hangingPunct="0">
              <a:lnSpc>
                <a:spcPct val="90000"/>
              </a:lnSpc>
              <a:spcBef>
                <a:spcPct val="10000"/>
              </a:spcBef>
              <a:spcAft>
                <a:spcPct val="30000"/>
              </a:spcAft>
              <a:buClr>
                <a:schemeClr val="tx1"/>
              </a:buClr>
              <a:buSzPct val="65000"/>
              <a:buFont typeface="Monotype Sorts"/>
              <a:buChar char="n"/>
              <a:defRPr/>
            </a:pPr>
            <a:r>
              <a:rPr kumimoji="0" lang="zh-CN" altLang="en-GB" sz="1800" b="1">
                <a:solidFill>
                  <a:schemeClr val="tx1"/>
                </a:solidFill>
                <a:effectLst>
                  <a:outerShdw blurRad="38100" dist="38100" dir="2700000" algn="tl">
                    <a:srgbClr val="C0C0C0"/>
                  </a:outerShdw>
                </a:effectLst>
                <a:ea typeface="楷体" pitchFamily="2" charset="-122"/>
              </a:rPr>
              <a:t>增加的股东价值</a:t>
            </a:r>
          </a:p>
          <a:p>
            <a:pPr marL="288925" indent="-288925" algn="l" eaLnBrk="0" hangingPunct="0">
              <a:lnSpc>
                <a:spcPct val="90000"/>
              </a:lnSpc>
              <a:spcBef>
                <a:spcPct val="10000"/>
              </a:spcBef>
              <a:spcAft>
                <a:spcPct val="30000"/>
              </a:spcAft>
              <a:buClr>
                <a:schemeClr val="tx1"/>
              </a:buClr>
              <a:buSzPct val="65000"/>
              <a:buFont typeface="Monotype Sorts"/>
              <a:buChar char="n"/>
              <a:defRPr/>
            </a:pPr>
            <a:r>
              <a:rPr kumimoji="0" lang="zh-CN" altLang="en-GB" sz="1800" b="1">
                <a:solidFill>
                  <a:schemeClr val="tx1"/>
                </a:solidFill>
                <a:effectLst>
                  <a:outerShdw blurRad="38100" dist="38100" dir="2700000" algn="tl">
                    <a:srgbClr val="C0C0C0"/>
                  </a:outerShdw>
                </a:effectLst>
                <a:ea typeface="楷体" pitchFamily="2" charset="-122"/>
              </a:rPr>
              <a:t>创造就业机会</a:t>
            </a:r>
          </a:p>
          <a:p>
            <a:pPr marL="288925" indent="-288925" algn="l" eaLnBrk="0" hangingPunct="0">
              <a:lnSpc>
                <a:spcPct val="90000"/>
              </a:lnSpc>
              <a:spcBef>
                <a:spcPct val="10000"/>
              </a:spcBef>
              <a:spcAft>
                <a:spcPct val="30000"/>
              </a:spcAft>
              <a:buClr>
                <a:schemeClr val="tx1"/>
              </a:buClr>
              <a:buSzPct val="65000"/>
              <a:buFont typeface="Monotype Sorts"/>
              <a:buChar char="n"/>
              <a:defRPr/>
            </a:pPr>
            <a:r>
              <a:rPr kumimoji="0" lang="zh-CN" altLang="en-GB" sz="1800" b="1">
                <a:solidFill>
                  <a:schemeClr val="tx1"/>
                </a:solidFill>
                <a:effectLst>
                  <a:outerShdw blurRad="38100" dist="38100" dir="2700000" algn="tl">
                    <a:srgbClr val="C0C0C0"/>
                  </a:outerShdw>
                </a:effectLst>
                <a:ea typeface="楷体" pitchFamily="2" charset="-122"/>
              </a:rPr>
              <a:t>接触到高质量的人才</a:t>
            </a:r>
          </a:p>
          <a:p>
            <a:pPr marL="288925" indent="-288925" algn="l" eaLnBrk="0" hangingPunct="0">
              <a:lnSpc>
                <a:spcPct val="90000"/>
              </a:lnSpc>
              <a:spcBef>
                <a:spcPct val="10000"/>
              </a:spcBef>
              <a:spcAft>
                <a:spcPct val="30000"/>
              </a:spcAft>
              <a:buClr>
                <a:schemeClr val="tx1"/>
              </a:buClr>
              <a:buSzPct val="65000"/>
              <a:buFont typeface="Monotype Sorts"/>
              <a:buChar char="n"/>
              <a:defRPr/>
            </a:pPr>
            <a:r>
              <a:rPr kumimoji="0" lang="zh-CN" altLang="en-GB" sz="1800" b="1">
                <a:solidFill>
                  <a:schemeClr val="tx1"/>
                </a:solidFill>
                <a:effectLst>
                  <a:outerShdw blurRad="38100" dist="38100" dir="2700000" algn="tl">
                    <a:srgbClr val="C0C0C0"/>
                  </a:outerShdw>
                </a:effectLst>
                <a:ea typeface="楷体" pitchFamily="2" charset="-122"/>
              </a:rPr>
              <a:t>接触到强大的联盟伙伴</a:t>
            </a:r>
          </a:p>
          <a:p>
            <a:pPr marL="288925" indent="-288925" algn="l" eaLnBrk="0" hangingPunct="0">
              <a:lnSpc>
                <a:spcPct val="90000"/>
              </a:lnSpc>
              <a:spcBef>
                <a:spcPct val="10000"/>
              </a:spcBef>
              <a:spcAft>
                <a:spcPct val="30000"/>
              </a:spcAft>
              <a:buClr>
                <a:schemeClr val="tx1"/>
              </a:buClr>
              <a:buSzPct val="65000"/>
              <a:buFont typeface="Monotype Sorts"/>
              <a:buChar char="n"/>
              <a:defRPr/>
            </a:pPr>
            <a:r>
              <a:rPr kumimoji="0" lang="zh-CN" altLang="en-GB" sz="1800" b="1">
                <a:solidFill>
                  <a:schemeClr val="tx1"/>
                </a:solidFill>
                <a:effectLst>
                  <a:outerShdw blurRad="38100" dist="38100" dir="2700000" algn="tl">
                    <a:srgbClr val="C0C0C0"/>
                  </a:outerShdw>
                </a:effectLst>
                <a:ea typeface="楷体" pitchFamily="2" charset="-122"/>
              </a:rPr>
              <a:t>建立品牌知名度</a:t>
            </a:r>
          </a:p>
          <a:p>
            <a:pPr marL="288925" indent="-288925" algn="l" eaLnBrk="0" hangingPunct="0">
              <a:lnSpc>
                <a:spcPct val="90000"/>
              </a:lnSpc>
              <a:spcBef>
                <a:spcPct val="10000"/>
              </a:spcBef>
              <a:spcAft>
                <a:spcPct val="30000"/>
              </a:spcAft>
              <a:buClr>
                <a:schemeClr val="tx1"/>
              </a:buClr>
              <a:buSzPct val="65000"/>
              <a:buFont typeface="Monotype Sorts"/>
              <a:buChar char="n"/>
              <a:defRPr/>
            </a:pPr>
            <a:r>
              <a:rPr kumimoji="0" lang="zh-CN" altLang="en-GB" sz="1800" b="1">
                <a:solidFill>
                  <a:schemeClr val="tx1"/>
                </a:solidFill>
                <a:effectLst>
                  <a:outerShdw blurRad="38100" dist="38100" dir="2700000" algn="tl">
                    <a:srgbClr val="C0C0C0"/>
                  </a:outerShdw>
                </a:effectLst>
                <a:ea typeface="楷体" pitchFamily="2" charset="-122"/>
              </a:rPr>
              <a:t>接触到外部资本</a:t>
            </a:r>
          </a:p>
          <a:p>
            <a:pPr marL="288925" indent="-288925" algn="l" eaLnBrk="0" hangingPunct="0">
              <a:lnSpc>
                <a:spcPct val="90000"/>
              </a:lnSpc>
              <a:spcBef>
                <a:spcPct val="10000"/>
              </a:spcBef>
              <a:spcAft>
                <a:spcPct val="30000"/>
              </a:spcAft>
              <a:buClr>
                <a:schemeClr val="tx1"/>
              </a:buClr>
              <a:buSzPct val="65000"/>
              <a:buFont typeface="Monotype Sorts"/>
              <a:buChar char="n"/>
              <a:defRPr/>
            </a:pPr>
            <a:r>
              <a:rPr kumimoji="0" lang="zh-CN" altLang="en-GB" sz="1800" b="1">
                <a:solidFill>
                  <a:schemeClr val="tx1"/>
                </a:solidFill>
                <a:effectLst>
                  <a:outerShdw blurRad="38100" dist="38100" dir="2700000" algn="tl">
                    <a:srgbClr val="C0C0C0"/>
                  </a:outerShdw>
                </a:effectLst>
                <a:ea typeface="楷体" pitchFamily="2" charset="-122"/>
              </a:rPr>
              <a:t>...</a:t>
            </a:r>
          </a:p>
          <a:p>
            <a:pPr marL="288925" indent="-288925" algn="l" eaLnBrk="0" hangingPunct="0">
              <a:lnSpc>
                <a:spcPct val="90000"/>
              </a:lnSpc>
              <a:spcBef>
                <a:spcPct val="10000"/>
              </a:spcBef>
              <a:spcAft>
                <a:spcPct val="30000"/>
              </a:spcAft>
              <a:buClr>
                <a:schemeClr val="tx1"/>
              </a:buClr>
              <a:buSzPct val="65000"/>
              <a:buFont typeface="Monotype Sorts"/>
              <a:buChar char="n"/>
              <a:defRPr/>
            </a:pPr>
            <a:endParaRPr kumimoji="0" lang="zh-CN" altLang="en-GB" sz="1800" b="1">
              <a:solidFill>
                <a:schemeClr val="tx1"/>
              </a:solidFill>
              <a:effectLst>
                <a:outerShdw blurRad="38100" dist="38100" dir="2700000" algn="tl">
                  <a:srgbClr val="C0C0C0"/>
                </a:outerShdw>
              </a:effectLst>
              <a:ea typeface="楷体" pitchFamily="2" charset="-122"/>
            </a:endParaRPr>
          </a:p>
          <a:p>
            <a:pPr marL="288925" indent="-288925" algn="l" eaLnBrk="0" hangingPunct="0">
              <a:lnSpc>
                <a:spcPct val="90000"/>
              </a:lnSpc>
              <a:spcBef>
                <a:spcPct val="10000"/>
              </a:spcBef>
              <a:spcAft>
                <a:spcPct val="30000"/>
              </a:spcAft>
              <a:buClr>
                <a:schemeClr val="tx1"/>
              </a:buClr>
              <a:buSzPct val="65000"/>
              <a:buFont typeface="Monotype Sorts"/>
              <a:buChar char="n"/>
              <a:defRPr/>
            </a:pPr>
            <a:endParaRPr kumimoji="0" lang="zh-TW" altLang="en-US" sz="1800" b="1">
              <a:solidFill>
                <a:schemeClr val="tx1"/>
              </a:solidFill>
              <a:effectLst>
                <a:outerShdw blurRad="38100" dist="38100" dir="2700000" algn="tl">
                  <a:srgbClr val="C0C0C0"/>
                </a:outerShdw>
              </a:effectLst>
              <a:ea typeface="PMingLiU" pitchFamily="18" charset="-120"/>
            </a:endParaRPr>
          </a:p>
        </p:txBody>
      </p:sp>
      <p:sp>
        <p:nvSpPr>
          <p:cNvPr id="15368" name="Rectangle 8"/>
          <p:cNvSpPr>
            <a:spLocks noGrp="1" noChangeArrowheads="1"/>
          </p:cNvSpPr>
          <p:nvPr>
            <p:ph type="title"/>
          </p:nvPr>
        </p:nvSpPr>
        <p:spPr>
          <a:xfrm>
            <a:off x="1619250" y="228600"/>
            <a:ext cx="7372350" cy="1143000"/>
          </a:xfrm>
        </p:spPr>
        <p:txBody>
          <a:bodyPr>
            <a:normAutofit/>
          </a:bodyPr>
          <a:lstStyle/>
          <a:p>
            <a:pPr eaLnBrk="1" hangingPunct="1"/>
            <a:r>
              <a:rPr lang="zh-CN" altLang="en-GB" sz="4000"/>
              <a:t>为什么增长对公司来讲十分重要?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7538" name="Freeform 2"/>
          <p:cNvSpPr>
            <a:spLocks/>
          </p:cNvSpPr>
          <p:nvPr/>
        </p:nvSpPr>
        <p:spPr bwMode="auto">
          <a:xfrm>
            <a:off x="5214938" y="2933700"/>
            <a:ext cx="1809750" cy="2273300"/>
          </a:xfrm>
          <a:custGeom>
            <a:avLst/>
            <a:gdLst/>
            <a:ahLst/>
            <a:cxnLst>
              <a:cxn ang="0">
                <a:pos x="0" y="0"/>
              </a:cxn>
              <a:cxn ang="0">
                <a:pos x="800" y="0"/>
              </a:cxn>
              <a:cxn ang="0">
                <a:pos x="960" y="304"/>
              </a:cxn>
              <a:cxn ang="0">
                <a:pos x="816" y="584"/>
              </a:cxn>
              <a:cxn ang="0">
                <a:pos x="640" y="584"/>
              </a:cxn>
              <a:cxn ang="0">
                <a:pos x="640" y="936"/>
              </a:cxn>
              <a:cxn ang="0">
                <a:pos x="824" y="936"/>
              </a:cxn>
              <a:cxn ang="0">
                <a:pos x="960" y="1184"/>
              </a:cxn>
              <a:cxn ang="0">
                <a:pos x="848" y="1432"/>
              </a:cxn>
              <a:cxn ang="0">
                <a:pos x="8" y="1432"/>
              </a:cxn>
              <a:cxn ang="0">
                <a:pos x="0" y="0"/>
              </a:cxn>
            </a:cxnLst>
            <a:rect l="0" t="0" r="r" b="b"/>
            <a:pathLst>
              <a:path w="960" h="1432">
                <a:moveTo>
                  <a:pt x="0" y="0"/>
                </a:moveTo>
                <a:lnTo>
                  <a:pt x="800" y="0"/>
                </a:lnTo>
                <a:lnTo>
                  <a:pt x="960" y="304"/>
                </a:lnTo>
                <a:lnTo>
                  <a:pt x="816" y="584"/>
                </a:lnTo>
                <a:lnTo>
                  <a:pt x="640" y="584"/>
                </a:lnTo>
                <a:lnTo>
                  <a:pt x="640" y="936"/>
                </a:lnTo>
                <a:lnTo>
                  <a:pt x="824" y="936"/>
                </a:lnTo>
                <a:lnTo>
                  <a:pt x="960" y="1184"/>
                </a:lnTo>
                <a:lnTo>
                  <a:pt x="848" y="1432"/>
                </a:lnTo>
                <a:lnTo>
                  <a:pt x="8" y="1432"/>
                </a:lnTo>
                <a:lnTo>
                  <a:pt x="0" y="0"/>
                </a:lnTo>
                <a:close/>
              </a:path>
            </a:pathLst>
          </a:custGeom>
          <a:gradFill rotWithShape="0">
            <a:gsLst>
              <a:gs pos="0">
                <a:srgbClr val="FF66FF"/>
              </a:gs>
              <a:gs pos="100000">
                <a:schemeClr val="bg1"/>
              </a:gs>
            </a:gsLst>
            <a:path path="rect">
              <a:fillToRect l="50000" t="50000" r="50000" b="50000"/>
            </a:path>
          </a:gradFill>
          <a:ln w="12700" cap="flat" cmpd="sng">
            <a:solidFill>
              <a:srgbClr val="800000"/>
            </a:solidFill>
            <a:prstDash val="solid"/>
            <a:round/>
            <a:headEnd/>
            <a:tailEnd/>
          </a:ln>
          <a:effectLst>
            <a:outerShdw dist="107763" dir="2700000" algn="ctr" rotWithShape="0">
              <a:schemeClr val="bg2">
                <a:alpha val="50000"/>
              </a:schemeClr>
            </a:outerShdw>
          </a:effectLst>
        </p:spPr>
        <p:txBody>
          <a:bodyPr wrap="none" anchor="ctr"/>
          <a:lstStyle/>
          <a:p>
            <a:pPr>
              <a:defRPr/>
            </a:pPr>
            <a:endParaRPr lang="zh-CN" altLang="en-US"/>
          </a:p>
        </p:txBody>
      </p:sp>
      <p:sp>
        <p:nvSpPr>
          <p:cNvPr id="16387" name="Rectangle 3"/>
          <p:cNvSpPr>
            <a:spLocks noGrp="1" noChangeArrowheads="1"/>
          </p:cNvSpPr>
          <p:nvPr>
            <p:ph type="title"/>
          </p:nvPr>
        </p:nvSpPr>
        <p:spPr/>
        <p:txBody>
          <a:bodyPr>
            <a:normAutofit fontScale="90000"/>
          </a:bodyPr>
          <a:lstStyle/>
          <a:p>
            <a:pPr eaLnBrk="1" hangingPunct="1"/>
            <a:r>
              <a:rPr lang="zh-CN" altLang="en-US" sz="3600" b="1"/>
              <a:t>企业首先</a:t>
            </a:r>
            <a:r>
              <a:rPr lang="zh-CN" altLang="en-US" sz="3600" b="1">
                <a:latin typeface="楷体" pitchFamily="2" charset="-122"/>
              </a:rPr>
              <a:t>需要制定增长策略，这个策略要能够回答两个关键问题</a:t>
            </a:r>
          </a:p>
        </p:txBody>
      </p:sp>
      <p:sp>
        <p:nvSpPr>
          <p:cNvPr id="1217540" name="Rectangle 4"/>
          <p:cNvSpPr>
            <a:spLocks noChangeArrowheads="1"/>
          </p:cNvSpPr>
          <p:nvPr/>
        </p:nvSpPr>
        <p:spPr bwMode="auto">
          <a:xfrm>
            <a:off x="1154113" y="2176463"/>
            <a:ext cx="1836737" cy="1862137"/>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19050">
            <a:solidFill>
              <a:schemeClr val="tx1"/>
            </a:solidFill>
            <a:miter lim="800000"/>
            <a:headEnd/>
            <a:tailEnd/>
          </a:ln>
          <a:effectLst/>
        </p:spPr>
        <p:txBody>
          <a:bodyPr wrap="none" anchor="ctr"/>
          <a:lstStyle/>
          <a:p>
            <a:pPr>
              <a:defRPr/>
            </a:pPr>
            <a:endParaRPr lang="zh-CN" altLang="en-US"/>
          </a:p>
        </p:txBody>
      </p:sp>
      <p:sp>
        <p:nvSpPr>
          <p:cNvPr id="1217541" name="Rectangle 5"/>
          <p:cNvSpPr>
            <a:spLocks noChangeArrowheads="1"/>
          </p:cNvSpPr>
          <p:nvPr/>
        </p:nvSpPr>
        <p:spPr bwMode="auto">
          <a:xfrm>
            <a:off x="2982913" y="2176463"/>
            <a:ext cx="1836737" cy="1862137"/>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19050">
            <a:solidFill>
              <a:schemeClr val="tx1"/>
            </a:solidFill>
            <a:miter lim="800000"/>
            <a:headEnd/>
            <a:tailEnd/>
          </a:ln>
          <a:effectLst/>
        </p:spPr>
        <p:txBody>
          <a:bodyPr wrap="none" anchor="ctr"/>
          <a:lstStyle/>
          <a:p>
            <a:pPr>
              <a:defRPr/>
            </a:pPr>
            <a:endParaRPr lang="zh-CN" altLang="en-US"/>
          </a:p>
        </p:txBody>
      </p:sp>
      <p:sp>
        <p:nvSpPr>
          <p:cNvPr id="1217542" name="Rectangle 6"/>
          <p:cNvSpPr>
            <a:spLocks noChangeArrowheads="1"/>
          </p:cNvSpPr>
          <p:nvPr/>
        </p:nvSpPr>
        <p:spPr bwMode="auto">
          <a:xfrm>
            <a:off x="1154113" y="4043363"/>
            <a:ext cx="1836737" cy="1862137"/>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19050">
            <a:solidFill>
              <a:schemeClr val="tx1"/>
            </a:solidFill>
            <a:miter lim="800000"/>
            <a:headEnd/>
            <a:tailEnd/>
          </a:ln>
          <a:effectLst/>
        </p:spPr>
        <p:txBody>
          <a:bodyPr wrap="none" anchor="ctr"/>
          <a:lstStyle/>
          <a:p>
            <a:pPr>
              <a:defRPr/>
            </a:pPr>
            <a:endParaRPr lang="zh-CN" altLang="en-US"/>
          </a:p>
        </p:txBody>
      </p:sp>
      <p:sp>
        <p:nvSpPr>
          <p:cNvPr id="1217543" name="Rectangle 7"/>
          <p:cNvSpPr>
            <a:spLocks noChangeArrowheads="1"/>
          </p:cNvSpPr>
          <p:nvPr/>
        </p:nvSpPr>
        <p:spPr bwMode="auto">
          <a:xfrm>
            <a:off x="2982913" y="4043363"/>
            <a:ext cx="1836737" cy="1862137"/>
          </a:xfrm>
          <a:prstGeom prst="rect">
            <a:avLst/>
          </a:prstGeom>
          <a:gradFill rotWithShape="0">
            <a:gsLst>
              <a:gs pos="0">
                <a:schemeClr val="bg1">
                  <a:gamma/>
                  <a:shade val="46275"/>
                  <a:invGamma/>
                </a:schemeClr>
              </a:gs>
              <a:gs pos="50000">
                <a:schemeClr val="bg1"/>
              </a:gs>
              <a:gs pos="100000">
                <a:schemeClr val="bg1">
                  <a:gamma/>
                  <a:shade val="46275"/>
                  <a:invGamma/>
                </a:schemeClr>
              </a:gs>
            </a:gsLst>
            <a:lin ang="0" scaled="1"/>
          </a:gradFill>
          <a:ln w="19050">
            <a:solidFill>
              <a:schemeClr val="tx1"/>
            </a:solidFill>
            <a:miter lim="800000"/>
            <a:headEnd/>
            <a:tailEnd/>
          </a:ln>
          <a:effectLst/>
        </p:spPr>
        <p:txBody>
          <a:bodyPr wrap="none" anchor="ctr"/>
          <a:lstStyle/>
          <a:p>
            <a:pPr>
              <a:defRPr/>
            </a:pPr>
            <a:endParaRPr lang="zh-CN" altLang="en-US"/>
          </a:p>
        </p:txBody>
      </p:sp>
      <p:sp>
        <p:nvSpPr>
          <p:cNvPr id="16392" name="Text Box 8"/>
          <p:cNvSpPr txBox="1">
            <a:spLocks noChangeArrowheads="1"/>
          </p:cNvSpPr>
          <p:nvPr/>
        </p:nvSpPr>
        <p:spPr bwMode="auto">
          <a:xfrm>
            <a:off x="1770063" y="6194425"/>
            <a:ext cx="2381250" cy="336550"/>
          </a:xfrm>
          <a:prstGeom prst="rect">
            <a:avLst/>
          </a:prstGeom>
          <a:noFill/>
          <a:ln w="12700">
            <a:noFill/>
            <a:miter lim="800000"/>
            <a:headEnd/>
            <a:tailEnd/>
          </a:ln>
        </p:spPr>
        <p:txBody>
          <a:bodyPr anchor="ctr">
            <a:spAutoFit/>
          </a:bodyPr>
          <a:lstStyle/>
          <a:p>
            <a:pPr eaLnBrk="0" hangingPunct="0">
              <a:spcBef>
                <a:spcPct val="50000"/>
              </a:spcBef>
            </a:pPr>
            <a:r>
              <a:rPr kumimoji="0" lang="zh-CN" altLang="en-US" sz="1600" b="1">
                <a:latin typeface="楷体" pitchFamily="2" charset="-122"/>
                <a:ea typeface="楷体" pitchFamily="2" charset="-122"/>
              </a:rPr>
              <a:t>市场增长</a:t>
            </a:r>
          </a:p>
        </p:txBody>
      </p:sp>
      <p:sp>
        <p:nvSpPr>
          <p:cNvPr id="16393" name="Text Box 9"/>
          <p:cNvSpPr txBox="1">
            <a:spLocks noChangeArrowheads="1"/>
          </p:cNvSpPr>
          <p:nvPr/>
        </p:nvSpPr>
        <p:spPr bwMode="auto">
          <a:xfrm>
            <a:off x="204788" y="3781425"/>
            <a:ext cx="1020762" cy="336550"/>
          </a:xfrm>
          <a:prstGeom prst="rect">
            <a:avLst/>
          </a:prstGeom>
          <a:noFill/>
          <a:ln w="12700">
            <a:noFill/>
            <a:miter lim="800000"/>
            <a:headEnd/>
            <a:tailEnd/>
          </a:ln>
        </p:spPr>
        <p:txBody>
          <a:bodyPr anchor="ctr">
            <a:spAutoFit/>
          </a:bodyPr>
          <a:lstStyle/>
          <a:p>
            <a:pPr eaLnBrk="0" hangingPunct="0">
              <a:spcBef>
                <a:spcPct val="50000"/>
              </a:spcBef>
            </a:pPr>
            <a:r>
              <a:rPr kumimoji="0" lang="zh-CN" altLang="en-US" sz="1600" b="1" dirty="0">
                <a:latin typeface="楷体" pitchFamily="2" charset="-122"/>
                <a:ea typeface="楷体" pitchFamily="2" charset="-122"/>
              </a:rPr>
              <a:t>市场份额</a:t>
            </a:r>
          </a:p>
        </p:txBody>
      </p:sp>
      <p:sp>
        <p:nvSpPr>
          <p:cNvPr id="16394" name="Text Box 10"/>
          <p:cNvSpPr txBox="1">
            <a:spLocks noChangeArrowheads="1"/>
          </p:cNvSpPr>
          <p:nvPr/>
        </p:nvSpPr>
        <p:spPr bwMode="auto">
          <a:xfrm>
            <a:off x="688975" y="2152006"/>
            <a:ext cx="494046" cy="461665"/>
          </a:xfrm>
          <a:prstGeom prst="rect">
            <a:avLst/>
          </a:prstGeom>
          <a:noFill/>
          <a:ln w="12700">
            <a:noFill/>
            <a:miter lim="800000"/>
            <a:headEnd/>
            <a:tailEnd/>
          </a:ln>
        </p:spPr>
        <p:txBody>
          <a:bodyPr wrap="none" anchor="ctr">
            <a:spAutoFit/>
          </a:bodyPr>
          <a:lstStyle/>
          <a:p>
            <a:pPr eaLnBrk="0" hangingPunct="0"/>
            <a:r>
              <a:rPr kumimoji="0" lang="zh-CN" altLang="en-US" sz="2400" b="1" i="1">
                <a:latin typeface="楷体" pitchFamily="2" charset="-122"/>
                <a:ea typeface="楷体" pitchFamily="2" charset="-122"/>
              </a:rPr>
              <a:t>高</a:t>
            </a:r>
          </a:p>
        </p:txBody>
      </p:sp>
      <p:sp>
        <p:nvSpPr>
          <p:cNvPr id="16395" name="Text Box 11"/>
          <p:cNvSpPr txBox="1">
            <a:spLocks noChangeArrowheads="1"/>
          </p:cNvSpPr>
          <p:nvPr/>
        </p:nvSpPr>
        <p:spPr bwMode="auto">
          <a:xfrm>
            <a:off x="693738" y="5458768"/>
            <a:ext cx="494046" cy="461665"/>
          </a:xfrm>
          <a:prstGeom prst="rect">
            <a:avLst/>
          </a:prstGeom>
          <a:noFill/>
          <a:ln w="12700">
            <a:noFill/>
            <a:miter lim="800000"/>
            <a:headEnd/>
            <a:tailEnd/>
          </a:ln>
        </p:spPr>
        <p:txBody>
          <a:bodyPr wrap="none" anchor="ctr">
            <a:spAutoFit/>
          </a:bodyPr>
          <a:lstStyle/>
          <a:p>
            <a:pPr eaLnBrk="0" hangingPunct="0"/>
            <a:r>
              <a:rPr kumimoji="0" lang="zh-CN" altLang="en-US" sz="2400" b="1" i="1">
                <a:latin typeface="楷体" pitchFamily="2" charset="-122"/>
                <a:ea typeface="楷体" pitchFamily="2" charset="-122"/>
              </a:rPr>
              <a:t>低</a:t>
            </a:r>
          </a:p>
        </p:txBody>
      </p:sp>
      <p:sp>
        <p:nvSpPr>
          <p:cNvPr id="16396" name="Text Box 12"/>
          <p:cNvSpPr txBox="1">
            <a:spLocks noChangeArrowheads="1"/>
          </p:cNvSpPr>
          <p:nvPr/>
        </p:nvSpPr>
        <p:spPr bwMode="auto">
          <a:xfrm>
            <a:off x="1116013" y="5842943"/>
            <a:ext cx="494046" cy="461665"/>
          </a:xfrm>
          <a:prstGeom prst="rect">
            <a:avLst/>
          </a:prstGeom>
          <a:noFill/>
          <a:ln w="12700">
            <a:noFill/>
            <a:miter lim="800000"/>
            <a:headEnd/>
            <a:tailEnd/>
          </a:ln>
        </p:spPr>
        <p:txBody>
          <a:bodyPr wrap="none" anchor="ctr">
            <a:spAutoFit/>
          </a:bodyPr>
          <a:lstStyle/>
          <a:p>
            <a:pPr eaLnBrk="0" hangingPunct="0"/>
            <a:r>
              <a:rPr kumimoji="0" lang="zh-CN" altLang="en-US" sz="2400" b="1" i="1">
                <a:latin typeface="楷体" pitchFamily="2" charset="-122"/>
                <a:ea typeface="楷体" pitchFamily="2" charset="-122"/>
              </a:rPr>
              <a:t>低</a:t>
            </a:r>
          </a:p>
        </p:txBody>
      </p:sp>
      <p:sp>
        <p:nvSpPr>
          <p:cNvPr id="16397" name="Text Box 13"/>
          <p:cNvSpPr txBox="1">
            <a:spLocks noChangeArrowheads="1"/>
          </p:cNvSpPr>
          <p:nvPr/>
        </p:nvSpPr>
        <p:spPr bwMode="auto">
          <a:xfrm>
            <a:off x="4391025" y="5842943"/>
            <a:ext cx="494046" cy="461665"/>
          </a:xfrm>
          <a:prstGeom prst="rect">
            <a:avLst/>
          </a:prstGeom>
          <a:noFill/>
          <a:ln w="12700">
            <a:noFill/>
            <a:miter lim="800000"/>
            <a:headEnd/>
            <a:tailEnd/>
          </a:ln>
        </p:spPr>
        <p:txBody>
          <a:bodyPr wrap="none" anchor="ctr">
            <a:spAutoFit/>
          </a:bodyPr>
          <a:lstStyle/>
          <a:p>
            <a:pPr eaLnBrk="0" hangingPunct="0"/>
            <a:r>
              <a:rPr kumimoji="0" lang="zh-CN" altLang="en-US" sz="2400" b="1" i="1">
                <a:latin typeface="楷体" pitchFamily="2" charset="-122"/>
                <a:ea typeface="楷体" pitchFamily="2" charset="-122"/>
              </a:rPr>
              <a:t>高</a:t>
            </a:r>
          </a:p>
        </p:txBody>
      </p:sp>
      <p:sp>
        <p:nvSpPr>
          <p:cNvPr id="16398" name="Text Box 14"/>
          <p:cNvSpPr txBox="1">
            <a:spLocks noChangeArrowheads="1"/>
          </p:cNvSpPr>
          <p:nvPr/>
        </p:nvSpPr>
        <p:spPr bwMode="auto">
          <a:xfrm>
            <a:off x="2967038" y="2295525"/>
            <a:ext cx="1863725" cy="1006475"/>
          </a:xfrm>
          <a:prstGeom prst="rect">
            <a:avLst/>
          </a:prstGeom>
          <a:noFill/>
          <a:ln w="12700">
            <a:noFill/>
            <a:miter lim="800000"/>
            <a:headEnd/>
            <a:tailEnd/>
          </a:ln>
        </p:spPr>
        <p:txBody>
          <a:bodyPr anchor="ctr">
            <a:spAutoFit/>
          </a:bodyPr>
          <a:lstStyle/>
          <a:p>
            <a:pPr marL="114300" indent="-114300" algn="l" eaLnBrk="0" hangingPunct="0">
              <a:spcBef>
                <a:spcPct val="50000"/>
              </a:spcBef>
              <a:buFontTx/>
              <a:buChar char="•"/>
            </a:pPr>
            <a:r>
              <a:rPr kumimoji="0" lang="zh-CN" altLang="en-US" sz="1200">
                <a:latin typeface="楷体" pitchFamily="2" charset="-122"/>
                <a:ea typeface="楷体" pitchFamily="2" charset="-122"/>
              </a:rPr>
              <a:t>继续扩张</a:t>
            </a:r>
          </a:p>
          <a:p>
            <a:pPr marL="114300" indent="-114300" algn="l" eaLnBrk="0" hangingPunct="0">
              <a:spcBef>
                <a:spcPct val="50000"/>
              </a:spcBef>
              <a:buFontTx/>
              <a:buChar char="•"/>
            </a:pPr>
            <a:r>
              <a:rPr kumimoji="0" lang="zh-CN" altLang="en-US" sz="1200">
                <a:latin typeface="楷体" pitchFamily="2" charset="-122"/>
                <a:ea typeface="楷体" pitchFamily="2" charset="-122"/>
              </a:rPr>
              <a:t>威慑新的潜在竞争者</a:t>
            </a:r>
          </a:p>
          <a:p>
            <a:pPr marL="114300" indent="-114300" algn="l" eaLnBrk="0" hangingPunct="0">
              <a:spcBef>
                <a:spcPct val="50000"/>
              </a:spcBef>
              <a:buFontTx/>
              <a:buChar char="•"/>
            </a:pPr>
            <a:r>
              <a:rPr kumimoji="0" lang="zh-CN" altLang="en-US" sz="1200">
                <a:latin typeface="楷体" pitchFamily="2" charset="-122"/>
                <a:ea typeface="楷体" pitchFamily="2" charset="-122"/>
              </a:rPr>
              <a:t>投资建立防止新竞争者进入市场的障碍</a:t>
            </a:r>
          </a:p>
        </p:txBody>
      </p:sp>
      <p:sp>
        <p:nvSpPr>
          <p:cNvPr id="16399" name="Text Box 15"/>
          <p:cNvSpPr txBox="1">
            <a:spLocks noChangeArrowheads="1"/>
          </p:cNvSpPr>
          <p:nvPr/>
        </p:nvSpPr>
        <p:spPr bwMode="auto">
          <a:xfrm>
            <a:off x="1149350" y="2295525"/>
            <a:ext cx="1784350" cy="1006475"/>
          </a:xfrm>
          <a:prstGeom prst="rect">
            <a:avLst/>
          </a:prstGeom>
          <a:noFill/>
          <a:ln w="12700">
            <a:noFill/>
            <a:miter lim="800000"/>
            <a:headEnd/>
            <a:tailEnd/>
          </a:ln>
        </p:spPr>
        <p:txBody>
          <a:bodyPr anchor="ctr">
            <a:spAutoFit/>
          </a:bodyPr>
          <a:lstStyle/>
          <a:p>
            <a:pPr marL="114300" indent="-114300" algn="l" eaLnBrk="0" hangingPunct="0">
              <a:spcBef>
                <a:spcPct val="50000"/>
              </a:spcBef>
              <a:buFontTx/>
              <a:buChar char="•"/>
            </a:pPr>
            <a:r>
              <a:rPr kumimoji="0" lang="zh-CN" altLang="en-US" sz="1200">
                <a:latin typeface="楷体" pitchFamily="2" charset="-122"/>
                <a:ea typeface="楷体" pitchFamily="2" charset="-122"/>
              </a:rPr>
              <a:t>保持成本优势</a:t>
            </a:r>
          </a:p>
          <a:p>
            <a:pPr marL="114300" indent="-114300" algn="l" eaLnBrk="0" hangingPunct="0">
              <a:spcBef>
                <a:spcPct val="50000"/>
              </a:spcBef>
              <a:buFontTx/>
              <a:buChar char="•"/>
            </a:pPr>
            <a:r>
              <a:rPr kumimoji="0" lang="zh-CN" altLang="en-US" sz="1200">
                <a:latin typeface="楷体" pitchFamily="2" charset="-122"/>
                <a:ea typeface="楷体" pitchFamily="2" charset="-122"/>
              </a:rPr>
              <a:t>发现和投资新的增长机会</a:t>
            </a:r>
          </a:p>
          <a:p>
            <a:pPr marL="114300" indent="-114300" algn="l" eaLnBrk="0" hangingPunct="0">
              <a:spcBef>
                <a:spcPct val="50000"/>
              </a:spcBef>
              <a:buFontTx/>
              <a:buChar char="•"/>
            </a:pPr>
            <a:r>
              <a:rPr kumimoji="0" lang="zh-CN" altLang="en-US" sz="1200">
                <a:latin typeface="楷体" pitchFamily="2" charset="-122"/>
                <a:ea typeface="楷体" pitchFamily="2" charset="-122"/>
              </a:rPr>
              <a:t>改变行业结构</a:t>
            </a:r>
          </a:p>
        </p:txBody>
      </p:sp>
      <p:sp>
        <p:nvSpPr>
          <p:cNvPr id="16400" name="Text Box 16"/>
          <p:cNvSpPr txBox="1">
            <a:spLocks noChangeArrowheads="1"/>
          </p:cNvSpPr>
          <p:nvPr/>
        </p:nvSpPr>
        <p:spPr bwMode="auto">
          <a:xfrm>
            <a:off x="1149350" y="4900613"/>
            <a:ext cx="1863725" cy="823912"/>
          </a:xfrm>
          <a:prstGeom prst="rect">
            <a:avLst/>
          </a:prstGeom>
          <a:noFill/>
          <a:ln w="12700">
            <a:noFill/>
            <a:miter lim="800000"/>
            <a:headEnd/>
            <a:tailEnd/>
          </a:ln>
        </p:spPr>
        <p:txBody>
          <a:bodyPr anchor="ctr">
            <a:spAutoFit/>
          </a:bodyPr>
          <a:lstStyle/>
          <a:p>
            <a:pPr marL="114300" indent="-114300" algn="l" eaLnBrk="0" hangingPunct="0">
              <a:spcBef>
                <a:spcPct val="50000"/>
              </a:spcBef>
              <a:buFontTx/>
              <a:buChar char="•"/>
            </a:pPr>
            <a:r>
              <a:rPr kumimoji="0" lang="zh-CN" altLang="en-US" sz="1200">
                <a:latin typeface="楷体" pitchFamily="2" charset="-122"/>
                <a:ea typeface="楷体" pitchFamily="2" charset="-122"/>
              </a:rPr>
              <a:t>撤出</a:t>
            </a:r>
          </a:p>
          <a:p>
            <a:pPr marL="114300" indent="-114300" algn="l" eaLnBrk="0" hangingPunct="0">
              <a:spcBef>
                <a:spcPct val="50000"/>
              </a:spcBef>
              <a:buFontTx/>
              <a:buChar char="•"/>
            </a:pPr>
            <a:r>
              <a:rPr kumimoji="0" lang="zh-CN" altLang="en-US" sz="1200">
                <a:latin typeface="楷体" pitchFamily="2" charset="-122"/>
                <a:ea typeface="楷体" pitchFamily="2" charset="-122"/>
              </a:rPr>
              <a:t>发现新的成长机会</a:t>
            </a:r>
          </a:p>
          <a:p>
            <a:pPr marL="114300" indent="-114300" algn="l" eaLnBrk="0" hangingPunct="0">
              <a:spcBef>
                <a:spcPct val="50000"/>
              </a:spcBef>
              <a:buFontTx/>
              <a:buChar char="•"/>
            </a:pPr>
            <a:r>
              <a:rPr kumimoji="0" lang="zh-CN" altLang="en-US" sz="1200">
                <a:latin typeface="楷体" pitchFamily="2" charset="-122"/>
                <a:ea typeface="楷体" pitchFamily="2" charset="-122"/>
              </a:rPr>
              <a:t>加盟市场领先企业</a:t>
            </a:r>
          </a:p>
        </p:txBody>
      </p:sp>
      <p:sp>
        <p:nvSpPr>
          <p:cNvPr id="16401" name="Text Box 17"/>
          <p:cNvSpPr txBox="1">
            <a:spLocks noChangeArrowheads="1"/>
          </p:cNvSpPr>
          <p:nvPr/>
        </p:nvSpPr>
        <p:spPr bwMode="auto">
          <a:xfrm>
            <a:off x="2967038" y="4900613"/>
            <a:ext cx="1782762" cy="823912"/>
          </a:xfrm>
          <a:prstGeom prst="rect">
            <a:avLst/>
          </a:prstGeom>
          <a:noFill/>
          <a:ln w="12700">
            <a:noFill/>
            <a:miter lim="800000"/>
            <a:headEnd/>
            <a:tailEnd/>
          </a:ln>
        </p:spPr>
        <p:txBody>
          <a:bodyPr anchor="ctr">
            <a:spAutoFit/>
          </a:bodyPr>
          <a:lstStyle/>
          <a:p>
            <a:pPr marL="114300" indent="-114300" algn="l" eaLnBrk="0" hangingPunct="0">
              <a:spcBef>
                <a:spcPct val="50000"/>
              </a:spcBef>
              <a:buFontTx/>
              <a:buChar char="•"/>
            </a:pPr>
            <a:r>
              <a:rPr kumimoji="0" lang="zh-CN" altLang="en-US" sz="1200">
                <a:latin typeface="楷体" pitchFamily="2" charset="-122"/>
                <a:ea typeface="楷体" pitchFamily="2" charset="-122"/>
              </a:rPr>
              <a:t>提高质量和服务</a:t>
            </a:r>
          </a:p>
          <a:p>
            <a:pPr marL="114300" indent="-114300" algn="l" eaLnBrk="0" hangingPunct="0">
              <a:spcBef>
                <a:spcPct val="50000"/>
              </a:spcBef>
              <a:buFontTx/>
              <a:buChar char="•"/>
            </a:pPr>
            <a:r>
              <a:rPr kumimoji="0" lang="zh-CN" altLang="en-US" sz="1200">
                <a:latin typeface="楷体" pitchFamily="2" charset="-122"/>
                <a:ea typeface="楷体" pitchFamily="2" charset="-122"/>
              </a:rPr>
              <a:t>寻找合作伙伴</a:t>
            </a:r>
          </a:p>
          <a:p>
            <a:pPr marL="114300" indent="-114300" algn="l" eaLnBrk="0" hangingPunct="0">
              <a:spcBef>
                <a:spcPct val="50000"/>
              </a:spcBef>
              <a:buFontTx/>
              <a:buChar char="•"/>
            </a:pPr>
            <a:r>
              <a:rPr kumimoji="0" lang="zh-CN" altLang="en-US" sz="1200">
                <a:latin typeface="楷体" pitchFamily="2" charset="-122"/>
                <a:ea typeface="楷体" pitchFamily="2" charset="-122"/>
              </a:rPr>
              <a:t>发现市场特殊需求</a:t>
            </a:r>
          </a:p>
        </p:txBody>
      </p:sp>
      <p:sp>
        <p:nvSpPr>
          <p:cNvPr id="16402" name="Text Box 18"/>
          <p:cNvSpPr txBox="1">
            <a:spLocks noChangeArrowheads="1"/>
          </p:cNvSpPr>
          <p:nvPr/>
        </p:nvSpPr>
        <p:spPr bwMode="auto">
          <a:xfrm>
            <a:off x="1806575" y="1684338"/>
            <a:ext cx="2379663" cy="366712"/>
          </a:xfrm>
          <a:prstGeom prst="rect">
            <a:avLst/>
          </a:prstGeom>
          <a:noFill/>
          <a:ln w="12700">
            <a:noFill/>
            <a:miter lim="800000"/>
            <a:headEnd/>
            <a:tailEnd/>
          </a:ln>
        </p:spPr>
        <p:txBody>
          <a:bodyPr anchor="ctr">
            <a:spAutoFit/>
          </a:bodyPr>
          <a:lstStyle/>
          <a:p>
            <a:pPr eaLnBrk="0" hangingPunct="0">
              <a:spcBef>
                <a:spcPct val="50000"/>
              </a:spcBef>
            </a:pPr>
            <a:r>
              <a:rPr kumimoji="0" lang="zh-CN" altLang="en-US" sz="1800" b="1">
                <a:latin typeface="楷体" pitchFamily="2" charset="-122"/>
                <a:ea typeface="楷体" pitchFamily="2" charset="-122"/>
              </a:rPr>
              <a:t>策略分析</a:t>
            </a:r>
          </a:p>
        </p:txBody>
      </p:sp>
      <p:sp>
        <p:nvSpPr>
          <p:cNvPr id="16403" name="AutoShape 19"/>
          <p:cNvSpPr>
            <a:spLocks noChangeArrowheads="1"/>
          </p:cNvSpPr>
          <p:nvPr/>
        </p:nvSpPr>
        <p:spPr bwMode="auto">
          <a:xfrm rot="5400000">
            <a:off x="4209257" y="3923506"/>
            <a:ext cx="1638300" cy="131763"/>
          </a:xfrm>
          <a:prstGeom prst="triangle">
            <a:avLst>
              <a:gd name="adj" fmla="val 50000"/>
            </a:avLst>
          </a:prstGeom>
          <a:solidFill>
            <a:srgbClr val="FF0000"/>
          </a:solidFill>
          <a:ln w="12700">
            <a:noFill/>
            <a:miter lim="800000"/>
            <a:headEnd/>
            <a:tailEnd/>
          </a:ln>
        </p:spPr>
        <p:txBody>
          <a:bodyPr wrap="none" anchor="ctr"/>
          <a:lstStyle/>
          <a:p>
            <a:endParaRPr lang="zh-CN" altLang="en-US"/>
          </a:p>
        </p:txBody>
      </p:sp>
      <p:sp>
        <p:nvSpPr>
          <p:cNvPr id="16404" name="Text Box 20"/>
          <p:cNvSpPr txBox="1">
            <a:spLocks noChangeArrowheads="1"/>
          </p:cNvSpPr>
          <p:nvPr/>
        </p:nvSpPr>
        <p:spPr bwMode="auto">
          <a:xfrm>
            <a:off x="5241925" y="3111381"/>
            <a:ext cx="1320800" cy="1600438"/>
          </a:xfrm>
          <a:prstGeom prst="rect">
            <a:avLst/>
          </a:prstGeom>
          <a:noFill/>
          <a:ln w="12700">
            <a:noFill/>
            <a:miter lim="800000"/>
            <a:headEnd/>
            <a:tailEnd/>
          </a:ln>
        </p:spPr>
        <p:txBody>
          <a:bodyPr anchor="ctr">
            <a:spAutoFit/>
          </a:bodyPr>
          <a:lstStyle/>
          <a:p>
            <a:pPr marL="114300" indent="-114300" algn="l" eaLnBrk="0" hangingPunct="0">
              <a:spcBef>
                <a:spcPct val="100000"/>
              </a:spcBef>
            </a:pPr>
            <a:endParaRPr kumimoji="0" lang="en-US" altLang="zh-CN" sz="1400" b="1">
              <a:latin typeface="楷体" pitchFamily="2" charset="-122"/>
              <a:ea typeface="楷体" pitchFamily="2" charset="-122"/>
            </a:endParaRPr>
          </a:p>
          <a:p>
            <a:pPr marL="114300" indent="-114300" algn="l" eaLnBrk="0" hangingPunct="0">
              <a:spcBef>
                <a:spcPct val="100000"/>
              </a:spcBef>
              <a:buFontTx/>
              <a:buChar char="•"/>
            </a:pPr>
            <a:r>
              <a:rPr kumimoji="0" lang="zh-CN" altLang="en-US" sz="1400" b="1">
                <a:latin typeface="楷体" pitchFamily="2" charset="-122"/>
                <a:ea typeface="楷体" pitchFamily="2" charset="-122"/>
              </a:rPr>
              <a:t>总的策略方向</a:t>
            </a:r>
          </a:p>
          <a:p>
            <a:pPr marL="114300" indent="-114300" algn="l" eaLnBrk="0" hangingPunct="0">
              <a:spcBef>
                <a:spcPct val="100000"/>
              </a:spcBef>
              <a:buFontTx/>
              <a:buChar char="•"/>
            </a:pPr>
            <a:r>
              <a:rPr kumimoji="0" lang="zh-CN" altLang="en-US" sz="1400" b="1">
                <a:latin typeface="楷体" pitchFamily="2" charset="-122"/>
                <a:ea typeface="楷体" pitchFamily="2" charset="-122"/>
              </a:rPr>
              <a:t>近期经营举措</a:t>
            </a:r>
          </a:p>
        </p:txBody>
      </p:sp>
      <p:sp>
        <p:nvSpPr>
          <p:cNvPr id="16405" name="AutoShape 21"/>
          <p:cNvSpPr>
            <a:spLocks noChangeArrowheads="1"/>
          </p:cNvSpPr>
          <p:nvPr/>
        </p:nvSpPr>
        <p:spPr bwMode="auto">
          <a:xfrm rot="-2685300">
            <a:off x="2243138" y="3232150"/>
            <a:ext cx="1444625" cy="1568450"/>
          </a:xfrm>
          <a:custGeom>
            <a:avLst/>
            <a:gdLst>
              <a:gd name="T0" fmla="*/ 1444625 w 21600"/>
              <a:gd name="T1" fmla="*/ 784225 h 21600"/>
              <a:gd name="T2" fmla="*/ 722313 w 21600"/>
              <a:gd name="T3" fmla="*/ 1568450 h 21600"/>
              <a:gd name="T4" fmla="*/ 0 w 21600"/>
              <a:gd name="T5" fmla="*/ 784225 h 21600"/>
              <a:gd name="T6" fmla="*/ 722313 w 21600"/>
              <a:gd name="T7" fmla="*/ 0 h 21600"/>
              <a:gd name="T8" fmla="*/ 0 60000 65536"/>
              <a:gd name="T9" fmla="*/ 5898240 60000 65536"/>
              <a:gd name="T10" fmla="*/ 11796480 60000 65536"/>
              <a:gd name="T11" fmla="*/ 17694720 60000 65536"/>
              <a:gd name="T12" fmla="*/ 5400 w 21600"/>
              <a:gd name="T13" fmla="*/ 5400 h 21600"/>
              <a:gd name="T14" fmla="*/ 16200 w 21600"/>
              <a:gd name="T15" fmla="*/ 16200 h 21600"/>
            </a:gdLst>
            <a:ahLst/>
            <a:cxnLst>
              <a:cxn ang="T8">
                <a:pos x="T0" y="T1"/>
              </a:cxn>
              <a:cxn ang="T9">
                <a:pos x="T2" y="T3"/>
              </a:cxn>
              <a:cxn ang="T10">
                <a:pos x="T4" y="T5"/>
              </a:cxn>
              <a:cxn ang="T11">
                <a:pos x="T6" y="T7"/>
              </a:cxn>
            </a:cxnLst>
            <a:rect l="T12" t="T13" r="T14" b="T15"/>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gradFill rotWithShape="0">
            <a:gsLst>
              <a:gs pos="0">
                <a:srgbClr val="FF6600"/>
              </a:gs>
              <a:gs pos="100000">
                <a:srgbClr val="762F00"/>
              </a:gs>
            </a:gsLst>
            <a:path path="rect">
              <a:fillToRect l="50000" t="50000" r="50000" b="50000"/>
            </a:path>
          </a:gradFill>
          <a:ln w="12700">
            <a:solidFill>
              <a:srgbClr val="800000"/>
            </a:solidFill>
            <a:miter lim="800000"/>
            <a:headEnd/>
            <a:tailEnd/>
          </a:ln>
        </p:spPr>
        <p:txBody>
          <a:bodyPr wrap="none" anchor="ctr"/>
          <a:lstStyle/>
          <a:p>
            <a:endParaRPr lang="zh-CN" altLang="en-US"/>
          </a:p>
        </p:txBody>
      </p:sp>
      <p:sp>
        <p:nvSpPr>
          <p:cNvPr id="16406" name="Text Box 22"/>
          <p:cNvSpPr txBox="1">
            <a:spLocks noChangeArrowheads="1"/>
          </p:cNvSpPr>
          <p:nvPr/>
        </p:nvSpPr>
        <p:spPr bwMode="auto">
          <a:xfrm>
            <a:off x="2509838" y="3781753"/>
            <a:ext cx="949325" cy="523220"/>
          </a:xfrm>
          <a:prstGeom prst="rect">
            <a:avLst/>
          </a:prstGeom>
          <a:noFill/>
          <a:ln w="12700">
            <a:noFill/>
            <a:miter lim="800000"/>
            <a:headEnd/>
            <a:tailEnd/>
          </a:ln>
        </p:spPr>
        <p:txBody>
          <a:bodyPr anchor="ctr">
            <a:spAutoFit/>
          </a:bodyPr>
          <a:lstStyle/>
          <a:p>
            <a:pPr eaLnBrk="0" hangingPunct="0">
              <a:spcBef>
                <a:spcPct val="50000"/>
              </a:spcBef>
            </a:pPr>
            <a:r>
              <a:rPr kumimoji="0" lang="zh-CN" altLang="en-US" sz="1400" b="1">
                <a:latin typeface="楷体" pitchFamily="2" charset="-122"/>
                <a:ea typeface="楷体" pitchFamily="2" charset="-122"/>
              </a:rPr>
              <a:t>企业位置在哪里</a:t>
            </a:r>
            <a:r>
              <a:rPr kumimoji="0" lang="en-US" altLang="zh-CN" sz="1400" b="1">
                <a:latin typeface="楷体" pitchFamily="2" charset="-122"/>
                <a:ea typeface="楷体" pitchFamily="2" charset="-122"/>
              </a:rPr>
              <a:t>?</a:t>
            </a:r>
          </a:p>
        </p:txBody>
      </p:sp>
      <p:sp>
        <p:nvSpPr>
          <p:cNvPr id="16407" name="Text Box 23"/>
          <p:cNvSpPr txBox="1">
            <a:spLocks noChangeArrowheads="1"/>
          </p:cNvSpPr>
          <p:nvPr/>
        </p:nvSpPr>
        <p:spPr bwMode="auto">
          <a:xfrm>
            <a:off x="7127875" y="3067050"/>
            <a:ext cx="1370013" cy="641350"/>
          </a:xfrm>
          <a:prstGeom prst="rect">
            <a:avLst/>
          </a:prstGeom>
          <a:noFill/>
          <a:ln w="12700">
            <a:noFill/>
            <a:miter lim="800000"/>
            <a:headEnd/>
            <a:tailEnd/>
          </a:ln>
        </p:spPr>
        <p:txBody>
          <a:bodyPr anchor="ctr">
            <a:spAutoFit/>
          </a:bodyPr>
          <a:lstStyle/>
          <a:p>
            <a:pPr algn="l" eaLnBrk="0" hangingPunct="0">
              <a:spcBef>
                <a:spcPct val="50000"/>
              </a:spcBef>
            </a:pPr>
            <a:r>
              <a:rPr kumimoji="0" lang="zh-CN" altLang="en-US" sz="1800" b="1" i="1">
                <a:ea typeface="楷体" pitchFamily="2" charset="-122"/>
              </a:rPr>
              <a:t>进入哪一项新业务</a:t>
            </a:r>
            <a:r>
              <a:rPr kumimoji="0" lang="en-US" altLang="zh-CN" sz="1800" b="1" i="1">
                <a:ea typeface="楷体" pitchFamily="2" charset="-122"/>
              </a:rPr>
              <a:t>?</a:t>
            </a:r>
          </a:p>
        </p:txBody>
      </p:sp>
      <p:sp>
        <p:nvSpPr>
          <p:cNvPr id="16408" name="Text Box 24"/>
          <p:cNvSpPr txBox="1">
            <a:spLocks noChangeArrowheads="1"/>
          </p:cNvSpPr>
          <p:nvPr/>
        </p:nvSpPr>
        <p:spPr bwMode="auto">
          <a:xfrm>
            <a:off x="7105650" y="4389438"/>
            <a:ext cx="1285875" cy="915987"/>
          </a:xfrm>
          <a:prstGeom prst="rect">
            <a:avLst/>
          </a:prstGeom>
          <a:noFill/>
          <a:ln w="12700">
            <a:noFill/>
            <a:miter lim="800000"/>
            <a:headEnd/>
            <a:tailEnd/>
          </a:ln>
        </p:spPr>
        <p:txBody>
          <a:bodyPr anchor="ctr">
            <a:spAutoFit/>
          </a:bodyPr>
          <a:lstStyle/>
          <a:p>
            <a:pPr algn="l" eaLnBrk="0" hangingPunct="0">
              <a:spcBef>
                <a:spcPct val="50000"/>
              </a:spcBef>
            </a:pPr>
            <a:r>
              <a:rPr kumimoji="0" lang="zh-CN" altLang="en-US" sz="1800" b="1" i="1">
                <a:ea typeface="楷体" pitchFamily="2" charset="-122"/>
              </a:rPr>
              <a:t>退出哪一项现有业务</a:t>
            </a:r>
            <a:r>
              <a:rPr kumimoji="0" lang="zh-CN" altLang="zh-CN" sz="1800" b="1" i="1">
                <a:ea typeface="楷体" pitchFamily="2" charset="-122"/>
              </a:rPr>
              <a:t>?</a:t>
            </a:r>
          </a:p>
        </p:txBody>
      </p:sp>
      <p:sp>
        <p:nvSpPr>
          <p:cNvPr id="16409" name="Rectangle 25"/>
          <p:cNvSpPr>
            <a:spLocks noChangeArrowheads="1"/>
          </p:cNvSpPr>
          <p:nvPr/>
        </p:nvSpPr>
        <p:spPr bwMode="auto">
          <a:xfrm>
            <a:off x="5340350" y="3324506"/>
            <a:ext cx="1592918" cy="335989"/>
          </a:xfrm>
          <a:prstGeom prst="rect">
            <a:avLst/>
          </a:prstGeom>
          <a:noFill/>
          <a:ln w="12700">
            <a:noFill/>
            <a:miter lim="800000"/>
            <a:headEnd/>
            <a:tailEnd/>
          </a:ln>
        </p:spPr>
        <p:txBody>
          <a:bodyPr wrap="none" lIns="72000" tIns="44450" rIns="72000" bIns="44450" anchor="ctr">
            <a:spAutoFit/>
          </a:bodyPr>
          <a:lstStyle/>
          <a:p>
            <a:r>
              <a:rPr kumimoji="0" lang="zh-CN" altLang="en-US" sz="1600" b="1">
                <a:latin typeface="楷体" pitchFamily="2" charset="-122"/>
                <a:ea typeface="楷体" pitchFamily="2" charset="-122"/>
              </a:rPr>
              <a:t>市场和增长策略</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259632" y="0"/>
            <a:ext cx="7884368" cy="1484313"/>
          </a:xfrm>
        </p:spPr>
        <p:txBody>
          <a:bodyPr/>
          <a:lstStyle/>
          <a:p>
            <a:pPr eaLnBrk="1" hangingPunct="1"/>
            <a:r>
              <a:rPr lang="zh-CN" altLang="en-AU" sz="3200" b="1" dirty="0"/>
              <a:t>在此过程中还需要作出许多艰难的选择...</a:t>
            </a:r>
            <a:endParaRPr lang="en-US" altLang="zh-CN" sz="3200" b="1" dirty="0"/>
          </a:p>
        </p:txBody>
      </p:sp>
      <p:sp>
        <p:nvSpPr>
          <p:cNvPr id="1218563" name="AutoShape 3"/>
          <p:cNvSpPr>
            <a:spLocks noChangeArrowheads="1"/>
          </p:cNvSpPr>
          <p:nvPr/>
        </p:nvSpPr>
        <p:spPr bwMode="auto">
          <a:xfrm rot="10800000" flipH="1">
            <a:off x="1890713" y="5295900"/>
            <a:ext cx="6134100" cy="234950"/>
          </a:xfrm>
          <a:prstGeom prst="triangle">
            <a:avLst>
              <a:gd name="adj" fmla="val 49995"/>
            </a:avLst>
          </a:prstGeom>
          <a:gradFill rotWithShape="0">
            <a:gsLst>
              <a:gs pos="0">
                <a:schemeClr val="folHlink">
                  <a:gamma/>
                  <a:shade val="46275"/>
                  <a:invGamma/>
                </a:schemeClr>
              </a:gs>
              <a:gs pos="100000">
                <a:schemeClr val="folHlink"/>
              </a:gs>
            </a:gsLst>
            <a:lin ang="5400000" scaled="1"/>
          </a:gradFill>
          <a:ln w="12700">
            <a:solidFill>
              <a:schemeClr val="folHlink"/>
            </a:solidFill>
            <a:miter lim="800000"/>
            <a:headEnd/>
            <a:tailEnd/>
          </a:ln>
          <a:effectLst/>
        </p:spPr>
        <p:txBody>
          <a:bodyPr wrap="none" anchor="ctr"/>
          <a:lstStyle/>
          <a:p>
            <a:pPr>
              <a:defRPr/>
            </a:pPr>
            <a:endParaRPr lang="zh-CN" altLang="en-US"/>
          </a:p>
        </p:txBody>
      </p:sp>
      <p:sp>
        <p:nvSpPr>
          <p:cNvPr id="1218564" name="Rectangle 4"/>
          <p:cNvSpPr>
            <a:spLocks noChangeArrowheads="1"/>
          </p:cNvSpPr>
          <p:nvPr/>
        </p:nvSpPr>
        <p:spPr bwMode="auto">
          <a:xfrm>
            <a:off x="1412875" y="5651500"/>
            <a:ext cx="7142163" cy="901700"/>
          </a:xfrm>
          <a:prstGeom prst="rect">
            <a:avLst/>
          </a:prstGeom>
          <a:gradFill rotWithShape="0">
            <a:gsLst>
              <a:gs pos="0">
                <a:schemeClr val="bg1">
                  <a:gamma/>
                  <a:shade val="36078"/>
                  <a:invGamma/>
                </a:schemeClr>
              </a:gs>
              <a:gs pos="50000">
                <a:schemeClr val="bg1"/>
              </a:gs>
              <a:gs pos="100000">
                <a:schemeClr val="bg1">
                  <a:gamma/>
                  <a:shade val="36078"/>
                  <a:invGamma/>
                </a:schemeClr>
              </a:gs>
            </a:gsLst>
            <a:lin ang="2700000" scaled="1"/>
          </a:gradFill>
          <a:ln w="12700">
            <a:solidFill>
              <a:schemeClr val="tx1"/>
            </a:solidFill>
            <a:miter lim="800000"/>
            <a:headEnd/>
            <a:tailEnd/>
          </a:ln>
          <a:effectLst/>
        </p:spPr>
        <p:txBody>
          <a:bodyPr wrap="none" anchor="ctr"/>
          <a:lstStyle/>
          <a:p>
            <a:pPr>
              <a:defRPr/>
            </a:pPr>
            <a:endParaRPr lang="zh-CN" altLang="en-US"/>
          </a:p>
        </p:txBody>
      </p:sp>
      <p:sp>
        <p:nvSpPr>
          <p:cNvPr id="17413" name="Freeform 5"/>
          <p:cNvSpPr>
            <a:spLocks/>
          </p:cNvSpPr>
          <p:nvPr/>
        </p:nvSpPr>
        <p:spPr bwMode="auto">
          <a:xfrm>
            <a:off x="2197100" y="5776913"/>
            <a:ext cx="5402263" cy="433387"/>
          </a:xfrm>
          <a:custGeom>
            <a:avLst/>
            <a:gdLst>
              <a:gd name="T0" fmla="*/ 0 w 3775"/>
              <a:gd name="T1" fmla="*/ 272 h 273"/>
              <a:gd name="T2" fmla="*/ 0 w 3775"/>
              <a:gd name="T3" fmla="*/ 0 h 273"/>
              <a:gd name="T4" fmla="*/ 3774 w 3775"/>
              <a:gd name="T5" fmla="*/ 0 h 273"/>
              <a:gd name="T6" fmla="*/ 3774 w 3775"/>
              <a:gd name="T7" fmla="*/ 248 h 273"/>
              <a:gd name="T8" fmla="*/ 0 60000 65536"/>
              <a:gd name="T9" fmla="*/ 0 60000 65536"/>
              <a:gd name="T10" fmla="*/ 0 60000 65536"/>
              <a:gd name="T11" fmla="*/ 0 60000 65536"/>
              <a:gd name="T12" fmla="*/ 0 w 3775"/>
              <a:gd name="T13" fmla="*/ 0 h 273"/>
              <a:gd name="T14" fmla="*/ 3775 w 3775"/>
              <a:gd name="T15" fmla="*/ 273 h 273"/>
            </a:gdLst>
            <a:ahLst/>
            <a:cxnLst>
              <a:cxn ang="T8">
                <a:pos x="T0" y="T1"/>
              </a:cxn>
              <a:cxn ang="T9">
                <a:pos x="T2" y="T3"/>
              </a:cxn>
              <a:cxn ang="T10">
                <a:pos x="T4" y="T5"/>
              </a:cxn>
              <a:cxn ang="T11">
                <a:pos x="T6" y="T7"/>
              </a:cxn>
            </a:cxnLst>
            <a:rect l="T12" t="T13" r="T14" b="T15"/>
            <a:pathLst>
              <a:path w="3775" h="273">
                <a:moveTo>
                  <a:pt x="0" y="272"/>
                </a:moveTo>
                <a:lnTo>
                  <a:pt x="0" y="0"/>
                </a:lnTo>
                <a:lnTo>
                  <a:pt x="3774" y="0"/>
                </a:lnTo>
                <a:lnTo>
                  <a:pt x="3774" y="248"/>
                </a:lnTo>
              </a:path>
            </a:pathLst>
          </a:custGeom>
          <a:noFill/>
          <a:ln w="12700" cap="rnd" cmpd="sng">
            <a:solidFill>
              <a:schemeClr val="tx1"/>
            </a:solidFill>
            <a:prstDash val="solid"/>
            <a:round/>
            <a:headEnd type="none" w="med" len="med"/>
            <a:tailEnd type="none" w="med" len="med"/>
          </a:ln>
        </p:spPr>
        <p:txBody>
          <a:bodyPr/>
          <a:lstStyle/>
          <a:p>
            <a:endParaRPr lang="zh-CN" altLang="en-US"/>
          </a:p>
        </p:txBody>
      </p:sp>
      <p:sp>
        <p:nvSpPr>
          <p:cNvPr id="1218567" name="Rectangle 7"/>
          <p:cNvSpPr>
            <a:spLocks noChangeArrowheads="1"/>
          </p:cNvSpPr>
          <p:nvPr/>
        </p:nvSpPr>
        <p:spPr bwMode="auto">
          <a:xfrm>
            <a:off x="6781800" y="5899150"/>
            <a:ext cx="1662113" cy="482600"/>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12700">
            <a:noFill/>
            <a:miter lim="800000"/>
            <a:headEnd/>
            <a:tailEnd/>
          </a:ln>
          <a:effectLst/>
        </p:spPr>
        <p:txBody>
          <a:bodyPr lIns="90488" tIns="44450" rIns="90488" bIns="44450" anchor="ctr" anchorCtr="1"/>
          <a:lstStyle/>
          <a:p>
            <a:pPr eaLnBrk="0" hangingPunct="0">
              <a:lnSpc>
                <a:spcPct val="90000"/>
              </a:lnSpc>
              <a:buFont typeface="Times New Roman" pitchFamily="18" charset="0"/>
              <a:buNone/>
              <a:tabLst>
                <a:tab pos="1028700" algn="l"/>
                <a:tab pos="8001000" algn="r"/>
              </a:tabLst>
              <a:defRPr/>
            </a:pPr>
            <a:r>
              <a:rPr kumimoji="0" lang="zh-CN" altLang="en-US" sz="1400" b="1">
                <a:solidFill>
                  <a:schemeClr val="tx1"/>
                </a:solidFill>
                <a:effectLst>
                  <a:outerShdw blurRad="38100" dist="38100" dir="2700000" algn="tl">
                    <a:srgbClr val="FFFFFF"/>
                  </a:outerShdw>
                </a:effectLst>
                <a:ea typeface="楷体" pitchFamily="2" charset="-122"/>
              </a:rPr>
              <a:t>战略联盟</a:t>
            </a:r>
          </a:p>
        </p:txBody>
      </p:sp>
      <p:sp>
        <p:nvSpPr>
          <p:cNvPr id="1218570" name="Rectangle 10"/>
          <p:cNvSpPr>
            <a:spLocks noChangeArrowheads="1"/>
          </p:cNvSpPr>
          <p:nvPr/>
        </p:nvSpPr>
        <p:spPr bwMode="auto">
          <a:xfrm>
            <a:off x="4140200" y="5949950"/>
            <a:ext cx="1419225" cy="482600"/>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12700">
            <a:noFill/>
            <a:miter lim="800000"/>
            <a:headEnd/>
            <a:tailEnd/>
          </a:ln>
          <a:effectLst/>
        </p:spPr>
        <p:txBody>
          <a:bodyPr lIns="90488" tIns="44450" rIns="90488" bIns="44450" anchor="ctr" anchorCtr="1"/>
          <a:lstStyle/>
          <a:p>
            <a:pPr marL="388938" indent="-388938" eaLnBrk="0" hangingPunct="0">
              <a:lnSpc>
                <a:spcPct val="90000"/>
              </a:lnSpc>
              <a:buFont typeface="Times New Roman" pitchFamily="18" charset="0"/>
              <a:buNone/>
              <a:tabLst>
                <a:tab pos="1028700" algn="l"/>
                <a:tab pos="8001000" algn="r"/>
              </a:tabLst>
              <a:defRPr/>
            </a:pPr>
            <a:r>
              <a:rPr kumimoji="0" lang="zh-CN" altLang="en-US" sz="1400" b="1" dirty="0">
                <a:solidFill>
                  <a:schemeClr val="tx1"/>
                </a:solidFill>
                <a:effectLst>
                  <a:outerShdw blurRad="38100" dist="38100" dir="2700000" algn="tl">
                    <a:srgbClr val="FFFFFF"/>
                  </a:outerShdw>
                </a:effectLst>
                <a:ea typeface="楷体" pitchFamily="2" charset="-122"/>
              </a:rPr>
              <a:t>自我</a:t>
            </a:r>
            <a:r>
              <a:rPr lang="zh-CN" altLang="en-US" sz="1400" b="1" dirty="0">
                <a:effectLst>
                  <a:outerShdw blurRad="38100" dist="38100" dir="2700000" algn="tl">
                    <a:srgbClr val="FFFFFF"/>
                  </a:outerShdw>
                </a:effectLst>
                <a:ea typeface="楷体" pitchFamily="2" charset="-122"/>
              </a:rPr>
              <a:t>发展</a:t>
            </a:r>
            <a:endParaRPr kumimoji="0" lang="zh-CN" altLang="en-US" sz="1400" b="1" dirty="0">
              <a:solidFill>
                <a:schemeClr val="tx1"/>
              </a:solidFill>
              <a:effectLst>
                <a:outerShdw blurRad="38100" dist="38100" dir="2700000" algn="tl">
                  <a:srgbClr val="FFFFFF"/>
                </a:outerShdw>
              </a:effectLst>
              <a:ea typeface="楷体" pitchFamily="2" charset="-122"/>
            </a:endParaRPr>
          </a:p>
        </p:txBody>
      </p:sp>
      <p:sp>
        <p:nvSpPr>
          <p:cNvPr id="1218571" name="Rectangle 11"/>
          <p:cNvSpPr>
            <a:spLocks noChangeArrowheads="1"/>
          </p:cNvSpPr>
          <p:nvPr/>
        </p:nvSpPr>
        <p:spPr bwMode="auto">
          <a:xfrm>
            <a:off x="1692275" y="5949950"/>
            <a:ext cx="1416050" cy="482600"/>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12700">
            <a:noFill/>
            <a:miter lim="800000"/>
            <a:headEnd/>
            <a:tailEnd/>
          </a:ln>
          <a:effectLst/>
        </p:spPr>
        <p:txBody>
          <a:bodyPr lIns="90488" tIns="44450" rIns="90488" bIns="44450" anchor="ctr" anchorCtr="1"/>
          <a:lstStyle/>
          <a:p>
            <a:pPr eaLnBrk="0" hangingPunct="0">
              <a:lnSpc>
                <a:spcPct val="90000"/>
              </a:lnSpc>
              <a:buFont typeface="Times New Roman" pitchFamily="18" charset="0"/>
              <a:buNone/>
              <a:tabLst>
                <a:tab pos="1028700" algn="l"/>
                <a:tab pos="8001000" algn="r"/>
              </a:tabLst>
              <a:defRPr/>
            </a:pPr>
            <a:r>
              <a:rPr kumimoji="0" lang="zh-CN" altLang="en-US" sz="1400" b="1">
                <a:solidFill>
                  <a:schemeClr val="tx1"/>
                </a:solidFill>
                <a:effectLst>
                  <a:outerShdw blurRad="38100" dist="38100" dir="2700000" algn="tl">
                    <a:srgbClr val="FFFFFF"/>
                  </a:outerShdw>
                </a:effectLst>
                <a:ea typeface="楷体" pitchFamily="2" charset="-122"/>
              </a:rPr>
              <a:t>合并收购</a:t>
            </a:r>
          </a:p>
        </p:txBody>
      </p:sp>
      <p:sp>
        <p:nvSpPr>
          <p:cNvPr id="1218572" name="Rectangle 12"/>
          <p:cNvSpPr>
            <a:spLocks noChangeArrowheads="1"/>
          </p:cNvSpPr>
          <p:nvPr/>
        </p:nvSpPr>
        <p:spPr bwMode="auto">
          <a:xfrm>
            <a:off x="1406525" y="1790700"/>
            <a:ext cx="7153275" cy="3416300"/>
          </a:xfrm>
          <a:prstGeom prst="rect">
            <a:avLst/>
          </a:prstGeom>
          <a:gradFill rotWithShape="0">
            <a:gsLst>
              <a:gs pos="0">
                <a:schemeClr val="bg1">
                  <a:gamma/>
                  <a:shade val="46275"/>
                  <a:invGamma/>
                </a:schemeClr>
              </a:gs>
              <a:gs pos="50000">
                <a:schemeClr val="bg1"/>
              </a:gs>
              <a:gs pos="100000">
                <a:schemeClr val="bg1">
                  <a:gamma/>
                  <a:shade val="46275"/>
                  <a:invGamma/>
                </a:schemeClr>
              </a:gs>
            </a:gsLst>
            <a:lin ang="18900000" scaled="1"/>
          </a:gradFill>
          <a:ln w="12700">
            <a:solidFill>
              <a:schemeClr val="tx1"/>
            </a:solidFill>
            <a:miter lim="800000"/>
            <a:headEnd/>
            <a:tailEnd/>
          </a:ln>
          <a:effectLst/>
        </p:spPr>
        <p:txBody>
          <a:bodyPr wrap="none" anchor="ctr"/>
          <a:lstStyle/>
          <a:p>
            <a:pPr>
              <a:defRPr/>
            </a:pPr>
            <a:endParaRPr lang="zh-CN" altLang="en-US"/>
          </a:p>
        </p:txBody>
      </p:sp>
      <p:sp>
        <p:nvSpPr>
          <p:cNvPr id="17418" name="Rectangle 13"/>
          <p:cNvSpPr>
            <a:spLocks noChangeArrowheads="1"/>
          </p:cNvSpPr>
          <p:nvPr/>
        </p:nvSpPr>
        <p:spPr bwMode="auto">
          <a:xfrm>
            <a:off x="211138" y="3249613"/>
            <a:ext cx="903287" cy="473075"/>
          </a:xfrm>
          <a:prstGeom prst="rect">
            <a:avLst/>
          </a:prstGeom>
          <a:noFill/>
          <a:ln w="12700">
            <a:noFill/>
            <a:miter lim="800000"/>
            <a:headEnd/>
            <a:tailEnd/>
          </a:ln>
        </p:spPr>
        <p:txBody>
          <a:bodyPr lIns="90488" tIns="44450" rIns="90488" bIns="44450" anchor="ctr" anchorCtr="1"/>
          <a:lstStyle/>
          <a:p>
            <a:pPr>
              <a:lnSpc>
                <a:spcPts val="1500"/>
              </a:lnSpc>
              <a:spcBef>
                <a:spcPts val="300"/>
              </a:spcBef>
              <a:buClr>
                <a:schemeClr val="folHlink"/>
              </a:buClr>
              <a:buFont typeface="Wingdings" pitchFamily="2" charset="2"/>
              <a:buNone/>
              <a:tabLst>
                <a:tab pos="1028700" algn="l"/>
              </a:tabLst>
            </a:pPr>
            <a:r>
              <a:rPr kumimoji="0" lang="zh-CN" altLang="en-US" sz="2000" b="1">
                <a:latin typeface="Arial" pitchFamily="34" charset="0"/>
                <a:ea typeface="宋体" pitchFamily="2" charset="-122"/>
              </a:rPr>
              <a:t>增长模式</a:t>
            </a:r>
          </a:p>
        </p:txBody>
      </p:sp>
      <p:sp>
        <p:nvSpPr>
          <p:cNvPr id="17419" name="Rectangle 14"/>
          <p:cNvSpPr>
            <a:spLocks noChangeArrowheads="1"/>
          </p:cNvSpPr>
          <p:nvPr/>
        </p:nvSpPr>
        <p:spPr bwMode="auto">
          <a:xfrm>
            <a:off x="250825" y="5816600"/>
            <a:ext cx="1008063" cy="571500"/>
          </a:xfrm>
          <a:prstGeom prst="rect">
            <a:avLst/>
          </a:prstGeom>
          <a:noFill/>
          <a:ln w="12700">
            <a:noFill/>
            <a:miter lim="800000"/>
            <a:headEnd/>
            <a:tailEnd/>
          </a:ln>
        </p:spPr>
        <p:txBody>
          <a:bodyPr lIns="90488" tIns="44450" rIns="90488" bIns="44450" anchor="ctr" anchorCtr="1"/>
          <a:lstStyle/>
          <a:p>
            <a:pPr eaLnBrk="0" hangingPunct="0">
              <a:lnSpc>
                <a:spcPts val="1500"/>
              </a:lnSpc>
              <a:spcBef>
                <a:spcPts val="300"/>
              </a:spcBef>
              <a:buFont typeface="Times New Roman" pitchFamily="18" charset="0"/>
              <a:buNone/>
              <a:tabLst>
                <a:tab pos="1028700" algn="l"/>
              </a:tabLst>
            </a:pPr>
            <a:r>
              <a:rPr kumimoji="0" lang="zh-CN" altLang="en-US" sz="1600" b="1">
                <a:ea typeface="楷体" pitchFamily="2" charset="-122"/>
              </a:rPr>
              <a:t>增长方法</a:t>
            </a:r>
          </a:p>
        </p:txBody>
      </p:sp>
      <p:sp>
        <p:nvSpPr>
          <p:cNvPr id="17420" name="Freeform 15"/>
          <p:cNvSpPr>
            <a:spLocks/>
          </p:cNvSpPr>
          <p:nvPr/>
        </p:nvSpPr>
        <p:spPr bwMode="auto">
          <a:xfrm>
            <a:off x="5961063" y="3656013"/>
            <a:ext cx="1725612" cy="496887"/>
          </a:xfrm>
          <a:custGeom>
            <a:avLst/>
            <a:gdLst>
              <a:gd name="T0" fmla="*/ 0 w 1177"/>
              <a:gd name="T1" fmla="*/ 312 h 313"/>
              <a:gd name="T2" fmla="*/ 0 w 1177"/>
              <a:gd name="T3" fmla="*/ 0 h 313"/>
              <a:gd name="T4" fmla="*/ 1176 w 1177"/>
              <a:gd name="T5" fmla="*/ 0 h 313"/>
              <a:gd name="T6" fmla="*/ 1176 w 1177"/>
              <a:gd name="T7" fmla="*/ 280 h 313"/>
              <a:gd name="T8" fmla="*/ 0 60000 65536"/>
              <a:gd name="T9" fmla="*/ 0 60000 65536"/>
              <a:gd name="T10" fmla="*/ 0 60000 65536"/>
              <a:gd name="T11" fmla="*/ 0 60000 65536"/>
              <a:gd name="T12" fmla="*/ 0 w 1177"/>
              <a:gd name="T13" fmla="*/ 0 h 313"/>
              <a:gd name="T14" fmla="*/ 1177 w 1177"/>
              <a:gd name="T15" fmla="*/ 313 h 313"/>
            </a:gdLst>
            <a:ahLst/>
            <a:cxnLst>
              <a:cxn ang="T8">
                <a:pos x="T0" y="T1"/>
              </a:cxn>
              <a:cxn ang="T9">
                <a:pos x="T2" y="T3"/>
              </a:cxn>
              <a:cxn ang="T10">
                <a:pos x="T4" y="T5"/>
              </a:cxn>
              <a:cxn ang="T11">
                <a:pos x="T6" y="T7"/>
              </a:cxn>
            </a:cxnLst>
            <a:rect l="T12" t="T13" r="T14" b="T15"/>
            <a:pathLst>
              <a:path w="1177" h="313">
                <a:moveTo>
                  <a:pt x="0" y="312"/>
                </a:moveTo>
                <a:lnTo>
                  <a:pt x="0" y="0"/>
                </a:lnTo>
                <a:lnTo>
                  <a:pt x="1176" y="0"/>
                </a:lnTo>
                <a:lnTo>
                  <a:pt x="1176" y="280"/>
                </a:lnTo>
              </a:path>
            </a:pathLst>
          </a:custGeom>
          <a:noFill/>
          <a:ln w="12700" cap="rnd" cmpd="sng">
            <a:solidFill>
              <a:schemeClr val="tx1"/>
            </a:solidFill>
            <a:prstDash val="solid"/>
            <a:round/>
            <a:headEnd type="none" w="med" len="med"/>
            <a:tailEnd type="none" w="med" len="med"/>
          </a:ln>
        </p:spPr>
        <p:txBody>
          <a:bodyPr/>
          <a:lstStyle/>
          <a:p>
            <a:endParaRPr lang="zh-CN" altLang="en-US"/>
          </a:p>
        </p:txBody>
      </p:sp>
      <p:sp>
        <p:nvSpPr>
          <p:cNvPr id="17421" name="Freeform 16"/>
          <p:cNvSpPr>
            <a:spLocks/>
          </p:cNvSpPr>
          <p:nvPr/>
        </p:nvSpPr>
        <p:spPr bwMode="auto">
          <a:xfrm>
            <a:off x="2244725" y="3656013"/>
            <a:ext cx="1724025" cy="496887"/>
          </a:xfrm>
          <a:custGeom>
            <a:avLst/>
            <a:gdLst>
              <a:gd name="T0" fmla="*/ 0 w 1177"/>
              <a:gd name="T1" fmla="*/ 312 h 313"/>
              <a:gd name="T2" fmla="*/ 0 w 1177"/>
              <a:gd name="T3" fmla="*/ 0 h 313"/>
              <a:gd name="T4" fmla="*/ 1176 w 1177"/>
              <a:gd name="T5" fmla="*/ 0 h 313"/>
              <a:gd name="T6" fmla="*/ 1176 w 1177"/>
              <a:gd name="T7" fmla="*/ 280 h 313"/>
              <a:gd name="T8" fmla="*/ 0 60000 65536"/>
              <a:gd name="T9" fmla="*/ 0 60000 65536"/>
              <a:gd name="T10" fmla="*/ 0 60000 65536"/>
              <a:gd name="T11" fmla="*/ 0 60000 65536"/>
              <a:gd name="T12" fmla="*/ 0 w 1177"/>
              <a:gd name="T13" fmla="*/ 0 h 313"/>
              <a:gd name="T14" fmla="*/ 1177 w 1177"/>
              <a:gd name="T15" fmla="*/ 313 h 313"/>
            </a:gdLst>
            <a:ahLst/>
            <a:cxnLst>
              <a:cxn ang="T8">
                <a:pos x="T0" y="T1"/>
              </a:cxn>
              <a:cxn ang="T9">
                <a:pos x="T2" y="T3"/>
              </a:cxn>
              <a:cxn ang="T10">
                <a:pos x="T4" y="T5"/>
              </a:cxn>
              <a:cxn ang="T11">
                <a:pos x="T6" y="T7"/>
              </a:cxn>
            </a:cxnLst>
            <a:rect l="T12" t="T13" r="T14" b="T15"/>
            <a:pathLst>
              <a:path w="1177" h="313">
                <a:moveTo>
                  <a:pt x="0" y="312"/>
                </a:moveTo>
                <a:lnTo>
                  <a:pt x="0" y="0"/>
                </a:lnTo>
                <a:lnTo>
                  <a:pt x="1176" y="0"/>
                </a:lnTo>
                <a:lnTo>
                  <a:pt x="1176" y="280"/>
                </a:lnTo>
              </a:path>
            </a:pathLst>
          </a:custGeom>
          <a:noFill/>
          <a:ln w="12700" cap="rnd" cmpd="sng">
            <a:solidFill>
              <a:schemeClr val="tx1"/>
            </a:solidFill>
            <a:prstDash val="solid"/>
            <a:round/>
            <a:headEnd type="none" w="med" len="med"/>
            <a:tailEnd type="none" w="med" len="med"/>
          </a:ln>
        </p:spPr>
        <p:txBody>
          <a:bodyPr/>
          <a:lstStyle/>
          <a:p>
            <a:endParaRPr lang="zh-CN" altLang="en-US"/>
          </a:p>
        </p:txBody>
      </p:sp>
      <p:sp>
        <p:nvSpPr>
          <p:cNvPr id="17422" name="Freeform 17"/>
          <p:cNvSpPr>
            <a:spLocks/>
          </p:cNvSpPr>
          <p:nvPr/>
        </p:nvSpPr>
        <p:spPr bwMode="auto">
          <a:xfrm>
            <a:off x="3100388" y="2717800"/>
            <a:ext cx="3719512" cy="2084388"/>
          </a:xfrm>
          <a:custGeom>
            <a:avLst/>
            <a:gdLst>
              <a:gd name="T0" fmla="*/ 0 w 2537"/>
              <a:gd name="T1" fmla="*/ 1584 h 1593"/>
              <a:gd name="T2" fmla="*/ 0 w 2537"/>
              <a:gd name="T3" fmla="*/ 0 h 1593"/>
              <a:gd name="T4" fmla="*/ 2536 w 2537"/>
              <a:gd name="T5" fmla="*/ 0 h 1593"/>
              <a:gd name="T6" fmla="*/ 2536 w 2537"/>
              <a:gd name="T7" fmla="*/ 1592 h 1593"/>
              <a:gd name="T8" fmla="*/ 0 60000 65536"/>
              <a:gd name="T9" fmla="*/ 0 60000 65536"/>
              <a:gd name="T10" fmla="*/ 0 60000 65536"/>
              <a:gd name="T11" fmla="*/ 0 60000 65536"/>
              <a:gd name="T12" fmla="*/ 0 w 2537"/>
              <a:gd name="T13" fmla="*/ 0 h 1593"/>
              <a:gd name="T14" fmla="*/ 2537 w 2537"/>
              <a:gd name="T15" fmla="*/ 1593 h 1593"/>
            </a:gdLst>
            <a:ahLst/>
            <a:cxnLst>
              <a:cxn ang="T8">
                <a:pos x="T0" y="T1"/>
              </a:cxn>
              <a:cxn ang="T9">
                <a:pos x="T2" y="T3"/>
              </a:cxn>
              <a:cxn ang="T10">
                <a:pos x="T4" y="T5"/>
              </a:cxn>
              <a:cxn ang="T11">
                <a:pos x="T6" y="T7"/>
              </a:cxn>
            </a:cxnLst>
            <a:rect l="T12" t="T13" r="T14" b="T15"/>
            <a:pathLst>
              <a:path w="2537" h="1593">
                <a:moveTo>
                  <a:pt x="0" y="1584"/>
                </a:moveTo>
                <a:lnTo>
                  <a:pt x="0" y="0"/>
                </a:lnTo>
                <a:lnTo>
                  <a:pt x="2536" y="0"/>
                </a:lnTo>
                <a:lnTo>
                  <a:pt x="2536" y="1592"/>
                </a:lnTo>
              </a:path>
            </a:pathLst>
          </a:custGeom>
          <a:noFill/>
          <a:ln w="12700" cap="rnd" cmpd="sng">
            <a:solidFill>
              <a:schemeClr val="tx1"/>
            </a:solidFill>
            <a:prstDash val="solid"/>
            <a:round/>
            <a:headEnd type="none" w="med" len="med"/>
            <a:tailEnd type="none" w="med" len="med"/>
          </a:ln>
        </p:spPr>
        <p:txBody>
          <a:bodyPr/>
          <a:lstStyle/>
          <a:p>
            <a:endParaRPr lang="zh-CN" altLang="en-US"/>
          </a:p>
        </p:txBody>
      </p:sp>
      <p:sp>
        <p:nvSpPr>
          <p:cNvPr id="1218578" name="Rectangle 18"/>
          <p:cNvSpPr>
            <a:spLocks noChangeArrowheads="1"/>
          </p:cNvSpPr>
          <p:nvPr/>
        </p:nvSpPr>
        <p:spPr bwMode="auto">
          <a:xfrm>
            <a:off x="2420938" y="2959100"/>
            <a:ext cx="1373187"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lstStyle/>
          <a:p>
            <a:pPr marL="388938" indent="-388938" eaLnBrk="0" hangingPunct="0">
              <a:lnSpc>
                <a:spcPct val="90000"/>
              </a:lnSpc>
              <a:buFont typeface="Times New Roman" pitchFamily="18" charset="0"/>
              <a:buNone/>
              <a:tabLst>
                <a:tab pos="1028700" algn="l"/>
                <a:tab pos="8001000" algn="r"/>
              </a:tabLst>
              <a:defRPr/>
            </a:pPr>
            <a:r>
              <a:rPr kumimoji="0" lang="zh-CN" altLang="en-US" sz="1400" b="1">
                <a:solidFill>
                  <a:schemeClr val="tx1"/>
                </a:solidFill>
                <a:effectLst>
                  <a:outerShdw blurRad="38100" dist="38100" dir="2700000" algn="tl">
                    <a:srgbClr val="FFFFFF"/>
                  </a:outerShdw>
                </a:effectLst>
                <a:ea typeface="楷体" pitchFamily="2" charset="-122"/>
              </a:rPr>
              <a:t>增长现有业务</a:t>
            </a:r>
          </a:p>
        </p:txBody>
      </p:sp>
      <p:sp>
        <p:nvSpPr>
          <p:cNvPr id="1218579" name="Rectangle 19"/>
          <p:cNvSpPr>
            <a:spLocks noChangeArrowheads="1"/>
          </p:cNvSpPr>
          <p:nvPr/>
        </p:nvSpPr>
        <p:spPr bwMode="auto">
          <a:xfrm>
            <a:off x="1554163" y="3784600"/>
            <a:ext cx="1371600"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nchorCtr="1"/>
          <a:lstStyle/>
          <a:p>
            <a:pPr eaLnBrk="0" hangingPunct="0">
              <a:lnSpc>
                <a:spcPct val="90000"/>
              </a:lnSpc>
              <a:buFont typeface="Times New Roman" pitchFamily="18" charset="0"/>
              <a:buNone/>
              <a:tabLst>
                <a:tab pos="1028700" algn="l"/>
                <a:tab pos="8001000" algn="r"/>
              </a:tabLst>
              <a:defRPr/>
            </a:pPr>
            <a:r>
              <a:rPr kumimoji="0" lang="zh-CN" altLang="en-US" sz="1400" b="1">
                <a:solidFill>
                  <a:schemeClr val="tx1"/>
                </a:solidFill>
                <a:effectLst>
                  <a:outerShdw blurRad="38100" dist="38100" dir="2700000" algn="tl">
                    <a:srgbClr val="FFFFFF"/>
                  </a:outerShdw>
                </a:effectLst>
                <a:ea typeface="楷体" pitchFamily="2" charset="-122"/>
              </a:rPr>
              <a:t>增加市场份额</a:t>
            </a:r>
          </a:p>
        </p:txBody>
      </p:sp>
      <p:sp>
        <p:nvSpPr>
          <p:cNvPr id="1218580" name="Rectangle 20"/>
          <p:cNvSpPr>
            <a:spLocks noChangeArrowheads="1"/>
          </p:cNvSpPr>
          <p:nvPr/>
        </p:nvSpPr>
        <p:spPr bwMode="auto">
          <a:xfrm>
            <a:off x="2420938" y="4508500"/>
            <a:ext cx="1373187"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nchorCtr="1"/>
          <a:lstStyle/>
          <a:p>
            <a:pPr eaLnBrk="0" hangingPunct="0">
              <a:lnSpc>
                <a:spcPct val="90000"/>
              </a:lnSpc>
              <a:buFont typeface="Times New Roman" pitchFamily="18" charset="0"/>
              <a:buNone/>
              <a:tabLst>
                <a:tab pos="1028700" algn="l"/>
                <a:tab pos="8001000" algn="r"/>
              </a:tabLst>
              <a:defRPr/>
            </a:pPr>
            <a:r>
              <a:rPr kumimoji="0" lang="zh-CN" altLang="en-US" sz="1400" b="1">
                <a:solidFill>
                  <a:schemeClr val="tx1"/>
                </a:solidFill>
                <a:effectLst>
                  <a:outerShdw blurRad="38100" dist="38100" dir="2700000" algn="tl">
                    <a:srgbClr val="FFFFFF"/>
                  </a:outerShdw>
                </a:effectLst>
                <a:ea typeface="楷体" pitchFamily="2" charset="-122"/>
              </a:rPr>
              <a:t>随市场而增长</a:t>
            </a:r>
          </a:p>
        </p:txBody>
      </p:sp>
      <p:sp>
        <p:nvSpPr>
          <p:cNvPr id="1218581" name="Rectangle 21"/>
          <p:cNvSpPr>
            <a:spLocks noChangeArrowheads="1"/>
          </p:cNvSpPr>
          <p:nvPr/>
        </p:nvSpPr>
        <p:spPr bwMode="auto">
          <a:xfrm>
            <a:off x="6138863" y="2959100"/>
            <a:ext cx="1371600"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nchorCtr="1"/>
          <a:lstStyle/>
          <a:p>
            <a:pPr eaLnBrk="0" hangingPunct="0">
              <a:lnSpc>
                <a:spcPct val="90000"/>
              </a:lnSpc>
              <a:buFont typeface="Times New Roman" pitchFamily="18" charset="0"/>
              <a:buNone/>
              <a:tabLst>
                <a:tab pos="1028700" algn="l"/>
                <a:tab pos="8001000" algn="r"/>
              </a:tabLst>
              <a:defRPr/>
            </a:pPr>
            <a:r>
              <a:rPr kumimoji="0" lang="zh-CN" altLang="en-US" sz="1400" b="1">
                <a:solidFill>
                  <a:schemeClr val="tx1"/>
                </a:solidFill>
                <a:effectLst>
                  <a:outerShdw blurRad="38100" dist="38100" dir="2700000" algn="tl">
                    <a:srgbClr val="FFFFFF"/>
                  </a:outerShdw>
                </a:effectLst>
                <a:ea typeface="楷体" pitchFamily="2" charset="-122"/>
              </a:rPr>
              <a:t>发展新业务</a:t>
            </a:r>
          </a:p>
        </p:txBody>
      </p:sp>
      <p:sp>
        <p:nvSpPr>
          <p:cNvPr id="1218582" name="Rectangle 22"/>
          <p:cNvSpPr>
            <a:spLocks noChangeArrowheads="1"/>
          </p:cNvSpPr>
          <p:nvPr/>
        </p:nvSpPr>
        <p:spPr bwMode="auto">
          <a:xfrm>
            <a:off x="6138863" y="4508500"/>
            <a:ext cx="1371600"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nchorCtr="1"/>
          <a:lstStyle/>
          <a:p>
            <a:pPr eaLnBrk="0" hangingPunct="0">
              <a:lnSpc>
                <a:spcPct val="90000"/>
              </a:lnSpc>
              <a:buFont typeface="Times New Roman" pitchFamily="18" charset="0"/>
              <a:buNone/>
              <a:tabLst>
                <a:tab pos="1028700" algn="l"/>
                <a:tab pos="8001000" algn="r"/>
              </a:tabLst>
              <a:defRPr/>
            </a:pPr>
            <a:r>
              <a:rPr kumimoji="0" lang="zh-CN" altLang="en-US" sz="1400" b="1">
                <a:solidFill>
                  <a:schemeClr val="tx1"/>
                </a:solidFill>
                <a:effectLst>
                  <a:outerShdw blurRad="38100" dist="38100" dir="2700000" algn="tl">
                    <a:srgbClr val="FFFFFF"/>
                  </a:outerShdw>
                </a:effectLst>
                <a:ea typeface="楷体" pitchFamily="2" charset="-122"/>
              </a:rPr>
              <a:t>垂直一体化</a:t>
            </a:r>
          </a:p>
        </p:txBody>
      </p:sp>
      <p:sp>
        <p:nvSpPr>
          <p:cNvPr id="1218583" name="Rectangle 23"/>
          <p:cNvSpPr>
            <a:spLocks noChangeArrowheads="1"/>
          </p:cNvSpPr>
          <p:nvPr/>
        </p:nvSpPr>
        <p:spPr bwMode="auto">
          <a:xfrm>
            <a:off x="6989763" y="3784600"/>
            <a:ext cx="1371600"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nchorCtr="1"/>
          <a:lstStyle/>
          <a:p>
            <a:pPr marL="388938" indent="-388938" eaLnBrk="0" hangingPunct="0">
              <a:lnSpc>
                <a:spcPct val="90000"/>
              </a:lnSpc>
              <a:buFont typeface="Times New Roman" pitchFamily="18" charset="0"/>
              <a:buNone/>
              <a:tabLst>
                <a:tab pos="1028700" algn="l"/>
                <a:tab pos="8001000" algn="r"/>
              </a:tabLst>
              <a:defRPr/>
            </a:pPr>
            <a:r>
              <a:rPr kumimoji="0" lang="zh-CN" altLang="en-US" sz="1400" b="1">
                <a:solidFill>
                  <a:schemeClr val="tx1"/>
                </a:solidFill>
                <a:effectLst>
                  <a:outerShdw blurRad="38100" dist="38100" dir="2700000" algn="tl">
                    <a:srgbClr val="FFFFFF"/>
                  </a:outerShdw>
                </a:effectLst>
                <a:ea typeface="楷体" pitchFamily="2" charset="-122"/>
              </a:rPr>
              <a:t>多元化</a:t>
            </a:r>
          </a:p>
        </p:txBody>
      </p:sp>
      <p:sp>
        <p:nvSpPr>
          <p:cNvPr id="17429" name="Line 24"/>
          <p:cNvSpPr>
            <a:spLocks noChangeShapeType="1"/>
          </p:cNvSpPr>
          <p:nvPr/>
        </p:nvSpPr>
        <p:spPr bwMode="auto">
          <a:xfrm>
            <a:off x="4959350" y="2146300"/>
            <a:ext cx="0" cy="584200"/>
          </a:xfrm>
          <a:prstGeom prst="line">
            <a:avLst/>
          </a:prstGeom>
          <a:noFill/>
          <a:ln w="12700">
            <a:solidFill>
              <a:schemeClr val="tx1"/>
            </a:solidFill>
            <a:round/>
            <a:headEnd/>
            <a:tailEnd/>
          </a:ln>
        </p:spPr>
        <p:txBody>
          <a:bodyPr wrap="none" anchor="ctr"/>
          <a:lstStyle/>
          <a:p>
            <a:endParaRPr lang="zh-CN" altLang="en-US"/>
          </a:p>
        </p:txBody>
      </p:sp>
      <p:sp>
        <p:nvSpPr>
          <p:cNvPr id="1218585" name="Rectangle 25"/>
          <p:cNvSpPr>
            <a:spLocks noChangeArrowheads="1"/>
          </p:cNvSpPr>
          <p:nvPr/>
        </p:nvSpPr>
        <p:spPr bwMode="auto">
          <a:xfrm>
            <a:off x="4273550" y="1930400"/>
            <a:ext cx="1371600"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nchorCtr="1"/>
          <a:lstStyle/>
          <a:p>
            <a:pPr marL="388938" indent="-388938" eaLnBrk="0" hangingPunct="0">
              <a:lnSpc>
                <a:spcPct val="90000"/>
              </a:lnSpc>
              <a:buFont typeface="Times New Roman" pitchFamily="18" charset="0"/>
              <a:buNone/>
              <a:tabLst>
                <a:tab pos="1028700" algn="l"/>
                <a:tab pos="8001000" algn="r"/>
              </a:tabLst>
              <a:defRPr/>
            </a:pPr>
            <a:r>
              <a:rPr kumimoji="0" lang="zh-CN" altLang="en-US" sz="1400" b="1">
                <a:solidFill>
                  <a:schemeClr val="tx1"/>
                </a:solidFill>
                <a:effectLst>
                  <a:outerShdw blurRad="38100" dist="38100" dir="2700000" algn="tl">
                    <a:srgbClr val="FFFFFF"/>
                  </a:outerShdw>
                </a:effectLst>
                <a:ea typeface="楷体" pitchFamily="2" charset="-122"/>
              </a:rPr>
              <a:t>企业增长</a:t>
            </a:r>
          </a:p>
        </p:txBody>
      </p:sp>
      <p:sp>
        <p:nvSpPr>
          <p:cNvPr id="1218586" name="Rectangle 26"/>
          <p:cNvSpPr>
            <a:spLocks noChangeArrowheads="1"/>
          </p:cNvSpPr>
          <p:nvPr/>
        </p:nvSpPr>
        <p:spPr bwMode="auto">
          <a:xfrm>
            <a:off x="3348038" y="3784600"/>
            <a:ext cx="1371600"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nchorCtr="1"/>
          <a:lstStyle/>
          <a:p>
            <a:pPr eaLnBrk="0" hangingPunct="0">
              <a:lnSpc>
                <a:spcPct val="90000"/>
              </a:lnSpc>
              <a:buFont typeface="Times New Roman" pitchFamily="18" charset="0"/>
              <a:buNone/>
              <a:tabLst>
                <a:tab pos="1028700" algn="l"/>
                <a:tab pos="8001000" algn="r"/>
              </a:tabLst>
              <a:defRPr/>
            </a:pPr>
            <a:r>
              <a:rPr kumimoji="0" lang="zh-CN" altLang="en-US" sz="1400" b="1">
                <a:solidFill>
                  <a:schemeClr val="tx1"/>
                </a:solidFill>
                <a:effectLst>
                  <a:outerShdw blurRad="38100" dist="38100" dir="2700000" algn="tl">
                    <a:srgbClr val="FFFFFF"/>
                  </a:outerShdw>
                </a:effectLst>
                <a:ea typeface="楷体" pitchFamily="2" charset="-122"/>
              </a:rPr>
              <a:t>地域性扩张</a:t>
            </a:r>
          </a:p>
        </p:txBody>
      </p:sp>
      <p:sp>
        <p:nvSpPr>
          <p:cNvPr id="1218587" name="Rectangle 27"/>
          <p:cNvSpPr>
            <a:spLocks noChangeArrowheads="1"/>
          </p:cNvSpPr>
          <p:nvPr/>
        </p:nvSpPr>
        <p:spPr bwMode="auto">
          <a:xfrm>
            <a:off x="5283200" y="3784600"/>
            <a:ext cx="1371600" cy="469900"/>
          </a:xfrm>
          <a:prstGeom prst="rect">
            <a:avLst/>
          </a:prstGeom>
          <a:gradFill rotWithShape="0">
            <a:gsLst>
              <a:gs pos="0">
                <a:srgbClr val="FF6600">
                  <a:gamma/>
                  <a:shade val="46275"/>
                  <a:invGamma/>
                </a:srgbClr>
              </a:gs>
              <a:gs pos="50000">
                <a:srgbClr val="FF6600"/>
              </a:gs>
              <a:gs pos="100000">
                <a:srgbClr val="FF6600">
                  <a:gamma/>
                  <a:shade val="46275"/>
                  <a:invGamma/>
                </a:srgbClr>
              </a:gs>
            </a:gsLst>
            <a:lin ang="5400000" scaled="1"/>
          </a:gradFill>
          <a:ln w="12700">
            <a:solidFill>
              <a:srgbClr val="800000"/>
            </a:solidFill>
            <a:miter lim="800000"/>
            <a:headEnd/>
            <a:tailEnd/>
          </a:ln>
          <a:effectLst/>
        </p:spPr>
        <p:txBody>
          <a:bodyPr lIns="90488" tIns="44450" rIns="90488" bIns="44450" anchor="ctr" anchorCtr="1"/>
          <a:lstStyle/>
          <a:p>
            <a:pPr eaLnBrk="0" hangingPunct="0">
              <a:lnSpc>
                <a:spcPct val="90000"/>
              </a:lnSpc>
              <a:buFont typeface="Times New Roman" pitchFamily="18" charset="0"/>
              <a:buNone/>
              <a:tabLst>
                <a:tab pos="1028700" algn="l"/>
                <a:tab pos="8001000" algn="r"/>
              </a:tabLst>
              <a:defRPr/>
            </a:pPr>
            <a:r>
              <a:rPr kumimoji="0" lang="zh-CN" altLang="en-US" sz="1400" b="1">
                <a:solidFill>
                  <a:schemeClr val="tx1"/>
                </a:solidFill>
                <a:effectLst>
                  <a:outerShdw blurRad="38100" dist="38100" dir="2700000" algn="tl">
                    <a:srgbClr val="FFFFFF"/>
                  </a:outerShdw>
                </a:effectLst>
                <a:ea typeface="楷体" pitchFamily="2" charset="-122"/>
              </a:rPr>
              <a:t>与自身能力相关的扩张</a:t>
            </a:r>
          </a:p>
        </p:txBody>
      </p:sp>
      <p:sp>
        <p:nvSpPr>
          <p:cNvPr id="17433" name="AutoShape 28"/>
          <p:cNvSpPr>
            <a:spLocks/>
          </p:cNvSpPr>
          <p:nvPr/>
        </p:nvSpPr>
        <p:spPr bwMode="auto">
          <a:xfrm>
            <a:off x="1162050" y="1765300"/>
            <a:ext cx="163513" cy="3416300"/>
          </a:xfrm>
          <a:prstGeom prst="leftBrace">
            <a:avLst>
              <a:gd name="adj1" fmla="val 174109"/>
              <a:gd name="adj2" fmla="val 50370"/>
            </a:avLst>
          </a:prstGeom>
          <a:noFill/>
          <a:ln w="28575">
            <a:solidFill>
              <a:srgbClr val="FF0000"/>
            </a:solidFill>
            <a:round/>
            <a:headEnd type="none" w="lg" len="med"/>
            <a:tailEnd/>
          </a:ln>
        </p:spPr>
        <p:txBody>
          <a:bodyPr wrap="none" anchor="ctr"/>
          <a:lstStyle/>
          <a:p>
            <a:endParaRPr lang="zh-CN" altLang="en-US"/>
          </a:p>
        </p:txBody>
      </p:sp>
      <p:sp>
        <p:nvSpPr>
          <p:cNvPr id="17434" name="AutoShape 29"/>
          <p:cNvSpPr>
            <a:spLocks/>
          </p:cNvSpPr>
          <p:nvPr/>
        </p:nvSpPr>
        <p:spPr bwMode="auto">
          <a:xfrm>
            <a:off x="1162050" y="5664200"/>
            <a:ext cx="163513" cy="863600"/>
          </a:xfrm>
          <a:prstGeom prst="leftBrace">
            <a:avLst>
              <a:gd name="adj1" fmla="val 44013"/>
              <a:gd name="adj2" fmla="val 50370"/>
            </a:avLst>
          </a:prstGeom>
          <a:noFill/>
          <a:ln w="28575">
            <a:solidFill>
              <a:srgbClr val="FF0000"/>
            </a:solidFill>
            <a:round/>
            <a:headEnd type="none" w="lg" len="med"/>
            <a:tailEnd/>
          </a:ln>
        </p:spPr>
        <p:txBody>
          <a:bodyPr wrap="none" anchor="ctr"/>
          <a:lstStyle/>
          <a:p>
            <a:endParaRPr lang="zh-CN" altLang="en-US"/>
          </a:p>
        </p:txBody>
      </p:sp>
      <p:sp>
        <p:nvSpPr>
          <p:cNvPr id="17435" name="Line 30"/>
          <p:cNvSpPr>
            <a:spLocks noChangeShapeType="1"/>
          </p:cNvSpPr>
          <p:nvPr/>
        </p:nvSpPr>
        <p:spPr bwMode="auto">
          <a:xfrm>
            <a:off x="4787900" y="5805488"/>
            <a:ext cx="0" cy="144462"/>
          </a:xfrm>
          <a:prstGeom prst="line">
            <a:avLst/>
          </a:prstGeom>
          <a:noFill/>
          <a:ln w="9525">
            <a:solidFill>
              <a:schemeClr val="tx1"/>
            </a:solidFill>
            <a:round/>
            <a:headEnd/>
            <a:tailEnd/>
          </a:ln>
        </p:spPr>
        <p:txBody>
          <a:bodyPr wrap="none"/>
          <a:lstStyle/>
          <a:p>
            <a:endParaRPr lang="zh-CN" altLang="en-US"/>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kumimoji="1" lang="zh-CN" altLang="en-US"/>
          </a:p>
        </p:txBody>
      </p:sp>
      <p:sp>
        <p:nvSpPr>
          <p:cNvPr id="4" name="内容占位符 3"/>
          <p:cNvSpPr>
            <a:spLocks noGrp="1"/>
          </p:cNvSpPr>
          <p:nvPr>
            <p:ph idx="1"/>
          </p:nvPr>
        </p:nvSpPr>
        <p:spPr/>
        <p:txBody>
          <a:bodyPr/>
          <a:lstStyle/>
          <a:p>
            <a:r>
              <a:rPr kumimoji="1" lang="zh-CN" altLang="en-US" dirty="0"/>
              <a:t>公司成长轨迹</a:t>
            </a:r>
            <a:endParaRPr kumimoji="1" lang="en-US" altLang="zh-CN" dirty="0"/>
          </a:p>
          <a:p>
            <a:pPr lvl="1"/>
            <a:r>
              <a:rPr kumimoji="1" lang="zh-CN" altLang="en-US" dirty="0"/>
              <a:t>小公司，单一产品单一市场</a:t>
            </a:r>
            <a:endParaRPr kumimoji="1" lang="en-US" altLang="zh-CN" dirty="0"/>
          </a:p>
          <a:p>
            <a:pPr lvl="1"/>
            <a:r>
              <a:rPr kumimoji="1" lang="zh-CN" altLang="en-US" dirty="0"/>
              <a:t>扩展市场：产品开发</a:t>
            </a:r>
            <a:endParaRPr kumimoji="1" lang="en-US" altLang="zh-CN" dirty="0"/>
          </a:p>
          <a:p>
            <a:pPr lvl="1"/>
            <a:r>
              <a:rPr kumimoji="1" lang="zh-CN" altLang="en-US" dirty="0"/>
              <a:t>完善增加产品：产品开发</a:t>
            </a:r>
            <a:endParaRPr kumimoji="1" lang="en-US" altLang="zh-CN" dirty="0"/>
          </a:p>
          <a:p>
            <a:pPr lvl="1"/>
            <a:r>
              <a:rPr kumimoji="1" lang="zh-CN" altLang="en-US" dirty="0"/>
              <a:t>继续扩大规模，纵向一体化、横向一体化</a:t>
            </a:r>
            <a:endParaRPr kumimoji="1" lang="en-US" altLang="zh-CN" dirty="0"/>
          </a:p>
          <a:p>
            <a:pPr lvl="1"/>
            <a:r>
              <a:rPr kumimoji="1" lang="zh-CN" altLang="en-US" dirty="0"/>
              <a:t>以上三种</a:t>
            </a:r>
            <a:r>
              <a:rPr kumimoji="1" lang="zh-CN" altLang="en-US" dirty="0">
                <a:solidFill>
                  <a:srgbClr val="FF0000"/>
                </a:solidFill>
              </a:rPr>
              <a:t>专业化发展战略</a:t>
            </a:r>
            <a:endParaRPr kumimoji="1" lang="en-US" altLang="zh-CN" dirty="0">
              <a:solidFill>
                <a:srgbClr val="FF0000"/>
              </a:solidFill>
            </a:endParaRPr>
          </a:p>
          <a:p>
            <a:pPr lvl="1"/>
            <a:endParaRPr kumimoji="1" lang="en-US" altLang="zh-CN" dirty="0"/>
          </a:p>
          <a:p>
            <a:pPr lvl="1"/>
            <a:r>
              <a:rPr kumimoji="1" lang="zh-CN" altLang="en-US" dirty="0"/>
              <a:t>行业有周期，风险大，或者看到新的战略机会，进入新的行业领域，开始新一轮的发展，</a:t>
            </a:r>
            <a:r>
              <a:rPr kumimoji="1" lang="zh-CN" altLang="en-US" dirty="0">
                <a:solidFill>
                  <a:srgbClr val="FF0000"/>
                </a:solidFill>
              </a:rPr>
              <a:t>多元化发展战略</a:t>
            </a:r>
            <a:r>
              <a:rPr kumimoji="1" lang="zh-CN" altLang="en-US" dirty="0"/>
              <a:t>，相关多元化，非相关多元化</a:t>
            </a:r>
            <a:endParaRPr kumimoji="1" lang="en-US" altLang="zh-CN" dirty="0"/>
          </a:p>
          <a:p>
            <a:pPr lvl="1"/>
            <a:endParaRPr kumimoji="1" lang="zh-CN" altLang="en-US" dirty="0"/>
          </a:p>
        </p:txBody>
      </p:sp>
    </p:spTree>
    <p:extLst>
      <p:ext uri="{BB962C8B-B14F-4D97-AF65-F5344CB8AC3E}">
        <p14:creationId xmlns:p14="http://schemas.microsoft.com/office/powerpoint/2010/main" val="88805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pic>
        <p:nvPicPr>
          <p:cNvPr id="4" name="内容占位符 3" descr="1470044718.jpg"/>
          <p:cNvPicPr>
            <a:picLocks noGrp="1" noChangeAspect="1"/>
          </p:cNvPicPr>
          <p:nvPr>
            <p:ph idx="1"/>
          </p:nvPr>
        </p:nvPicPr>
        <p:blipFill>
          <a:blip r:embed="rId2">
            <a:extLst>
              <a:ext uri="{28A0092B-C50C-407E-A947-70E740481C1C}">
                <a14:useLocalDpi xmlns:a14="http://schemas.microsoft.com/office/drawing/2010/main" val="0"/>
              </a:ext>
            </a:extLst>
          </a:blip>
          <a:srcRect l="3199" r="3199"/>
          <a:stretch>
            <a:fillRect/>
          </a:stretch>
        </p:blipFill>
        <p:spPr/>
      </p:pic>
    </p:spTree>
    <p:extLst>
      <p:ext uri="{BB962C8B-B14F-4D97-AF65-F5344CB8AC3E}">
        <p14:creationId xmlns:p14="http://schemas.microsoft.com/office/powerpoint/2010/main" val="1513493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公司发展战略的思考维度</a:t>
            </a:r>
          </a:p>
        </p:txBody>
      </p:sp>
      <p:sp>
        <p:nvSpPr>
          <p:cNvPr id="3" name="内容占位符 2"/>
          <p:cNvSpPr>
            <a:spLocks noGrp="1"/>
          </p:cNvSpPr>
          <p:nvPr>
            <p:ph idx="1"/>
          </p:nvPr>
        </p:nvSpPr>
        <p:spPr/>
        <p:txBody>
          <a:bodyPr/>
          <a:lstStyle/>
          <a:p>
            <a:r>
              <a:rPr lang="zh-CN" altLang="en-US" dirty="0"/>
              <a:t>产业维度</a:t>
            </a:r>
            <a:endParaRPr lang="en-US" altLang="zh-CN" dirty="0"/>
          </a:p>
          <a:p>
            <a:pPr lvl="1"/>
            <a:r>
              <a:rPr lang="zh-CN" altLang="en-US" dirty="0"/>
              <a:t>考虑业务范围的宽窄，形成专业化和多元化两种主要的产业发展战略</a:t>
            </a:r>
            <a:endParaRPr lang="en-US" altLang="zh-CN" dirty="0"/>
          </a:p>
          <a:p>
            <a:r>
              <a:rPr lang="zh-CN" altLang="en-US" dirty="0"/>
              <a:t>空间维度</a:t>
            </a:r>
            <a:endParaRPr lang="en-US" altLang="zh-CN" dirty="0"/>
          </a:p>
          <a:p>
            <a:pPr lvl="1"/>
            <a:r>
              <a:rPr lang="zh-CN" altLang="en-US" dirty="0"/>
              <a:t>考虑涉足空间范围的大小，形成国内战略和国际化战略</a:t>
            </a:r>
          </a:p>
        </p:txBody>
      </p:sp>
    </p:spTree>
    <p:extLst>
      <p:ext uri="{BB962C8B-B14F-4D97-AF65-F5344CB8AC3E}">
        <p14:creationId xmlns:p14="http://schemas.microsoft.com/office/powerpoint/2010/main" val="903020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zh-CN" altLang="en-US" dirty="0"/>
              <a:t>专业化战略</a:t>
            </a:r>
            <a:endParaRPr lang="en-US" altLang="zh-CN" dirty="0"/>
          </a:p>
          <a:p>
            <a:pPr lvl="1"/>
            <a:r>
              <a:rPr lang="zh-CN" altLang="en-US" dirty="0"/>
              <a:t>企业把所有资源和能力集中从事某种核心业务，通过核心业务的发展，建立竞争优势和市场地位。</a:t>
            </a:r>
            <a:endParaRPr lang="en-US" altLang="zh-CN" dirty="0"/>
          </a:p>
          <a:p>
            <a:r>
              <a:rPr lang="zh-CN" altLang="en-US" sz="2400" dirty="0"/>
              <a:t>专业化率（</a:t>
            </a:r>
            <a:r>
              <a:rPr lang="en-US" altLang="zh-CN" sz="2400" dirty="0"/>
              <a:t>SR</a:t>
            </a:r>
            <a:r>
              <a:rPr lang="zh-CN" altLang="en-US" sz="2400" dirty="0"/>
              <a:t>）</a:t>
            </a:r>
            <a:r>
              <a:rPr lang="en-US" altLang="zh-CN" sz="2400" dirty="0"/>
              <a:t>=</a:t>
            </a:r>
            <a:r>
              <a:rPr lang="zh-CN" altLang="en-US" sz="2400" dirty="0"/>
              <a:t>企业最大一种产品的销售额</a:t>
            </a:r>
            <a:r>
              <a:rPr lang="en-US" altLang="zh-CN" sz="2400" dirty="0"/>
              <a:t>/</a:t>
            </a:r>
            <a:r>
              <a:rPr lang="zh-CN" altLang="en-US" sz="2400" dirty="0"/>
              <a:t>企业的销售总额</a:t>
            </a:r>
            <a:endParaRPr lang="en-US" altLang="zh-CN" sz="2400" dirty="0"/>
          </a:p>
          <a:p>
            <a:r>
              <a:rPr lang="zh-CN" altLang="en-US" sz="2400" dirty="0"/>
              <a:t>相关联率（</a:t>
            </a:r>
            <a:r>
              <a:rPr lang="en-US" altLang="zh-CN" sz="2400" dirty="0"/>
              <a:t>RR</a:t>
            </a:r>
            <a:r>
              <a:rPr lang="zh-CN" altLang="en-US" sz="2400" dirty="0"/>
              <a:t>）</a:t>
            </a:r>
            <a:r>
              <a:rPr lang="en-US" altLang="zh-CN" sz="2400" dirty="0"/>
              <a:t>=</a:t>
            </a:r>
            <a:r>
              <a:rPr lang="zh-CN" altLang="en-US" sz="2400" dirty="0"/>
              <a:t>企业最大一组以某种方式相关联的业务的销售额</a:t>
            </a:r>
            <a:r>
              <a:rPr lang="en-US" altLang="zh-CN" sz="2400" dirty="0"/>
              <a:t>/</a:t>
            </a:r>
            <a:r>
              <a:rPr lang="zh-CN" altLang="en-US" sz="2400" dirty="0"/>
              <a:t>企业总销售额</a:t>
            </a:r>
            <a:endParaRPr lang="en-US" altLang="zh-CN" sz="2400" dirty="0"/>
          </a:p>
          <a:p>
            <a:r>
              <a:rPr lang="en-US" altLang="zh-CN" sz="2400" dirty="0"/>
              <a:t>SR&gt;=95% </a:t>
            </a:r>
            <a:r>
              <a:rPr lang="zh-CN" altLang="en-US" sz="2400" dirty="0"/>
              <a:t>单一产品型，高度专业化</a:t>
            </a:r>
            <a:endParaRPr lang="en-US" altLang="zh-CN" sz="2400" dirty="0"/>
          </a:p>
          <a:p>
            <a:r>
              <a:rPr lang="en-US" altLang="zh-CN" sz="2400" dirty="0"/>
              <a:t>70%&lt;=SR&lt;95% </a:t>
            </a:r>
            <a:r>
              <a:rPr lang="zh-CN" altLang="en-US" sz="2400" dirty="0"/>
              <a:t>主导产品型，中度专业化</a:t>
            </a:r>
            <a:endParaRPr lang="en-US" altLang="zh-CN" sz="2400" dirty="0"/>
          </a:p>
          <a:p>
            <a:r>
              <a:rPr lang="en-US" altLang="zh-CN" sz="2400" dirty="0"/>
              <a:t>SR&lt;70%  </a:t>
            </a:r>
            <a:r>
              <a:rPr lang="zh-CN" altLang="en-US" sz="2400" dirty="0"/>
              <a:t>低度专业化，高度多元化</a:t>
            </a:r>
            <a:endParaRPr lang="en-US" altLang="zh-CN" sz="2400" dirty="0"/>
          </a:p>
          <a:p>
            <a:r>
              <a:rPr lang="en-US" altLang="zh-CN" sz="2400" dirty="0"/>
              <a:t>RR&gt;=70%,</a:t>
            </a:r>
            <a:r>
              <a:rPr lang="zh-CN" altLang="en-US" sz="2400" dirty="0"/>
              <a:t>相关多元化，</a:t>
            </a:r>
            <a:r>
              <a:rPr lang="en-US" altLang="zh-CN" sz="2400" dirty="0"/>
              <a:t>RR&lt;70%,</a:t>
            </a:r>
            <a:r>
              <a:rPr lang="zh-CN" altLang="en-US" sz="2400" dirty="0"/>
              <a:t>非相关多元化</a:t>
            </a:r>
            <a:endParaRPr lang="en-US" altLang="zh-CN" sz="2400" dirty="0"/>
          </a:p>
          <a:p>
            <a:endParaRPr lang="en-US" altLang="zh-CN" sz="2400" dirty="0"/>
          </a:p>
          <a:p>
            <a:pPr lvl="1"/>
            <a:endParaRPr lang="en-US" altLang="zh-CN" dirty="0"/>
          </a:p>
          <a:p>
            <a:pPr lvl="1"/>
            <a:endParaRPr lang="zh-CN" altLang="en-US" dirty="0"/>
          </a:p>
        </p:txBody>
      </p:sp>
    </p:spTree>
    <p:extLst>
      <p:ext uri="{BB962C8B-B14F-4D97-AF65-F5344CB8AC3E}">
        <p14:creationId xmlns:p14="http://schemas.microsoft.com/office/powerpoint/2010/main" val="1227531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339975" y="304800"/>
            <a:ext cx="5813425" cy="1143000"/>
          </a:xfrm>
          <a:noFill/>
        </p:spPr>
        <p:txBody>
          <a:bodyPr/>
          <a:lstStyle/>
          <a:p>
            <a:pPr eaLnBrk="1" hangingPunct="1"/>
            <a:r>
              <a:rPr lang="zh-CN" altLang="en-AU">
                <a:solidFill>
                  <a:srgbClr val="FFFF66"/>
                </a:solidFill>
              </a:rPr>
              <a:t>发展</a:t>
            </a:r>
            <a:r>
              <a:rPr lang="zh-CN" altLang="en-US">
                <a:solidFill>
                  <a:srgbClr val="FFFF66"/>
                </a:solidFill>
              </a:rPr>
              <a:t>战略的分类</a:t>
            </a:r>
            <a:endParaRPr lang="zh-CN" altLang="en-AU">
              <a:solidFill>
                <a:srgbClr val="FFFF66"/>
              </a:solidFill>
            </a:endParaRPr>
          </a:p>
        </p:txBody>
      </p:sp>
      <p:sp>
        <p:nvSpPr>
          <p:cNvPr id="1290243" name="Rectangle 3"/>
          <p:cNvSpPr>
            <a:spLocks noChangeArrowheads="1"/>
          </p:cNvSpPr>
          <p:nvPr/>
        </p:nvSpPr>
        <p:spPr bwMode="auto">
          <a:xfrm>
            <a:off x="1219200" y="2133600"/>
            <a:ext cx="6934200" cy="4038600"/>
          </a:xfrm>
          <a:prstGeom prst="rect">
            <a:avLst/>
          </a:prstGeom>
          <a:gradFill rotWithShape="0">
            <a:gsLst>
              <a:gs pos="0">
                <a:srgbClr val="FFCC99"/>
              </a:gs>
              <a:gs pos="100000">
                <a:srgbClr val="FF66FF"/>
              </a:gs>
            </a:gsLst>
            <a:path path="shape">
              <a:fillToRect l="50000" t="50000" r="50000" b="50000"/>
            </a:path>
          </a:gradFill>
          <a:ln w="12700">
            <a:solidFill>
              <a:srgbClr val="800000"/>
            </a:solidFill>
            <a:miter lim="800000"/>
            <a:headEnd type="none" w="sm" len="sm"/>
            <a:tailEnd type="none" w="sm" len="sm"/>
          </a:ln>
        </p:spPr>
        <p:txBody>
          <a:bodyPr/>
          <a:lstStyle/>
          <a:p>
            <a:pPr marL="952500" indent="-279400" algn="l">
              <a:buSzPct val="80000"/>
            </a:pPr>
            <a:r>
              <a:rPr kumimoji="0" lang="zh-CN" altLang="en-US" sz="3600">
                <a:latin typeface="Arial" pitchFamily="34" charset="0"/>
              </a:rPr>
              <a:t>单一化战略        系列化战略 </a:t>
            </a:r>
          </a:p>
          <a:p>
            <a:pPr marL="952500" indent="-279400" algn="l">
              <a:buSzPct val="80000"/>
            </a:pPr>
            <a:r>
              <a:rPr kumimoji="0" lang="zh-CN" altLang="en-US" sz="3600">
                <a:latin typeface="Arial" pitchFamily="34" charset="0"/>
              </a:rPr>
              <a:t>市场渗透             产品开发</a:t>
            </a:r>
          </a:p>
          <a:p>
            <a:pPr marL="952500" indent="-279400" algn="l">
              <a:buSzPct val="80000"/>
            </a:pPr>
            <a:endParaRPr kumimoji="0" lang="zh-CN" altLang="en-US" sz="3600">
              <a:latin typeface="Arial" pitchFamily="34" charset="0"/>
            </a:endParaRPr>
          </a:p>
          <a:p>
            <a:pPr marL="952500" indent="-279400" algn="l">
              <a:buSzPct val="80000"/>
            </a:pPr>
            <a:endParaRPr kumimoji="0" lang="zh-CN" altLang="en-US" sz="3600">
              <a:latin typeface="Arial" pitchFamily="34" charset="0"/>
            </a:endParaRPr>
          </a:p>
          <a:p>
            <a:pPr marL="952500" indent="-279400" algn="l">
              <a:buSzPct val="80000"/>
            </a:pPr>
            <a:r>
              <a:rPr kumimoji="0" lang="zh-CN" altLang="en-US" sz="3600">
                <a:latin typeface="Arial" pitchFamily="34" charset="0"/>
              </a:rPr>
              <a:t>一体化                 多元化</a:t>
            </a:r>
            <a:endParaRPr kumimoji="0" lang="en-US" altLang="zh-CN" sz="3600">
              <a:latin typeface="Arial" pitchFamily="34" charset="0"/>
            </a:endParaRPr>
          </a:p>
          <a:p>
            <a:pPr marL="952500" indent="-279400" algn="l">
              <a:buSzPct val="80000"/>
            </a:pPr>
            <a:r>
              <a:rPr kumimoji="0" lang="zh-CN" altLang="en-US" sz="3600">
                <a:latin typeface="Arial" pitchFamily="34" charset="0"/>
              </a:rPr>
              <a:t>市场开发        </a:t>
            </a:r>
            <a:r>
              <a:rPr kumimoji="0" lang="zh-CN" altLang="en-US" sz="3200">
                <a:latin typeface="Arial" pitchFamily="34" charset="0"/>
              </a:rPr>
              <a:t>（相关或不相关）</a:t>
            </a:r>
          </a:p>
        </p:txBody>
      </p:sp>
      <p:sp>
        <p:nvSpPr>
          <p:cNvPr id="18436" name="Line 4"/>
          <p:cNvSpPr>
            <a:spLocks noChangeShapeType="1"/>
          </p:cNvSpPr>
          <p:nvPr/>
        </p:nvSpPr>
        <p:spPr bwMode="auto">
          <a:xfrm>
            <a:off x="4648200" y="2133600"/>
            <a:ext cx="0" cy="4038600"/>
          </a:xfrm>
          <a:prstGeom prst="line">
            <a:avLst/>
          </a:prstGeom>
          <a:noFill/>
          <a:ln w="9525">
            <a:solidFill>
              <a:schemeClr val="tx1"/>
            </a:solidFill>
            <a:round/>
            <a:headEnd/>
            <a:tailEnd/>
          </a:ln>
        </p:spPr>
        <p:txBody>
          <a:bodyPr wrap="none"/>
          <a:lstStyle/>
          <a:p>
            <a:endParaRPr lang="zh-CN" altLang="en-US"/>
          </a:p>
        </p:txBody>
      </p:sp>
      <p:sp>
        <p:nvSpPr>
          <p:cNvPr id="18437" name="Line 5"/>
          <p:cNvSpPr>
            <a:spLocks noChangeShapeType="1"/>
          </p:cNvSpPr>
          <p:nvPr/>
        </p:nvSpPr>
        <p:spPr bwMode="auto">
          <a:xfrm>
            <a:off x="1219200" y="4191000"/>
            <a:ext cx="6934200" cy="0"/>
          </a:xfrm>
          <a:prstGeom prst="line">
            <a:avLst/>
          </a:prstGeom>
          <a:noFill/>
          <a:ln w="9525">
            <a:solidFill>
              <a:schemeClr val="tx1"/>
            </a:solidFill>
            <a:round/>
            <a:headEnd/>
            <a:tailEnd/>
          </a:ln>
        </p:spPr>
        <p:txBody>
          <a:bodyPr wrap="none"/>
          <a:lstStyle/>
          <a:p>
            <a:endParaRPr lang="zh-CN" altLang="en-US"/>
          </a:p>
        </p:txBody>
      </p:sp>
      <p:sp>
        <p:nvSpPr>
          <p:cNvPr id="18438" name="Rectangle 6"/>
          <p:cNvSpPr>
            <a:spLocks noChangeArrowheads="1"/>
          </p:cNvSpPr>
          <p:nvPr/>
        </p:nvSpPr>
        <p:spPr bwMode="auto">
          <a:xfrm>
            <a:off x="2133600" y="1600200"/>
            <a:ext cx="2209800" cy="457200"/>
          </a:xfrm>
          <a:prstGeom prst="rect">
            <a:avLst/>
          </a:prstGeom>
          <a:noFill/>
          <a:ln w="9525">
            <a:noFill/>
            <a:miter lim="800000"/>
            <a:headEnd/>
            <a:tailEnd/>
          </a:ln>
        </p:spPr>
        <p:txBody>
          <a:bodyPr wrap="none" anchor="ctr"/>
          <a:lstStyle/>
          <a:p>
            <a:r>
              <a:rPr lang="zh-CN" altLang="en-US" sz="3200">
                <a:ea typeface="宋体" pitchFamily="2" charset="-122"/>
              </a:rPr>
              <a:t>单品种</a:t>
            </a:r>
          </a:p>
        </p:txBody>
      </p:sp>
      <p:sp>
        <p:nvSpPr>
          <p:cNvPr id="18439" name="Rectangle 7"/>
          <p:cNvSpPr>
            <a:spLocks noChangeArrowheads="1"/>
          </p:cNvSpPr>
          <p:nvPr/>
        </p:nvSpPr>
        <p:spPr bwMode="auto">
          <a:xfrm>
            <a:off x="5105400" y="1600200"/>
            <a:ext cx="2209800" cy="457200"/>
          </a:xfrm>
          <a:prstGeom prst="rect">
            <a:avLst/>
          </a:prstGeom>
          <a:noFill/>
          <a:ln w="9525">
            <a:noFill/>
            <a:miter lim="800000"/>
            <a:headEnd/>
            <a:tailEnd/>
          </a:ln>
        </p:spPr>
        <p:txBody>
          <a:bodyPr wrap="none" anchor="ctr"/>
          <a:lstStyle/>
          <a:p>
            <a:r>
              <a:rPr lang="zh-CN" altLang="en-US" sz="3200">
                <a:ea typeface="宋体" pitchFamily="2" charset="-122"/>
              </a:rPr>
              <a:t>多品种</a:t>
            </a:r>
          </a:p>
        </p:txBody>
      </p:sp>
      <p:sp>
        <p:nvSpPr>
          <p:cNvPr id="18440" name="Rectangle 8"/>
          <p:cNvSpPr>
            <a:spLocks noChangeArrowheads="1"/>
          </p:cNvSpPr>
          <p:nvPr/>
        </p:nvSpPr>
        <p:spPr bwMode="auto">
          <a:xfrm>
            <a:off x="533400" y="2286000"/>
            <a:ext cx="457200" cy="1828800"/>
          </a:xfrm>
          <a:prstGeom prst="rect">
            <a:avLst/>
          </a:prstGeom>
          <a:noFill/>
          <a:ln w="9525">
            <a:noFill/>
            <a:miter lim="800000"/>
            <a:headEnd/>
            <a:tailEnd/>
          </a:ln>
        </p:spPr>
        <p:txBody>
          <a:bodyPr wrap="none" anchor="ctr"/>
          <a:lstStyle/>
          <a:p>
            <a:endParaRPr lang="zh-CN" altLang="en-US" sz="3200">
              <a:ea typeface="宋体" pitchFamily="2" charset="-122"/>
            </a:endParaRPr>
          </a:p>
          <a:p>
            <a:r>
              <a:rPr lang="zh-CN" altLang="en-US" sz="3200">
                <a:ea typeface="宋体" pitchFamily="2" charset="-122"/>
              </a:rPr>
              <a:t>单</a:t>
            </a:r>
          </a:p>
          <a:p>
            <a:r>
              <a:rPr lang="zh-CN" altLang="en-US" sz="3200">
                <a:ea typeface="宋体" pitchFamily="2" charset="-122"/>
              </a:rPr>
              <a:t>市</a:t>
            </a:r>
          </a:p>
          <a:p>
            <a:r>
              <a:rPr lang="zh-CN" altLang="en-US" sz="3200">
                <a:ea typeface="宋体" pitchFamily="2" charset="-122"/>
              </a:rPr>
              <a:t>场</a:t>
            </a:r>
          </a:p>
          <a:p>
            <a:endParaRPr lang="en-US" altLang="zh-CN" sz="3200">
              <a:ea typeface="宋体" pitchFamily="2" charset="-122"/>
            </a:endParaRPr>
          </a:p>
        </p:txBody>
      </p:sp>
      <p:sp>
        <p:nvSpPr>
          <p:cNvPr id="18441" name="Rectangle 9"/>
          <p:cNvSpPr>
            <a:spLocks noChangeArrowheads="1"/>
          </p:cNvSpPr>
          <p:nvPr/>
        </p:nvSpPr>
        <p:spPr bwMode="auto">
          <a:xfrm>
            <a:off x="533400" y="4343400"/>
            <a:ext cx="457200" cy="1828800"/>
          </a:xfrm>
          <a:prstGeom prst="rect">
            <a:avLst/>
          </a:prstGeom>
          <a:noFill/>
          <a:ln w="9525">
            <a:noFill/>
            <a:miter lim="800000"/>
            <a:headEnd/>
            <a:tailEnd/>
          </a:ln>
        </p:spPr>
        <p:txBody>
          <a:bodyPr wrap="none" anchor="ctr"/>
          <a:lstStyle/>
          <a:p>
            <a:r>
              <a:rPr lang="zh-CN" altLang="en-US" sz="3200">
                <a:ea typeface="宋体" pitchFamily="2" charset="-122"/>
              </a:rPr>
              <a:t>多</a:t>
            </a:r>
            <a:endParaRPr lang="en-US" altLang="zh-CN" sz="3200">
              <a:ea typeface="宋体" pitchFamily="2" charset="-122"/>
            </a:endParaRPr>
          </a:p>
          <a:p>
            <a:r>
              <a:rPr lang="zh-CN" altLang="en-US" sz="3200">
                <a:ea typeface="宋体" pitchFamily="2" charset="-122"/>
              </a:rPr>
              <a:t>市</a:t>
            </a:r>
          </a:p>
          <a:p>
            <a:r>
              <a:rPr lang="zh-CN" altLang="en-US" sz="3200">
                <a:ea typeface="宋体" pitchFamily="2" charset="-122"/>
              </a:rPr>
              <a:t>场</a:t>
            </a:r>
          </a:p>
          <a:p>
            <a:endParaRPr lang="en-US" altLang="zh-CN" sz="3200">
              <a:ea typeface="宋体" pitchFamily="2" charset="-122"/>
            </a:endParaRP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90243"/>
                                        </p:tgtEl>
                                        <p:attrNameLst>
                                          <p:attrName>style.visibility</p:attrName>
                                        </p:attrNameLst>
                                      </p:cBhvr>
                                      <p:to>
                                        <p:strVal val="visible"/>
                                      </p:to>
                                    </p:set>
                                    <p:animEffect transition="in" filter="dissolve">
                                      <p:cBhvr>
                                        <p:cTn id="7" dur="500"/>
                                        <p:tgtEl>
                                          <p:spTgt spid="1290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43"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专业化战略分类</a:t>
            </a:r>
          </a:p>
        </p:txBody>
      </p:sp>
      <p:graphicFrame>
        <p:nvGraphicFramePr>
          <p:cNvPr id="4" name="内容占位符 3"/>
          <p:cNvGraphicFramePr>
            <a:graphicFrameLocks noGrp="1"/>
          </p:cNvGraphicFramePr>
          <p:nvPr>
            <p:ph idx="1"/>
          </p:nvPr>
        </p:nvGraphicFramePr>
        <p:xfrm>
          <a:off x="539552" y="1916832"/>
          <a:ext cx="7704856" cy="1112520"/>
        </p:xfrm>
        <a:graphic>
          <a:graphicData uri="http://schemas.openxmlformats.org/drawingml/2006/table">
            <a:tbl>
              <a:tblPr firstRow="1" bandRow="1">
                <a:tableStyleId>{5C22544A-7EE6-4342-B048-85BDC9FD1C3A}</a:tableStyleId>
              </a:tblPr>
              <a:tblGrid>
                <a:gridCol w="1872208">
                  <a:extLst>
                    <a:ext uri="{9D8B030D-6E8A-4147-A177-3AD203B41FA5}">
                      <a16:colId xmlns:a16="http://schemas.microsoft.com/office/drawing/2014/main" val="20000"/>
                    </a:ext>
                  </a:extLst>
                </a:gridCol>
                <a:gridCol w="2952328">
                  <a:extLst>
                    <a:ext uri="{9D8B030D-6E8A-4147-A177-3AD203B41FA5}">
                      <a16:colId xmlns:a16="http://schemas.microsoft.com/office/drawing/2014/main" val="20001"/>
                    </a:ext>
                  </a:extLst>
                </a:gridCol>
                <a:gridCol w="2880320">
                  <a:extLst>
                    <a:ext uri="{9D8B030D-6E8A-4147-A177-3AD203B41FA5}">
                      <a16:colId xmlns:a16="http://schemas.microsoft.com/office/drawing/2014/main" val="20002"/>
                    </a:ext>
                  </a:extLst>
                </a:gridCol>
              </a:tblGrid>
              <a:tr h="370840">
                <a:tc>
                  <a:txBody>
                    <a:bodyPr/>
                    <a:lstStyle/>
                    <a:p>
                      <a:endParaRPr lang="zh-CN" altLang="en-US" dirty="0"/>
                    </a:p>
                  </a:txBody>
                  <a:tcPr/>
                </a:tc>
                <a:tc>
                  <a:txBody>
                    <a:bodyPr/>
                    <a:lstStyle/>
                    <a:p>
                      <a:r>
                        <a:rPr lang="zh-CN" altLang="en-US" dirty="0"/>
                        <a:t>单品种</a:t>
                      </a:r>
                    </a:p>
                  </a:txBody>
                  <a:tcPr/>
                </a:tc>
                <a:tc>
                  <a:txBody>
                    <a:bodyPr/>
                    <a:lstStyle/>
                    <a:p>
                      <a:r>
                        <a:rPr lang="zh-CN" altLang="en-US" dirty="0"/>
                        <a:t>多品种</a:t>
                      </a:r>
                    </a:p>
                  </a:txBody>
                  <a:tcPr/>
                </a:tc>
                <a:extLst>
                  <a:ext uri="{0D108BD9-81ED-4DB2-BD59-A6C34878D82A}">
                    <a16:rowId xmlns:a16="http://schemas.microsoft.com/office/drawing/2014/main" val="10000"/>
                  </a:ext>
                </a:extLst>
              </a:tr>
              <a:tr h="370840">
                <a:tc>
                  <a:txBody>
                    <a:bodyPr/>
                    <a:lstStyle/>
                    <a:p>
                      <a:r>
                        <a:rPr lang="zh-CN" altLang="en-US" dirty="0"/>
                        <a:t>单行业（市场）</a:t>
                      </a:r>
                    </a:p>
                  </a:txBody>
                  <a:tcPr/>
                </a:tc>
                <a:tc>
                  <a:txBody>
                    <a:bodyPr/>
                    <a:lstStyle/>
                    <a:p>
                      <a:r>
                        <a:rPr lang="zh-CN" altLang="en-US" dirty="0"/>
                        <a:t>单一化战略（市场渗透）</a:t>
                      </a:r>
                    </a:p>
                  </a:txBody>
                  <a:tcPr>
                    <a:solidFill>
                      <a:srgbClr val="FFFF00"/>
                    </a:solidFill>
                  </a:tcPr>
                </a:tc>
                <a:tc>
                  <a:txBody>
                    <a:bodyPr/>
                    <a:lstStyle/>
                    <a:p>
                      <a:r>
                        <a:rPr lang="zh-CN" altLang="en-US" dirty="0"/>
                        <a:t>系列化战略（产品开发）</a:t>
                      </a:r>
                    </a:p>
                  </a:txBody>
                  <a:tcPr>
                    <a:solidFill>
                      <a:srgbClr val="FFFF00"/>
                    </a:solidFill>
                  </a:tcPr>
                </a:tc>
                <a:extLst>
                  <a:ext uri="{0D108BD9-81ED-4DB2-BD59-A6C34878D82A}">
                    <a16:rowId xmlns:a16="http://schemas.microsoft.com/office/drawing/2014/main" val="10001"/>
                  </a:ext>
                </a:extLst>
              </a:tr>
              <a:tr h="370840">
                <a:tc>
                  <a:txBody>
                    <a:bodyPr/>
                    <a:lstStyle/>
                    <a:p>
                      <a:r>
                        <a:rPr lang="zh-CN" altLang="en-US" dirty="0"/>
                        <a:t>多行业（市场）</a:t>
                      </a:r>
                    </a:p>
                  </a:txBody>
                  <a:tcPr/>
                </a:tc>
                <a:tc>
                  <a:txBody>
                    <a:bodyPr/>
                    <a:lstStyle/>
                    <a:p>
                      <a:r>
                        <a:rPr lang="zh-CN" altLang="en-US" dirty="0"/>
                        <a:t>一体化战略（市场开发）</a:t>
                      </a:r>
                    </a:p>
                  </a:txBody>
                  <a:tcPr>
                    <a:solidFill>
                      <a:srgbClr val="FFFF00"/>
                    </a:solidFill>
                  </a:tcPr>
                </a:tc>
                <a:tc>
                  <a:txBody>
                    <a:bodyPr/>
                    <a:lstStyle/>
                    <a:p>
                      <a:r>
                        <a:rPr lang="zh-CN" altLang="en-US" dirty="0"/>
                        <a:t>多元化</a:t>
                      </a:r>
                    </a:p>
                  </a:txBody>
                  <a:tcPr/>
                </a:tc>
                <a:extLst>
                  <a:ext uri="{0D108BD9-81ED-4DB2-BD59-A6C34878D82A}">
                    <a16:rowId xmlns:a16="http://schemas.microsoft.com/office/drawing/2014/main" val="10002"/>
                  </a:ext>
                </a:extLst>
              </a:tr>
            </a:tbl>
          </a:graphicData>
        </a:graphic>
      </p:graphicFrame>
      <p:sp>
        <p:nvSpPr>
          <p:cNvPr id="5" name="TextBox 4"/>
          <p:cNvSpPr txBox="1"/>
          <p:nvPr/>
        </p:nvSpPr>
        <p:spPr>
          <a:xfrm>
            <a:off x="1115616" y="3573016"/>
            <a:ext cx="7571303" cy="923330"/>
          </a:xfrm>
          <a:prstGeom prst="rect">
            <a:avLst/>
          </a:prstGeom>
          <a:noFill/>
        </p:spPr>
        <p:txBody>
          <a:bodyPr wrap="none" rtlCol="0">
            <a:spAutoFit/>
          </a:bodyPr>
          <a:lstStyle/>
          <a:p>
            <a:r>
              <a:rPr lang="zh-CN" altLang="en-US" dirty="0"/>
              <a:t>专业化战略：单一化、系列化、一体化战略</a:t>
            </a:r>
            <a:endParaRPr lang="en-US" altLang="zh-CN" dirty="0"/>
          </a:p>
          <a:p>
            <a:r>
              <a:rPr lang="zh-CN" altLang="en-US" dirty="0"/>
              <a:t>横向一体化</a:t>
            </a:r>
            <a:endParaRPr lang="en-US" altLang="zh-CN" dirty="0"/>
          </a:p>
          <a:p>
            <a:r>
              <a:rPr lang="zh-CN" altLang="en-US" dirty="0"/>
              <a:t>纵向一体化：前向一体化（下游，客户）；后向一体化（上游，供应商）</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2290" name="Rectangle 2"/>
          <p:cNvSpPr>
            <a:spLocks noChangeArrowheads="1"/>
          </p:cNvSpPr>
          <p:nvPr/>
        </p:nvSpPr>
        <p:spPr bwMode="auto">
          <a:xfrm>
            <a:off x="0" y="1441450"/>
            <a:ext cx="4022725" cy="2514600"/>
          </a:xfrm>
          <a:prstGeom prst="rect">
            <a:avLst/>
          </a:prstGeom>
          <a:gradFill rotWithShape="0">
            <a:gsLst>
              <a:gs pos="0">
                <a:srgbClr val="FFCC99"/>
              </a:gs>
              <a:gs pos="100000">
                <a:srgbClr val="FFCC99">
                  <a:gamma/>
                  <a:tint val="63529"/>
                  <a:invGamma/>
                </a:srgbClr>
              </a:gs>
            </a:gsLst>
            <a:path path="shape">
              <a:fillToRect l="50000" t="50000" r="50000" b="50000"/>
            </a:path>
          </a:gradFill>
          <a:ln w="9525">
            <a:solidFill>
              <a:srgbClr val="800000"/>
            </a:solidFill>
            <a:miter lim="800000"/>
            <a:headEnd/>
            <a:tailEnd/>
          </a:ln>
          <a:effectLst/>
        </p:spPr>
        <p:txBody>
          <a:bodyPr lIns="92075" tIns="46038" rIns="92075" bIns="46038" anchor="ctr"/>
          <a:lstStyle/>
          <a:p>
            <a:pPr algn="l">
              <a:lnSpc>
                <a:spcPct val="85000"/>
              </a:lnSpc>
              <a:spcAft>
                <a:spcPct val="15000"/>
              </a:spcAft>
              <a:defRPr/>
            </a:pPr>
            <a:r>
              <a:rPr kumimoji="0" lang="zh-CN" altLang="en-US" sz="2800" u="sng">
                <a:solidFill>
                  <a:srgbClr val="003366"/>
                </a:solidFill>
                <a:latin typeface="宋体" pitchFamily="2" charset="-122"/>
                <a:ea typeface="宋体" pitchFamily="2" charset="-122"/>
              </a:rPr>
              <a:t>定义</a:t>
            </a:r>
          </a:p>
          <a:p>
            <a:pPr algn="l">
              <a:lnSpc>
                <a:spcPct val="85000"/>
              </a:lnSpc>
              <a:spcAft>
                <a:spcPct val="15000"/>
              </a:spcAft>
              <a:defRPr/>
            </a:pPr>
            <a:endParaRPr kumimoji="0" lang="zh-CN" altLang="en-US" sz="2800" b="1" u="sng">
              <a:solidFill>
                <a:srgbClr val="003366"/>
              </a:solidFill>
              <a:effectLst>
                <a:outerShdw blurRad="38100" dist="38100" dir="2700000" algn="tl">
                  <a:srgbClr val="000000"/>
                </a:outerShdw>
              </a:effectLst>
              <a:latin typeface="宋体" pitchFamily="2" charset="-122"/>
              <a:ea typeface="宋体" pitchFamily="2" charset="-122"/>
            </a:endParaRPr>
          </a:p>
          <a:p>
            <a:pPr algn="l">
              <a:lnSpc>
                <a:spcPct val="85000"/>
              </a:lnSpc>
              <a:buSzPct val="80000"/>
              <a:defRPr/>
            </a:pPr>
            <a:r>
              <a:rPr kumimoji="0" lang="zh-CN" altLang="en-US" sz="2600">
                <a:solidFill>
                  <a:srgbClr val="003366"/>
                </a:solidFill>
                <a:latin typeface="宋体" pitchFamily="2" charset="-122"/>
                <a:ea typeface="宋体" pitchFamily="2" charset="-122"/>
              </a:rPr>
              <a:t>企业通过市场营销管理将现有产品在现有市场上进行销售来追寻增加的市场份额</a:t>
            </a:r>
          </a:p>
        </p:txBody>
      </p:sp>
      <p:sp>
        <p:nvSpPr>
          <p:cNvPr id="1292291" name="Rectangle 3"/>
          <p:cNvSpPr>
            <a:spLocks noChangeArrowheads="1"/>
          </p:cNvSpPr>
          <p:nvPr/>
        </p:nvSpPr>
        <p:spPr bwMode="auto">
          <a:xfrm>
            <a:off x="4800600" y="1458913"/>
            <a:ext cx="4222750" cy="2519362"/>
          </a:xfrm>
          <a:prstGeom prst="rect">
            <a:avLst/>
          </a:prstGeom>
          <a:gradFill rotWithShape="0">
            <a:gsLst>
              <a:gs pos="0">
                <a:srgbClr val="FFCC99"/>
              </a:gs>
              <a:gs pos="100000">
                <a:srgbClr val="FFE9D4"/>
              </a:gs>
            </a:gsLst>
            <a:path path="shape">
              <a:fillToRect l="50000" t="50000" r="50000" b="50000"/>
            </a:path>
          </a:gradFill>
          <a:ln w="9525">
            <a:solidFill>
              <a:srgbClr val="800000"/>
            </a:solidFill>
            <a:miter lim="800000"/>
            <a:headEnd/>
            <a:tailEnd/>
          </a:ln>
        </p:spPr>
        <p:txBody>
          <a:bodyPr lIns="92075" tIns="46038" rIns="92075" bIns="46038" anchor="ctr" anchorCtr="1"/>
          <a:lstStyle/>
          <a:p>
            <a:pPr algn="l">
              <a:lnSpc>
                <a:spcPct val="85000"/>
              </a:lnSpc>
              <a:spcAft>
                <a:spcPct val="15000"/>
              </a:spcAft>
            </a:pPr>
            <a:r>
              <a:rPr kumimoji="0" lang="zh-CN" altLang="en-US" sz="2800" u="sng">
                <a:solidFill>
                  <a:srgbClr val="003366"/>
                </a:solidFill>
                <a:latin typeface="宋体" pitchFamily="2" charset="-122"/>
                <a:ea typeface="宋体" pitchFamily="2" charset="-122"/>
              </a:rPr>
              <a:t>例子</a:t>
            </a:r>
          </a:p>
          <a:p>
            <a:pPr algn="l">
              <a:lnSpc>
                <a:spcPct val="85000"/>
              </a:lnSpc>
              <a:spcAft>
                <a:spcPct val="15000"/>
              </a:spcAft>
            </a:pPr>
            <a:endParaRPr kumimoji="0" lang="zh-CN" altLang="en-US" sz="2800" u="sng">
              <a:solidFill>
                <a:srgbClr val="003366"/>
              </a:solidFill>
              <a:latin typeface="宋体" pitchFamily="2" charset="-122"/>
              <a:ea typeface="宋体" pitchFamily="2" charset="-122"/>
            </a:endParaRPr>
          </a:p>
          <a:p>
            <a:pPr algn="l">
              <a:lnSpc>
                <a:spcPct val="85000"/>
              </a:lnSpc>
              <a:spcAft>
                <a:spcPct val="15000"/>
              </a:spcAft>
            </a:pPr>
            <a:r>
              <a:rPr kumimoji="0" lang="zh-CN" altLang="en-US" sz="2400">
                <a:solidFill>
                  <a:srgbClr val="003366"/>
                </a:solidFill>
                <a:latin typeface="宋体" pitchFamily="2" charset="-122"/>
                <a:ea typeface="宋体" pitchFamily="2" charset="-122"/>
              </a:rPr>
              <a:t>销售量</a:t>
            </a:r>
            <a:r>
              <a:rPr kumimoji="0" lang="en-US" altLang="zh-CN" sz="2400">
                <a:solidFill>
                  <a:srgbClr val="003366"/>
                </a:solidFill>
                <a:latin typeface="宋体" pitchFamily="2" charset="-122"/>
                <a:ea typeface="宋体" pitchFamily="2" charset="-122"/>
              </a:rPr>
              <a:t>=</a:t>
            </a:r>
            <a:r>
              <a:rPr kumimoji="0" lang="zh-CN" altLang="en-US" sz="2400">
                <a:solidFill>
                  <a:srgbClr val="003366"/>
                </a:solidFill>
                <a:latin typeface="宋体" pitchFamily="2" charset="-122"/>
                <a:ea typeface="宋体" pitchFamily="2" charset="-122"/>
              </a:rPr>
              <a:t>产品使用人的数量</a:t>
            </a:r>
            <a:r>
              <a:rPr kumimoji="0" lang="en-US" altLang="zh-CN" sz="2400">
                <a:solidFill>
                  <a:srgbClr val="003366"/>
                </a:solidFill>
                <a:latin typeface="宋体" pitchFamily="2" charset="-122"/>
                <a:ea typeface="宋体" pitchFamily="2" charset="-122"/>
              </a:rPr>
              <a:t>x</a:t>
            </a:r>
            <a:r>
              <a:rPr kumimoji="0" lang="zh-CN" altLang="en-US" sz="2400">
                <a:solidFill>
                  <a:srgbClr val="003366"/>
                </a:solidFill>
                <a:latin typeface="宋体" pitchFamily="2" charset="-122"/>
                <a:ea typeface="宋体" pitchFamily="2" charset="-122"/>
              </a:rPr>
              <a:t>每个使用人的使用频率</a:t>
            </a:r>
          </a:p>
          <a:p>
            <a:pPr algn="l">
              <a:lnSpc>
                <a:spcPct val="85000"/>
              </a:lnSpc>
              <a:spcAft>
                <a:spcPct val="15000"/>
              </a:spcAft>
            </a:pPr>
            <a:r>
              <a:rPr kumimoji="0" lang="zh-CN" altLang="en-US" sz="2400">
                <a:solidFill>
                  <a:srgbClr val="003366"/>
                </a:solidFill>
                <a:latin typeface="宋体" pitchFamily="2" charset="-122"/>
                <a:ea typeface="宋体" pitchFamily="2" charset="-122"/>
              </a:rPr>
              <a:t>（日常用品的例子）</a:t>
            </a:r>
            <a:endParaRPr kumimoji="0" lang="en-US" altLang="zh-CN" sz="2400">
              <a:solidFill>
                <a:srgbClr val="003366"/>
              </a:solidFill>
              <a:latin typeface="宋体" pitchFamily="2" charset="-122"/>
              <a:ea typeface="宋体" pitchFamily="2" charset="-122"/>
            </a:endParaRPr>
          </a:p>
          <a:p>
            <a:pPr algn="l">
              <a:lnSpc>
                <a:spcPct val="85000"/>
              </a:lnSpc>
              <a:spcAft>
                <a:spcPct val="15000"/>
              </a:spcAft>
            </a:pPr>
            <a:r>
              <a:rPr kumimoji="0" lang="zh-CN" altLang="en-US" sz="2400">
                <a:solidFill>
                  <a:srgbClr val="003366"/>
                </a:solidFill>
                <a:latin typeface="宋体" pitchFamily="2" charset="-122"/>
                <a:ea typeface="宋体" pitchFamily="2" charset="-122"/>
              </a:rPr>
              <a:t>（大宝）</a:t>
            </a:r>
          </a:p>
          <a:p>
            <a:pPr algn="l">
              <a:lnSpc>
                <a:spcPct val="85000"/>
              </a:lnSpc>
              <a:buSzPct val="80000"/>
            </a:pPr>
            <a:endParaRPr kumimoji="0" lang="en-US" altLang="zh-CN" sz="2400" b="1">
              <a:solidFill>
                <a:srgbClr val="003366"/>
              </a:solidFill>
              <a:latin typeface="宋体" pitchFamily="2" charset="-122"/>
              <a:ea typeface="宋体" pitchFamily="2" charset="-122"/>
            </a:endParaRPr>
          </a:p>
        </p:txBody>
      </p:sp>
      <p:sp>
        <p:nvSpPr>
          <p:cNvPr id="20484" name="Rectangle 4"/>
          <p:cNvSpPr>
            <a:spLocks noGrp="1" noChangeArrowheads="1"/>
          </p:cNvSpPr>
          <p:nvPr>
            <p:ph type="title"/>
          </p:nvPr>
        </p:nvSpPr>
        <p:spPr>
          <a:xfrm>
            <a:off x="1143000" y="0"/>
            <a:ext cx="6718300" cy="838200"/>
          </a:xfrm>
          <a:noFill/>
        </p:spPr>
        <p:txBody>
          <a:bodyPr/>
          <a:lstStyle/>
          <a:p>
            <a:pPr eaLnBrk="1" hangingPunct="1"/>
            <a:r>
              <a:rPr lang="zh-CN" altLang="en-AU">
                <a:solidFill>
                  <a:srgbClr val="FFFF66"/>
                </a:solidFill>
              </a:rPr>
              <a:t>市场渗透</a:t>
            </a:r>
          </a:p>
        </p:txBody>
      </p:sp>
      <p:sp>
        <p:nvSpPr>
          <p:cNvPr id="1292293" name="Line 5"/>
          <p:cNvSpPr>
            <a:spLocks noChangeShapeType="1"/>
          </p:cNvSpPr>
          <p:nvPr/>
        </p:nvSpPr>
        <p:spPr bwMode="auto">
          <a:xfrm>
            <a:off x="3995738" y="2420938"/>
            <a:ext cx="804862" cy="17462"/>
          </a:xfrm>
          <a:prstGeom prst="line">
            <a:avLst/>
          </a:prstGeom>
          <a:noFill/>
          <a:ln w="76200">
            <a:solidFill>
              <a:srgbClr val="993300"/>
            </a:solidFill>
            <a:round/>
            <a:headEnd type="none" w="sm" len="sm"/>
            <a:tailEnd type="stealth" w="med" len="med"/>
          </a:ln>
        </p:spPr>
        <p:txBody>
          <a:bodyPr/>
          <a:lstStyle/>
          <a:p>
            <a:endParaRPr lang="zh-CN" altLang="en-US"/>
          </a:p>
        </p:txBody>
      </p:sp>
      <p:sp>
        <p:nvSpPr>
          <p:cNvPr id="1292294" name="Rectangle 6"/>
          <p:cNvSpPr>
            <a:spLocks noChangeArrowheads="1"/>
          </p:cNvSpPr>
          <p:nvPr/>
        </p:nvSpPr>
        <p:spPr bwMode="auto">
          <a:xfrm>
            <a:off x="827088" y="4149725"/>
            <a:ext cx="7007225" cy="2362200"/>
          </a:xfrm>
          <a:prstGeom prst="rect">
            <a:avLst/>
          </a:prstGeom>
          <a:solidFill>
            <a:srgbClr val="DBCBC7"/>
          </a:solidFill>
          <a:ln w="12700">
            <a:solidFill>
              <a:srgbClr val="800000"/>
            </a:solidFill>
            <a:miter lim="800000"/>
            <a:headEnd/>
            <a:tailEnd/>
          </a:ln>
        </p:spPr>
        <p:txBody>
          <a:bodyPr lIns="92075" tIns="46038" rIns="92075" bIns="46038"/>
          <a:lstStyle/>
          <a:p>
            <a:pPr marL="342900" indent="-342900" algn="l">
              <a:lnSpc>
                <a:spcPct val="80000"/>
              </a:lnSpc>
              <a:spcBef>
                <a:spcPct val="15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现有市场没有饱和</a:t>
            </a:r>
          </a:p>
          <a:p>
            <a:pPr marL="342900" indent="-342900" algn="l">
              <a:lnSpc>
                <a:spcPct val="80000"/>
              </a:lnSpc>
              <a:spcBef>
                <a:spcPct val="15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现有顾客的产品使用率还可大幅度的增加</a:t>
            </a:r>
          </a:p>
          <a:p>
            <a:pPr marL="342900" indent="-342900" algn="l">
              <a:lnSpc>
                <a:spcPct val="80000"/>
              </a:lnSpc>
              <a:spcBef>
                <a:spcPct val="15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行业总体市场稳定，竞争对手的市场份额下降</a:t>
            </a:r>
          </a:p>
          <a:p>
            <a:pPr marL="342900" indent="-342900" algn="l">
              <a:lnSpc>
                <a:spcPct val="80000"/>
              </a:lnSpc>
              <a:spcBef>
                <a:spcPct val="15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规模经济支持了更多的竞争优势</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92290"/>
                                        </p:tgtEl>
                                        <p:attrNameLst>
                                          <p:attrName>style.visibility</p:attrName>
                                        </p:attrNameLst>
                                      </p:cBhvr>
                                      <p:to>
                                        <p:strVal val="visible"/>
                                      </p:to>
                                    </p:set>
                                    <p:anim calcmode="lin" valueType="num">
                                      <p:cBhvr additive="base">
                                        <p:cTn id="7" dur="500" fill="hold"/>
                                        <p:tgtEl>
                                          <p:spTgt spid="1292290"/>
                                        </p:tgtEl>
                                        <p:attrNameLst>
                                          <p:attrName>ppt_x</p:attrName>
                                        </p:attrNameLst>
                                      </p:cBhvr>
                                      <p:tavLst>
                                        <p:tav tm="0">
                                          <p:val>
                                            <p:strVal val="0-#ppt_w/2"/>
                                          </p:val>
                                        </p:tav>
                                        <p:tav tm="100000">
                                          <p:val>
                                            <p:strVal val="#ppt_x"/>
                                          </p:val>
                                        </p:tav>
                                      </p:tavLst>
                                    </p:anim>
                                    <p:anim calcmode="lin" valueType="num">
                                      <p:cBhvr additive="base">
                                        <p:cTn id="8" dur="500" fill="hold"/>
                                        <p:tgtEl>
                                          <p:spTgt spid="129229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292293"/>
                                        </p:tgtEl>
                                        <p:attrNameLst>
                                          <p:attrName>style.visibility</p:attrName>
                                        </p:attrNameLst>
                                      </p:cBhvr>
                                      <p:to>
                                        <p:strVal val="visible"/>
                                      </p:to>
                                    </p:set>
                                  </p:childTnLst>
                                </p:cTn>
                              </p:par>
                            </p:childTnLst>
                          </p:cTn>
                        </p:par>
                        <p:par>
                          <p:cTn id="13" fill="hold">
                            <p:stCondLst>
                              <p:cond delay="500"/>
                            </p:stCondLst>
                            <p:childTnLst>
                              <p:par>
                                <p:cTn id="14" presetID="2" presetClass="entr" presetSubtype="8" fill="hold" grpId="0" nodeType="afterEffect">
                                  <p:stCondLst>
                                    <p:cond delay="0"/>
                                  </p:stCondLst>
                                  <p:childTnLst>
                                    <p:set>
                                      <p:cBhvr>
                                        <p:cTn id="15" dur="1" fill="hold">
                                          <p:stCondLst>
                                            <p:cond delay="0"/>
                                          </p:stCondLst>
                                        </p:cTn>
                                        <p:tgtEl>
                                          <p:spTgt spid="1292291"/>
                                        </p:tgtEl>
                                        <p:attrNameLst>
                                          <p:attrName>style.visibility</p:attrName>
                                        </p:attrNameLst>
                                      </p:cBhvr>
                                      <p:to>
                                        <p:strVal val="visible"/>
                                      </p:to>
                                    </p:set>
                                    <p:anim calcmode="lin" valueType="num">
                                      <p:cBhvr additive="base">
                                        <p:cTn id="16" dur="500" fill="hold"/>
                                        <p:tgtEl>
                                          <p:spTgt spid="1292291"/>
                                        </p:tgtEl>
                                        <p:attrNameLst>
                                          <p:attrName>ppt_x</p:attrName>
                                        </p:attrNameLst>
                                      </p:cBhvr>
                                      <p:tavLst>
                                        <p:tav tm="0">
                                          <p:val>
                                            <p:strVal val="0-#ppt_w/2"/>
                                          </p:val>
                                        </p:tav>
                                        <p:tav tm="100000">
                                          <p:val>
                                            <p:strVal val="#ppt_x"/>
                                          </p:val>
                                        </p:tav>
                                      </p:tavLst>
                                    </p:anim>
                                    <p:anim calcmode="lin" valueType="num">
                                      <p:cBhvr additive="base">
                                        <p:cTn id="17" dur="500" fill="hold"/>
                                        <p:tgtEl>
                                          <p:spTgt spid="1292291"/>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292294"/>
                                        </p:tgtEl>
                                        <p:attrNameLst>
                                          <p:attrName>style.visibility</p:attrName>
                                        </p:attrNameLst>
                                      </p:cBhvr>
                                      <p:to>
                                        <p:strVal val="visible"/>
                                      </p:to>
                                    </p:set>
                                    <p:anim calcmode="lin" valueType="num">
                                      <p:cBhvr additive="base">
                                        <p:cTn id="22" dur="500" fill="hold"/>
                                        <p:tgtEl>
                                          <p:spTgt spid="1292294"/>
                                        </p:tgtEl>
                                        <p:attrNameLst>
                                          <p:attrName>ppt_x</p:attrName>
                                        </p:attrNameLst>
                                      </p:cBhvr>
                                      <p:tavLst>
                                        <p:tav tm="0">
                                          <p:val>
                                            <p:strVal val="0-#ppt_w/2"/>
                                          </p:val>
                                        </p:tav>
                                        <p:tav tm="100000">
                                          <p:val>
                                            <p:strVal val="#ppt_x"/>
                                          </p:val>
                                        </p:tav>
                                      </p:tavLst>
                                    </p:anim>
                                    <p:anim calcmode="lin" valueType="num">
                                      <p:cBhvr additive="base">
                                        <p:cTn id="23" dur="500" fill="hold"/>
                                        <p:tgtEl>
                                          <p:spTgt spid="12922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2290" grpId="0" animBg="1" autoUpdateAnimBg="0"/>
      <p:bldP spid="1292291" grpId="0" animBg="1" autoUpdateAnimBg="0"/>
      <p:bldP spid="1292293" grpId="0" animBg="1"/>
      <p:bldP spid="1292294"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4338" name="Rectangle 2"/>
          <p:cNvSpPr>
            <a:spLocks noChangeArrowheads="1"/>
          </p:cNvSpPr>
          <p:nvPr/>
        </p:nvSpPr>
        <p:spPr bwMode="auto">
          <a:xfrm>
            <a:off x="0" y="1455738"/>
            <a:ext cx="3794125" cy="2138362"/>
          </a:xfrm>
          <a:prstGeom prst="rect">
            <a:avLst/>
          </a:prstGeom>
          <a:gradFill rotWithShape="0">
            <a:gsLst>
              <a:gs pos="0">
                <a:srgbClr val="FFCC99"/>
              </a:gs>
              <a:gs pos="100000">
                <a:srgbClr val="FFCC99">
                  <a:gamma/>
                  <a:tint val="63529"/>
                  <a:invGamma/>
                </a:srgbClr>
              </a:gs>
            </a:gsLst>
            <a:path path="shape">
              <a:fillToRect l="50000" t="50000" r="50000" b="50000"/>
            </a:path>
          </a:gradFill>
          <a:ln w="9525">
            <a:solidFill>
              <a:srgbClr val="800000"/>
            </a:solidFill>
            <a:miter lim="800000"/>
            <a:headEnd/>
            <a:tailEnd/>
          </a:ln>
          <a:effectLst/>
        </p:spPr>
        <p:txBody>
          <a:bodyPr lIns="92075" tIns="46038" rIns="92075" bIns="46038"/>
          <a:lstStyle/>
          <a:p>
            <a:pPr algn="l">
              <a:lnSpc>
                <a:spcPct val="85000"/>
              </a:lnSpc>
              <a:spcAft>
                <a:spcPct val="15000"/>
              </a:spcAft>
              <a:defRPr/>
            </a:pPr>
            <a:r>
              <a:rPr kumimoji="0" lang="zh-CN" altLang="en-US" sz="2800" u="sng">
                <a:solidFill>
                  <a:srgbClr val="003366"/>
                </a:solidFill>
                <a:latin typeface="宋体" pitchFamily="2" charset="-122"/>
                <a:ea typeface="宋体" pitchFamily="2" charset="-122"/>
              </a:rPr>
              <a:t>定义</a:t>
            </a:r>
          </a:p>
          <a:p>
            <a:pPr algn="l">
              <a:lnSpc>
                <a:spcPct val="85000"/>
              </a:lnSpc>
              <a:spcAft>
                <a:spcPct val="15000"/>
              </a:spcAft>
              <a:defRPr/>
            </a:pPr>
            <a:endParaRPr kumimoji="0" lang="zh-CN" altLang="en-US" sz="2800" b="1" u="sng">
              <a:solidFill>
                <a:srgbClr val="003366"/>
              </a:solidFill>
              <a:effectLst>
                <a:outerShdw blurRad="38100" dist="38100" dir="2700000" algn="tl">
                  <a:srgbClr val="000000"/>
                </a:outerShdw>
              </a:effectLst>
              <a:latin typeface="宋体" pitchFamily="2" charset="-122"/>
              <a:ea typeface="宋体" pitchFamily="2" charset="-122"/>
            </a:endParaRPr>
          </a:p>
          <a:p>
            <a:pPr algn="l">
              <a:lnSpc>
                <a:spcPct val="85000"/>
              </a:lnSpc>
              <a:spcAft>
                <a:spcPct val="15000"/>
              </a:spcAft>
              <a:defRPr/>
            </a:pPr>
            <a:r>
              <a:rPr kumimoji="0" lang="zh-CN" altLang="en-US" sz="2400">
                <a:solidFill>
                  <a:srgbClr val="003366"/>
                </a:solidFill>
                <a:latin typeface="宋体" pitchFamily="2" charset="-122"/>
                <a:ea typeface="宋体" pitchFamily="2" charset="-122"/>
              </a:rPr>
              <a:t>将现有的产品或服务引入到新的市场中</a:t>
            </a:r>
          </a:p>
        </p:txBody>
      </p:sp>
      <p:sp>
        <p:nvSpPr>
          <p:cNvPr id="1294339" name="Rectangle 3"/>
          <p:cNvSpPr>
            <a:spLocks noChangeArrowheads="1"/>
          </p:cNvSpPr>
          <p:nvPr/>
        </p:nvSpPr>
        <p:spPr bwMode="auto">
          <a:xfrm>
            <a:off x="5213350" y="1484313"/>
            <a:ext cx="3930650" cy="2087562"/>
          </a:xfrm>
          <a:prstGeom prst="rect">
            <a:avLst/>
          </a:prstGeom>
          <a:gradFill rotWithShape="0">
            <a:gsLst>
              <a:gs pos="0">
                <a:srgbClr val="FFCC99"/>
              </a:gs>
              <a:gs pos="100000">
                <a:srgbClr val="FFE9D4"/>
              </a:gs>
            </a:gsLst>
            <a:path path="shape">
              <a:fillToRect l="50000" t="50000" r="50000" b="50000"/>
            </a:path>
          </a:gradFill>
          <a:ln w="9525">
            <a:solidFill>
              <a:srgbClr val="800000"/>
            </a:solidFill>
            <a:miter lim="800000"/>
            <a:headEnd/>
            <a:tailEnd/>
          </a:ln>
        </p:spPr>
        <p:txBody>
          <a:bodyPr lIns="92075" tIns="46038" rIns="92075" bIns="46038"/>
          <a:lstStyle/>
          <a:p>
            <a:pPr algn="l">
              <a:lnSpc>
                <a:spcPct val="85000"/>
              </a:lnSpc>
              <a:spcAft>
                <a:spcPct val="15000"/>
              </a:spcAft>
            </a:pPr>
            <a:r>
              <a:rPr kumimoji="0" lang="zh-CN" altLang="en-US" sz="2800" u="sng">
                <a:solidFill>
                  <a:srgbClr val="003366"/>
                </a:solidFill>
                <a:latin typeface="宋体" pitchFamily="2" charset="-122"/>
                <a:ea typeface="宋体" pitchFamily="2" charset="-122"/>
              </a:rPr>
              <a:t>例子</a:t>
            </a:r>
          </a:p>
          <a:p>
            <a:pPr algn="l">
              <a:lnSpc>
                <a:spcPct val="85000"/>
              </a:lnSpc>
              <a:spcAft>
                <a:spcPct val="15000"/>
              </a:spcAft>
            </a:pPr>
            <a:endParaRPr kumimoji="0" lang="zh-CN" altLang="en-US" sz="2800" u="sng">
              <a:solidFill>
                <a:srgbClr val="003366"/>
              </a:solidFill>
              <a:latin typeface="宋体" pitchFamily="2" charset="-122"/>
              <a:ea typeface="宋体" pitchFamily="2" charset="-122"/>
            </a:endParaRPr>
          </a:p>
          <a:p>
            <a:pPr algn="l">
              <a:lnSpc>
                <a:spcPct val="85000"/>
              </a:lnSpc>
              <a:buSzPct val="80000"/>
            </a:pPr>
            <a:r>
              <a:rPr kumimoji="0" lang="en-US" altLang="zh-CN" sz="2400">
                <a:solidFill>
                  <a:srgbClr val="003366"/>
                </a:solidFill>
                <a:latin typeface="宋体" pitchFamily="2" charset="-122"/>
                <a:ea typeface="宋体" pitchFamily="2" charset="-122"/>
              </a:rPr>
              <a:t>1 </a:t>
            </a:r>
            <a:r>
              <a:rPr kumimoji="0" lang="zh-CN" altLang="en-US" sz="2400">
                <a:solidFill>
                  <a:srgbClr val="003366"/>
                </a:solidFill>
                <a:latin typeface="宋体" pitchFamily="2" charset="-122"/>
                <a:ea typeface="宋体" pitchFamily="2" charset="-122"/>
              </a:rPr>
              <a:t>扩大新的适用范围</a:t>
            </a:r>
          </a:p>
          <a:p>
            <a:pPr algn="l">
              <a:lnSpc>
                <a:spcPct val="85000"/>
              </a:lnSpc>
              <a:buSzPct val="80000"/>
            </a:pPr>
            <a:r>
              <a:rPr kumimoji="0" lang="en-US" altLang="zh-CN" sz="2400">
                <a:solidFill>
                  <a:srgbClr val="003366"/>
                </a:solidFill>
                <a:latin typeface="宋体" pitchFamily="2" charset="-122"/>
                <a:ea typeface="宋体" pitchFamily="2" charset="-122"/>
              </a:rPr>
              <a:t>2 </a:t>
            </a:r>
            <a:r>
              <a:rPr kumimoji="0" lang="zh-CN" altLang="en-US" sz="2400">
                <a:solidFill>
                  <a:srgbClr val="003366"/>
                </a:solidFill>
                <a:latin typeface="宋体" pitchFamily="2" charset="-122"/>
                <a:ea typeface="宋体" pitchFamily="2" charset="-122"/>
              </a:rPr>
              <a:t>在新市场寻找潜在的用户</a:t>
            </a:r>
          </a:p>
          <a:p>
            <a:pPr algn="l">
              <a:lnSpc>
                <a:spcPct val="85000"/>
              </a:lnSpc>
              <a:buSzPct val="80000"/>
            </a:pPr>
            <a:r>
              <a:rPr kumimoji="0" lang="en-US" altLang="zh-CN" sz="2400">
                <a:solidFill>
                  <a:srgbClr val="003366"/>
                </a:solidFill>
                <a:latin typeface="宋体" pitchFamily="2" charset="-122"/>
                <a:ea typeface="宋体" pitchFamily="2" charset="-122"/>
              </a:rPr>
              <a:t>3 </a:t>
            </a:r>
            <a:r>
              <a:rPr kumimoji="0" lang="zh-CN" altLang="en-US" sz="2400">
                <a:solidFill>
                  <a:srgbClr val="003366"/>
                </a:solidFill>
                <a:latin typeface="宋体" pitchFamily="2" charset="-122"/>
                <a:ea typeface="宋体" pitchFamily="2" charset="-122"/>
              </a:rPr>
              <a:t>增加新的销售渠道</a:t>
            </a:r>
          </a:p>
        </p:txBody>
      </p:sp>
      <p:sp>
        <p:nvSpPr>
          <p:cNvPr id="21508" name="Rectangle 4"/>
          <p:cNvSpPr>
            <a:spLocks noGrp="1" noChangeArrowheads="1"/>
          </p:cNvSpPr>
          <p:nvPr>
            <p:ph type="title"/>
          </p:nvPr>
        </p:nvSpPr>
        <p:spPr>
          <a:xfrm>
            <a:off x="1219200" y="0"/>
            <a:ext cx="6718300" cy="838200"/>
          </a:xfrm>
          <a:noFill/>
        </p:spPr>
        <p:txBody>
          <a:bodyPr/>
          <a:lstStyle/>
          <a:p>
            <a:pPr eaLnBrk="1" hangingPunct="1"/>
            <a:r>
              <a:rPr lang="zh-CN" altLang="en-AU">
                <a:solidFill>
                  <a:srgbClr val="FFFF66"/>
                </a:solidFill>
              </a:rPr>
              <a:t>市场开发</a:t>
            </a:r>
          </a:p>
        </p:txBody>
      </p:sp>
      <p:sp>
        <p:nvSpPr>
          <p:cNvPr id="1294341" name="Line 5"/>
          <p:cNvSpPr>
            <a:spLocks noChangeShapeType="1"/>
          </p:cNvSpPr>
          <p:nvPr/>
        </p:nvSpPr>
        <p:spPr bwMode="auto">
          <a:xfrm>
            <a:off x="3779838" y="2420938"/>
            <a:ext cx="1249362" cy="17462"/>
          </a:xfrm>
          <a:prstGeom prst="line">
            <a:avLst/>
          </a:prstGeom>
          <a:noFill/>
          <a:ln w="76200">
            <a:solidFill>
              <a:srgbClr val="993300"/>
            </a:solidFill>
            <a:round/>
            <a:headEnd type="none" w="sm" len="sm"/>
            <a:tailEnd type="stealth" w="med" len="med"/>
          </a:ln>
        </p:spPr>
        <p:txBody>
          <a:bodyPr/>
          <a:lstStyle/>
          <a:p>
            <a:endParaRPr lang="zh-CN" altLang="en-US"/>
          </a:p>
        </p:txBody>
      </p:sp>
      <p:sp>
        <p:nvSpPr>
          <p:cNvPr id="1294342" name="Rectangle 6"/>
          <p:cNvSpPr>
            <a:spLocks noChangeArrowheads="1"/>
          </p:cNvSpPr>
          <p:nvPr/>
        </p:nvSpPr>
        <p:spPr bwMode="auto">
          <a:xfrm>
            <a:off x="827088" y="3860800"/>
            <a:ext cx="7345362" cy="2641600"/>
          </a:xfrm>
          <a:prstGeom prst="rect">
            <a:avLst/>
          </a:prstGeom>
          <a:solidFill>
            <a:srgbClr val="DBCBC7"/>
          </a:solidFill>
          <a:ln w="12700">
            <a:solidFill>
              <a:srgbClr val="800000"/>
            </a:solidFill>
            <a:miter lim="800000"/>
            <a:headEnd/>
            <a:tailEnd/>
          </a:ln>
        </p:spPr>
        <p:txBody>
          <a:bodyPr lIns="92075" tIns="46038" rIns="92075" bIns="46038"/>
          <a:lstStyle/>
          <a:p>
            <a:pPr marL="342900" indent="-342900" algn="l">
              <a:lnSpc>
                <a:spcPct val="80000"/>
              </a:lnSpc>
              <a:spcBef>
                <a:spcPct val="10000"/>
              </a:spcBef>
              <a:buClr>
                <a:schemeClr val="folHlink"/>
              </a:buClr>
              <a:buSzPct val="80000"/>
              <a:buFont typeface="Wingdings" pitchFamily="2" charset="2"/>
              <a:buChar char="ü"/>
            </a:pPr>
            <a:r>
              <a:rPr kumimoji="0" lang="zh-CN" altLang="en-US" sz="2400" dirty="0">
                <a:solidFill>
                  <a:srgbClr val="003366"/>
                </a:solidFill>
                <a:latin typeface="Arial" pitchFamily="34" charset="0"/>
                <a:ea typeface="宋体" pitchFamily="2" charset="-122"/>
              </a:rPr>
              <a:t>具有可靠、便捷以及高质量的新分销渠道</a:t>
            </a:r>
          </a:p>
          <a:p>
            <a:pPr marL="342900" indent="-342900" algn="l">
              <a:lnSpc>
                <a:spcPct val="80000"/>
              </a:lnSpc>
              <a:spcBef>
                <a:spcPct val="10000"/>
              </a:spcBef>
              <a:buClr>
                <a:schemeClr val="folHlink"/>
              </a:buClr>
              <a:buSzPct val="80000"/>
              <a:buFont typeface="Wingdings" pitchFamily="2" charset="2"/>
              <a:buChar char="ü"/>
            </a:pPr>
            <a:r>
              <a:rPr kumimoji="0" lang="zh-CN" altLang="en-US" sz="2400" dirty="0">
                <a:solidFill>
                  <a:srgbClr val="003366"/>
                </a:solidFill>
                <a:latin typeface="Arial" pitchFamily="34" charset="0"/>
                <a:ea typeface="宋体" pitchFamily="2" charset="-122"/>
              </a:rPr>
              <a:t>未开发的或未饱和的市场</a:t>
            </a:r>
          </a:p>
          <a:p>
            <a:pPr marL="342900" indent="-342900" algn="l">
              <a:lnSpc>
                <a:spcPct val="80000"/>
              </a:lnSpc>
              <a:spcBef>
                <a:spcPct val="10000"/>
              </a:spcBef>
              <a:buClr>
                <a:schemeClr val="folHlink"/>
              </a:buClr>
              <a:buSzPct val="80000"/>
              <a:buFont typeface="Wingdings" pitchFamily="2" charset="2"/>
              <a:buChar char="ü"/>
            </a:pPr>
            <a:r>
              <a:rPr kumimoji="0" lang="zh-CN" altLang="en-US" sz="2400" dirty="0">
                <a:solidFill>
                  <a:srgbClr val="003366"/>
                </a:solidFill>
                <a:latin typeface="Arial" pitchFamily="34" charset="0"/>
                <a:ea typeface="宋体" pitchFamily="2" charset="-122"/>
              </a:rPr>
              <a:t>生产能力过剩</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94338"/>
                                        </p:tgtEl>
                                        <p:attrNameLst>
                                          <p:attrName>style.visibility</p:attrName>
                                        </p:attrNameLst>
                                      </p:cBhvr>
                                      <p:to>
                                        <p:strVal val="visible"/>
                                      </p:to>
                                    </p:set>
                                    <p:anim calcmode="lin" valueType="num">
                                      <p:cBhvr additive="base">
                                        <p:cTn id="7" dur="500" fill="hold"/>
                                        <p:tgtEl>
                                          <p:spTgt spid="1294338"/>
                                        </p:tgtEl>
                                        <p:attrNameLst>
                                          <p:attrName>ppt_x</p:attrName>
                                        </p:attrNameLst>
                                      </p:cBhvr>
                                      <p:tavLst>
                                        <p:tav tm="0">
                                          <p:val>
                                            <p:strVal val="0-#ppt_w/2"/>
                                          </p:val>
                                        </p:tav>
                                        <p:tav tm="100000">
                                          <p:val>
                                            <p:strVal val="#ppt_x"/>
                                          </p:val>
                                        </p:tav>
                                      </p:tavLst>
                                    </p:anim>
                                    <p:anim calcmode="lin" valueType="num">
                                      <p:cBhvr additive="base">
                                        <p:cTn id="8" dur="500" fill="hold"/>
                                        <p:tgtEl>
                                          <p:spTgt spid="129433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294341"/>
                                        </p:tgtEl>
                                        <p:attrNameLst>
                                          <p:attrName>style.visibility</p:attrName>
                                        </p:attrNameLst>
                                      </p:cBhvr>
                                      <p:to>
                                        <p:strVal val="visible"/>
                                      </p:to>
                                    </p:set>
                                  </p:childTnLst>
                                </p:cTn>
                              </p:par>
                            </p:childTnLst>
                          </p:cTn>
                        </p:par>
                        <p:par>
                          <p:cTn id="13" fill="hold">
                            <p:stCondLst>
                              <p:cond delay="500"/>
                            </p:stCondLst>
                            <p:childTnLst>
                              <p:par>
                                <p:cTn id="14" presetID="2" presetClass="entr" presetSubtype="8" fill="hold" grpId="0" nodeType="afterEffect">
                                  <p:stCondLst>
                                    <p:cond delay="0"/>
                                  </p:stCondLst>
                                  <p:childTnLst>
                                    <p:set>
                                      <p:cBhvr>
                                        <p:cTn id="15" dur="1" fill="hold">
                                          <p:stCondLst>
                                            <p:cond delay="0"/>
                                          </p:stCondLst>
                                        </p:cTn>
                                        <p:tgtEl>
                                          <p:spTgt spid="1294339"/>
                                        </p:tgtEl>
                                        <p:attrNameLst>
                                          <p:attrName>style.visibility</p:attrName>
                                        </p:attrNameLst>
                                      </p:cBhvr>
                                      <p:to>
                                        <p:strVal val="visible"/>
                                      </p:to>
                                    </p:set>
                                    <p:anim calcmode="lin" valueType="num">
                                      <p:cBhvr additive="base">
                                        <p:cTn id="16" dur="500" fill="hold"/>
                                        <p:tgtEl>
                                          <p:spTgt spid="1294339"/>
                                        </p:tgtEl>
                                        <p:attrNameLst>
                                          <p:attrName>ppt_x</p:attrName>
                                        </p:attrNameLst>
                                      </p:cBhvr>
                                      <p:tavLst>
                                        <p:tav tm="0">
                                          <p:val>
                                            <p:strVal val="0-#ppt_w/2"/>
                                          </p:val>
                                        </p:tav>
                                        <p:tav tm="100000">
                                          <p:val>
                                            <p:strVal val="#ppt_x"/>
                                          </p:val>
                                        </p:tav>
                                      </p:tavLst>
                                    </p:anim>
                                    <p:anim calcmode="lin" valueType="num">
                                      <p:cBhvr additive="base">
                                        <p:cTn id="17" dur="500" fill="hold"/>
                                        <p:tgtEl>
                                          <p:spTgt spid="1294339"/>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294342"/>
                                        </p:tgtEl>
                                        <p:attrNameLst>
                                          <p:attrName>style.visibility</p:attrName>
                                        </p:attrNameLst>
                                      </p:cBhvr>
                                      <p:to>
                                        <p:strVal val="visible"/>
                                      </p:to>
                                    </p:set>
                                    <p:anim calcmode="lin" valueType="num">
                                      <p:cBhvr additive="base">
                                        <p:cTn id="22" dur="500" fill="hold"/>
                                        <p:tgtEl>
                                          <p:spTgt spid="1294342"/>
                                        </p:tgtEl>
                                        <p:attrNameLst>
                                          <p:attrName>ppt_x</p:attrName>
                                        </p:attrNameLst>
                                      </p:cBhvr>
                                      <p:tavLst>
                                        <p:tav tm="0">
                                          <p:val>
                                            <p:strVal val="0-#ppt_w/2"/>
                                          </p:val>
                                        </p:tav>
                                        <p:tav tm="100000">
                                          <p:val>
                                            <p:strVal val="#ppt_x"/>
                                          </p:val>
                                        </p:tav>
                                      </p:tavLst>
                                    </p:anim>
                                    <p:anim calcmode="lin" valueType="num">
                                      <p:cBhvr additive="base">
                                        <p:cTn id="23" dur="500" fill="hold"/>
                                        <p:tgtEl>
                                          <p:spTgt spid="12943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4338" grpId="0" animBg="1" autoUpdateAnimBg="0"/>
      <p:bldP spid="1294339" grpId="0" animBg="1" autoUpdateAnimBg="0"/>
      <p:bldP spid="1294341" grpId="0" animBg="1"/>
      <p:bldP spid="1294342"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6386" name="Rectangle 1026"/>
          <p:cNvSpPr>
            <a:spLocks noChangeArrowheads="1"/>
          </p:cNvSpPr>
          <p:nvPr/>
        </p:nvSpPr>
        <p:spPr bwMode="auto">
          <a:xfrm>
            <a:off x="0" y="1412875"/>
            <a:ext cx="3794125" cy="2159000"/>
          </a:xfrm>
          <a:prstGeom prst="rect">
            <a:avLst/>
          </a:prstGeom>
          <a:gradFill rotWithShape="0">
            <a:gsLst>
              <a:gs pos="0">
                <a:srgbClr val="FFCC99"/>
              </a:gs>
              <a:gs pos="100000">
                <a:srgbClr val="FFCC99">
                  <a:gamma/>
                  <a:tint val="63529"/>
                  <a:invGamma/>
                </a:srgbClr>
              </a:gs>
            </a:gsLst>
            <a:path path="shape">
              <a:fillToRect l="50000" t="50000" r="50000" b="50000"/>
            </a:path>
          </a:gradFill>
          <a:ln w="9525">
            <a:solidFill>
              <a:srgbClr val="800000"/>
            </a:solidFill>
            <a:miter lim="800000"/>
            <a:headEnd/>
            <a:tailEnd/>
          </a:ln>
          <a:effectLst/>
        </p:spPr>
        <p:txBody>
          <a:bodyPr lIns="92075" tIns="46038" rIns="92075" bIns="46038"/>
          <a:lstStyle/>
          <a:p>
            <a:pPr algn="l">
              <a:lnSpc>
                <a:spcPct val="85000"/>
              </a:lnSpc>
              <a:spcAft>
                <a:spcPct val="15000"/>
              </a:spcAft>
              <a:defRPr/>
            </a:pPr>
            <a:r>
              <a:rPr kumimoji="0" lang="zh-CN" altLang="en-US" sz="2800" u="sng">
                <a:solidFill>
                  <a:srgbClr val="003366"/>
                </a:solidFill>
                <a:latin typeface="宋体" pitchFamily="2" charset="-122"/>
                <a:ea typeface="宋体" pitchFamily="2" charset="-122"/>
              </a:rPr>
              <a:t>定义</a:t>
            </a:r>
          </a:p>
          <a:p>
            <a:pPr algn="l">
              <a:lnSpc>
                <a:spcPct val="85000"/>
              </a:lnSpc>
              <a:spcAft>
                <a:spcPct val="15000"/>
              </a:spcAft>
              <a:defRPr/>
            </a:pPr>
            <a:endParaRPr kumimoji="0" lang="zh-CN" altLang="en-US" sz="2800" b="1" u="sng">
              <a:solidFill>
                <a:srgbClr val="003366"/>
              </a:solidFill>
              <a:effectLst>
                <a:outerShdw blurRad="38100" dist="38100" dir="2700000" algn="tl">
                  <a:srgbClr val="000000"/>
                </a:outerShdw>
              </a:effectLst>
              <a:latin typeface="宋体" pitchFamily="2" charset="-122"/>
              <a:ea typeface="宋体" pitchFamily="2" charset="-122"/>
            </a:endParaRPr>
          </a:p>
          <a:p>
            <a:pPr algn="l">
              <a:lnSpc>
                <a:spcPct val="85000"/>
              </a:lnSpc>
              <a:buSzPct val="80000"/>
              <a:defRPr/>
            </a:pPr>
            <a:r>
              <a:rPr kumimoji="0" lang="zh-CN" altLang="en-US" sz="2400">
                <a:solidFill>
                  <a:srgbClr val="003366"/>
                </a:solidFill>
                <a:latin typeface="宋体" pitchFamily="2" charset="-122"/>
                <a:ea typeface="宋体" pitchFamily="2" charset="-122"/>
              </a:rPr>
              <a:t>改善现有的产品或提供新产品来促进销售的增长</a:t>
            </a:r>
            <a:r>
              <a:rPr kumimoji="0" lang="zh-CN" altLang="en-US" sz="2800">
                <a:solidFill>
                  <a:srgbClr val="003366"/>
                </a:solidFill>
                <a:latin typeface="宋体" pitchFamily="2" charset="-122"/>
                <a:ea typeface="宋体" pitchFamily="2" charset="-122"/>
              </a:rPr>
              <a:t> </a:t>
            </a:r>
          </a:p>
        </p:txBody>
      </p:sp>
      <p:sp>
        <p:nvSpPr>
          <p:cNvPr id="1296387" name="Rectangle 1027"/>
          <p:cNvSpPr>
            <a:spLocks noChangeArrowheads="1"/>
          </p:cNvSpPr>
          <p:nvPr/>
        </p:nvSpPr>
        <p:spPr bwMode="auto">
          <a:xfrm>
            <a:off x="5114925" y="1484313"/>
            <a:ext cx="4029075" cy="2087562"/>
          </a:xfrm>
          <a:prstGeom prst="rect">
            <a:avLst/>
          </a:prstGeom>
          <a:gradFill rotWithShape="0">
            <a:gsLst>
              <a:gs pos="0">
                <a:srgbClr val="FFCC99"/>
              </a:gs>
              <a:gs pos="100000">
                <a:srgbClr val="FFE9D4"/>
              </a:gs>
            </a:gsLst>
            <a:path path="shape">
              <a:fillToRect l="50000" t="50000" r="50000" b="50000"/>
            </a:path>
          </a:gradFill>
          <a:ln w="9525">
            <a:solidFill>
              <a:srgbClr val="800000"/>
            </a:solidFill>
            <a:miter lim="800000"/>
            <a:headEnd/>
            <a:tailEnd/>
          </a:ln>
        </p:spPr>
        <p:txBody>
          <a:bodyPr lIns="92075" tIns="46038" rIns="92075" bIns="46038"/>
          <a:lstStyle/>
          <a:p>
            <a:pPr algn="l">
              <a:lnSpc>
                <a:spcPct val="85000"/>
              </a:lnSpc>
              <a:spcAft>
                <a:spcPct val="15000"/>
              </a:spcAft>
            </a:pPr>
            <a:r>
              <a:rPr kumimoji="0" lang="zh-CN" altLang="en-US" sz="2800" u="sng">
                <a:solidFill>
                  <a:srgbClr val="003366"/>
                </a:solidFill>
                <a:latin typeface="宋体" pitchFamily="2" charset="-122"/>
                <a:ea typeface="宋体" pitchFamily="2" charset="-122"/>
              </a:rPr>
              <a:t>例子</a:t>
            </a:r>
          </a:p>
          <a:p>
            <a:pPr algn="l">
              <a:lnSpc>
                <a:spcPct val="85000"/>
              </a:lnSpc>
              <a:spcAft>
                <a:spcPct val="15000"/>
              </a:spcAft>
            </a:pPr>
            <a:endParaRPr kumimoji="0" lang="zh-CN" altLang="en-US" sz="2800">
              <a:solidFill>
                <a:srgbClr val="003366"/>
              </a:solidFill>
              <a:latin typeface="宋体" pitchFamily="2" charset="-122"/>
              <a:ea typeface="宋体" pitchFamily="2" charset="-122"/>
            </a:endParaRPr>
          </a:p>
          <a:p>
            <a:pPr algn="l">
              <a:lnSpc>
                <a:spcPct val="85000"/>
              </a:lnSpc>
              <a:buSzPct val="80000"/>
            </a:pPr>
            <a:r>
              <a:rPr kumimoji="0" lang="zh-CN" altLang="en-US" sz="2400">
                <a:solidFill>
                  <a:srgbClr val="003366"/>
                </a:solidFill>
                <a:latin typeface="宋体" pitchFamily="2" charset="-122"/>
                <a:ea typeface="宋体" pitchFamily="2" charset="-122"/>
              </a:rPr>
              <a:t>计算机产品</a:t>
            </a:r>
          </a:p>
          <a:p>
            <a:pPr algn="l">
              <a:lnSpc>
                <a:spcPct val="85000"/>
              </a:lnSpc>
              <a:buSzPct val="80000"/>
            </a:pPr>
            <a:r>
              <a:rPr kumimoji="0" lang="zh-CN" altLang="en-US" sz="2400">
                <a:solidFill>
                  <a:srgbClr val="003366"/>
                </a:solidFill>
                <a:latin typeface="宋体" pitchFamily="2" charset="-122"/>
                <a:ea typeface="宋体" pitchFamily="2" charset="-122"/>
              </a:rPr>
              <a:t>电子产品等</a:t>
            </a:r>
          </a:p>
        </p:txBody>
      </p:sp>
      <p:sp>
        <p:nvSpPr>
          <p:cNvPr id="22532" name="Rectangle 1028"/>
          <p:cNvSpPr>
            <a:spLocks noGrp="1" noChangeArrowheads="1"/>
          </p:cNvSpPr>
          <p:nvPr>
            <p:ph type="title"/>
          </p:nvPr>
        </p:nvSpPr>
        <p:spPr>
          <a:xfrm>
            <a:off x="1187450" y="333375"/>
            <a:ext cx="6718300" cy="838200"/>
          </a:xfrm>
          <a:noFill/>
        </p:spPr>
        <p:txBody>
          <a:bodyPr/>
          <a:lstStyle/>
          <a:p>
            <a:pPr eaLnBrk="1" hangingPunct="1"/>
            <a:r>
              <a:rPr lang="zh-CN" altLang="en-AU">
                <a:solidFill>
                  <a:srgbClr val="FFFF66"/>
                </a:solidFill>
              </a:rPr>
              <a:t>产品开发</a:t>
            </a:r>
          </a:p>
        </p:txBody>
      </p:sp>
      <p:sp>
        <p:nvSpPr>
          <p:cNvPr id="1296389" name="Line 1029"/>
          <p:cNvSpPr>
            <a:spLocks noChangeShapeType="1"/>
          </p:cNvSpPr>
          <p:nvPr/>
        </p:nvSpPr>
        <p:spPr bwMode="auto">
          <a:xfrm>
            <a:off x="3851275" y="2420938"/>
            <a:ext cx="1177925" cy="17462"/>
          </a:xfrm>
          <a:prstGeom prst="line">
            <a:avLst/>
          </a:prstGeom>
          <a:noFill/>
          <a:ln w="76200">
            <a:solidFill>
              <a:srgbClr val="993300"/>
            </a:solidFill>
            <a:round/>
            <a:headEnd type="none" w="sm" len="sm"/>
            <a:tailEnd type="stealth" w="med" len="med"/>
          </a:ln>
        </p:spPr>
        <p:txBody>
          <a:bodyPr/>
          <a:lstStyle/>
          <a:p>
            <a:endParaRPr lang="zh-CN" altLang="en-US"/>
          </a:p>
        </p:txBody>
      </p:sp>
      <p:sp>
        <p:nvSpPr>
          <p:cNvPr id="1296390" name="Rectangle 1030"/>
          <p:cNvSpPr>
            <a:spLocks noChangeArrowheads="1"/>
          </p:cNvSpPr>
          <p:nvPr/>
        </p:nvSpPr>
        <p:spPr bwMode="auto">
          <a:xfrm>
            <a:off x="971550" y="3860800"/>
            <a:ext cx="6719888" cy="2089150"/>
          </a:xfrm>
          <a:prstGeom prst="rect">
            <a:avLst/>
          </a:prstGeom>
          <a:solidFill>
            <a:srgbClr val="DBCBC7"/>
          </a:solidFill>
          <a:ln w="12700">
            <a:solidFill>
              <a:srgbClr val="800000"/>
            </a:solidFill>
            <a:miter lim="800000"/>
            <a:headEnd/>
            <a:tailEnd/>
          </a:ln>
        </p:spPr>
        <p:txBody>
          <a:bodyPr lIns="92075" tIns="46038" rIns="92075" bIns="46038"/>
          <a:lstStyle/>
          <a:p>
            <a:pPr marL="342900" indent="-342900" algn="l">
              <a:lnSpc>
                <a:spcPct val="80000"/>
              </a:lnSpc>
              <a:spcBef>
                <a:spcPct val="30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产品处于生命周期的成熟期</a:t>
            </a:r>
          </a:p>
          <a:p>
            <a:pPr marL="342900" indent="-342900" algn="l">
              <a:lnSpc>
                <a:spcPct val="80000"/>
              </a:lnSpc>
              <a:spcBef>
                <a:spcPct val="30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在技术快速变革的行业中进行竞争</a:t>
            </a:r>
          </a:p>
          <a:p>
            <a:pPr marL="342900" indent="-342900" algn="l">
              <a:lnSpc>
                <a:spcPct val="80000"/>
              </a:lnSpc>
              <a:spcBef>
                <a:spcPct val="30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在同等价格下，竞争者提供质量更好的产品</a:t>
            </a:r>
          </a:p>
          <a:p>
            <a:pPr marL="342900" indent="-342900" algn="l">
              <a:lnSpc>
                <a:spcPct val="80000"/>
              </a:lnSpc>
              <a:spcBef>
                <a:spcPct val="30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在高增长率的行业中进行竞争</a:t>
            </a:r>
          </a:p>
          <a:p>
            <a:pPr marL="342900" indent="-342900" algn="l">
              <a:lnSpc>
                <a:spcPct val="80000"/>
              </a:lnSpc>
              <a:spcBef>
                <a:spcPct val="30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具有很好的研发能力</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96386"/>
                                        </p:tgtEl>
                                        <p:attrNameLst>
                                          <p:attrName>style.visibility</p:attrName>
                                        </p:attrNameLst>
                                      </p:cBhvr>
                                      <p:to>
                                        <p:strVal val="visible"/>
                                      </p:to>
                                    </p:set>
                                    <p:anim calcmode="lin" valueType="num">
                                      <p:cBhvr additive="base">
                                        <p:cTn id="7" dur="500" fill="hold"/>
                                        <p:tgtEl>
                                          <p:spTgt spid="1296386"/>
                                        </p:tgtEl>
                                        <p:attrNameLst>
                                          <p:attrName>ppt_x</p:attrName>
                                        </p:attrNameLst>
                                      </p:cBhvr>
                                      <p:tavLst>
                                        <p:tav tm="0">
                                          <p:val>
                                            <p:strVal val="0-#ppt_w/2"/>
                                          </p:val>
                                        </p:tav>
                                        <p:tav tm="100000">
                                          <p:val>
                                            <p:strVal val="#ppt_x"/>
                                          </p:val>
                                        </p:tav>
                                      </p:tavLst>
                                    </p:anim>
                                    <p:anim calcmode="lin" valueType="num">
                                      <p:cBhvr additive="base">
                                        <p:cTn id="8" dur="500" fill="hold"/>
                                        <p:tgtEl>
                                          <p:spTgt spid="129638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296389"/>
                                        </p:tgtEl>
                                        <p:attrNameLst>
                                          <p:attrName>style.visibility</p:attrName>
                                        </p:attrNameLst>
                                      </p:cBhvr>
                                      <p:to>
                                        <p:strVal val="visible"/>
                                      </p:to>
                                    </p:set>
                                  </p:childTnLst>
                                </p:cTn>
                              </p:par>
                            </p:childTnLst>
                          </p:cTn>
                        </p:par>
                        <p:par>
                          <p:cTn id="13" fill="hold">
                            <p:stCondLst>
                              <p:cond delay="500"/>
                            </p:stCondLst>
                            <p:childTnLst>
                              <p:par>
                                <p:cTn id="14" presetID="2" presetClass="entr" presetSubtype="8" fill="hold" grpId="0" nodeType="afterEffect">
                                  <p:stCondLst>
                                    <p:cond delay="0"/>
                                  </p:stCondLst>
                                  <p:childTnLst>
                                    <p:set>
                                      <p:cBhvr>
                                        <p:cTn id="15" dur="1" fill="hold">
                                          <p:stCondLst>
                                            <p:cond delay="0"/>
                                          </p:stCondLst>
                                        </p:cTn>
                                        <p:tgtEl>
                                          <p:spTgt spid="1296387"/>
                                        </p:tgtEl>
                                        <p:attrNameLst>
                                          <p:attrName>style.visibility</p:attrName>
                                        </p:attrNameLst>
                                      </p:cBhvr>
                                      <p:to>
                                        <p:strVal val="visible"/>
                                      </p:to>
                                    </p:set>
                                    <p:anim calcmode="lin" valueType="num">
                                      <p:cBhvr additive="base">
                                        <p:cTn id="16" dur="500" fill="hold"/>
                                        <p:tgtEl>
                                          <p:spTgt spid="1296387"/>
                                        </p:tgtEl>
                                        <p:attrNameLst>
                                          <p:attrName>ppt_x</p:attrName>
                                        </p:attrNameLst>
                                      </p:cBhvr>
                                      <p:tavLst>
                                        <p:tav tm="0">
                                          <p:val>
                                            <p:strVal val="0-#ppt_w/2"/>
                                          </p:val>
                                        </p:tav>
                                        <p:tav tm="100000">
                                          <p:val>
                                            <p:strVal val="#ppt_x"/>
                                          </p:val>
                                        </p:tav>
                                      </p:tavLst>
                                    </p:anim>
                                    <p:anim calcmode="lin" valueType="num">
                                      <p:cBhvr additive="base">
                                        <p:cTn id="17" dur="500" fill="hold"/>
                                        <p:tgtEl>
                                          <p:spTgt spid="1296387"/>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296390"/>
                                        </p:tgtEl>
                                        <p:attrNameLst>
                                          <p:attrName>style.visibility</p:attrName>
                                        </p:attrNameLst>
                                      </p:cBhvr>
                                      <p:to>
                                        <p:strVal val="visible"/>
                                      </p:to>
                                    </p:set>
                                    <p:anim calcmode="lin" valueType="num">
                                      <p:cBhvr additive="base">
                                        <p:cTn id="22" dur="500" fill="hold"/>
                                        <p:tgtEl>
                                          <p:spTgt spid="1296390"/>
                                        </p:tgtEl>
                                        <p:attrNameLst>
                                          <p:attrName>ppt_x</p:attrName>
                                        </p:attrNameLst>
                                      </p:cBhvr>
                                      <p:tavLst>
                                        <p:tav tm="0">
                                          <p:val>
                                            <p:strVal val="0-#ppt_w/2"/>
                                          </p:val>
                                        </p:tav>
                                        <p:tav tm="100000">
                                          <p:val>
                                            <p:strVal val="#ppt_x"/>
                                          </p:val>
                                        </p:tav>
                                      </p:tavLst>
                                    </p:anim>
                                    <p:anim calcmode="lin" valueType="num">
                                      <p:cBhvr additive="base">
                                        <p:cTn id="23" dur="500" fill="hold"/>
                                        <p:tgtEl>
                                          <p:spTgt spid="12963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6386" grpId="0" animBg="1" autoUpdateAnimBg="0"/>
      <p:bldP spid="1296387" grpId="0" animBg="1" autoUpdateAnimBg="0"/>
      <p:bldP spid="1296389" grpId="0" animBg="1"/>
      <p:bldP spid="1296390"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一体化战略</a:t>
            </a:r>
          </a:p>
        </p:txBody>
      </p:sp>
      <p:sp>
        <p:nvSpPr>
          <p:cNvPr id="3" name="内容占位符 2"/>
          <p:cNvSpPr>
            <a:spLocks noGrp="1"/>
          </p:cNvSpPr>
          <p:nvPr>
            <p:ph idx="1"/>
          </p:nvPr>
        </p:nvSpPr>
        <p:spPr>
          <a:xfrm>
            <a:off x="611560" y="1412777"/>
            <a:ext cx="8229600" cy="1728192"/>
          </a:xfrm>
        </p:spPr>
        <p:txBody>
          <a:bodyPr/>
          <a:lstStyle/>
          <a:p>
            <a:r>
              <a:rPr lang="zh-CN" altLang="en-US" dirty="0"/>
              <a:t>纵向一体化（前向一体化，后向一体化）</a:t>
            </a:r>
            <a:endParaRPr lang="en-US" altLang="zh-CN" dirty="0"/>
          </a:p>
          <a:p>
            <a:r>
              <a:rPr lang="zh-CN" altLang="en-US" dirty="0"/>
              <a:t>横向一体化</a:t>
            </a:r>
            <a:endParaRPr lang="en-US" altLang="zh-CN" dirty="0"/>
          </a:p>
          <a:p>
            <a:r>
              <a:rPr lang="zh-CN" altLang="en-US" dirty="0"/>
              <a:t>一体化模型图</a:t>
            </a:r>
          </a:p>
        </p:txBody>
      </p:sp>
      <p:sp>
        <p:nvSpPr>
          <p:cNvPr id="4" name="矩形 3"/>
          <p:cNvSpPr/>
          <p:nvPr/>
        </p:nvSpPr>
        <p:spPr>
          <a:xfrm>
            <a:off x="784900" y="3356992"/>
            <a:ext cx="1296144" cy="57606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lumMod val="95000"/>
                    <a:lumOff val="5000"/>
                  </a:schemeClr>
                </a:solidFill>
              </a:rPr>
              <a:t>原材料</a:t>
            </a:r>
          </a:p>
        </p:txBody>
      </p:sp>
      <p:cxnSp>
        <p:nvCxnSpPr>
          <p:cNvPr id="6" name="直接箭头连接符 5"/>
          <p:cNvCxnSpPr>
            <a:stCxn id="4" idx="3"/>
          </p:cNvCxnSpPr>
          <p:nvPr/>
        </p:nvCxnSpPr>
        <p:spPr>
          <a:xfrm>
            <a:off x="2081044" y="3645024"/>
            <a:ext cx="648072" cy="1588"/>
          </a:xfrm>
          <a:prstGeom prst="straightConnector1">
            <a:avLst/>
          </a:prstGeom>
          <a:ln>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2729116" y="3356992"/>
            <a:ext cx="1296144" cy="57606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lumMod val="95000"/>
                    <a:lumOff val="5000"/>
                  </a:schemeClr>
                </a:solidFill>
              </a:rPr>
              <a:t>制造商</a:t>
            </a:r>
          </a:p>
        </p:txBody>
      </p:sp>
      <p:cxnSp>
        <p:nvCxnSpPr>
          <p:cNvPr id="8" name="直接箭头连接符 7"/>
          <p:cNvCxnSpPr>
            <a:stCxn id="7" idx="3"/>
          </p:cNvCxnSpPr>
          <p:nvPr/>
        </p:nvCxnSpPr>
        <p:spPr>
          <a:xfrm>
            <a:off x="4025260" y="3645024"/>
            <a:ext cx="648072" cy="1588"/>
          </a:xfrm>
          <a:prstGeom prst="straightConnector1">
            <a:avLst/>
          </a:prstGeom>
          <a:ln>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4673332" y="4221088"/>
            <a:ext cx="1296144" cy="57606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lumMod val="95000"/>
                    <a:lumOff val="5000"/>
                  </a:schemeClr>
                </a:solidFill>
              </a:rPr>
              <a:t>配销</a:t>
            </a:r>
          </a:p>
        </p:txBody>
      </p:sp>
      <p:cxnSp>
        <p:nvCxnSpPr>
          <p:cNvPr id="10" name="直接箭头连接符 9"/>
          <p:cNvCxnSpPr>
            <a:stCxn id="9" idx="3"/>
          </p:cNvCxnSpPr>
          <p:nvPr/>
        </p:nvCxnSpPr>
        <p:spPr>
          <a:xfrm>
            <a:off x="5969476" y="4509120"/>
            <a:ext cx="648072" cy="1588"/>
          </a:xfrm>
          <a:prstGeom prst="straightConnector1">
            <a:avLst/>
          </a:prstGeom>
          <a:ln>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4673332" y="3356992"/>
            <a:ext cx="1296144" cy="57606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lumMod val="95000"/>
                    <a:lumOff val="5000"/>
                  </a:schemeClr>
                </a:solidFill>
              </a:rPr>
              <a:t>企业</a:t>
            </a:r>
          </a:p>
        </p:txBody>
      </p:sp>
      <p:sp>
        <p:nvSpPr>
          <p:cNvPr id="12" name="矩形 11"/>
          <p:cNvSpPr/>
          <p:nvPr/>
        </p:nvSpPr>
        <p:spPr>
          <a:xfrm>
            <a:off x="6617548" y="4221088"/>
            <a:ext cx="1296144" cy="57606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lumMod val="95000"/>
                    <a:lumOff val="5000"/>
                  </a:schemeClr>
                </a:solidFill>
              </a:rPr>
              <a:t>终端客户</a:t>
            </a:r>
          </a:p>
        </p:txBody>
      </p:sp>
      <p:cxnSp>
        <p:nvCxnSpPr>
          <p:cNvPr id="14" name="直接箭头连接符 13"/>
          <p:cNvCxnSpPr>
            <a:stCxn id="11" idx="2"/>
            <a:endCxn id="9" idx="0"/>
          </p:cNvCxnSpPr>
          <p:nvPr/>
        </p:nvCxnSpPr>
        <p:spPr>
          <a:xfrm rot="5400000">
            <a:off x="5177388" y="4077072"/>
            <a:ext cx="288032" cy="1588"/>
          </a:xfrm>
          <a:prstGeom prst="straightConnector1">
            <a:avLst/>
          </a:prstGeom>
          <a:ln>
            <a:solidFill>
              <a:srgbClr val="FFFF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9" idx="2"/>
          </p:cNvCxnSpPr>
          <p:nvPr/>
        </p:nvCxnSpPr>
        <p:spPr>
          <a:xfrm rot="5400000">
            <a:off x="5177388" y="4941168"/>
            <a:ext cx="288032" cy="0"/>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2513092" y="5085184"/>
            <a:ext cx="5472608" cy="1588"/>
          </a:xfrm>
          <a:prstGeom prst="straightConnector1">
            <a:avLst/>
          </a:prstGeom>
          <a:ln>
            <a:solidFill>
              <a:srgbClr val="FFFF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369076" y="5373216"/>
            <a:ext cx="1338828" cy="369332"/>
          </a:xfrm>
          <a:prstGeom prst="rect">
            <a:avLst/>
          </a:prstGeom>
          <a:noFill/>
        </p:spPr>
        <p:txBody>
          <a:bodyPr wrap="none" rtlCol="0">
            <a:spAutoFit/>
          </a:bodyPr>
          <a:lstStyle/>
          <a:p>
            <a:r>
              <a:rPr lang="zh-CN" altLang="en-US" dirty="0"/>
              <a:t>后向一体化</a:t>
            </a:r>
          </a:p>
        </p:txBody>
      </p:sp>
      <p:sp>
        <p:nvSpPr>
          <p:cNvPr id="20" name="TextBox 19"/>
          <p:cNvSpPr txBox="1"/>
          <p:nvPr/>
        </p:nvSpPr>
        <p:spPr>
          <a:xfrm>
            <a:off x="7049596" y="5373216"/>
            <a:ext cx="1338828" cy="369332"/>
          </a:xfrm>
          <a:prstGeom prst="rect">
            <a:avLst/>
          </a:prstGeom>
          <a:noFill/>
        </p:spPr>
        <p:txBody>
          <a:bodyPr wrap="none" rtlCol="0">
            <a:spAutoFit/>
          </a:bodyPr>
          <a:lstStyle/>
          <a:p>
            <a:r>
              <a:rPr lang="zh-CN" altLang="en-US" dirty="0"/>
              <a:t>前向一体化</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1522" name="Rectangle 1026"/>
          <p:cNvSpPr>
            <a:spLocks noChangeArrowheads="1"/>
          </p:cNvSpPr>
          <p:nvPr/>
        </p:nvSpPr>
        <p:spPr bwMode="auto">
          <a:xfrm>
            <a:off x="0" y="1457325"/>
            <a:ext cx="4038600" cy="1900238"/>
          </a:xfrm>
          <a:prstGeom prst="rect">
            <a:avLst/>
          </a:prstGeom>
          <a:gradFill rotWithShape="0">
            <a:gsLst>
              <a:gs pos="0">
                <a:srgbClr val="FFCC99"/>
              </a:gs>
              <a:gs pos="100000">
                <a:srgbClr val="FFCC99">
                  <a:gamma/>
                  <a:tint val="63529"/>
                  <a:invGamma/>
                </a:srgbClr>
              </a:gs>
            </a:gsLst>
            <a:path path="shape">
              <a:fillToRect l="50000" t="50000" r="50000" b="50000"/>
            </a:path>
          </a:gradFill>
          <a:ln w="9525">
            <a:solidFill>
              <a:srgbClr val="800000"/>
            </a:solidFill>
            <a:miter lim="800000"/>
            <a:headEnd/>
            <a:tailEnd/>
          </a:ln>
          <a:effectLst/>
        </p:spPr>
        <p:txBody>
          <a:bodyPr lIns="92075" tIns="46038" rIns="92075" bIns="46038" anchor="ctr"/>
          <a:lstStyle/>
          <a:p>
            <a:pPr algn="l">
              <a:lnSpc>
                <a:spcPct val="85000"/>
              </a:lnSpc>
              <a:spcAft>
                <a:spcPct val="15000"/>
              </a:spcAft>
              <a:defRPr/>
            </a:pPr>
            <a:r>
              <a:rPr kumimoji="0" lang="zh-CN" altLang="en-US" sz="2800" u="sng">
                <a:solidFill>
                  <a:srgbClr val="003366"/>
                </a:solidFill>
                <a:effectLst>
                  <a:outerShdw blurRad="38100" dist="38100" dir="2700000" algn="tl">
                    <a:srgbClr val="000000"/>
                  </a:outerShdw>
                </a:effectLst>
                <a:latin typeface="宋体" pitchFamily="2" charset="-122"/>
                <a:ea typeface="宋体" pitchFamily="2" charset="-122"/>
              </a:rPr>
              <a:t>定义</a:t>
            </a:r>
          </a:p>
          <a:p>
            <a:pPr algn="l">
              <a:lnSpc>
                <a:spcPct val="85000"/>
              </a:lnSpc>
              <a:spcAft>
                <a:spcPct val="15000"/>
              </a:spcAft>
              <a:defRPr/>
            </a:pPr>
            <a:endParaRPr kumimoji="0" lang="zh-CN" altLang="en-US" sz="2800" u="sng">
              <a:solidFill>
                <a:srgbClr val="003366"/>
              </a:solidFill>
              <a:effectLst>
                <a:outerShdw blurRad="38100" dist="38100" dir="2700000" algn="tl">
                  <a:srgbClr val="000000"/>
                </a:outerShdw>
              </a:effectLst>
              <a:latin typeface="宋体" pitchFamily="2" charset="-122"/>
              <a:ea typeface="宋体" pitchFamily="2" charset="-122"/>
            </a:endParaRPr>
          </a:p>
          <a:p>
            <a:pPr algn="l">
              <a:lnSpc>
                <a:spcPct val="85000"/>
              </a:lnSpc>
              <a:buSzPct val="80000"/>
              <a:defRPr/>
            </a:pPr>
            <a:r>
              <a:rPr kumimoji="0" lang="zh-CN" altLang="en-US" sz="2400">
                <a:solidFill>
                  <a:srgbClr val="003366"/>
                </a:solidFill>
                <a:latin typeface="宋体" pitchFamily="2" charset="-122"/>
                <a:ea typeface="宋体" pitchFamily="2" charset="-122"/>
              </a:rPr>
              <a:t>在渠道、销售方面赢得所有权或增加控制</a:t>
            </a:r>
          </a:p>
        </p:txBody>
      </p:sp>
      <p:sp>
        <p:nvSpPr>
          <p:cNvPr id="1131523" name="Rectangle 1027"/>
          <p:cNvSpPr>
            <a:spLocks noChangeArrowheads="1"/>
          </p:cNvSpPr>
          <p:nvPr/>
        </p:nvSpPr>
        <p:spPr bwMode="auto">
          <a:xfrm>
            <a:off x="5073650" y="1474788"/>
            <a:ext cx="4070350" cy="1882775"/>
          </a:xfrm>
          <a:prstGeom prst="rect">
            <a:avLst/>
          </a:prstGeom>
          <a:gradFill rotWithShape="0">
            <a:gsLst>
              <a:gs pos="0">
                <a:srgbClr val="FFCC99"/>
              </a:gs>
              <a:gs pos="100000">
                <a:srgbClr val="FFE9D4"/>
              </a:gs>
            </a:gsLst>
            <a:path path="shape">
              <a:fillToRect l="50000" t="50000" r="50000" b="50000"/>
            </a:path>
          </a:gradFill>
          <a:ln w="9525">
            <a:solidFill>
              <a:srgbClr val="800000"/>
            </a:solidFill>
            <a:miter lim="800000"/>
            <a:headEnd/>
            <a:tailEnd/>
          </a:ln>
        </p:spPr>
        <p:txBody>
          <a:bodyPr lIns="92075" tIns="46038" rIns="92075" bIns="46038" anchor="ctr" anchorCtr="1"/>
          <a:lstStyle/>
          <a:p>
            <a:pPr algn="l">
              <a:lnSpc>
                <a:spcPct val="85000"/>
              </a:lnSpc>
              <a:spcAft>
                <a:spcPct val="15000"/>
              </a:spcAft>
            </a:pPr>
            <a:r>
              <a:rPr kumimoji="0" lang="zh-CN" altLang="en-US" sz="2800" u="sng">
                <a:solidFill>
                  <a:srgbClr val="003366"/>
                </a:solidFill>
                <a:latin typeface="宋体" pitchFamily="2" charset="-122"/>
                <a:ea typeface="宋体" pitchFamily="2" charset="-122"/>
              </a:rPr>
              <a:t>例子</a:t>
            </a:r>
            <a:endParaRPr kumimoji="0" lang="zh-CN" altLang="en-US" sz="2800">
              <a:solidFill>
                <a:srgbClr val="003366"/>
              </a:solidFill>
              <a:latin typeface="宋体" pitchFamily="2" charset="-122"/>
              <a:ea typeface="宋体" pitchFamily="2" charset="-122"/>
            </a:endParaRPr>
          </a:p>
          <a:p>
            <a:pPr algn="l">
              <a:lnSpc>
                <a:spcPct val="85000"/>
              </a:lnSpc>
              <a:buSzPct val="80000"/>
            </a:pPr>
            <a:r>
              <a:rPr kumimoji="0" lang="zh-CN" altLang="en-US" sz="2400">
                <a:solidFill>
                  <a:srgbClr val="003366"/>
                </a:solidFill>
                <a:latin typeface="宋体" pitchFamily="2" charset="-122"/>
                <a:ea typeface="宋体" pitchFamily="2" charset="-122"/>
              </a:rPr>
              <a:t>通用汽车收购了</a:t>
            </a:r>
            <a:r>
              <a:rPr kumimoji="0" lang="en-US" altLang="zh-CN" sz="2400">
                <a:solidFill>
                  <a:srgbClr val="003366"/>
                </a:solidFill>
                <a:latin typeface="宋体" pitchFamily="2" charset="-122"/>
                <a:ea typeface="宋体" pitchFamily="2" charset="-122"/>
              </a:rPr>
              <a:t>10%</a:t>
            </a:r>
            <a:r>
              <a:rPr kumimoji="0" lang="zh-CN" altLang="en-US" sz="2400">
                <a:solidFill>
                  <a:srgbClr val="003366"/>
                </a:solidFill>
                <a:latin typeface="宋体" pitchFamily="2" charset="-122"/>
                <a:ea typeface="宋体" pitchFamily="2" charset="-122"/>
              </a:rPr>
              <a:t>的销售渠道</a:t>
            </a:r>
            <a:endParaRPr kumimoji="0" lang="en-US" altLang="zh-CN" sz="2400">
              <a:solidFill>
                <a:srgbClr val="003366"/>
              </a:solidFill>
              <a:latin typeface="宋体" pitchFamily="2" charset="-122"/>
              <a:ea typeface="宋体" pitchFamily="2" charset="-122"/>
            </a:endParaRPr>
          </a:p>
          <a:p>
            <a:pPr algn="l">
              <a:lnSpc>
                <a:spcPct val="85000"/>
              </a:lnSpc>
              <a:buSzPct val="80000"/>
            </a:pPr>
            <a:r>
              <a:rPr kumimoji="0" lang="zh-CN" altLang="en-US" sz="2400">
                <a:solidFill>
                  <a:srgbClr val="003366"/>
                </a:solidFill>
                <a:latin typeface="宋体" pitchFamily="2" charset="-122"/>
                <a:ea typeface="宋体" pitchFamily="2" charset="-122"/>
              </a:rPr>
              <a:t>格力电器</a:t>
            </a:r>
          </a:p>
        </p:txBody>
      </p:sp>
      <p:sp>
        <p:nvSpPr>
          <p:cNvPr id="24580" name="Rectangle 1028"/>
          <p:cNvSpPr>
            <a:spLocks noGrp="1" noChangeArrowheads="1"/>
          </p:cNvSpPr>
          <p:nvPr>
            <p:ph type="title"/>
          </p:nvPr>
        </p:nvSpPr>
        <p:spPr>
          <a:xfrm>
            <a:off x="2627313" y="188913"/>
            <a:ext cx="5207000" cy="838200"/>
          </a:xfrm>
          <a:noFill/>
        </p:spPr>
        <p:txBody>
          <a:bodyPr/>
          <a:lstStyle/>
          <a:p>
            <a:r>
              <a:rPr lang="zh-CN" altLang="en-US" dirty="0">
                <a:solidFill>
                  <a:srgbClr val="FFFF66"/>
                </a:solidFill>
              </a:rPr>
              <a:t>前向一体化</a:t>
            </a:r>
            <a:endParaRPr lang="zh-CN" altLang="en-AU" dirty="0">
              <a:solidFill>
                <a:srgbClr val="FFFF66"/>
              </a:solidFill>
            </a:endParaRPr>
          </a:p>
        </p:txBody>
      </p:sp>
      <p:sp>
        <p:nvSpPr>
          <p:cNvPr id="1131525" name="Line 1029"/>
          <p:cNvSpPr>
            <a:spLocks noChangeShapeType="1"/>
          </p:cNvSpPr>
          <p:nvPr/>
        </p:nvSpPr>
        <p:spPr bwMode="auto">
          <a:xfrm>
            <a:off x="4111625" y="2438400"/>
            <a:ext cx="917575" cy="0"/>
          </a:xfrm>
          <a:prstGeom prst="line">
            <a:avLst/>
          </a:prstGeom>
          <a:noFill/>
          <a:ln w="76200">
            <a:solidFill>
              <a:srgbClr val="993300"/>
            </a:solidFill>
            <a:round/>
            <a:headEnd type="none" w="sm" len="sm"/>
            <a:tailEnd type="stealth" w="med" len="med"/>
          </a:ln>
        </p:spPr>
        <p:txBody>
          <a:bodyPr/>
          <a:lstStyle/>
          <a:p>
            <a:endParaRPr lang="zh-CN" altLang="en-US"/>
          </a:p>
        </p:txBody>
      </p:sp>
      <p:sp>
        <p:nvSpPr>
          <p:cNvPr id="1131526" name="Rectangle 1030"/>
          <p:cNvSpPr>
            <a:spLocks noChangeArrowheads="1"/>
          </p:cNvSpPr>
          <p:nvPr/>
        </p:nvSpPr>
        <p:spPr bwMode="auto">
          <a:xfrm>
            <a:off x="539750" y="3716338"/>
            <a:ext cx="7367588" cy="2071687"/>
          </a:xfrm>
          <a:prstGeom prst="rect">
            <a:avLst/>
          </a:prstGeom>
          <a:solidFill>
            <a:srgbClr val="DBCBC7"/>
          </a:solidFill>
          <a:ln w="12700">
            <a:solidFill>
              <a:srgbClr val="800000"/>
            </a:solidFill>
            <a:miter lim="800000"/>
            <a:headEnd/>
            <a:tailEnd/>
          </a:ln>
        </p:spPr>
        <p:txBody>
          <a:bodyPr lIns="92075" tIns="46038" rIns="92075" bIns="46038"/>
          <a:lstStyle/>
          <a:p>
            <a:pPr marL="342900" indent="-342900" algn="l">
              <a:lnSpc>
                <a:spcPct val="80000"/>
              </a:lnSpc>
              <a:spcBef>
                <a:spcPct val="30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现有的渠道昂贵、不可靠，不能满足公司的需求</a:t>
            </a:r>
          </a:p>
          <a:p>
            <a:pPr marL="342900" indent="-342900" algn="l">
              <a:lnSpc>
                <a:spcPct val="80000"/>
              </a:lnSpc>
              <a:spcBef>
                <a:spcPct val="30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高质量的渠道可用性有限</a:t>
            </a:r>
          </a:p>
          <a:p>
            <a:pPr marL="342900" indent="-342900" algn="l">
              <a:lnSpc>
                <a:spcPct val="80000"/>
              </a:lnSpc>
              <a:spcBef>
                <a:spcPct val="30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公司所在的行业成长显著</a:t>
            </a:r>
          </a:p>
          <a:p>
            <a:pPr marL="342900" indent="-342900" algn="l">
              <a:lnSpc>
                <a:spcPct val="80000"/>
              </a:lnSpc>
              <a:spcBef>
                <a:spcPct val="30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现有的渠道具有高的边际收益</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31522"/>
                                        </p:tgtEl>
                                        <p:attrNameLst>
                                          <p:attrName>style.visibility</p:attrName>
                                        </p:attrNameLst>
                                      </p:cBhvr>
                                      <p:to>
                                        <p:strVal val="visible"/>
                                      </p:to>
                                    </p:set>
                                    <p:anim calcmode="lin" valueType="num">
                                      <p:cBhvr additive="base">
                                        <p:cTn id="7" dur="500" fill="hold"/>
                                        <p:tgtEl>
                                          <p:spTgt spid="1131522"/>
                                        </p:tgtEl>
                                        <p:attrNameLst>
                                          <p:attrName>ppt_x</p:attrName>
                                        </p:attrNameLst>
                                      </p:cBhvr>
                                      <p:tavLst>
                                        <p:tav tm="0">
                                          <p:val>
                                            <p:strVal val="0-#ppt_w/2"/>
                                          </p:val>
                                        </p:tav>
                                        <p:tav tm="100000">
                                          <p:val>
                                            <p:strVal val="#ppt_x"/>
                                          </p:val>
                                        </p:tav>
                                      </p:tavLst>
                                    </p:anim>
                                    <p:anim calcmode="lin" valueType="num">
                                      <p:cBhvr additive="base">
                                        <p:cTn id="8" dur="500" fill="hold"/>
                                        <p:tgtEl>
                                          <p:spTgt spid="11315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131525"/>
                                        </p:tgtEl>
                                        <p:attrNameLst>
                                          <p:attrName>style.visibility</p:attrName>
                                        </p:attrNameLst>
                                      </p:cBhvr>
                                      <p:to>
                                        <p:strVal val="visible"/>
                                      </p:to>
                                    </p:set>
                                  </p:childTnLst>
                                </p:cTn>
                              </p:par>
                            </p:childTnLst>
                          </p:cTn>
                        </p:par>
                        <p:par>
                          <p:cTn id="13" fill="hold">
                            <p:stCondLst>
                              <p:cond delay="500"/>
                            </p:stCondLst>
                            <p:childTnLst>
                              <p:par>
                                <p:cTn id="14" presetID="2" presetClass="entr" presetSubtype="8" fill="hold" grpId="0" nodeType="afterEffect">
                                  <p:stCondLst>
                                    <p:cond delay="0"/>
                                  </p:stCondLst>
                                  <p:childTnLst>
                                    <p:set>
                                      <p:cBhvr>
                                        <p:cTn id="15" dur="1" fill="hold">
                                          <p:stCondLst>
                                            <p:cond delay="0"/>
                                          </p:stCondLst>
                                        </p:cTn>
                                        <p:tgtEl>
                                          <p:spTgt spid="1131523"/>
                                        </p:tgtEl>
                                        <p:attrNameLst>
                                          <p:attrName>style.visibility</p:attrName>
                                        </p:attrNameLst>
                                      </p:cBhvr>
                                      <p:to>
                                        <p:strVal val="visible"/>
                                      </p:to>
                                    </p:set>
                                    <p:anim calcmode="lin" valueType="num">
                                      <p:cBhvr additive="base">
                                        <p:cTn id="16" dur="500" fill="hold"/>
                                        <p:tgtEl>
                                          <p:spTgt spid="1131523"/>
                                        </p:tgtEl>
                                        <p:attrNameLst>
                                          <p:attrName>ppt_x</p:attrName>
                                        </p:attrNameLst>
                                      </p:cBhvr>
                                      <p:tavLst>
                                        <p:tav tm="0">
                                          <p:val>
                                            <p:strVal val="0-#ppt_w/2"/>
                                          </p:val>
                                        </p:tav>
                                        <p:tav tm="100000">
                                          <p:val>
                                            <p:strVal val="#ppt_x"/>
                                          </p:val>
                                        </p:tav>
                                      </p:tavLst>
                                    </p:anim>
                                    <p:anim calcmode="lin" valueType="num">
                                      <p:cBhvr additive="base">
                                        <p:cTn id="17" dur="500" fill="hold"/>
                                        <p:tgtEl>
                                          <p:spTgt spid="1131523"/>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131526"/>
                                        </p:tgtEl>
                                        <p:attrNameLst>
                                          <p:attrName>style.visibility</p:attrName>
                                        </p:attrNameLst>
                                      </p:cBhvr>
                                      <p:to>
                                        <p:strVal val="visible"/>
                                      </p:to>
                                    </p:set>
                                    <p:anim calcmode="lin" valueType="num">
                                      <p:cBhvr additive="base">
                                        <p:cTn id="22" dur="500" fill="hold"/>
                                        <p:tgtEl>
                                          <p:spTgt spid="1131526"/>
                                        </p:tgtEl>
                                        <p:attrNameLst>
                                          <p:attrName>ppt_x</p:attrName>
                                        </p:attrNameLst>
                                      </p:cBhvr>
                                      <p:tavLst>
                                        <p:tav tm="0">
                                          <p:val>
                                            <p:strVal val="0-#ppt_w/2"/>
                                          </p:val>
                                        </p:tav>
                                        <p:tav tm="100000">
                                          <p:val>
                                            <p:strVal val="#ppt_x"/>
                                          </p:val>
                                        </p:tav>
                                      </p:tavLst>
                                    </p:anim>
                                    <p:anim calcmode="lin" valueType="num">
                                      <p:cBhvr additive="base">
                                        <p:cTn id="23" dur="500" fill="hold"/>
                                        <p:tgtEl>
                                          <p:spTgt spid="11315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1522" grpId="0" animBg="1" autoUpdateAnimBg="0"/>
      <p:bldP spid="1131523" grpId="0" animBg="1" autoUpdateAnimBg="0"/>
      <p:bldP spid="1131525" grpId="0" animBg="1"/>
      <p:bldP spid="1131526"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3570" name="Rectangle 2"/>
          <p:cNvSpPr>
            <a:spLocks noChangeArrowheads="1"/>
          </p:cNvSpPr>
          <p:nvPr/>
        </p:nvSpPr>
        <p:spPr bwMode="auto">
          <a:xfrm>
            <a:off x="0" y="1412875"/>
            <a:ext cx="3794125" cy="1728788"/>
          </a:xfrm>
          <a:prstGeom prst="rect">
            <a:avLst/>
          </a:prstGeom>
          <a:gradFill rotWithShape="0">
            <a:gsLst>
              <a:gs pos="0">
                <a:srgbClr val="FFCC99"/>
              </a:gs>
              <a:gs pos="100000">
                <a:srgbClr val="FFCC99">
                  <a:gamma/>
                  <a:tint val="63529"/>
                  <a:invGamma/>
                </a:srgbClr>
              </a:gs>
            </a:gsLst>
            <a:path path="shape">
              <a:fillToRect l="50000" t="50000" r="50000" b="50000"/>
            </a:path>
          </a:gradFill>
          <a:ln w="9525">
            <a:solidFill>
              <a:srgbClr val="800000"/>
            </a:solidFill>
            <a:miter lim="800000"/>
            <a:headEnd/>
            <a:tailEnd/>
          </a:ln>
          <a:effectLst/>
        </p:spPr>
        <p:txBody>
          <a:bodyPr lIns="92075" tIns="46038" rIns="92075" bIns="46038" anchor="ctr"/>
          <a:lstStyle/>
          <a:p>
            <a:pPr algn="l">
              <a:lnSpc>
                <a:spcPct val="85000"/>
              </a:lnSpc>
              <a:spcAft>
                <a:spcPct val="15000"/>
              </a:spcAft>
              <a:defRPr/>
            </a:pPr>
            <a:r>
              <a:rPr kumimoji="0" lang="zh-CN" altLang="en-US" sz="2800" u="sng">
                <a:solidFill>
                  <a:srgbClr val="003366"/>
                </a:solidFill>
                <a:effectLst>
                  <a:outerShdw blurRad="38100" dist="38100" dir="2700000" algn="tl">
                    <a:srgbClr val="000000"/>
                  </a:outerShdw>
                </a:effectLst>
                <a:latin typeface="Arial" pitchFamily="34" charset="0"/>
                <a:ea typeface="宋体" pitchFamily="2" charset="-122"/>
              </a:rPr>
              <a:t>定义</a:t>
            </a:r>
          </a:p>
          <a:p>
            <a:pPr algn="l">
              <a:lnSpc>
                <a:spcPct val="85000"/>
              </a:lnSpc>
              <a:spcAft>
                <a:spcPct val="15000"/>
              </a:spcAft>
              <a:defRPr/>
            </a:pPr>
            <a:endParaRPr kumimoji="0" lang="zh-CN" altLang="en-US" sz="2800" u="sng">
              <a:solidFill>
                <a:srgbClr val="003366"/>
              </a:solidFill>
              <a:effectLst>
                <a:outerShdw blurRad="38100" dist="38100" dir="2700000" algn="tl">
                  <a:srgbClr val="000000"/>
                </a:outerShdw>
              </a:effectLst>
              <a:latin typeface="Arial" pitchFamily="34" charset="0"/>
              <a:ea typeface="宋体" pitchFamily="2" charset="-122"/>
            </a:endParaRPr>
          </a:p>
          <a:p>
            <a:pPr algn="l">
              <a:lnSpc>
                <a:spcPct val="85000"/>
              </a:lnSpc>
              <a:buSzPct val="80000"/>
              <a:defRPr/>
            </a:pPr>
            <a:r>
              <a:rPr kumimoji="0" lang="zh-CN" altLang="en-US" sz="2400">
                <a:solidFill>
                  <a:srgbClr val="003366"/>
                </a:solidFill>
                <a:latin typeface="Arial" pitchFamily="34" charset="0"/>
                <a:ea typeface="宋体" pitchFamily="2" charset="-122"/>
              </a:rPr>
              <a:t>在公司的供应方面取得所有权或增加控制</a:t>
            </a:r>
          </a:p>
        </p:txBody>
      </p:sp>
      <p:sp>
        <p:nvSpPr>
          <p:cNvPr id="1133571" name="Rectangle 3"/>
          <p:cNvSpPr>
            <a:spLocks noChangeArrowheads="1"/>
          </p:cNvSpPr>
          <p:nvPr/>
        </p:nvSpPr>
        <p:spPr bwMode="auto">
          <a:xfrm>
            <a:off x="5518150" y="1443038"/>
            <a:ext cx="3625850" cy="1676400"/>
          </a:xfrm>
          <a:prstGeom prst="rect">
            <a:avLst/>
          </a:prstGeom>
          <a:gradFill rotWithShape="0">
            <a:gsLst>
              <a:gs pos="0">
                <a:srgbClr val="FFCC99"/>
              </a:gs>
              <a:gs pos="100000">
                <a:srgbClr val="FFE9D4"/>
              </a:gs>
            </a:gsLst>
            <a:path path="shape">
              <a:fillToRect l="50000" t="50000" r="50000" b="50000"/>
            </a:path>
          </a:gradFill>
          <a:ln w="9525">
            <a:solidFill>
              <a:srgbClr val="800000"/>
            </a:solidFill>
            <a:miter lim="800000"/>
            <a:headEnd/>
            <a:tailEnd/>
          </a:ln>
        </p:spPr>
        <p:txBody>
          <a:bodyPr lIns="92075" tIns="46038" rIns="92075" bIns="46038" anchor="ctr" anchorCtr="1"/>
          <a:lstStyle/>
          <a:p>
            <a:pPr algn="l">
              <a:lnSpc>
                <a:spcPct val="85000"/>
              </a:lnSpc>
              <a:spcAft>
                <a:spcPct val="15000"/>
              </a:spcAft>
            </a:pPr>
            <a:r>
              <a:rPr kumimoji="0" lang="zh-CN" altLang="en-US" sz="2800" u="sng">
                <a:solidFill>
                  <a:srgbClr val="003366"/>
                </a:solidFill>
                <a:latin typeface="Arial" pitchFamily="34" charset="0"/>
                <a:ea typeface="宋体" pitchFamily="2" charset="-122"/>
              </a:rPr>
              <a:t>例子</a:t>
            </a:r>
          </a:p>
          <a:p>
            <a:pPr algn="l">
              <a:lnSpc>
                <a:spcPct val="85000"/>
              </a:lnSpc>
              <a:spcAft>
                <a:spcPct val="15000"/>
              </a:spcAft>
            </a:pPr>
            <a:endParaRPr kumimoji="0" lang="zh-CN" altLang="en-US" sz="2800" u="sng">
              <a:solidFill>
                <a:srgbClr val="003366"/>
              </a:solidFill>
              <a:latin typeface="Arial" pitchFamily="34" charset="0"/>
              <a:ea typeface="宋体" pitchFamily="2" charset="-122"/>
            </a:endParaRPr>
          </a:p>
          <a:p>
            <a:pPr algn="l">
              <a:lnSpc>
                <a:spcPct val="85000"/>
              </a:lnSpc>
              <a:spcAft>
                <a:spcPct val="15000"/>
              </a:spcAft>
            </a:pPr>
            <a:r>
              <a:rPr kumimoji="0" lang="zh-CN" altLang="en-US" sz="2400">
                <a:solidFill>
                  <a:srgbClr val="003366"/>
                </a:solidFill>
                <a:latin typeface="Arial" pitchFamily="34" charset="0"/>
                <a:ea typeface="宋体" pitchFamily="2" charset="-122"/>
              </a:rPr>
              <a:t>汽车厂与橡胶厂进行联合</a:t>
            </a:r>
          </a:p>
          <a:p>
            <a:pPr algn="l">
              <a:lnSpc>
                <a:spcPct val="85000"/>
              </a:lnSpc>
              <a:buSzPct val="80000"/>
            </a:pPr>
            <a:endParaRPr kumimoji="0" lang="en-US" altLang="zh-CN" sz="2800" b="1">
              <a:solidFill>
                <a:srgbClr val="003366"/>
              </a:solidFill>
              <a:latin typeface="Arial" pitchFamily="34" charset="0"/>
              <a:ea typeface="宋体" pitchFamily="2" charset="-122"/>
            </a:endParaRPr>
          </a:p>
        </p:txBody>
      </p:sp>
      <p:sp>
        <p:nvSpPr>
          <p:cNvPr id="25604" name="Rectangle 4"/>
          <p:cNvSpPr>
            <a:spLocks noGrp="1" noChangeArrowheads="1"/>
          </p:cNvSpPr>
          <p:nvPr>
            <p:ph type="title"/>
          </p:nvPr>
        </p:nvSpPr>
        <p:spPr>
          <a:xfrm>
            <a:off x="1187450" y="188913"/>
            <a:ext cx="6718300" cy="838200"/>
          </a:xfrm>
          <a:noFill/>
        </p:spPr>
        <p:txBody>
          <a:bodyPr/>
          <a:lstStyle/>
          <a:p>
            <a:r>
              <a:rPr lang="zh-CN" altLang="en-AU" dirty="0">
                <a:solidFill>
                  <a:srgbClr val="FFFF66"/>
                </a:solidFill>
              </a:rPr>
              <a:t>后向一体化</a:t>
            </a:r>
          </a:p>
        </p:txBody>
      </p:sp>
      <p:sp>
        <p:nvSpPr>
          <p:cNvPr id="1133573" name="Line 5"/>
          <p:cNvSpPr>
            <a:spLocks noChangeShapeType="1"/>
          </p:cNvSpPr>
          <p:nvPr/>
        </p:nvSpPr>
        <p:spPr bwMode="auto">
          <a:xfrm>
            <a:off x="3779838" y="2349500"/>
            <a:ext cx="1655762" cy="0"/>
          </a:xfrm>
          <a:prstGeom prst="line">
            <a:avLst/>
          </a:prstGeom>
          <a:noFill/>
          <a:ln w="76200">
            <a:solidFill>
              <a:srgbClr val="993300"/>
            </a:solidFill>
            <a:round/>
            <a:headEnd type="none" w="sm" len="sm"/>
            <a:tailEnd type="stealth" w="med" len="med"/>
          </a:ln>
        </p:spPr>
        <p:txBody>
          <a:bodyPr/>
          <a:lstStyle/>
          <a:p>
            <a:endParaRPr lang="zh-CN" altLang="en-US"/>
          </a:p>
        </p:txBody>
      </p:sp>
      <p:sp>
        <p:nvSpPr>
          <p:cNvPr id="1133574" name="Rectangle 6"/>
          <p:cNvSpPr>
            <a:spLocks noChangeArrowheads="1"/>
          </p:cNvSpPr>
          <p:nvPr/>
        </p:nvSpPr>
        <p:spPr bwMode="auto">
          <a:xfrm>
            <a:off x="250825" y="3573463"/>
            <a:ext cx="7583488" cy="2105025"/>
          </a:xfrm>
          <a:prstGeom prst="rect">
            <a:avLst/>
          </a:prstGeom>
          <a:solidFill>
            <a:srgbClr val="DBCBC7"/>
          </a:solidFill>
          <a:ln w="12700">
            <a:solidFill>
              <a:srgbClr val="800000"/>
            </a:solidFill>
            <a:miter lim="800000"/>
            <a:headEnd/>
            <a:tailEnd/>
          </a:ln>
        </p:spPr>
        <p:txBody>
          <a:bodyPr lIns="92075" tIns="46038" rIns="92075" bIns="46038"/>
          <a:lstStyle/>
          <a:p>
            <a:pPr marL="342900" indent="-342900" algn="l">
              <a:lnSpc>
                <a:spcPct val="85000"/>
              </a:lnSpc>
              <a:spcBef>
                <a:spcPct val="15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现有的供应商费用高、不可靠，不能满足公司的需求</a:t>
            </a:r>
          </a:p>
          <a:p>
            <a:pPr marL="342900" indent="-342900" algn="l">
              <a:lnSpc>
                <a:spcPct val="85000"/>
              </a:lnSpc>
              <a:spcBef>
                <a:spcPct val="15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供应商的数目少，竞争者的数目多</a:t>
            </a:r>
          </a:p>
          <a:p>
            <a:pPr marL="342900" indent="-342900" algn="l">
              <a:lnSpc>
                <a:spcPct val="85000"/>
              </a:lnSpc>
              <a:spcBef>
                <a:spcPct val="15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行业的某个部分高速度增长</a:t>
            </a:r>
          </a:p>
          <a:p>
            <a:pPr marL="342900" indent="-342900" algn="l">
              <a:lnSpc>
                <a:spcPct val="85000"/>
              </a:lnSpc>
              <a:spcBef>
                <a:spcPct val="15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公司具有足够的资本和人力资源来管理新的企业</a:t>
            </a:r>
          </a:p>
          <a:p>
            <a:pPr marL="342900" indent="-342900" algn="l">
              <a:lnSpc>
                <a:spcPct val="85000"/>
              </a:lnSpc>
              <a:spcBef>
                <a:spcPct val="15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现有供应商具有很高的边际收益</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33570"/>
                                        </p:tgtEl>
                                        <p:attrNameLst>
                                          <p:attrName>style.visibility</p:attrName>
                                        </p:attrNameLst>
                                      </p:cBhvr>
                                      <p:to>
                                        <p:strVal val="visible"/>
                                      </p:to>
                                    </p:set>
                                    <p:anim calcmode="lin" valueType="num">
                                      <p:cBhvr additive="base">
                                        <p:cTn id="7" dur="500" fill="hold"/>
                                        <p:tgtEl>
                                          <p:spTgt spid="1133570"/>
                                        </p:tgtEl>
                                        <p:attrNameLst>
                                          <p:attrName>ppt_x</p:attrName>
                                        </p:attrNameLst>
                                      </p:cBhvr>
                                      <p:tavLst>
                                        <p:tav tm="0">
                                          <p:val>
                                            <p:strVal val="0-#ppt_w/2"/>
                                          </p:val>
                                        </p:tav>
                                        <p:tav tm="100000">
                                          <p:val>
                                            <p:strVal val="#ppt_x"/>
                                          </p:val>
                                        </p:tav>
                                      </p:tavLst>
                                    </p:anim>
                                    <p:anim calcmode="lin" valueType="num">
                                      <p:cBhvr additive="base">
                                        <p:cTn id="8" dur="500" fill="hold"/>
                                        <p:tgtEl>
                                          <p:spTgt spid="11335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133573"/>
                                        </p:tgtEl>
                                        <p:attrNameLst>
                                          <p:attrName>style.visibility</p:attrName>
                                        </p:attrNameLst>
                                      </p:cBhvr>
                                      <p:to>
                                        <p:strVal val="visible"/>
                                      </p:to>
                                    </p:set>
                                  </p:childTnLst>
                                </p:cTn>
                              </p:par>
                            </p:childTnLst>
                          </p:cTn>
                        </p:par>
                        <p:par>
                          <p:cTn id="13" fill="hold">
                            <p:stCondLst>
                              <p:cond delay="500"/>
                            </p:stCondLst>
                            <p:childTnLst>
                              <p:par>
                                <p:cTn id="14" presetID="2" presetClass="entr" presetSubtype="8" fill="hold" grpId="0" nodeType="afterEffect">
                                  <p:stCondLst>
                                    <p:cond delay="0"/>
                                  </p:stCondLst>
                                  <p:childTnLst>
                                    <p:set>
                                      <p:cBhvr>
                                        <p:cTn id="15" dur="1" fill="hold">
                                          <p:stCondLst>
                                            <p:cond delay="0"/>
                                          </p:stCondLst>
                                        </p:cTn>
                                        <p:tgtEl>
                                          <p:spTgt spid="1133571"/>
                                        </p:tgtEl>
                                        <p:attrNameLst>
                                          <p:attrName>style.visibility</p:attrName>
                                        </p:attrNameLst>
                                      </p:cBhvr>
                                      <p:to>
                                        <p:strVal val="visible"/>
                                      </p:to>
                                    </p:set>
                                    <p:anim calcmode="lin" valueType="num">
                                      <p:cBhvr additive="base">
                                        <p:cTn id="16" dur="500" fill="hold"/>
                                        <p:tgtEl>
                                          <p:spTgt spid="1133571"/>
                                        </p:tgtEl>
                                        <p:attrNameLst>
                                          <p:attrName>ppt_x</p:attrName>
                                        </p:attrNameLst>
                                      </p:cBhvr>
                                      <p:tavLst>
                                        <p:tav tm="0">
                                          <p:val>
                                            <p:strVal val="0-#ppt_w/2"/>
                                          </p:val>
                                        </p:tav>
                                        <p:tav tm="100000">
                                          <p:val>
                                            <p:strVal val="#ppt_x"/>
                                          </p:val>
                                        </p:tav>
                                      </p:tavLst>
                                    </p:anim>
                                    <p:anim calcmode="lin" valueType="num">
                                      <p:cBhvr additive="base">
                                        <p:cTn id="17" dur="500" fill="hold"/>
                                        <p:tgtEl>
                                          <p:spTgt spid="1133571"/>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133574"/>
                                        </p:tgtEl>
                                        <p:attrNameLst>
                                          <p:attrName>style.visibility</p:attrName>
                                        </p:attrNameLst>
                                      </p:cBhvr>
                                      <p:to>
                                        <p:strVal val="visible"/>
                                      </p:to>
                                    </p:set>
                                    <p:anim calcmode="lin" valueType="num">
                                      <p:cBhvr additive="base">
                                        <p:cTn id="22" dur="500" fill="hold"/>
                                        <p:tgtEl>
                                          <p:spTgt spid="1133574"/>
                                        </p:tgtEl>
                                        <p:attrNameLst>
                                          <p:attrName>ppt_x</p:attrName>
                                        </p:attrNameLst>
                                      </p:cBhvr>
                                      <p:tavLst>
                                        <p:tav tm="0">
                                          <p:val>
                                            <p:strVal val="0-#ppt_w/2"/>
                                          </p:val>
                                        </p:tav>
                                        <p:tav tm="100000">
                                          <p:val>
                                            <p:strVal val="#ppt_x"/>
                                          </p:val>
                                        </p:tav>
                                      </p:tavLst>
                                    </p:anim>
                                    <p:anim calcmode="lin" valueType="num">
                                      <p:cBhvr additive="base">
                                        <p:cTn id="23" dur="500" fill="hold"/>
                                        <p:tgtEl>
                                          <p:spTgt spid="11335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3570" grpId="0" animBg="1" autoUpdateAnimBg="0"/>
      <p:bldP spid="1133571" grpId="0" animBg="1" autoUpdateAnimBg="0"/>
      <p:bldP spid="1133573" grpId="0" animBg="1"/>
      <p:bldP spid="1133574"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1835150" y="228600"/>
            <a:ext cx="7058025" cy="838200"/>
          </a:xfrm>
          <a:prstGeom prst="rect">
            <a:avLst/>
          </a:prstGeom>
          <a:noFill/>
          <a:ln w="9525">
            <a:noFill/>
            <a:miter lim="800000"/>
            <a:headEnd/>
            <a:tailEnd/>
          </a:ln>
        </p:spPr>
        <p:txBody>
          <a:bodyPr anchor="ctr"/>
          <a:lstStyle/>
          <a:p>
            <a:r>
              <a:rPr lang="zh-CN" altLang="en-AU" sz="3600" dirty="0">
                <a:solidFill>
                  <a:srgbClr val="FFFF66"/>
                </a:solidFill>
                <a:latin typeface="Arial" pitchFamily="34" charset="0"/>
                <a:ea typeface="宋体" pitchFamily="2" charset="-122"/>
              </a:rPr>
              <a:t>企业纵向一体化战略的优势</a:t>
            </a:r>
          </a:p>
        </p:txBody>
      </p:sp>
      <p:sp>
        <p:nvSpPr>
          <p:cNvPr id="1346563" name="Rectangle 3"/>
          <p:cNvSpPr>
            <a:spLocks noChangeArrowheads="1"/>
          </p:cNvSpPr>
          <p:nvPr/>
        </p:nvSpPr>
        <p:spPr bwMode="auto">
          <a:xfrm>
            <a:off x="250825" y="1557338"/>
            <a:ext cx="8686800" cy="5486400"/>
          </a:xfrm>
          <a:prstGeom prst="rect">
            <a:avLst/>
          </a:prstGeom>
          <a:noFill/>
          <a:ln w="12700">
            <a:noFill/>
            <a:miter lim="800000"/>
            <a:headEnd/>
            <a:tailEnd/>
          </a:ln>
        </p:spPr>
        <p:txBody>
          <a:bodyPr lIns="92075" tIns="46038" rIns="92075" bIns="46038"/>
          <a:lstStyle/>
          <a:p>
            <a:pPr marL="342900" indent="-342900">
              <a:lnSpc>
                <a:spcPct val="105000"/>
              </a:lnSpc>
              <a:spcBef>
                <a:spcPct val="20000"/>
              </a:spcBef>
              <a:buClr>
                <a:schemeClr val="bg1"/>
              </a:buClr>
              <a:buFont typeface="Wingdings" pitchFamily="2" charset="2"/>
              <a:buChar char="l"/>
            </a:pPr>
            <a:r>
              <a:rPr kumimoji="0" lang="zh-CN" altLang="en-US" sz="2800" dirty="0">
                <a:latin typeface="Arial" pitchFamily="34" charset="0"/>
                <a:ea typeface="宋体" pitchFamily="2" charset="-122"/>
              </a:rPr>
              <a:t>后向一体化战略可以使企业对原材料具有更大的控制权</a:t>
            </a:r>
          </a:p>
          <a:p>
            <a:pPr marL="342900" indent="-342900">
              <a:lnSpc>
                <a:spcPct val="105000"/>
              </a:lnSpc>
              <a:spcBef>
                <a:spcPct val="20000"/>
              </a:spcBef>
              <a:buClr>
                <a:schemeClr val="bg1"/>
              </a:buClr>
              <a:buFont typeface="Wingdings" pitchFamily="2" charset="2"/>
              <a:buChar char="l"/>
            </a:pPr>
            <a:r>
              <a:rPr kumimoji="0" lang="zh-CN" altLang="en-US" sz="2800" dirty="0">
                <a:latin typeface="Arial" pitchFamily="34" charset="0"/>
                <a:ea typeface="宋体" pitchFamily="2" charset="-122"/>
              </a:rPr>
              <a:t>如果原材料行业利润较多，企业可以通过后向一体化将成本转化为利润</a:t>
            </a:r>
          </a:p>
          <a:p>
            <a:pPr marL="342900" indent="-342900">
              <a:lnSpc>
                <a:spcPct val="105000"/>
              </a:lnSpc>
              <a:spcBef>
                <a:spcPct val="20000"/>
              </a:spcBef>
              <a:buClr>
                <a:schemeClr val="bg1"/>
              </a:buClr>
              <a:buFont typeface="Wingdings" pitchFamily="2" charset="2"/>
              <a:buChar char="l"/>
            </a:pPr>
            <a:r>
              <a:rPr kumimoji="0" lang="zh-CN" altLang="en-US" sz="2800" dirty="0">
                <a:latin typeface="Arial" pitchFamily="34" charset="0"/>
                <a:ea typeface="宋体" pitchFamily="2" charset="-122"/>
              </a:rPr>
              <a:t>前向一体化战略可使企业能够控制销售和分配渠道</a:t>
            </a:r>
          </a:p>
          <a:p>
            <a:pPr marL="342900" indent="-342900">
              <a:lnSpc>
                <a:spcPct val="105000"/>
              </a:lnSpc>
              <a:spcBef>
                <a:spcPct val="20000"/>
              </a:spcBef>
              <a:buClr>
                <a:schemeClr val="bg1"/>
              </a:buClr>
              <a:buFont typeface="Wingdings" pitchFamily="2" charset="2"/>
              <a:buChar char="l"/>
            </a:pPr>
            <a:r>
              <a:rPr kumimoji="0" lang="zh-CN" altLang="en-US" sz="2800" dirty="0">
                <a:latin typeface="Arial" pitchFamily="34" charset="0"/>
                <a:ea typeface="宋体" pitchFamily="2" charset="-122"/>
              </a:rPr>
              <a:t>当企业的经销商具有很大利润时，企业可以通过前向一体化战略增加自己的利润</a:t>
            </a:r>
          </a:p>
          <a:p>
            <a:pPr marL="342900" indent="-342900" algn="l">
              <a:lnSpc>
                <a:spcPct val="105000"/>
              </a:lnSpc>
              <a:spcBef>
                <a:spcPct val="20000"/>
              </a:spcBef>
              <a:buClr>
                <a:schemeClr val="bg1"/>
              </a:buClr>
              <a:buFont typeface="Wingdings" pitchFamily="2" charset="2"/>
              <a:buChar char="l"/>
            </a:pPr>
            <a:r>
              <a:rPr kumimoji="0" lang="zh-CN" altLang="en-US" sz="2800" dirty="0">
                <a:latin typeface="Arial" pitchFamily="34" charset="0"/>
                <a:ea typeface="宋体" pitchFamily="2" charset="-122"/>
              </a:rPr>
              <a:t>企业可以通过纵向一体化实现垄断</a:t>
            </a:r>
          </a:p>
          <a:p>
            <a:pPr marL="342900" indent="-342900" algn="l">
              <a:lnSpc>
                <a:spcPct val="105000"/>
              </a:lnSpc>
              <a:spcBef>
                <a:spcPct val="20000"/>
              </a:spcBef>
              <a:buClr>
                <a:schemeClr val="tx1"/>
              </a:buClr>
              <a:buFont typeface="Wingdings" pitchFamily="2" charset="2"/>
              <a:buNone/>
            </a:pPr>
            <a:endParaRPr kumimoji="0" lang="en-US" altLang="zh-CN" sz="2800" dirty="0">
              <a:solidFill>
                <a:srgbClr val="000066"/>
              </a:solidFill>
              <a:latin typeface="Arial" pitchFamily="34" charset="0"/>
              <a:ea typeface="宋体" pitchFamily="2" charset="-122"/>
            </a:endParaRPr>
          </a:p>
        </p:txBody>
      </p:sp>
    </p:spTree>
  </p:cSld>
  <p:clrMapOvr>
    <a:masterClrMapping/>
  </p:clrMapOvr>
  <p:transition advTm="15456"/>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46563"/>
                                        </p:tgtEl>
                                        <p:attrNameLst>
                                          <p:attrName>style.visibility</p:attrName>
                                        </p:attrNameLst>
                                      </p:cBhvr>
                                      <p:to>
                                        <p:strVal val="visible"/>
                                      </p:to>
                                    </p:set>
                                    <p:anim calcmode="lin" valueType="num">
                                      <p:cBhvr additive="base">
                                        <p:cTn id="7" dur="500" fill="hold"/>
                                        <p:tgtEl>
                                          <p:spTgt spid="1346563"/>
                                        </p:tgtEl>
                                        <p:attrNameLst>
                                          <p:attrName>ppt_x</p:attrName>
                                        </p:attrNameLst>
                                      </p:cBhvr>
                                      <p:tavLst>
                                        <p:tav tm="0">
                                          <p:val>
                                            <p:strVal val="0-#ppt_w/2"/>
                                          </p:val>
                                        </p:tav>
                                        <p:tav tm="100000">
                                          <p:val>
                                            <p:strVal val="#ppt_x"/>
                                          </p:val>
                                        </p:tav>
                                      </p:tavLst>
                                    </p:anim>
                                    <p:anim calcmode="lin" valueType="num">
                                      <p:cBhvr additive="base">
                                        <p:cTn id="8" dur="500" fill="hold"/>
                                        <p:tgtEl>
                                          <p:spTgt spid="13465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656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1979613" y="228600"/>
            <a:ext cx="6913562" cy="838200"/>
          </a:xfrm>
          <a:prstGeom prst="rect">
            <a:avLst/>
          </a:prstGeom>
          <a:noFill/>
          <a:ln w="9525">
            <a:noFill/>
            <a:miter lim="800000"/>
            <a:headEnd/>
            <a:tailEnd/>
          </a:ln>
        </p:spPr>
        <p:txBody>
          <a:bodyPr anchor="ctr"/>
          <a:lstStyle/>
          <a:p>
            <a:r>
              <a:rPr lang="zh-CN" altLang="en-AU" sz="3200" dirty="0">
                <a:solidFill>
                  <a:srgbClr val="FFFF66"/>
                </a:solidFill>
                <a:latin typeface="Arial" pitchFamily="34" charset="0"/>
                <a:ea typeface="宋体" pitchFamily="2" charset="-122"/>
              </a:rPr>
              <a:t>企业纵向一体化战略的劣势</a:t>
            </a:r>
          </a:p>
        </p:txBody>
      </p:sp>
      <p:sp>
        <p:nvSpPr>
          <p:cNvPr id="1376259" name="Rectangle 3"/>
          <p:cNvSpPr>
            <a:spLocks noChangeArrowheads="1"/>
          </p:cNvSpPr>
          <p:nvPr/>
        </p:nvSpPr>
        <p:spPr bwMode="auto">
          <a:xfrm>
            <a:off x="250825" y="1628775"/>
            <a:ext cx="8686800" cy="4105275"/>
          </a:xfrm>
          <a:prstGeom prst="rect">
            <a:avLst/>
          </a:prstGeom>
          <a:noFill/>
          <a:ln w="12700">
            <a:noFill/>
            <a:miter lim="800000"/>
            <a:headEnd/>
            <a:tailEnd/>
          </a:ln>
        </p:spPr>
        <p:txBody>
          <a:bodyPr lIns="92075" tIns="46038" rIns="92075" bIns="46038"/>
          <a:lstStyle/>
          <a:p>
            <a:pPr marL="342900" indent="-342900" algn="l">
              <a:lnSpc>
                <a:spcPct val="105000"/>
              </a:lnSpc>
              <a:spcBef>
                <a:spcPct val="20000"/>
              </a:spcBef>
              <a:buClr>
                <a:schemeClr val="bg1"/>
              </a:buClr>
              <a:buFont typeface="Wingdings" pitchFamily="2" charset="2"/>
              <a:buChar char="l"/>
            </a:pPr>
            <a:r>
              <a:rPr kumimoji="0" lang="zh-CN" altLang="en-US" sz="2800" dirty="0">
                <a:latin typeface="Arial" pitchFamily="34" charset="0"/>
                <a:ea typeface="宋体" pitchFamily="2" charset="-122"/>
              </a:rPr>
              <a:t>纵向一体化使企业范围和规模扩大，不宜掉头，提高企业的退出障碍</a:t>
            </a:r>
          </a:p>
          <a:p>
            <a:pPr marL="342900" indent="-342900" algn="l">
              <a:lnSpc>
                <a:spcPct val="105000"/>
              </a:lnSpc>
              <a:spcBef>
                <a:spcPct val="20000"/>
              </a:spcBef>
              <a:buClr>
                <a:schemeClr val="bg1"/>
              </a:buClr>
              <a:buFont typeface="Wingdings" pitchFamily="2" charset="2"/>
              <a:buChar char="l"/>
            </a:pPr>
            <a:r>
              <a:rPr kumimoji="0" lang="zh-CN" altLang="en-US" sz="2800" dirty="0">
                <a:latin typeface="Arial" pitchFamily="34" charset="0"/>
                <a:ea typeface="宋体" pitchFamily="2" charset="-122"/>
              </a:rPr>
              <a:t>企业经营范围扩大，带来管理上的复杂化</a:t>
            </a:r>
          </a:p>
          <a:p>
            <a:pPr marL="342900" indent="-342900">
              <a:lnSpc>
                <a:spcPct val="105000"/>
              </a:lnSpc>
              <a:spcBef>
                <a:spcPct val="20000"/>
              </a:spcBef>
              <a:buClr>
                <a:schemeClr val="bg1"/>
              </a:buClr>
              <a:buFont typeface="Wingdings" pitchFamily="2" charset="2"/>
              <a:buChar char="l"/>
            </a:pPr>
            <a:r>
              <a:rPr kumimoji="0" lang="zh-CN" altLang="en-US" sz="2800" dirty="0">
                <a:latin typeface="Arial" pitchFamily="34" charset="0"/>
                <a:ea typeface="宋体" pitchFamily="2" charset="-122"/>
              </a:rPr>
              <a:t>前向、后向产品的相互关联和相互牵制，不利于新技术和新产品的开发</a:t>
            </a:r>
          </a:p>
          <a:p>
            <a:pPr marL="342900" indent="-342900" algn="l">
              <a:lnSpc>
                <a:spcPct val="105000"/>
              </a:lnSpc>
              <a:spcBef>
                <a:spcPct val="20000"/>
              </a:spcBef>
              <a:buClr>
                <a:schemeClr val="bg1"/>
              </a:buClr>
              <a:buFont typeface="Wingdings" pitchFamily="2" charset="2"/>
              <a:buChar char="l"/>
            </a:pPr>
            <a:r>
              <a:rPr kumimoji="0" lang="zh-CN" altLang="en-US" sz="2800" dirty="0">
                <a:latin typeface="Arial" pitchFamily="34" charset="0"/>
                <a:ea typeface="宋体" pitchFamily="2" charset="-122"/>
              </a:rPr>
              <a:t>可能出现生产过程中各个阶段的生产能力不平衡问题</a:t>
            </a:r>
          </a:p>
          <a:p>
            <a:pPr marL="342900" indent="-342900" algn="l">
              <a:lnSpc>
                <a:spcPct val="105000"/>
              </a:lnSpc>
              <a:spcBef>
                <a:spcPct val="20000"/>
              </a:spcBef>
              <a:buClr>
                <a:schemeClr val="tx1"/>
              </a:buClr>
              <a:buFont typeface="Wingdings" pitchFamily="2" charset="2"/>
              <a:buNone/>
            </a:pPr>
            <a:endParaRPr kumimoji="0" lang="en-US" altLang="zh-CN" sz="2800" dirty="0">
              <a:solidFill>
                <a:schemeClr val="bg1"/>
              </a:solidFill>
              <a:latin typeface="Arial" pitchFamily="34" charset="0"/>
              <a:ea typeface="宋体" pitchFamily="2" charset="-122"/>
            </a:endParaRPr>
          </a:p>
        </p:txBody>
      </p:sp>
    </p:spTree>
  </p:cSld>
  <p:clrMapOvr>
    <a:masterClrMapping/>
  </p:clrMapOvr>
  <p:transition advTm="15456"/>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76259"/>
                                        </p:tgtEl>
                                        <p:attrNameLst>
                                          <p:attrName>style.visibility</p:attrName>
                                        </p:attrNameLst>
                                      </p:cBhvr>
                                      <p:to>
                                        <p:strVal val="visible"/>
                                      </p:to>
                                    </p:set>
                                    <p:anim calcmode="lin" valueType="num">
                                      <p:cBhvr additive="base">
                                        <p:cTn id="7" dur="500" fill="hold"/>
                                        <p:tgtEl>
                                          <p:spTgt spid="1376259"/>
                                        </p:tgtEl>
                                        <p:attrNameLst>
                                          <p:attrName>ppt_x</p:attrName>
                                        </p:attrNameLst>
                                      </p:cBhvr>
                                      <p:tavLst>
                                        <p:tav tm="0">
                                          <p:val>
                                            <p:strVal val="0-#ppt_w/2"/>
                                          </p:val>
                                        </p:tav>
                                        <p:tav tm="100000">
                                          <p:val>
                                            <p:strVal val="#ppt_x"/>
                                          </p:val>
                                        </p:tav>
                                      </p:tavLst>
                                    </p:anim>
                                    <p:anim calcmode="lin" valueType="num">
                                      <p:cBhvr additive="base">
                                        <p:cTn id="8" dur="500" fill="hold"/>
                                        <p:tgtEl>
                                          <p:spTgt spid="13762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625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在下述情况下采用前向一体化战略比较有效</a:t>
            </a:r>
          </a:p>
        </p:txBody>
      </p:sp>
      <p:sp>
        <p:nvSpPr>
          <p:cNvPr id="3" name="内容占位符 2"/>
          <p:cNvSpPr>
            <a:spLocks noGrp="1"/>
          </p:cNvSpPr>
          <p:nvPr>
            <p:ph idx="1"/>
          </p:nvPr>
        </p:nvSpPr>
        <p:spPr/>
        <p:txBody>
          <a:bodyPr/>
          <a:lstStyle/>
          <a:p>
            <a:r>
              <a:rPr lang="zh-CN" altLang="en-US" sz="2800" dirty="0"/>
              <a:t>企业现在利用的销售商或成本高昂或不可靠或不能满足企业的销售需要</a:t>
            </a:r>
            <a:endParaRPr lang="en-US" altLang="zh-CN" sz="2800" dirty="0"/>
          </a:p>
          <a:p>
            <a:r>
              <a:rPr lang="zh-CN" altLang="en-US" sz="2800" dirty="0"/>
              <a:t>可利用的高质量的销售商数量有限</a:t>
            </a:r>
            <a:endParaRPr lang="en-US" altLang="zh-CN" sz="2800" dirty="0"/>
          </a:p>
          <a:p>
            <a:r>
              <a:rPr lang="zh-CN" altLang="en-US" sz="2800" dirty="0"/>
              <a:t>企业具备销售自己产品所需的资金和人力资源</a:t>
            </a:r>
            <a:endParaRPr lang="en-US" altLang="zh-CN" sz="2800" dirty="0"/>
          </a:p>
          <a:p>
            <a:r>
              <a:rPr lang="zh-CN" altLang="en-US" sz="2800" dirty="0"/>
              <a:t>当稳定的产品对企业十分重要时，通过前向一体化，企业可以更好地预见对自己产品的需求</a:t>
            </a:r>
            <a:endParaRPr lang="en-US" altLang="zh-CN" sz="2800" dirty="0"/>
          </a:p>
          <a:p>
            <a:r>
              <a:rPr lang="zh-CN" altLang="en-US" sz="2800" dirty="0"/>
              <a:t>现在利用的经销商或零售商有较高的额利润</a:t>
            </a:r>
            <a:endParaRPr lang="en-US" altLang="zh-CN" sz="2800" dirty="0"/>
          </a:p>
          <a:p>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在下述情况下采用后向一体化战略比较有效</a:t>
            </a:r>
          </a:p>
        </p:txBody>
      </p:sp>
      <p:sp>
        <p:nvSpPr>
          <p:cNvPr id="3" name="内容占位符 2"/>
          <p:cNvSpPr>
            <a:spLocks noGrp="1"/>
          </p:cNvSpPr>
          <p:nvPr>
            <p:ph idx="1"/>
          </p:nvPr>
        </p:nvSpPr>
        <p:spPr/>
        <p:txBody>
          <a:bodyPr>
            <a:normAutofit/>
          </a:bodyPr>
          <a:lstStyle/>
          <a:p>
            <a:r>
              <a:rPr lang="zh-CN" altLang="en-US" sz="2800" dirty="0"/>
              <a:t>企业现在利用的供应商或成本高或不可靠或不能满足企业对零件、部件、组装件或原材料的需要</a:t>
            </a:r>
            <a:endParaRPr lang="en-US" altLang="zh-CN" sz="2800" dirty="0"/>
          </a:p>
          <a:p>
            <a:r>
              <a:rPr lang="zh-CN" altLang="en-US" sz="2800" dirty="0"/>
              <a:t>供应商数量少，而需方多</a:t>
            </a:r>
            <a:endParaRPr lang="en-US" altLang="zh-CN" sz="2800" dirty="0"/>
          </a:p>
          <a:p>
            <a:r>
              <a:rPr lang="zh-CN" altLang="en-US" sz="2800" dirty="0"/>
              <a:t>企业具备自己生产原材料所需的资金和人力资源</a:t>
            </a:r>
            <a:endParaRPr lang="en-US" altLang="zh-CN" sz="2800" dirty="0"/>
          </a:p>
          <a:p>
            <a:r>
              <a:rPr lang="zh-CN" altLang="en-US" sz="2800" dirty="0"/>
              <a:t>当稳定的原材料价格与供应对企业十分重要时，通过后向一体化，企业可以保障原材料供给和成本，进而稳定产品的价格</a:t>
            </a:r>
            <a:endParaRPr lang="en-US" altLang="zh-CN" sz="2800" dirty="0"/>
          </a:p>
          <a:p>
            <a:r>
              <a:rPr lang="zh-CN" altLang="en-US" sz="2800" dirty="0"/>
              <a:t>供应商有较高的利润</a:t>
            </a:r>
            <a:endParaRPr lang="en-US" altLang="zh-CN" sz="2800" dirty="0"/>
          </a:p>
          <a:p>
            <a:r>
              <a:rPr lang="zh-CN" altLang="en-US" sz="2800" dirty="0"/>
              <a:t>企业需要尽快获取所需资源</a:t>
            </a:r>
            <a:endParaRPr lang="en-US" altLang="zh-CN" sz="2800" dirty="0"/>
          </a:p>
          <a:p>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5618" name="Rectangle 2"/>
          <p:cNvSpPr>
            <a:spLocks noChangeArrowheads="1"/>
          </p:cNvSpPr>
          <p:nvPr/>
        </p:nvSpPr>
        <p:spPr bwMode="auto">
          <a:xfrm>
            <a:off x="0" y="1441450"/>
            <a:ext cx="3794125" cy="1676400"/>
          </a:xfrm>
          <a:prstGeom prst="rect">
            <a:avLst/>
          </a:prstGeom>
          <a:gradFill rotWithShape="0">
            <a:gsLst>
              <a:gs pos="0">
                <a:srgbClr val="FFCC99"/>
              </a:gs>
              <a:gs pos="100000">
                <a:srgbClr val="FFCC99">
                  <a:gamma/>
                  <a:tint val="63529"/>
                  <a:invGamma/>
                </a:srgbClr>
              </a:gs>
            </a:gsLst>
            <a:path path="shape">
              <a:fillToRect l="50000" t="50000" r="50000" b="50000"/>
            </a:path>
          </a:gradFill>
          <a:ln w="9525">
            <a:solidFill>
              <a:srgbClr val="800000"/>
            </a:solidFill>
            <a:miter lim="800000"/>
            <a:headEnd/>
            <a:tailEnd/>
          </a:ln>
          <a:effectLst/>
        </p:spPr>
        <p:txBody>
          <a:bodyPr lIns="92075" tIns="46038" rIns="92075" bIns="46038" anchor="ctr"/>
          <a:lstStyle/>
          <a:p>
            <a:pPr algn="l">
              <a:lnSpc>
                <a:spcPct val="85000"/>
              </a:lnSpc>
              <a:spcAft>
                <a:spcPct val="15000"/>
              </a:spcAft>
              <a:defRPr/>
            </a:pPr>
            <a:r>
              <a:rPr kumimoji="0" lang="zh-CN" altLang="en-US" sz="2800" u="sng">
                <a:solidFill>
                  <a:srgbClr val="003366"/>
                </a:solidFill>
                <a:latin typeface="Arial" pitchFamily="34" charset="0"/>
                <a:ea typeface="宋体" pitchFamily="2" charset="-122"/>
              </a:rPr>
              <a:t>定义</a:t>
            </a:r>
          </a:p>
          <a:p>
            <a:pPr algn="l">
              <a:lnSpc>
                <a:spcPct val="85000"/>
              </a:lnSpc>
              <a:spcAft>
                <a:spcPct val="15000"/>
              </a:spcAft>
              <a:defRPr/>
            </a:pPr>
            <a:endParaRPr kumimoji="0" lang="zh-CN" altLang="en-US" sz="2800" b="1" u="sng">
              <a:solidFill>
                <a:srgbClr val="003366"/>
              </a:solidFill>
              <a:effectLst>
                <a:outerShdw blurRad="38100" dist="38100" dir="2700000" algn="tl">
                  <a:srgbClr val="000000"/>
                </a:outerShdw>
              </a:effectLst>
              <a:latin typeface="Arial" pitchFamily="34" charset="0"/>
              <a:ea typeface="宋体" pitchFamily="2" charset="-122"/>
            </a:endParaRPr>
          </a:p>
          <a:p>
            <a:pPr algn="l">
              <a:lnSpc>
                <a:spcPct val="85000"/>
              </a:lnSpc>
              <a:buSzPct val="80000"/>
              <a:defRPr/>
            </a:pPr>
            <a:r>
              <a:rPr kumimoji="0" lang="zh-CN" altLang="en-US" sz="2400">
                <a:solidFill>
                  <a:srgbClr val="003366"/>
                </a:solidFill>
                <a:latin typeface="Arial" pitchFamily="34" charset="0"/>
                <a:ea typeface="宋体" pitchFamily="2" charset="-122"/>
              </a:rPr>
              <a:t>拥有竞争者的所有权或增加对其的控制</a:t>
            </a:r>
          </a:p>
        </p:txBody>
      </p:sp>
      <p:sp>
        <p:nvSpPr>
          <p:cNvPr id="1135619" name="Rectangle 3"/>
          <p:cNvSpPr>
            <a:spLocks noChangeArrowheads="1"/>
          </p:cNvSpPr>
          <p:nvPr/>
        </p:nvSpPr>
        <p:spPr bwMode="auto">
          <a:xfrm>
            <a:off x="5076825" y="1441450"/>
            <a:ext cx="4067175" cy="1657350"/>
          </a:xfrm>
          <a:prstGeom prst="rect">
            <a:avLst/>
          </a:prstGeom>
          <a:gradFill rotWithShape="0">
            <a:gsLst>
              <a:gs pos="0">
                <a:srgbClr val="FFCC99"/>
              </a:gs>
              <a:gs pos="100000">
                <a:srgbClr val="FFE9D4"/>
              </a:gs>
            </a:gsLst>
            <a:path path="shape">
              <a:fillToRect l="50000" t="50000" r="50000" b="50000"/>
            </a:path>
          </a:gradFill>
          <a:ln w="9525">
            <a:solidFill>
              <a:srgbClr val="800000"/>
            </a:solidFill>
            <a:miter lim="800000"/>
            <a:headEnd/>
            <a:tailEnd/>
          </a:ln>
        </p:spPr>
        <p:txBody>
          <a:bodyPr lIns="92075" tIns="46038" rIns="92075" bIns="46038" anchor="ctr" anchorCtr="1"/>
          <a:lstStyle/>
          <a:p>
            <a:pPr algn="l">
              <a:lnSpc>
                <a:spcPct val="85000"/>
              </a:lnSpc>
              <a:spcAft>
                <a:spcPct val="15000"/>
              </a:spcAft>
            </a:pPr>
            <a:r>
              <a:rPr kumimoji="0" lang="zh-CN" altLang="en-US" sz="2800" u="sng">
                <a:solidFill>
                  <a:srgbClr val="003366"/>
                </a:solidFill>
                <a:latin typeface="Arial" pitchFamily="34" charset="0"/>
                <a:ea typeface="宋体" pitchFamily="2" charset="-122"/>
              </a:rPr>
              <a:t>例子</a:t>
            </a:r>
          </a:p>
          <a:p>
            <a:pPr algn="l">
              <a:lnSpc>
                <a:spcPct val="85000"/>
              </a:lnSpc>
              <a:buSzPct val="80000"/>
            </a:pPr>
            <a:r>
              <a:rPr kumimoji="0" lang="zh-CN" altLang="en-US" sz="2400">
                <a:solidFill>
                  <a:srgbClr val="003366"/>
                </a:solidFill>
                <a:latin typeface="Arial" pitchFamily="34" charset="0"/>
                <a:ea typeface="宋体" pitchFamily="2" charset="-122"/>
              </a:rPr>
              <a:t>海尔集团收购合肥黄山电子集团，为了扩大彩电的生产规模</a:t>
            </a:r>
          </a:p>
        </p:txBody>
      </p:sp>
      <p:sp>
        <p:nvSpPr>
          <p:cNvPr id="26628" name="Rectangle 4"/>
          <p:cNvSpPr>
            <a:spLocks noGrp="1" noChangeArrowheads="1"/>
          </p:cNvSpPr>
          <p:nvPr>
            <p:ph type="title"/>
          </p:nvPr>
        </p:nvSpPr>
        <p:spPr>
          <a:xfrm>
            <a:off x="2555875" y="188913"/>
            <a:ext cx="5349875" cy="838200"/>
          </a:xfrm>
          <a:noFill/>
        </p:spPr>
        <p:txBody>
          <a:bodyPr/>
          <a:lstStyle/>
          <a:p>
            <a:pPr eaLnBrk="1" hangingPunct="1"/>
            <a:r>
              <a:rPr lang="zh-CN" altLang="en-US" dirty="0">
                <a:solidFill>
                  <a:srgbClr val="FFFF66"/>
                </a:solidFill>
              </a:rPr>
              <a:t>横向</a:t>
            </a:r>
            <a:r>
              <a:rPr lang="zh-CN" altLang="en-AU" dirty="0">
                <a:solidFill>
                  <a:srgbClr val="FFFF66"/>
                </a:solidFill>
              </a:rPr>
              <a:t>一体化</a:t>
            </a:r>
          </a:p>
        </p:txBody>
      </p:sp>
      <p:sp>
        <p:nvSpPr>
          <p:cNvPr id="1135621" name="Line 5"/>
          <p:cNvSpPr>
            <a:spLocks noChangeShapeType="1"/>
          </p:cNvSpPr>
          <p:nvPr/>
        </p:nvSpPr>
        <p:spPr bwMode="auto">
          <a:xfrm>
            <a:off x="3779838" y="2349500"/>
            <a:ext cx="1133475" cy="0"/>
          </a:xfrm>
          <a:prstGeom prst="line">
            <a:avLst/>
          </a:prstGeom>
          <a:noFill/>
          <a:ln w="76200">
            <a:solidFill>
              <a:srgbClr val="993300"/>
            </a:solidFill>
            <a:round/>
            <a:headEnd type="none" w="sm" len="sm"/>
            <a:tailEnd type="stealth" w="med" len="med"/>
          </a:ln>
        </p:spPr>
        <p:txBody>
          <a:bodyPr/>
          <a:lstStyle/>
          <a:p>
            <a:endParaRPr lang="zh-CN" altLang="en-US"/>
          </a:p>
        </p:txBody>
      </p:sp>
      <p:sp>
        <p:nvSpPr>
          <p:cNvPr id="1135622" name="Rectangle 6"/>
          <p:cNvSpPr>
            <a:spLocks noChangeArrowheads="1"/>
          </p:cNvSpPr>
          <p:nvPr/>
        </p:nvSpPr>
        <p:spPr bwMode="auto">
          <a:xfrm>
            <a:off x="468313" y="3644900"/>
            <a:ext cx="6864350" cy="2160588"/>
          </a:xfrm>
          <a:prstGeom prst="rect">
            <a:avLst/>
          </a:prstGeom>
          <a:solidFill>
            <a:srgbClr val="DBCBC7"/>
          </a:solidFill>
          <a:ln w="12700">
            <a:solidFill>
              <a:srgbClr val="800000"/>
            </a:solidFill>
            <a:miter lim="800000"/>
            <a:headEnd/>
            <a:tailEnd/>
          </a:ln>
        </p:spPr>
        <p:txBody>
          <a:bodyPr lIns="92075" tIns="46038" rIns="92075" bIns="46038"/>
          <a:lstStyle/>
          <a:p>
            <a:pPr marL="342900" indent="-342900" algn="l">
              <a:lnSpc>
                <a:spcPct val="85000"/>
              </a:lnSpc>
              <a:spcBef>
                <a:spcPct val="60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在法律框架下，可以赢得行业的垄断</a:t>
            </a:r>
          </a:p>
          <a:p>
            <a:pPr marL="342900" indent="-342900" algn="l">
              <a:lnSpc>
                <a:spcPct val="85000"/>
              </a:lnSpc>
              <a:spcBef>
                <a:spcPct val="60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在高速增长行业中竞争</a:t>
            </a:r>
          </a:p>
          <a:p>
            <a:pPr marL="342900" indent="-342900" algn="l">
              <a:lnSpc>
                <a:spcPct val="85000"/>
              </a:lnSpc>
              <a:spcBef>
                <a:spcPct val="60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增加经济规模可以提供主要的竞争优势</a:t>
            </a:r>
          </a:p>
          <a:p>
            <a:pPr marL="342900" indent="-342900" algn="l">
              <a:lnSpc>
                <a:spcPct val="85000"/>
              </a:lnSpc>
              <a:spcBef>
                <a:spcPct val="60000"/>
              </a:spcBef>
              <a:buClr>
                <a:schemeClr val="folHlink"/>
              </a:buClr>
              <a:buSzPct val="80000"/>
              <a:buFont typeface="Wingdings" pitchFamily="2" charset="2"/>
              <a:buChar char="ü"/>
            </a:pPr>
            <a:r>
              <a:rPr kumimoji="0" lang="zh-CN" altLang="en-US" sz="2400">
                <a:solidFill>
                  <a:srgbClr val="003366"/>
                </a:solidFill>
                <a:latin typeface="Arial" pitchFamily="34" charset="0"/>
                <a:ea typeface="宋体" pitchFamily="2" charset="-122"/>
              </a:rPr>
              <a:t>本企业缺少管理专家或特殊的资源</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35618"/>
                                        </p:tgtEl>
                                        <p:attrNameLst>
                                          <p:attrName>style.visibility</p:attrName>
                                        </p:attrNameLst>
                                      </p:cBhvr>
                                      <p:to>
                                        <p:strVal val="visible"/>
                                      </p:to>
                                    </p:set>
                                    <p:anim calcmode="lin" valueType="num">
                                      <p:cBhvr additive="base">
                                        <p:cTn id="7" dur="500" fill="hold"/>
                                        <p:tgtEl>
                                          <p:spTgt spid="1135618"/>
                                        </p:tgtEl>
                                        <p:attrNameLst>
                                          <p:attrName>ppt_x</p:attrName>
                                        </p:attrNameLst>
                                      </p:cBhvr>
                                      <p:tavLst>
                                        <p:tav tm="0">
                                          <p:val>
                                            <p:strVal val="0-#ppt_w/2"/>
                                          </p:val>
                                        </p:tav>
                                        <p:tav tm="100000">
                                          <p:val>
                                            <p:strVal val="#ppt_x"/>
                                          </p:val>
                                        </p:tav>
                                      </p:tavLst>
                                    </p:anim>
                                    <p:anim calcmode="lin" valueType="num">
                                      <p:cBhvr additive="base">
                                        <p:cTn id="8" dur="500" fill="hold"/>
                                        <p:tgtEl>
                                          <p:spTgt spid="11356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135621"/>
                                        </p:tgtEl>
                                        <p:attrNameLst>
                                          <p:attrName>style.visibility</p:attrName>
                                        </p:attrNameLst>
                                      </p:cBhvr>
                                      <p:to>
                                        <p:strVal val="visible"/>
                                      </p:to>
                                    </p:set>
                                  </p:childTnLst>
                                </p:cTn>
                              </p:par>
                            </p:childTnLst>
                          </p:cTn>
                        </p:par>
                        <p:par>
                          <p:cTn id="13" fill="hold">
                            <p:stCondLst>
                              <p:cond delay="500"/>
                            </p:stCondLst>
                            <p:childTnLst>
                              <p:par>
                                <p:cTn id="14" presetID="2" presetClass="entr" presetSubtype="8" fill="hold" grpId="0" nodeType="afterEffect">
                                  <p:stCondLst>
                                    <p:cond delay="0"/>
                                  </p:stCondLst>
                                  <p:childTnLst>
                                    <p:set>
                                      <p:cBhvr>
                                        <p:cTn id="15" dur="1" fill="hold">
                                          <p:stCondLst>
                                            <p:cond delay="0"/>
                                          </p:stCondLst>
                                        </p:cTn>
                                        <p:tgtEl>
                                          <p:spTgt spid="1135619"/>
                                        </p:tgtEl>
                                        <p:attrNameLst>
                                          <p:attrName>style.visibility</p:attrName>
                                        </p:attrNameLst>
                                      </p:cBhvr>
                                      <p:to>
                                        <p:strVal val="visible"/>
                                      </p:to>
                                    </p:set>
                                    <p:anim calcmode="lin" valueType="num">
                                      <p:cBhvr additive="base">
                                        <p:cTn id="16" dur="500" fill="hold"/>
                                        <p:tgtEl>
                                          <p:spTgt spid="1135619"/>
                                        </p:tgtEl>
                                        <p:attrNameLst>
                                          <p:attrName>ppt_x</p:attrName>
                                        </p:attrNameLst>
                                      </p:cBhvr>
                                      <p:tavLst>
                                        <p:tav tm="0">
                                          <p:val>
                                            <p:strVal val="0-#ppt_w/2"/>
                                          </p:val>
                                        </p:tav>
                                        <p:tav tm="100000">
                                          <p:val>
                                            <p:strVal val="#ppt_x"/>
                                          </p:val>
                                        </p:tav>
                                      </p:tavLst>
                                    </p:anim>
                                    <p:anim calcmode="lin" valueType="num">
                                      <p:cBhvr additive="base">
                                        <p:cTn id="17" dur="500" fill="hold"/>
                                        <p:tgtEl>
                                          <p:spTgt spid="1135619"/>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135622"/>
                                        </p:tgtEl>
                                        <p:attrNameLst>
                                          <p:attrName>style.visibility</p:attrName>
                                        </p:attrNameLst>
                                      </p:cBhvr>
                                      <p:to>
                                        <p:strVal val="visible"/>
                                      </p:to>
                                    </p:set>
                                    <p:anim calcmode="lin" valueType="num">
                                      <p:cBhvr additive="base">
                                        <p:cTn id="22" dur="500" fill="hold"/>
                                        <p:tgtEl>
                                          <p:spTgt spid="1135622"/>
                                        </p:tgtEl>
                                        <p:attrNameLst>
                                          <p:attrName>ppt_x</p:attrName>
                                        </p:attrNameLst>
                                      </p:cBhvr>
                                      <p:tavLst>
                                        <p:tav tm="0">
                                          <p:val>
                                            <p:strVal val="0-#ppt_w/2"/>
                                          </p:val>
                                        </p:tav>
                                        <p:tav tm="100000">
                                          <p:val>
                                            <p:strVal val="#ppt_x"/>
                                          </p:val>
                                        </p:tav>
                                      </p:tavLst>
                                    </p:anim>
                                    <p:anim calcmode="lin" valueType="num">
                                      <p:cBhvr additive="base">
                                        <p:cTn id="23" dur="500" fill="hold"/>
                                        <p:tgtEl>
                                          <p:spTgt spid="11356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5618" grpId="0" animBg="1" autoUpdateAnimBg="0"/>
      <p:bldP spid="1135619" grpId="0" animBg="1" autoUpdateAnimBg="0"/>
      <p:bldP spid="1135621" grpId="0" animBg="1"/>
      <p:bldP spid="1135622"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在下述情况下采用横向一体化战略比较有效</a:t>
            </a:r>
          </a:p>
        </p:txBody>
      </p:sp>
      <p:sp>
        <p:nvSpPr>
          <p:cNvPr id="3" name="内容占位符 2"/>
          <p:cNvSpPr>
            <a:spLocks noGrp="1"/>
          </p:cNvSpPr>
          <p:nvPr>
            <p:ph idx="1"/>
          </p:nvPr>
        </p:nvSpPr>
        <p:spPr/>
        <p:txBody>
          <a:bodyPr>
            <a:normAutofit/>
          </a:bodyPr>
          <a:lstStyle/>
          <a:p>
            <a:r>
              <a:rPr lang="zh-CN" altLang="en-US" sz="2800" dirty="0"/>
              <a:t>可以减少竞争、获得某种程度的垄断，提高进入障碍</a:t>
            </a:r>
            <a:endParaRPr lang="en-US" altLang="zh-CN" sz="2800" dirty="0"/>
          </a:p>
          <a:p>
            <a:r>
              <a:rPr lang="zh-CN" altLang="en-US" sz="2800" dirty="0"/>
              <a:t>企业在成长着的行业中竞争</a:t>
            </a:r>
            <a:endParaRPr lang="en-US" altLang="zh-CN" sz="2800" dirty="0"/>
          </a:p>
          <a:p>
            <a:r>
              <a:rPr lang="zh-CN" altLang="en-US" sz="2800" dirty="0"/>
              <a:t>扩大规模，获取规模效益以获得竞争优势</a:t>
            </a:r>
            <a:endParaRPr lang="en-US" altLang="zh-CN" sz="2800" dirty="0"/>
          </a:p>
          <a:p>
            <a:r>
              <a:rPr lang="zh-CN" altLang="en-US" sz="2800" dirty="0"/>
              <a:t>企业具有管理更大组织所需的资本和人力资源，竞争者由于缺乏管理经验或特定资源而停滞不前</a:t>
            </a:r>
            <a:endParaRPr lang="en-US" altLang="zh-CN" sz="2800" dirty="0"/>
          </a:p>
          <a:p>
            <a:r>
              <a:rPr lang="zh-CN" altLang="en-US" sz="2800" dirty="0"/>
              <a:t>企业需要从购买对象身上获得某种特别的资源</a:t>
            </a:r>
            <a:endParaRPr lang="en-US" altLang="zh-CN" sz="2800" dirty="0"/>
          </a:p>
          <a:p>
            <a:endParaRPr lang="en-US" altLang="zh-CN" sz="2800" dirty="0"/>
          </a:p>
          <a:p>
            <a:r>
              <a:rPr lang="zh-CN" altLang="en-US" sz="2800" dirty="0"/>
              <a:t>如果整个产业的销售总量处于下降趋势，在不应该选择横向一体化战略</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横向一体化战略的优势和弱点</a:t>
            </a:r>
          </a:p>
        </p:txBody>
      </p:sp>
      <p:sp>
        <p:nvSpPr>
          <p:cNvPr id="3" name="内容占位符 2"/>
          <p:cNvSpPr>
            <a:spLocks noGrp="1"/>
          </p:cNvSpPr>
          <p:nvPr>
            <p:ph idx="1"/>
          </p:nvPr>
        </p:nvSpPr>
        <p:spPr/>
        <p:txBody>
          <a:bodyPr/>
          <a:lstStyle/>
          <a:p>
            <a:r>
              <a:rPr lang="zh-CN" altLang="en-US" dirty="0"/>
              <a:t>优势</a:t>
            </a:r>
            <a:endParaRPr lang="en-US" altLang="zh-CN" dirty="0"/>
          </a:p>
          <a:p>
            <a:pPr lvl="1"/>
            <a:r>
              <a:rPr lang="zh-CN" altLang="en-US" dirty="0"/>
              <a:t>规模经济</a:t>
            </a:r>
            <a:endParaRPr lang="en-US" altLang="zh-CN" dirty="0"/>
          </a:p>
          <a:p>
            <a:pPr lvl="1"/>
            <a:r>
              <a:rPr lang="zh-CN" altLang="en-US" dirty="0"/>
              <a:t>减少竞争对手，增加市场份额</a:t>
            </a:r>
            <a:endParaRPr lang="en-US" altLang="zh-CN" dirty="0"/>
          </a:p>
          <a:p>
            <a:r>
              <a:rPr lang="zh-CN" altLang="en-US" dirty="0"/>
              <a:t>弱点</a:t>
            </a:r>
            <a:endParaRPr lang="en-US" altLang="zh-CN" dirty="0"/>
          </a:p>
          <a:p>
            <a:pPr lvl="1"/>
            <a:r>
              <a:rPr lang="zh-CN" altLang="en-US" dirty="0"/>
              <a:t>易产生管理问题</a:t>
            </a:r>
            <a:endParaRPr lang="en-US" altLang="zh-CN" dirty="0"/>
          </a:p>
          <a:p>
            <a:pPr lvl="1"/>
            <a:r>
              <a:rPr lang="zh-CN" altLang="en-US" dirty="0"/>
              <a:t>易受到政府相关部门的反垄断调查</a:t>
            </a:r>
            <a:endParaRPr lang="en-US" altLang="zh-CN" dirty="0"/>
          </a:p>
          <a:p>
            <a:pPr lvl="1"/>
            <a:r>
              <a:rPr lang="zh-CN" altLang="en-US" dirty="0"/>
              <a:t>易受到相关企业的联手抗衡</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专业化战略的优势和劣势</a:t>
            </a:r>
          </a:p>
        </p:txBody>
      </p:sp>
      <p:sp>
        <p:nvSpPr>
          <p:cNvPr id="3" name="内容占位符 2"/>
          <p:cNvSpPr>
            <a:spLocks noGrp="1"/>
          </p:cNvSpPr>
          <p:nvPr>
            <p:ph idx="1"/>
          </p:nvPr>
        </p:nvSpPr>
        <p:spPr/>
        <p:txBody>
          <a:bodyPr/>
          <a:lstStyle/>
          <a:p>
            <a:r>
              <a:rPr lang="zh-CN" altLang="en-US" dirty="0"/>
              <a:t>优势</a:t>
            </a:r>
            <a:endParaRPr lang="en-US" altLang="zh-CN" dirty="0"/>
          </a:p>
          <a:p>
            <a:pPr lvl="1"/>
            <a:r>
              <a:rPr lang="zh-CN" altLang="en-US" dirty="0"/>
              <a:t>专注于核心业务的发展，围绕核心业务建立核心竞争力，是企业成长的最基本战略</a:t>
            </a:r>
            <a:endParaRPr lang="en-US" altLang="zh-CN" dirty="0"/>
          </a:p>
          <a:p>
            <a:pPr lvl="1"/>
            <a:r>
              <a:rPr lang="zh-CN" altLang="en-US" dirty="0"/>
              <a:t>定位清晰</a:t>
            </a:r>
            <a:endParaRPr lang="en-US" altLang="zh-CN" dirty="0"/>
          </a:p>
          <a:p>
            <a:pPr lvl="1"/>
            <a:r>
              <a:rPr lang="zh-CN" altLang="en-US" dirty="0"/>
              <a:t>容易对行业技术和需求变化做出反应，更可能开发出具有竞争力的产品</a:t>
            </a:r>
            <a:endParaRPr lang="en-US" altLang="zh-CN" dirty="0"/>
          </a:p>
          <a:p>
            <a:pPr lvl="1"/>
            <a:r>
              <a:rPr lang="zh-CN" altLang="en-US" dirty="0"/>
              <a:t>更可能在差异化和成本方面建立优势</a:t>
            </a:r>
            <a:endParaRPr lang="en-US" altLang="zh-CN" dirty="0"/>
          </a:p>
          <a:p>
            <a:pPr lvl="1"/>
            <a:r>
              <a:rPr lang="zh-CN" altLang="en-US" dirty="0"/>
              <a:t>方便高层对核心业务直接管理</a:t>
            </a:r>
            <a:endParaRPr lang="en-US" altLang="zh-CN" dirty="0"/>
          </a:p>
          <a:p>
            <a:pPr lvl="1"/>
            <a:r>
              <a:rPr lang="zh-CN" altLang="en-US" dirty="0"/>
              <a:t>易提升企业的品牌形象</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zh-CN" altLang="en-US" dirty="0"/>
              <a:t>劣势</a:t>
            </a:r>
            <a:endParaRPr lang="en-US" altLang="zh-CN" dirty="0"/>
          </a:p>
          <a:p>
            <a:pPr lvl="1"/>
            <a:r>
              <a:rPr lang="zh-CN" altLang="en-US" dirty="0"/>
              <a:t>不易分散行业风险</a:t>
            </a:r>
            <a:endParaRPr lang="en-US" altLang="zh-CN" dirty="0"/>
          </a:p>
          <a:p>
            <a:pPr lvl="1"/>
            <a:r>
              <a:rPr lang="zh-CN" altLang="en-US" dirty="0"/>
              <a:t>限制企业进一步发展</a:t>
            </a:r>
            <a:endParaRPr lang="en-US" altLang="zh-CN" dirty="0"/>
          </a:p>
          <a:p>
            <a:pPr lvl="1"/>
            <a:r>
              <a:rPr lang="zh-CN" altLang="en-US" dirty="0"/>
              <a:t>无法预料的某些市场变化导致产品竞争力下降</a:t>
            </a:r>
            <a:endParaRPr lang="en-US" altLang="zh-CN" dirty="0"/>
          </a:p>
          <a:p>
            <a:pPr lvl="1"/>
            <a:r>
              <a:rPr lang="zh-CN" altLang="en-US" dirty="0"/>
              <a:t>由于行业竞争程度加剧而难以创造出核心产品</a:t>
            </a:r>
            <a:endParaRPr lang="en-US" altLang="zh-CN" dirty="0"/>
          </a:p>
          <a:p>
            <a:pPr lvl="1"/>
            <a:r>
              <a:rPr lang="zh-CN" altLang="en-US" dirty="0"/>
              <a:t>难以退出</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多元化战略的定义</a:t>
            </a:r>
          </a:p>
        </p:txBody>
      </p:sp>
      <p:sp>
        <p:nvSpPr>
          <p:cNvPr id="3" name="内容占位符 2"/>
          <p:cNvSpPr>
            <a:spLocks noGrp="1"/>
          </p:cNvSpPr>
          <p:nvPr>
            <p:ph idx="1"/>
          </p:nvPr>
        </p:nvSpPr>
        <p:spPr/>
        <p:txBody>
          <a:bodyPr/>
          <a:lstStyle/>
          <a:p>
            <a:r>
              <a:rPr lang="zh-CN" altLang="en-US" dirty="0"/>
              <a:t>企业同时在两个以上的行业从事生产经营活动，并向市场提供多种经济用途不同的产品或服务的企业发展战略。</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波士顿矩阵</a:t>
            </a:r>
          </a:p>
        </p:txBody>
      </p:sp>
      <p:sp>
        <p:nvSpPr>
          <p:cNvPr id="3" name="内容占位符 2"/>
          <p:cNvSpPr>
            <a:spLocks noGrp="1"/>
          </p:cNvSpPr>
          <p:nvPr>
            <p:ph idx="1"/>
          </p:nvPr>
        </p:nvSpPr>
        <p:spPr/>
        <p:txBody>
          <a:bodyPr/>
          <a:lstStyle/>
          <a:p>
            <a:r>
              <a:rPr lang="zh-CN" altLang="en-US" dirty="0"/>
              <a:t>波士顿矩阵简介</a:t>
            </a:r>
            <a:endParaRPr lang="en-US" altLang="zh-CN" dirty="0"/>
          </a:p>
          <a:p>
            <a:r>
              <a:rPr lang="zh-CN" altLang="en-US" dirty="0"/>
              <a:t>矩阵构图</a:t>
            </a:r>
            <a:endParaRPr lang="en-US" altLang="zh-CN" dirty="0"/>
          </a:p>
          <a:p>
            <a:pPr lvl="1"/>
            <a:r>
              <a:rPr lang="zh-CN" altLang="en-US" dirty="0"/>
              <a:t>相对市场占有率</a:t>
            </a:r>
            <a:r>
              <a:rPr lang="en-US" altLang="zh-CN" dirty="0"/>
              <a:t>=</a:t>
            </a:r>
            <a:r>
              <a:rPr lang="zh-CN" altLang="en-US" dirty="0"/>
              <a:t>经营单位的年销售量</a:t>
            </a:r>
            <a:r>
              <a:rPr lang="en-US" altLang="zh-CN" dirty="0"/>
              <a:t>/</a:t>
            </a:r>
            <a:r>
              <a:rPr lang="zh-CN" altLang="en-US" dirty="0"/>
              <a:t>产业内最大竞争公司的销售量</a:t>
            </a:r>
            <a:r>
              <a:rPr lang="en-US" altLang="zh-CN" dirty="0"/>
              <a:t>×100%</a:t>
            </a:r>
          </a:p>
          <a:p>
            <a:pPr lvl="1"/>
            <a:r>
              <a:rPr lang="zh-CN" altLang="en-US" dirty="0"/>
              <a:t>业务增长率</a:t>
            </a:r>
            <a:r>
              <a:rPr lang="en-US" altLang="zh-CN" dirty="0"/>
              <a:t>=(</a:t>
            </a:r>
            <a:r>
              <a:rPr lang="zh-CN" altLang="en-US" dirty="0"/>
              <a:t>当年市场需求</a:t>
            </a:r>
            <a:r>
              <a:rPr lang="en-US" altLang="zh-CN" dirty="0"/>
              <a:t>-</a:t>
            </a:r>
            <a:r>
              <a:rPr lang="zh-CN" altLang="en-US" dirty="0"/>
              <a:t>上年市场需求</a:t>
            </a:r>
            <a:r>
              <a:rPr lang="en-US" altLang="zh-CN" dirty="0"/>
              <a:t>)/</a:t>
            </a:r>
            <a:r>
              <a:rPr lang="zh-CN" altLang="en-US" dirty="0"/>
              <a:t>上年市场需求</a:t>
            </a:r>
            <a:r>
              <a:rPr lang="en-US" altLang="zh-CN" dirty="0"/>
              <a:t>×100%</a:t>
            </a:r>
          </a:p>
          <a:p>
            <a:pPr lvl="1"/>
            <a:r>
              <a:rPr lang="zh-CN" altLang="en-US" dirty="0"/>
              <a:t>相对规模</a:t>
            </a:r>
            <a:r>
              <a:rPr lang="en-US" altLang="zh-CN" dirty="0"/>
              <a:t>=</a:t>
            </a:r>
            <a:r>
              <a:rPr lang="zh-CN" altLang="en-US" dirty="0"/>
              <a:t>经营单位的销售额</a:t>
            </a:r>
            <a:r>
              <a:rPr lang="en-US" altLang="zh-CN" dirty="0"/>
              <a:t>/</a:t>
            </a:r>
            <a:r>
              <a:rPr lang="zh-CN" altLang="en-US" dirty="0"/>
              <a:t>公司总销售额</a:t>
            </a:r>
            <a:r>
              <a:rPr lang="en-US" altLang="zh-CN" dirty="0"/>
              <a:t>×100%</a:t>
            </a:r>
            <a:endParaRPr lang="zh-CN" altLang="en-US" dirty="0"/>
          </a:p>
        </p:txBody>
      </p:sp>
    </p:spTree>
    <p:extLst>
      <p:ext uri="{BB962C8B-B14F-4D97-AF65-F5344CB8AC3E}">
        <p14:creationId xmlns:p14="http://schemas.microsoft.com/office/powerpoint/2010/main" val="6294504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a:grpSpLocks/>
          </p:cNvGrpSpPr>
          <p:nvPr/>
        </p:nvGrpSpPr>
        <p:grpSpPr bwMode="auto">
          <a:xfrm>
            <a:off x="1042988" y="1628775"/>
            <a:ext cx="7110412" cy="3816350"/>
            <a:chOff x="816" y="1248"/>
            <a:chExt cx="4416" cy="2160"/>
          </a:xfrm>
        </p:grpSpPr>
        <p:sp>
          <p:nvSpPr>
            <p:cNvPr id="42011" name="Rectangle 4"/>
            <p:cNvSpPr>
              <a:spLocks noChangeArrowheads="1"/>
            </p:cNvSpPr>
            <p:nvPr/>
          </p:nvSpPr>
          <p:spPr bwMode="auto">
            <a:xfrm>
              <a:off x="816" y="1248"/>
              <a:ext cx="4416" cy="2160"/>
            </a:xfrm>
            <a:prstGeom prst="rect">
              <a:avLst/>
            </a:prstGeom>
            <a:gradFill rotWithShape="1">
              <a:gsLst>
                <a:gs pos="0">
                  <a:srgbClr val="FFCC99"/>
                </a:gs>
                <a:gs pos="100000">
                  <a:srgbClr val="FFDAB5"/>
                </a:gs>
              </a:gsLst>
              <a:path path="shape">
                <a:fillToRect l="50000" t="50000" r="50000" b="50000"/>
              </a:path>
            </a:gradFill>
            <a:ln w="12700" cap="sq">
              <a:solidFill>
                <a:schemeClr val="tx1"/>
              </a:solidFill>
              <a:miter lim="800000"/>
              <a:headEnd type="none" w="sm" len="sm"/>
              <a:tailEnd type="none" w="sm" len="sm"/>
            </a:ln>
          </p:spPr>
          <p:txBody>
            <a:bodyPr wrap="none" anchor="ctr"/>
            <a:lstStyle/>
            <a:p>
              <a:endParaRPr lang="zh-CN" altLang="en-US"/>
            </a:p>
          </p:txBody>
        </p:sp>
        <p:grpSp>
          <p:nvGrpSpPr>
            <p:cNvPr id="4" name="Group 5"/>
            <p:cNvGrpSpPr>
              <a:grpSpLocks/>
            </p:cNvGrpSpPr>
            <p:nvPr/>
          </p:nvGrpSpPr>
          <p:grpSpPr bwMode="auto">
            <a:xfrm>
              <a:off x="2035" y="1947"/>
              <a:ext cx="2845" cy="1280"/>
              <a:chOff x="2035" y="1947"/>
              <a:chExt cx="2845" cy="1280"/>
            </a:xfrm>
          </p:grpSpPr>
          <p:grpSp>
            <p:nvGrpSpPr>
              <p:cNvPr id="5" name="Group 6"/>
              <p:cNvGrpSpPr>
                <a:grpSpLocks/>
              </p:cNvGrpSpPr>
              <p:nvPr/>
            </p:nvGrpSpPr>
            <p:grpSpPr bwMode="auto">
              <a:xfrm>
                <a:off x="2035" y="1947"/>
                <a:ext cx="2845" cy="1264"/>
                <a:chOff x="2035" y="1947"/>
                <a:chExt cx="2845" cy="1264"/>
              </a:xfrm>
            </p:grpSpPr>
            <p:sp>
              <p:nvSpPr>
                <p:cNvPr id="42015" name="Rectangle 7"/>
                <p:cNvSpPr>
                  <a:spLocks noChangeArrowheads="1"/>
                </p:cNvSpPr>
                <p:nvPr/>
              </p:nvSpPr>
              <p:spPr bwMode="auto">
                <a:xfrm>
                  <a:off x="2035" y="1947"/>
                  <a:ext cx="2845" cy="1264"/>
                </a:xfrm>
                <a:prstGeom prst="rect">
                  <a:avLst/>
                </a:prstGeom>
                <a:gradFill rotWithShape="1">
                  <a:gsLst>
                    <a:gs pos="0">
                      <a:srgbClr val="FFCC99"/>
                    </a:gs>
                    <a:gs pos="100000">
                      <a:srgbClr val="FFDAB5"/>
                    </a:gs>
                  </a:gsLst>
                  <a:path path="shape">
                    <a:fillToRect l="50000" t="50000" r="50000" b="50000"/>
                  </a:path>
                </a:gradFill>
                <a:ln w="9525">
                  <a:solidFill>
                    <a:schemeClr val="tx1"/>
                  </a:solidFill>
                  <a:miter lim="800000"/>
                  <a:headEnd/>
                  <a:tailEnd/>
                </a:ln>
              </p:spPr>
              <p:txBody>
                <a:bodyPr/>
                <a:lstStyle/>
                <a:p>
                  <a:endParaRPr lang="zh-CN" altLang="en-US"/>
                </a:p>
              </p:txBody>
            </p:sp>
            <p:sp>
              <p:nvSpPr>
                <p:cNvPr id="42016" name="Line 8"/>
                <p:cNvSpPr>
                  <a:spLocks noChangeShapeType="1"/>
                </p:cNvSpPr>
                <p:nvPr/>
              </p:nvSpPr>
              <p:spPr bwMode="auto">
                <a:xfrm>
                  <a:off x="2035" y="2592"/>
                  <a:ext cx="2845" cy="0"/>
                </a:xfrm>
                <a:prstGeom prst="line">
                  <a:avLst/>
                </a:prstGeom>
                <a:noFill/>
                <a:ln w="9525">
                  <a:solidFill>
                    <a:schemeClr val="tx1"/>
                  </a:solidFill>
                  <a:round/>
                  <a:headEnd/>
                  <a:tailEnd/>
                </a:ln>
              </p:spPr>
              <p:txBody>
                <a:bodyPr/>
                <a:lstStyle/>
                <a:p>
                  <a:endParaRPr lang="zh-CN" altLang="en-US"/>
                </a:p>
              </p:txBody>
            </p:sp>
          </p:grpSp>
          <p:sp>
            <p:nvSpPr>
              <p:cNvPr id="42014" name="Line 9"/>
              <p:cNvSpPr>
                <a:spLocks noChangeShapeType="1"/>
              </p:cNvSpPr>
              <p:nvPr/>
            </p:nvSpPr>
            <p:spPr bwMode="auto">
              <a:xfrm>
                <a:off x="3458" y="1947"/>
                <a:ext cx="0" cy="1280"/>
              </a:xfrm>
              <a:prstGeom prst="line">
                <a:avLst/>
              </a:prstGeom>
              <a:noFill/>
              <a:ln w="9525">
                <a:solidFill>
                  <a:schemeClr val="tx1"/>
                </a:solidFill>
                <a:round/>
                <a:headEnd/>
                <a:tailEnd/>
              </a:ln>
            </p:spPr>
            <p:txBody>
              <a:bodyPr/>
              <a:lstStyle/>
              <a:p>
                <a:endParaRPr lang="zh-CN" altLang="en-US"/>
              </a:p>
            </p:txBody>
          </p:sp>
        </p:grpSp>
      </p:grpSp>
      <p:sp>
        <p:nvSpPr>
          <p:cNvPr id="41987" name="Rectangle 15"/>
          <p:cNvSpPr>
            <a:spLocks noGrp="1" noChangeArrowheads="1"/>
          </p:cNvSpPr>
          <p:nvPr>
            <p:ph type="body" idx="1"/>
          </p:nvPr>
        </p:nvSpPr>
        <p:spPr>
          <a:xfrm>
            <a:off x="1066800" y="5486400"/>
            <a:ext cx="6983413" cy="960438"/>
          </a:xfrm>
        </p:spPr>
        <p:txBody>
          <a:bodyPr/>
          <a:lstStyle/>
          <a:p>
            <a:pPr algn="ctr" eaLnBrk="1" hangingPunct="1">
              <a:buFont typeface="Wingdings" pitchFamily="2" charset="2"/>
              <a:buNone/>
            </a:pPr>
            <a:r>
              <a:rPr lang="zh-CN" altLang="en-US" sz="2800">
                <a:latin typeface="隶书" pitchFamily="49" charset="-122"/>
              </a:rPr>
              <a:t>关键在于各部分业务组合的有机匹配与长短期盈利性的平衡。</a:t>
            </a:r>
            <a:r>
              <a:rPr lang="zh-CN" altLang="en-US" sz="2400" b="1">
                <a:ea typeface="黑体" pitchFamily="2" charset="-122"/>
              </a:rPr>
              <a:t> </a:t>
            </a:r>
          </a:p>
        </p:txBody>
      </p:sp>
      <p:sp>
        <p:nvSpPr>
          <p:cNvPr id="41988" name="Text Box 16"/>
          <p:cNvSpPr txBox="1">
            <a:spLocks noChangeArrowheads="1"/>
          </p:cNvSpPr>
          <p:nvPr/>
        </p:nvSpPr>
        <p:spPr bwMode="auto">
          <a:xfrm>
            <a:off x="3347864" y="3212976"/>
            <a:ext cx="1789112" cy="406400"/>
          </a:xfrm>
          <a:prstGeom prst="rect">
            <a:avLst/>
          </a:prstGeom>
          <a:noFill/>
          <a:ln w="6350">
            <a:noFill/>
            <a:miter lim="800000"/>
            <a:headEnd/>
            <a:tailEnd/>
          </a:ln>
        </p:spPr>
        <p:txBody>
          <a:bodyPr lIns="0" tIns="7200" rIns="0" bIns="0"/>
          <a:lstStyle/>
          <a:p>
            <a:pPr eaLnBrk="0" hangingPunct="0"/>
            <a:r>
              <a:rPr kumimoji="0" lang="zh-CN" altLang="en-US" sz="2400" dirty="0">
                <a:solidFill>
                  <a:srgbClr val="0000CC"/>
                </a:solidFill>
                <a:latin typeface="隶书" pitchFamily="49" charset="-122"/>
              </a:rPr>
              <a:t>明星</a:t>
            </a:r>
          </a:p>
        </p:txBody>
      </p:sp>
      <p:sp>
        <p:nvSpPr>
          <p:cNvPr id="41989" name="Text Box 17"/>
          <p:cNvSpPr txBox="1">
            <a:spLocks noChangeArrowheads="1"/>
          </p:cNvSpPr>
          <p:nvPr/>
        </p:nvSpPr>
        <p:spPr bwMode="auto">
          <a:xfrm>
            <a:off x="5435600" y="3213100"/>
            <a:ext cx="2081213" cy="434975"/>
          </a:xfrm>
          <a:prstGeom prst="rect">
            <a:avLst/>
          </a:prstGeom>
          <a:noFill/>
          <a:ln w="6350">
            <a:noFill/>
            <a:miter lim="800000"/>
            <a:headEnd/>
            <a:tailEnd/>
          </a:ln>
        </p:spPr>
        <p:txBody>
          <a:bodyPr lIns="0" tIns="7200" rIns="0" bIns="0"/>
          <a:lstStyle/>
          <a:p>
            <a:pPr eaLnBrk="0" hangingPunct="0"/>
            <a:r>
              <a:rPr kumimoji="0" lang="zh-CN" altLang="en-US" sz="2400">
                <a:solidFill>
                  <a:srgbClr val="0000CC"/>
                </a:solidFill>
                <a:latin typeface="隶书" pitchFamily="49" charset="-122"/>
              </a:rPr>
              <a:t>问题</a:t>
            </a:r>
          </a:p>
        </p:txBody>
      </p:sp>
      <p:sp>
        <p:nvSpPr>
          <p:cNvPr id="41990" name="Text Box 18"/>
          <p:cNvSpPr txBox="1">
            <a:spLocks noChangeArrowheads="1"/>
          </p:cNvSpPr>
          <p:nvPr/>
        </p:nvSpPr>
        <p:spPr bwMode="auto">
          <a:xfrm>
            <a:off x="5424488" y="4321175"/>
            <a:ext cx="2081212" cy="493713"/>
          </a:xfrm>
          <a:prstGeom prst="rect">
            <a:avLst/>
          </a:prstGeom>
          <a:noFill/>
          <a:ln w="6350">
            <a:noFill/>
            <a:miter lim="800000"/>
            <a:headEnd/>
            <a:tailEnd/>
          </a:ln>
        </p:spPr>
        <p:txBody>
          <a:bodyPr lIns="0" tIns="7200" rIns="0" bIns="0"/>
          <a:lstStyle/>
          <a:p>
            <a:pPr eaLnBrk="0" hangingPunct="0"/>
            <a:r>
              <a:rPr kumimoji="0" lang="zh-CN" altLang="en-US" sz="2400">
                <a:solidFill>
                  <a:srgbClr val="0000CC"/>
                </a:solidFill>
                <a:latin typeface="隶书" pitchFamily="49" charset="-122"/>
              </a:rPr>
              <a:t>瘦狗</a:t>
            </a:r>
          </a:p>
        </p:txBody>
      </p:sp>
      <p:sp>
        <p:nvSpPr>
          <p:cNvPr id="41991" name="Text Box 19"/>
          <p:cNvSpPr txBox="1">
            <a:spLocks noChangeArrowheads="1"/>
          </p:cNvSpPr>
          <p:nvPr/>
        </p:nvSpPr>
        <p:spPr bwMode="auto">
          <a:xfrm>
            <a:off x="3347864" y="4293096"/>
            <a:ext cx="1817687" cy="319088"/>
          </a:xfrm>
          <a:prstGeom prst="rect">
            <a:avLst/>
          </a:prstGeom>
          <a:noFill/>
          <a:ln w="6350">
            <a:noFill/>
            <a:miter lim="800000"/>
            <a:headEnd/>
            <a:tailEnd/>
          </a:ln>
        </p:spPr>
        <p:txBody>
          <a:bodyPr lIns="0" tIns="7200" rIns="0" bIns="0"/>
          <a:lstStyle/>
          <a:p>
            <a:pPr eaLnBrk="0" hangingPunct="0"/>
            <a:r>
              <a:rPr kumimoji="0" lang="zh-CN" altLang="en-US" sz="2400" dirty="0">
                <a:solidFill>
                  <a:srgbClr val="0000CC"/>
                </a:solidFill>
                <a:latin typeface="隶书" pitchFamily="49" charset="-122"/>
              </a:rPr>
              <a:t>金牛</a:t>
            </a:r>
          </a:p>
        </p:txBody>
      </p:sp>
      <p:grpSp>
        <p:nvGrpSpPr>
          <p:cNvPr id="6" name="Group 20"/>
          <p:cNvGrpSpPr>
            <a:grpSpLocks/>
          </p:cNvGrpSpPr>
          <p:nvPr/>
        </p:nvGrpSpPr>
        <p:grpSpPr bwMode="auto">
          <a:xfrm>
            <a:off x="1547813" y="2636838"/>
            <a:ext cx="1641475" cy="2235200"/>
            <a:chOff x="996" y="1952"/>
            <a:chExt cx="1034" cy="1408"/>
          </a:xfrm>
        </p:grpSpPr>
        <p:sp>
          <p:nvSpPr>
            <p:cNvPr id="42002" name="Text Box 21"/>
            <p:cNvSpPr txBox="1">
              <a:spLocks noChangeArrowheads="1"/>
            </p:cNvSpPr>
            <p:nvPr/>
          </p:nvSpPr>
          <p:spPr bwMode="auto">
            <a:xfrm>
              <a:off x="996" y="1952"/>
              <a:ext cx="240" cy="1371"/>
            </a:xfrm>
            <a:prstGeom prst="rect">
              <a:avLst/>
            </a:prstGeom>
            <a:noFill/>
            <a:ln w="9525">
              <a:noFill/>
              <a:miter lim="800000"/>
              <a:headEnd/>
              <a:tailEnd/>
            </a:ln>
          </p:spPr>
          <p:txBody>
            <a:bodyPr vert="eaVert" lIns="0" tIns="0" rIns="0" bIns="0"/>
            <a:lstStyle/>
            <a:p>
              <a:pPr eaLnBrk="0" hangingPunct="0"/>
              <a:r>
                <a:rPr lang="zh-CN" altLang="en-US" sz="2400">
                  <a:solidFill>
                    <a:srgbClr val="003366"/>
                  </a:solidFill>
                  <a:latin typeface="隶书" pitchFamily="49" charset="-122"/>
                </a:rPr>
                <a:t>行业销售增长率</a:t>
              </a:r>
            </a:p>
          </p:txBody>
        </p:sp>
        <p:sp>
          <p:nvSpPr>
            <p:cNvPr id="42003" name="Text Box 22"/>
            <p:cNvSpPr txBox="1">
              <a:spLocks noChangeArrowheads="1"/>
            </p:cNvSpPr>
            <p:nvPr/>
          </p:nvSpPr>
          <p:spPr bwMode="auto">
            <a:xfrm>
              <a:off x="1347" y="1970"/>
              <a:ext cx="665" cy="238"/>
            </a:xfrm>
            <a:prstGeom prst="rect">
              <a:avLst/>
            </a:prstGeom>
            <a:noFill/>
            <a:ln w="6350">
              <a:noFill/>
              <a:miter lim="800000"/>
              <a:headEnd/>
              <a:tailEnd/>
            </a:ln>
          </p:spPr>
          <p:txBody>
            <a:bodyPr lIns="0" tIns="7200" rIns="0" bIns="0"/>
            <a:lstStyle/>
            <a:p>
              <a:pPr algn="just" eaLnBrk="0" hangingPunct="0"/>
              <a:r>
                <a:rPr kumimoji="0" lang="zh-CN" altLang="en-US" sz="2400">
                  <a:solidFill>
                    <a:srgbClr val="0000CC"/>
                  </a:solidFill>
                  <a:latin typeface="隶书" pitchFamily="49" charset="-122"/>
                </a:rPr>
                <a:t>高 </a:t>
              </a:r>
              <a:r>
                <a:rPr kumimoji="0" lang="en-US" altLang="zh-CN" sz="2400">
                  <a:solidFill>
                    <a:srgbClr val="0000CC"/>
                  </a:solidFill>
                  <a:latin typeface="隶书" pitchFamily="49" charset="-122"/>
                </a:rPr>
                <a:t>+20%</a:t>
              </a:r>
            </a:p>
          </p:txBody>
        </p:sp>
        <p:sp>
          <p:nvSpPr>
            <p:cNvPr id="42004" name="Text Box 23"/>
            <p:cNvSpPr txBox="1">
              <a:spLocks noChangeArrowheads="1"/>
            </p:cNvSpPr>
            <p:nvPr/>
          </p:nvSpPr>
          <p:spPr bwMode="auto">
            <a:xfrm>
              <a:off x="1223" y="2537"/>
              <a:ext cx="807" cy="238"/>
            </a:xfrm>
            <a:prstGeom prst="rect">
              <a:avLst/>
            </a:prstGeom>
            <a:noFill/>
            <a:ln w="6350">
              <a:noFill/>
              <a:miter lim="800000"/>
              <a:headEnd/>
              <a:tailEnd/>
            </a:ln>
          </p:spPr>
          <p:txBody>
            <a:bodyPr lIns="0" tIns="7200" rIns="0" bIns="0"/>
            <a:lstStyle/>
            <a:p>
              <a:pPr algn="just" eaLnBrk="0" hangingPunct="0"/>
              <a:r>
                <a:rPr kumimoji="0" lang="zh-CN" altLang="en-US" sz="2400" dirty="0">
                  <a:solidFill>
                    <a:srgbClr val="0000CC"/>
                  </a:solidFill>
                  <a:latin typeface="隶书" pitchFamily="49" charset="-122"/>
                </a:rPr>
                <a:t>中    </a:t>
              </a:r>
            </a:p>
            <a:p>
              <a:pPr algn="just" eaLnBrk="0" hangingPunct="0"/>
              <a:r>
                <a:rPr lang="en-US" altLang="zh-CN" sz="2400" dirty="0">
                  <a:solidFill>
                    <a:srgbClr val="0000CC"/>
                  </a:solidFill>
                  <a:latin typeface="隶书" pitchFamily="49" charset="-122"/>
                </a:rPr>
                <a:t> 10%</a:t>
              </a:r>
              <a:endParaRPr kumimoji="0" lang="en-US" altLang="zh-CN" sz="2400" dirty="0">
                <a:solidFill>
                  <a:srgbClr val="0000CC"/>
                </a:solidFill>
                <a:latin typeface="隶书" pitchFamily="49" charset="-122"/>
              </a:endParaRPr>
            </a:p>
          </p:txBody>
        </p:sp>
        <p:sp>
          <p:nvSpPr>
            <p:cNvPr id="42005" name="Text Box 24"/>
            <p:cNvSpPr txBox="1">
              <a:spLocks noChangeArrowheads="1"/>
            </p:cNvSpPr>
            <p:nvPr/>
          </p:nvSpPr>
          <p:spPr bwMode="auto">
            <a:xfrm>
              <a:off x="1365" y="3122"/>
              <a:ext cx="665" cy="238"/>
            </a:xfrm>
            <a:prstGeom prst="rect">
              <a:avLst/>
            </a:prstGeom>
            <a:noFill/>
            <a:ln w="6350">
              <a:noFill/>
              <a:miter lim="800000"/>
              <a:headEnd/>
              <a:tailEnd/>
            </a:ln>
          </p:spPr>
          <p:txBody>
            <a:bodyPr lIns="0" tIns="7200" rIns="0" bIns="0"/>
            <a:lstStyle/>
            <a:p>
              <a:pPr algn="just" eaLnBrk="0" hangingPunct="0"/>
              <a:r>
                <a:rPr kumimoji="0" lang="zh-CN" altLang="en-US" sz="2400" dirty="0">
                  <a:solidFill>
                    <a:srgbClr val="0000CC"/>
                  </a:solidFill>
                  <a:latin typeface="隶书" pitchFamily="49" charset="-122"/>
                </a:rPr>
                <a:t>低 </a:t>
              </a:r>
            </a:p>
            <a:p>
              <a:pPr algn="just" eaLnBrk="0" hangingPunct="0"/>
              <a:r>
                <a:rPr lang="en-US" altLang="zh-CN" sz="2400" dirty="0">
                  <a:solidFill>
                    <a:srgbClr val="0000CC"/>
                  </a:solidFill>
                  <a:latin typeface="隶书" pitchFamily="49" charset="-122"/>
                </a:rPr>
                <a:t>0</a:t>
              </a:r>
              <a:r>
                <a:rPr kumimoji="0" lang="en-US" altLang="zh-CN" sz="2400" dirty="0">
                  <a:solidFill>
                    <a:srgbClr val="0000CC"/>
                  </a:solidFill>
                  <a:latin typeface="隶书" pitchFamily="49" charset="-122"/>
                </a:rPr>
                <a:t>%</a:t>
              </a:r>
            </a:p>
          </p:txBody>
        </p:sp>
      </p:grpSp>
      <p:grpSp>
        <p:nvGrpSpPr>
          <p:cNvPr id="7" name="Group 25"/>
          <p:cNvGrpSpPr>
            <a:grpSpLocks/>
          </p:cNvGrpSpPr>
          <p:nvPr/>
        </p:nvGrpSpPr>
        <p:grpSpPr bwMode="auto">
          <a:xfrm>
            <a:off x="2784475" y="1938338"/>
            <a:ext cx="5102225" cy="957262"/>
            <a:chOff x="1790" y="1404"/>
            <a:chExt cx="3214" cy="603"/>
          </a:xfrm>
        </p:grpSpPr>
        <p:sp>
          <p:nvSpPr>
            <p:cNvPr id="41998" name="Text Box 26"/>
            <p:cNvSpPr txBox="1">
              <a:spLocks noChangeArrowheads="1"/>
            </p:cNvSpPr>
            <p:nvPr/>
          </p:nvSpPr>
          <p:spPr bwMode="auto">
            <a:xfrm>
              <a:off x="1790" y="1404"/>
              <a:ext cx="3214" cy="238"/>
            </a:xfrm>
            <a:prstGeom prst="rect">
              <a:avLst/>
            </a:prstGeom>
            <a:noFill/>
            <a:ln w="6350">
              <a:noFill/>
              <a:miter lim="800000"/>
              <a:headEnd/>
              <a:tailEnd/>
            </a:ln>
          </p:spPr>
          <p:txBody>
            <a:bodyPr lIns="0" tIns="7200" rIns="0" bIns="0"/>
            <a:lstStyle/>
            <a:p>
              <a:pPr eaLnBrk="0" hangingPunct="0"/>
              <a:r>
                <a:rPr lang="zh-CN" altLang="en-US" sz="2400">
                  <a:solidFill>
                    <a:srgbClr val="003366"/>
                  </a:solidFill>
                  <a:latin typeface="隶书" pitchFamily="49" charset="-122"/>
                </a:rPr>
                <a:t>在行业中相对市场份额地位</a:t>
              </a:r>
            </a:p>
          </p:txBody>
        </p:sp>
        <p:sp>
          <p:nvSpPr>
            <p:cNvPr id="41999" name="Text Box 27"/>
            <p:cNvSpPr txBox="1">
              <a:spLocks noChangeArrowheads="1"/>
            </p:cNvSpPr>
            <p:nvPr/>
          </p:nvSpPr>
          <p:spPr bwMode="auto">
            <a:xfrm>
              <a:off x="1901" y="1623"/>
              <a:ext cx="388" cy="384"/>
            </a:xfrm>
            <a:prstGeom prst="rect">
              <a:avLst/>
            </a:prstGeom>
            <a:noFill/>
            <a:ln w="6350">
              <a:noFill/>
              <a:miter lim="800000"/>
              <a:headEnd/>
              <a:tailEnd/>
            </a:ln>
          </p:spPr>
          <p:txBody>
            <a:bodyPr lIns="0" tIns="7200" rIns="0" bIns="0"/>
            <a:lstStyle/>
            <a:p>
              <a:pPr eaLnBrk="0" hangingPunct="0"/>
              <a:r>
                <a:rPr kumimoji="0" lang="zh-CN" altLang="en-US" sz="2400" dirty="0">
                  <a:solidFill>
                    <a:srgbClr val="0000CC"/>
                  </a:solidFill>
                  <a:latin typeface="隶书" pitchFamily="49" charset="-122"/>
                </a:rPr>
                <a:t>高</a:t>
              </a:r>
            </a:p>
            <a:p>
              <a:pPr eaLnBrk="0" hangingPunct="0"/>
              <a:r>
                <a:rPr kumimoji="0" lang="en-US" altLang="zh-CN" sz="2400" dirty="0">
                  <a:solidFill>
                    <a:srgbClr val="0000CC"/>
                  </a:solidFill>
                  <a:latin typeface="隶书" pitchFamily="49" charset="-122"/>
                </a:rPr>
                <a:t>2</a:t>
              </a:r>
            </a:p>
          </p:txBody>
        </p:sp>
        <p:sp>
          <p:nvSpPr>
            <p:cNvPr id="42000" name="Text Box 28"/>
            <p:cNvSpPr txBox="1">
              <a:spLocks noChangeArrowheads="1"/>
            </p:cNvSpPr>
            <p:nvPr/>
          </p:nvSpPr>
          <p:spPr bwMode="auto">
            <a:xfrm>
              <a:off x="3213" y="1623"/>
              <a:ext cx="387" cy="384"/>
            </a:xfrm>
            <a:prstGeom prst="rect">
              <a:avLst/>
            </a:prstGeom>
            <a:noFill/>
            <a:ln w="6350">
              <a:noFill/>
              <a:miter lim="800000"/>
              <a:headEnd/>
              <a:tailEnd/>
            </a:ln>
          </p:spPr>
          <p:txBody>
            <a:bodyPr lIns="0" tIns="7200" rIns="0" bIns="0"/>
            <a:lstStyle/>
            <a:p>
              <a:pPr eaLnBrk="0" hangingPunct="0"/>
              <a:r>
                <a:rPr kumimoji="0" lang="zh-CN" altLang="en-US" sz="2400" dirty="0">
                  <a:solidFill>
                    <a:srgbClr val="0000CC"/>
                  </a:solidFill>
                  <a:latin typeface="隶书" pitchFamily="49" charset="-122"/>
                </a:rPr>
                <a:t>中</a:t>
              </a:r>
            </a:p>
            <a:p>
              <a:pPr eaLnBrk="0" hangingPunct="0"/>
              <a:r>
                <a:rPr lang="en-US" altLang="zh-CN" sz="2400" dirty="0">
                  <a:solidFill>
                    <a:srgbClr val="0000CC"/>
                  </a:solidFill>
                  <a:latin typeface="隶书" pitchFamily="49" charset="-122"/>
                </a:rPr>
                <a:t>1.0</a:t>
              </a:r>
              <a:endParaRPr kumimoji="0" lang="en-US" altLang="zh-CN" sz="2400" dirty="0">
                <a:solidFill>
                  <a:srgbClr val="0000CC"/>
                </a:solidFill>
                <a:latin typeface="隶书" pitchFamily="49" charset="-122"/>
              </a:endParaRPr>
            </a:p>
          </p:txBody>
        </p:sp>
        <p:sp>
          <p:nvSpPr>
            <p:cNvPr id="42001" name="Text Box 29"/>
            <p:cNvSpPr txBox="1">
              <a:spLocks noChangeArrowheads="1"/>
            </p:cNvSpPr>
            <p:nvPr/>
          </p:nvSpPr>
          <p:spPr bwMode="auto">
            <a:xfrm>
              <a:off x="4487" y="1623"/>
              <a:ext cx="388" cy="384"/>
            </a:xfrm>
            <a:prstGeom prst="rect">
              <a:avLst/>
            </a:prstGeom>
            <a:noFill/>
            <a:ln w="6350">
              <a:noFill/>
              <a:miter lim="800000"/>
              <a:headEnd/>
              <a:tailEnd/>
            </a:ln>
          </p:spPr>
          <p:txBody>
            <a:bodyPr lIns="0" tIns="7200" rIns="0" bIns="0"/>
            <a:lstStyle/>
            <a:p>
              <a:pPr eaLnBrk="0" hangingPunct="0"/>
              <a:r>
                <a:rPr kumimoji="0" lang="zh-CN" altLang="en-US" sz="2400" dirty="0">
                  <a:solidFill>
                    <a:srgbClr val="0000CC"/>
                  </a:solidFill>
                  <a:latin typeface="隶书" pitchFamily="49" charset="-122"/>
                </a:rPr>
                <a:t>低</a:t>
              </a:r>
            </a:p>
            <a:p>
              <a:pPr eaLnBrk="0" hangingPunct="0"/>
              <a:r>
                <a:rPr kumimoji="0" lang="en-US" altLang="zh-CN" sz="2400" dirty="0">
                  <a:solidFill>
                    <a:srgbClr val="0000CC"/>
                  </a:solidFill>
                  <a:latin typeface="隶书" pitchFamily="49" charset="-122"/>
                </a:rPr>
                <a:t>0</a:t>
              </a:r>
            </a:p>
          </p:txBody>
        </p:sp>
      </p:grpSp>
      <p:sp>
        <p:nvSpPr>
          <p:cNvPr id="41994" name="Line 30"/>
          <p:cNvSpPr>
            <a:spLocks noChangeShapeType="1"/>
          </p:cNvSpPr>
          <p:nvPr/>
        </p:nvSpPr>
        <p:spPr bwMode="auto">
          <a:xfrm flipH="1">
            <a:off x="4562475" y="3505200"/>
            <a:ext cx="1219200" cy="0"/>
          </a:xfrm>
          <a:prstGeom prst="line">
            <a:avLst/>
          </a:prstGeom>
          <a:noFill/>
          <a:ln w="25400" cap="sq">
            <a:solidFill>
              <a:schemeClr val="tx1"/>
            </a:solidFill>
            <a:round/>
            <a:headEnd type="none" w="sm" len="sm"/>
            <a:tailEnd type="triangle" w="sm" len="sm"/>
          </a:ln>
        </p:spPr>
        <p:txBody>
          <a:bodyPr/>
          <a:lstStyle/>
          <a:p>
            <a:endParaRPr lang="zh-CN" altLang="en-US"/>
          </a:p>
        </p:txBody>
      </p:sp>
      <p:sp>
        <p:nvSpPr>
          <p:cNvPr id="41995" name="Line 31"/>
          <p:cNvSpPr>
            <a:spLocks noChangeShapeType="1"/>
          </p:cNvSpPr>
          <p:nvPr/>
        </p:nvSpPr>
        <p:spPr bwMode="auto">
          <a:xfrm>
            <a:off x="4105275" y="3735388"/>
            <a:ext cx="0" cy="608012"/>
          </a:xfrm>
          <a:prstGeom prst="line">
            <a:avLst/>
          </a:prstGeom>
          <a:noFill/>
          <a:ln w="25400" cap="sq">
            <a:solidFill>
              <a:schemeClr val="tx1"/>
            </a:solidFill>
            <a:round/>
            <a:headEnd type="none" w="sm" len="sm"/>
            <a:tailEnd type="triangle" w="sm" len="sm"/>
          </a:ln>
        </p:spPr>
        <p:txBody>
          <a:bodyPr/>
          <a:lstStyle/>
          <a:p>
            <a:endParaRPr lang="zh-CN" altLang="en-US"/>
          </a:p>
        </p:txBody>
      </p:sp>
      <p:sp>
        <p:nvSpPr>
          <p:cNvPr id="41996" name="Line 32"/>
          <p:cNvSpPr>
            <a:spLocks noChangeShapeType="1"/>
          </p:cNvSpPr>
          <p:nvPr/>
        </p:nvSpPr>
        <p:spPr bwMode="auto">
          <a:xfrm flipV="1">
            <a:off x="4562475" y="3733800"/>
            <a:ext cx="1371600" cy="685800"/>
          </a:xfrm>
          <a:prstGeom prst="line">
            <a:avLst/>
          </a:prstGeom>
          <a:noFill/>
          <a:ln w="25400" cap="sq">
            <a:solidFill>
              <a:schemeClr val="tx1"/>
            </a:solidFill>
            <a:round/>
            <a:headEnd type="none" w="sm" len="sm"/>
            <a:tailEnd type="triangle" w="sm" len="sm"/>
          </a:ln>
        </p:spPr>
        <p:txBody>
          <a:bodyPr/>
          <a:lstStyle/>
          <a:p>
            <a:endParaRPr lang="zh-CN" altLang="en-US"/>
          </a:p>
        </p:txBody>
      </p:sp>
      <p:sp>
        <p:nvSpPr>
          <p:cNvPr id="41997" name="Rectangle 33"/>
          <p:cNvSpPr>
            <a:spLocks noChangeArrowheads="1"/>
          </p:cNvSpPr>
          <p:nvPr/>
        </p:nvSpPr>
        <p:spPr bwMode="auto">
          <a:xfrm>
            <a:off x="1042988" y="188913"/>
            <a:ext cx="7058025" cy="838200"/>
          </a:xfrm>
          <a:prstGeom prst="rect">
            <a:avLst/>
          </a:prstGeom>
          <a:noFill/>
          <a:ln w="9525">
            <a:noFill/>
            <a:miter lim="800000"/>
            <a:headEnd/>
            <a:tailEnd/>
          </a:ln>
        </p:spPr>
        <p:txBody>
          <a:bodyPr anchor="ctr"/>
          <a:lstStyle/>
          <a:p>
            <a:r>
              <a:rPr kumimoji="0" lang="zh-CN" altLang="en-US" sz="3200">
                <a:solidFill>
                  <a:srgbClr val="FFFF66"/>
                </a:solidFill>
                <a:latin typeface="隶书" pitchFamily="49" charset="-122"/>
                <a:ea typeface="宋体" pitchFamily="2" charset="-122"/>
              </a:rPr>
              <a:t>业务组合分析</a:t>
            </a:r>
            <a:br>
              <a:rPr kumimoji="0" lang="zh-CN" altLang="en-US" sz="3200">
                <a:solidFill>
                  <a:srgbClr val="FFFF66"/>
                </a:solidFill>
                <a:latin typeface="隶书" pitchFamily="49" charset="-122"/>
                <a:ea typeface="宋体" pitchFamily="2" charset="-122"/>
              </a:rPr>
            </a:br>
            <a:r>
              <a:rPr kumimoji="0" lang="en-US" altLang="zh-CN" sz="3200">
                <a:solidFill>
                  <a:srgbClr val="FFFF66"/>
                </a:solidFill>
                <a:latin typeface="Arial" pitchFamily="34" charset="0"/>
                <a:ea typeface="宋体" pitchFamily="2" charset="-122"/>
              </a:rPr>
              <a:t>——</a:t>
            </a:r>
            <a:r>
              <a:rPr kumimoji="0" lang="en-US" altLang="zh-CN" sz="3200">
                <a:solidFill>
                  <a:srgbClr val="FFFF66"/>
                </a:solidFill>
                <a:latin typeface="隶书" pitchFamily="49" charset="-122"/>
                <a:ea typeface="宋体" pitchFamily="2" charset="-122"/>
              </a:rPr>
              <a:t>BCG</a:t>
            </a:r>
            <a:r>
              <a:rPr kumimoji="0" lang="zh-CN" altLang="en-US" sz="3200">
                <a:solidFill>
                  <a:srgbClr val="FFFF66"/>
                </a:solidFill>
                <a:latin typeface="隶书" pitchFamily="49" charset="-122"/>
                <a:ea typeface="宋体" pitchFamily="2" charset="-122"/>
              </a:rPr>
              <a:t>组合矩阵基本框架</a:t>
            </a:r>
            <a:endParaRPr kumimoji="0" lang="zh-CN" altLang="en-AU" sz="3200">
              <a:solidFill>
                <a:srgbClr val="FFFF66"/>
              </a:solidFill>
              <a:latin typeface="隶书" pitchFamily="49" charset="-122"/>
              <a:ea typeface="宋体" pitchFamily="2" charset="-122"/>
            </a:endParaRPr>
          </a:p>
        </p:txBody>
      </p:sp>
    </p:spTree>
    <p:extLst>
      <p:ext uri="{BB962C8B-B14F-4D97-AF65-F5344CB8AC3E}">
        <p14:creationId xmlns:p14="http://schemas.microsoft.com/office/powerpoint/2010/main" val="3762097088"/>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a:xfrm>
            <a:off x="533400" y="1676400"/>
            <a:ext cx="8231188" cy="1036638"/>
          </a:xfrm>
        </p:spPr>
        <p:txBody>
          <a:bodyPr/>
          <a:lstStyle/>
          <a:p>
            <a:pPr eaLnBrk="1" hangingPunct="1">
              <a:lnSpc>
                <a:spcPct val="80000"/>
              </a:lnSpc>
              <a:buFont typeface="Wingdings" pitchFamily="2" charset="2"/>
              <a:buNone/>
            </a:pPr>
            <a:endParaRPr lang="en-US" altLang="zh-CN" sz="2000">
              <a:latin typeface="隶书" pitchFamily="49" charset="-122"/>
            </a:endParaRPr>
          </a:p>
          <a:p>
            <a:pPr eaLnBrk="1" hangingPunct="1">
              <a:lnSpc>
                <a:spcPct val="80000"/>
              </a:lnSpc>
            </a:pPr>
            <a:endParaRPr lang="en-US" altLang="zh-CN" sz="3600"/>
          </a:p>
        </p:txBody>
      </p:sp>
      <p:graphicFrame>
        <p:nvGraphicFramePr>
          <p:cNvPr id="1026" name="Object 2"/>
          <p:cNvGraphicFramePr>
            <a:graphicFrameLocks/>
          </p:cNvGraphicFramePr>
          <p:nvPr/>
        </p:nvGraphicFramePr>
        <p:xfrm>
          <a:off x="684213" y="2924175"/>
          <a:ext cx="7632700" cy="3409950"/>
        </p:xfrm>
        <a:graphic>
          <a:graphicData uri="http://schemas.openxmlformats.org/presentationml/2006/ole">
            <mc:AlternateContent xmlns:mc="http://schemas.openxmlformats.org/markup-compatibility/2006">
              <mc:Choice xmlns:v="urn:schemas-microsoft-com:vml" Requires="v">
                <p:oleObj spid="_x0000_s90123" name="文档" r:id="rId3" imgW="6092362" imgH="3914850" progId="Word.Document.8">
                  <p:embed/>
                </p:oleObj>
              </mc:Choice>
              <mc:Fallback>
                <p:oleObj name="文档" r:id="rId3" imgW="6092362" imgH="3914850" progId="Word.Document.8">
                  <p:embed/>
                  <p:pic>
                    <p:nvPicPr>
                      <p:cNvPr id="0" name=""/>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2924175"/>
                        <a:ext cx="7632700" cy="3409950"/>
                      </a:xfrm>
                      <a:prstGeom prst="rect">
                        <a:avLst/>
                      </a:prstGeom>
                      <a:gradFill rotWithShape="1">
                        <a:gsLst>
                          <a:gs pos="0">
                            <a:srgbClr val="FFCC99"/>
                          </a:gs>
                          <a:gs pos="100000">
                            <a:srgbClr val="FFCC99">
                              <a:gamma/>
                              <a:tint val="66667"/>
                              <a:invGamma/>
                            </a:srgbClr>
                          </a:gs>
                        </a:gsLst>
                        <a:path path="shape">
                          <a:fillToRect l="50000" t="50000" r="50000" b="50000"/>
                        </a:path>
                      </a:gradFill>
                      <a:ln w="9525">
                        <a:solidFill>
                          <a:srgbClr val="800000"/>
                        </a:solidFill>
                        <a:miter lim="800000"/>
                        <a:headEnd/>
                        <a:tailEnd/>
                      </a:ln>
                    </p:spPr>
                  </p:pic>
                </p:oleObj>
              </mc:Fallback>
            </mc:AlternateContent>
          </a:graphicData>
        </a:graphic>
      </p:graphicFrame>
      <p:sp>
        <p:nvSpPr>
          <p:cNvPr id="1387525" name="Rectangle 5"/>
          <p:cNvSpPr>
            <a:spLocks noChangeArrowheads="1"/>
          </p:cNvSpPr>
          <p:nvPr/>
        </p:nvSpPr>
        <p:spPr bwMode="auto">
          <a:xfrm>
            <a:off x="684213" y="1700213"/>
            <a:ext cx="7632700" cy="936625"/>
          </a:xfrm>
          <a:prstGeom prst="rect">
            <a:avLst/>
          </a:prstGeom>
          <a:noFill/>
          <a:ln w="12700">
            <a:noFill/>
            <a:miter lim="800000"/>
            <a:headEnd/>
            <a:tailEnd/>
          </a:ln>
        </p:spPr>
        <p:txBody>
          <a:bodyPr lIns="92075" tIns="46038" rIns="92075" bIns="46038"/>
          <a:lstStyle/>
          <a:p>
            <a:pPr marL="342900" indent="-342900" algn="l">
              <a:buClr>
                <a:schemeClr val="folHlink"/>
              </a:buClr>
              <a:buFont typeface="Wingdings" pitchFamily="2" charset="2"/>
              <a:buNone/>
            </a:pPr>
            <a:r>
              <a:rPr kumimoji="0" lang="en-US" altLang="zh-CN" sz="2400" dirty="0">
                <a:solidFill>
                  <a:schemeClr val="bg1"/>
                </a:solidFill>
                <a:latin typeface="Arial" pitchFamily="34" charset="0"/>
                <a:ea typeface="宋体" pitchFamily="2" charset="-122"/>
              </a:rPr>
              <a:t>    </a:t>
            </a:r>
            <a:r>
              <a:rPr kumimoji="0" lang="zh-CN" altLang="en-US" sz="2400" dirty="0">
                <a:latin typeface="Arial" pitchFamily="34" charset="0"/>
                <a:ea typeface="宋体" pitchFamily="2" charset="-122"/>
              </a:rPr>
              <a:t>三个经营领域为普通自行车、山地自行车和玩具自行车，数据如下：</a:t>
            </a:r>
          </a:p>
        </p:txBody>
      </p:sp>
      <p:sp>
        <p:nvSpPr>
          <p:cNvPr id="1029" name="Rectangle 6"/>
          <p:cNvSpPr>
            <a:spLocks noChangeArrowheads="1"/>
          </p:cNvSpPr>
          <p:nvPr/>
        </p:nvSpPr>
        <p:spPr bwMode="auto">
          <a:xfrm>
            <a:off x="684213" y="188913"/>
            <a:ext cx="7632700" cy="838200"/>
          </a:xfrm>
          <a:prstGeom prst="rect">
            <a:avLst/>
          </a:prstGeom>
          <a:noFill/>
          <a:ln w="9525">
            <a:noFill/>
            <a:miter lim="800000"/>
            <a:headEnd/>
            <a:tailEnd/>
          </a:ln>
        </p:spPr>
        <p:txBody>
          <a:bodyPr anchor="ctr"/>
          <a:lstStyle/>
          <a:p>
            <a:r>
              <a:rPr kumimoji="0" lang="zh-CN" altLang="en-US" sz="3600">
                <a:solidFill>
                  <a:srgbClr val="FFFF66"/>
                </a:solidFill>
                <a:latin typeface="Arial" pitchFamily="34" charset="0"/>
                <a:ea typeface="宋体" pitchFamily="2" charset="-122"/>
              </a:rPr>
              <a:t>例：一家自行车公司</a:t>
            </a:r>
            <a:endParaRPr kumimoji="0" lang="zh-CN" altLang="en-AU" sz="3600">
              <a:solidFill>
                <a:srgbClr val="FFFF66"/>
              </a:solidFill>
              <a:latin typeface="Arial" pitchFamily="34" charset="0"/>
              <a:ea typeface="宋体" pitchFamily="2" charset="-122"/>
            </a:endParaRPr>
          </a:p>
        </p:txBody>
      </p:sp>
      <p:pic>
        <p:nvPicPr>
          <p:cNvPr id="1030" name="Picture 8" descr="06"/>
          <p:cNvPicPr>
            <a:picLocks noChangeAspect="1" noChangeArrowheads="1"/>
          </p:cNvPicPr>
          <p:nvPr/>
        </p:nvPicPr>
        <p:blipFill>
          <a:blip r:embed="rId5" cstate="print"/>
          <a:srcRect/>
          <a:stretch>
            <a:fillRect/>
          </a:stretch>
        </p:blipFill>
        <p:spPr bwMode="auto">
          <a:xfrm>
            <a:off x="6804025" y="0"/>
            <a:ext cx="1584325" cy="1238250"/>
          </a:xfrm>
          <a:prstGeom prst="rect">
            <a:avLst/>
          </a:prstGeom>
          <a:noFill/>
          <a:ln w="9525">
            <a:noFill/>
            <a:miter lim="800000"/>
            <a:headEnd/>
            <a:tailEnd/>
          </a:ln>
        </p:spPr>
      </p:pic>
    </p:spTree>
    <p:extLst>
      <p:ext uri="{BB962C8B-B14F-4D97-AF65-F5344CB8AC3E}">
        <p14:creationId xmlns:p14="http://schemas.microsoft.com/office/powerpoint/2010/main" val="12598426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87525"/>
                                        </p:tgtEl>
                                        <p:attrNameLst>
                                          <p:attrName>style.visibility</p:attrName>
                                        </p:attrNameLst>
                                      </p:cBhvr>
                                      <p:to>
                                        <p:strVal val="visible"/>
                                      </p:to>
                                    </p:set>
                                    <p:anim calcmode="lin" valueType="num">
                                      <p:cBhvr additive="base">
                                        <p:cTn id="7" dur="500" fill="hold"/>
                                        <p:tgtEl>
                                          <p:spTgt spid="1387525"/>
                                        </p:tgtEl>
                                        <p:attrNameLst>
                                          <p:attrName>ppt_x</p:attrName>
                                        </p:attrNameLst>
                                      </p:cBhvr>
                                      <p:tavLst>
                                        <p:tav tm="0">
                                          <p:val>
                                            <p:strVal val="0-#ppt_w/2"/>
                                          </p:val>
                                        </p:tav>
                                        <p:tav tm="100000">
                                          <p:val>
                                            <p:strVal val="#ppt_x"/>
                                          </p:val>
                                        </p:tav>
                                      </p:tavLst>
                                    </p:anim>
                                    <p:anim calcmode="lin" valueType="num">
                                      <p:cBhvr additive="base">
                                        <p:cTn id="8" dur="500" fill="hold"/>
                                        <p:tgtEl>
                                          <p:spTgt spid="13875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752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2411413" y="2349500"/>
            <a:ext cx="6135687" cy="419100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43011" name="Line 3"/>
          <p:cNvSpPr>
            <a:spLocks noChangeShapeType="1"/>
          </p:cNvSpPr>
          <p:nvPr/>
        </p:nvSpPr>
        <p:spPr bwMode="auto">
          <a:xfrm>
            <a:off x="2627313" y="4508500"/>
            <a:ext cx="6119812" cy="0"/>
          </a:xfrm>
          <a:prstGeom prst="line">
            <a:avLst/>
          </a:prstGeom>
          <a:noFill/>
          <a:ln w="9525">
            <a:solidFill>
              <a:schemeClr val="tx1"/>
            </a:solidFill>
            <a:round/>
            <a:headEnd/>
            <a:tailEnd/>
          </a:ln>
        </p:spPr>
        <p:txBody>
          <a:bodyPr wrap="none" anchor="ctr"/>
          <a:lstStyle/>
          <a:p>
            <a:endParaRPr lang="zh-CN" altLang="en-US"/>
          </a:p>
        </p:txBody>
      </p:sp>
      <p:sp>
        <p:nvSpPr>
          <p:cNvPr id="43012" name="Line 4"/>
          <p:cNvSpPr>
            <a:spLocks noChangeShapeType="1"/>
          </p:cNvSpPr>
          <p:nvPr/>
        </p:nvSpPr>
        <p:spPr bwMode="auto">
          <a:xfrm>
            <a:off x="5795963" y="2349500"/>
            <a:ext cx="0" cy="4191000"/>
          </a:xfrm>
          <a:prstGeom prst="line">
            <a:avLst/>
          </a:prstGeom>
          <a:noFill/>
          <a:ln w="9525">
            <a:solidFill>
              <a:schemeClr val="tx1"/>
            </a:solidFill>
            <a:round/>
            <a:headEnd/>
            <a:tailEnd/>
          </a:ln>
        </p:spPr>
        <p:txBody>
          <a:bodyPr wrap="none" anchor="ctr"/>
          <a:lstStyle/>
          <a:p>
            <a:endParaRPr lang="zh-CN" altLang="en-US"/>
          </a:p>
        </p:txBody>
      </p:sp>
      <p:sp>
        <p:nvSpPr>
          <p:cNvPr id="43013" name="Oval 5"/>
          <p:cNvSpPr>
            <a:spLocks noChangeArrowheads="1"/>
          </p:cNvSpPr>
          <p:nvPr/>
        </p:nvSpPr>
        <p:spPr bwMode="auto">
          <a:xfrm>
            <a:off x="4356100" y="5229225"/>
            <a:ext cx="1295400" cy="1219200"/>
          </a:xfrm>
          <a:prstGeom prst="ellipse">
            <a:avLst/>
          </a:prstGeom>
          <a:solidFill>
            <a:srgbClr val="CC99FF"/>
          </a:solidFill>
          <a:ln w="9525">
            <a:solidFill>
              <a:schemeClr val="tx1"/>
            </a:solidFill>
            <a:round/>
            <a:headEnd/>
            <a:tailEnd/>
          </a:ln>
        </p:spPr>
        <p:txBody>
          <a:bodyPr wrap="none" anchor="ctr"/>
          <a:lstStyle/>
          <a:p>
            <a:r>
              <a:rPr kumimoji="0" lang="zh-CN" altLang="en-US" sz="2400">
                <a:solidFill>
                  <a:schemeClr val="tx1"/>
                </a:solidFill>
                <a:ea typeface="宋体" pitchFamily="2" charset="-122"/>
              </a:rPr>
              <a:t>普通</a:t>
            </a:r>
          </a:p>
        </p:txBody>
      </p:sp>
      <p:sp>
        <p:nvSpPr>
          <p:cNvPr id="43014" name="Oval 6"/>
          <p:cNvSpPr>
            <a:spLocks noChangeArrowheads="1"/>
          </p:cNvSpPr>
          <p:nvPr/>
        </p:nvSpPr>
        <p:spPr bwMode="auto">
          <a:xfrm>
            <a:off x="6324600" y="2743200"/>
            <a:ext cx="609600" cy="609600"/>
          </a:xfrm>
          <a:prstGeom prst="ellipse">
            <a:avLst/>
          </a:prstGeom>
          <a:solidFill>
            <a:srgbClr val="CC99FF"/>
          </a:solidFill>
          <a:ln w="9525">
            <a:solidFill>
              <a:schemeClr val="tx1"/>
            </a:solidFill>
            <a:round/>
            <a:headEnd/>
            <a:tailEnd/>
          </a:ln>
        </p:spPr>
        <p:txBody>
          <a:bodyPr wrap="none" anchor="ctr"/>
          <a:lstStyle/>
          <a:p>
            <a:endParaRPr lang="zh-CN" altLang="en-US"/>
          </a:p>
        </p:txBody>
      </p:sp>
      <p:sp>
        <p:nvSpPr>
          <p:cNvPr id="43015" name="Oval 7"/>
          <p:cNvSpPr>
            <a:spLocks noChangeArrowheads="1"/>
          </p:cNvSpPr>
          <p:nvPr/>
        </p:nvSpPr>
        <p:spPr bwMode="auto">
          <a:xfrm>
            <a:off x="7848600" y="3962400"/>
            <a:ext cx="381000" cy="381000"/>
          </a:xfrm>
          <a:prstGeom prst="ellipse">
            <a:avLst/>
          </a:prstGeom>
          <a:solidFill>
            <a:srgbClr val="CC99FF"/>
          </a:solidFill>
          <a:ln w="9525">
            <a:solidFill>
              <a:schemeClr val="tx1"/>
            </a:solidFill>
            <a:round/>
            <a:headEnd/>
            <a:tailEnd/>
          </a:ln>
        </p:spPr>
        <p:txBody>
          <a:bodyPr wrap="none" anchor="ctr"/>
          <a:lstStyle/>
          <a:p>
            <a:endParaRPr lang="zh-CN" altLang="en-US"/>
          </a:p>
        </p:txBody>
      </p:sp>
      <p:sp>
        <p:nvSpPr>
          <p:cNvPr id="43016" name="Text Box 9"/>
          <p:cNvSpPr txBox="1">
            <a:spLocks noChangeArrowheads="1"/>
          </p:cNvSpPr>
          <p:nvPr/>
        </p:nvSpPr>
        <p:spPr bwMode="auto">
          <a:xfrm>
            <a:off x="2700338" y="1341438"/>
            <a:ext cx="6019800" cy="1015663"/>
          </a:xfrm>
          <a:prstGeom prst="rect">
            <a:avLst/>
          </a:prstGeom>
          <a:noFill/>
          <a:ln w="9525">
            <a:noFill/>
            <a:miter lim="800000"/>
            <a:headEnd/>
            <a:tailEnd/>
          </a:ln>
        </p:spPr>
        <p:txBody>
          <a:bodyPr>
            <a:spAutoFit/>
          </a:bodyPr>
          <a:lstStyle/>
          <a:p>
            <a:pPr eaLnBrk="0" hangingPunct="0">
              <a:spcBef>
                <a:spcPct val="50000"/>
              </a:spcBef>
            </a:pPr>
            <a:r>
              <a:rPr kumimoji="0" lang="zh-CN" altLang="en-US" sz="2400">
                <a:latin typeface="宋体" pitchFamily="2" charset="-122"/>
                <a:ea typeface="宋体" pitchFamily="2" charset="-122"/>
              </a:rPr>
              <a:t>相对市场份额</a:t>
            </a:r>
          </a:p>
          <a:p>
            <a:pPr eaLnBrk="0" hangingPunct="0">
              <a:spcBef>
                <a:spcPct val="50000"/>
              </a:spcBef>
            </a:pPr>
            <a:r>
              <a:rPr kumimoji="0" lang="zh-CN" altLang="en-US" sz="2400">
                <a:latin typeface="宋体" pitchFamily="2" charset="-122"/>
                <a:ea typeface="宋体" pitchFamily="2" charset="-122"/>
              </a:rPr>
              <a:t>高                              低</a:t>
            </a:r>
          </a:p>
        </p:txBody>
      </p:sp>
      <p:sp>
        <p:nvSpPr>
          <p:cNvPr id="43017" name="Text Box 10"/>
          <p:cNvSpPr txBox="1">
            <a:spLocks noChangeArrowheads="1"/>
          </p:cNvSpPr>
          <p:nvPr/>
        </p:nvSpPr>
        <p:spPr bwMode="auto">
          <a:xfrm>
            <a:off x="914400" y="3263900"/>
            <a:ext cx="685800" cy="1938992"/>
          </a:xfrm>
          <a:prstGeom prst="rect">
            <a:avLst/>
          </a:prstGeom>
          <a:noFill/>
          <a:ln w="9525">
            <a:noFill/>
            <a:miter lim="800000"/>
            <a:headEnd/>
            <a:tailEnd/>
          </a:ln>
        </p:spPr>
        <p:txBody>
          <a:bodyPr>
            <a:spAutoFit/>
          </a:bodyPr>
          <a:lstStyle/>
          <a:p>
            <a:pPr algn="l" eaLnBrk="0" hangingPunct="0">
              <a:spcBef>
                <a:spcPct val="50000"/>
              </a:spcBef>
            </a:pPr>
            <a:r>
              <a:rPr kumimoji="0" lang="zh-CN" altLang="en-US" sz="2400">
                <a:latin typeface="宋体" pitchFamily="2" charset="-122"/>
                <a:ea typeface="宋体" pitchFamily="2" charset="-122"/>
              </a:rPr>
              <a:t>市场增长率</a:t>
            </a:r>
          </a:p>
        </p:txBody>
      </p:sp>
      <p:sp>
        <p:nvSpPr>
          <p:cNvPr id="43018" name="Text Box 11"/>
          <p:cNvSpPr txBox="1">
            <a:spLocks noChangeArrowheads="1"/>
          </p:cNvSpPr>
          <p:nvPr/>
        </p:nvSpPr>
        <p:spPr bwMode="auto">
          <a:xfrm>
            <a:off x="1763713" y="3357563"/>
            <a:ext cx="838200" cy="1938992"/>
          </a:xfrm>
          <a:prstGeom prst="rect">
            <a:avLst/>
          </a:prstGeom>
          <a:noFill/>
          <a:ln w="9525">
            <a:noFill/>
            <a:miter lim="800000"/>
            <a:headEnd/>
            <a:tailEnd/>
          </a:ln>
        </p:spPr>
        <p:txBody>
          <a:bodyPr>
            <a:spAutoFit/>
          </a:bodyPr>
          <a:lstStyle/>
          <a:p>
            <a:pPr algn="l" eaLnBrk="0" hangingPunct="0"/>
            <a:r>
              <a:rPr kumimoji="0" lang="zh-CN" altLang="en-US" sz="2400">
                <a:latin typeface="宋体" pitchFamily="2" charset="-122"/>
                <a:ea typeface="宋体" pitchFamily="2" charset="-122"/>
              </a:rPr>
              <a:t>高</a:t>
            </a:r>
          </a:p>
          <a:p>
            <a:pPr algn="l" eaLnBrk="0" hangingPunct="0"/>
            <a:endParaRPr kumimoji="0" lang="zh-CN" altLang="en-US" sz="2400">
              <a:latin typeface="宋体" pitchFamily="2" charset="-122"/>
              <a:ea typeface="宋体" pitchFamily="2" charset="-122"/>
            </a:endParaRPr>
          </a:p>
          <a:p>
            <a:pPr algn="l" eaLnBrk="0" hangingPunct="0"/>
            <a:endParaRPr kumimoji="0" lang="zh-CN" altLang="en-US" sz="2400">
              <a:latin typeface="宋体" pitchFamily="2" charset="-122"/>
              <a:ea typeface="宋体" pitchFamily="2" charset="-122"/>
            </a:endParaRPr>
          </a:p>
          <a:p>
            <a:pPr algn="l" eaLnBrk="0" hangingPunct="0"/>
            <a:endParaRPr kumimoji="0" lang="zh-CN" altLang="en-US" sz="2400">
              <a:latin typeface="宋体" pitchFamily="2" charset="-122"/>
              <a:ea typeface="宋体" pitchFamily="2" charset="-122"/>
            </a:endParaRPr>
          </a:p>
          <a:p>
            <a:pPr algn="l" eaLnBrk="0" hangingPunct="0"/>
            <a:r>
              <a:rPr kumimoji="0" lang="zh-CN" altLang="en-US" sz="2400">
                <a:latin typeface="宋体" pitchFamily="2" charset="-122"/>
                <a:ea typeface="宋体" pitchFamily="2" charset="-122"/>
              </a:rPr>
              <a:t>低</a:t>
            </a:r>
          </a:p>
        </p:txBody>
      </p:sp>
      <p:sp>
        <p:nvSpPr>
          <p:cNvPr id="43019" name="Text Box 12"/>
          <p:cNvSpPr txBox="1">
            <a:spLocks noChangeArrowheads="1"/>
          </p:cNvSpPr>
          <p:nvPr/>
        </p:nvSpPr>
        <p:spPr bwMode="auto">
          <a:xfrm>
            <a:off x="3657600" y="2362200"/>
            <a:ext cx="1524000" cy="457200"/>
          </a:xfrm>
          <a:prstGeom prst="rect">
            <a:avLst/>
          </a:prstGeom>
          <a:noFill/>
          <a:ln w="9525">
            <a:noFill/>
            <a:miter lim="800000"/>
            <a:headEnd/>
            <a:tailEnd/>
          </a:ln>
        </p:spPr>
        <p:txBody>
          <a:bodyPr>
            <a:spAutoFit/>
          </a:bodyPr>
          <a:lstStyle/>
          <a:p>
            <a:pPr algn="l" eaLnBrk="0" hangingPunct="0"/>
            <a:r>
              <a:rPr kumimoji="0" lang="zh-CN" altLang="en-US" sz="2400">
                <a:solidFill>
                  <a:schemeClr val="tx1"/>
                </a:solidFill>
              </a:rPr>
              <a:t>明星</a:t>
            </a:r>
            <a:endParaRPr kumimoji="0" lang="zh-CN" altLang="en-US" sz="3600">
              <a:solidFill>
                <a:schemeClr val="tx1"/>
              </a:solidFill>
              <a:latin typeface="Arial Black" pitchFamily="34" charset="0"/>
            </a:endParaRPr>
          </a:p>
        </p:txBody>
      </p:sp>
      <p:sp>
        <p:nvSpPr>
          <p:cNvPr id="43020" name="Text Box 13"/>
          <p:cNvSpPr txBox="1">
            <a:spLocks noChangeArrowheads="1"/>
          </p:cNvSpPr>
          <p:nvPr/>
        </p:nvSpPr>
        <p:spPr bwMode="auto">
          <a:xfrm>
            <a:off x="6324600" y="2362200"/>
            <a:ext cx="2362200" cy="457200"/>
          </a:xfrm>
          <a:prstGeom prst="rect">
            <a:avLst/>
          </a:prstGeom>
          <a:noFill/>
          <a:ln w="9525">
            <a:noFill/>
            <a:miter lim="800000"/>
            <a:headEnd/>
            <a:tailEnd/>
          </a:ln>
        </p:spPr>
        <p:txBody>
          <a:bodyPr>
            <a:spAutoFit/>
          </a:bodyPr>
          <a:lstStyle/>
          <a:p>
            <a:pPr algn="l" eaLnBrk="0" hangingPunct="0">
              <a:spcBef>
                <a:spcPct val="50000"/>
              </a:spcBef>
            </a:pPr>
            <a:r>
              <a:rPr kumimoji="0" lang="zh-CN" altLang="en-US" sz="2400">
                <a:solidFill>
                  <a:schemeClr val="tx1"/>
                </a:solidFill>
                <a:latin typeface="宋体" pitchFamily="2" charset="-122"/>
                <a:ea typeface="宋体" pitchFamily="2" charset="-122"/>
              </a:rPr>
              <a:t>问号</a:t>
            </a:r>
          </a:p>
        </p:txBody>
      </p:sp>
      <p:sp>
        <p:nvSpPr>
          <p:cNvPr id="43021" name="Text Box 14"/>
          <p:cNvSpPr txBox="1">
            <a:spLocks noChangeArrowheads="1"/>
          </p:cNvSpPr>
          <p:nvPr/>
        </p:nvSpPr>
        <p:spPr bwMode="auto">
          <a:xfrm>
            <a:off x="2987675" y="5949950"/>
            <a:ext cx="1676400" cy="457200"/>
          </a:xfrm>
          <a:prstGeom prst="rect">
            <a:avLst/>
          </a:prstGeom>
          <a:noFill/>
          <a:ln w="9525">
            <a:noFill/>
            <a:miter lim="800000"/>
            <a:headEnd/>
            <a:tailEnd/>
          </a:ln>
        </p:spPr>
        <p:txBody>
          <a:bodyPr>
            <a:spAutoFit/>
          </a:bodyPr>
          <a:lstStyle/>
          <a:p>
            <a:pPr algn="l" eaLnBrk="0" hangingPunct="0">
              <a:spcBef>
                <a:spcPct val="50000"/>
              </a:spcBef>
            </a:pPr>
            <a:r>
              <a:rPr kumimoji="0" lang="zh-CN" altLang="en-US" sz="2400">
                <a:solidFill>
                  <a:schemeClr val="tx1"/>
                </a:solidFill>
                <a:latin typeface="宋体" pitchFamily="2" charset="-122"/>
                <a:ea typeface="宋体" pitchFamily="2" charset="-122"/>
              </a:rPr>
              <a:t>现金牛</a:t>
            </a:r>
          </a:p>
        </p:txBody>
      </p:sp>
      <p:sp>
        <p:nvSpPr>
          <p:cNvPr id="43022" name="Text Box 15"/>
          <p:cNvSpPr txBox="1">
            <a:spLocks noChangeArrowheads="1"/>
          </p:cNvSpPr>
          <p:nvPr/>
        </p:nvSpPr>
        <p:spPr bwMode="auto">
          <a:xfrm>
            <a:off x="6629400" y="5943600"/>
            <a:ext cx="990600" cy="457200"/>
          </a:xfrm>
          <a:prstGeom prst="rect">
            <a:avLst/>
          </a:prstGeom>
          <a:noFill/>
          <a:ln w="9525">
            <a:noFill/>
            <a:miter lim="800000"/>
            <a:headEnd/>
            <a:tailEnd/>
          </a:ln>
        </p:spPr>
        <p:txBody>
          <a:bodyPr>
            <a:spAutoFit/>
          </a:bodyPr>
          <a:lstStyle/>
          <a:p>
            <a:pPr algn="l" eaLnBrk="0" hangingPunct="0"/>
            <a:r>
              <a:rPr kumimoji="0" lang="zh-CN" altLang="en-US" sz="2400">
                <a:solidFill>
                  <a:schemeClr val="tx1"/>
                </a:solidFill>
                <a:latin typeface="宋体" pitchFamily="2" charset="-122"/>
                <a:ea typeface="宋体" pitchFamily="2" charset="-122"/>
              </a:rPr>
              <a:t>狗</a:t>
            </a:r>
          </a:p>
        </p:txBody>
      </p:sp>
      <p:sp>
        <p:nvSpPr>
          <p:cNvPr id="43023" name="AutoShape 16"/>
          <p:cNvSpPr>
            <a:spLocks noChangeArrowheads="1"/>
          </p:cNvSpPr>
          <p:nvPr/>
        </p:nvSpPr>
        <p:spPr bwMode="auto">
          <a:xfrm>
            <a:off x="8077200" y="2895600"/>
            <a:ext cx="457200" cy="1066800"/>
          </a:xfrm>
          <a:prstGeom prst="wedgeRoundRectCallout">
            <a:avLst>
              <a:gd name="adj1" fmla="val -43750"/>
              <a:gd name="adj2" fmla="val 62796"/>
              <a:gd name="adj3" fmla="val 16667"/>
            </a:avLst>
          </a:prstGeom>
          <a:solidFill>
            <a:schemeClr val="accent1"/>
          </a:solidFill>
          <a:ln w="9525">
            <a:solidFill>
              <a:schemeClr val="tx1"/>
            </a:solidFill>
            <a:miter lim="800000"/>
            <a:headEnd/>
            <a:tailEnd/>
          </a:ln>
        </p:spPr>
        <p:txBody>
          <a:bodyPr wrap="none" anchor="ctr"/>
          <a:lstStyle/>
          <a:p>
            <a:r>
              <a:rPr kumimoji="0" lang="zh-CN" altLang="en-US" sz="2400">
                <a:solidFill>
                  <a:schemeClr val="tx1"/>
                </a:solidFill>
                <a:latin typeface="宋体" pitchFamily="2" charset="-122"/>
                <a:ea typeface="宋体" pitchFamily="2" charset="-122"/>
              </a:rPr>
              <a:t>玩</a:t>
            </a:r>
          </a:p>
          <a:p>
            <a:r>
              <a:rPr kumimoji="0" lang="zh-CN" altLang="en-US" sz="2400">
                <a:solidFill>
                  <a:schemeClr val="tx1"/>
                </a:solidFill>
                <a:latin typeface="宋体" pitchFamily="2" charset="-122"/>
                <a:ea typeface="宋体" pitchFamily="2" charset="-122"/>
              </a:rPr>
              <a:t>具</a:t>
            </a:r>
          </a:p>
        </p:txBody>
      </p:sp>
      <p:sp>
        <p:nvSpPr>
          <p:cNvPr id="43024" name="AutoShape 17"/>
          <p:cNvSpPr>
            <a:spLocks noChangeArrowheads="1"/>
          </p:cNvSpPr>
          <p:nvPr/>
        </p:nvSpPr>
        <p:spPr bwMode="auto">
          <a:xfrm rot="10800000">
            <a:off x="5334000" y="3200400"/>
            <a:ext cx="990600" cy="381000"/>
          </a:xfrm>
          <a:prstGeom prst="wedgeRoundRectCallout">
            <a:avLst>
              <a:gd name="adj1" fmla="val -43750"/>
              <a:gd name="adj2" fmla="val 70000"/>
              <a:gd name="adj3" fmla="val 16667"/>
            </a:avLst>
          </a:prstGeom>
          <a:solidFill>
            <a:schemeClr val="accent1"/>
          </a:solidFill>
          <a:ln w="9525">
            <a:solidFill>
              <a:schemeClr val="tx1"/>
            </a:solidFill>
            <a:miter lim="800000"/>
            <a:headEnd/>
            <a:tailEnd/>
          </a:ln>
        </p:spPr>
        <p:txBody>
          <a:bodyPr rot="10800000" wrap="none" anchor="ctr"/>
          <a:lstStyle/>
          <a:p>
            <a:endParaRPr kumimoji="0" lang="zh-CN" altLang="zh-CN" sz="2400">
              <a:solidFill>
                <a:schemeClr val="tx1"/>
              </a:solidFill>
              <a:ea typeface="宋体" pitchFamily="2" charset="-122"/>
            </a:endParaRPr>
          </a:p>
        </p:txBody>
      </p:sp>
      <p:sp>
        <p:nvSpPr>
          <p:cNvPr id="43025" name="Text Box 18"/>
          <p:cNvSpPr txBox="1">
            <a:spLocks noChangeArrowheads="1"/>
          </p:cNvSpPr>
          <p:nvPr/>
        </p:nvSpPr>
        <p:spPr bwMode="auto">
          <a:xfrm>
            <a:off x="5394325" y="3113088"/>
            <a:ext cx="793750" cy="457200"/>
          </a:xfrm>
          <a:prstGeom prst="rect">
            <a:avLst/>
          </a:prstGeom>
          <a:noFill/>
          <a:ln w="9525">
            <a:noFill/>
            <a:miter lim="800000"/>
            <a:headEnd/>
            <a:tailEnd/>
          </a:ln>
        </p:spPr>
        <p:txBody>
          <a:bodyPr wrap="none">
            <a:spAutoFit/>
          </a:bodyPr>
          <a:lstStyle/>
          <a:p>
            <a:pPr algn="l"/>
            <a:r>
              <a:rPr kumimoji="0" lang="zh-CN" altLang="en-US" sz="2400">
                <a:solidFill>
                  <a:schemeClr val="tx1"/>
                </a:solidFill>
                <a:ea typeface="宋体" pitchFamily="2" charset="-122"/>
              </a:rPr>
              <a:t>山地</a:t>
            </a:r>
          </a:p>
        </p:txBody>
      </p:sp>
      <p:sp>
        <p:nvSpPr>
          <p:cNvPr id="43026" name="Rectangle 19"/>
          <p:cNvSpPr>
            <a:spLocks noChangeArrowheads="1"/>
          </p:cNvSpPr>
          <p:nvPr/>
        </p:nvSpPr>
        <p:spPr bwMode="auto">
          <a:xfrm>
            <a:off x="1979613" y="188913"/>
            <a:ext cx="6264275" cy="838200"/>
          </a:xfrm>
          <a:prstGeom prst="rect">
            <a:avLst/>
          </a:prstGeom>
          <a:noFill/>
          <a:ln w="9525">
            <a:noFill/>
            <a:miter lim="800000"/>
            <a:headEnd/>
            <a:tailEnd/>
          </a:ln>
        </p:spPr>
        <p:txBody>
          <a:bodyPr anchor="ctr"/>
          <a:lstStyle/>
          <a:p>
            <a:r>
              <a:rPr kumimoji="0" lang="zh-CN" altLang="en-US" sz="3600" dirty="0">
                <a:latin typeface="Arial" pitchFamily="34" charset="0"/>
                <a:ea typeface="宋体" pitchFamily="2" charset="-122"/>
              </a:rPr>
              <a:t>自行车公司的增长</a:t>
            </a:r>
            <a:r>
              <a:rPr kumimoji="0" lang="en-US" altLang="zh-CN" sz="3600" dirty="0">
                <a:latin typeface="Arial" pitchFamily="34" charset="0"/>
                <a:ea typeface="宋体" pitchFamily="2" charset="-122"/>
              </a:rPr>
              <a:t>-</a:t>
            </a:r>
            <a:r>
              <a:rPr kumimoji="0" lang="zh-CN" altLang="en-US" sz="3600" dirty="0">
                <a:latin typeface="Arial" pitchFamily="34" charset="0"/>
                <a:ea typeface="宋体" pitchFamily="2" charset="-122"/>
              </a:rPr>
              <a:t>份额矩阵</a:t>
            </a:r>
            <a:endParaRPr kumimoji="0" lang="zh-CN" altLang="en-AU" sz="3600" dirty="0">
              <a:latin typeface="Arial" pitchFamily="34" charset="0"/>
              <a:ea typeface="宋体" pitchFamily="2" charset="-122"/>
            </a:endParaRPr>
          </a:p>
        </p:txBody>
      </p:sp>
    </p:spTree>
    <p:extLst>
      <p:ext uri="{BB962C8B-B14F-4D97-AF65-F5344CB8AC3E}">
        <p14:creationId xmlns:p14="http://schemas.microsoft.com/office/powerpoint/2010/main" val="2864698472"/>
      </p:ext>
    </p:extLst>
  </p:cSld>
  <p:clrMapOvr>
    <a:masterClrMapping/>
  </p:clrMapOvr>
  <p:transition>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sz="3600" dirty="0"/>
              <a:t>不同经营单位的特点及应采取的战略</a:t>
            </a:r>
          </a:p>
        </p:txBody>
      </p:sp>
      <p:graphicFrame>
        <p:nvGraphicFramePr>
          <p:cNvPr id="4" name="内容占位符 3"/>
          <p:cNvGraphicFramePr>
            <a:graphicFrameLocks noGrp="1"/>
          </p:cNvGraphicFramePr>
          <p:nvPr>
            <p:ph idx="1"/>
          </p:nvPr>
        </p:nvGraphicFramePr>
        <p:xfrm>
          <a:off x="457200" y="1646238"/>
          <a:ext cx="8229603" cy="1854200"/>
        </p:xfrm>
        <a:graphic>
          <a:graphicData uri="http://schemas.openxmlformats.org/drawingml/2006/table">
            <a:tbl>
              <a:tblPr firstRow="1" bandRow="1">
                <a:tableStyleId>{5C22544A-7EE6-4342-B048-85BDC9FD1C3A}</a:tableStyleId>
              </a:tblPr>
              <a:tblGrid>
                <a:gridCol w="658416">
                  <a:extLst>
                    <a:ext uri="{9D8B030D-6E8A-4147-A177-3AD203B41FA5}">
                      <a16:colId xmlns:a16="http://schemas.microsoft.com/office/drawing/2014/main" val="20000"/>
                    </a:ext>
                  </a:extLst>
                </a:gridCol>
                <a:gridCol w="3096344">
                  <a:extLst>
                    <a:ext uri="{9D8B030D-6E8A-4147-A177-3AD203B41FA5}">
                      <a16:colId xmlns:a16="http://schemas.microsoft.com/office/drawing/2014/main" val="20001"/>
                    </a:ext>
                  </a:extLst>
                </a:gridCol>
                <a:gridCol w="1183001">
                  <a:extLst>
                    <a:ext uri="{9D8B030D-6E8A-4147-A177-3AD203B41FA5}">
                      <a16:colId xmlns:a16="http://schemas.microsoft.com/office/drawing/2014/main" val="20002"/>
                    </a:ext>
                  </a:extLst>
                </a:gridCol>
                <a:gridCol w="1337279">
                  <a:extLst>
                    <a:ext uri="{9D8B030D-6E8A-4147-A177-3AD203B41FA5}">
                      <a16:colId xmlns:a16="http://schemas.microsoft.com/office/drawing/2014/main" val="20003"/>
                    </a:ext>
                  </a:extLst>
                </a:gridCol>
                <a:gridCol w="1954563">
                  <a:extLst>
                    <a:ext uri="{9D8B030D-6E8A-4147-A177-3AD203B41FA5}">
                      <a16:colId xmlns:a16="http://schemas.microsoft.com/office/drawing/2014/main" val="20004"/>
                    </a:ext>
                  </a:extLst>
                </a:gridCol>
              </a:tblGrid>
              <a:tr h="370840">
                <a:tc>
                  <a:txBody>
                    <a:bodyPr/>
                    <a:lstStyle/>
                    <a:p>
                      <a:r>
                        <a:rPr lang="zh-CN" altLang="en-US" dirty="0"/>
                        <a:t>区域</a:t>
                      </a:r>
                    </a:p>
                  </a:txBody>
                  <a:tcPr/>
                </a:tc>
                <a:tc>
                  <a:txBody>
                    <a:bodyPr/>
                    <a:lstStyle/>
                    <a:p>
                      <a:r>
                        <a:rPr lang="zh-CN" altLang="en-US" dirty="0"/>
                        <a:t>战略选择</a:t>
                      </a:r>
                    </a:p>
                  </a:txBody>
                  <a:tcPr/>
                </a:tc>
                <a:tc>
                  <a:txBody>
                    <a:bodyPr/>
                    <a:lstStyle/>
                    <a:p>
                      <a:r>
                        <a:rPr lang="zh-CN" altLang="en-US" dirty="0"/>
                        <a:t>盈利能力</a:t>
                      </a:r>
                    </a:p>
                  </a:txBody>
                  <a:tcPr/>
                </a:tc>
                <a:tc>
                  <a:txBody>
                    <a:bodyPr/>
                    <a:lstStyle/>
                    <a:p>
                      <a:r>
                        <a:rPr lang="zh-CN" altLang="en-US" dirty="0"/>
                        <a:t>投资需要</a:t>
                      </a:r>
                    </a:p>
                  </a:txBody>
                  <a:tcPr/>
                </a:tc>
                <a:tc>
                  <a:txBody>
                    <a:bodyPr/>
                    <a:lstStyle/>
                    <a:p>
                      <a:r>
                        <a:rPr lang="zh-CN" altLang="en-US" dirty="0"/>
                        <a:t>净现金流</a:t>
                      </a:r>
                    </a:p>
                  </a:txBody>
                  <a:tcPr/>
                </a:tc>
                <a:extLst>
                  <a:ext uri="{0D108BD9-81ED-4DB2-BD59-A6C34878D82A}">
                    <a16:rowId xmlns:a16="http://schemas.microsoft.com/office/drawing/2014/main" val="10000"/>
                  </a:ext>
                </a:extLst>
              </a:tr>
              <a:tr h="370840">
                <a:tc>
                  <a:txBody>
                    <a:bodyPr/>
                    <a:lstStyle/>
                    <a:p>
                      <a:r>
                        <a:rPr lang="zh-CN" altLang="en-US" dirty="0"/>
                        <a:t>明星</a:t>
                      </a:r>
                    </a:p>
                  </a:txBody>
                  <a:tcPr/>
                </a:tc>
                <a:tc>
                  <a:txBody>
                    <a:bodyPr/>
                    <a:lstStyle/>
                    <a:p>
                      <a:r>
                        <a:rPr lang="zh-CN" altLang="en-US" dirty="0"/>
                        <a:t>维护或扩大市场占有率战略</a:t>
                      </a:r>
                    </a:p>
                  </a:txBody>
                  <a:tcPr/>
                </a:tc>
                <a:tc>
                  <a:txBody>
                    <a:bodyPr/>
                    <a:lstStyle/>
                    <a:p>
                      <a:r>
                        <a:rPr lang="zh-CN" altLang="en-US" dirty="0"/>
                        <a:t>高</a:t>
                      </a:r>
                    </a:p>
                  </a:txBody>
                  <a:tcPr/>
                </a:tc>
                <a:tc>
                  <a:txBody>
                    <a:bodyPr/>
                    <a:lstStyle/>
                    <a:p>
                      <a:r>
                        <a:rPr lang="zh-CN" altLang="en-US" dirty="0"/>
                        <a:t>高</a:t>
                      </a:r>
                    </a:p>
                  </a:txBody>
                  <a:tcPr/>
                </a:tc>
                <a:tc>
                  <a:txBody>
                    <a:bodyPr/>
                    <a:lstStyle/>
                    <a:p>
                      <a:r>
                        <a:rPr lang="en-US" altLang="zh-CN" dirty="0"/>
                        <a:t>0 </a:t>
                      </a:r>
                      <a:r>
                        <a:rPr lang="zh-CN" altLang="en-US" dirty="0"/>
                        <a:t>或微负</a:t>
                      </a:r>
                    </a:p>
                  </a:txBody>
                  <a:tcPr/>
                </a:tc>
                <a:extLst>
                  <a:ext uri="{0D108BD9-81ED-4DB2-BD59-A6C34878D82A}">
                    <a16:rowId xmlns:a16="http://schemas.microsoft.com/office/drawing/2014/main" val="10001"/>
                  </a:ext>
                </a:extLst>
              </a:tr>
              <a:tr h="370840">
                <a:tc>
                  <a:txBody>
                    <a:bodyPr/>
                    <a:lstStyle/>
                    <a:p>
                      <a:r>
                        <a:rPr lang="zh-CN" altLang="en-US" dirty="0"/>
                        <a:t>问号</a:t>
                      </a:r>
                    </a:p>
                  </a:txBody>
                  <a:tcPr/>
                </a:tc>
                <a:tc>
                  <a:txBody>
                    <a:bodyPr/>
                    <a:lstStyle/>
                    <a:p>
                      <a:r>
                        <a:rPr lang="zh-CN" altLang="en-US" dirty="0"/>
                        <a:t>扩大市场占有率或放弃战略</a:t>
                      </a:r>
                    </a:p>
                  </a:txBody>
                  <a:tcPr/>
                </a:tc>
                <a:tc>
                  <a:txBody>
                    <a:bodyPr/>
                    <a:lstStyle/>
                    <a:p>
                      <a:r>
                        <a:rPr lang="zh-CN" altLang="en-US" dirty="0"/>
                        <a:t>低或亏损</a:t>
                      </a:r>
                    </a:p>
                  </a:txBody>
                  <a:tcPr/>
                </a:tc>
                <a:tc>
                  <a:txBody>
                    <a:bodyPr/>
                    <a:lstStyle/>
                    <a:p>
                      <a:r>
                        <a:rPr lang="zh-CN" altLang="en-US" dirty="0"/>
                        <a:t>高或回收</a:t>
                      </a:r>
                    </a:p>
                  </a:txBody>
                  <a:tcPr/>
                </a:tc>
                <a:tc>
                  <a:txBody>
                    <a:bodyPr/>
                    <a:lstStyle/>
                    <a:p>
                      <a:r>
                        <a:rPr lang="zh-CN" altLang="en-US" dirty="0"/>
                        <a:t>大负数或小正数</a:t>
                      </a:r>
                    </a:p>
                  </a:txBody>
                  <a:tcPr/>
                </a:tc>
                <a:extLst>
                  <a:ext uri="{0D108BD9-81ED-4DB2-BD59-A6C34878D82A}">
                    <a16:rowId xmlns:a16="http://schemas.microsoft.com/office/drawing/2014/main" val="10002"/>
                  </a:ext>
                </a:extLst>
              </a:tr>
              <a:tr h="370840">
                <a:tc>
                  <a:txBody>
                    <a:bodyPr/>
                    <a:lstStyle/>
                    <a:p>
                      <a:r>
                        <a:rPr lang="zh-CN" altLang="en-US" dirty="0"/>
                        <a:t>金牛</a:t>
                      </a:r>
                    </a:p>
                  </a:txBody>
                  <a:tcPr/>
                </a:tc>
                <a:tc>
                  <a:txBody>
                    <a:bodyPr/>
                    <a:lstStyle/>
                    <a:p>
                      <a:r>
                        <a:rPr lang="zh-CN" altLang="en-US" dirty="0"/>
                        <a:t>维护或收获战略</a:t>
                      </a:r>
                    </a:p>
                  </a:txBody>
                  <a:tcPr/>
                </a:tc>
                <a:tc>
                  <a:txBody>
                    <a:bodyPr/>
                    <a:lstStyle/>
                    <a:p>
                      <a:r>
                        <a:rPr lang="zh-CN" altLang="en-US" dirty="0"/>
                        <a:t>高</a:t>
                      </a:r>
                    </a:p>
                  </a:txBody>
                  <a:tcPr/>
                </a:tc>
                <a:tc>
                  <a:txBody>
                    <a:bodyPr/>
                    <a:lstStyle/>
                    <a:p>
                      <a:r>
                        <a:rPr lang="zh-CN" altLang="en-US" dirty="0"/>
                        <a:t>低</a:t>
                      </a:r>
                    </a:p>
                  </a:txBody>
                  <a:tcPr/>
                </a:tc>
                <a:tc>
                  <a:txBody>
                    <a:bodyPr/>
                    <a:lstStyle/>
                    <a:p>
                      <a:r>
                        <a:rPr lang="zh-CN" altLang="en-US" dirty="0"/>
                        <a:t>大正数</a:t>
                      </a:r>
                    </a:p>
                  </a:txBody>
                  <a:tcPr/>
                </a:tc>
                <a:extLst>
                  <a:ext uri="{0D108BD9-81ED-4DB2-BD59-A6C34878D82A}">
                    <a16:rowId xmlns:a16="http://schemas.microsoft.com/office/drawing/2014/main" val="10003"/>
                  </a:ext>
                </a:extLst>
              </a:tr>
              <a:tr h="370840">
                <a:tc>
                  <a:txBody>
                    <a:bodyPr/>
                    <a:lstStyle/>
                    <a:p>
                      <a:r>
                        <a:rPr lang="zh-CN" altLang="en-US" dirty="0"/>
                        <a:t>瘦狗</a:t>
                      </a:r>
                    </a:p>
                  </a:txBody>
                  <a:tcPr/>
                </a:tc>
                <a:tc>
                  <a:txBody>
                    <a:bodyPr/>
                    <a:lstStyle/>
                    <a:p>
                      <a:r>
                        <a:rPr lang="zh-CN" altLang="en-US" dirty="0"/>
                        <a:t>放弃或清算战略</a:t>
                      </a:r>
                    </a:p>
                  </a:txBody>
                  <a:tcPr/>
                </a:tc>
                <a:tc>
                  <a:txBody>
                    <a:bodyPr/>
                    <a:lstStyle/>
                    <a:p>
                      <a:r>
                        <a:rPr lang="zh-CN" altLang="en-US" dirty="0"/>
                        <a:t>低或亏损</a:t>
                      </a:r>
                    </a:p>
                  </a:txBody>
                  <a:tcPr/>
                </a:tc>
                <a:tc>
                  <a:txBody>
                    <a:bodyPr/>
                    <a:lstStyle/>
                    <a:p>
                      <a:r>
                        <a:rPr lang="zh-CN" altLang="en-US" dirty="0"/>
                        <a:t>回收</a:t>
                      </a:r>
                    </a:p>
                  </a:txBody>
                  <a:tcPr/>
                </a:tc>
                <a:tc>
                  <a:txBody>
                    <a:bodyPr/>
                    <a:lstStyle/>
                    <a:p>
                      <a:r>
                        <a:rPr lang="zh-CN" altLang="en-US" dirty="0"/>
                        <a:t>正数</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586542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ChangeArrowheads="1"/>
          </p:cNvSpPr>
          <p:nvPr/>
        </p:nvSpPr>
        <p:spPr bwMode="auto">
          <a:xfrm>
            <a:off x="684213" y="188913"/>
            <a:ext cx="7343775" cy="838200"/>
          </a:xfrm>
          <a:prstGeom prst="rect">
            <a:avLst/>
          </a:prstGeom>
          <a:noFill/>
          <a:ln w="9525">
            <a:noFill/>
            <a:miter lim="800000"/>
            <a:headEnd/>
            <a:tailEnd/>
          </a:ln>
        </p:spPr>
        <p:txBody>
          <a:bodyPr anchor="ctr"/>
          <a:lstStyle/>
          <a:p>
            <a:r>
              <a:rPr kumimoji="0" lang="zh-CN" altLang="en-US" sz="4000">
                <a:solidFill>
                  <a:srgbClr val="FFFF00"/>
                </a:solidFill>
                <a:latin typeface="Arial" pitchFamily="34" charset="0"/>
                <a:ea typeface="宋体" pitchFamily="2" charset="-122"/>
              </a:rPr>
              <a:t>方法的特点</a:t>
            </a:r>
            <a:endParaRPr kumimoji="0" lang="zh-CN" altLang="en-AU" sz="4000">
              <a:solidFill>
                <a:srgbClr val="FFFF00"/>
              </a:solidFill>
              <a:latin typeface="Arial" pitchFamily="34" charset="0"/>
              <a:ea typeface="宋体" pitchFamily="2" charset="-122"/>
            </a:endParaRPr>
          </a:p>
        </p:txBody>
      </p:sp>
      <p:sp>
        <p:nvSpPr>
          <p:cNvPr id="1389573" name="Rectangle 5"/>
          <p:cNvSpPr>
            <a:spLocks noChangeArrowheads="1"/>
          </p:cNvSpPr>
          <p:nvPr/>
        </p:nvSpPr>
        <p:spPr bwMode="auto">
          <a:xfrm>
            <a:off x="468313" y="1484313"/>
            <a:ext cx="8135937" cy="4824412"/>
          </a:xfrm>
          <a:prstGeom prst="rect">
            <a:avLst/>
          </a:prstGeom>
          <a:noFill/>
          <a:ln w="12700">
            <a:noFill/>
            <a:miter lim="800000"/>
            <a:headEnd/>
            <a:tailEnd/>
          </a:ln>
        </p:spPr>
        <p:txBody>
          <a:bodyPr lIns="92075" tIns="46038" rIns="92075" bIns="46038"/>
          <a:lstStyle/>
          <a:p>
            <a:pPr marL="342900" indent="-342900" algn="l">
              <a:spcBef>
                <a:spcPct val="20000"/>
              </a:spcBef>
              <a:buClr>
                <a:schemeClr val="folHlink"/>
              </a:buClr>
              <a:buFont typeface="Wingdings" pitchFamily="2" charset="2"/>
              <a:buChar char="l"/>
            </a:pPr>
            <a:r>
              <a:rPr kumimoji="0" lang="zh-CN" altLang="en-US" sz="2800" dirty="0">
                <a:latin typeface="隶书" pitchFamily="49" charset="-122"/>
                <a:ea typeface="宋体" pitchFamily="2" charset="-122"/>
              </a:rPr>
              <a:t>强调不同类型业务的财务（特别是现金流）特征 </a:t>
            </a:r>
          </a:p>
          <a:p>
            <a:pPr marL="342900" indent="-342900" algn="l">
              <a:spcBef>
                <a:spcPct val="20000"/>
              </a:spcBef>
              <a:buClr>
                <a:schemeClr val="folHlink"/>
              </a:buClr>
              <a:buFont typeface="Wingdings" pitchFamily="2" charset="2"/>
              <a:buChar char="l"/>
            </a:pPr>
            <a:r>
              <a:rPr kumimoji="0" lang="zh-CN" altLang="en-US" sz="2800" dirty="0">
                <a:latin typeface="隶书" pitchFamily="49" charset="-122"/>
                <a:ea typeface="宋体" pitchFamily="2" charset="-122"/>
              </a:rPr>
              <a:t>把多元化的企业看成了一组现金流入和现金流出的关系</a:t>
            </a:r>
          </a:p>
          <a:p>
            <a:pPr marL="342900" indent="-342900" algn="l">
              <a:spcBef>
                <a:spcPct val="20000"/>
              </a:spcBef>
              <a:buClr>
                <a:schemeClr val="folHlink"/>
              </a:buClr>
              <a:buFont typeface="Wingdings" pitchFamily="2" charset="2"/>
              <a:buChar char="l"/>
            </a:pPr>
            <a:r>
              <a:rPr kumimoji="0" lang="zh-CN" altLang="en-US" sz="2800" dirty="0">
                <a:latin typeface="隶书" pitchFamily="49" charset="-122"/>
                <a:ea typeface="宋体" pitchFamily="2" charset="-122"/>
              </a:rPr>
              <a:t>解释了为什么企业在配置资源时要给不同的领域以不同的优先权。</a:t>
            </a:r>
          </a:p>
          <a:p>
            <a:pPr marL="342900" indent="-342900" algn="l">
              <a:spcBef>
                <a:spcPct val="20000"/>
              </a:spcBef>
              <a:buClr>
                <a:schemeClr val="folHlink"/>
              </a:buClr>
              <a:buFont typeface="Wingdings" pitchFamily="2" charset="2"/>
              <a:buChar char="l"/>
            </a:pPr>
            <a:r>
              <a:rPr kumimoji="0" lang="zh-CN" altLang="en-US" sz="2800" dirty="0">
                <a:latin typeface="隶书" pitchFamily="49" charset="-122"/>
                <a:ea typeface="宋体" pitchFamily="2" charset="-122"/>
              </a:rPr>
              <a:t>胜利的结局</a:t>
            </a:r>
            <a:r>
              <a:rPr kumimoji="0" lang="en-US" altLang="zh-CN" sz="2800" dirty="0">
                <a:latin typeface="隶书" pitchFamily="49" charset="-122"/>
                <a:ea typeface="宋体" pitchFamily="2" charset="-122"/>
              </a:rPr>
              <a:t>--</a:t>
            </a:r>
            <a:r>
              <a:rPr kumimoji="0" lang="zh-CN" altLang="en-US" sz="2800" dirty="0">
                <a:latin typeface="隶书" pitchFamily="49" charset="-122"/>
                <a:ea typeface="宋体" pitchFamily="2" charset="-122"/>
              </a:rPr>
              <a:t>问题产品改造成新星，而后变成金牛</a:t>
            </a:r>
          </a:p>
          <a:p>
            <a:pPr marL="342900" indent="-342900" algn="l">
              <a:spcBef>
                <a:spcPct val="20000"/>
              </a:spcBef>
              <a:buClr>
                <a:schemeClr val="folHlink"/>
              </a:buClr>
              <a:buFont typeface="Wingdings" pitchFamily="2" charset="2"/>
              <a:buChar char="l"/>
            </a:pPr>
            <a:r>
              <a:rPr kumimoji="0" lang="zh-CN" altLang="en-US" sz="2800" dirty="0">
                <a:latin typeface="隶书" pitchFamily="49" charset="-122"/>
                <a:ea typeface="宋体" pitchFamily="2" charset="-122"/>
              </a:rPr>
              <a:t>两种灾难性的结局</a:t>
            </a:r>
          </a:p>
          <a:p>
            <a:pPr marL="342900" indent="-342900" algn="l">
              <a:spcBef>
                <a:spcPct val="20000"/>
              </a:spcBef>
              <a:buClr>
                <a:schemeClr val="folHlink"/>
              </a:buClr>
              <a:buFont typeface="Wingdings" pitchFamily="2" charset="2"/>
              <a:buNone/>
            </a:pPr>
            <a:r>
              <a:rPr kumimoji="0" lang="zh-CN" altLang="en-US" sz="2800" dirty="0">
                <a:latin typeface="隶书" pitchFamily="49" charset="-122"/>
                <a:ea typeface="宋体" pitchFamily="2" charset="-122"/>
              </a:rPr>
              <a:t>    </a:t>
            </a:r>
            <a:r>
              <a:rPr kumimoji="0" lang="en-US" altLang="zh-CN" sz="2800" dirty="0">
                <a:latin typeface="隶书" pitchFamily="49" charset="-122"/>
                <a:ea typeface="宋体" pitchFamily="2" charset="-122"/>
              </a:rPr>
              <a:t>--</a:t>
            </a:r>
            <a:r>
              <a:rPr kumimoji="0" lang="zh-CN" altLang="en-US" sz="2800" dirty="0">
                <a:latin typeface="隶书" pitchFamily="49" charset="-122"/>
                <a:ea typeface="宋体" pitchFamily="2" charset="-122"/>
              </a:rPr>
              <a:t>明星产品演化成了问题产品并堕落成了 </a:t>
            </a:r>
            <a:r>
              <a:rPr kumimoji="0" lang="en-US" altLang="zh-CN" sz="2800" dirty="0">
                <a:latin typeface="隶书" pitchFamily="49" charset="-122"/>
                <a:ea typeface="宋体" pitchFamily="2" charset="-122"/>
              </a:rPr>
              <a:t>dog</a:t>
            </a:r>
          </a:p>
          <a:p>
            <a:pPr marL="342900" indent="-342900" algn="l">
              <a:spcBef>
                <a:spcPct val="20000"/>
              </a:spcBef>
              <a:buClr>
                <a:schemeClr val="folHlink"/>
              </a:buClr>
              <a:buFont typeface="Wingdings" pitchFamily="2" charset="2"/>
              <a:buNone/>
            </a:pPr>
            <a:r>
              <a:rPr kumimoji="0" lang="en-US" altLang="zh-CN" sz="2800" dirty="0">
                <a:latin typeface="隶书" pitchFamily="49" charset="-122"/>
                <a:ea typeface="宋体" pitchFamily="2" charset="-122"/>
              </a:rPr>
              <a:t>    --</a:t>
            </a:r>
            <a:r>
              <a:rPr kumimoji="0" lang="zh-CN" altLang="en-US" sz="2800" dirty="0">
                <a:latin typeface="隶书" pitchFamily="49" charset="-122"/>
                <a:ea typeface="宋体" pitchFamily="2" charset="-122"/>
              </a:rPr>
              <a:t>牛失去了地位而进入狗舍</a:t>
            </a:r>
          </a:p>
        </p:txBody>
      </p:sp>
    </p:spTree>
    <p:extLst>
      <p:ext uri="{BB962C8B-B14F-4D97-AF65-F5344CB8AC3E}">
        <p14:creationId xmlns:p14="http://schemas.microsoft.com/office/powerpoint/2010/main" val="2162365477"/>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89573"/>
                                        </p:tgtEl>
                                        <p:attrNameLst>
                                          <p:attrName>style.visibility</p:attrName>
                                        </p:attrNameLst>
                                      </p:cBhvr>
                                      <p:to>
                                        <p:strVal val="visible"/>
                                      </p:to>
                                    </p:set>
                                    <p:anim calcmode="lin" valueType="num">
                                      <p:cBhvr additive="base">
                                        <p:cTn id="7" dur="500" fill="hold"/>
                                        <p:tgtEl>
                                          <p:spTgt spid="1389573"/>
                                        </p:tgtEl>
                                        <p:attrNameLst>
                                          <p:attrName>ppt_x</p:attrName>
                                        </p:attrNameLst>
                                      </p:cBhvr>
                                      <p:tavLst>
                                        <p:tav tm="0">
                                          <p:val>
                                            <p:strVal val="0-#ppt_w/2"/>
                                          </p:val>
                                        </p:tav>
                                        <p:tav tm="100000">
                                          <p:val>
                                            <p:strVal val="#ppt_x"/>
                                          </p:val>
                                        </p:tav>
                                      </p:tavLst>
                                    </p:anim>
                                    <p:anim calcmode="lin" valueType="num">
                                      <p:cBhvr additive="base">
                                        <p:cTn id="8" dur="500" fill="hold"/>
                                        <p:tgtEl>
                                          <p:spTgt spid="13895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957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323850" y="228600"/>
            <a:ext cx="8424863" cy="838200"/>
          </a:xfrm>
          <a:noFill/>
        </p:spPr>
        <p:txBody>
          <a:bodyPr/>
          <a:lstStyle/>
          <a:p>
            <a:pPr eaLnBrk="1" hangingPunct="1"/>
            <a:r>
              <a:rPr lang="zh-CN" altLang="en-AU" dirty="0">
                <a:solidFill>
                  <a:srgbClr val="FFFF66"/>
                </a:solidFill>
              </a:rPr>
              <a:t>多元化战略</a:t>
            </a:r>
            <a:r>
              <a:rPr lang="zh-CN" altLang="en-US" dirty="0">
                <a:solidFill>
                  <a:srgbClr val="FFFF66"/>
                </a:solidFill>
              </a:rPr>
              <a:t>的分类</a:t>
            </a:r>
            <a:endParaRPr lang="zh-CN" altLang="en-AU" dirty="0">
              <a:solidFill>
                <a:srgbClr val="FFFF66"/>
              </a:solidFill>
            </a:endParaRPr>
          </a:p>
        </p:txBody>
      </p:sp>
      <p:sp>
        <p:nvSpPr>
          <p:cNvPr id="1378307" name="Rectangle 3"/>
          <p:cNvSpPr>
            <a:spLocks noChangeArrowheads="1"/>
          </p:cNvSpPr>
          <p:nvPr/>
        </p:nvSpPr>
        <p:spPr bwMode="auto">
          <a:xfrm>
            <a:off x="323850" y="1447800"/>
            <a:ext cx="8534400" cy="4286250"/>
          </a:xfrm>
          <a:prstGeom prst="rect">
            <a:avLst/>
          </a:prstGeom>
          <a:noFill/>
          <a:ln w="12700">
            <a:noFill/>
            <a:miter lim="800000"/>
            <a:headEnd/>
            <a:tailEnd/>
          </a:ln>
        </p:spPr>
        <p:txBody>
          <a:bodyPr lIns="92075" tIns="46038" rIns="92075" bIns="46038"/>
          <a:lstStyle/>
          <a:p>
            <a:pPr marL="342900" indent="-342900" algn="l">
              <a:lnSpc>
                <a:spcPct val="105000"/>
              </a:lnSpc>
              <a:spcBef>
                <a:spcPct val="30000"/>
              </a:spcBef>
              <a:buClr>
                <a:schemeClr val="tx1"/>
              </a:buClr>
              <a:buFont typeface="Arial" pitchFamily="34" charset="0"/>
              <a:buChar char="•"/>
            </a:pPr>
            <a:r>
              <a:rPr kumimoji="0" lang="zh-CN" altLang="en-US" sz="2800" dirty="0">
                <a:latin typeface="Arial" pitchFamily="34" charset="0"/>
                <a:ea typeface="宋体" pitchFamily="2" charset="-122"/>
              </a:rPr>
              <a:t>相关多元化：公司进入与现有的业务在价值链上拥有战略匹配关系的新业务</a:t>
            </a:r>
            <a:endParaRPr kumimoji="0" lang="en-US" altLang="zh-CN" sz="2800" dirty="0">
              <a:latin typeface="Arial" pitchFamily="34" charset="0"/>
              <a:ea typeface="宋体" pitchFamily="2" charset="-122"/>
            </a:endParaRPr>
          </a:p>
          <a:p>
            <a:pPr marL="800100" lvl="1" indent="-342900">
              <a:lnSpc>
                <a:spcPct val="105000"/>
              </a:lnSpc>
              <a:spcBef>
                <a:spcPct val="30000"/>
              </a:spcBef>
              <a:buClr>
                <a:schemeClr val="tx1"/>
              </a:buClr>
              <a:buFont typeface="Arial" pitchFamily="34" charset="0"/>
              <a:buChar char="•"/>
            </a:pPr>
            <a:r>
              <a:rPr kumimoji="0" lang="zh-CN" altLang="en-US" sz="2800" dirty="0">
                <a:latin typeface="Arial" pitchFamily="34" charset="0"/>
                <a:ea typeface="宋体" pitchFamily="2" charset="-122"/>
              </a:rPr>
              <a:t>范围经济：一个公司内部经营两种或多种业务可以达到成本节约的效果，经营的总成本小于各项业务独立经营的成本之和。</a:t>
            </a:r>
            <a:endParaRPr kumimoji="0" lang="en-US" altLang="zh-CN" sz="2800" dirty="0">
              <a:latin typeface="Arial" pitchFamily="34" charset="0"/>
              <a:ea typeface="宋体" pitchFamily="2" charset="-122"/>
            </a:endParaRPr>
          </a:p>
          <a:p>
            <a:pPr marL="800100" lvl="1" indent="-342900">
              <a:lnSpc>
                <a:spcPct val="105000"/>
              </a:lnSpc>
              <a:spcBef>
                <a:spcPct val="30000"/>
              </a:spcBef>
              <a:buClr>
                <a:schemeClr val="tx1"/>
              </a:buClr>
              <a:buFont typeface="Arial" pitchFamily="34" charset="0"/>
              <a:buChar char="•"/>
            </a:pPr>
            <a:r>
              <a:rPr lang="zh-CN" altLang="en-US" sz="2800" dirty="0">
                <a:latin typeface="Arial" pitchFamily="34" charset="0"/>
                <a:ea typeface="宋体" pitchFamily="2" charset="-122"/>
              </a:rPr>
              <a:t>共享技术开发、品牌和渠道</a:t>
            </a:r>
            <a:endParaRPr kumimoji="0" lang="zh-CN" altLang="en-US" sz="2800" dirty="0">
              <a:latin typeface="Arial" pitchFamily="34" charset="0"/>
              <a:ea typeface="宋体" pitchFamily="2" charset="-122"/>
            </a:endParaRPr>
          </a:p>
          <a:p>
            <a:pPr marL="342900" indent="-342900" algn="l">
              <a:lnSpc>
                <a:spcPct val="105000"/>
              </a:lnSpc>
              <a:spcBef>
                <a:spcPct val="30000"/>
              </a:spcBef>
              <a:buClr>
                <a:schemeClr val="tx1"/>
              </a:buClr>
              <a:buFont typeface="Arial" pitchFamily="34" charset="0"/>
              <a:buChar char="•"/>
            </a:pPr>
            <a:r>
              <a:rPr kumimoji="0" lang="zh-CN" altLang="en-US" sz="2800" dirty="0">
                <a:latin typeface="Arial" pitchFamily="34" charset="0"/>
                <a:ea typeface="宋体" pitchFamily="2" charset="-122"/>
              </a:rPr>
              <a:t>非相关多元化：公司增加与现有的产品或服务、技术或市场都没有直接或间接联系的大不相同的新产品或服务</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78307"/>
                                        </p:tgtEl>
                                        <p:attrNameLst>
                                          <p:attrName>style.visibility</p:attrName>
                                        </p:attrNameLst>
                                      </p:cBhvr>
                                      <p:to>
                                        <p:strVal val="visible"/>
                                      </p:to>
                                    </p:set>
                                    <p:anim calcmode="lin" valueType="num">
                                      <p:cBhvr additive="base">
                                        <p:cTn id="7" dur="500" fill="hold"/>
                                        <p:tgtEl>
                                          <p:spTgt spid="1378307"/>
                                        </p:tgtEl>
                                        <p:attrNameLst>
                                          <p:attrName>ppt_x</p:attrName>
                                        </p:attrNameLst>
                                      </p:cBhvr>
                                      <p:tavLst>
                                        <p:tav tm="0">
                                          <p:val>
                                            <p:strVal val="0-#ppt_w/2"/>
                                          </p:val>
                                        </p:tav>
                                        <p:tav tm="100000">
                                          <p:val>
                                            <p:strVal val="#ppt_x"/>
                                          </p:val>
                                        </p:tav>
                                      </p:tavLst>
                                    </p:anim>
                                    <p:anim calcmode="lin" valueType="num">
                                      <p:cBhvr additive="base">
                                        <p:cTn id="8" dur="500" fill="hold"/>
                                        <p:tgtEl>
                                          <p:spTgt spid="13783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830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选择多元化战略的条件</a:t>
            </a:r>
          </a:p>
        </p:txBody>
      </p:sp>
      <p:sp>
        <p:nvSpPr>
          <p:cNvPr id="3" name="内容占位符 2"/>
          <p:cNvSpPr>
            <a:spLocks noGrp="1"/>
          </p:cNvSpPr>
          <p:nvPr>
            <p:ph idx="1"/>
          </p:nvPr>
        </p:nvSpPr>
        <p:spPr/>
        <p:txBody>
          <a:bodyPr>
            <a:noAutofit/>
          </a:bodyPr>
          <a:lstStyle/>
          <a:p>
            <a:r>
              <a:rPr lang="zh-CN" altLang="en-US" sz="2400" dirty="0"/>
              <a:t>拥有超越具体业务的企业战略，公司战略强调未来愿景和总体控制，避免业务单元成为没有战略的利润中心</a:t>
            </a:r>
            <a:endParaRPr lang="en-US" altLang="zh-CN" sz="2400" dirty="0"/>
          </a:p>
          <a:p>
            <a:r>
              <a:rPr lang="zh-CN" altLang="en-US" sz="2400" dirty="0"/>
              <a:t>拥有强调组织学习能力和创造性的核心竞争力，是企业的核心竞争力能够支撑多业务的扩张</a:t>
            </a:r>
            <a:endParaRPr lang="en-US" altLang="zh-CN" sz="2400" dirty="0"/>
          </a:p>
          <a:p>
            <a:r>
              <a:rPr lang="zh-CN" altLang="en-US" sz="2400" dirty="0"/>
              <a:t>拥有竞争性的企业愿景与具备筛选功能的业务模型，使公司业务“多而不乱”</a:t>
            </a:r>
            <a:endParaRPr lang="en-US" altLang="zh-CN" sz="2400" dirty="0"/>
          </a:p>
          <a:p>
            <a:r>
              <a:rPr lang="zh-CN" altLang="en-US" sz="2400" dirty="0"/>
              <a:t>培养具有较强凝聚力和控制力的企业文化，使企业能够通过共同的理念减少管理成本，降低管理风险</a:t>
            </a:r>
            <a:endParaRPr lang="en-US" altLang="zh-CN" sz="2400" dirty="0"/>
          </a:p>
          <a:p>
            <a:r>
              <a:rPr lang="zh-CN" altLang="en-US" sz="2400" dirty="0"/>
              <a:t>企业本身具有拓展经营项目的实力</a:t>
            </a:r>
            <a:r>
              <a:rPr lang="en-US" altLang="zh-CN" sz="2400" dirty="0"/>
              <a:t>-</a:t>
            </a:r>
            <a:r>
              <a:rPr lang="zh-CN" altLang="en-US" sz="2400" dirty="0"/>
              <a:t>资金、技术、人才</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多元化战略的动机</a:t>
            </a:r>
          </a:p>
        </p:txBody>
      </p:sp>
      <p:graphicFrame>
        <p:nvGraphicFramePr>
          <p:cNvPr id="4" name="内容占位符 3"/>
          <p:cNvGraphicFramePr>
            <a:graphicFrameLocks noGrp="1"/>
          </p:cNvGraphicFramePr>
          <p:nvPr>
            <p:ph idx="1"/>
          </p:nvPr>
        </p:nvGraphicFramePr>
        <p:xfrm>
          <a:off x="323528" y="1646238"/>
          <a:ext cx="8496945" cy="3627120"/>
        </p:xfrm>
        <a:graphic>
          <a:graphicData uri="http://schemas.openxmlformats.org/drawingml/2006/table">
            <a:tbl>
              <a:tblPr firstRow="1" bandRow="1">
                <a:tableStyleId>{5C22544A-7EE6-4342-B048-85BDC9FD1C3A}</a:tableStyleId>
              </a:tblPr>
              <a:tblGrid>
                <a:gridCol w="3096344">
                  <a:extLst>
                    <a:ext uri="{9D8B030D-6E8A-4147-A177-3AD203B41FA5}">
                      <a16:colId xmlns:a16="http://schemas.microsoft.com/office/drawing/2014/main" val="20000"/>
                    </a:ext>
                  </a:extLst>
                </a:gridCol>
                <a:gridCol w="5400601">
                  <a:extLst>
                    <a:ext uri="{9D8B030D-6E8A-4147-A177-3AD203B41FA5}">
                      <a16:colId xmlns:a16="http://schemas.microsoft.com/office/drawing/2014/main" val="20001"/>
                    </a:ext>
                  </a:extLst>
                </a:gridCol>
              </a:tblGrid>
              <a:tr h="370840">
                <a:tc>
                  <a:txBody>
                    <a:bodyPr/>
                    <a:lstStyle/>
                    <a:p>
                      <a:r>
                        <a:rPr lang="zh-CN" altLang="en-US" sz="2800" dirty="0"/>
                        <a:t>战略目标</a:t>
                      </a:r>
                    </a:p>
                  </a:txBody>
                  <a:tcPr/>
                </a:tc>
                <a:tc>
                  <a:txBody>
                    <a:bodyPr/>
                    <a:lstStyle/>
                    <a:p>
                      <a:r>
                        <a:rPr lang="zh-CN" altLang="en-US" sz="2800" dirty="0"/>
                        <a:t>关键性条件</a:t>
                      </a:r>
                    </a:p>
                  </a:txBody>
                  <a:tcPr/>
                </a:tc>
                <a:extLst>
                  <a:ext uri="{0D108BD9-81ED-4DB2-BD59-A6C34878D82A}">
                    <a16:rowId xmlns:a16="http://schemas.microsoft.com/office/drawing/2014/main" val="10000"/>
                  </a:ext>
                </a:extLst>
              </a:tr>
              <a:tr h="370840">
                <a:tc>
                  <a:txBody>
                    <a:bodyPr/>
                    <a:lstStyle/>
                    <a:p>
                      <a:r>
                        <a:rPr lang="zh-CN" altLang="en-US" sz="2800" dirty="0"/>
                        <a:t>战略性的行业转移</a:t>
                      </a:r>
                    </a:p>
                  </a:txBody>
                  <a:tcPr/>
                </a:tc>
                <a:tc>
                  <a:txBody>
                    <a:bodyPr/>
                    <a:lstStyle/>
                    <a:p>
                      <a:r>
                        <a:rPr lang="zh-CN" altLang="en-US" sz="2800" dirty="0"/>
                        <a:t>现有行业逐步衰退</a:t>
                      </a:r>
                    </a:p>
                  </a:txBody>
                  <a:tcPr/>
                </a:tc>
                <a:extLst>
                  <a:ext uri="{0D108BD9-81ED-4DB2-BD59-A6C34878D82A}">
                    <a16:rowId xmlns:a16="http://schemas.microsoft.com/office/drawing/2014/main" val="10001"/>
                  </a:ext>
                </a:extLst>
              </a:tr>
              <a:tr h="370840">
                <a:tc>
                  <a:txBody>
                    <a:bodyPr/>
                    <a:lstStyle/>
                    <a:p>
                      <a:r>
                        <a:rPr lang="zh-CN" altLang="en-US" sz="2800" dirty="0"/>
                        <a:t>战术性的发展</a:t>
                      </a:r>
                    </a:p>
                  </a:txBody>
                  <a:tcPr/>
                </a:tc>
                <a:tc>
                  <a:txBody>
                    <a:bodyPr/>
                    <a:lstStyle/>
                    <a:p>
                      <a:r>
                        <a:rPr lang="zh-CN" altLang="en-US" sz="2800" dirty="0"/>
                        <a:t>新行业吸引力较大</a:t>
                      </a:r>
                    </a:p>
                  </a:txBody>
                  <a:tcPr/>
                </a:tc>
                <a:extLst>
                  <a:ext uri="{0D108BD9-81ED-4DB2-BD59-A6C34878D82A}">
                    <a16:rowId xmlns:a16="http://schemas.microsoft.com/office/drawing/2014/main" val="10002"/>
                  </a:ext>
                </a:extLst>
              </a:tr>
              <a:tr h="370840">
                <a:tc>
                  <a:txBody>
                    <a:bodyPr/>
                    <a:lstStyle/>
                    <a:p>
                      <a:r>
                        <a:rPr lang="zh-CN" altLang="en-US" sz="2800" dirty="0"/>
                        <a:t>范围经济</a:t>
                      </a:r>
                    </a:p>
                  </a:txBody>
                  <a:tcPr/>
                </a:tc>
                <a:tc>
                  <a:txBody>
                    <a:bodyPr/>
                    <a:lstStyle/>
                    <a:p>
                      <a:r>
                        <a:rPr lang="zh-CN" altLang="en-US" sz="2800" dirty="0"/>
                        <a:t>少量投入就可进入新行业</a:t>
                      </a:r>
                    </a:p>
                  </a:txBody>
                  <a:tcPr/>
                </a:tc>
                <a:extLst>
                  <a:ext uri="{0D108BD9-81ED-4DB2-BD59-A6C34878D82A}">
                    <a16:rowId xmlns:a16="http://schemas.microsoft.com/office/drawing/2014/main" val="10003"/>
                  </a:ext>
                </a:extLst>
              </a:tr>
              <a:tr h="370840">
                <a:tc>
                  <a:txBody>
                    <a:bodyPr/>
                    <a:lstStyle/>
                    <a:p>
                      <a:r>
                        <a:rPr lang="zh-CN" altLang="en-US" sz="2800" dirty="0"/>
                        <a:t>提高获取核心能力</a:t>
                      </a:r>
                    </a:p>
                  </a:txBody>
                  <a:tcPr/>
                </a:tc>
                <a:tc>
                  <a:txBody>
                    <a:bodyPr/>
                    <a:lstStyle/>
                    <a:p>
                      <a:r>
                        <a:rPr lang="zh-CN" altLang="en-US" sz="2800" dirty="0"/>
                        <a:t>拥有核心能力技术</a:t>
                      </a:r>
                      <a:r>
                        <a:rPr lang="en-US" altLang="zh-CN" sz="2800" dirty="0"/>
                        <a:t>/</a:t>
                      </a:r>
                      <a:r>
                        <a:rPr lang="zh-CN" altLang="en-US" sz="2800" dirty="0"/>
                        <a:t>市场相关度高</a:t>
                      </a:r>
                    </a:p>
                  </a:txBody>
                  <a:tcPr/>
                </a:tc>
                <a:extLst>
                  <a:ext uri="{0D108BD9-81ED-4DB2-BD59-A6C34878D82A}">
                    <a16:rowId xmlns:a16="http://schemas.microsoft.com/office/drawing/2014/main" val="10004"/>
                  </a:ext>
                </a:extLst>
              </a:tr>
              <a:tr h="370840">
                <a:tc>
                  <a:txBody>
                    <a:bodyPr/>
                    <a:lstStyle/>
                    <a:p>
                      <a:r>
                        <a:rPr lang="zh-CN" altLang="en-US" sz="2800" dirty="0"/>
                        <a:t>分散风险</a:t>
                      </a:r>
                    </a:p>
                  </a:txBody>
                  <a:tcPr/>
                </a:tc>
                <a:tc>
                  <a:txBody>
                    <a:bodyPr/>
                    <a:lstStyle/>
                    <a:p>
                      <a:r>
                        <a:rPr lang="zh-CN" altLang="en-US" sz="2800" dirty="0"/>
                        <a:t>现有行业市场</a:t>
                      </a:r>
                      <a:r>
                        <a:rPr lang="en-US" altLang="zh-CN" sz="2800" dirty="0"/>
                        <a:t>/</a:t>
                      </a:r>
                      <a:r>
                        <a:rPr lang="zh-CN" altLang="en-US" sz="2800" dirty="0"/>
                        <a:t>技术变化大</a:t>
                      </a:r>
                    </a:p>
                  </a:txBody>
                  <a:tcPr/>
                </a:tc>
                <a:extLst>
                  <a:ext uri="{0D108BD9-81ED-4DB2-BD59-A6C34878D82A}">
                    <a16:rowId xmlns:a16="http://schemas.microsoft.com/office/drawing/2014/main" val="10005"/>
                  </a:ext>
                </a:extLst>
              </a:tr>
              <a:tr h="370840">
                <a:tc>
                  <a:txBody>
                    <a:bodyPr/>
                    <a:lstStyle/>
                    <a:p>
                      <a:r>
                        <a:rPr lang="zh-CN" altLang="en-US" sz="2800" dirty="0"/>
                        <a:t>追求成长</a:t>
                      </a:r>
                    </a:p>
                  </a:txBody>
                  <a:tcPr/>
                </a:tc>
                <a:tc>
                  <a:txBody>
                    <a:bodyPr/>
                    <a:lstStyle/>
                    <a:p>
                      <a:r>
                        <a:rPr lang="zh-CN" altLang="en-US" sz="2800" dirty="0"/>
                        <a:t>现有市场饱和</a:t>
                      </a:r>
                      <a:r>
                        <a:rPr lang="en-US" altLang="zh-CN" sz="2800" dirty="0"/>
                        <a:t>/</a:t>
                      </a:r>
                      <a:r>
                        <a:rPr lang="zh-CN" altLang="en-US" sz="2800" dirty="0"/>
                        <a:t>产品竞争力低</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8386" name="AutoShape 2"/>
          <p:cNvSpPr>
            <a:spLocks noChangeArrowheads="1"/>
          </p:cNvSpPr>
          <p:nvPr/>
        </p:nvSpPr>
        <p:spPr bwMode="auto">
          <a:xfrm>
            <a:off x="323850" y="1700213"/>
            <a:ext cx="7580313" cy="4857750"/>
          </a:xfrm>
          <a:prstGeom prst="roundRect">
            <a:avLst>
              <a:gd name="adj" fmla="val 12477"/>
            </a:avLst>
          </a:prstGeom>
          <a:noFill/>
          <a:ln w="12700">
            <a:noFill/>
            <a:round/>
            <a:headEnd/>
            <a:tailEnd/>
          </a:ln>
        </p:spPr>
        <p:txBody>
          <a:bodyPr wrap="none"/>
          <a:lstStyle/>
          <a:p>
            <a:pPr algn="l"/>
            <a:r>
              <a:rPr lang="zh-CN" altLang="en-US" sz="3600" u="sng" dirty="0">
                <a:latin typeface="宋体" pitchFamily="2" charset="-122"/>
                <a:ea typeface="宋体" pitchFamily="2" charset="-122"/>
              </a:rPr>
              <a:t>吉列公司</a:t>
            </a:r>
          </a:p>
          <a:p>
            <a:pPr algn="l"/>
            <a:r>
              <a:rPr lang="zh-CN" altLang="en-US" sz="3600" i="1" dirty="0">
                <a:latin typeface="宋体" pitchFamily="2" charset="-122"/>
                <a:ea typeface="宋体" pitchFamily="2" charset="-122"/>
              </a:rPr>
              <a:t>  </a:t>
            </a:r>
            <a:r>
              <a:rPr lang="zh-CN" altLang="en-US" sz="3600" dirty="0">
                <a:latin typeface="宋体" pitchFamily="2" charset="-122"/>
                <a:ea typeface="宋体" pitchFamily="2" charset="-122"/>
              </a:rPr>
              <a:t>刀片和剃刀</a:t>
            </a:r>
          </a:p>
          <a:p>
            <a:pPr algn="l"/>
            <a:r>
              <a:rPr lang="zh-CN" altLang="en-US" sz="3600" dirty="0">
                <a:latin typeface="宋体" pitchFamily="2" charset="-122"/>
                <a:ea typeface="宋体" pitchFamily="2" charset="-122"/>
              </a:rPr>
              <a:t>  梳妆品</a:t>
            </a:r>
          </a:p>
          <a:p>
            <a:pPr algn="l"/>
            <a:r>
              <a:rPr lang="zh-CN" altLang="en-US" sz="3600" dirty="0">
                <a:latin typeface="宋体" pitchFamily="2" charset="-122"/>
                <a:ea typeface="宋体" pitchFamily="2" charset="-122"/>
              </a:rPr>
              <a:t>  皮肤护理产品</a:t>
            </a:r>
          </a:p>
          <a:p>
            <a:pPr algn="l"/>
            <a:r>
              <a:rPr lang="zh-CN" altLang="en-US" sz="3600" dirty="0">
                <a:latin typeface="宋体" pitchFamily="2" charset="-122"/>
                <a:ea typeface="宋体" pitchFamily="2" charset="-122"/>
              </a:rPr>
              <a:t>  牙刷和牙齿护理产品</a:t>
            </a:r>
          </a:p>
          <a:p>
            <a:pPr algn="l"/>
            <a:r>
              <a:rPr lang="en-US" altLang="zh-CN" sz="3600" dirty="0">
                <a:latin typeface="宋体" pitchFamily="2" charset="-122"/>
                <a:ea typeface="宋体" pitchFamily="2" charset="-122"/>
              </a:rPr>
              <a:t>  </a:t>
            </a:r>
            <a:r>
              <a:rPr lang="zh-CN" altLang="en-US" sz="3600" dirty="0">
                <a:latin typeface="宋体" pitchFamily="2" charset="-122"/>
                <a:ea typeface="宋体" pitchFamily="2" charset="-122"/>
              </a:rPr>
              <a:t>电动剃须刀、吹风机、电动牙刷</a:t>
            </a:r>
          </a:p>
        </p:txBody>
      </p:sp>
      <p:sp>
        <p:nvSpPr>
          <p:cNvPr id="1168387" name="AutoShape 3"/>
          <p:cNvSpPr>
            <a:spLocks noChangeArrowheads="1"/>
          </p:cNvSpPr>
          <p:nvPr/>
        </p:nvSpPr>
        <p:spPr bwMode="auto">
          <a:xfrm>
            <a:off x="611188" y="136525"/>
            <a:ext cx="8137525" cy="777875"/>
          </a:xfrm>
          <a:prstGeom prst="roundRect">
            <a:avLst>
              <a:gd name="adj" fmla="val 12477"/>
            </a:avLst>
          </a:prstGeom>
          <a:noFill/>
          <a:ln w="12700">
            <a:noFill/>
            <a:round/>
            <a:headEnd/>
            <a:tailEnd/>
          </a:ln>
          <a:effectLst>
            <a:outerShdw dist="53882" dir="2700000" algn="ctr" rotWithShape="0">
              <a:srgbClr val="919191"/>
            </a:outerShdw>
          </a:effectLst>
        </p:spPr>
        <p:txBody>
          <a:bodyPr wrap="none" anchor="ctr"/>
          <a:lstStyle/>
          <a:p>
            <a:pPr>
              <a:defRPr/>
            </a:pPr>
            <a:endParaRPr lang="zh-CN" altLang="en-US"/>
          </a:p>
        </p:txBody>
      </p:sp>
      <p:sp>
        <p:nvSpPr>
          <p:cNvPr id="36868" name="Rectangle 4"/>
          <p:cNvSpPr>
            <a:spLocks noChangeArrowheads="1"/>
          </p:cNvSpPr>
          <p:nvPr/>
        </p:nvSpPr>
        <p:spPr bwMode="auto">
          <a:xfrm>
            <a:off x="2389188" y="230188"/>
            <a:ext cx="4310062" cy="528637"/>
          </a:xfrm>
          <a:prstGeom prst="rect">
            <a:avLst/>
          </a:prstGeom>
          <a:noFill/>
          <a:ln w="12700">
            <a:noFill/>
            <a:miter lim="800000"/>
            <a:headEnd/>
            <a:tailEnd/>
          </a:ln>
        </p:spPr>
        <p:txBody>
          <a:bodyPr lIns="90488" tIns="44450" rIns="90488" bIns="44450">
            <a:spAutoFit/>
          </a:bodyPr>
          <a:lstStyle/>
          <a:p>
            <a:pPr eaLnBrk="0" hangingPunct="0">
              <a:lnSpc>
                <a:spcPct val="80000"/>
              </a:lnSpc>
            </a:pPr>
            <a:r>
              <a:rPr kumimoji="0" lang="zh-CN" altLang="en-US" sz="3600">
                <a:solidFill>
                  <a:srgbClr val="FFFF66"/>
                </a:solidFill>
                <a:ea typeface="宋体" pitchFamily="2" charset="-122"/>
              </a:rPr>
              <a:t>具有相关业务的公司</a:t>
            </a:r>
          </a:p>
        </p:txBody>
      </p:sp>
      <p:pic>
        <p:nvPicPr>
          <p:cNvPr id="36869" name="Picture 25" descr="2005716183957"/>
          <p:cNvPicPr>
            <a:picLocks noChangeAspect="1" noChangeArrowheads="1"/>
          </p:cNvPicPr>
          <p:nvPr/>
        </p:nvPicPr>
        <p:blipFill>
          <a:blip r:embed="rId3" cstate="print"/>
          <a:srcRect/>
          <a:stretch>
            <a:fillRect/>
          </a:stretch>
        </p:blipFill>
        <p:spPr bwMode="auto">
          <a:xfrm>
            <a:off x="5940425" y="2420938"/>
            <a:ext cx="2814638" cy="2495550"/>
          </a:xfrm>
          <a:prstGeom prst="rect">
            <a:avLst/>
          </a:prstGeom>
          <a:solidFill>
            <a:schemeClr val="accent2"/>
          </a:solidFill>
          <a:ln w="9525">
            <a:solidFill>
              <a:schemeClr val="bg1"/>
            </a:solidFill>
            <a:miter lim="800000"/>
            <a:headEnd/>
            <a:tailEnd/>
          </a:ln>
        </p:spPr>
      </p:pic>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1168386"/>
                                        </p:tgtEl>
                                        <p:attrNameLst>
                                          <p:attrName>style.visibility</p:attrName>
                                        </p:attrNameLst>
                                      </p:cBhvr>
                                      <p:to>
                                        <p:strVal val="visible"/>
                                      </p:to>
                                    </p:set>
                                    <p:anim calcmode="lin" valueType="num">
                                      <p:cBhvr>
                                        <p:cTn id="7" dur="500" fill="hold"/>
                                        <p:tgtEl>
                                          <p:spTgt spid="1168386"/>
                                        </p:tgtEl>
                                        <p:attrNameLst>
                                          <p:attrName>ppt_w</p:attrName>
                                        </p:attrNameLst>
                                      </p:cBhvr>
                                      <p:tavLst>
                                        <p:tav tm="0">
                                          <p:val>
                                            <p:fltVal val="0"/>
                                          </p:val>
                                        </p:tav>
                                        <p:tav tm="100000">
                                          <p:val>
                                            <p:strVal val="#ppt_w"/>
                                          </p:val>
                                        </p:tav>
                                      </p:tavLst>
                                    </p:anim>
                                    <p:anim calcmode="lin" valueType="num">
                                      <p:cBhvr>
                                        <p:cTn id="8" dur="500" fill="hold"/>
                                        <p:tgtEl>
                                          <p:spTgt spid="1168386"/>
                                        </p:tgtEl>
                                        <p:attrNameLst>
                                          <p:attrName>ppt_h</p:attrName>
                                        </p:attrNameLst>
                                      </p:cBhvr>
                                      <p:tavLst>
                                        <p:tav tm="0">
                                          <p:val>
                                            <p:fltVal val="0"/>
                                          </p:val>
                                        </p:tav>
                                        <p:tav tm="100000">
                                          <p:val>
                                            <p:strVal val="#ppt_h"/>
                                          </p:val>
                                        </p:tav>
                                      </p:tavLst>
                                    </p:anim>
                                    <p:anim calcmode="lin" valueType="num">
                                      <p:cBhvr>
                                        <p:cTn id="9" dur="500" fill="hold"/>
                                        <p:tgtEl>
                                          <p:spTgt spid="1168386"/>
                                        </p:tgtEl>
                                        <p:attrNameLst>
                                          <p:attrName>ppt_x</p:attrName>
                                        </p:attrNameLst>
                                      </p:cBhvr>
                                      <p:tavLst>
                                        <p:tav tm="0">
                                          <p:val>
                                            <p:fltVal val="0.5"/>
                                          </p:val>
                                        </p:tav>
                                        <p:tav tm="100000">
                                          <p:val>
                                            <p:strVal val="#ppt_x"/>
                                          </p:val>
                                        </p:tav>
                                      </p:tavLst>
                                    </p:anim>
                                    <p:anim calcmode="lin" valueType="num">
                                      <p:cBhvr>
                                        <p:cTn id="10" dur="500" fill="hold"/>
                                        <p:tgtEl>
                                          <p:spTgt spid="1168386"/>
                                        </p:tgtEl>
                                        <p:attrNameLst>
                                          <p:attrName>ppt_y</p:attrName>
                                        </p:attrNameLst>
                                      </p:cBhvr>
                                      <p:tavLst>
                                        <p:tav tm="0">
                                          <p:val>
                                            <p:fltVal val="0.5"/>
                                          </p:val>
                                        </p:tav>
                                        <p:tav tm="100000">
                                          <p:val>
                                            <p:strVal val="#ppt_y"/>
                                          </p:val>
                                        </p:tav>
                                      </p:tavLst>
                                    </p:anim>
                                  </p:childTnLst>
                                  <p:subTnLst>
                                    <p:set>
                                      <p:cBhvr override="childStyle">
                                        <p:cTn dur="1" fill="hold" display="0" masterRel="nextClick" afterEffect="1"/>
                                        <p:tgtEl>
                                          <p:spTgt spid="116838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838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0434" name="AutoShape 2"/>
          <p:cNvSpPr>
            <a:spLocks noChangeArrowheads="1"/>
          </p:cNvSpPr>
          <p:nvPr/>
        </p:nvSpPr>
        <p:spPr bwMode="auto">
          <a:xfrm>
            <a:off x="250825" y="1484313"/>
            <a:ext cx="7656513" cy="4941887"/>
          </a:xfrm>
          <a:prstGeom prst="roundRect">
            <a:avLst>
              <a:gd name="adj" fmla="val 12477"/>
            </a:avLst>
          </a:prstGeom>
          <a:noFill/>
          <a:ln w="12700">
            <a:noFill/>
            <a:round/>
            <a:headEnd/>
            <a:tailEnd/>
          </a:ln>
        </p:spPr>
        <p:txBody>
          <a:bodyPr wrap="none"/>
          <a:lstStyle/>
          <a:p>
            <a:pPr algn="l"/>
            <a:endParaRPr lang="zh-CN" altLang="en-US" sz="3200" dirty="0">
              <a:solidFill>
                <a:schemeClr val="bg1"/>
              </a:solidFill>
              <a:latin typeface="宋体" pitchFamily="2" charset="-122"/>
              <a:ea typeface="宋体" pitchFamily="2" charset="-122"/>
            </a:endParaRPr>
          </a:p>
          <a:p>
            <a:pPr algn="l"/>
            <a:r>
              <a:rPr lang="zh-CN" altLang="en-US" sz="3600" dirty="0">
                <a:latin typeface="宋体" pitchFamily="2" charset="-122"/>
                <a:ea typeface="宋体" pitchFamily="2" charset="-122"/>
              </a:rPr>
              <a:t>强生公司</a:t>
            </a:r>
            <a:endParaRPr lang="zh-CN" altLang="en-US" sz="3600" i="1" dirty="0">
              <a:latin typeface="宋体" pitchFamily="2" charset="-122"/>
              <a:ea typeface="宋体" pitchFamily="2" charset="-122"/>
            </a:endParaRPr>
          </a:p>
          <a:p>
            <a:pPr algn="l"/>
            <a:r>
              <a:rPr lang="zh-CN" altLang="en-US" sz="3600" i="1" dirty="0">
                <a:latin typeface="宋体" pitchFamily="2" charset="-122"/>
                <a:ea typeface="宋体" pitchFamily="2" charset="-122"/>
              </a:rPr>
              <a:t>    </a:t>
            </a:r>
            <a:r>
              <a:rPr lang="zh-CN" altLang="en-US" sz="3200" dirty="0">
                <a:latin typeface="宋体" pitchFamily="2" charset="-122"/>
                <a:ea typeface="宋体" pitchFamily="2" charset="-122"/>
              </a:rPr>
              <a:t>婴儿产品、绷带和伤口护理产品</a:t>
            </a:r>
          </a:p>
          <a:p>
            <a:pPr algn="l"/>
            <a:r>
              <a:rPr lang="zh-CN" altLang="en-US" sz="3200" dirty="0">
                <a:latin typeface="宋体" pitchFamily="2" charset="-122"/>
                <a:ea typeface="宋体" pitchFamily="2" charset="-122"/>
              </a:rPr>
              <a:t>女性卫生产品、非医疗药物、手术</a:t>
            </a:r>
          </a:p>
          <a:p>
            <a:pPr algn="l"/>
            <a:r>
              <a:rPr lang="zh-CN" altLang="en-US" sz="3200" dirty="0">
                <a:latin typeface="宋体" pitchFamily="2" charset="-122"/>
                <a:ea typeface="宋体" pitchFamily="2" charset="-122"/>
              </a:rPr>
              <a:t>和医院用产品、牙科用产品、隐形眼镜、</a:t>
            </a:r>
          </a:p>
          <a:p>
            <a:pPr algn="l"/>
            <a:r>
              <a:rPr lang="zh-CN" altLang="en-US" sz="3200" dirty="0">
                <a:latin typeface="宋体" pitchFamily="2" charset="-122"/>
                <a:ea typeface="宋体" pitchFamily="2" charset="-122"/>
              </a:rPr>
              <a:t>皮肤护理品</a:t>
            </a:r>
          </a:p>
        </p:txBody>
      </p:sp>
      <p:sp>
        <p:nvSpPr>
          <p:cNvPr id="1170435" name="AutoShape 3"/>
          <p:cNvSpPr>
            <a:spLocks noChangeArrowheads="1"/>
          </p:cNvSpPr>
          <p:nvPr/>
        </p:nvSpPr>
        <p:spPr bwMode="auto">
          <a:xfrm>
            <a:off x="2268538" y="136525"/>
            <a:ext cx="6335712" cy="777875"/>
          </a:xfrm>
          <a:prstGeom prst="roundRect">
            <a:avLst>
              <a:gd name="adj" fmla="val 12477"/>
            </a:avLst>
          </a:prstGeom>
          <a:noFill/>
          <a:ln w="12700">
            <a:noFill/>
            <a:round/>
            <a:headEnd/>
            <a:tailEnd/>
          </a:ln>
          <a:effectLst>
            <a:outerShdw dist="53882" dir="2700000" algn="ctr" rotWithShape="0">
              <a:srgbClr val="919191"/>
            </a:outerShdw>
          </a:effectLst>
        </p:spPr>
        <p:txBody>
          <a:bodyPr wrap="none" anchor="ctr"/>
          <a:lstStyle/>
          <a:p>
            <a:pPr>
              <a:defRPr/>
            </a:pPr>
            <a:endParaRPr lang="zh-CN" altLang="en-US"/>
          </a:p>
        </p:txBody>
      </p:sp>
      <p:sp>
        <p:nvSpPr>
          <p:cNvPr id="37892" name="Rectangle 4"/>
          <p:cNvSpPr>
            <a:spLocks noChangeArrowheads="1"/>
          </p:cNvSpPr>
          <p:nvPr/>
        </p:nvSpPr>
        <p:spPr bwMode="auto">
          <a:xfrm>
            <a:off x="2700338" y="404813"/>
            <a:ext cx="4919662" cy="576262"/>
          </a:xfrm>
          <a:prstGeom prst="rect">
            <a:avLst/>
          </a:prstGeom>
          <a:noFill/>
          <a:ln w="12700">
            <a:noFill/>
            <a:miter lim="800000"/>
            <a:headEnd/>
            <a:tailEnd/>
          </a:ln>
        </p:spPr>
        <p:txBody>
          <a:bodyPr lIns="90488" tIns="44450" rIns="90488" bIns="44450">
            <a:spAutoFit/>
          </a:bodyPr>
          <a:lstStyle/>
          <a:p>
            <a:pPr eaLnBrk="0" hangingPunct="0">
              <a:lnSpc>
                <a:spcPct val="80000"/>
              </a:lnSpc>
            </a:pPr>
            <a:r>
              <a:rPr kumimoji="0" lang="zh-CN" altLang="en-US" sz="4000">
                <a:solidFill>
                  <a:srgbClr val="FFFF66"/>
                </a:solidFill>
                <a:ea typeface="宋体" pitchFamily="2" charset="-122"/>
              </a:rPr>
              <a:t>具有相关业务的公司</a:t>
            </a: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1170434"/>
                                        </p:tgtEl>
                                        <p:attrNameLst>
                                          <p:attrName>style.visibility</p:attrName>
                                        </p:attrNameLst>
                                      </p:cBhvr>
                                      <p:to>
                                        <p:strVal val="visible"/>
                                      </p:to>
                                    </p:set>
                                    <p:anim calcmode="lin" valueType="num">
                                      <p:cBhvr>
                                        <p:cTn id="7" dur="500" fill="hold"/>
                                        <p:tgtEl>
                                          <p:spTgt spid="1170434"/>
                                        </p:tgtEl>
                                        <p:attrNameLst>
                                          <p:attrName>ppt_w</p:attrName>
                                        </p:attrNameLst>
                                      </p:cBhvr>
                                      <p:tavLst>
                                        <p:tav tm="0">
                                          <p:val>
                                            <p:fltVal val="0"/>
                                          </p:val>
                                        </p:tav>
                                        <p:tav tm="100000">
                                          <p:val>
                                            <p:strVal val="#ppt_w"/>
                                          </p:val>
                                        </p:tav>
                                      </p:tavLst>
                                    </p:anim>
                                    <p:anim calcmode="lin" valueType="num">
                                      <p:cBhvr>
                                        <p:cTn id="8" dur="500" fill="hold"/>
                                        <p:tgtEl>
                                          <p:spTgt spid="1170434"/>
                                        </p:tgtEl>
                                        <p:attrNameLst>
                                          <p:attrName>ppt_h</p:attrName>
                                        </p:attrNameLst>
                                      </p:cBhvr>
                                      <p:tavLst>
                                        <p:tav tm="0">
                                          <p:val>
                                            <p:fltVal val="0"/>
                                          </p:val>
                                        </p:tav>
                                        <p:tav tm="100000">
                                          <p:val>
                                            <p:strVal val="#ppt_h"/>
                                          </p:val>
                                        </p:tav>
                                      </p:tavLst>
                                    </p:anim>
                                    <p:anim calcmode="lin" valueType="num">
                                      <p:cBhvr>
                                        <p:cTn id="9" dur="500" fill="hold"/>
                                        <p:tgtEl>
                                          <p:spTgt spid="1170434"/>
                                        </p:tgtEl>
                                        <p:attrNameLst>
                                          <p:attrName>ppt_x</p:attrName>
                                        </p:attrNameLst>
                                      </p:cBhvr>
                                      <p:tavLst>
                                        <p:tav tm="0">
                                          <p:val>
                                            <p:fltVal val="0.5"/>
                                          </p:val>
                                        </p:tav>
                                        <p:tav tm="100000">
                                          <p:val>
                                            <p:strVal val="#ppt_x"/>
                                          </p:val>
                                        </p:tav>
                                      </p:tavLst>
                                    </p:anim>
                                    <p:anim calcmode="lin" valueType="num">
                                      <p:cBhvr>
                                        <p:cTn id="10" dur="500" fill="hold"/>
                                        <p:tgtEl>
                                          <p:spTgt spid="1170434"/>
                                        </p:tgtEl>
                                        <p:attrNameLst>
                                          <p:attrName>ppt_y</p:attrName>
                                        </p:attrNameLst>
                                      </p:cBhvr>
                                      <p:tavLst>
                                        <p:tav tm="0">
                                          <p:val>
                                            <p:fltVal val="0.5"/>
                                          </p:val>
                                        </p:tav>
                                        <p:tav tm="100000">
                                          <p:val>
                                            <p:strVal val="#ppt_y"/>
                                          </p:val>
                                        </p:tav>
                                      </p:tavLst>
                                    </p:anim>
                                  </p:childTnLst>
                                  <p:subTnLst>
                                    <p:set>
                                      <p:cBhvr override="childStyle">
                                        <p:cTn dur="1" fill="hold" display="0" masterRel="nextClick" afterEffect="1"/>
                                        <p:tgtEl>
                                          <p:spTgt spid="117043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043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2482" name="AutoShape 2"/>
          <p:cNvSpPr>
            <a:spLocks noChangeArrowheads="1"/>
          </p:cNvSpPr>
          <p:nvPr/>
        </p:nvSpPr>
        <p:spPr bwMode="auto">
          <a:xfrm>
            <a:off x="179388" y="1628775"/>
            <a:ext cx="7367587" cy="4870450"/>
          </a:xfrm>
          <a:prstGeom prst="roundRect">
            <a:avLst>
              <a:gd name="adj" fmla="val 12477"/>
            </a:avLst>
          </a:prstGeom>
          <a:noFill/>
          <a:ln w="12700">
            <a:noFill/>
            <a:round/>
            <a:headEnd/>
            <a:tailEnd/>
          </a:ln>
        </p:spPr>
        <p:txBody>
          <a:bodyPr wrap="none"/>
          <a:lstStyle/>
          <a:p>
            <a:pPr algn="l"/>
            <a:r>
              <a:rPr lang="zh-CN" altLang="en-US" sz="3200" dirty="0">
                <a:latin typeface="宋体" pitchFamily="2" charset="-122"/>
                <a:ea typeface="宋体" pitchFamily="2" charset="-122"/>
              </a:rPr>
              <a:t>沃特迪斯尼公司</a:t>
            </a:r>
          </a:p>
          <a:p>
            <a:pPr algn="l"/>
            <a:r>
              <a:rPr lang="zh-CN" altLang="en-US" sz="3200" i="1" dirty="0">
                <a:latin typeface="宋体" pitchFamily="2" charset="-122"/>
                <a:ea typeface="宋体" pitchFamily="2" charset="-122"/>
              </a:rPr>
              <a:t>  </a:t>
            </a:r>
            <a:r>
              <a:rPr lang="zh-CN" altLang="en-US" sz="3200" dirty="0">
                <a:latin typeface="宋体" pitchFamily="2" charset="-122"/>
                <a:ea typeface="宋体" pitchFamily="2" charset="-122"/>
              </a:rPr>
              <a:t>主题公园</a:t>
            </a:r>
          </a:p>
          <a:p>
            <a:pPr algn="l"/>
            <a:r>
              <a:rPr lang="zh-CN" altLang="en-US" sz="3200" dirty="0">
                <a:latin typeface="宋体" pitchFamily="2" charset="-122"/>
                <a:ea typeface="宋体" pitchFamily="2" charset="-122"/>
              </a:rPr>
              <a:t>  电影制作</a:t>
            </a:r>
          </a:p>
          <a:p>
            <a:pPr algn="l"/>
            <a:r>
              <a:rPr lang="zh-CN" altLang="en-US" sz="3200" dirty="0">
                <a:latin typeface="宋体" pitchFamily="2" charset="-122"/>
                <a:ea typeface="宋体" pitchFamily="2" charset="-122"/>
              </a:rPr>
              <a:t>  儿童服饰</a:t>
            </a:r>
          </a:p>
          <a:p>
            <a:pPr algn="l"/>
            <a:r>
              <a:rPr lang="zh-CN" altLang="en-US" sz="3200" dirty="0">
                <a:latin typeface="宋体" pitchFamily="2" charset="-122"/>
                <a:ea typeface="宋体" pitchFamily="2" charset="-122"/>
              </a:rPr>
              <a:t>  玩具和填充动物</a:t>
            </a:r>
          </a:p>
          <a:p>
            <a:pPr algn="l"/>
            <a:r>
              <a:rPr lang="zh-CN" altLang="en-US" sz="3200" dirty="0">
                <a:latin typeface="宋体" pitchFamily="2" charset="-122"/>
                <a:ea typeface="宋体" pitchFamily="2" charset="-122"/>
              </a:rPr>
              <a:t>  电视广播（</a:t>
            </a:r>
            <a:r>
              <a:rPr lang="en-US" altLang="zh-CN" sz="3200" dirty="0">
                <a:latin typeface="宋体" pitchFamily="2" charset="-122"/>
                <a:ea typeface="宋体" pitchFamily="2" charset="-122"/>
              </a:rPr>
              <a:t>ABC</a:t>
            </a:r>
            <a:r>
              <a:rPr lang="zh-CN" altLang="en-US" sz="3200" dirty="0">
                <a:latin typeface="宋体" pitchFamily="2" charset="-122"/>
                <a:ea typeface="宋体" pitchFamily="2" charset="-122"/>
              </a:rPr>
              <a:t>网和迪斯尼频道）</a:t>
            </a:r>
          </a:p>
          <a:p>
            <a:pPr algn="l"/>
            <a:r>
              <a:rPr lang="zh-CN" altLang="en-US" sz="3200" dirty="0">
                <a:latin typeface="隶书" pitchFamily="49" charset="-122"/>
              </a:rPr>
              <a:t>   </a:t>
            </a:r>
          </a:p>
        </p:txBody>
      </p:sp>
      <p:sp>
        <p:nvSpPr>
          <p:cNvPr id="1172483" name="AutoShape 3"/>
          <p:cNvSpPr>
            <a:spLocks noChangeArrowheads="1"/>
          </p:cNvSpPr>
          <p:nvPr/>
        </p:nvSpPr>
        <p:spPr bwMode="auto">
          <a:xfrm>
            <a:off x="1979613" y="136525"/>
            <a:ext cx="5905500" cy="777875"/>
          </a:xfrm>
          <a:prstGeom prst="roundRect">
            <a:avLst>
              <a:gd name="adj" fmla="val 12477"/>
            </a:avLst>
          </a:prstGeom>
          <a:noFill/>
          <a:ln w="12700">
            <a:noFill/>
            <a:round/>
            <a:headEnd/>
            <a:tailEnd/>
          </a:ln>
          <a:effectLst>
            <a:outerShdw dist="53882" dir="2700000" algn="ctr" rotWithShape="0">
              <a:srgbClr val="919191"/>
            </a:outerShdw>
          </a:effectLst>
        </p:spPr>
        <p:txBody>
          <a:bodyPr wrap="none" anchor="ctr"/>
          <a:lstStyle/>
          <a:p>
            <a:pPr>
              <a:defRPr/>
            </a:pPr>
            <a:endParaRPr lang="zh-CN" altLang="en-US"/>
          </a:p>
        </p:txBody>
      </p:sp>
      <p:sp>
        <p:nvSpPr>
          <p:cNvPr id="38916" name="Rectangle 4"/>
          <p:cNvSpPr>
            <a:spLocks noChangeArrowheads="1"/>
          </p:cNvSpPr>
          <p:nvPr/>
        </p:nvSpPr>
        <p:spPr bwMode="auto">
          <a:xfrm>
            <a:off x="2411413" y="230188"/>
            <a:ext cx="5832475" cy="576262"/>
          </a:xfrm>
          <a:prstGeom prst="rect">
            <a:avLst/>
          </a:prstGeom>
          <a:noFill/>
          <a:ln w="12700">
            <a:noFill/>
            <a:miter lim="800000"/>
            <a:headEnd/>
            <a:tailEnd/>
          </a:ln>
        </p:spPr>
        <p:txBody>
          <a:bodyPr lIns="90488" tIns="44450" rIns="90488" bIns="44450">
            <a:spAutoFit/>
          </a:bodyPr>
          <a:lstStyle/>
          <a:p>
            <a:pPr eaLnBrk="0" hangingPunct="0">
              <a:lnSpc>
                <a:spcPct val="80000"/>
              </a:lnSpc>
            </a:pPr>
            <a:r>
              <a:rPr kumimoji="0" lang="zh-CN" altLang="en-US" sz="4000">
                <a:solidFill>
                  <a:srgbClr val="FFFF66"/>
                </a:solidFill>
                <a:ea typeface="宋体" pitchFamily="2" charset="-122"/>
              </a:rPr>
              <a:t>具有不相关业务的公司</a:t>
            </a:r>
          </a:p>
        </p:txBody>
      </p:sp>
      <p:pic>
        <p:nvPicPr>
          <p:cNvPr id="38917" name="Picture 5" descr="200309081342391donghua-15-1-s"/>
          <p:cNvPicPr>
            <a:picLocks noChangeAspect="1" noChangeArrowheads="1"/>
          </p:cNvPicPr>
          <p:nvPr/>
        </p:nvPicPr>
        <p:blipFill>
          <a:blip r:embed="rId3" cstate="print"/>
          <a:srcRect/>
          <a:stretch>
            <a:fillRect/>
          </a:stretch>
        </p:blipFill>
        <p:spPr bwMode="auto">
          <a:xfrm>
            <a:off x="6156325" y="1628775"/>
            <a:ext cx="2846388" cy="2643188"/>
          </a:xfrm>
          <a:prstGeom prst="rect">
            <a:avLst/>
          </a:prstGeom>
          <a:noFill/>
          <a:ln w="9525">
            <a:noFill/>
            <a:miter lim="800000"/>
            <a:headEnd/>
            <a:tailEnd/>
          </a:ln>
        </p:spPr>
      </p:pic>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1172482"/>
                                        </p:tgtEl>
                                        <p:attrNameLst>
                                          <p:attrName>style.visibility</p:attrName>
                                        </p:attrNameLst>
                                      </p:cBhvr>
                                      <p:to>
                                        <p:strVal val="visible"/>
                                      </p:to>
                                    </p:set>
                                    <p:anim calcmode="lin" valueType="num">
                                      <p:cBhvr>
                                        <p:cTn id="7" dur="500" fill="hold"/>
                                        <p:tgtEl>
                                          <p:spTgt spid="1172482"/>
                                        </p:tgtEl>
                                        <p:attrNameLst>
                                          <p:attrName>ppt_w</p:attrName>
                                        </p:attrNameLst>
                                      </p:cBhvr>
                                      <p:tavLst>
                                        <p:tav tm="0">
                                          <p:val>
                                            <p:fltVal val="0"/>
                                          </p:val>
                                        </p:tav>
                                        <p:tav tm="100000">
                                          <p:val>
                                            <p:strVal val="#ppt_w"/>
                                          </p:val>
                                        </p:tav>
                                      </p:tavLst>
                                    </p:anim>
                                    <p:anim calcmode="lin" valueType="num">
                                      <p:cBhvr>
                                        <p:cTn id="8" dur="500" fill="hold"/>
                                        <p:tgtEl>
                                          <p:spTgt spid="1172482"/>
                                        </p:tgtEl>
                                        <p:attrNameLst>
                                          <p:attrName>ppt_h</p:attrName>
                                        </p:attrNameLst>
                                      </p:cBhvr>
                                      <p:tavLst>
                                        <p:tav tm="0">
                                          <p:val>
                                            <p:fltVal val="0"/>
                                          </p:val>
                                        </p:tav>
                                        <p:tav tm="100000">
                                          <p:val>
                                            <p:strVal val="#ppt_h"/>
                                          </p:val>
                                        </p:tav>
                                      </p:tavLst>
                                    </p:anim>
                                    <p:anim calcmode="lin" valueType="num">
                                      <p:cBhvr>
                                        <p:cTn id="9" dur="500" fill="hold"/>
                                        <p:tgtEl>
                                          <p:spTgt spid="1172482"/>
                                        </p:tgtEl>
                                        <p:attrNameLst>
                                          <p:attrName>ppt_x</p:attrName>
                                        </p:attrNameLst>
                                      </p:cBhvr>
                                      <p:tavLst>
                                        <p:tav tm="0">
                                          <p:val>
                                            <p:fltVal val="0.5"/>
                                          </p:val>
                                        </p:tav>
                                        <p:tav tm="100000">
                                          <p:val>
                                            <p:strVal val="#ppt_x"/>
                                          </p:val>
                                        </p:tav>
                                      </p:tavLst>
                                    </p:anim>
                                    <p:anim calcmode="lin" valueType="num">
                                      <p:cBhvr>
                                        <p:cTn id="10" dur="500" fill="hold"/>
                                        <p:tgtEl>
                                          <p:spTgt spid="1172482"/>
                                        </p:tgtEl>
                                        <p:attrNameLst>
                                          <p:attrName>ppt_y</p:attrName>
                                        </p:attrNameLst>
                                      </p:cBhvr>
                                      <p:tavLst>
                                        <p:tav tm="0">
                                          <p:val>
                                            <p:fltVal val="0.5"/>
                                          </p:val>
                                        </p:tav>
                                        <p:tav tm="100000">
                                          <p:val>
                                            <p:strVal val="#ppt_y"/>
                                          </p:val>
                                        </p:tav>
                                      </p:tavLst>
                                    </p:anim>
                                  </p:childTnLst>
                                  <p:subTnLst>
                                    <p:set>
                                      <p:cBhvr override="childStyle">
                                        <p:cTn dur="1" fill="hold" display="0" masterRel="nextClick" afterEffect="1"/>
                                        <p:tgtEl>
                                          <p:spTgt spid="117248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248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339975" y="228600"/>
            <a:ext cx="6480175" cy="838200"/>
          </a:xfrm>
          <a:noFill/>
        </p:spPr>
        <p:txBody>
          <a:bodyPr/>
          <a:lstStyle/>
          <a:p>
            <a:pPr eaLnBrk="1" hangingPunct="1"/>
            <a:r>
              <a:rPr lang="zh-CN" altLang="en-AU">
                <a:solidFill>
                  <a:srgbClr val="FFFF66"/>
                </a:solidFill>
              </a:rPr>
              <a:t>多元化战略的优势</a:t>
            </a:r>
          </a:p>
        </p:txBody>
      </p:sp>
      <p:sp>
        <p:nvSpPr>
          <p:cNvPr id="1354755" name="Rectangle 3"/>
          <p:cNvSpPr>
            <a:spLocks noChangeArrowheads="1"/>
          </p:cNvSpPr>
          <p:nvPr/>
        </p:nvSpPr>
        <p:spPr bwMode="auto">
          <a:xfrm>
            <a:off x="323850" y="1484313"/>
            <a:ext cx="8534400" cy="4370387"/>
          </a:xfrm>
          <a:prstGeom prst="rect">
            <a:avLst/>
          </a:prstGeom>
          <a:noFill/>
          <a:ln w="12700">
            <a:noFill/>
            <a:miter lim="800000"/>
            <a:headEnd/>
            <a:tailEnd/>
          </a:ln>
        </p:spPr>
        <p:txBody>
          <a:bodyPr lIns="92075" tIns="46038" rIns="92075" bIns="46038"/>
          <a:lstStyle/>
          <a:p>
            <a:pPr marL="342900" indent="-342900" algn="l">
              <a:lnSpc>
                <a:spcPct val="105000"/>
              </a:lnSpc>
              <a:spcBef>
                <a:spcPct val="30000"/>
              </a:spcBef>
              <a:buClr>
                <a:schemeClr val="tx1"/>
              </a:buClr>
              <a:buFont typeface="Wingdings" pitchFamily="2" charset="2"/>
              <a:buNone/>
            </a:pPr>
            <a:r>
              <a:rPr kumimoji="0" lang="zh-CN" altLang="en-US" sz="2800" dirty="0">
                <a:latin typeface="Arial" pitchFamily="34" charset="0"/>
                <a:ea typeface="宋体" pitchFamily="2" charset="-122"/>
              </a:rPr>
              <a:t>相关多元化：</a:t>
            </a:r>
          </a:p>
          <a:p>
            <a:pPr marL="342900" indent="-342900" algn="l">
              <a:lnSpc>
                <a:spcPct val="105000"/>
              </a:lnSpc>
              <a:spcBef>
                <a:spcPct val="30000"/>
              </a:spcBef>
              <a:buClr>
                <a:schemeClr val="bg1"/>
              </a:buClr>
              <a:buFont typeface="Wingdings" pitchFamily="2" charset="2"/>
              <a:buChar char="l"/>
            </a:pPr>
            <a:r>
              <a:rPr kumimoji="0" lang="zh-CN" altLang="en-US" sz="2800" dirty="0">
                <a:latin typeface="Arial" pitchFamily="34" charset="0"/>
                <a:ea typeface="宋体" pitchFamily="2" charset="-122"/>
              </a:rPr>
              <a:t>将专有技能、关键技能由一种经营业务转移到另一经营业务中</a:t>
            </a:r>
          </a:p>
          <a:p>
            <a:pPr marL="342900" indent="-342900" algn="l">
              <a:lnSpc>
                <a:spcPct val="105000"/>
              </a:lnSpc>
              <a:spcBef>
                <a:spcPct val="30000"/>
              </a:spcBef>
              <a:buClr>
                <a:schemeClr val="bg1"/>
              </a:buClr>
              <a:buFont typeface="Wingdings" pitchFamily="2" charset="2"/>
              <a:buChar char="l"/>
            </a:pPr>
            <a:r>
              <a:rPr kumimoji="0" lang="zh-CN" altLang="en-US" sz="2800" dirty="0">
                <a:latin typeface="Arial" pitchFamily="34" charset="0"/>
                <a:ea typeface="宋体" pitchFamily="2" charset="-122"/>
              </a:rPr>
              <a:t>将不同经营业务的相关活动合并在一起，降低成本</a:t>
            </a:r>
          </a:p>
          <a:p>
            <a:pPr marL="342900" indent="-342900" algn="l">
              <a:lnSpc>
                <a:spcPct val="105000"/>
              </a:lnSpc>
              <a:spcBef>
                <a:spcPct val="30000"/>
              </a:spcBef>
              <a:buClr>
                <a:schemeClr val="tx1"/>
              </a:buClr>
              <a:buFont typeface="Wingdings" pitchFamily="2" charset="2"/>
              <a:buNone/>
            </a:pPr>
            <a:r>
              <a:rPr kumimoji="0" lang="zh-CN" altLang="en-US" sz="2800" dirty="0">
                <a:latin typeface="Arial" pitchFamily="34" charset="0"/>
                <a:ea typeface="宋体" pitchFamily="2" charset="-122"/>
              </a:rPr>
              <a:t>   在新的经营业务中借用公司品牌的信誉</a:t>
            </a:r>
          </a:p>
          <a:p>
            <a:pPr marL="342900" indent="-342900" algn="l">
              <a:lnSpc>
                <a:spcPct val="105000"/>
              </a:lnSpc>
              <a:spcBef>
                <a:spcPct val="30000"/>
              </a:spcBef>
              <a:buClr>
                <a:schemeClr val="bg1"/>
              </a:buClr>
              <a:buFont typeface="Wingdings" pitchFamily="2" charset="2"/>
              <a:buChar char="l"/>
            </a:pPr>
            <a:r>
              <a:rPr kumimoji="0" lang="zh-CN" altLang="en-US" sz="2800" dirty="0">
                <a:latin typeface="Arial" pitchFamily="34" charset="0"/>
                <a:ea typeface="宋体" pitchFamily="2" charset="-122"/>
              </a:rPr>
              <a:t>以能够创造有价值的竞争能力的协作方式实施相关的价值链活动</a:t>
            </a:r>
          </a:p>
          <a:p>
            <a:pPr marL="342900" indent="-342900" algn="l">
              <a:lnSpc>
                <a:spcPct val="105000"/>
              </a:lnSpc>
              <a:spcBef>
                <a:spcPct val="30000"/>
              </a:spcBef>
              <a:buClr>
                <a:schemeClr val="tx1"/>
              </a:buClr>
              <a:buFont typeface="Wingdings" pitchFamily="2" charset="2"/>
              <a:buChar char="l"/>
            </a:pPr>
            <a:endParaRPr kumimoji="0" lang="en-US" altLang="zh-CN" sz="2800" dirty="0">
              <a:solidFill>
                <a:srgbClr val="000066"/>
              </a:solidFill>
              <a:latin typeface="Arial" pitchFamily="34" charset="0"/>
              <a:ea typeface="宋体" pitchFamily="2" charset="-122"/>
            </a:endParaRP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54755"/>
                                        </p:tgtEl>
                                        <p:attrNameLst>
                                          <p:attrName>style.visibility</p:attrName>
                                        </p:attrNameLst>
                                      </p:cBhvr>
                                      <p:to>
                                        <p:strVal val="visible"/>
                                      </p:to>
                                    </p:set>
                                    <p:anim calcmode="lin" valueType="num">
                                      <p:cBhvr additive="base">
                                        <p:cTn id="7" dur="500" fill="hold"/>
                                        <p:tgtEl>
                                          <p:spTgt spid="1354755"/>
                                        </p:tgtEl>
                                        <p:attrNameLst>
                                          <p:attrName>ppt_x</p:attrName>
                                        </p:attrNameLst>
                                      </p:cBhvr>
                                      <p:tavLst>
                                        <p:tav tm="0">
                                          <p:val>
                                            <p:strVal val="0-#ppt_w/2"/>
                                          </p:val>
                                        </p:tav>
                                        <p:tav tm="100000">
                                          <p:val>
                                            <p:strVal val="#ppt_x"/>
                                          </p:val>
                                        </p:tav>
                                      </p:tavLst>
                                    </p:anim>
                                    <p:anim calcmode="lin" valueType="num">
                                      <p:cBhvr additive="base">
                                        <p:cTn id="8" dur="500" fill="hold"/>
                                        <p:tgtEl>
                                          <p:spTgt spid="13547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475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979613" y="228600"/>
            <a:ext cx="6840537" cy="838200"/>
          </a:xfrm>
          <a:noFill/>
        </p:spPr>
        <p:txBody>
          <a:bodyPr/>
          <a:lstStyle/>
          <a:p>
            <a:pPr eaLnBrk="1" hangingPunct="1"/>
            <a:r>
              <a:rPr lang="zh-CN" altLang="en-AU">
                <a:solidFill>
                  <a:srgbClr val="FFFF66"/>
                </a:solidFill>
              </a:rPr>
              <a:t>多元化战略的优势</a:t>
            </a:r>
          </a:p>
        </p:txBody>
      </p:sp>
      <p:sp>
        <p:nvSpPr>
          <p:cNvPr id="1382403" name="Rectangle 3"/>
          <p:cNvSpPr>
            <a:spLocks noChangeArrowheads="1"/>
          </p:cNvSpPr>
          <p:nvPr/>
        </p:nvSpPr>
        <p:spPr bwMode="auto">
          <a:xfrm>
            <a:off x="250825" y="1484313"/>
            <a:ext cx="8534400" cy="4370387"/>
          </a:xfrm>
          <a:prstGeom prst="rect">
            <a:avLst/>
          </a:prstGeom>
          <a:noFill/>
          <a:ln w="12700">
            <a:noFill/>
            <a:miter lim="800000"/>
            <a:headEnd/>
            <a:tailEnd/>
          </a:ln>
        </p:spPr>
        <p:txBody>
          <a:bodyPr lIns="92075" tIns="46038" rIns="92075" bIns="46038"/>
          <a:lstStyle/>
          <a:p>
            <a:pPr marL="342900" indent="-342900" algn="l">
              <a:lnSpc>
                <a:spcPct val="105000"/>
              </a:lnSpc>
              <a:spcBef>
                <a:spcPct val="30000"/>
              </a:spcBef>
              <a:buClr>
                <a:schemeClr val="tx1"/>
              </a:buClr>
              <a:buFont typeface="Wingdings" pitchFamily="2" charset="2"/>
              <a:buNone/>
            </a:pPr>
            <a:r>
              <a:rPr kumimoji="0" lang="zh-CN" altLang="en-US" sz="2800" dirty="0">
                <a:latin typeface="Arial" pitchFamily="34" charset="0"/>
                <a:ea typeface="宋体" pitchFamily="2" charset="-122"/>
              </a:rPr>
              <a:t>非相关多元化：</a:t>
            </a:r>
          </a:p>
          <a:p>
            <a:pPr marL="342900" indent="-342900" algn="l">
              <a:lnSpc>
                <a:spcPct val="105000"/>
              </a:lnSpc>
              <a:spcBef>
                <a:spcPct val="30000"/>
              </a:spcBef>
              <a:buClr>
                <a:schemeClr val="bg1"/>
              </a:buClr>
              <a:buFont typeface="Wingdings" pitchFamily="2" charset="2"/>
              <a:buChar char="l"/>
            </a:pPr>
            <a:r>
              <a:rPr kumimoji="0" lang="zh-CN" altLang="en-US" sz="2800" dirty="0">
                <a:latin typeface="Arial" pitchFamily="34" charset="0"/>
                <a:ea typeface="宋体" pitchFamily="2" charset="-122"/>
              </a:rPr>
              <a:t>公司可向几个不同的市场提供产品或服务，以分散经营风险</a:t>
            </a:r>
          </a:p>
          <a:p>
            <a:pPr marL="342900" indent="-342900" algn="l">
              <a:lnSpc>
                <a:spcPct val="105000"/>
              </a:lnSpc>
              <a:spcBef>
                <a:spcPct val="30000"/>
              </a:spcBef>
              <a:buClr>
                <a:schemeClr val="bg1"/>
              </a:buClr>
              <a:buFont typeface="Wingdings" pitchFamily="2" charset="2"/>
              <a:buChar char="l"/>
            </a:pPr>
            <a:r>
              <a:rPr kumimoji="0" lang="zh-CN" altLang="en-US" sz="2800" dirty="0">
                <a:latin typeface="Arial" pitchFamily="34" charset="0"/>
                <a:ea typeface="宋体" pitchFamily="2" charset="-122"/>
              </a:rPr>
              <a:t>多个部门单位在一个公司内经营时，可以产生协同作用</a:t>
            </a:r>
          </a:p>
          <a:p>
            <a:pPr marL="342900" indent="-342900" algn="l">
              <a:lnSpc>
                <a:spcPct val="105000"/>
              </a:lnSpc>
              <a:spcBef>
                <a:spcPct val="30000"/>
              </a:spcBef>
              <a:buClr>
                <a:schemeClr val="bg1"/>
              </a:buClr>
              <a:buFont typeface="Wingdings" pitchFamily="2" charset="2"/>
              <a:buChar char="l"/>
            </a:pPr>
            <a:r>
              <a:rPr kumimoji="0" lang="zh-CN" altLang="en-US" sz="2800" dirty="0">
                <a:latin typeface="Arial" pitchFamily="34" charset="0"/>
                <a:ea typeface="宋体" pitchFamily="2" charset="-122"/>
              </a:rPr>
              <a:t>可对公司内的各个经营单位进行平衡</a:t>
            </a:r>
          </a:p>
          <a:p>
            <a:pPr marL="342900" indent="-342900" algn="l">
              <a:lnSpc>
                <a:spcPct val="105000"/>
              </a:lnSpc>
              <a:spcBef>
                <a:spcPct val="30000"/>
              </a:spcBef>
              <a:buClr>
                <a:schemeClr val="bg1"/>
              </a:buClr>
              <a:buFont typeface="Wingdings" pitchFamily="2" charset="2"/>
              <a:buChar char="l"/>
            </a:pPr>
            <a:r>
              <a:rPr kumimoji="0" lang="zh-CN" altLang="en-US" sz="2800" dirty="0">
                <a:latin typeface="Arial" pitchFamily="34" charset="0"/>
                <a:ea typeface="宋体" pitchFamily="2" charset="-122"/>
              </a:rPr>
              <a:t>公司向具有更优经济特征的行业转移，以改善公司的整体盈利能力</a:t>
            </a:r>
          </a:p>
          <a:p>
            <a:pPr marL="342900" indent="-342900" algn="l">
              <a:lnSpc>
                <a:spcPct val="105000"/>
              </a:lnSpc>
              <a:spcBef>
                <a:spcPct val="30000"/>
              </a:spcBef>
              <a:buClr>
                <a:schemeClr val="tx1"/>
              </a:buClr>
              <a:buFont typeface="Wingdings" pitchFamily="2" charset="2"/>
              <a:buChar char="l"/>
            </a:pPr>
            <a:endParaRPr kumimoji="0" lang="en-US" altLang="zh-CN" sz="2800" dirty="0">
              <a:latin typeface="Arial" pitchFamily="34" charset="0"/>
              <a:ea typeface="宋体" pitchFamily="2" charset="-122"/>
            </a:endParaRP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82403"/>
                                        </p:tgtEl>
                                        <p:attrNameLst>
                                          <p:attrName>style.visibility</p:attrName>
                                        </p:attrNameLst>
                                      </p:cBhvr>
                                      <p:to>
                                        <p:strVal val="visible"/>
                                      </p:to>
                                    </p:set>
                                    <p:anim calcmode="lin" valueType="num">
                                      <p:cBhvr additive="base">
                                        <p:cTn id="7" dur="500" fill="hold"/>
                                        <p:tgtEl>
                                          <p:spTgt spid="1382403"/>
                                        </p:tgtEl>
                                        <p:attrNameLst>
                                          <p:attrName>ppt_x</p:attrName>
                                        </p:attrNameLst>
                                      </p:cBhvr>
                                      <p:tavLst>
                                        <p:tav tm="0">
                                          <p:val>
                                            <p:strVal val="0-#ppt_w/2"/>
                                          </p:val>
                                        </p:tav>
                                        <p:tav tm="100000">
                                          <p:val>
                                            <p:strVal val="#ppt_x"/>
                                          </p:val>
                                        </p:tav>
                                      </p:tavLst>
                                    </p:anim>
                                    <p:anim calcmode="lin" valueType="num">
                                      <p:cBhvr additive="base">
                                        <p:cTn id="8" dur="500" fill="hold"/>
                                        <p:tgtEl>
                                          <p:spTgt spid="13824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0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劣势</a:t>
            </a:r>
          </a:p>
        </p:txBody>
      </p:sp>
      <p:sp>
        <p:nvSpPr>
          <p:cNvPr id="3" name="内容占位符 2"/>
          <p:cNvSpPr>
            <a:spLocks noGrp="1"/>
          </p:cNvSpPr>
          <p:nvPr>
            <p:ph idx="1"/>
          </p:nvPr>
        </p:nvSpPr>
        <p:spPr/>
        <p:txBody>
          <a:bodyPr/>
          <a:lstStyle/>
          <a:p>
            <a:r>
              <a:rPr lang="zh-CN" altLang="en-US" dirty="0"/>
              <a:t>管理难度增大</a:t>
            </a:r>
            <a:endParaRPr lang="en-US" altLang="zh-CN" dirty="0"/>
          </a:p>
          <a:p>
            <a:r>
              <a:rPr lang="zh-CN" altLang="en-US" dirty="0"/>
              <a:t>资源分散</a:t>
            </a:r>
            <a:endParaRPr lang="en-US" altLang="zh-CN" dirty="0"/>
          </a:p>
          <a:p>
            <a:r>
              <a:rPr lang="zh-CN" altLang="en-US" dirty="0"/>
              <a:t>影响核心竞争力的培养</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2195513" y="304800"/>
            <a:ext cx="6491287" cy="1143000"/>
          </a:xfrm>
          <a:noFill/>
        </p:spPr>
        <p:txBody>
          <a:bodyPr/>
          <a:lstStyle/>
          <a:p>
            <a:pPr eaLnBrk="1" hangingPunct="1"/>
            <a:r>
              <a:rPr lang="en-US" altLang="zh-CN" dirty="0">
                <a:solidFill>
                  <a:srgbClr val="800000"/>
                </a:solidFill>
              </a:rPr>
              <a:t> </a:t>
            </a:r>
            <a:r>
              <a:rPr lang="zh-CN" altLang="en-US" dirty="0">
                <a:solidFill>
                  <a:srgbClr val="FFFF66"/>
                </a:solidFill>
              </a:rPr>
              <a:t>发展战略的方式选择</a:t>
            </a:r>
            <a:endParaRPr lang="zh-CN" altLang="en-AU" b="1" dirty="0">
              <a:solidFill>
                <a:srgbClr val="FFFF66"/>
              </a:solidFill>
            </a:endParaRPr>
          </a:p>
        </p:txBody>
      </p:sp>
      <p:sp>
        <p:nvSpPr>
          <p:cNvPr id="1298435" name="Rectangle 3"/>
          <p:cNvSpPr>
            <a:spLocks noChangeArrowheads="1"/>
          </p:cNvSpPr>
          <p:nvPr/>
        </p:nvSpPr>
        <p:spPr bwMode="auto">
          <a:xfrm>
            <a:off x="3419475" y="2924175"/>
            <a:ext cx="5329238" cy="2736850"/>
          </a:xfrm>
          <a:prstGeom prst="rect">
            <a:avLst/>
          </a:prstGeom>
          <a:gradFill rotWithShape="0">
            <a:gsLst>
              <a:gs pos="0">
                <a:srgbClr val="FFCC99"/>
              </a:gs>
              <a:gs pos="100000">
                <a:srgbClr val="FFECDA"/>
              </a:gs>
            </a:gsLst>
            <a:path path="shape">
              <a:fillToRect l="50000" t="50000" r="50000" b="50000"/>
            </a:path>
          </a:gradFill>
          <a:ln w="12700">
            <a:solidFill>
              <a:srgbClr val="800000"/>
            </a:solidFill>
            <a:miter lim="800000"/>
            <a:headEnd type="none" w="sm" len="sm"/>
            <a:tailEnd type="none" w="sm" len="sm"/>
          </a:ln>
        </p:spPr>
        <p:txBody>
          <a:bodyPr anchor="ctr"/>
          <a:lstStyle/>
          <a:p>
            <a:pPr marL="952500" indent="-279400" algn="l">
              <a:spcBef>
                <a:spcPct val="50000"/>
              </a:spcBef>
              <a:buSzPct val="80000"/>
              <a:buFontTx/>
              <a:buChar char="•"/>
            </a:pPr>
            <a:r>
              <a:rPr kumimoji="0" lang="zh-CN" altLang="en-US" sz="3600" dirty="0">
                <a:solidFill>
                  <a:srgbClr val="003366"/>
                </a:solidFill>
                <a:latin typeface="Arial" pitchFamily="34" charset="0"/>
                <a:ea typeface="宋体" pitchFamily="2" charset="-122"/>
              </a:rPr>
              <a:t>兼并收购</a:t>
            </a:r>
          </a:p>
          <a:p>
            <a:pPr marL="952500" indent="-279400" algn="l">
              <a:spcBef>
                <a:spcPct val="50000"/>
              </a:spcBef>
              <a:buSzPct val="80000"/>
              <a:buFontTx/>
              <a:buChar char="•"/>
            </a:pPr>
            <a:r>
              <a:rPr kumimoji="0" lang="zh-CN" altLang="en-US" sz="3600" dirty="0">
                <a:solidFill>
                  <a:srgbClr val="003366"/>
                </a:solidFill>
                <a:latin typeface="Arial" pitchFamily="34" charset="0"/>
                <a:ea typeface="宋体" pitchFamily="2" charset="-122"/>
              </a:rPr>
              <a:t>战略联盟</a:t>
            </a:r>
          </a:p>
          <a:p>
            <a:pPr marL="952500" indent="-279400" algn="l">
              <a:spcBef>
                <a:spcPct val="50000"/>
              </a:spcBef>
              <a:buSzPct val="80000"/>
              <a:buFontTx/>
              <a:buChar char="•"/>
            </a:pPr>
            <a:r>
              <a:rPr lang="zh-CN" altLang="en-US" sz="3600" dirty="0">
                <a:solidFill>
                  <a:srgbClr val="003366"/>
                </a:solidFill>
                <a:latin typeface="Arial" pitchFamily="34" charset="0"/>
                <a:ea typeface="宋体" pitchFamily="2" charset="-122"/>
              </a:rPr>
              <a:t>自我</a:t>
            </a:r>
            <a:r>
              <a:rPr kumimoji="0" lang="zh-CN" altLang="en-US" sz="3600" dirty="0">
                <a:solidFill>
                  <a:srgbClr val="003366"/>
                </a:solidFill>
                <a:latin typeface="Arial" pitchFamily="34" charset="0"/>
                <a:ea typeface="宋体" pitchFamily="2" charset="-122"/>
              </a:rPr>
              <a:t>发展</a:t>
            </a:r>
          </a:p>
        </p:txBody>
      </p:sp>
      <p:grpSp>
        <p:nvGrpSpPr>
          <p:cNvPr id="2" name="Group 4"/>
          <p:cNvGrpSpPr>
            <a:grpSpLocks/>
          </p:cNvGrpSpPr>
          <p:nvPr/>
        </p:nvGrpSpPr>
        <p:grpSpPr bwMode="auto">
          <a:xfrm>
            <a:off x="539750" y="2924175"/>
            <a:ext cx="2736850" cy="3292475"/>
            <a:chOff x="2648" y="2042"/>
            <a:chExt cx="1452" cy="1711"/>
          </a:xfrm>
        </p:grpSpPr>
        <p:grpSp>
          <p:nvGrpSpPr>
            <p:cNvPr id="3" name="Group 5"/>
            <p:cNvGrpSpPr>
              <a:grpSpLocks/>
            </p:cNvGrpSpPr>
            <p:nvPr/>
          </p:nvGrpSpPr>
          <p:grpSpPr bwMode="auto">
            <a:xfrm>
              <a:off x="3036" y="2042"/>
              <a:ext cx="1064" cy="950"/>
              <a:chOff x="3036" y="2042"/>
              <a:chExt cx="1064" cy="950"/>
            </a:xfrm>
          </p:grpSpPr>
          <p:sp>
            <p:nvSpPr>
              <p:cNvPr id="52279" name="Freeform 6" descr="就这么简单"/>
              <p:cNvSpPr>
                <a:spLocks/>
              </p:cNvSpPr>
              <p:nvPr/>
            </p:nvSpPr>
            <p:spPr bwMode="auto">
              <a:xfrm>
                <a:off x="3044" y="2068"/>
                <a:ext cx="1036" cy="905"/>
              </a:xfrm>
              <a:custGeom>
                <a:avLst/>
                <a:gdLst>
                  <a:gd name="T0" fmla="*/ 605 w 1036"/>
                  <a:gd name="T1" fmla="*/ 828 h 905"/>
                  <a:gd name="T2" fmla="*/ 638 w 1036"/>
                  <a:gd name="T3" fmla="*/ 828 h 905"/>
                  <a:gd name="T4" fmla="*/ 664 w 1036"/>
                  <a:gd name="T5" fmla="*/ 809 h 905"/>
                  <a:gd name="T6" fmla="*/ 683 w 1036"/>
                  <a:gd name="T7" fmla="*/ 803 h 905"/>
                  <a:gd name="T8" fmla="*/ 755 w 1036"/>
                  <a:gd name="T9" fmla="*/ 847 h 905"/>
                  <a:gd name="T10" fmla="*/ 840 w 1036"/>
                  <a:gd name="T11" fmla="*/ 834 h 905"/>
                  <a:gd name="T12" fmla="*/ 892 w 1036"/>
                  <a:gd name="T13" fmla="*/ 815 h 905"/>
                  <a:gd name="T14" fmla="*/ 976 w 1036"/>
                  <a:gd name="T15" fmla="*/ 853 h 905"/>
                  <a:gd name="T16" fmla="*/ 1015 w 1036"/>
                  <a:gd name="T17" fmla="*/ 777 h 905"/>
                  <a:gd name="T18" fmla="*/ 989 w 1036"/>
                  <a:gd name="T19" fmla="*/ 721 h 905"/>
                  <a:gd name="T20" fmla="*/ 976 w 1036"/>
                  <a:gd name="T21" fmla="*/ 702 h 905"/>
                  <a:gd name="T22" fmla="*/ 1002 w 1036"/>
                  <a:gd name="T23" fmla="*/ 689 h 905"/>
                  <a:gd name="T24" fmla="*/ 976 w 1036"/>
                  <a:gd name="T25" fmla="*/ 638 h 905"/>
                  <a:gd name="T26" fmla="*/ 970 w 1036"/>
                  <a:gd name="T27" fmla="*/ 626 h 905"/>
                  <a:gd name="T28" fmla="*/ 1035 w 1036"/>
                  <a:gd name="T29" fmla="*/ 512 h 905"/>
                  <a:gd name="T30" fmla="*/ 1002 w 1036"/>
                  <a:gd name="T31" fmla="*/ 392 h 905"/>
                  <a:gd name="T32" fmla="*/ 931 w 1036"/>
                  <a:gd name="T33" fmla="*/ 360 h 905"/>
                  <a:gd name="T34" fmla="*/ 1002 w 1036"/>
                  <a:gd name="T35" fmla="*/ 316 h 905"/>
                  <a:gd name="T36" fmla="*/ 970 w 1036"/>
                  <a:gd name="T37" fmla="*/ 259 h 905"/>
                  <a:gd name="T38" fmla="*/ 924 w 1036"/>
                  <a:gd name="T39" fmla="*/ 240 h 905"/>
                  <a:gd name="T40" fmla="*/ 1002 w 1036"/>
                  <a:gd name="T41" fmla="*/ 240 h 905"/>
                  <a:gd name="T42" fmla="*/ 1022 w 1036"/>
                  <a:gd name="T43" fmla="*/ 164 h 905"/>
                  <a:gd name="T44" fmla="*/ 976 w 1036"/>
                  <a:gd name="T45" fmla="*/ 88 h 905"/>
                  <a:gd name="T46" fmla="*/ 892 w 1036"/>
                  <a:gd name="T47" fmla="*/ 82 h 905"/>
                  <a:gd name="T48" fmla="*/ 872 w 1036"/>
                  <a:gd name="T49" fmla="*/ 94 h 905"/>
                  <a:gd name="T50" fmla="*/ 827 w 1036"/>
                  <a:gd name="T51" fmla="*/ 56 h 905"/>
                  <a:gd name="T52" fmla="*/ 788 w 1036"/>
                  <a:gd name="T53" fmla="*/ 126 h 905"/>
                  <a:gd name="T54" fmla="*/ 755 w 1036"/>
                  <a:gd name="T55" fmla="*/ 31 h 905"/>
                  <a:gd name="T56" fmla="*/ 618 w 1036"/>
                  <a:gd name="T57" fmla="*/ 0 h 905"/>
                  <a:gd name="T58" fmla="*/ 527 w 1036"/>
                  <a:gd name="T59" fmla="*/ 50 h 905"/>
                  <a:gd name="T60" fmla="*/ 495 w 1036"/>
                  <a:gd name="T61" fmla="*/ 75 h 905"/>
                  <a:gd name="T62" fmla="*/ 449 w 1036"/>
                  <a:gd name="T63" fmla="*/ 44 h 905"/>
                  <a:gd name="T64" fmla="*/ 384 w 1036"/>
                  <a:gd name="T65" fmla="*/ 126 h 905"/>
                  <a:gd name="T66" fmla="*/ 371 w 1036"/>
                  <a:gd name="T67" fmla="*/ 94 h 905"/>
                  <a:gd name="T68" fmla="*/ 332 w 1036"/>
                  <a:gd name="T69" fmla="*/ 126 h 905"/>
                  <a:gd name="T70" fmla="*/ 299 w 1036"/>
                  <a:gd name="T71" fmla="*/ 101 h 905"/>
                  <a:gd name="T72" fmla="*/ 247 w 1036"/>
                  <a:gd name="T73" fmla="*/ 44 h 905"/>
                  <a:gd name="T74" fmla="*/ 169 w 1036"/>
                  <a:gd name="T75" fmla="*/ 44 h 905"/>
                  <a:gd name="T76" fmla="*/ 97 w 1036"/>
                  <a:gd name="T77" fmla="*/ 101 h 905"/>
                  <a:gd name="T78" fmla="*/ 123 w 1036"/>
                  <a:gd name="T79" fmla="*/ 208 h 905"/>
                  <a:gd name="T80" fmla="*/ 78 w 1036"/>
                  <a:gd name="T81" fmla="*/ 202 h 905"/>
                  <a:gd name="T82" fmla="*/ 58 w 1036"/>
                  <a:gd name="T83" fmla="*/ 234 h 905"/>
                  <a:gd name="T84" fmla="*/ 84 w 1036"/>
                  <a:gd name="T85" fmla="*/ 290 h 905"/>
                  <a:gd name="T86" fmla="*/ 65 w 1036"/>
                  <a:gd name="T87" fmla="*/ 303 h 905"/>
                  <a:gd name="T88" fmla="*/ 0 w 1036"/>
                  <a:gd name="T89" fmla="*/ 398 h 905"/>
                  <a:gd name="T90" fmla="*/ 52 w 1036"/>
                  <a:gd name="T91" fmla="*/ 518 h 905"/>
                  <a:gd name="T92" fmla="*/ 136 w 1036"/>
                  <a:gd name="T93" fmla="*/ 512 h 905"/>
                  <a:gd name="T94" fmla="*/ 71 w 1036"/>
                  <a:gd name="T95" fmla="*/ 556 h 905"/>
                  <a:gd name="T96" fmla="*/ 65 w 1036"/>
                  <a:gd name="T97" fmla="*/ 607 h 905"/>
                  <a:gd name="T98" fmla="*/ 91 w 1036"/>
                  <a:gd name="T99" fmla="*/ 626 h 905"/>
                  <a:gd name="T100" fmla="*/ 143 w 1036"/>
                  <a:gd name="T101" fmla="*/ 638 h 905"/>
                  <a:gd name="T102" fmla="*/ 91 w 1036"/>
                  <a:gd name="T103" fmla="*/ 695 h 905"/>
                  <a:gd name="T104" fmla="*/ 97 w 1036"/>
                  <a:gd name="T105" fmla="*/ 771 h 905"/>
                  <a:gd name="T106" fmla="*/ 156 w 1036"/>
                  <a:gd name="T107" fmla="*/ 822 h 905"/>
                  <a:gd name="T108" fmla="*/ 214 w 1036"/>
                  <a:gd name="T109" fmla="*/ 822 h 905"/>
                  <a:gd name="T110" fmla="*/ 234 w 1036"/>
                  <a:gd name="T111" fmla="*/ 803 h 905"/>
                  <a:gd name="T112" fmla="*/ 371 w 1036"/>
                  <a:gd name="T113" fmla="*/ 898 h 905"/>
                  <a:gd name="T114" fmla="*/ 508 w 1036"/>
                  <a:gd name="T115" fmla="*/ 879 h 905"/>
                  <a:gd name="T116" fmla="*/ 573 w 1036"/>
                  <a:gd name="T117" fmla="*/ 809 h 905"/>
                  <a:gd name="T118" fmla="*/ 592 w 1036"/>
                  <a:gd name="T119" fmla="*/ 809 h 90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036"/>
                  <a:gd name="T181" fmla="*/ 0 h 905"/>
                  <a:gd name="T182" fmla="*/ 1036 w 1036"/>
                  <a:gd name="T183" fmla="*/ 905 h 905"/>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036" h="905">
                    <a:moveTo>
                      <a:pt x="592" y="809"/>
                    </a:moveTo>
                    <a:lnTo>
                      <a:pt x="605" y="828"/>
                    </a:lnTo>
                    <a:lnTo>
                      <a:pt x="618" y="828"/>
                    </a:lnTo>
                    <a:lnTo>
                      <a:pt x="638" y="828"/>
                    </a:lnTo>
                    <a:lnTo>
                      <a:pt x="651" y="815"/>
                    </a:lnTo>
                    <a:lnTo>
                      <a:pt x="664" y="809"/>
                    </a:lnTo>
                    <a:lnTo>
                      <a:pt x="670" y="765"/>
                    </a:lnTo>
                    <a:lnTo>
                      <a:pt x="683" y="803"/>
                    </a:lnTo>
                    <a:lnTo>
                      <a:pt x="716" y="828"/>
                    </a:lnTo>
                    <a:lnTo>
                      <a:pt x="755" y="847"/>
                    </a:lnTo>
                    <a:lnTo>
                      <a:pt x="807" y="841"/>
                    </a:lnTo>
                    <a:lnTo>
                      <a:pt x="840" y="834"/>
                    </a:lnTo>
                    <a:lnTo>
                      <a:pt x="892" y="777"/>
                    </a:lnTo>
                    <a:lnTo>
                      <a:pt x="892" y="815"/>
                    </a:lnTo>
                    <a:lnTo>
                      <a:pt x="911" y="853"/>
                    </a:lnTo>
                    <a:lnTo>
                      <a:pt x="976" y="853"/>
                    </a:lnTo>
                    <a:lnTo>
                      <a:pt x="1009" y="822"/>
                    </a:lnTo>
                    <a:lnTo>
                      <a:pt x="1015" y="777"/>
                    </a:lnTo>
                    <a:lnTo>
                      <a:pt x="1009" y="746"/>
                    </a:lnTo>
                    <a:lnTo>
                      <a:pt x="989" y="721"/>
                    </a:lnTo>
                    <a:lnTo>
                      <a:pt x="963" y="702"/>
                    </a:lnTo>
                    <a:lnTo>
                      <a:pt x="976" y="702"/>
                    </a:lnTo>
                    <a:lnTo>
                      <a:pt x="996" y="695"/>
                    </a:lnTo>
                    <a:lnTo>
                      <a:pt x="1002" y="689"/>
                    </a:lnTo>
                    <a:lnTo>
                      <a:pt x="1002" y="664"/>
                    </a:lnTo>
                    <a:lnTo>
                      <a:pt x="976" y="638"/>
                    </a:lnTo>
                    <a:lnTo>
                      <a:pt x="937" y="626"/>
                    </a:lnTo>
                    <a:lnTo>
                      <a:pt x="970" y="626"/>
                    </a:lnTo>
                    <a:lnTo>
                      <a:pt x="1009" y="594"/>
                    </a:lnTo>
                    <a:lnTo>
                      <a:pt x="1035" y="512"/>
                    </a:lnTo>
                    <a:lnTo>
                      <a:pt x="1035" y="449"/>
                    </a:lnTo>
                    <a:lnTo>
                      <a:pt x="1002" y="392"/>
                    </a:lnTo>
                    <a:lnTo>
                      <a:pt x="970" y="373"/>
                    </a:lnTo>
                    <a:lnTo>
                      <a:pt x="931" y="360"/>
                    </a:lnTo>
                    <a:lnTo>
                      <a:pt x="989" y="341"/>
                    </a:lnTo>
                    <a:lnTo>
                      <a:pt x="1002" y="316"/>
                    </a:lnTo>
                    <a:lnTo>
                      <a:pt x="996" y="278"/>
                    </a:lnTo>
                    <a:lnTo>
                      <a:pt x="970" y="259"/>
                    </a:lnTo>
                    <a:lnTo>
                      <a:pt x="931" y="259"/>
                    </a:lnTo>
                    <a:lnTo>
                      <a:pt x="924" y="240"/>
                    </a:lnTo>
                    <a:lnTo>
                      <a:pt x="950" y="246"/>
                    </a:lnTo>
                    <a:lnTo>
                      <a:pt x="1002" y="240"/>
                    </a:lnTo>
                    <a:lnTo>
                      <a:pt x="1022" y="208"/>
                    </a:lnTo>
                    <a:lnTo>
                      <a:pt x="1022" y="164"/>
                    </a:lnTo>
                    <a:lnTo>
                      <a:pt x="1009" y="120"/>
                    </a:lnTo>
                    <a:lnTo>
                      <a:pt x="976" y="88"/>
                    </a:lnTo>
                    <a:lnTo>
                      <a:pt x="937" y="75"/>
                    </a:lnTo>
                    <a:lnTo>
                      <a:pt x="892" y="82"/>
                    </a:lnTo>
                    <a:lnTo>
                      <a:pt x="859" y="132"/>
                    </a:lnTo>
                    <a:lnTo>
                      <a:pt x="872" y="94"/>
                    </a:lnTo>
                    <a:lnTo>
                      <a:pt x="859" y="56"/>
                    </a:lnTo>
                    <a:lnTo>
                      <a:pt x="827" y="56"/>
                    </a:lnTo>
                    <a:lnTo>
                      <a:pt x="794" y="75"/>
                    </a:lnTo>
                    <a:lnTo>
                      <a:pt x="788" y="126"/>
                    </a:lnTo>
                    <a:lnTo>
                      <a:pt x="775" y="63"/>
                    </a:lnTo>
                    <a:lnTo>
                      <a:pt x="755" y="31"/>
                    </a:lnTo>
                    <a:lnTo>
                      <a:pt x="709" y="12"/>
                    </a:lnTo>
                    <a:lnTo>
                      <a:pt x="618" y="0"/>
                    </a:lnTo>
                    <a:lnTo>
                      <a:pt x="553" y="25"/>
                    </a:lnTo>
                    <a:lnTo>
                      <a:pt x="527" y="50"/>
                    </a:lnTo>
                    <a:lnTo>
                      <a:pt x="508" y="101"/>
                    </a:lnTo>
                    <a:lnTo>
                      <a:pt x="495" y="75"/>
                    </a:lnTo>
                    <a:lnTo>
                      <a:pt x="475" y="50"/>
                    </a:lnTo>
                    <a:lnTo>
                      <a:pt x="449" y="44"/>
                    </a:lnTo>
                    <a:lnTo>
                      <a:pt x="397" y="69"/>
                    </a:lnTo>
                    <a:lnTo>
                      <a:pt x="384" y="126"/>
                    </a:lnTo>
                    <a:lnTo>
                      <a:pt x="377" y="101"/>
                    </a:lnTo>
                    <a:lnTo>
                      <a:pt x="371" y="94"/>
                    </a:lnTo>
                    <a:lnTo>
                      <a:pt x="351" y="101"/>
                    </a:lnTo>
                    <a:lnTo>
                      <a:pt x="332" y="126"/>
                    </a:lnTo>
                    <a:lnTo>
                      <a:pt x="319" y="158"/>
                    </a:lnTo>
                    <a:lnTo>
                      <a:pt x="299" y="101"/>
                    </a:lnTo>
                    <a:lnTo>
                      <a:pt x="280" y="69"/>
                    </a:lnTo>
                    <a:lnTo>
                      <a:pt x="247" y="44"/>
                    </a:lnTo>
                    <a:lnTo>
                      <a:pt x="201" y="38"/>
                    </a:lnTo>
                    <a:lnTo>
                      <a:pt x="169" y="44"/>
                    </a:lnTo>
                    <a:lnTo>
                      <a:pt x="130" y="63"/>
                    </a:lnTo>
                    <a:lnTo>
                      <a:pt x="97" y="101"/>
                    </a:lnTo>
                    <a:lnTo>
                      <a:pt x="91" y="164"/>
                    </a:lnTo>
                    <a:lnTo>
                      <a:pt x="123" y="208"/>
                    </a:lnTo>
                    <a:lnTo>
                      <a:pt x="91" y="202"/>
                    </a:lnTo>
                    <a:lnTo>
                      <a:pt x="78" y="202"/>
                    </a:lnTo>
                    <a:lnTo>
                      <a:pt x="65" y="208"/>
                    </a:lnTo>
                    <a:lnTo>
                      <a:pt x="58" y="234"/>
                    </a:lnTo>
                    <a:lnTo>
                      <a:pt x="65" y="265"/>
                    </a:lnTo>
                    <a:lnTo>
                      <a:pt x="84" y="290"/>
                    </a:lnTo>
                    <a:lnTo>
                      <a:pt x="110" y="290"/>
                    </a:lnTo>
                    <a:lnTo>
                      <a:pt x="65" y="303"/>
                    </a:lnTo>
                    <a:lnTo>
                      <a:pt x="32" y="335"/>
                    </a:lnTo>
                    <a:lnTo>
                      <a:pt x="0" y="398"/>
                    </a:lnTo>
                    <a:lnTo>
                      <a:pt x="13" y="461"/>
                    </a:lnTo>
                    <a:lnTo>
                      <a:pt x="52" y="518"/>
                    </a:lnTo>
                    <a:lnTo>
                      <a:pt x="78" y="524"/>
                    </a:lnTo>
                    <a:lnTo>
                      <a:pt x="136" y="512"/>
                    </a:lnTo>
                    <a:lnTo>
                      <a:pt x="104" y="524"/>
                    </a:lnTo>
                    <a:lnTo>
                      <a:pt x="71" y="556"/>
                    </a:lnTo>
                    <a:lnTo>
                      <a:pt x="65" y="575"/>
                    </a:lnTo>
                    <a:lnTo>
                      <a:pt x="65" y="607"/>
                    </a:lnTo>
                    <a:lnTo>
                      <a:pt x="71" y="613"/>
                    </a:lnTo>
                    <a:lnTo>
                      <a:pt x="91" y="626"/>
                    </a:lnTo>
                    <a:lnTo>
                      <a:pt x="117" y="632"/>
                    </a:lnTo>
                    <a:lnTo>
                      <a:pt x="143" y="638"/>
                    </a:lnTo>
                    <a:lnTo>
                      <a:pt x="117" y="664"/>
                    </a:lnTo>
                    <a:lnTo>
                      <a:pt x="91" y="695"/>
                    </a:lnTo>
                    <a:lnTo>
                      <a:pt x="91" y="733"/>
                    </a:lnTo>
                    <a:lnTo>
                      <a:pt x="97" y="771"/>
                    </a:lnTo>
                    <a:lnTo>
                      <a:pt x="117" y="803"/>
                    </a:lnTo>
                    <a:lnTo>
                      <a:pt x="156" y="822"/>
                    </a:lnTo>
                    <a:lnTo>
                      <a:pt x="182" y="828"/>
                    </a:lnTo>
                    <a:lnTo>
                      <a:pt x="214" y="822"/>
                    </a:lnTo>
                    <a:lnTo>
                      <a:pt x="228" y="815"/>
                    </a:lnTo>
                    <a:lnTo>
                      <a:pt x="234" y="803"/>
                    </a:lnTo>
                    <a:lnTo>
                      <a:pt x="312" y="885"/>
                    </a:lnTo>
                    <a:lnTo>
                      <a:pt x="371" y="898"/>
                    </a:lnTo>
                    <a:lnTo>
                      <a:pt x="436" y="904"/>
                    </a:lnTo>
                    <a:lnTo>
                      <a:pt x="508" y="879"/>
                    </a:lnTo>
                    <a:lnTo>
                      <a:pt x="553" y="841"/>
                    </a:lnTo>
                    <a:lnTo>
                      <a:pt x="573" y="809"/>
                    </a:lnTo>
                    <a:lnTo>
                      <a:pt x="586" y="765"/>
                    </a:lnTo>
                    <a:lnTo>
                      <a:pt x="592" y="809"/>
                    </a:lnTo>
                    <a:close/>
                  </a:path>
                </a:pathLst>
              </a:custGeom>
              <a:gradFill rotWithShape="1">
                <a:gsLst>
                  <a:gs pos="0">
                    <a:schemeClr val="tx1"/>
                  </a:gs>
                  <a:gs pos="100000">
                    <a:srgbClr val="FF0000"/>
                  </a:gs>
                </a:gsLst>
                <a:lin ang="5400000" scaled="1"/>
              </a:gradFill>
              <a:ln w="3175" cap="flat">
                <a:solidFill>
                  <a:srgbClr val="FF0000"/>
                </a:solidFill>
                <a:prstDash val="solid"/>
                <a:round/>
                <a:headEnd/>
                <a:tailEnd/>
              </a:ln>
            </p:spPr>
            <p:txBody>
              <a:bodyPr wrap="none" anchor="ctr">
                <a:spAutoFit/>
              </a:bodyPr>
              <a:lstStyle/>
              <a:p>
                <a:endParaRPr lang="zh-CN" altLang="en-US"/>
              </a:p>
            </p:txBody>
          </p:sp>
          <p:sp>
            <p:nvSpPr>
              <p:cNvPr id="52280" name="Freeform 7"/>
              <p:cNvSpPr>
                <a:spLocks/>
              </p:cNvSpPr>
              <p:nvPr/>
            </p:nvSpPr>
            <p:spPr bwMode="auto">
              <a:xfrm>
                <a:off x="3036" y="2087"/>
                <a:ext cx="607" cy="905"/>
              </a:xfrm>
              <a:custGeom>
                <a:avLst/>
                <a:gdLst>
                  <a:gd name="T0" fmla="*/ 586 w 607"/>
                  <a:gd name="T1" fmla="*/ 791 h 905"/>
                  <a:gd name="T2" fmla="*/ 469 w 607"/>
                  <a:gd name="T3" fmla="*/ 873 h 905"/>
                  <a:gd name="T4" fmla="*/ 345 w 607"/>
                  <a:gd name="T5" fmla="*/ 873 h 905"/>
                  <a:gd name="T6" fmla="*/ 241 w 607"/>
                  <a:gd name="T7" fmla="*/ 797 h 905"/>
                  <a:gd name="T8" fmla="*/ 170 w 607"/>
                  <a:gd name="T9" fmla="*/ 803 h 905"/>
                  <a:gd name="T10" fmla="*/ 104 w 607"/>
                  <a:gd name="T11" fmla="*/ 715 h 905"/>
                  <a:gd name="T12" fmla="*/ 156 w 607"/>
                  <a:gd name="T13" fmla="*/ 620 h 905"/>
                  <a:gd name="T14" fmla="*/ 78 w 607"/>
                  <a:gd name="T15" fmla="*/ 588 h 905"/>
                  <a:gd name="T16" fmla="*/ 117 w 607"/>
                  <a:gd name="T17" fmla="*/ 512 h 905"/>
                  <a:gd name="T18" fmla="*/ 91 w 607"/>
                  <a:gd name="T19" fmla="*/ 493 h 905"/>
                  <a:gd name="T20" fmla="*/ 26 w 607"/>
                  <a:gd name="T21" fmla="*/ 417 h 905"/>
                  <a:gd name="T22" fmla="*/ 52 w 607"/>
                  <a:gd name="T23" fmla="*/ 316 h 905"/>
                  <a:gd name="T24" fmla="*/ 124 w 607"/>
                  <a:gd name="T25" fmla="*/ 272 h 905"/>
                  <a:gd name="T26" fmla="*/ 78 w 607"/>
                  <a:gd name="T27" fmla="*/ 247 h 905"/>
                  <a:gd name="T28" fmla="*/ 91 w 607"/>
                  <a:gd name="T29" fmla="*/ 183 h 905"/>
                  <a:gd name="T30" fmla="*/ 111 w 607"/>
                  <a:gd name="T31" fmla="*/ 133 h 905"/>
                  <a:gd name="T32" fmla="*/ 189 w 607"/>
                  <a:gd name="T33" fmla="*/ 38 h 905"/>
                  <a:gd name="T34" fmla="*/ 287 w 607"/>
                  <a:gd name="T35" fmla="*/ 57 h 905"/>
                  <a:gd name="T36" fmla="*/ 332 w 607"/>
                  <a:gd name="T37" fmla="*/ 139 h 905"/>
                  <a:gd name="T38" fmla="*/ 384 w 607"/>
                  <a:gd name="T39" fmla="*/ 76 h 905"/>
                  <a:gd name="T40" fmla="*/ 417 w 607"/>
                  <a:gd name="T41" fmla="*/ 51 h 905"/>
                  <a:gd name="T42" fmla="*/ 495 w 607"/>
                  <a:gd name="T43" fmla="*/ 51 h 905"/>
                  <a:gd name="T44" fmla="*/ 541 w 607"/>
                  <a:gd name="T45" fmla="*/ 38 h 905"/>
                  <a:gd name="T46" fmla="*/ 469 w 607"/>
                  <a:gd name="T47" fmla="*/ 6 h 905"/>
                  <a:gd name="T48" fmla="*/ 397 w 607"/>
                  <a:gd name="T49" fmla="*/ 44 h 905"/>
                  <a:gd name="T50" fmla="*/ 339 w 607"/>
                  <a:gd name="T51" fmla="*/ 70 h 905"/>
                  <a:gd name="T52" fmla="*/ 313 w 607"/>
                  <a:gd name="T53" fmla="*/ 57 h 905"/>
                  <a:gd name="T54" fmla="*/ 261 w 607"/>
                  <a:gd name="T55" fmla="*/ 6 h 905"/>
                  <a:gd name="T56" fmla="*/ 156 w 607"/>
                  <a:gd name="T57" fmla="*/ 13 h 905"/>
                  <a:gd name="T58" fmla="*/ 98 w 607"/>
                  <a:gd name="T59" fmla="*/ 89 h 905"/>
                  <a:gd name="T60" fmla="*/ 78 w 607"/>
                  <a:gd name="T61" fmla="*/ 114 h 905"/>
                  <a:gd name="T62" fmla="*/ 65 w 607"/>
                  <a:gd name="T63" fmla="*/ 145 h 905"/>
                  <a:gd name="T64" fmla="*/ 59 w 607"/>
                  <a:gd name="T65" fmla="*/ 171 h 905"/>
                  <a:gd name="T66" fmla="*/ 52 w 607"/>
                  <a:gd name="T67" fmla="*/ 259 h 905"/>
                  <a:gd name="T68" fmla="*/ 20 w 607"/>
                  <a:gd name="T69" fmla="*/ 316 h 905"/>
                  <a:gd name="T70" fmla="*/ 26 w 607"/>
                  <a:gd name="T71" fmla="*/ 474 h 905"/>
                  <a:gd name="T72" fmla="*/ 65 w 607"/>
                  <a:gd name="T73" fmla="*/ 544 h 905"/>
                  <a:gd name="T74" fmla="*/ 59 w 607"/>
                  <a:gd name="T75" fmla="*/ 601 h 905"/>
                  <a:gd name="T76" fmla="*/ 111 w 607"/>
                  <a:gd name="T77" fmla="*/ 632 h 905"/>
                  <a:gd name="T78" fmla="*/ 78 w 607"/>
                  <a:gd name="T79" fmla="*/ 734 h 905"/>
                  <a:gd name="T80" fmla="*/ 156 w 607"/>
                  <a:gd name="T81" fmla="*/ 835 h 905"/>
                  <a:gd name="T82" fmla="*/ 267 w 607"/>
                  <a:gd name="T83" fmla="*/ 847 h 905"/>
                  <a:gd name="T84" fmla="*/ 391 w 607"/>
                  <a:gd name="T85" fmla="*/ 904 h 905"/>
                  <a:gd name="T86" fmla="*/ 541 w 607"/>
                  <a:gd name="T87" fmla="*/ 873 h 905"/>
                  <a:gd name="T88" fmla="*/ 606 w 607"/>
                  <a:gd name="T89" fmla="*/ 791 h 90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07"/>
                  <a:gd name="T136" fmla="*/ 0 h 905"/>
                  <a:gd name="T137" fmla="*/ 607 w 607"/>
                  <a:gd name="T138" fmla="*/ 905 h 90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07" h="905">
                    <a:moveTo>
                      <a:pt x="606" y="791"/>
                    </a:moveTo>
                    <a:lnTo>
                      <a:pt x="599" y="746"/>
                    </a:lnTo>
                    <a:lnTo>
                      <a:pt x="586" y="791"/>
                    </a:lnTo>
                    <a:lnTo>
                      <a:pt x="567" y="822"/>
                    </a:lnTo>
                    <a:lnTo>
                      <a:pt x="521" y="854"/>
                    </a:lnTo>
                    <a:lnTo>
                      <a:pt x="469" y="873"/>
                    </a:lnTo>
                    <a:lnTo>
                      <a:pt x="417" y="879"/>
                    </a:lnTo>
                    <a:lnTo>
                      <a:pt x="365" y="873"/>
                    </a:lnTo>
                    <a:lnTo>
                      <a:pt x="345" y="873"/>
                    </a:lnTo>
                    <a:lnTo>
                      <a:pt x="326" y="866"/>
                    </a:lnTo>
                    <a:lnTo>
                      <a:pt x="248" y="784"/>
                    </a:lnTo>
                    <a:lnTo>
                      <a:pt x="241" y="797"/>
                    </a:lnTo>
                    <a:lnTo>
                      <a:pt x="228" y="803"/>
                    </a:lnTo>
                    <a:lnTo>
                      <a:pt x="196" y="810"/>
                    </a:lnTo>
                    <a:lnTo>
                      <a:pt x="170" y="803"/>
                    </a:lnTo>
                    <a:lnTo>
                      <a:pt x="130" y="784"/>
                    </a:lnTo>
                    <a:lnTo>
                      <a:pt x="111" y="753"/>
                    </a:lnTo>
                    <a:lnTo>
                      <a:pt x="104" y="715"/>
                    </a:lnTo>
                    <a:lnTo>
                      <a:pt x="104" y="677"/>
                    </a:lnTo>
                    <a:lnTo>
                      <a:pt x="130" y="645"/>
                    </a:lnTo>
                    <a:lnTo>
                      <a:pt x="156" y="620"/>
                    </a:lnTo>
                    <a:lnTo>
                      <a:pt x="130" y="613"/>
                    </a:lnTo>
                    <a:lnTo>
                      <a:pt x="104" y="607"/>
                    </a:lnTo>
                    <a:lnTo>
                      <a:pt x="78" y="588"/>
                    </a:lnTo>
                    <a:lnTo>
                      <a:pt x="78" y="557"/>
                    </a:lnTo>
                    <a:lnTo>
                      <a:pt x="85" y="538"/>
                    </a:lnTo>
                    <a:lnTo>
                      <a:pt x="117" y="512"/>
                    </a:lnTo>
                    <a:lnTo>
                      <a:pt x="150" y="493"/>
                    </a:lnTo>
                    <a:lnTo>
                      <a:pt x="111" y="493"/>
                    </a:lnTo>
                    <a:lnTo>
                      <a:pt x="91" y="493"/>
                    </a:lnTo>
                    <a:lnTo>
                      <a:pt x="78" y="493"/>
                    </a:lnTo>
                    <a:lnTo>
                      <a:pt x="46" y="462"/>
                    </a:lnTo>
                    <a:lnTo>
                      <a:pt x="26" y="417"/>
                    </a:lnTo>
                    <a:lnTo>
                      <a:pt x="26" y="373"/>
                    </a:lnTo>
                    <a:lnTo>
                      <a:pt x="39" y="335"/>
                    </a:lnTo>
                    <a:lnTo>
                      <a:pt x="52" y="316"/>
                    </a:lnTo>
                    <a:lnTo>
                      <a:pt x="78" y="291"/>
                    </a:lnTo>
                    <a:lnTo>
                      <a:pt x="98" y="285"/>
                    </a:lnTo>
                    <a:lnTo>
                      <a:pt x="124" y="272"/>
                    </a:lnTo>
                    <a:lnTo>
                      <a:pt x="104" y="266"/>
                    </a:lnTo>
                    <a:lnTo>
                      <a:pt x="85" y="259"/>
                    </a:lnTo>
                    <a:lnTo>
                      <a:pt x="78" y="247"/>
                    </a:lnTo>
                    <a:lnTo>
                      <a:pt x="72" y="215"/>
                    </a:lnTo>
                    <a:lnTo>
                      <a:pt x="78" y="190"/>
                    </a:lnTo>
                    <a:lnTo>
                      <a:pt x="91" y="183"/>
                    </a:lnTo>
                    <a:lnTo>
                      <a:pt x="104" y="183"/>
                    </a:lnTo>
                    <a:lnTo>
                      <a:pt x="137" y="190"/>
                    </a:lnTo>
                    <a:lnTo>
                      <a:pt x="111" y="133"/>
                    </a:lnTo>
                    <a:lnTo>
                      <a:pt x="130" y="70"/>
                    </a:lnTo>
                    <a:lnTo>
                      <a:pt x="156" y="51"/>
                    </a:lnTo>
                    <a:lnTo>
                      <a:pt x="189" y="38"/>
                    </a:lnTo>
                    <a:lnTo>
                      <a:pt x="228" y="32"/>
                    </a:lnTo>
                    <a:lnTo>
                      <a:pt x="261" y="38"/>
                    </a:lnTo>
                    <a:lnTo>
                      <a:pt x="287" y="57"/>
                    </a:lnTo>
                    <a:lnTo>
                      <a:pt x="313" y="82"/>
                    </a:lnTo>
                    <a:lnTo>
                      <a:pt x="319" y="114"/>
                    </a:lnTo>
                    <a:lnTo>
                      <a:pt x="332" y="139"/>
                    </a:lnTo>
                    <a:lnTo>
                      <a:pt x="345" y="108"/>
                    </a:lnTo>
                    <a:lnTo>
                      <a:pt x="365" y="82"/>
                    </a:lnTo>
                    <a:lnTo>
                      <a:pt x="384" y="76"/>
                    </a:lnTo>
                    <a:lnTo>
                      <a:pt x="391" y="82"/>
                    </a:lnTo>
                    <a:lnTo>
                      <a:pt x="397" y="108"/>
                    </a:lnTo>
                    <a:lnTo>
                      <a:pt x="417" y="51"/>
                    </a:lnTo>
                    <a:lnTo>
                      <a:pt x="469" y="32"/>
                    </a:lnTo>
                    <a:lnTo>
                      <a:pt x="482" y="38"/>
                    </a:lnTo>
                    <a:lnTo>
                      <a:pt x="495" y="51"/>
                    </a:lnTo>
                    <a:lnTo>
                      <a:pt x="515" y="82"/>
                    </a:lnTo>
                    <a:lnTo>
                      <a:pt x="521" y="114"/>
                    </a:lnTo>
                    <a:lnTo>
                      <a:pt x="541" y="38"/>
                    </a:lnTo>
                    <a:lnTo>
                      <a:pt x="521" y="19"/>
                    </a:lnTo>
                    <a:lnTo>
                      <a:pt x="495" y="13"/>
                    </a:lnTo>
                    <a:lnTo>
                      <a:pt x="469" y="6"/>
                    </a:lnTo>
                    <a:lnTo>
                      <a:pt x="443" y="6"/>
                    </a:lnTo>
                    <a:lnTo>
                      <a:pt x="423" y="25"/>
                    </a:lnTo>
                    <a:lnTo>
                      <a:pt x="397" y="44"/>
                    </a:lnTo>
                    <a:lnTo>
                      <a:pt x="384" y="44"/>
                    </a:lnTo>
                    <a:lnTo>
                      <a:pt x="365" y="51"/>
                    </a:lnTo>
                    <a:lnTo>
                      <a:pt x="339" y="70"/>
                    </a:lnTo>
                    <a:lnTo>
                      <a:pt x="332" y="95"/>
                    </a:lnTo>
                    <a:lnTo>
                      <a:pt x="319" y="63"/>
                    </a:lnTo>
                    <a:lnTo>
                      <a:pt x="313" y="57"/>
                    </a:lnTo>
                    <a:lnTo>
                      <a:pt x="313" y="51"/>
                    </a:lnTo>
                    <a:lnTo>
                      <a:pt x="293" y="19"/>
                    </a:lnTo>
                    <a:lnTo>
                      <a:pt x="261" y="6"/>
                    </a:lnTo>
                    <a:lnTo>
                      <a:pt x="228" y="0"/>
                    </a:lnTo>
                    <a:lnTo>
                      <a:pt x="189" y="6"/>
                    </a:lnTo>
                    <a:lnTo>
                      <a:pt x="156" y="13"/>
                    </a:lnTo>
                    <a:lnTo>
                      <a:pt x="130" y="38"/>
                    </a:lnTo>
                    <a:lnTo>
                      <a:pt x="111" y="57"/>
                    </a:lnTo>
                    <a:lnTo>
                      <a:pt x="98" y="89"/>
                    </a:lnTo>
                    <a:lnTo>
                      <a:pt x="91" y="101"/>
                    </a:lnTo>
                    <a:lnTo>
                      <a:pt x="78" y="114"/>
                    </a:lnTo>
                    <a:lnTo>
                      <a:pt x="78" y="127"/>
                    </a:lnTo>
                    <a:lnTo>
                      <a:pt x="78" y="139"/>
                    </a:lnTo>
                    <a:lnTo>
                      <a:pt x="65" y="145"/>
                    </a:lnTo>
                    <a:lnTo>
                      <a:pt x="65" y="158"/>
                    </a:lnTo>
                    <a:lnTo>
                      <a:pt x="59" y="164"/>
                    </a:lnTo>
                    <a:lnTo>
                      <a:pt x="59" y="171"/>
                    </a:lnTo>
                    <a:lnTo>
                      <a:pt x="52" y="202"/>
                    </a:lnTo>
                    <a:lnTo>
                      <a:pt x="46" y="240"/>
                    </a:lnTo>
                    <a:lnTo>
                      <a:pt x="52" y="259"/>
                    </a:lnTo>
                    <a:lnTo>
                      <a:pt x="65" y="272"/>
                    </a:lnTo>
                    <a:lnTo>
                      <a:pt x="52" y="278"/>
                    </a:lnTo>
                    <a:lnTo>
                      <a:pt x="20" y="316"/>
                    </a:lnTo>
                    <a:lnTo>
                      <a:pt x="0" y="367"/>
                    </a:lnTo>
                    <a:lnTo>
                      <a:pt x="0" y="424"/>
                    </a:lnTo>
                    <a:lnTo>
                      <a:pt x="26" y="474"/>
                    </a:lnTo>
                    <a:lnTo>
                      <a:pt x="46" y="500"/>
                    </a:lnTo>
                    <a:lnTo>
                      <a:pt x="78" y="519"/>
                    </a:lnTo>
                    <a:lnTo>
                      <a:pt x="65" y="544"/>
                    </a:lnTo>
                    <a:lnTo>
                      <a:pt x="52" y="563"/>
                    </a:lnTo>
                    <a:lnTo>
                      <a:pt x="52" y="582"/>
                    </a:lnTo>
                    <a:lnTo>
                      <a:pt x="59" y="601"/>
                    </a:lnTo>
                    <a:lnTo>
                      <a:pt x="72" y="620"/>
                    </a:lnTo>
                    <a:lnTo>
                      <a:pt x="91" y="626"/>
                    </a:lnTo>
                    <a:lnTo>
                      <a:pt x="111" y="632"/>
                    </a:lnTo>
                    <a:lnTo>
                      <a:pt x="104" y="645"/>
                    </a:lnTo>
                    <a:lnTo>
                      <a:pt x="78" y="689"/>
                    </a:lnTo>
                    <a:lnTo>
                      <a:pt x="78" y="734"/>
                    </a:lnTo>
                    <a:lnTo>
                      <a:pt x="91" y="778"/>
                    </a:lnTo>
                    <a:lnTo>
                      <a:pt x="130" y="822"/>
                    </a:lnTo>
                    <a:lnTo>
                      <a:pt x="156" y="835"/>
                    </a:lnTo>
                    <a:lnTo>
                      <a:pt x="196" y="841"/>
                    </a:lnTo>
                    <a:lnTo>
                      <a:pt x="261" y="829"/>
                    </a:lnTo>
                    <a:lnTo>
                      <a:pt x="267" y="847"/>
                    </a:lnTo>
                    <a:lnTo>
                      <a:pt x="306" y="879"/>
                    </a:lnTo>
                    <a:lnTo>
                      <a:pt x="352" y="898"/>
                    </a:lnTo>
                    <a:lnTo>
                      <a:pt x="391" y="904"/>
                    </a:lnTo>
                    <a:lnTo>
                      <a:pt x="443" y="898"/>
                    </a:lnTo>
                    <a:lnTo>
                      <a:pt x="495" y="892"/>
                    </a:lnTo>
                    <a:lnTo>
                      <a:pt x="541" y="873"/>
                    </a:lnTo>
                    <a:lnTo>
                      <a:pt x="580" y="835"/>
                    </a:lnTo>
                    <a:lnTo>
                      <a:pt x="606" y="791"/>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81" name="Freeform 8"/>
              <p:cNvSpPr>
                <a:spLocks/>
              </p:cNvSpPr>
              <p:nvPr/>
            </p:nvSpPr>
            <p:spPr bwMode="auto">
              <a:xfrm>
                <a:off x="3539" y="2042"/>
                <a:ext cx="561" cy="899"/>
              </a:xfrm>
              <a:custGeom>
                <a:avLst/>
                <a:gdLst>
                  <a:gd name="T0" fmla="*/ 84 w 561"/>
                  <a:gd name="T1" fmla="*/ 879 h 899"/>
                  <a:gd name="T2" fmla="*/ 156 w 561"/>
                  <a:gd name="T3" fmla="*/ 879 h 899"/>
                  <a:gd name="T4" fmla="*/ 214 w 561"/>
                  <a:gd name="T5" fmla="*/ 885 h 899"/>
                  <a:gd name="T6" fmla="*/ 319 w 561"/>
                  <a:gd name="T7" fmla="*/ 879 h 899"/>
                  <a:gd name="T8" fmla="*/ 436 w 561"/>
                  <a:gd name="T9" fmla="*/ 898 h 899"/>
                  <a:gd name="T10" fmla="*/ 533 w 561"/>
                  <a:gd name="T11" fmla="*/ 841 h 899"/>
                  <a:gd name="T12" fmla="*/ 540 w 561"/>
                  <a:gd name="T13" fmla="*/ 777 h 899"/>
                  <a:gd name="T14" fmla="*/ 520 w 561"/>
                  <a:gd name="T15" fmla="*/ 714 h 899"/>
                  <a:gd name="T16" fmla="*/ 501 w 561"/>
                  <a:gd name="T17" fmla="*/ 657 h 899"/>
                  <a:gd name="T18" fmla="*/ 553 w 561"/>
                  <a:gd name="T19" fmla="*/ 588 h 899"/>
                  <a:gd name="T20" fmla="*/ 553 w 561"/>
                  <a:gd name="T21" fmla="*/ 480 h 899"/>
                  <a:gd name="T22" fmla="*/ 507 w 561"/>
                  <a:gd name="T23" fmla="*/ 379 h 899"/>
                  <a:gd name="T24" fmla="*/ 520 w 561"/>
                  <a:gd name="T25" fmla="*/ 309 h 899"/>
                  <a:gd name="T26" fmla="*/ 540 w 561"/>
                  <a:gd name="T27" fmla="*/ 240 h 899"/>
                  <a:gd name="T28" fmla="*/ 527 w 561"/>
                  <a:gd name="T29" fmla="*/ 120 h 899"/>
                  <a:gd name="T30" fmla="*/ 468 w 561"/>
                  <a:gd name="T31" fmla="*/ 82 h 899"/>
                  <a:gd name="T32" fmla="*/ 377 w 561"/>
                  <a:gd name="T33" fmla="*/ 50 h 899"/>
                  <a:gd name="T34" fmla="*/ 319 w 561"/>
                  <a:gd name="T35" fmla="*/ 63 h 899"/>
                  <a:gd name="T36" fmla="*/ 234 w 561"/>
                  <a:gd name="T37" fmla="*/ 6 h 899"/>
                  <a:gd name="T38" fmla="*/ 52 w 561"/>
                  <a:gd name="T39" fmla="*/ 25 h 899"/>
                  <a:gd name="T40" fmla="*/ 45 w 561"/>
                  <a:gd name="T41" fmla="*/ 56 h 899"/>
                  <a:gd name="T42" fmla="*/ 247 w 561"/>
                  <a:gd name="T43" fmla="*/ 63 h 899"/>
                  <a:gd name="T44" fmla="*/ 299 w 561"/>
                  <a:gd name="T45" fmla="*/ 120 h 899"/>
                  <a:gd name="T46" fmla="*/ 351 w 561"/>
                  <a:gd name="T47" fmla="*/ 94 h 899"/>
                  <a:gd name="T48" fmla="*/ 358 w 561"/>
                  <a:gd name="T49" fmla="*/ 158 h 899"/>
                  <a:gd name="T50" fmla="*/ 436 w 561"/>
                  <a:gd name="T51" fmla="*/ 107 h 899"/>
                  <a:gd name="T52" fmla="*/ 507 w 561"/>
                  <a:gd name="T53" fmla="*/ 170 h 899"/>
                  <a:gd name="T54" fmla="*/ 501 w 561"/>
                  <a:gd name="T55" fmla="*/ 259 h 899"/>
                  <a:gd name="T56" fmla="*/ 429 w 561"/>
                  <a:gd name="T57" fmla="*/ 284 h 899"/>
                  <a:gd name="T58" fmla="*/ 494 w 561"/>
                  <a:gd name="T59" fmla="*/ 335 h 899"/>
                  <a:gd name="T60" fmla="*/ 429 w 561"/>
                  <a:gd name="T61" fmla="*/ 385 h 899"/>
                  <a:gd name="T62" fmla="*/ 527 w 561"/>
                  <a:gd name="T63" fmla="*/ 493 h 899"/>
                  <a:gd name="T64" fmla="*/ 475 w 561"/>
                  <a:gd name="T65" fmla="*/ 638 h 899"/>
                  <a:gd name="T66" fmla="*/ 475 w 561"/>
                  <a:gd name="T67" fmla="*/ 664 h 899"/>
                  <a:gd name="T68" fmla="*/ 501 w 561"/>
                  <a:gd name="T69" fmla="*/ 714 h 899"/>
                  <a:gd name="T70" fmla="*/ 462 w 561"/>
                  <a:gd name="T71" fmla="*/ 727 h 899"/>
                  <a:gd name="T72" fmla="*/ 501 w 561"/>
                  <a:gd name="T73" fmla="*/ 847 h 899"/>
                  <a:gd name="T74" fmla="*/ 429 w 561"/>
                  <a:gd name="T75" fmla="*/ 872 h 899"/>
                  <a:gd name="T76" fmla="*/ 390 w 561"/>
                  <a:gd name="T77" fmla="*/ 803 h 899"/>
                  <a:gd name="T78" fmla="*/ 293 w 561"/>
                  <a:gd name="T79" fmla="*/ 866 h 899"/>
                  <a:gd name="T80" fmla="*/ 169 w 561"/>
                  <a:gd name="T81" fmla="*/ 790 h 899"/>
                  <a:gd name="T82" fmla="*/ 136 w 561"/>
                  <a:gd name="T83" fmla="*/ 853 h 899"/>
                  <a:gd name="T84" fmla="*/ 91 w 561"/>
                  <a:gd name="T85" fmla="*/ 834 h 89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561"/>
                  <a:gd name="T130" fmla="*/ 0 h 899"/>
                  <a:gd name="T131" fmla="*/ 561 w 561"/>
                  <a:gd name="T132" fmla="*/ 899 h 89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561" h="899">
                    <a:moveTo>
                      <a:pt x="91" y="834"/>
                    </a:moveTo>
                    <a:lnTo>
                      <a:pt x="78" y="866"/>
                    </a:lnTo>
                    <a:lnTo>
                      <a:pt x="84" y="879"/>
                    </a:lnTo>
                    <a:lnTo>
                      <a:pt x="110" y="891"/>
                    </a:lnTo>
                    <a:lnTo>
                      <a:pt x="136" y="885"/>
                    </a:lnTo>
                    <a:lnTo>
                      <a:pt x="156" y="879"/>
                    </a:lnTo>
                    <a:lnTo>
                      <a:pt x="182" y="847"/>
                    </a:lnTo>
                    <a:lnTo>
                      <a:pt x="195" y="866"/>
                    </a:lnTo>
                    <a:lnTo>
                      <a:pt x="214" y="885"/>
                    </a:lnTo>
                    <a:lnTo>
                      <a:pt x="260" y="891"/>
                    </a:lnTo>
                    <a:lnTo>
                      <a:pt x="293" y="891"/>
                    </a:lnTo>
                    <a:lnTo>
                      <a:pt x="319" y="879"/>
                    </a:lnTo>
                    <a:lnTo>
                      <a:pt x="371" y="841"/>
                    </a:lnTo>
                    <a:lnTo>
                      <a:pt x="410" y="891"/>
                    </a:lnTo>
                    <a:lnTo>
                      <a:pt x="436" y="898"/>
                    </a:lnTo>
                    <a:lnTo>
                      <a:pt x="468" y="898"/>
                    </a:lnTo>
                    <a:lnTo>
                      <a:pt x="507" y="879"/>
                    </a:lnTo>
                    <a:lnTo>
                      <a:pt x="533" y="841"/>
                    </a:lnTo>
                    <a:lnTo>
                      <a:pt x="540" y="822"/>
                    </a:lnTo>
                    <a:lnTo>
                      <a:pt x="540" y="796"/>
                    </a:lnTo>
                    <a:lnTo>
                      <a:pt x="540" y="777"/>
                    </a:lnTo>
                    <a:lnTo>
                      <a:pt x="527" y="758"/>
                    </a:lnTo>
                    <a:lnTo>
                      <a:pt x="514" y="733"/>
                    </a:lnTo>
                    <a:lnTo>
                      <a:pt x="520" y="714"/>
                    </a:lnTo>
                    <a:lnTo>
                      <a:pt x="527" y="702"/>
                    </a:lnTo>
                    <a:lnTo>
                      <a:pt x="514" y="676"/>
                    </a:lnTo>
                    <a:lnTo>
                      <a:pt x="501" y="657"/>
                    </a:lnTo>
                    <a:lnTo>
                      <a:pt x="507" y="651"/>
                    </a:lnTo>
                    <a:lnTo>
                      <a:pt x="533" y="619"/>
                    </a:lnTo>
                    <a:lnTo>
                      <a:pt x="553" y="588"/>
                    </a:lnTo>
                    <a:lnTo>
                      <a:pt x="553" y="556"/>
                    </a:lnTo>
                    <a:lnTo>
                      <a:pt x="560" y="512"/>
                    </a:lnTo>
                    <a:lnTo>
                      <a:pt x="553" y="480"/>
                    </a:lnTo>
                    <a:lnTo>
                      <a:pt x="547" y="442"/>
                    </a:lnTo>
                    <a:lnTo>
                      <a:pt x="527" y="411"/>
                    </a:lnTo>
                    <a:lnTo>
                      <a:pt x="507" y="379"/>
                    </a:lnTo>
                    <a:lnTo>
                      <a:pt x="520" y="360"/>
                    </a:lnTo>
                    <a:lnTo>
                      <a:pt x="520" y="335"/>
                    </a:lnTo>
                    <a:lnTo>
                      <a:pt x="520" y="309"/>
                    </a:lnTo>
                    <a:lnTo>
                      <a:pt x="501" y="284"/>
                    </a:lnTo>
                    <a:lnTo>
                      <a:pt x="527" y="259"/>
                    </a:lnTo>
                    <a:lnTo>
                      <a:pt x="540" y="240"/>
                    </a:lnTo>
                    <a:lnTo>
                      <a:pt x="547" y="189"/>
                    </a:lnTo>
                    <a:lnTo>
                      <a:pt x="540" y="145"/>
                    </a:lnTo>
                    <a:lnTo>
                      <a:pt x="527" y="120"/>
                    </a:lnTo>
                    <a:lnTo>
                      <a:pt x="507" y="107"/>
                    </a:lnTo>
                    <a:lnTo>
                      <a:pt x="488" y="88"/>
                    </a:lnTo>
                    <a:lnTo>
                      <a:pt x="468" y="82"/>
                    </a:lnTo>
                    <a:lnTo>
                      <a:pt x="397" y="75"/>
                    </a:lnTo>
                    <a:lnTo>
                      <a:pt x="390" y="56"/>
                    </a:lnTo>
                    <a:lnTo>
                      <a:pt x="377" y="50"/>
                    </a:lnTo>
                    <a:lnTo>
                      <a:pt x="351" y="44"/>
                    </a:lnTo>
                    <a:lnTo>
                      <a:pt x="332" y="50"/>
                    </a:lnTo>
                    <a:lnTo>
                      <a:pt x="319" y="63"/>
                    </a:lnTo>
                    <a:lnTo>
                      <a:pt x="293" y="82"/>
                    </a:lnTo>
                    <a:lnTo>
                      <a:pt x="266" y="38"/>
                    </a:lnTo>
                    <a:lnTo>
                      <a:pt x="234" y="6"/>
                    </a:lnTo>
                    <a:lnTo>
                      <a:pt x="169" y="0"/>
                    </a:lnTo>
                    <a:lnTo>
                      <a:pt x="110" y="0"/>
                    </a:lnTo>
                    <a:lnTo>
                      <a:pt x="52" y="25"/>
                    </a:lnTo>
                    <a:lnTo>
                      <a:pt x="0" y="63"/>
                    </a:lnTo>
                    <a:lnTo>
                      <a:pt x="26" y="82"/>
                    </a:lnTo>
                    <a:lnTo>
                      <a:pt x="45" y="56"/>
                    </a:lnTo>
                    <a:lnTo>
                      <a:pt x="123" y="31"/>
                    </a:lnTo>
                    <a:lnTo>
                      <a:pt x="208" y="44"/>
                    </a:lnTo>
                    <a:lnTo>
                      <a:pt x="247" y="63"/>
                    </a:lnTo>
                    <a:lnTo>
                      <a:pt x="266" y="107"/>
                    </a:lnTo>
                    <a:lnTo>
                      <a:pt x="286" y="151"/>
                    </a:lnTo>
                    <a:lnTo>
                      <a:pt x="299" y="120"/>
                    </a:lnTo>
                    <a:lnTo>
                      <a:pt x="319" y="94"/>
                    </a:lnTo>
                    <a:lnTo>
                      <a:pt x="332" y="82"/>
                    </a:lnTo>
                    <a:lnTo>
                      <a:pt x="351" y="94"/>
                    </a:lnTo>
                    <a:lnTo>
                      <a:pt x="358" y="107"/>
                    </a:lnTo>
                    <a:lnTo>
                      <a:pt x="364" y="132"/>
                    </a:lnTo>
                    <a:lnTo>
                      <a:pt x="358" y="158"/>
                    </a:lnTo>
                    <a:lnTo>
                      <a:pt x="377" y="132"/>
                    </a:lnTo>
                    <a:lnTo>
                      <a:pt x="403" y="107"/>
                    </a:lnTo>
                    <a:lnTo>
                      <a:pt x="436" y="107"/>
                    </a:lnTo>
                    <a:lnTo>
                      <a:pt x="468" y="113"/>
                    </a:lnTo>
                    <a:lnTo>
                      <a:pt x="494" y="139"/>
                    </a:lnTo>
                    <a:lnTo>
                      <a:pt x="507" y="170"/>
                    </a:lnTo>
                    <a:lnTo>
                      <a:pt x="514" y="202"/>
                    </a:lnTo>
                    <a:lnTo>
                      <a:pt x="507" y="234"/>
                    </a:lnTo>
                    <a:lnTo>
                      <a:pt x="501" y="259"/>
                    </a:lnTo>
                    <a:lnTo>
                      <a:pt x="462" y="265"/>
                    </a:lnTo>
                    <a:lnTo>
                      <a:pt x="423" y="265"/>
                    </a:lnTo>
                    <a:lnTo>
                      <a:pt x="429" y="284"/>
                    </a:lnTo>
                    <a:lnTo>
                      <a:pt x="468" y="290"/>
                    </a:lnTo>
                    <a:lnTo>
                      <a:pt x="488" y="309"/>
                    </a:lnTo>
                    <a:lnTo>
                      <a:pt x="494" y="335"/>
                    </a:lnTo>
                    <a:lnTo>
                      <a:pt x="494" y="354"/>
                    </a:lnTo>
                    <a:lnTo>
                      <a:pt x="462" y="373"/>
                    </a:lnTo>
                    <a:lnTo>
                      <a:pt x="429" y="385"/>
                    </a:lnTo>
                    <a:lnTo>
                      <a:pt x="468" y="398"/>
                    </a:lnTo>
                    <a:lnTo>
                      <a:pt x="507" y="436"/>
                    </a:lnTo>
                    <a:lnTo>
                      <a:pt x="527" y="493"/>
                    </a:lnTo>
                    <a:lnTo>
                      <a:pt x="520" y="556"/>
                    </a:lnTo>
                    <a:lnTo>
                      <a:pt x="501" y="613"/>
                    </a:lnTo>
                    <a:lnTo>
                      <a:pt x="475" y="638"/>
                    </a:lnTo>
                    <a:lnTo>
                      <a:pt x="436" y="651"/>
                    </a:lnTo>
                    <a:lnTo>
                      <a:pt x="455" y="664"/>
                    </a:lnTo>
                    <a:lnTo>
                      <a:pt x="475" y="664"/>
                    </a:lnTo>
                    <a:lnTo>
                      <a:pt x="501" y="689"/>
                    </a:lnTo>
                    <a:lnTo>
                      <a:pt x="501" y="695"/>
                    </a:lnTo>
                    <a:lnTo>
                      <a:pt x="501" y="714"/>
                    </a:lnTo>
                    <a:lnTo>
                      <a:pt x="494" y="721"/>
                    </a:lnTo>
                    <a:lnTo>
                      <a:pt x="475" y="727"/>
                    </a:lnTo>
                    <a:lnTo>
                      <a:pt x="462" y="727"/>
                    </a:lnTo>
                    <a:lnTo>
                      <a:pt x="501" y="765"/>
                    </a:lnTo>
                    <a:lnTo>
                      <a:pt x="507" y="828"/>
                    </a:lnTo>
                    <a:lnTo>
                      <a:pt x="501" y="847"/>
                    </a:lnTo>
                    <a:lnTo>
                      <a:pt x="475" y="866"/>
                    </a:lnTo>
                    <a:lnTo>
                      <a:pt x="455" y="872"/>
                    </a:lnTo>
                    <a:lnTo>
                      <a:pt x="429" y="872"/>
                    </a:lnTo>
                    <a:lnTo>
                      <a:pt x="410" y="866"/>
                    </a:lnTo>
                    <a:lnTo>
                      <a:pt x="397" y="841"/>
                    </a:lnTo>
                    <a:lnTo>
                      <a:pt x="390" y="803"/>
                    </a:lnTo>
                    <a:lnTo>
                      <a:pt x="364" y="828"/>
                    </a:lnTo>
                    <a:lnTo>
                      <a:pt x="332" y="853"/>
                    </a:lnTo>
                    <a:lnTo>
                      <a:pt x="293" y="866"/>
                    </a:lnTo>
                    <a:lnTo>
                      <a:pt x="260" y="866"/>
                    </a:lnTo>
                    <a:lnTo>
                      <a:pt x="208" y="841"/>
                    </a:lnTo>
                    <a:lnTo>
                      <a:pt x="169" y="790"/>
                    </a:lnTo>
                    <a:lnTo>
                      <a:pt x="162" y="834"/>
                    </a:lnTo>
                    <a:lnTo>
                      <a:pt x="149" y="841"/>
                    </a:lnTo>
                    <a:lnTo>
                      <a:pt x="136" y="853"/>
                    </a:lnTo>
                    <a:lnTo>
                      <a:pt x="117" y="853"/>
                    </a:lnTo>
                    <a:lnTo>
                      <a:pt x="104" y="853"/>
                    </a:lnTo>
                    <a:lnTo>
                      <a:pt x="91" y="834"/>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grpSp>
        <p:grpSp>
          <p:nvGrpSpPr>
            <p:cNvPr id="4" name="Group 9"/>
            <p:cNvGrpSpPr>
              <a:grpSpLocks/>
            </p:cNvGrpSpPr>
            <p:nvPr/>
          </p:nvGrpSpPr>
          <p:grpSpPr bwMode="auto">
            <a:xfrm>
              <a:off x="2648" y="2899"/>
              <a:ext cx="621" cy="854"/>
              <a:chOff x="2648" y="2899"/>
              <a:chExt cx="621" cy="854"/>
            </a:xfrm>
          </p:grpSpPr>
          <p:sp>
            <p:nvSpPr>
              <p:cNvPr id="52232" name="Freeform 10"/>
              <p:cNvSpPr>
                <a:spLocks/>
              </p:cNvSpPr>
              <p:nvPr/>
            </p:nvSpPr>
            <p:spPr bwMode="auto">
              <a:xfrm>
                <a:off x="2964" y="3010"/>
                <a:ext cx="305" cy="587"/>
              </a:xfrm>
              <a:custGeom>
                <a:avLst/>
                <a:gdLst>
                  <a:gd name="T0" fmla="*/ 19 w 305"/>
                  <a:gd name="T1" fmla="*/ 521 h 587"/>
                  <a:gd name="T2" fmla="*/ 32 w 305"/>
                  <a:gd name="T3" fmla="*/ 429 h 587"/>
                  <a:gd name="T4" fmla="*/ 70 w 305"/>
                  <a:gd name="T5" fmla="*/ 325 h 587"/>
                  <a:gd name="T6" fmla="*/ 133 w 305"/>
                  <a:gd name="T7" fmla="*/ 247 h 587"/>
                  <a:gd name="T8" fmla="*/ 177 w 305"/>
                  <a:gd name="T9" fmla="*/ 110 h 587"/>
                  <a:gd name="T10" fmla="*/ 222 w 305"/>
                  <a:gd name="T11" fmla="*/ 45 h 587"/>
                  <a:gd name="T12" fmla="*/ 247 w 305"/>
                  <a:gd name="T13" fmla="*/ 0 h 587"/>
                  <a:gd name="T14" fmla="*/ 291 w 305"/>
                  <a:gd name="T15" fmla="*/ 45 h 587"/>
                  <a:gd name="T16" fmla="*/ 260 w 305"/>
                  <a:gd name="T17" fmla="*/ 110 h 587"/>
                  <a:gd name="T18" fmla="*/ 222 w 305"/>
                  <a:gd name="T19" fmla="*/ 195 h 587"/>
                  <a:gd name="T20" fmla="*/ 247 w 305"/>
                  <a:gd name="T21" fmla="*/ 299 h 587"/>
                  <a:gd name="T22" fmla="*/ 285 w 305"/>
                  <a:gd name="T23" fmla="*/ 325 h 587"/>
                  <a:gd name="T24" fmla="*/ 304 w 305"/>
                  <a:gd name="T25" fmla="*/ 371 h 587"/>
                  <a:gd name="T26" fmla="*/ 272 w 305"/>
                  <a:gd name="T27" fmla="*/ 442 h 587"/>
                  <a:gd name="T28" fmla="*/ 215 w 305"/>
                  <a:gd name="T29" fmla="*/ 488 h 587"/>
                  <a:gd name="T30" fmla="*/ 146 w 305"/>
                  <a:gd name="T31" fmla="*/ 560 h 587"/>
                  <a:gd name="T32" fmla="*/ 76 w 305"/>
                  <a:gd name="T33" fmla="*/ 586 h 587"/>
                  <a:gd name="T34" fmla="*/ 133 w 305"/>
                  <a:gd name="T35" fmla="*/ 540 h 587"/>
                  <a:gd name="T36" fmla="*/ 139 w 305"/>
                  <a:gd name="T37" fmla="*/ 403 h 587"/>
                  <a:gd name="T38" fmla="*/ 165 w 305"/>
                  <a:gd name="T39" fmla="*/ 403 h 587"/>
                  <a:gd name="T40" fmla="*/ 171 w 305"/>
                  <a:gd name="T41" fmla="*/ 429 h 587"/>
                  <a:gd name="T42" fmla="*/ 152 w 305"/>
                  <a:gd name="T43" fmla="*/ 455 h 587"/>
                  <a:gd name="T44" fmla="*/ 152 w 305"/>
                  <a:gd name="T45" fmla="*/ 429 h 587"/>
                  <a:gd name="T46" fmla="*/ 146 w 305"/>
                  <a:gd name="T47" fmla="*/ 475 h 587"/>
                  <a:gd name="T48" fmla="*/ 184 w 305"/>
                  <a:gd name="T49" fmla="*/ 508 h 587"/>
                  <a:gd name="T50" fmla="*/ 215 w 305"/>
                  <a:gd name="T51" fmla="*/ 455 h 587"/>
                  <a:gd name="T52" fmla="*/ 247 w 305"/>
                  <a:gd name="T53" fmla="*/ 429 h 587"/>
                  <a:gd name="T54" fmla="*/ 297 w 305"/>
                  <a:gd name="T55" fmla="*/ 384 h 587"/>
                  <a:gd name="T56" fmla="*/ 291 w 305"/>
                  <a:gd name="T57" fmla="*/ 351 h 587"/>
                  <a:gd name="T58" fmla="*/ 272 w 305"/>
                  <a:gd name="T59" fmla="*/ 332 h 587"/>
                  <a:gd name="T60" fmla="*/ 158 w 305"/>
                  <a:gd name="T61" fmla="*/ 299 h 587"/>
                  <a:gd name="T62" fmla="*/ 127 w 305"/>
                  <a:gd name="T63" fmla="*/ 280 h 587"/>
                  <a:gd name="T64" fmla="*/ 165 w 305"/>
                  <a:gd name="T65" fmla="*/ 299 h 587"/>
                  <a:gd name="T66" fmla="*/ 196 w 305"/>
                  <a:gd name="T67" fmla="*/ 195 h 587"/>
                  <a:gd name="T68" fmla="*/ 253 w 305"/>
                  <a:gd name="T69" fmla="*/ 91 h 587"/>
                  <a:gd name="T70" fmla="*/ 272 w 305"/>
                  <a:gd name="T71" fmla="*/ 13 h 587"/>
                  <a:gd name="T72" fmla="*/ 247 w 305"/>
                  <a:gd name="T73" fmla="*/ 19 h 587"/>
                  <a:gd name="T74" fmla="*/ 260 w 305"/>
                  <a:gd name="T75" fmla="*/ 45 h 587"/>
                  <a:gd name="T76" fmla="*/ 247 w 305"/>
                  <a:gd name="T77" fmla="*/ 26 h 587"/>
                  <a:gd name="T78" fmla="*/ 247 w 305"/>
                  <a:gd name="T79" fmla="*/ 39 h 587"/>
                  <a:gd name="T80" fmla="*/ 222 w 305"/>
                  <a:gd name="T81" fmla="*/ 71 h 587"/>
                  <a:gd name="T82" fmla="*/ 209 w 305"/>
                  <a:gd name="T83" fmla="*/ 97 h 587"/>
                  <a:gd name="T84" fmla="*/ 152 w 305"/>
                  <a:gd name="T85" fmla="*/ 221 h 587"/>
                  <a:gd name="T86" fmla="*/ 95 w 305"/>
                  <a:gd name="T87" fmla="*/ 293 h 587"/>
                  <a:gd name="T88" fmla="*/ 44 w 305"/>
                  <a:gd name="T89" fmla="*/ 495 h 587"/>
                  <a:gd name="T90" fmla="*/ 0 w 305"/>
                  <a:gd name="T91" fmla="*/ 553 h 58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05"/>
                  <a:gd name="T139" fmla="*/ 0 h 587"/>
                  <a:gd name="T140" fmla="*/ 305 w 305"/>
                  <a:gd name="T141" fmla="*/ 587 h 58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05" h="587">
                    <a:moveTo>
                      <a:pt x="0" y="553"/>
                    </a:moveTo>
                    <a:lnTo>
                      <a:pt x="13" y="534"/>
                    </a:lnTo>
                    <a:lnTo>
                      <a:pt x="19" y="521"/>
                    </a:lnTo>
                    <a:lnTo>
                      <a:pt x="19" y="508"/>
                    </a:lnTo>
                    <a:lnTo>
                      <a:pt x="26" y="495"/>
                    </a:lnTo>
                    <a:lnTo>
                      <a:pt x="32" y="429"/>
                    </a:lnTo>
                    <a:lnTo>
                      <a:pt x="44" y="403"/>
                    </a:lnTo>
                    <a:lnTo>
                      <a:pt x="51" y="377"/>
                    </a:lnTo>
                    <a:lnTo>
                      <a:pt x="70" y="325"/>
                    </a:lnTo>
                    <a:lnTo>
                      <a:pt x="95" y="273"/>
                    </a:lnTo>
                    <a:lnTo>
                      <a:pt x="114" y="273"/>
                    </a:lnTo>
                    <a:lnTo>
                      <a:pt x="133" y="247"/>
                    </a:lnTo>
                    <a:lnTo>
                      <a:pt x="146" y="195"/>
                    </a:lnTo>
                    <a:lnTo>
                      <a:pt x="158" y="143"/>
                    </a:lnTo>
                    <a:lnTo>
                      <a:pt x="177" y="110"/>
                    </a:lnTo>
                    <a:lnTo>
                      <a:pt x="209" y="78"/>
                    </a:lnTo>
                    <a:lnTo>
                      <a:pt x="222" y="65"/>
                    </a:lnTo>
                    <a:lnTo>
                      <a:pt x="222" y="45"/>
                    </a:lnTo>
                    <a:lnTo>
                      <a:pt x="228" y="32"/>
                    </a:lnTo>
                    <a:lnTo>
                      <a:pt x="228" y="13"/>
                    </a:lnTo>
                    <a:lnTo>
                      <a:pt x="247" y="0"/>
                    </a:lnTo>
                    <a:lnTo>
                      <a:pt x="272" y="0"/>
                    </a:lnTo>
                    <a:lnTo>
                      <a:pt x="291" y="13"/>
                    </a:lnTo>
                    <a:lnTo>
                      <a:pt x="291" y="45"/>
                    </a:lnTo>
                    <a:lnTo>
                      <a:pt x="278" y="78"/>
                    </a:lnTo>
                    <a:lnTo>
                      <a:pt x="266" y="97"/>
                    </a:lnTo>
                    <a:lnTo>
                      <a:pt x="260" y="110"/>
                    </a:lnTo>
                    <a:lnTo>
                      <a:pt x="253" y="117"/>
                    </a:lnTo>
                    <a:lnTo>
                      <a:pt x="241" y="162"/>
                    </a:lnTo>
                    <a:lnTo>
                      <a:pt x="222" y="195"/>
                    </a:lnTo>
                    <a:lnTo>
                      <a:pt x="215" y="201"/>
                    </a:lnTo>
                    <a:lnTo>
                      <a:pt x="203" y="299"/>
                    </a:lnTo>
                    <a:lnTo>
                      <a:pt x="247" y="299"/>
                    </a:lnTo>
                    <a:lnTo>
                      <a:pt x="266" y="299"/>
                    </a:lnTo>
                    <a:lnTo>
                      <a:pt x="272" y="312"/>
                    </a:lnTo>
                    <a:lnTo>
                      <a:pt x="285" y="325"/>
                    </a:lnTo>
                    <a:lnTo>
                      <a:pt x="297" y="338"/>
                    </a:lnTo>
                    <a:lnTo>
                      <a:pt x="297" y="345"/>
                    </a:lnTo>
                    <a:lnTo>
                      <a:pt x="304" y="371"/>
                    </a:lnTo>
                    <a:lnTo>
                      <a:pt x="297" y="397"/>
                    </a:lnTo>
                    <a:lnTo>
                      <a:pt x="285" y="416"/>
                    </a:lnTo>
                    <a:lnTo>
                      <a:pt x="272" y="442"/>
                    </a:lnTo>
                    <a:lnTo>
                      <a:pt x="253" y="455"/>
                    </a:lnTo>
                    <a:lnTo>
                      <a:pt x="241" y="455"/>
                    </a:lnTo>
                    <a:lnTo>
                      <a:pt x="215" y="488"/>
                    </a:lnTo>
                    <a:lnTo>
                      <a:pt x="190" y="521"/>
                    </a:lnTo>
                    <a:lnTo>
                      <a:pt x="152" y="521"/>
                    </a:lnTo>
                    <a:lnTo>
                      <a:pt x="146" y="560"/>
                    </a:lnTo>
                    <a:lnTo>
                      <a:pt x="120" y="586"/>
                    </a:lnTo>
                    <a:lnTo>
                      <a:pt x="101" y="586"/>
                    </a:lnTo>
                    <a:lnTo>
                      <a:pt x="76" y="586"/>
                    </a:lnTo>
                    <a:lnTo>
                      <a:pt x="114" y="573"/>
                    </a:lnTo>
                    <a:lnTo>
                      <a:pt x="127" y="560"/>
                    </a:lnTo>
                    <a:lnTo>
                      <a:pt x="133" y="540"/>
                    </a:lnTo>
                    <a:lnTo>
                      <a:pt x="133" y="527"/>
                    </a:lnTo>
                    <a:lnTo>
                      <a:pt x="133" y="462"/>
                    </a:lnTo>
                    <a:lnTo>
                      <a:pt x="139" y="403"/>
                    </a:lnTo>
                    <a:lnTo>
                      <a:pt x="146" y="429"/>
                    </a:lnTo>
                    <a:lnTo>
                      <a:pt x="146" y="423"/>
                    </a:lnTo>
                    <a:lnTo>
                      <a:pt x="165" y="403"/>
                    </a:lnTo>
                    <a:lnTo>
                      <a:pt x="165" y="423"/>
                    </a:lnTo>
                    <a:lnTo>
                      <a:pt x="177" y="416"/>
                    </a:lnTo>
                    <a:lnTo>
                      <a:pt x="171" y="429"/>
                    </a:lnTo>
                    <a:lnTo>
                      <a:pt x="158" y="436"/>
                    </a:lnTo>
                    <a:lnTo>
                      <a:pt x="152" y="436"/>
                    </a:lnTo>
                    <a:lnTo>
                      <a:pt x="152" y="455"/>
                    </a:lnTo>
                    <a:lnTo>
                      <a:pt x="146" y="442"/>
                    </a:lnTo>
                    <a:lnTo>
                      <a:pt x="152" y="429"/>
                    </a:lnTo>
                    <a:lnTo>
                      <a:pt x="146" y="429"/>
                    </a:lnTo>
                    <a:lnTo>
                      <a:pt x="146" y="462"/>
                    </a:lnTo>
                    <a:lnTo>
                      <a:pt x="146" y="475"/>
                    </a:lnTo>
                    <a:lnTo>
                      <a:pt x="146" y="495"/>
                    </a:lnTo>
                    <a:lnTo>
                      <a:pt x="146" y="508"/>
                    </a:lnTo>
                    <a:lnTo>
                      <a:pt x="184" y="508"/>
                    </a:lnTo>
                    <a:lnTo>
                      <a:pt x="196" y="482"/>
                    </a:lnTo>
                    <a:lnTo>
                      <a:pt x="215" y="462"/>
                    </a:lnTo>
                    <a:lnTo>
                      <a:pt x="215" y="455"/>
                    </a:lnTo>
                    <a:lnTo>
                      <a:pt x="234" y="436"/>
                    </a:lnTo>
                    <a:lnTo>
                      <a:pt x="241" y="436"/>
                    </a:lnTo>
                    <a:lnTo>
                      <a:pt x="247" y="429"/>
                    </a:lnTo>
                    <a:lnTo>
                      <a:pt x="266" y="410"/>
                    </a:lnTo>
                    <a:lnTo>
                      <a:pt x="278" y="397"/>
                    </a:lnTo>
                    <a:lnTo>
                      <a:pt x="297" y="384"/>
                    </a:lnTo>
                    <a:lnTo>
                      <a:pt x="297" y="377"/>
                    </a:lnTo>
                    <a:lnTo>
                      <a:pt x="297" y="364"/>
                    </a:lnTo>
                    <a:lnTo>
                      <a:pt x="291" y="351"/>
                    </a:lnTo>
                    <a:lnTo>
                      <a:pt x="278" y="351"/>
                    </a:lnTo>
                    <a:lnTo>
                      <a:pt x="266" y="345"/>
                    </a:lnTo>
                    <a:lnTo>
                      <a:pt x="272" y="332"/>
                    </a:lnTo>
                    <a:lnTo>
                      <a:pt x="266" y="325"/>
                    </a:lnTo>
                    <a:lnTo>
                      <a:pt x="215" y="312"/>
                    </a:lnTo>
                    <a:lnTo>
                      <a:pt x="158" y="299"/>
                    </a:lnTo>
                    <a:lnTo>
                      <a:pt x="146" y="299"/>
                    </a:lnTo>
                    <a:lnTo>
                      <a:pt x="120" y="280"/>
                    </a:lnTo>
                    <a:lnTo>
                      <a:pt x="127" y="280"/>
                    </a:lnTo>
                    <a:lnTo>
                      <a:pt x="133" y="286"/>
                    </a:lnTo>
                    <a:lnTo>
                      <a:pt x="146" y="293"/>
                    </a:lnTo>
                    <a:lnTo>
                      <a:pt x="165" y="299"/>
                    </a:lnTo>
                    <a:lnTo>
                      <a:pt x="190" y="299"/>
                    </a:lnTo>
                    <a:lnTo>
                      <a:pt x="196" y="247"/>
                    </a:lnTo>
                    <a:lnTo>
                      <a:pt x="196" y="195"/>
                    </a:lnTo>
                    <a:lnTo>
                      <a:pt x="222" y="169"/>
                    </a:lnTo>
                    <a:lnTo>
                      <a:pt x="241" y="123"/>
                    </a:lnTo>
                    <a:lnTo>
                      <a:pt x="253" y="91"/>
                    </a:lnTo>
                    <a:lnTo>
                      <a:pt x="272" y="65"/>
                    </a:lnTo>
                    <a:lnTo>
                      <a:pt x="278" y="32"/>
                    </a:lnTo>
                    <a:lnTo>
                      <a:pt x="272" y="13"/>
                    </a:lnTo>
                    <a:lnTo>
                      <a:pt x="260" y="13"/>
                    </a:lnTo>
                    <a:lnTo>
                      <a:pt x="247" y="13"/>
                    </a:lnTo>
                    <a:lnTo>
                      <a:pt x="247" y="19"/>
                    </a:lnTo>
                    <a:lnTo>
                      <a:pt x="247" y="26"/>
                    </a:lnTo>
                    <a:lnTo>
                      <a:pt x="253" y="39"/>
                    </a:lnTo>
                    <a:lnTo>
                      <a:pt x="260" y="45"/>
                    </a:lnTo>
                    <a:lnTo>
                      <a:pt x="253" y="39"/>
                    </a:lnTo>
                    <a:lnTo>
                      <a:pt x="247" y="32"/>
                    </a:lnTo>
                    <a:lnTo>
                      <a:pt x="247" y="26"/>
                    </a:lnTo>
                    <a:lnTo>
                      <a:pt x="247" y="39"/>
                    </a:lnTo>
                    <a:lnTo>
                      <a:pt x="234" y="52"/>
                    </a:lnTo>
                    <a:lnTo>
                      <a:pt x="228" y="65"/>
                    </a:lnTo>
                    <a:lnTo>
                      <a:pt x="222" y="71"/>
                    </a:lnTo>
                    <a:lnTo>
                      <a:pt x="222" y="91"/>
                    </a:lnTo>
                    <a:lnTo>
                      <a:pt x="215" y="91"/>
                    </a:lnTo>
                    <a:lnTo>
                      <a:pt x="209" y="97"/>
                    </a:lnTo>
                    <a:lnTo>
                      <a:pt x="184" y="123"/>
                    </a:lnTo>
                    <a:lnTo>
                      <a:pt x="171" y="156"/>
                    </a:lnTo>
                    <a:lnTo>
                      <a:pt x="152" y="221"/>
                    </a:lnTo>
                    <a:lnTo>
                      <a:pt x="127" y="280"/>
                    </a:lnTo>
                    <a:lnTo>
                      <a:pt x="114" y="286"/>
                    </a:lnTo>
                    <a:lnTo>
                      <a:pt x="95" y="293"/>
                    </a:lnTo>
                    <a:lnTo>
                      <a:pt x="63" y="390"/>
                    </a:lnTo>
                    <a:lnTo>
                      <a:pt x="44" y="442"/>
                    </a:lnTo>
                    <a:lnTo>
                      <a:pt x="44" y="495"/>
                    </a:lnTo>
                    <a:lnTo>
                      <a:pt x="26" y="540"/>
                    </a:lnTo>
                    <a:lnTo>
                      <a:pt x="19" y="560"/>
                    </a:lnTo>
                    <a:lnTo>
                      <a:pt x="0" y="553"/>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33" name="Freeform 11"/>
              <p:cNvSpPr>
                <a:spLocks/>
              </p:cNvSpPr>
              <p:nvPr/>
            </p:nvSpPr>
            <p:spPr bwMode="auto">
              <a:xfrm>
                <a:off x="2692" y="2997"/>
                <a:ext cx="349" cy="496"/>
              </a:xfrm>
              <a:custGeom>
                <a:avLst/>
                <a:gdLst>
                  <a:gd name="T0" fmla="*/ 310 w 349"/>
                  <a:gd name="T1" fmla="*/ 104 h 496"/>
                  <a:gd name="T2" fmla="*/ 291 w 349"/>
                  <a:gd name="T3" fmla="*/ 78 h 496"/>
                  <a:gd name="T4" fmla="*/ 285 w 349"/>
                  <a:gd name="T5" fmla="*/ 39 h 496"/>
                  <a:gd name="T6" fmla="*/ 279 w 349"/>
                  <a:gd name="T7" fmla="*/ 19 h 496"/>
                  <a:gd name="T8" fmla="*/ 272 w 349"/>
                  <a:gd name="T9" fmla="*/ 0 h 496"/>
                  <a:gd name="T10" fmla="*/ 215 w 349"/>
                  <a:gd name="T11" fmla="*/ 0 h 496"/>
                  <a:gd name="T12" fmla="*/ 190 w 349"/>
                  <a:gd name="T13" fmla="*/ 19 h 496"/>
                  <a:gd name="T14" fmla="*/ 171 w 349"/>
                  <a:gd name="T15" fmla="*/ 0 h 496"/>
                  <a:gd name="T16" fmla="*/ 95 w 349"/>
                  <a:gd name="T17" fmla="*/ 0 h 496"/>
                  <a:gd name="T18" fmla="*/ 76 w 349"/>
                  <a:gd name="T19" fmla="*/ 58 h 496"/>
                  <a:gd name="T20" fmla="*/ 76 w 349"/>
                  <a:gd name="T21" fmla="*/ 78 h 496"/>
                  <a:gd name="T22" fmla="*/ 64 w 349"/>
                  <a:gd name="T23" fmla="*/ 91 h 496"/>
                  <a:gd name="T24" fmla="*/ 38 w 349"/>
                  <a:gd name="T25" fmla="*/ 117 h 496"/>
                  <a:gd name="T26" fmla="*/ 26 w 349"/>
                  <a:gd name="T27" fmla="*/ 156 h 496"/>
                  <a:gd name="T28" fmla="*/ 0 w 349"/>
                  <a:gd name="T29" fmla="*/ 208 h 496"/>
                  <a:gd name="T30" fmla="*/ 0 w 349"/>
                  <a:gd name="T31" fmla="*/ 234 h 496"/>
                  <a:gd name="T32" fmla="*/ 7 w 349"/>
                  <a:gd name="T33" fmla="*/ 260 h 496"/>
                  <a:gd name="T34" fmla="*/ 32 w 349"/>
                  <a:gd name="T35" fmla="*/ 306 h 496"/>
                  <a:gd name="T36" fmla="*/ 64 w 349"/>
                  <a:gd name="T37" fmla="*/ 338 h 496"/>
                  <a:gd name="T38" fmla="*/ 57 w 349"/>
                  <a:gd name="T39" fmla="*/ 306 h 496"/>
                  <a:gd name="T40" fmla="*/ 70 w 349"/>
                  <a:gd name="T41" fmla="*/ 325 h 496"/>
                  <a:gd name="T42" fmla="*/ 139 w 349"/>
                  <a:gd name="T43" fmla="*/ 468 h 496"/>
                  <a:gd name="T44" fmla="*/ 152 w 349"/>
                  <a:gd name="T45" fmla="*/ 495 h 496"/>
                  <a:gd name="T46" fmla="*/ 165 w 349"/>
                  <a:gd name="T47" fmla="*/ 495 h 496"/>
                  <a:gd name="T48" fmla="*/ 215 w 349"/>
                  <a:gd name="T49" fmla="*/ 488 h 496"/>
                  <a:gd name="T50" fmla="*/ 228 w 349"/>
                  <a:gd name="T51" fmla="*/ 475 h 496"/>
                  <a:gd name="T52" fmla="*/ 253 w 349"/>
                  <a:gd name="T53" fmla="*/ 390 h 496"/>
                  <a:gd name="T54" fmla="*/ 266 w 349"/>
                  <a:gd name="T55" fmla="*/ 377 h 496"/>
                  <a:gd name="T56" fmla="*/ 291 w 349"/>
                  <a:gd name="T57" fmla="*/ 338 h 496"/>
                  <a:gd name="T58" fmla="*/ 329 w 349"/>
                  <a:gd name="T59" fmla="*/ 306 h 496"/>
                  <a:gd name="T60" fmla="*/ 348 w 349"/>
                  <a:gd name="T61" fmla="*/ 260 h 496"/>
                  <a:gd name="T62" fmla="*/ 348 w 349"/>
                  <a:gd name="T63" fmla="*/ 208 h 496"/>
                  <a:gd name="T64" fmla="*/ 342 w 349"/>
                  <a:gd name="T65" fmla="*/ 195 h 496"/>
                  <a:gd name="T66" fmla="*/ 323 w 349"/>
                  <a:gd name="T67" fmla="*/ 156 h 496"/>
                  <a:gd name="T68" fmla="*/ 316 w 349"/>
                  <a:gd name="T69" fmla="*/ 143 h 496"/>
                  <a:gd name="T70" fmla="*/ 310 w 349"/>
                  <a:gd name="T71" fmla="*/ 104 h 496"/>
                  <a:gd name="T72" fmla="*/ 310 w 349"/>
                  <a:gd name="T73" fmla="*/ 104 h 4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49"/>
                  <a:gd name="T112" fmla="*/ 0 h 496"/>
                  <a:gd name="T113" fmla="*/ 349 w 349"/>
                  <a:gd name="T114" fmla="*/ 496 h 4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49" h="496">
                    <a:moveTo>
                      <a:pt x="310" y="104"/>
                    </a:moveTo>
                    <a:lnTo>
                      <a:pt x="291" y="78"/>
                    </a:lnTo>
                    <a:lnTo>
                      <a:pt x="285" y="39"/>
                    </a:lnTo>
                    <a:lnTo>
                      <a:pt x="279" y="19"/>
                    </a:lnTo>
                    <a:lnTo>
                      <a:pt x="272" y="0"/>
                    </a:lnTo>
                    <a:lnTo>
                      <a:pt x="215" y="0"/>
                    </a:lnTo>
                    <a:lnTo>
                      <a:pt x="190" y="19"/>
                    </a:lnTo>
                    <a:lnTo>
                      <a:pt x="171" y="0"/>
                    </a:lnTo>
                    <a:lnTo>
                      <a:pt x="95" y="0"/>
                    </a:lnTo>
                    <a:lnTo>
                      <a:pt x="76" y="58"/>
                    </a:lnTo>
                    <a:lnTo>
                      <a:pt x="76" y="78"/>
                    </a:lnTo>
                    <a:lnTo>
                      <a:pt x="64" y="91"/>
                    </a:lnTo>
                    <a:lnTo>
                      <a:pt x="38" y="117"/>
                    </a:lnTo>
                    <a:lnTo>
                      <a:pt x="26" y="156"/>
                    </a:lnTo>
                    <a:lnTo>
                      <a:pt x="0" y="208"/>
                    </a:lnTo>
                    <a:lnTo>
                      <a:pt x="0" y="234"/>
                    </a:lnTo>
                    <a:lnTo>
                      <a:pt x="7" y="260"/>
                    </a:lnTo>
                    <a:lnTo>
                      <a:pt x="32" y="306"/>
                    </a:lnTo>
                    <a:lnTo>
                      <a:pt x="64" y="338"/>
                    </a:lnTo>
                    <a:lnTo>
                      <a:pt x="57" y="306"/>
                    </a:lnTo>
                    <a:lnTo>
                      <a:pt x="70" y="325"/>
                    </a:lnTo>
                    <a:lnTo>
                      <a:pt x="139" y="468"/>
                    </a:lnTo>
                    <a:lnTo>
                      <a:pt x="152" y="495"/>
                    </a:lnTo>
                    <a:lnTo>
                      <a:pt x="165" y="495"/>
                    </a:lnTo>
                    <a:lnTo>
                      <a:pt x="215" y="488"/>
                    </a:lnTo>
                    <a:lnTo>
                      <a:pt x="228" y="475"/>
                    </a:lnTo>
                    <a:lnTo>
                      <a:pt x="253" y="390"/>
                    </a:lnTo>
                    <a:lnTo>
                      <a:pt x="266" y="377"/>
                    </a:lnTo>
                    <a:lnTo>
                      <a:pt x="291" y="338"/>
                    </a:lnTo>
                    <a:lnTo>
                      <a:pt x="329" y="306"/>
                    </a:lnTo>
                    <a:lnTo>
                      <a:pt x="348" y="260"/>
                    </a:lnTo>
                    <a:lnTo>
                      <a:pt x="348" y="208"/>
                    </a:lnTo>
                    <a:lnTo>
                      <a:pt x="342" y="195"/>
                    </a:lnTo>
                    <a:lnTo>
                      <a:pt x="323" y="156"/>
                    </a:lnTo>
                    <a:lnTo>
                      <a:pt x="316" y="143"/>
                    </a:lnTo>
                    <a:lnTo>
                      <a:pt x="310" y="104"/>
                    </a:lnTo>
                    <a:close/>
                  </a:path>
                </a:pathLst>
              </a:custGeom>
              <a:solidFill>
                <a:srgbClr val="FFFFFF"/>
              </a:solidFill>
              <a:ln w="3175" cap="flat">
                <a:solidFill>
                  <a:srgbClr val="000000"/>
                </a:solidFill>
                <a:prstDash val="solid"/>
                <a:round/>
                <a:headEnd/>
                <a:tailEnd/>
              </a:ln>
            </p:spPr>
            <p:txBody>
              <a:bodyPr wrap="none" anchor="ctr">
                <a:spAutoFit/>
              </a:bodyPr>
              <a:lstStyle/>
              <a:p>
                <a:endParaRPr lang="zh-CN" altLang="en-US"/>
              </a:p>
            </p:txBody>
          </p:sp>
          <p:sp>
            <p:nvSpPr>
              <p:cNvPr id="52234" name="Freeform 12"/>
              <p:cNvSpPr>
                <a:spLocks/>
              </p:cNvSpPr>
              <p:nvPr/>
            </p:nvSpPr>
            <p:spPr bwMode="auto">
              <a:xfrm>
                <a:off x="2680" y="3094"/>
                <a:ext cx="380" cy="444"/>
              </a:xfrm>
              <a:custGeom>
                <a:avLst/>
                <a:gdLst>
                  <a:gd name="T0" fmla="*/ 322 w 380"/>
                  <a:gd name="T1" fmla="*/ 7 h 444"/>
                  <a:gd name="T2" fmla="*/ 335 w 380"/>
                  <a:gd name="T3" fmla="*/ 59 h 444"/>
                  <a:gd name="T4" fmla="*/ 354 w 380"/>
                  <a:gd name="T5" fmla="*/ 85 h 444"/>
                  <a:gd name="T6" fmla="*/ 335 w 380"/>
                  <a:gd name="T7" fmla="*/ 33 h 444"/>
                  <a:gd name="T8" fmla="*/ 347 w 380"/>
                  <a:gd name="T9" fmla="*/ 20 h 444"/>
                  <a:gd name="T10" fmla="*/ 354 w 380"/>
                  <a:gd name="T11" fmla="*/ 26 h 444"/>
                  <a:gd name="T12" fmla="*/ 354 w 380"/>
                  <a:gd name="T13" fmla="*/ 98 h 444"/>
                  <a:gd name="T14" fmla="*/ 360 w 380"/>
                  <a:gd name="T15" fmla="*/ 144 h 444"/>
                  <a:gd name="T16" fmla="*/ 318 w 380"/>
                  <a:gd name="T17" fmla="*/ 229 h 444"/>
                  <a:gd name="T18" fmla="*/ 265 w 380"/>
                  <a:gd name="T19" fmla="*/ 293 h 444"/>
                  <a:gd name="T20" fmla="*/ 227 w 380"/>
                  <a:gd name="T21" fmla="*/ 391 h 444"/>
                  <a:gd name="T22" fmla="*/ 164 w 380"/>
                  <a:gd name="T23" fmla="*/ 398 h 444"/>
                  <a:gd name="T24" fmla="*/ 82 w 380"/>
                  <a:gd name="T25" fmla="*/ 228 h 444"/>
                  <a:gd name="T26" fmla="*/ 76 w 380"/>
                  <a:gd name="T27" fmla="*/ 241 h 444"/>
                  <a:gd name="T28" fmla="*/ 57 w 380"/>
                  <a:gd name="T29" fmla="*/ 222 h 444"/>
                  <a:gd name="T30" fmla="*/ 12 w 380"/>
                  <a:gd name="T31" fmla="*/ 111 h 444"/>
                  <a:gd name="T32" fmla="*/ 19 w 380"/>
                  <a:gd name="T33" fmla="*/ 26 h 444"/>
                  <a:gd name="T34" fmla="*/ 25 w 380"/>
                  <a:gd name="T35" fmla="*/ 20 h 444"/>
                  <a:gd name="T36" fmla="*/ 38 w 380"/>
                  <a:gd name="T37" fmla="*/ 52 h 444"/>
                  <a:gd name="T38" fmla="*/ 12 w 380"/>
                  <a:gd name="T39" fmla="*/ 111 h 444"/>
                  <a:gd name="T40" fmla="*/ 50 w 380"/>
                  <a:gd name="T41" fmla="*/ 46 h 444"/>
                  <a:gd name="T42" fmla="*/ 44 w 380"/>
                  <a:gd name="T43" fmla="*/ 7 h 444"/>
                  <a:gd name="T44" fmla="*/ 0 w 380"/>
                  <a:gd name="T45" fmla="*/ 33 h 444"/>
                  <a:gd name="T46" fmla="*/ 0 w 380"/>
                  <a:gd name="T47" fmla="*/ 111 h 444"/>
                  <a:gd name="T48" fmla="*/ 31 w 380"/>
                  <a:gd name="T49" fmla="*/ 215 h 444"/>
                  <a:gd name="T50" fmla="*/ 94 w 380"/>
                  <a:gd name="T51" fmla="*/ 287 h 444"/>
                  <a:gd name="T52" fmla="*/ 145 w 380"/>
                  <a:gd name="T53" fmla="*/ 391 h 444"/>
                  <a:gd name="T54" fmla="*/ 151 w 380"/>
                  <a:gd name="T55" fmla="*/ 404 h 444"/>
                  <a:gd name="T56" fmla="*/ 158 w 380"/>
                  <a:gd name="T57" fmla="*/ 424 h 444"/>
                  <a:gd name="T58" fmla="*/ 196 w 380"/>
                  <a:gd name="T59" fmla="*/ 443 h 444"/>
                  <a:gd name="T60" fmla="*/ 202 w 380"/>
                  <a:gd name="T61" fmla="*/ 443 h 444"/>
                  <a:gd name="T62" fmla="*/ 227 w 380"/>
                  <a:gd name="T63" fmla="*/ 437 h 444"/>
                  <a:gd name="T64" fmla="*/ 227 w 380"/>
                  <a:gd name="T65" fmla="*/ 417 h 444"/>
                  <a:gd name="T66" fmla="*/ 221 w 380"/>
                  <a:gd name="T67" fmla="*/ 411 h 444"/>
                  <a:gd name="T68" fmla="*/ 215 w 380"/>
                  <a:gd name="T69" fmla="*/ 430 h 444"/>
                  <a:gd name="T70" fmla="*/ 183 w 380"/>
                  <a:gd name="T71" fmla="*/ 437 h 444"/>
                  <a:gd name="T72" fmla="*/ 170 w 380"/>
                  <a:gd name="T73" fmla="*/ 411 h 444"/>
                  <a:gd name="T74" fmla="*/ 227 w 380"/>
                  <a:gd name="T75" fmla="*/ 417 h 444"/>
                  <a:gd name="T76" fmla="*/ 246 w 380"/>
                  <a:gd name="T77" fmla="*/ 404 h 444"/>
                  <a:gd name="T78" fmla="*/ 272 w 380"/>
                  <a:gd name="T79" fmla="*/ 326 h 444"/>
                  <a:gd name="T80" fmla="*/ 354 w 380"/>
                  <a:gd name="T81" fmla="*/ 202 h 444"/>
                  <a:gd name="T82" fmla="*/ 379 w 380"/>
                  <a:gd name="T83" fmla="*/ 163 h 444"/>
                  <a:gd name="T84" fmla="*/ 379 w 380"/>
                  <a:gd name="T85" fmla="*/ 111 h 444"/>
                  <a:gd name="T86" fmla="*/ 379 w 380"/>
                  <a:gd name="T87" fmla="*/ 85 h 444"/>
                  <a:gd name="T88" fmla="*/ 366 w 380"/>
                  <a:gd name="T89" fmla="*/ 13 h 444"/>
                  <a:gd name="T90" fmla="*/ 328 w 380"/>
                  <a:gd name="T91" fmla="*/ 0 h 4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0"/>
                  <a:gd name="T139" fmla="*/ 0 h 444"/>
                  <a:gd name="T140" fmla="*/ 380 w 380"/>
                  <a:gd name="T141" fmla="*/ 444 h 44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0" h="444">
                    <a:moveTo>
                      <a:pt x="328" y="0"/>
                    </a:moveTo>
                    <a:lnTo>
                      <a:pt x="322" y="7"/>
                    </a:lnTo>
                    <a:lnTo>
                      <a:pt x="328" y="46"/>
                    </a:lnTo>
                    <a:lnTo>
                      <a:pt x="335" y="59"/>
                    </a:lnTo>
                    <a:lnTo>
                      <a:pt x="354" y="98"/>
                    </a:lnTo>
                    <a:lnTo>
                      <a:pt x="354" y="85"/>
                    </a:lnTo>
                    <a:lnTo>
                      <a:pt x="335" y="52"/>
                    </a:lnTo>
                    <a:lnTo>
                      <a:pt x="335" y="33"/>
                    </a:lnTo>
                    <a:lnTo>
                      <a:pt x="335" y="20"/>
                    </a:lnTo>
                    <a:lnTo>
                      <a:pt x="347" y="20"/>
                    </a:lnTo>
                    <a:lnTo>
                      <a:pt x="354" y="20"/>
                    </a:lnTo>
                    <a:lnTo>
                      <a:pt x="354" y="26"/>
                    </a:lnTo>
                    <a:lnTo>
                      <a:pt x="354" y="85"/>
                    </a:lnTo>
                    <a:lnTo>
                      <a:pt x="354" y="98"/>
                    </a:lnTo>
                    <a:lnTo>
                      <a:pt x="360" y="111"/>
                    </a:lnTo>
                    <a:lnTo>
                      <a:pt x="360" y="144"/>
                    </a:lnTo>
                    <a:lnTo>
                      <a:pt x="354" y="170"/>
                    </a:lnTo>
                    <a:lnTo>
                      <a:pt x="318" y="229"/>
                    </a:lnTo>
                    <a:lnTo>
                      <a:pt x="301" y="242"/>
                    </a:lnTo>
                    <a:lnTo>
                      <a:pt x="265" y="293"/>
                    </a:lnTo>
                    <a:lnTo>
                      <a:pt x="240" y="378"/>
                    </a:lnTo>
                    <a:lnTo>
                      <a:pt x="227" y="391"/>
                    </a:lnTo>
                    <a:lnTo>
                      <a:pt x="177" y="398"/>
                    </a:lnTo>
                    <a:lnTo>
                      <a:pt x="164" y="398"/>
                    </a:lnTo>
                    <a:lnTo>
                      <a:pt x="151" y="371"/>
                    </a:lnTo>
                    <a:lnTo>
                      <a:pt x="82" y="228"/>
                    </a:lnTo>
                    <a:lnTo>
                      <a:pt x="69" y="209"/>
                    </a:lnTo>
                    <a:lnTo>
                      <a:pt x="76" y="241"/>
                    </a:lnTo>
                    <a:lnTo>
                      <a:pt x="69" y="228"/>
                    </a:lnTo>
                    <a:lnTo>
                      <a:pt x="57" y="222"/>
                    </a:lnTo>
                    <a:lnTo>
                      <a:pt x="25" y="170"/>
                    </a:lnTo>
                    <a:lnTo>
                      <a:pt x="12" y="111"/>
                    </a:lnTo>
                    <a:lnTo>
                      <a:pt x="19" y="65"/>
                    </a:lnTo>
                    <a:lnTo>
                      <a:pt x="19" y="26"/>
                    </a:lnTo>
                    <a:lnTo>
                      <a:pt x="25" y="20"/>
                    </a:lnTo>
                    <a:lnTo>
                      <a:pt x="44" y="20"/>
                    </a:lnTo>
                    <a:lnTo>
                      <a:pt x="38" y="52"/>
                    </a:lnTo>
                    <a:lnTo>
                      <a:pt x="19" y="85"/>
                    </a:lnTo>
                    <a:lnTo>
                      <a:pt x="12" y="111"/>
                    </a:lnTo>
                    <a:lnTo>
                      <a:pt x="38" y="72"/>
                    </a:lnTo>
                    <a:lnTo>
                      <a:pt x="50" y="46"/>
                    </a:lnTo>
                    <a:lnTo>
                      <a:pt x="50" y="20"/>
                    </a:lnTo>
                    <a:lnTo>
                      <a:pt x="44" y="7"/>
                    </a:lnTo>
                    <a:lnTo>
                      <a:pt x="12" y="7"/>
                    </a:lnTo>
                    <a:lnTo>
                      <a:pt x="0" y="33"/>
                    </a:lnTo>
                    <a:lnTo>
                      <a:pt x="0" y="59"/>
                    </a:lnTo>
                    <a:lnTo>
                      <a:pt x="0" y="111"/>
                    </a:lnTo>
                    <a:lnTo>
                      <a:pt x="0" y="170"/>
                    </a:lnTo>
                    <a:lnTo>
                      <a:pt x="31" y="215"/>
                    </a:lnTo>
                    <a:lnTo>
                      <a:pt x="76" y="254"/>
                    </a:lnTo>
                    <a:lnTo>
                      <a:pt x="94" y="287"/>
                    </a:lnTo>
                    <a:lnTo>
                      <a:pt x="139" y="371"/>
                    </a:lnTo>
                    <a:lnTo>
                      <a:pt x="145" y="391"/>
                    </a:lnTo>
                    <a:lnTo>
                      <a:pt x="151" y="398"/>
                    </a:lnTo>
                    <a:lnTo>
                      <a:pt x="151" y="404"/>
                    </a:lnTo>
                    <a:lnTo>
                      <a:pt x="151" y="417"/>
                    </a:lnTo>
                    <a:lnTo>
                      <a:pt x="158" y="424"/>
                    </a:lnTo>
                    <a:lnTo>
                      <a:pt x="177" y="437"/>
                    </a:lnTo>
                    <a:lnTo>
                      <a:pt x="196" y="443"/>
                    </a:lnTo>
                    <a:lnTo>
                      <a:pt x="202" y="443"/>
                    </a:lnTo>
                    <a:lnTo>
                      <a:pt x="215" y="437"/>
                    </a:lnTo>
                    <a:lnTo>
                      <a:pt x="227" y="437"/>
                    </a:lnTo>
                    <a:lnTo>
                      <a:pt x="227" y="424"/>
                    </a:lnTo>
                    <a:lnTo>
                      <a:pt x="227" y="417"/>
                    </a:lnTo>
                    <a:lnTo>
                      <a:pt x="221" y="411"/>
                    </a:lnTo>
                    <a:lnTo>
                      <a:pt x="221" y="424"/>
                    </a:lnTo>
                    <a:lnTo>
                      <a:pt x="215" y="430"/>
                    </a:lnTo>
                    <a:lnTo>
                      <a:pt x="202" y="437"/>
                    </a:lnTo>
                    <a:lnTo>
                      <a:pt x="183" y="437"/>
                    </a:lnTo>
                    <a:lnTo>
                      <a:pt x="170" y="424"/>
                    </a:lnTo>
                    <a:lnTo>
                      <a:pt x="170" y="411"/>
                    </a:lnTo>
                    <a:lnTo>
                      <a:pt x="221" y="411"/>
                    </a:lnTo>
                    <a:lnTo>
                      <a:pt x="227" y="417"/>
                    </a:lnTo>
                    <a:lnTo>
                      <a:pt x="234" y="411"/>
                    </a:lnTo>
                    <a:lnTo>
                      <a:pt x="246" y="404"/>
                    </a:lnTo>
                    <a:lnTo>
                      <a:pt x="253" y="398"/>
                    </a:lnTo>
                    <a:lnTo>
                      <a:pt x="272" y="326"/>
                    </a:lnTo>
                    <a:lnTo>
                      <a:pt x="310" y="267"/>
                    </a:lnTo>
                    <a:lnTo>
                      <a:pt x="354" y="202"/>
                    </a:lnTo>
                    <a:lnTo>
                      <a:pt x="366" y="189"/>
                    </a:lnTo>
                    <a:lnTo>
                      <a:pt x="379" y="163"/>
                    </a:lnTo>
                    <a:lnTo>
                      <a:pt x="379" y="137"/>
                    </a:lnTo>
                    <a:lnTo>
                      <a:pt x="379" y="111"/>
                    </a:lnTo>
                    <a:lnTo>
                      <a:pt x="373" y="91"/>
                    </a:lnTo>
                    <a:lnTo>
                      <a:pt x="379" y="85"/>
                    </a:lnTo>
                    <a:lnTo>
                      <a:pt x="379" y="46"/>
                    </a:lnTo>
                    <a:lnTo>
                      <a:pt x="366" y="13"/>
                    </a:lnTo>
                    <a:lnTo>
                      <a:pt x="354" y="7"/>
                    </a:lnTo>
                    <a:lnTo>
                      <a:pt x="328" y="0"/>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35" name="Freeform 13"/>
              <p:cNvSpPr>
                <a:spLocks/>
              </p:cNvSpPr>
              <p:nvPr/>
            </p:nvSpPr>
            <p:spPr bwMode="auto">
              <a:xfrm>
                <a:off x="2724" y="2944"/>
                <a:ext cx="285" cy="171"/>
              </a:xfrm>
              <a:custGeom>
                <a:avLst/>
                <a:gdLst>
                  <a:gd name="T0" fmla="*/ 284 w 285"/>
                  <a:gd name="T1" fmla="*/ 150 h 171"/>
                  <a:gd name="T2" fmla="*/ 284 w 285"/>
                  <a:gd name="T3" fmla="*/ 111 h 171"/>
                  <a:gd name="T4" fmla="*/ 259 w 285"/>
                  <a:gd name="T5" fmla="*/ 33 h 171"/>
                  <a:gd name="T6" fmla="*/ 253 w 285"/>
                  <a:gd name="T7" fmla="*/ 14 h 171"/>
                  <a:gd name="T8" fmla="*/ 240 w 285"/>
                  <a:gd name="T9" fmla="*/ 7 h 171"/>
                  <a:gd name="T10" fmla="*/ 190 w 285"/>
                  <a:gd name="T11" fmla="*/ 0 h 171"/>
                  <a:gd name="T12" fmla="*/ 139 w 285"/>
                  <a:gd name="T13" fmla="*/ 0 h 171"/>
                  <a:gd name="T14" fmla="*/ 50 w 285"/>
                  <a:gd name="T15" fmla="*/ 27 h 171"/>
                  <a:gd name="T16" fmla="*/ 32 w 285"/>
                  <a:gd name="T17" fmla="*/ 40 h 171"/>
                  <a:gd name="T18" fmla="*/ 0 w 285"/>
                  <a:gd name="T19" fmla="*/ 157 h 171"/>
                  <a:gd name="T20" fmla="*/ 6 w 285"/>
                  <a:gd name="T21" fmla="*/ 170 h 171"/>
                  <a:gd name="T22" fmla="*/ 26 w 285"/>
                  <a:gd name="T23" fmla="*/ 149 h 171"/>
                  <a:gd name="T24" fmla="*/ 44 w 285"/>
                  <a:gd name="T25" fmla="*/ 131 h 171"/>
                  <a:gd name="T26" fmla="*/ 44 w 285"/>
                  <a:gd name="T27" fmla="*/ 111 h 171"/>
                  <a:gd name="T28" fmla="*/ 63 w 285"/>
                  <a:gd name="T29" fmla="*/ 53 h 171"/>
                  <a:gd name="T30" fmla="*/ 139 w 285"/>
                  <a:gd name="T31" fmla="*/ 53 h 171"/>
                  <a:gd name="T32" fmla="*/ 158 w 285"/>
                  <a:gd name="T33" fmla="*/ 72 h 171"/>
                  <a:gd name="T34" fmla="*/ 183 w 285"/>
                  <a:gd name="T35" fmla="*/ 53 h 171"/>
                  <a:gd name="T36" fmla="*/ 240 w 285"/>
                  <a:gd name="T37" fmla="*/ 53 h 171"/>
                  <a:gd name="T38" fmla="*/ 253 w 285"/>
                  <a:gd name="T39" fmla="*/ 92 h 171"/>
                  <a:gd name="T40" fmla="*/ 256 w 285"/>
                  <a:gd name="T41" fmla="*/ 132 h 171"/>
                  <a:gd name="T42" fmla="*/ 278 w 285"/>
                  <a:gd name="T43" fmla="*/ 157 h 171"/>
                  <a:gd name="T44" fmla="*/ 284 w 285"/>
                  <a:gd name="T45" fmla="*/ 150 h 171"/>
                  <a:gd name="T46" fmla="*/ 284 w 285"/>
                  <a:gd name="T47" fmla="*/ 150 h 17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85"/>
                  <a:gd name="T73" fmla="*/ 0 h 171"/>
                  <a:gd name="T74" fmla="*/ 285 w 285"/>
                  <a:gd name="T75" fmla="*/ 171 h 17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85" h="171">
                    <a:moveTo>
                      <a:pt x="284" y="150"/>
                    </a:moveTo>
                    <a:lnTo>
                      <a:pt x="284" y="111"/>
                    </a:lnTo>
                    <a:lnTo>
                      <a:pt x="259" y="33"/>
                    </a:lnTo>
                    <a:lnTo>
                      <a:pt x="253" y="14"/>
                    </a:lnTo>
                    <a:lnTo>
                      <a:pt x="240" y="7"/>
                    </a:lnTo>
                    <a:lnTo>
                      <a:pt x="190" y="0"/>
                    </a:lnTo>
                    <a:lnTo>
                      <a:pt x="139" y="0"/>
                    </a:lnTo>
                    <a:lnTo>
                      <a:pt x="50" y="27"/>
                    </a:lnTo>
                    <a:lnTo>
                      <a:pt x="32" y="40"/>
                    </a:lnTo>
                    <a:lnTo>
                      <a:pt x="0" y="157"/>
                    </a:lnTo>
                    <a:lnTo>
                      <a:pt x="6" y="170"/>
                    </a:lnTo>
                    <a:lnTo>
                      <a:pt x="26" y="149"/>
                    </a:lnTo>
                    <a:lnTo>
                      <a:pt x="44" y="131"/>
                    </a:lnTo>
                    <a:lnTo>
                      <a:pt x="44" y="111"/>
                    </a:lnTo>
                    <a:lnTo>
                      <a:pt x="63" y="53"/>
                    </a:lnTo>
                    <a:lnTo>
                      <a:pt x="139" y="53"/>
                    </a:lnTo>
                    <a:lnTo>
                      <a:pt x="158" y="72"/>
                    </a:lnTo>
                    <a:lnTo>
                      <a:pt x="183" y="53"/>
                    </a:lnTo>
                    <a:lnTo>
                      <a:pt x="240" y="53"/>
                    </a:lnTo>
                    <a:lnTo>
                      <a:pt x="253" y="92"/>
                    </a:lnTo>
                    <a:lnTo>
                      <a:pt x="256" y="132"/>
                    </a:lnTo>
                    <a:lnTo>
                      <a:pt x="278" y="157"/>
                    </a:lnTo>
                    <a:lnTo>
                      <a:pt x="284" y="150"/>
                    </a:lnTo>
                    <a:close/>
                  </a:path>
                </a:pathLst>
              </a:custGeom>
              <a:solidFill>
                <a:srgbClr val="777777"/>
              </a:solidFill>
              <a:ln w="3175" cap="flat">
                <a:solidFill>
                  <a:srgbClr val="000000"/>
                </a:solidFill>
                <a:prstDash val="solid"/>
                <a:round/>
                <a:headEnd/>
                <a:tailEnd/>
              </a:ln>
            </p:spPr>
            <p:txBody>
              <a:bodyPr wrap="none" anchor="ctr">
                <a:spAutoFit/>
              </a:bodyPr>
              <a:lstStyle/>
              <a:p>
                <a:endParaRPr lang="zh-CN" altLang="en-US"/>
              </a:p>
            </p:txBody>
          </p:sp>
          <p:sp>
            <p:nvSpPr>
              <p:cNvPr id="52236" name="Freeform 14"/>
              <p:cNvSpPr>
                <a:spLocks/>
              </p:cNvSpPr>
              <p:nvPr/>
            </p:nvSpPr>
            <p:spPr bwMode="auto">
              <a:xfrm>
                <a:off x="3091" y="3023"/>
                <a:ext cx="152" cy="287"/>
              </a:xfrm>
              <a:custGeom>
                <a:avLst/>
                <a:gdLst>
                  <a:gd name="T0" fmla="*/ 0 w 152"/>
                  <a:gd name="T1" fmla="*/ 267 h 287"/>
                  <a:gd name="T2" fmla="*/ 25 w 152"/>
                  <a:gd name="T3" fmla="*/ 286 h 287"/>
                  <a:gd name="T4" fmla="*/ 63 w 152"/>
                  <a:gd name="T5" fmla="*/ 286 h 287"/>
                  <a:gd name="T6" fmla="*/ 69 w 152"/>
                  <a:gd name="T7" fmla="*/ 247 h 287"/>
                  <a:gd name="T8" fmla="*/ 69 w 152"/>
                  <a:gd name="T9" fmla="*/ 182 h 287"/>
                  <a:gd name="T10" fmla="*/ 95 w 152"/>
                  <a:gd name="T11" fmla="*/ 156 h 287"/>
                  <a:gd name="T12" fmla="*/ 114 w 152"/>
                  <a:gd name="T13" fmla="*/ 110 h 287"/>
                  <a:gd name="T14" fmla="*/ 126 w 152"/>
                  <a:gd name="T15" fmla="*/ 78 h 287"/>
                  <a:gd name="T16" fmla="*/ 145 w 152"/>
                  <a:gd name="T17" fmla="*/ 52 h 287"/>
                  <a:gd name="T18" fmla="*/ 151 w 152"/>
                  <a:gd name="T19" fmla="*/ 19 h 287"/>
                  <a:gd name="T20" fmla="*/ 145 w 152"/>
                  <a:gd name="T21" fmla="*/ 0 h 287"/>
                  <a:gd name="T22" fmla="*/ 133 w 152"/>
                  <a:gd name="T23" fmla="*/ 0 h 287"/>
                  <a:gd name="T24" fmla="*/ 120 w 152"/>
                  <a:gd name="T25" fmla="*/ 0 h 287"/>
                  <a:gd name="T26" fmla="*/ 120 w 152"/>
                  <a:gd name="T27" fmla="*/ 6 h 287"/>
                  <a:gd name="T28" fmla="*/ 120 w 152"/>
                  <a:gd name="T29" fmla="*/ 13 h 287"/>
                  <a:gd name="T30" fmla="*/ 126 w 152"/>
                  <a:gd name="T31" fmla="*/ 26 h 287"/>
                  <a:gd name="T32" fmla="*/ 133 w 152"/>
                  <a:gd name="T33" fmla="*/ 32 h 287"/>
                  <a:gd name="T34" fmla="*/ 126 w 152"/>
                  <a:gd name="T35" fmla="*/ 32 h 287"/>
                  <a:gd name="T36" fmla="*/ 120 w 152"/>
                  <a:gd name="T37" fmla="*/ 26 h 287"/>
                  <a:gd name="T38" fmla="*/ 120 w 152"/>
                  <a:gd name="T39" fmla="*/ 26 h 287"/>
                  <a:gd name="T40" fmla="*/ 107 w 152"/>
                  <a:gd name="T41" fmla="*/ 39 h 287"/>
                  <a:gd name="T42" fmla="*/ 101 w 152"/>
                  <a:gd name="T43" fmla="*/ 52 h 287"/>
                  <a:gd name="T44" fmla="*/ 95 w 152"/>
                  <a:gd name="T45" fmla="*/ 71 h 287"/>
                  <a:gd name="T46" fmla="*/ 69 w 152"/>
                  <a:gd name="T47" fmla="*/ 97 h 287"/>
                  <a:gd name="T48" fmla="*/ 50 w 152"/>
                  <a:gd name="T49" fmla="*/ 117 h 287"/>
                  <a:gd name="T50" fmla="*/ 44 w 152"/>
                  <a:gd name="T51" fmla="*/ 143 h 287"/>
                  <a:gd name="T52" fmla="*/ 31 w 152"/>
                  <a:gd name="T53" fmla="*/ 175 h 287"/>
                  <a:gd name="T54" fmla="*/ 25 w 152"/>
                  <a:gd name="T55" fmla="*/ 202 h 287"/>
                  <a:gd name="T56" fmla="*/ 0 w 152"/>
                  <a:gd name="T57" fmla="*/ 267 h 287"/>
                  <a:gd name="T58" fmla="*/ 0 w 152"/>
                  <a:gd name="T59" fmla="*/ 267 h 28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52"/>
                  <a:gd name="T91" fmla="*/ 0 h 287"/>
                  <a:gd name="T92" fmla="*/ 152 w 152"/>
                  <a:gd name="T93" fmla="*/ 287 h 28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52" h="287">
                    <a:moveTo>
                      <a:pt x="0" y="267"/>
                    </a:moveTo>
                    <a:lnTo>
                      <a:pt x="25" y="286"/>
                    </a:lnTo>
                    <a:lnTo>
                      <a:pt x="63" y="286"/>
                    </a:lnTo>
                    <a:lnTo>
                      <a:pt x="69" y="247"/>
                    </a:lnTo>
                    <a:lnTo>
                      <a:pt x="69" y="182"/>
                    </a:lnTo>
                    <a:lnTo>
                      <a:pt x="95" y="156"/>
                    </a:lnTo>
                    <a:lnTo>
                      <a:pt x="114" y="110"/>
                    </a:lnTo>
                    <a:lnTo>
                      <a:pt x="126" y="78"/>
                    </a:lnTo>
                    <a:lnTo>
                      <a:pt x="145" y="52"/>
                    </a:lnTo>
                    <a:lnTo>
                      <a:pt x="151" y="19"/>
                    </a:lnTo>
                    <a:lnTo>
                      <a:pt x="145" y="0"/>
                    </a:lnTo>
                    <a:lnTo>
                      <a:pt x="133" y="0"/>
                    </a:lnTo>
                    <a:lnTo>
                      <a:pt x="120" y="0"/>
                    </a:lnTo>
                    <a:lnTo>
                      <a:pt x="120" y="6"/>
                    </a:lnTo>
                    <a:lnTo>
                      <a:pt x="120" y="13"/>
                    </a:lnTo>
                    <a:lnTo>
                      <a:pt x="126" y="26"/>
                    </a:lnTo>
                    <a:lnTo>
                      <a:pt x="133" y="32"/>
                    </a:lnTo>
                    <a:lnTo>
                      <a:pt x="126" y="32"/>
                    </a:lnTo>
                    <a:lnTo>
                      <a:pt x="120" y="26"/>
                    </a:lnTo>
                    <a:lnTo>
                      <a:pt x="107" y="39"/>
                    </a:lnTo>
                    <a:lnTo>
                      <a:pt x="101" y="52"/>
                    </a:lnTo>
                    <a:lnTo>
                      <a:pt x="95" y="71"/>
                    </a:lnTo>
                    <a:lnTo>
                      <a:pt x="69" y="97"/>
                    </a:lnTo>
                    <a:lnTo>
                      <a:pt x="50" y="117"/>
                    </a:lnTo>
                    <a:lnTo>
                      <a:pt x="44" y="143"/>
                    </a:lnTo>
                    <a:lnTo>
                      <a:pt x="31" y="175"/>
                    </a:lnTo>
                    <a:lnTo>
                      <a:pt x="25" y="202"/>
                    </a:lnTo>
                    <a:lnTo>
                      <a:pt x="0" y="267"/>
                    </a:lnTo>
                    <a:close/>
                  </a:path>
                </a:pathLst>
              </a:custGeom>
              <a:solidFill>
                <a:srgbClr val="FFFFFF"/>
              </a:solidFill>
              <a:ln w="3175" cap="flat">
                <a:solidFill>
                  <a:srgbClr val="000000"/>
                </a:solidFill>
                <a:prstDash val="solid"/>
                <a:round/>
                <a:headEnd/>
                <a:tailEnd/>
              </a:ln>
            </p:spPr>
            <p:txBody>
              <a:bodyPr wrap="none" anchor="ctr">
                <a:spAutoFit/>
              </a:bodyPr>
              <a:lstStyle/>
              <a:p>
                <a:endParaRPr lang="zh-CN" altLang="en-US"/>
              </a:p>
            </p:txBody>
          </p:sp>
          <p:sp>
            <p:nvSpPr>
              <p:cNvPr id="52237" name="Freeform 15"/>
              <p:cNvSpPr>
                <a:spLocks/>
              </p:cNvSpPr>
              <p:nvPr/>
            </p:nvSpPr>
            <p:spPr bwMode="auto">
              <a:xfrm>
                <a:off x="2648" y="3492"/>
                <a:ext cx="203" cy="261"/>
              </a:xfrm>
              <a:custGeom>
                <a:avLst/>
                <a:gdLst>
                  <a:gd name="T0" fmla="*/ 202 w 203"/>
                  <a:gd name="T1" fmla="*/ 260 h 261"/>
                  <a:gd name="T2" fmla="*/ 202 w 203"/>
                  <a:gd name="T3" fmla="*/ 221 h 261"/>
                  <a:gd name="T4" fmla="*/ 183 w 203"/>
                  <a:gd name="T5" fmla="*/ 52 h 261"/>
                  <a:gd name="T6" fmla="*/ 177 w 203"/>
                  <a:gd name="T7" fmla="*/ 19 h 261"/>
                  <a:gd name="T8" fmla="*/ 183 w 203"/>
                  <a:gd name="T9" fmla="*/ 6 h 261"/>
                  <a:gd name="T10" fmla="*/ 183 w 203"/>
                  <a:gd name="T11" fmla="*/ 0 h 261"/>
                  <a:gd name="T12" fmla="*/ 152 w 203"/>
                  <a:gd name="T13" fmla="*/ 39 h 261"/>
                  <a:gd name="T14" fmla="*/ 44 w 203"/>
                  <a:gd name="T15" fmla="*/ 84 h 261"/>
                  <a:gd name="T16" fmla="*/ 38 w 203"/>
                  <a:gd name="T17" fmla="*/ 78 h 261"/>
                  <a:gd name="T18" fmla="*/ 0 w 203"/>
                  <a:gd name="T19" fmla="*/ 104 h 261"/>
                  <a:gd name="T20" fmla="*/ 57 w 203"/>
                  <a:gd name="T21" fmla="*/ 260 h 261"/>
                  <a:gd name="T22" fmla="*/ 202 w 203"/>
                  <a:gd name="T23" fmla="*/ 260 h 261"/>
                  <a:gd name="T24" fmla="*/ 202 w 203"/>
                  <a:gd name="T25" fmla="*/ 260 h 2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3"/>
                  <a:gd name="T40" fmla="*/ 0 h 261"/>
                  <a:gd name="T41" fmla="*/ 203 w 203"/>
                  <a:gd name="T42" fmla="*/ 261 h 26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3" h="261">
                    <a:moveTo>
                      <a:pt x="202" y="260"/>
                    </a:moveTo>
                    <a:lnTo>
                      <a:pt x="202" y="221"/>
                    </a:lnTo>
                    <a:lnTo>
                      <a:pt x="183" y="52"/>
                    </a:lnTo>
                    <a:lnTo>
                      <a:pt x="177" y="19"/>
                    </a:lnTo>
                    <a:lnTo>
                      <a:pt x="183" y="6"/>
                    </a:lnTo>
                    <a:lnTo>
                      <a:pt x="183" y="0"/>
                    </a:lnTo>
                    <a:lnTo>
                      <a:pt x="152" y="39"/>
                    </a:lnTo>
                    <a:lnTo>
                      <a:pt x="44" y="84"/>
                    </a:lnTo>
                    <a:lnTo>
                      <a:pt x="38" y="78"/>
                    </a:lnTo>
                    <a:lnTo>
                      <a:pt x="0" y="104"/>
                    </a:lnTo>
                    <a:lnTo>
                      <a:pt x="57" y="260"/>
                    </a:lnTo>
                    <a:lnTo>
                      <a:pt x="202" y="260"/>
                    </a:lnTo>
                    <a:close/>
                  </a:path>
                </a:pathLst>
              </a:custGeom>
              <a:solidFill>
                <a:srgbClr val="888888"/>
              </a:solidFill>
              <a:ln w="3175" cap="flat">
                <a:solidFill>
                  <a:srgbClr val="000000"/>
                </a:solidFill>
                <a:prstDash val="solid"/>
                <a:round/>
                <a:headEnd/>
                <a:tailEnd/>
              </a:ln>
            </p:spPr>
            <p:txBody>
              <a:bodyPr wrap="none" anchor="ctr">
                <a:spAutoFit/>
              </a:bodyPr>
              <a:lstStyle/>
              <a:p>
                <a:endParaRPr lang="zh-CN" altLang="en-US"/>
              </a:p>
            </p:txBody>
          </p:sp>
          <p:sp>
            <p:nvSpPr>
              <p:cNvPr id="52238" name="Freeform 16"/>
              <p:cNvSpPr>
                <a:spLocks/>
              </p:cNvSpPr>
              <p:nvPr/>
            </p:nvSpPr>
            <p:spPr bwMode="auto">
              <a:xfrm>
                <a:off x="2901" y="3505"/>
                <a:ext cx="191" cy="248"/>
              </a:xfrm>
              <a:custGeom>
                <a:avLst/>
                <a:gdLst>
                  <a:gd name="T0" fmla="*/ 101 w 191"/>
                  <a:gd name="T1" fmla="*/ 143 h 248"/>
                  <a:gd name="T2" fmla="*/ 82 w 191"/>
                  <a:gd name="T3" fmla="*/ 136 h 248"/>
                  <a:gd name="T4" fmla="*/ 82 w 191"/>
                  <a:gd name="T5" fmla="*/ 117 h 248"/>
                  <a:gd name="T6" fmla="*/ 70 w 191"/>
                  <a:gd name="T7" fmla="*/ 110 h 248"/>
                  <a:gd name="T8" fmla="*/ 70 w 191"/>
                  <a:gd name="T9" fmla="*/ 117 h 248"/>
                  <a:gd name="T10" fmla="*/ 70 w 191"/>
                  <a:gd name="T11" fmla="*/ 123 h 248"/>
                  <a:gd name="T12" fmla="*/ 89 w 191"/>
                  <a:gd name="T13" fmla="*/ 143 h 248"/>
                  <a:gd name="T14" fmla="*/ 107 w 191"/>
                  <a:gd name="T15" fmla="*/ 162 h 248"/>
                  <a:gd name="T16" fmla="*/ 114 w 191"/>
                  <a:gd name="T17" fmla="*/ 156 h 248"/>
                  <a:gd name="T18" fmla="*/ 107 w 191"/>
                  <a:gd name="T19" fmla="*/ 169 h 248"/>
                  <a:gd name="T20" fmla="*/ 107 w 191"/>
                  <a:gd name="T21" fmla="*/ 201 h 248"/>
                  <a:gd name="T22" fmla="*/ 101 w 191"/>
                  <a:gd name="T23" fmla="*/ 214 h 248"/>
                  <a:gd name="T24" fmla="*/ 89 w 191"/>
                  <a:gd name="T25" fmla="*/ 208 h 248"/>
                  <a:gd name="T26" fmla="*/ 82 w 191"/>
                  <a:gd name="T27" fmla="*/ 195 h 248"/>
                  <a:gd name="T28" fmla="*/ 70 w 191"/>
                  <a:gd name="T29" fmla="*/ 188 h 248"/>
                  <a:gd name="T30" fmla="*/ 57 w 191"/>
                  <a:gd name="T31" fmla="*/ 182 h 248"/>
                  <a:gd name="T32" fmla="*/ 38 w 191"/>
                  <a:gd name="T33" fmla="*/ 169 h 248"/>
                  <a:gd name="T34" fmla="*/ 38 w 191"/>
                  <a:gd name="T35" fmla="*/ 162 h 248"/>
                  <a:gd name="T36" fmla="*/ 44 w 191"/>
                  <a:gd name="T37" fmla="*/ 156 h 248"/>
                  <a:gd name="T38" fmla="*/ 51 w 191"/>
                  <a:gd name="T39" fmla="*/ 143 h 248"/>
                  <a:gd name="T40" fmla="*/ 57 w 191"/>
                  <a:gd name="T41" fmla="*/ 143 h 248"/>
                  <a:gd name="T42" fmla="*/ 63 w 191"/>
                  <a:gd name="T43" fmla="*/ 110 h 248"/>
                  <a:gd name="T44" fmla="*/ 63 w 191"/>
                  <a:gd name="T45" fmla="*/ 117 h 248"/>
                  <a:gd name="T46" fmla="*/ 70 w 191"/>
                  <a:gd name="T47" fmla="*/ 117 h 248"/>
                  <a:gd name="T48" fmla="*/ 70 w 191"/>
                  <a:gd name="T49" fmla="*/ 110 h 248"/>
                  <a:gd name="T50" fmla="*/ 82 w 191"/>
                  <a:gd name="T51" fmla="*/ 91 h 248"/>
                  <a:gd name="T52" fmla="*/ 82 w 191"/>
                  <a:gd name="T53" fmla="*/ 65 h 248"/>
                  <a:gd name="T54" fmla="*/ 63 w 191"/>
                  <a:gd name="T55" fmla="*/ 58 h 248"/>
                  <a:gd name="T56" fmla="*/ 57 w 191"/>
                  <a:gd name="T57" fmla="*/ 52 h 248"/>
                  <a:gd name="T58" fmla="*/ 13 w 191"/>
                  <a:gd name="T59" fmla="*/ 0 h 248"/>
                  <a:gd name="T60" fmla="*/ 6 w 191"/>
                  <a:gd name="T61" fmla="*/ 0 h 248"/>
                  <a:gd name="T62" fmla="*/ 19 w 191"/>
                  <a:gd name="T63" fmla="*/ 26 h 248"/>
                  <a:gd name="T64" fmla="*/ 19 w 191"/>
                  <a:gd name="T65" fmla="*/ 26 h 248"/>
                  <a:gd name="T66" fmla="*/ 6 w 191"/>
                  <a:gd name="T67" fmla="*/ 84 h 248"/>
                  <a:gd name="T68" fmla="*/ 6 w 191"/>
                  <a:gd name="T69" fmla="*/ 104 h 248"/>
                  <a:gd name="T70" fmla="*/ 6 w 191"/>
                  <a:gd name="T71" fmla="*/ 123 h 248"/>
                  <a:gd name="T72" fmla="*/ 0 w 191"/>
                  <a:gd name="T73" fmla="*/ 149 h 248"/>
                  <a:gd name="T74" fmla="*/ 6 w 191"/>
                  <a:gd name="T75" fmla="*/ 247 h 248"/>
                  <a:gd name="T76" fmla="*/ 190 w 191"/>
                  <a:gd name="T77" fmla="*/ 247 h 248"/>
                  <a:gd name="T78" fmla="*/ 183 w 191"/>
                  <a:gd name="T79" fmla="*/ 221 h 248"/>
                  <a:gd name="T80" fmla="*/ 177 w 191"/>
                  <a:gd name="T81" fmla="*/ 195 h 248"/>
                  <a:gd name="T82" fmla="*/ 183 w 191"/>
                  <a:gd name="T83" fmla="*/ 169 h 248"/>
                  <a:gd name="T84" fmla="*/ 177 w 191"/>
                  <a:gd name="T85" fmla="*/ 123 h 248"/>
                  <a:gd name="T86" fmla="*/ 171 w 191"/>
                  <a:gd name="T87" fmla="*/ 91 h 248"/>
                  <a:gd name="T88" fmla="*/ 139 w 191"/>
                  <a:gd name="T89" fmla="*/ 91 h 248"/>
                  <a:gd name="T90" fmla="*/ 126 w 191"/>
                  <a:gd name="T91" fmla="*/ 91 h 248"/>
                  <a:gd name="T92" fmla="*/ 145 w 191"/>
                  <a:gd name="T93" fmla="*/ 91 h 248"/>
                  <a:gd name="T94" fmla="*/ 101 w 191"/>
                  <a:gd name="T95" fmla="*/ 143 h 248"/>
                  <a:gd name="T96" fmla="*/ 101 w 191"/>
                  <a:gd name="T97" fmla="*/ 143 h 24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1"/>
                  <a:gd name="T148" fmla="*/ 0 h 248"/>
                  <a:gd name="T149" fmla="*/ 191 w 191"/>
                  <a:gd name="T150" fmla="*/ 248 h 24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1" h="248">
                    <a:moveTo>
                      <a:pt x="101" y="143"/>
                    </a:moveTo>
                    <a:lnTo>
                      <a:pt x="82" y="136"/>
                    </a:lnTo>
                    <a:lnTo>
                      <a:pt x="82" y="117"/>
                    </a:lnTo>
                    <a:lnTo>
                      <a:pt x="70" y="110"/>
                    </a:lnTo>
                    <a:lnTo>
                      <a:pt x="70" y="117"/>
                    </a:lnTo>
                    <a:lnTo>
                      <a:pt x="70" y="123"/>
                    </a:lnTo>
                    <a:lnTo>
                      <a:pt x="89" y="143"/>
                    </a:lnTo>
                    <a:lnTo>
                      <a:pt x="107" y="162"/>
                    </a:lnTo>
                    <a:lnTo>
                      <a:pt x="114" y="156"/>
                    </a:lnTo>
                    <a:lnTo>
                      <a:pt x="107" y="169"/>
                    </a:lnTo>
                    <a:lnTo>
                      <a:pt x="107" y="201"/>
                    </a:lnTo>
                    <a:lnTo>
                      <a:pt x="101" y="214"/>
                    </a:lnTo>
                    <a:lnTo>
                      <a:pt x="89" y="208"/>
                    </a:lnTo>
                    <a:lnTo>
                      <a:pt x="82" y="195"/>
                    </a:lnTo>
                    <a:lnTo>
                      <a:pt x="70" y="188"/>
                    </a:lnTo>
                    <a:lnTo>
                      <a:pt x="57" y="182"/>
                    </a:lnTo>
                    <a:lnTo>
                      <a:pt x="38" y="169"/>
                    </a:lnTo>
                    <a:lnTo>
                      <a:pt x="38" y="162"/>
                    </a:lnTo>
                    <a:lnTo>
                      <a:pt x="44" y="156"/>
                    </a:lnTo>
                    <a:lnTo>
                      <a:pt x="51" y="143"/>
                    </a:lnTo>
                    <a:lnTo>
                      <a:pt x="57" y="143"/>
                    </a:lnTo>
                    <a:lnTo>
                      <a:pt x="63" y="110"/>
                    </a:lnTo>
                    <a:lnTo>
                      <a:pt x="63" y="117"/>
                    </a:lnTo>
                    <a:lnTo>
                      <a:pt x="70" y="117"/>
                    </a:lnTo>
                    <a:lnTo>
                      <a:pt x="70" y="110"/>
                    </a:lnTo>
                    <a:lnTo>
                      <a:pt x="82" y="91"/>
                    </a:lnTo>
                    <a:lnTo>
                      <a:pt x="82" y="65"/>
                    </a:lnTo>
                    <a:lnTo>
                      <a:pt x="63" y="58"/>
                    </a:lnTo>
                    <a:lnTo>
                      <a:pt x="57" y="52"/>
                    </a:lnTo>
                    <a:lnTo>
                      <a:pt x="13" y="0"/>
                    </a:lnTo>
                    <a:lnTo>
                      <a:pt x="6" y="0"/>
                    </a:lnTo>
                    <a:lnTo>
                      <a:pt x="19" y="26"/>
                    </a:lnTo>
                    <a:lnTo>
                      <a:pt x="6" y="84"/>
                    </a:lnTo>
                    <a:lnTo>
                      <a:pt x="6" y="104"/>
                    </a:lnTo>
                    <a:lnTo>
                      <a:pt x="6" y="123"/>
                    </a:lnTo>
                    <a:lnTo>
                      <a:pt x="0" y="149"/>
                    </a:lnTo>
                    <a:lnTo>
                      <a:pt x="6" y="247"/>
                    </a:lnTo>
                    <a:lnTo>
                      <a:pt x="190" y="247"/>
                    </a:lnTo>
                    <a:lnTo>
                      <a:pt x="183" y="221"/>
                    </a:lnTo>
                    <a:lnTo>
                      <a:pt x="177" y="195"/>
                    </a:lnTo>
                    <a:lnTo>
                      <a:pt x="183" y="169"/>
                    </a:lnTo>
                    <a:lnTo>
                      <a:pt x="177" y="123"/>
                    </a:lnTo>
                    <a:lnTo>
                      <a:pt x="171" y="91"/>
                    </a:lnTo>
                    <a:lnTo>
                      <a:pt x="139" y="91"/>
                    </a:lnTo>
                    <a:lnTo>
                      <a:pt x="126" y="91"/>
                    </a:lnTo>
                    <a:lnTo>
                      <a:pt x="145" y="91"/>
                    </a:lnTo>
                    <a:lnTo>
                      <a:pt x="101" y="143"/>
                    </a:lnTo>
                    <a:close/>
                  </a:path>
                </a:pathLst>
              </a:custGeom>
              <a:solidFill>
                <a:srgbClr val="888888"/>
              </a:solidFill>
              <a:ln w="3175" cap="flat">
                <a:solidFill>
                  <a:srgbClr val="000000"/>
                </a:solidFill>
                <a:prstDash val="solid"/>
                <a:round/>
                <a:headEnd/>
                <a:tailEnd/>
              </a:ln>
            </p:spPr>
            <p:txBody>
              <a:bodyPr wrap="none" anchor="ctr">
                <a:spAutoFit/>
              </a:bodyPr>
              <a:lstStyle/>
              <a:p>
                <a:endParaRPr lang="zh-CN" altLang="en-US"/>
              </a:p>
            </p:txBody>
          </p:sp>
          <p:sp>
            <p:nvSpPr>
              <p:cNvPr id="52239" name="Freeform 17"/>
              <p:cNvSpPr>
                <a:spLocks/>
              </p:cNvSpPr>
              <p:nvPr/>
            </p:nvSpPr>
            <p:spPr bwMode="auto">
              <a:xfrm>
                <a:off x="2850" y="3537"/>
                <a:ext cx="58" cy="216"/>
              </a:xfrm>
              <a:custGeom>
                <a:avLst/>
                <a:gdLst>
                  <a:gd name="T0" fmla="*/ 57 w 58"/>
                  <a:gd name="T1" fmla="*/ 215 h 216"/>
                  <a:gd name="T2" fmla="*/ 51 w 58"/>
                  <a:gd name="T3" fmla="*/ 156 h 216"/>
                  <a:gd name="T4" fmla="*/ 51 w 58"/>
                  <a:gd name="T5" fmla="*/ 117 h 216"/>
                  <a:gd name="T6" fmla="*/ 45 w 58"/>
                  <a:gd name="T7" fmla="*/ 98 h 216"/>
                  <a:gd name="T8" fmla="*/ 38 w 58"/>
                  <a:gd name="T9" fmla="*/ 59 h 216"/>
                  <a:gd name="T10" fmla="*/ 45 w 58"/>
                  <a:gd name="T11" fmla="*/ 33 h 216"/>
                  <a:gd name="T12" fmla="*/ 51 w 58"/>
                  <a:gd name="T13" fmla="*/ 33 h 216"/>
                  <a:gd name="T14" fmla="*/ 32 w 58"/>
                  <a:gd name="T15" fmla="*/ 0 h 216"/>
                  <a:gd name="T16" fmla="*/ 32 w 58"/>
                  <a:gd name="T17" fmla="*/ 0 h 216"/>
                  <a:gd name="T18" fmla="*/ 26 w 58"/>
                  <a:gd name="T19" fmla="*/ 0 h 216"/>
                  <a:gd name="T20" fmla="*/ 19 w 58"/>
                  <a:gd name="T21" fmla="*/ 0 h 216"/>
                  <a:gd name="T22" fmla="*/ 7 w 58"/>
                  <a:gd name="T23" fmla="*/ 33 h 216"/>
                  <a:gd name="T24" fmla="*/ 13 w 58"/>
                  <a:gd name="T25" fmla="*/ 39 h 216"/>
                  <a:gd name="T26" fmla="*/ 26 w 58"/>
                  <a:gd name="T27" fmla="*/ 52 h 216"/>
                  <a:gd name="T28" fmla="*/ 0 w 58"/>
                  <a:gd name="T29" fmla="*/ 176 h 216"/>
                  <a:gd name="T30" fmla="*/ 0 w 58"/>
                  <a:gd name="T31" fmla="*/ 176 h 216"/>
                  <a:gd name="T32" fmla="*/ 0 w 58"/>
                  <a:gd name="T33" fmla="*/ 215 h 216"/>
                  <a:gd name="T34" fmla="*/ 57 w 58"/>
                  <a:gd name="T35" fmla="*/ 215 h 216"/>
                  <a:gd name="T36" fmla="*/ 57 w 58"/>
                  <a:gd name="T37" fmla="*/ 215 h 2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8"/>
                  <a:gd name="T58" fmla="*/ 0 h 216"/>
                  <a:gd name="T59" fmla="*/ 58 w 58"/>
                  <a:gd name="T60" fmla="*/ 216 h 21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8" h="216">
                    <a:moveTo>
                      <a:pt x="57" y="215"/>
                    </a:moveTo>
                    <a:lnTo>
                      <a:pt x="51" y="156"/>
                    </a:lnTo>
                    <a:lnTo>
                      <a:pt x="51" y="117"/>
                    </a:lnTo>
                    <a:lnTo>
                      <a:pt x="45" y="98"/>
                    </a:lnTo>
                    <a:lnTo>
                      <a:pt x="38" y="59"/>
                    </a:lnTo>
                    <a:lnTo>
                      <a:pt x="45" y="33"/>
                    </a:lnTo>
                    <a:lnTo>
                      <a:pt x="51" y="33"/>
                    </a:lnTo>
                    <a:lnTo>
                      <a:pt x="32" y="0"/>
                    </a:lnTo>
                    <a:lnTo>
                      <a:pt x="26" y="0"/>
                    </a:lnTo>
                    <a:lnTo>
                      <a:pt x="19" y="0"/>
                    </a:lnTo>
                    <a:lnTo>
                      <a:pt x="7" y="33"/>
                    </a:lnTo>
                    <a:lnTo>
                      <a:pt x="13" y="39"/>
                    </a:lnTo>
                    <a:lnTo>
                      <a:pt x="26" y="52"/>
                    </a:lnTo>
                    <a:lnTo>
                      <a:pt x="0" y="176"/>
                    </a:lnTo>
                    <a:lnTo>
                      <a:pt x="0" y="215"/>
                    </a:lnTo>
                    <a:lnTo>
                      <a:pt x="57" y="215"/>
                    </a:lnTo>
                    <a:close/>
                  </a:path>
                </a:pathLst>
              </a:custGeom>
              <a:solidFill>
                <a:srgbClr val="777777"/>
              </a:solidFill>
              <a:ln w="3175" cap="flat">
                <a:solidFill>
                  <a:srgbClr val="000000"/>
                </a:solidFill>
                <a:prstDash val="solid"/>
                <a:round/>
                <a:headEnd/>
                <a:tailEnd/>
              </a:ln>
            </p:spPr>
            <p:txBody>
              <a:bodyPr wrap="none" anchor="ctr">
                <a:spAutoFit/>
              </a:bodyPr>
              <a:lstStyle/>
              <a:p>
                <a:endParaRPr lang="zh-CN" altLang="en-US"/>
              </a:p>
            </p:txBody>
          </p:sp>
          <p:sp>
            <p:nvSpPr>
              <p:cNvPr id="52240" name="Freeform 18"/>
              <p:cNvSpPr>
                <a:spLocks/>
              </p:cNvSpPr>
              <p:nvPr/>
            </p:nvSpPr>
            <p:spPr bwMode="auto">
              <a:xfrm>
                <a:off x="2774" y="3277"/>
                <a:ext cx="191" cy="118"/>
              </a:xfrm>
              <a:custGeom>
                <a:avLst/>
                <a:gdLst>
                  <a:gd name="T0" fmla="*/ 178 w 191"/>
                  <a:gd name="T1" fmla="*/ 19 h 118"/>
                  <a:gd name="T2" fmla="*/ 184 w 191"/>
                  <a:gd name="T3" fmla="*/ 19 h 118"/>
                  <a:gd name="T4" fmla="*/ 184 w 191"/>
                  <a:gd name="T5" fmla="*/ 26 h 118"/>
                  <a:gd name="T6" fmla="*/ 184 w 191"/>
                  <a:gd name="T7" fmla="*/ 26 h 118"/>
                  <a:gd name="T8" fmla="*/ 184 w 191"/>
                  <a:gd name="T9" fmla="*/ 32 h 118"/>
                  <a:gd name="T10" fmla="*/ 171 w 191"/>
                  <a:gd name="T11" fmla="*/ 58 h 118"/>
                  <a:gd name="T12" fmla="*/ 165 w 191"/>
                  <a:gd name="T13" fmla="*/ 65 h 118"/>
                  <a:gd name="T14" fmla="*/ 165 w 191"/>
                  <a:gd name="T15" fmla="*/ 65 h 118"/>
                  <a:gd name="T16" fmla="*/ 140 w 191"/>
                  <a:gd name="T17" fmla="*/ 97 h 118"/>
                  <a:gd name="T18" fmla="*/ 140 w 191"/>
                  <a:gd name="T19" fmla="*/ 97 h 118"/>
                  <a:gd name="T20" fmla="*/ 133 w 191"/>
                  <a:gd name="T21" fmla="*/ 104 h 118"/>
                  <a:gd name="T22" fmla="*/ 133 w 191"/>
                  <a:gd name="T23" fmla="*/ 104 h 118"/>
                  <a:gd name="T24" fmla="*/ 127 w 191"/>
                  <a:gd name="T25" fmla="*/ 104 h 118"/>
                  <a:gd name="T26" fmla="*/ 114 w 191"/>
                  <a:gd name="T27" fmla="*/ 110 h 118"/>
                  <a:gd name="T28" fmla="*/ 108 w 191"/>
                  <a:gd name="T29" fmla="*/ 110 h 118"/>
                  <a:gd name="T30" fmla="*/ 102 w 191"/>
                  <a:gd name="T31" fmla="*/ 110 h 118"/>
                  <a:gd name="T32" fmla="*/ 89 w 191"/>
                  <a:gd name="T33" fmla="*/ 110 h 118"/>
                  <a:gd name="T34" fmla="*/ 76 w 191"/>
                  <a:gd name="T35" fmla="*/ 104 h 118"/>
                  <a:gd name="T36" fmla="*/ 70 w 191"/>
                  <a:gd name="T37" fmla="*/ 104 h 118"/>
                  <a:gd name="T38" fmla="*/ 64 w 191"/>
                  <a:gd name="T39" fmla="*/ 97 h 118"/>
                  <a:gd name="T40" fmla="*/ 57 w 191"/>
                  <a:gd name="T41" fmla="*/ 91 h 118"/>
                  <a:gd name="T42" fmla="*/ 45 w 191"/>
                  <a:gd name="T43" fmla="*/ 84 h 118"/>
                  <a:gd name="T44" fmla="*/ 32 w 191"/>
                  <a:gd name="T45" fmla="*/ 58 h 118"/>
                  <a:gd name="T46" fmla="*/ 19 w 191"/>
                  <a:gd name="T47" fmla="*/ 32 h 118"/>
                  <a:gd name="T48" fmla="*/ 13 w 191"/>
                  <a:gd name="T49" fmla="*/ 26 h 118"/>
                  <a:gd name="T50" fmla="*/ 7 w 191"/>
                  <a:gd name="T51" fmla="*/ 19 h 118"/>
                  <a:gd name="T52" fmla="*/ 45 w 191"/>
                  <a:gd name="T53" fmla="*/ 97 h 118"/>
                  <a:gd name="T54" fmla="*/ 64 w 191"/>
                  <a:gd name="T55" fmla="*/ 110 h 118"/>
                  <a:gd name="T56" fmla="*/ 108 w 191"/>
                  <a:gd name="T57" fmla="*/ 117 h 118"/>
                  <a:gd name="T58" fmla="*/ 146 w 191"/>
                  <a:gd name="T59" fmla="*/ 110 h 118"/>
                  <a:gd name="T60" fmla="*/ 171 w 191"/>
                  <a:gd name="T61" fmla="*/ 71 h 118"/>
                  <a:gd name="T62" fmla="*/ 184 w 191"/>
                  <a:gd name="T63" fmla="*/ 26 h 118"/>
                  <a:gd name="T64" fmla="*/ 184 w 191"/>
                  <a:gd name="T65" fmla="*/ 26 h 118"/>
                  <a:gd name="T66" fmla="*/ 190 w 191"/>
                  <a:gd name="T67" fmla="*/ 32 h 118"/>
                  <a:gd name="T68" fmla="*/ 184 w 191"/>
                  <a:gd name="T69" fmla="*/ 19 h 118"/>
                  <a:gd name="T70" fmla="*/ 190 w 191"/>
                  <a:gd name="T71" fmla="*/ 6 h 118"/>
                  <a:gd name="T72" fmla="*/ 184 w 191"/>
                  <a:gd name="T73" fmla="*/ 13 h 118"/>
                  <a:gd name="T74" fmla="*/ 178 w 191"/>
                  <a:gd name="T75" fmla="*/ 6 h 118"/>
                  <a:gd name="T76" fmla="*/ 140 w 191"/>
                  <a:gd name="T77" fmla="*/ 6 h 118"/>
                  <a:gd name="T78" fmla="*/ 108 w 191"/>
                  <a:gd name="T79" fmla="*/ 6 h 118"/>
                  <a:gd name="T80" fmla="*/ 76 w 191"/>
                  <a:gd name="T81" fmla="*/ 6 h 118"/>
                  <a:gd name="T82" fmla="*/ 38 w 191"/>
                  <a:gd name="T83" fmla="*/ 0 h 118"/>
                  <a:gd name="T84" fmla="*/ 26 w 191"/>
                  <a:gd name="T85" fmla="*/ 0 h 118"/>
                  <a:gd name="T86" fmla="*/ 7 w 191"/>
                  <a:gd name="T87" fmla="*/ 6 h 118"/>
                  <a:gd name="T88" fmla="*/ 7 w 191"/>
                  <a:gd name="T89" fmla="*/ 6 h 118"/>
                  <a:gd name="T90" fmla="*/ 0 w 191"/>
                  <a:gd name="T91" fmla="*/ 6 h 118"/>
                  <a:gd name="T92" fmla="*/ 7 w 191"/>
                  <a:gd name="T93" fmla="*/ 13 h 118"/>
                  <a:gd name="T94" fmla="*/ 0 w 191"/>
                  <a:gd name="T95" fmla="*/ 19 h 118"/>
                  <a:gd name="T96" fmla="*/ 7 w 191"/>
                  <a:gd name="T97" fmla="*/ 19 h 118"/>
                  <a:gd name="T98" fmla="*/ 19 w 191"/>
                  <a:gd name="T99" fmla="*/ 13 h 118"/>
                  <a:gd name="T100" fmla="*/ 32 w 191"/>
                  <a:gd name="T101" fmla="*/ 6 h 118"/>
                  <a:gd name="T102" fmla="*/ 83 w 191"/>
                  <a:gd name="T103" fmla="*/ 13 h 118"/>
                  <a:gd name="T104" fmla="*/ 140 w 191"/>
                  <a:gd name="T105" fmla="*/ 19 h 118"/>
                  <a:gd name="T106" fmla="*/ 159 w 191"/>
                  <a:gd name="T107" fmla="*/ 13 h 118"/>
                  <a:gd name="T108" fmla="*/ 178 w 191"/>
                  <a:gd name="T109" fmla="*/ 19 h 118"/>
                  <a:gd name="T110" fmla="*/ 178 w 191"/>
                  <a:gd name="T111" fmla="*/ 19 h 11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91"/>
                  <a:gd name="T169" fmla="*/ 0 h 118"/>
                  <a:gd name="T170" fmla="*/ 191 w 191"/>
                  <a:gd name="T171" fmla="*/ 118 h 11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91" h="118">
                    <a:moveTo>
                      <a:pt x="178" y="19"/>
                    </a:moveTo>
                    <a:lnTo>
                      <a:pt x="184" y="19"/>
                    </a:lnTo>
                    <a:lnTo>
                      <a:pt x="184" y="26"/>
                    </a:lnTo>
                    <a:lnTo>
                      <a:pt x="184" y="32"/>
                    </a:lnTo>
                    <a:lnTo>
                      <a:pt x="171" y="58"/>
                    </a:lnTo>
                    <a:lnTo>
                      <a:pt x="165" y="65"/>
                    </a:lnTo>
                    <a:lnTo>
                      <a:pt x="140" y="97"/>
                    </a:lnTo>
                    <a:lnTo>
                      <a:pt x="133" y="104"/>
                    </a:lnTo>
                    <a:lnTo>
                      <a:pt x="127" y="104"/>
                    </a:lnTo>
                    <a:lnTo>
                      <a:pt x="114" y="110"/>
                    </a:lnTo>
                    <a:lnTo>
                      <a:pt x="108" y="110"/>
                    </a:lnTo>
                    <a:lnTo>
                      <a:pt x="102" y="110"/>
                    </a:lnTo>
                    <a:lnTo>
                      <a:pt x="89" y="110"/>
                    </a:lnTo>
                    <a:lnTo>
                      <a:pt x="76" y="104"/>
                    </a:lnTo>
                    <a:lnTo>
                      <a:pt x="70" y="104"/>
                    </a:lnTo>
                    <a:lnTo>
                      <a:pt x="64" y="97"/>
                    </a:lnTo>
                    <a:lnTo>
                      <a:pt x="57" y="91"/>
                    </a:lnTo>
                    <a:lnTo>
                      <a:pt x="45" y="84"/>
                    </a:lnTo>
                    <a:lnTo>
                      <a:pt x="32" y="58"/>
                    </a:lnTo>
                    <a:lnTo>
                      <a:pt x="19" y="32"/>
                    </a:lnTo>
                    <a:lnTo>
                      <a:pt x="13" y="26"/>
                    </a:lnTo>
                    <a:lnTo>
                      <a:pt x="7" y="19"/>
                    </a:lnTo>
                    <a:lnTo>
                      <a:pt x="45" y="97"/>
                    </a:lnTo>
                    <a:lnTo>
                      <a:pt x="64" y="110"/>
                    </a:lnTo>
                    <a:lnTo>
                      <a:pt x="108" y="117"/>
                    </a:lnTo>
                    <a:lnTo>
                      <a:pt x="146" y="110"/>
                    </a:lnTo>
                    <a:lnTo>
                      <a:pt x="171" y="71"/>
                    </a:lnTo>
                    <a:lnTo>
                      <a:pt x="184" y="26"/>
                    </a:lnTo>
                    <a:lnTo>
                      <a:pt x="190" y="32"/>
                    </a:lnTo>
                    <a:lnTo>
                      <a:pt x="184" y="19"/>
                    </a:lnTo>
                    <a:lnTo>
                      <a:pt x="190" y="6"/>
                    </a:lnTo>
                    <a:lnTo>
                      <a:pt x="184" y="13"/>
                    </a:lnTo>
                    <a:lnTo>
                      <a:pt x="178" y="6"/>
                    </a:lnTo>
                    <a:lnTo>
                      <a:pt x="140" y="6"/>
                    </a:lnTo>
                    <a:lnTo>
                      <a:pt x="108" y="6"/>
                    </a:lnTo>
                    <a:lnTo>
                      <a:pt x="76" y="6"/>
                    </a:lnTo>
                    <a:lnTo>
                      <a:pt x="38" y="0"/>
                    </a:lnTo>
                    <a:lnTo>
                      <a:pt x="26" y="0"/>
                    </a:lnTo>
                    <a:lnTo>
                      <a:pt x="7" y="6"/>
                    </a:lnTo>
                    <a:lnTo>
                      <a:pt x="0" y="6"/>
                    </a:lnTo>
                    <a:lnTo>
                      <a:pt x="7" y="13"/>
                    </a:lnTo>
                    <a:lnTo>
                      <a:pt x="0" y="19"/>
                    </a:lnTo>
                    <a:lnTo>
                      <a:pt x="7" y="19"/>
                    </a:lnTo>
                    <a:lnTo>
                      <a:pt x="19" y="13"/>
                    </a:lnTo>
                    <a:lnTo>
                      <a:pt x="32" y="6"/>
                    </a:lnTo>
                    <a:lnTo>
                      <a:pt x="83" y="13"/>
                    </a:lnTo>
                    <a:lnTo>
                      <a:pt x="140" y="19"/>
                    </a:lnTo>
                    <a:lnTo>
                      <a:pt x="159" y="13"/>
                    </a:lnTo>
                    <a:lnTo>
                      <a:pt x="178" y="19"/>
                    </a:lnTo>
                    <a:close/>
                  </a:path>
                </a:pathLst>
              </a:custGeom>
              <a:solidFill>
                <a:srgbClr val="FFFFFF"/>
              </a:solidFill>
              <a:ln w="3175" cap="flat">
                <a:solidFill>
                  <a:srgbClr val="000000"/>
                </a:solidFill>
                <a:prstDash val="solid"/>
                <a:round/>
                <a:headEnd/>
                <a:tailEnd/>
              </a:ln>
            </p:spPr>
            <p:txBody>
              <a:bodyPr wrap="none" anchor="ctr">
                <a:spAutoFit/>
              </a:bodyPr>
              <a:lstStyle/>
              <a:p>
                <a:endParaRPr lang="zh-CN" altLang="en-US"/>
              </a:p>
            </p:txBody>
          </p:sp>
          <p:sp>
            <p:nvSpPr>
              <p:cNvPr id="52241" name="Freeform 19"/>
              <p:cNvSpPr>
                <a:spLocks/>
              </p:cNvSpPr>
              <p:nvPr/>
            </p:nvSpPr>
            <p:spPr bwMode="auto">
              <a:xfrm>
                <a:off x="2781" y="3290"/>
                <a:ext cx="178" cy="72"/>
              </a:xfrm>
              <a:custGeom>
                <a:avLst/>
                <a:gdLst>
                  <a:gd name="T0" fmla="*/ 0 w 178"/>
                  <a:gd name="T1" fmla="*/ 6 h 72"/>
                  <a:gd name="T2" fmla="*/ 6 w 178"/>
                  <a:gd name="T3" fmla="*/ 13 h 72"/>
                  <a:gd name="T4" fmla="*/ 19 w 178"/>
                  <a:gd name="T5" fmla="*/ 19 h 72"/>
                  <a:gd name="T6" fmla="*/ 38 w 178"/>
                  <a:gd name="T7" fmla="*/ 32 h 72"/>
                  <a:gd name="T8" fmla="*/ 57 w 178"/>
                  <a:gd name="T9" fmla="*/ 45 h 72"/>
                  <a:gd name="T10" fmla="*/ 95 w 178"/>
                  <a:gd name="T11" fmla="*/ 52 h 72"/>
                  <a:gd name="T12" fmla="*/ 95 w 178"/>
                  <a:gd name="T13" fmla="*/ 52 h 72"/>
                  <a:gd name="T14" fmla="*/ 107 w 178"/>
                  <a:gd name="T15" fmla="*/ 71 h 72"/>
                  <a:gd name="T16" fmla="*/ 101 w 178"/>
                  <a:gd name="T17" fmla="*/ 58 h 72"/>
                  <a:gd name="T18" fmla="*/ 101 w 178"/>
                  <a:gd name="T19" fmla="*/ 52 h 72"/>
                  <a:gd name="T20" fmla="*/ 107 w 178"/>
                  <a:gd name="T21" fmla="*/ 52 h 72"/>
                  <a:gd name="T22" fmla="*/ 114 w 178"/>
                  <a:gd name="T23" fmla="*/ 52 h 72"/>
                  <a:gd name="T24" fmla="*/ 120 w 178"/>
                  <a:gd name="T25" fmla="*/ 45 h 72"/>
                  <a:gd name="T26" fmla="*/ 126 w 178"/>
                  <a:gd name="T27" fmla="*/ 45 h 72"/>
                  <a:gd name="T28" fmla="*/ 126 w 178"/>
                  <a:gd name="T29" fmla="*/ 45 h 72"/>
                  <a:gd name="T30" fmla="*/ 126 w 178"/>
                  <a:gd name="T31" fmla="*/ 45 h 72"/>
                  <a:gd name="T32" fmla="*/ 133 w 178"/>
                  <a:gd name="T33" fmla="*/ 45 h 72"/>
                  <a:gd name="T34" fmla="*/ 139 w 178"/>
                  <a:gd name="T35" fmla="*/ 45 h 72"/>
                  <a:gd name="T36" fmla="*/ 145 w 178"/>
                  <a:gd name="T37" fmla="*/ 45 h 72"/>
                  <a:gd name="T38" fmla="*/ 152 w 178"/>
                  <a:gd name="T39" fmla="*/ 39 h 72"/>
                  <a:gd name="T40" fmla="*/ 152 w 178"/>
                  <a:gd name="T41" fmla="*/ 32 h 72"/>
                  <a:gd name="T42" fmla="*/ 158 w 178"/>
                  <a:gd name="T43" fmla="*/ 26 h 72"/>
                  <a:gd name="T44" fmla="*/ 158 w 178"/>
                  <a:gd name="T45" fmla="*/ 19 h 72"/>
                  <a:gd name="T46" fmla="*/ 164 w 178"/>
                  <a:gd name="T47" fmla="*/ 19 h 72"/>
                  <a:gd name="T48" fmla="*/ 171 w 178"/>
                  <a:gd name="T49" fmla="*/ 13 h 72"/>
                  <a:gd name="T50" fmla="*/ 177 w 178"/>
                  <a:gd name="T51" fmla="*/ 6 h 72"/>
                  <a:gd name="T52" fmla="*/ 177 w 178"/>
                  <a:gd name="T53" fmla="*/ 6 h 72"/>
                  <a:gd name="T54" fmla="*/ 171 w 178"/>
                  <a:gd name="T55" fmla="*/ 6 h 72"/>
                  <a:gd name="T56" fmla="*/ 158 w 178"/>
                  <a:gd name="T57" fmla="*/ 13 h 72"/>
                  <a:gd name="T58" fmla="*/ 145 w 178"/>
                  <a:gd name="T59" fmla="*/ 19 h 72"/>
                  <a:gd name="T60" fmla="*/ 107 w 178"/>
                  <a:gd name="T61" fmla="*/ 13 h 72"/>
                  <a:gd name="T62" fmla="*/ 76 w 178"/>
                  <a:gd name="T63" fmla="*/ 19 h 72"/>
                  <a:gd name="T64" fmla="*/ 44 w 178"/>
                  <a:gd name="T65" fmla="*/ 6 h 72"/>
                  <a:gd name="T66" fmla="*/ 6 w 178"/>
                  <a:gd name="T67" fmla="*/ 0 h 72"/>
                  <a:gd name="T68" fmla="*/ 0 w 178"/>
                  <a:gd name="T69" fmla="*/ 6 h 72"/>
                  <a:gd name="T70" fmla="*/ 0 w 178"/>
                  <a:gd name="T71" fmla="*/ 6 h 7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78"/>
                  <a:gd name="T109" fmla="*/ 0 h 72"/>
                  <a:gd name="T110" fmla="*/ 178 w 178"/>
                  <a:gd name="T111" fmla="*/ 72 h 7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78" h="72">
                    <a:moveTo>
                      <a:pt x="0" y="6"/>
                    </a:moveTo>
                    <a:lnTo>
                      <a:pt x="6" y="13"/>
                    </a:lnTo>
                    <a:lnTo>
                      <a:pt x="19" y="19"/>
                    </a:lnTo>
                    <a:lnTo>
                      <a:pt x="38" y="32"/>
                    </a:lnTo>
                    <a:lnTo>
                      <a:pt x="57" y="45"/>
                    </a:lnTo>
                    <a:lnTo>
                      <a:pt x="95" y="52"/>
                    </a:lnTo>
                    <a:lnTo>
                      <a:pt x="107" y="71"/>
                    </a:lnTo>
                    <a:lnTo>
                      <a:pt x="101" y="58"/>
                    </a:lnTo>
                    <a:lnTo>
                      <a:pt x="101" y="52"/>
                    </a:lnTo>
                    <a:lnTo>
                      <a:pt x="107" y="52"/>
                    </a:lnTo>
                    <a:lnTo>
                      <a:pt x="114" y="52"/>
                    </a:lnTo>
                    <a:lnTo>
                      <a:pt x="120" y="45"/>
                    </a:lnTo>
                    <a:lnTo>
                      <a:pt x="126" y="45"/>
                    </a:lnTo>
                    <a:lnTo>
                      <a:pt x="133" y="45"/>
                    </a:lnTo>
                    <a:lnTo>
                      <a:pt x="139" y="45"/>
                    </a:lnTo>
                    <a:lnTo>
                      <a:pt x="145" y="45"/>
                    </a:lnTo>
                    <a:lnTo>
                      <a:pt x="152" y="39"/>
                    </a:lnTo>
                    <a:lnTo>
                      <a:pt x="152" y="32"/>
                    </a:lnTo>
                    <a:lnTo>
                      <a:pt x="158" y="26"/>
                    </a:lnTo>
                    <a:lnTo>
                      <a:pt x="158" y="19"/>
                    </a:lnTo>
                    <a:lnTo>
                      <a:pt x="164" y="19"/>
                    </a:lnTo>
                    <a:lnTo>
                      <a:pt x="171" y="13"/>
                    </a:lnTo>
                    <a:lnTo>
                      <a:pt x="177" y="6"/>
                    </a:lnTo>
                    <a:lnTo>
                      <a:pt x="171" y="6"/>
                    </a:lnTo>
                    <a:lnTo>
                      <a:pt x="158" y="13"/>
                    </a:lnTo>
                    <a:lnTo>
                      <a:pt x="145" y="19"/>
                    </a:lnTo>
                    <a:lnTo>
                      <a:pt x="107" y="13"/>
                    </a:lnTo>
                    <a:lnTo>
                      <a:pt x="76" y="19"/>
                    </a:lnTo>
                    <a:lnTo>
                      <a:pt x="44" y="6"/>
                    </a:lnTo>
                    <a:lnTo>
                      <a:pt x="6" y="0"/>
                    </a:lnTo>
                    <a:lnTo>
                      <a:pt x="0" y="6"/>
                    </a:lnTo>
                    <a:close/>
                  </a:path>
                </a:pathLst>
              </a:custGeom>
              <a:solidFill>
                <a:srgbClr val="FFFFFF"/>
              </a:solidFill>
              <a:ln w="3175" cap="flat">
                <a:solidFill>
                  <a:srgbClr val="000000"/>
                </a:solidFill>
                <a:prstDash val="solid"/>
                <a:round/>
                <a:headEnd/>
                <a:tailEnd/>
              </a:ln>
            </p:spPr>
            <p:txBody>
              <a:bodyPr wrap="none" anchor="ctr">
                <a:spAutoFit/>
              </a:bodyPr>
              <a:lstStyle/>
              <a:p>
                <a:endParaRPr lang="zh-CN" altLang="en-US"/>
              </a:p>
            </p:txBody>
          </p:sp>
          <p:sp>
            <p:nvSpPr>
              <p:cNvPr id="52242" name="Freeform 20"/>
              <p:cNvSpPr>
                <a:spLocks/>
              </p:cNvSpPr>
              <p:nvPr/>
            </p:nvSpPr>
            <p:spPr bwMode="auto">
              <a:xfrm>
                <a:off x="2781" y="3290"/>
                <a:ext cx="178" cy="72"/>
              </a:xfrm>
              <a:custGeom>
                <a:avLst/>
                <a:gdLst>
                  <a:gd name="T0" fmla="*/ 0 w 178"/>
                  <a:gd name="T1" fmla="*/ 6 h 72"/>
                  <a:gd name="T2" fmla="*/ 6 w 178"/>
                  <a:gd name="T3" fmla="*/ 13 h 72"/>
                  <a:gd name="T4" fmla="*/ 19 w 178"/>
                  <a:gd name="T5" fmla="*/ 19 h 72"/>
                  <a:gd name="T6" fmla="*/ 38 w 178"/>
                  <a:gd name="T7" fmla="*/ 32 h 72"/>
                  <a:gd name="T8" fmla="*/ 57 w 178"/>
                  <a:gd name="T9" fmla="*/ 45 h 72"/>
                  <a:gd name="T10" fmla="*/ 95 w 178"/>
                  <a:gd name="T11" fmla="*/ 52 h 72"/>
                  <a:gd name="T12" fmla="*/ 107 w 178"/>
                  <a:gd name="T13" fmla="*/ 71 h 72"/>
                  <a:gd name="T14" fmla="*/ 101 w 178"/>
                  <a:gd name="T15" fmla="*/ 58 h 72"/>
                  <a:gd name="T16" fmla="*/ 101 w 178"/>
                  <a:gd name="T17" fmla="*/ 52 h 72"/>
                  <a:gd name="T18" fmla="*/ 107 w 178"/>
                  <a:gd name="T19" fmla="*/ 52 h 72"/>
                  <a:gd name="T20" fmla="*/ 114 w 178"/>
                  <a:gd name="T21" fmla="*/ 52 h 72"/>
                  <a:gd name="T22" fmla="*/ 120 w 178"/>
                  <a:gd name="T23" fmla="*/ 45 h 72"/>
                  <a:gd name="T24" fmla="*/ 126 w 178"/>
                  <a:gd name="T25" fmla="*/ 45 h 72"/>
                  <a:gd name="T26" fmla="*/ 133 w 178"/>
                  <a:gd name="T27" fmla="*/ 45 h 72"/>
                  <a:gd name="T28" fmla="*/ 139 w 178"/>
                  <a:gd name="T29" fmla="*/ 45 h 72"/>
                  <a:gd name="T30" fmla="*/ 145 w 178"/>
                  <a:gd name="T31" fmla="*/ 45 h 72"/>
                  <a:gd name="T32" fmla="*/ 152 w 178"/>
                  <a:gd name="T33" fmla="*/ 39 h 72"/>
                  <a:gd name="T34" fmla="*/ 152 w 178"/>
                  <a:gd name="T35" fmla="*/ 32 h 72"/>
                  <a:gd name="T36" fmla="*/ 158 w 178"/>
                  <a:gd name="T37" fmla="*/ 26 h 72"/>
                  <a:gd name="T38" fmla="*/ 158 w 178"/>
                  <a:gd name="T39" fmla="*/ 19 h 72"/>
                  <a:gd name="T40" fmla="*/ 164 w 178"/>
                  <a:gd name="T41" fmla="*/ 19 h 72"/>
                  <a:gd name="T42" fmla="*/ 171 w 178"/>
                  <a:gd name="T43" fmla="*/ 13 h 72"/>
                  <a:gd name="T44" fmla="*/ 177 w 178"/>
                  <a:gd name="T45" fmla="*/ 6 h 72"/>
                  <a:gd name="T46" fmla="*/ 171 w 178"/>
                  <a:gd name="T47" fmla="*/ 6 h 72"/>
                  <a:gd name="T48" fmla="*/ 158 w 178"/>
                  <a:gd name="T49" fmla="*/ 13 h 72"/>
                  <a:gd name="T50" fmla="*/ 145 w 178"/>
                  <a:gd name="T51" fmla="*/ 19 h 72"/>
                  <a:gd name="T52" fmla="*/ 107 w 178"/>
                  <a:gd name="T53" fmla="*/ 13 h 72"/>
                  <a:gd name="T54" fmla="*/ 76 w 178"/>
                  <a:gd name="T55" fmla="*/ 19 h 72"/>
                  <a:gd name="T56" fmla="*/ 44 w 178"/>
                  <a:gd name="T57" fmla="*/ 6 h 72"/>
                  <a:gd name="T58" fmla="*/ 6 w 178"/>
                  <a:gd name="T59" fmla="*/ 0 h 72"/>
                  <a:gd name="T60" fmla="*/ 0 w 178"/>
                  <a:gd name="T61" fmla="*/ 6 h 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8"/>
                  <a:gd name="T94" fmla="*/ 0 h 72"/>
                  <a:gd name="T95" fmla="*/ 178 w 178"/>
                  <a:gd name="T96" fmla="*/ 72 h 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8" h="72">
                    <a:moveTo>
                      <a:pt x="0" y="6"/>
                    </a:moveTo>
                    <a:lnTo>
                      <a:pt x="6" y="13"/>
                    </a:lnTo>
                    <a:lnTo>
                      <a:pt x="19" y="19"/>
                    </a:lnTo>
                    <a:lnTo>
                      <a:pt x="38" y="32"/>
                    </a:lnTo>
                    <a:lnTo>
                      <a:pt x="57" y="45"/>
                    </a:lnTo>
                    <a:lnTo>
                      <a:pt x="95" y="52"/>
                    </a:lnTo>
                    <a:lnTo>
                      <a:pt x="107" y="71"/>
                    </a:lnTo>
                    <a:lnTo>
                      <a:pt x="101" y="58"/>
                    </a:lnTo>
                    <a:lnTo>
                      <a:pt x="101" y="52"/>
                    </a:lnTo>
                    <a:lnTo>
                      <a:pt x="107" y="52"/>
                    </a:lnTo>
                    <a:lnTo>
                      <a:pt x="114" y="52"/>
                    </a:lnTo>
                    <a:lnTo>
                      <a:pt x="120" y="45"/>
                    </a:lnTo>
                    <a:lnTo>
                      <a:pt x="126" y="45"/>
                    </a:lnTo>
                    <a:lnTo>
                      <a:pt x="133" y="45"/>
                    </a:lnTo>
                    <a:lnTo>
                      <a:pt x="139" y="45"/>
                    </a:lnTo>
                    <a:lnTo>
                      <a:pt x="145" y="45"/>
                    </a:lnTo>
                    <a:lnTo>
                      <a:pt x="152" y="39"/>
                    </a:lnTo>
                    <a:lnTo>
                      <a:pt x="152" y="32"/>
                    </a:lnTo>
                    <a:lnTo>
                      <a:pt x="158" y="26"/>
                    </a:lnTo>
                    <a:lnTo>
                      <a:pt x="158" y="19"/>
                    </a:lnTo>
                    <a:lnTo>
                      <a:pt x="164" y="19"/>
                    </a:lnTo>
                    <a:lnTo>
                      <a:pt x="171" y="13"/>
                    </a:lnTo>
                    <a:lnTo>
                      <a:pt x="177" y="6"/>
                    </a:lnTo>
                    <a:lnTo>
                      <a:pt x="171" y="6"/>
                    </a:lnTo>
                    <a:lnTo>
                      <a:pt x="158" y="13"/>
                    </a:lnTo>
                    <a:lnTo>
                      <a:pt x="145" y="19"/>
                    </a:lnTo>
                    <a:lnTo>
                      <a:pt x="107" y="13"/>
                    </a:lnTo>
                    <a:lnTo>
                      <a:pt x="76" y="19"/>
                    </a:lnTo>
                    <a:lnTo>
                      <a:pt x="44" y="6"/>
                    </a:lnTo>
                    <a:lnTo>
                      <a:pt x="6" y="0"/>
                    </a:lnTo>
                    <a:lnTo>
                      <a:pt x="0" y="6"/>
                    </a:lnTo>
                    <a:close/>
                  </a:path>
                </a:pathLst>
              </a:custGeom>
              <a:solidFill>
                <a:srgbClr val="FFFFFF"/>
              </a:solidFill>
              <a:ln w="3175" cap="flat">
                <a:solidFill>
                  <a:srgbClr val="000000"/>
                </a:solidFill>
                <a:prstDash val="solid"/>
                <a:round/>
                <a:headEnd/>
                <a:tailEnd/>
              </a:ln>
            </p:spPr>
            <p:txBody>
              <a:bodyPr wrap="none" anchor="ctr">
                <a:spAutoFit/>
              </a:bodyPr>
              <a:lstStyle/>
              <a:p>
                <a:endParaRPr lang="zh-CN" altLang="en-US"/>
              </a:p>
            </p:txBody>
          </p:sp>
          <p:sp>
            <p:nvSpPr>
              <p:cNvPr id="52243" name="Freeform 21"/>
              <p:cNvSpPr>
                <a:spLocks/>
              </p:cNvSpPr>
              <p:nvPr/>
            </p:nvSpPr>
            <p:spPr bwMode="auto">
              <a:xfrm>
                <a:off x="2831" y="3544"/>
                <a:ext cx="46" cy="170"/>
              </a:xfrm>
              <a:custGeom>
                <a:avLst/>
                <a:gdLst>
                  <a:gd name="T0" fmla="*/ 0 w 46"/>
                  <a:gd name="T1" fmla="*/ 0 h 170"/>
                  <a:gd name="T2" fmla="*/ 19 w 46"/>
                  <a:gd name="T3" fmla="*/ 169 h 170"/>
                  <a:gd name="T4" fmla="*/ 19 w 46"/>
                  <a:gd name="T5" fmla="*/ 169 h 170"/>
                  <a:gd name="T6" fmla="*/ 45 w 46"/>
                  <a:gd name="T7" fmla="*/ 45 h 170"/>
                  <a:gd name="T8" fmla="*/ 32 w 46"/>
                  <a:gd name="T9" fmla="*/ 32 h 170"/>
                  <a:gd name="T10" fmla="*/ 19 w 46"/>
                  <a:gd name="T11" fmla="*/ 65 h 170"/>
                  <a:gd name="T12" fmla="*/ 0 w 46"/>
                  <a:gd name="T13" fmla="*/ 0 h 170"/>
                  <a:gd name="T14" fmla="*/ 0 w 46"/>
                  <a:gd name="T15" fmla="*/ 0 h 170"/>
                  <a:gd name="T16" fmla="*/ 0 60000 65536"/>
                  <a:gd name="T17" fmla="*/ 0 60000 65536"/>
                  <a:gd name="T18" fmla="*/ 0 60000 65536"/>
                  <a:gd name="T19" fmla="*/ 0 60000 65536"/>
                  <a:gd name="T20" fmla="*/ 0 60000 65536"/>
                  <a:gd name="T21" fmla="*/ 0 60000 65536"/>
                  <a:gd name="T22" fmla="*/ 0 60000 65536"/>
                  <a:gd name="T23" fmla="*/ 0 60000 65536"/>
                  <a:gd name="T24" fmla="*/ 0 w 46"/>
                  <a:gd name="T25" fmla="*/ 0 h 170"/>
                  <a:gd name="T26" fmla="*/ 46 w 46"/>
                  <a:gd name="T27" fmla="*/ 170 h 17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 h="170">
                    <a:moveTo>
                      <a:pt x="0" y="0"/>
                    </a:moveTo>
                    <a:lnTo>
                      <a:pt x="19" y="169"/>
                    </a:lnTo>
                    <a:lnTo>
                      <a:pt x="45" y="45"/>
                    </a:lnTo>
                    <a:lnTo>
                      <a:pt x="32" y="32"/>
                    </a:lnTo>
                    <a:lnTo>
                      <a:pt x="19" y="65"/>
                    </a:lnTo>
                    <a:lnTo>
                      <a:pt x="0" y="0"/>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44" name="Freeform 22"/>
              <p:cNvSpPr>
                <a:spLocks/>
              </p:cNvSpPr>
              <p:nvPr/>
            </p:nvSpPr>
            <p:spPr bwMode="auto">
              <a:xfrm>
                <a:off x="3110" y="3322"/>
                <a:ext cx="133" cy="171"/>
              </a:xfrm>
              <a:custGeom>
                <a:avLst/>
                <a:gdLst>
                  <a:gd name="T0" fmla="*/ 120 w 133"/>
                  <a:gd name="T1" fmla="*/ 33 h 171"/>
                  <a:gd name="T2" fmla="*/ 107 w 133"/>
                  <a:gd name="T3" fmla="*/ 33 h 171"/>
                  <a:gd name="T4" fmla="*/ 82 w 133"/>
                  <a:gd name="T5" fmla="*/ 20 h 171"/>
                  <a:gd name="T6" fmla="*/ 50 w 133"/>
                  <a:gd name="T7" fmla="*/ 13 h 171"/>
                  <a:gd name="T8" fmla="*/ 31 w 133"/>
                  <a:gd name="T9" fmla="*/ 0 h 171"/>
                  <a:gd name="T10" fmla="*/ 50 w 133"/>
                  <a:gd name="T11" fmla="*/ 13 h 171"/>
                  <a:gd name="T12" fmla="*/ 76 w 133"/>
                  <a:gd name="T13" fmla="*/ 26 h 171"/>
                  <a:gd name="T14" fmla="*/ 101 w 133"/>
                  <a:gd name="T15" fmla="*/ 39 h 171"/>
                  <a:gd name="T16" fmla="*/ 126 w 133"/>
                  <a:gd name="T17" fmla="*/ 39 h 171"/>
                  <a:gd name="T18" fmla="*/ 126 w 133"/>
                  <a:gd name="T19" fmla="*/ 59 h 171"/>
                  <a:gd name="T20" fmla="*/ 120 w 133"/>
                  <a:gd name="T21" fmla="*/ 65 h 171"/>
                  <a:gd name="T22" fmla="*/ 101 w 133"/>
                  <a:gd name="T23" fmla="*/ 78 h 171"/>
                  <a:gd name="T24" fmla="*/ 82 w 133"/>
                  <a:gd name="T25" fmla="*/ 85 h 171"/>
                  <a:gd name="T26" fmla="*/ 38 w 133"/>
                  <a:gd name="T27" fmla="*/ 59 h 171"/>
                  <a:gd name="T28" fmla="*/ 25 w 133"/>
                  <a:gd name="T29" fmla="*/ 46 h 171"/>
                  <a:gd name="T30" fmla="*/ 38 w 133"/>
                  <a:gd name="T31" fmla="*/ 59 h 171"/>
                  <a:gd name="T32" fmla="*/ 82 w 133"/>
                  <a:gd name="T33" fmla="*/ 91 h 171"/>
                  <a:gd name="T34" fmla="*/ 82 w 133"/>
                  <a:gd name="T35" fmla="*/ 91 h 171"/>
                  <a:gd name="T36" fmla="*/ 82 w 133"/>
                  <a:gd name="T37" fmla="*/ 98 h 171"/>
                  <a:gd name="T38" fmla="*/ 76 w 133"/>
                  <a:gd name="T39" fmla="*/ 98 h 171"/>
                  <a:gd name="T40" fmla="*/ 57 w 133"/>
                  <a:gd name="T41" fmla="*/ 117 h 171"/>
                  <a:gd name="T42" fmla="*/ 44 w 133"/>
                  <a:gd name="T43" fmla="*/ 143 h 171"/>
                  <a:gd name="T44" fmla="*/ 31 w 133"/>
                  <a:gd name="T45" fmla="*/ 143 h 171"/>
                  <a:gd name="T46" fmla="*/ 25 w 133"/>
                  <a:gd name="T47" fmla="*/ 156 h 171"/>
                  <a:gd name="T48" fmla="*/ 25 w 133"/>
                  <a:gd name="T49" fmla="*/ 156 h 171"/>
                  <a:gd name="T50" fmla="*/ 0 w 133"/>
                  <a:gd name="T51" fmla="*/ 150 h 171"/>
                  <a:gd name="T52" fmla="*/ 0 w 133"/>
                  <a:gd name="T53" fmla="*/ 163 h 171"/>
                  <a:gd name="T54" fmla="*/ 12 w 133"/>
                  <a:gd name="T55" fmla="*/ 170 h 171"/>
                  <a:gd name="T56" fmla="*/ 31 w 133"/>
                  <a:gd name="T57" fmla="*/ 170 h 171"/>
                  <a:gd name="T58" fmla="*/ 76 w 133"/>
                  <a:gd name="T59" fmla="*/ 117 h 171"/>
                  <a:gd name="T60" fmla="*/ 82 w 133"/>
                  <a:gd name="T61" fmla="*/ 117 h 171"/>
                  <a:gd name="T62" fmla="*/ 88 w 133"/>
                  <a:gd name="T63" fmla="*/ 104 h 171"/>
                  <a:gd name="T64" fmla="*/ 95 w 133"/>
                  <a:gd name="T65" fmla="*/ 104 h 171"/>
                  <a:gd name="T66" fmla="*/ 95 w 133"/>
                  <a:gd name="T67" fmla="*/ 98 h 171"/>
                  <a:gd name="T68" fmla="*/ 114 w 133"/>
                  <a:gd name="T69" fmla="*/ 91 h 171"/>
                  <a:gd name="T70" fmla="*/ 126 w 133"/>
                  <a:gd name="T71" fmla="*/ 72 h 171"/>
                  <a:gd name="T72" fmla="*/ 132 w 133"/>
                  <a:gd name="T73" fmla="*/ 59 h 171"/>
                  <a:gd name="T74" fmla="*/ 132 w 133"/>
                  <a:gd name="T75" fmla="*/ 39 h 171"/>
                  <a:gd name="T76" fmla="*/ 120 w 133"/>
                  <a:gd name="T77" fmla="*/ 33 h 171"/>
                  <a:gd name="T78" fmla="*/ 120 w 133"/>
                  <a:gd name="T79" fmla="*/ 33 h 17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33"/>
                  <a:gd name="T121" fmla="*/ 0 h 171"/>
                  <a:gd name="T122" fmla="*/ 133 w 133"/>
                  <a:gd name="T123" fmla="*/ 171 h 17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33" h="171">
                    <a:moveTo>
                      <a:pt x="120" y="33"/>
                    </a:moveTo>
                    <a:lnTo>
                      <a:pt x="107" y="33"/>
                    </a:lnTo>
                    <a:lnTo>
                      <a:pt x="82" y="20"/>
                    </a:lnTo>
                    <a:lnTo>
                      <a:pt x="50" y="13"/>
                    </a:lnTo>
                    <a:lnTo>
                      <a:pt x="31" y="0"/>
                    </a:lnTo>
                    <a:lnTo>
                      <a:pt x="50" y="13"/>
                    </a:lnTo>
                    <a:lnTo>
                      <a:pt x="76" y="26"/>
                    </a:lnTo>
                    <a:lnTo>
                      <a:pt x="101" y="39"/>
                    </a:lnTo>
                    <a:lnTo>
                      <a:pt x="126" y="39"/>
                    </a:lnTo>
                    <a:lnTo>
                      <a:pt x="126" y="59"/>
                    </a:lnTo>
                    <a:lnTo>
                      <a:pt x="120" y="65"/>
                    </a:lnTo>
                    <a:lnTo>
                      <a:pt x="101" y="78"/>
                    </a:lnTo>
                    <a:lnTo>
                      <a:pt x="82" y="85"/>
                    </a:lnTo>
                    <a:lnTo>
                      <a:pt x="38" y="59"/>
                    </a:lnTo>
                    <a:lnTo>
                      <a:pt x="25" y="46"/>
                    </a:lnTo>
                    <a:lnTo>
                      <a:pt x="38" y="59"/>
                    </a:lnTo>
                    <a:lnTo>
                      <a:pt x="82" y="91"/>
                    </a:lnTo>
                    <a:lnTo>
                      <a:pt x="82" y="98"/>
                    </a:lnTo>
                    <a:lnTo>
                      <a:pt x="76" y="98"/>
                    </a:lnTo>
                    <a:lnTo>
                      <a:pt x="57" y="117"/>
                    </a:lnTo>
                    <a:lnTo>
                      <a:pt x="44" y="143"/>
                    </a:lnTo>
                    <a:lnTo>
                      <a:pt x="31" y="143"/>
                    </a:lnTo>
                    <a:lnTo>
                      <a:pt x="25" y="156"/>
                    </a:lnTo>
                    <a:lnTo>
                      <a:pt x="0" y="150"/>
                    </a:lnTo>
                    <a:lnTo>
                      <a:pt x="0" y="163"/>
                    </a:lnTo>
                    <a:lnTo>
                      <a:pt x="12" y="170"/>
                    </a:lnTo>
                    <a:lnTo>
                      <a:pt x="31" y="170"/>
                    </a:lnTo>
                    <a:lnTo>
                      <a:pt x="76" y="117"/>
                    </a:lnTo>
                    <a:lnTo>
                      <a:pt x="82" y="117"/>
                    </a:lnTo>
                    <a:lnTo>
                      <a:pt x="88" y="104"/>
                    </a:lnTo>
                    <a:lnTo>
                      <a:pt x="95" y="104"/>
                    </a:lnTo>
                    <a:lnTo>
                      <a:pt x="95" y="98"/>
                    </a:lnTo>
                    <a:lnTo>
                      <a:pt x="114" y="91"/>
                    </a:lnTo>
                    <a:lnTo>
                      <a:pt x="126" y="72"/>
                    </a:lnTo>
                    <a:lnTo>
                      <a:pt x="132" y="59"/>
                    </a:lnTo>
                    <a:lnTo>
                      <a:pt x="132" y="39"/>
                    </a:lnTo>
                    <a:lnTo>
                      <a:pt x="120" y="33"/>
                    </a:lnTo>
                    <a:close/>
                  </a:path>
                </a:pathLst>
              </a:custGeom>
              <a:solidFill>
                <a:srgbClr val="FFFFFF"/>
              </a:solidFill>
              <a:ln w="3175" cap="flat">
                <a:solidFill>
                  <a:srgbClr val="000000"/>
                </a:solidFill>
                <a:prstDash val="solid"/>
                <a:round/>
                <a:headEnd/>
                <a:tailEnd/>
              </a:ln>
            </p:spPr>
            <p:txBody>
              <a:bodyPr wrap="none" anchor="ctr">
                <a:spAutoFit/>
              </a:bodyPr>
              <a:lstStyle/>
              <a:p>
                <a:endParaRPr lang="zh-CN" altLang="en-US"/>
              </a:p>
            </p:txBody>
          </p:sp>
          <p:sp>
            <p:nvSpPr>
              <p:cNvPr id="52245" name="Freeform 23"/>
              <p:cNvSpPr>
                <a:spLocks/>
              </p:cNvSpPr>
              <p:nvPr/>
            </p:nvSpPr>
            <p:spPr bwMode="auto">
              <a:xfrm>
                <a:off x="2787" y="3283"/>
                <a:ext cx="166" cy="27"/>
              </a:xfrm>
              <a:custGeom>
                <a:avLst/>
                <a:gdLst>
                  <a:gd name="T0" fmla="*/ 165 w 166"/>
                  <a:gd name="T1" fmla="*/ 13 h 27"/>
                  <a:gd name="T2" fmla="*/ 146 w 166"/>
                  <a:gd name="T3" fmla="*/ 7 h 27"/>
                  <a:gd name="T4" fmla="*/ 127 w 166"/>
                  <a:gd name="T5" fmla="*/ 13 h 27"/>
                  <a:gd name="T6" fmla="*/ 70 w 166"/>
                  <a:gd name="T7" fmla="*/ 7 h 27"/>
                  <a:gd name="T8" fmla="*/ 19 w 166"/>
                  <a:gd name="T9" fmla="*/ 0 h 27"/>
                  <a:gd name="T10" fmla="*/ 0 w 166"/>
                  <a:gd name="T11" fmla="*/ 7 h 27"/>
                  <a:gd name="T12" fmla="*/ 38 w 166"/>
                  <a:gd name="T13" fmla="*/ 13 h 27"/>
                  <a:gd name="T14" fmla="*/ 70 w 166"/>
                  <a:gd name="T15" fmla="*/ 26 h 27"/>
                  <a:gd name="T16" fmla="*/ 89 w 166"/>
                  <a:gd name="T17" fmla="*/ 20 h 27"/>
                  <a:gd name="T18" fmla="*/ 114 w 166"/>
                  <a:gd name="T19" fmla="*/ 26 h 27"/>
                  <a:gd name="T20" fmla="*/ 139 w 166"/>
                  <a:gd name="T21" fmla="*/ 26 h 27"/>
                  <a:gd name="T22" fmla="*/ 165 w 166"/>
                  <a:gd name="T23" fmla="*/ 13 h 27"/>
                  <a:gd name="T24" fmla="*/ 165 w 166"/>
                  <a:gd name="T25" fmla="*/ 13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6"/>
                  <a:gd name="T40" fmla="*/ 0 h 27"/>
                  <a:gd name="T41" fmla="*/ 166 w 166"/>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6" h="27">
                    <a:moveTo>
                      <a:pt x="165" y="13"/>
                    </a:moveTo>
                    <a:lnTo>
                      <a:pt x="146" y="7"/>
                    </a:lnTo>
                    <a:lnTo>
                      <a:pt x="127" y="13"/>
                    </a:lnTo>
                    <a:lnTo>
                      <a:pt x="70" y="7"/>
                    </a:lnTo>
                    <a:lnTo>
                      <a:pt x="19" y="0"/>
                    </a:lnTo>
                    <a:lnTo>
                      <a:pt x="0" y="7"/>
                    </a:lnTo>
                    <a:lnTo>
                      <a:pt x="38" y="13"/>
                    </a:lnTo>
                    <a:lnTo>
                      <a:pt x="70" y="26"/>
                    </a:lnTo>
                    <a:lnTo>
                      <a:pt x="89" y="20"/>
                    </a:lnTo>
                    <a:lnTo>
                      <a:pt x="114" y="26"/>
                    </a:lnTo>
                    <a:lnTo>
                      <a:pt x="139" y="26"/>
                    </a:lnTo>
                    <a:lnTo>
                      <a:pt x="165" y="13"/>
                    </a:lnTo>
                    <a:close/>
                  </a:path>
                </a:pathLst>
              </a:custGeom>
              <a:solidFill>
                <a:srgbClr val="FFFFFF"/>
              </a:solidFill>
              <a:ln w="3175" cap="flat">
                <a:solidFill>
                  <a:srgbClr val="000000"/>
                </a:solidFill>
                <a:prstDash val="solid"/>
                <a:round/>
                <a:headEnd/>
                <a:tailEnd/>
              </a:ln>
            </p:spPr>
            <p:txBody>
              <a:bodyPr wrap="none" anchor="ctr">
                <a:spAutoFit/>
              </a:bodyPr>
              <a:lstStyle/>
              <a:p>
                <a:endParaRPr lang="zh-CN" altLang="en-US"/>
              </a:p>
            </p:txBody>
          </p:sp>
          <p:sp>
            <p:nvSpPr>
              <p:cNvPr id="52246" name="Freeform 24"/>
              <p:cNvSpPr>
                <a:spLocks/>
              </p:cNvSpPr>
              <p:nvPr/>
            </p:nvSpPr>
            <p:spPr bwMode="auto">
              <a:xfrm>
                <a:off x="3110" y="3361"/>
                <a:ext cx="152" cy="158"/>
              </a:xfrm>
              <a:custGeom>
                <a:avLst/>
                <a:gdLst>
                  <a:gd name="T0" fmla="*/ 132 w 152"/>
                  <a:gd name="T1" fmla="*/ 0 h 158"/>
                  <a:gd name="T2" fmla="*/ 132 w 152"/>
                  <a:gd name="T3" fmla="*/ 20 h 158"/>
                  <a:gd name="T4" fmla="*/ 126 w 152"/>
                  <a:gd name="T5" fmla="*/ 33 h 158"/>
                  <a:gd name="T6" fmla="*/ 114 w 152"/>
                  <a:gd name="T7" fmla="*/ 52 h 158"/>
                  <a:gd name="T8" fmla="*/ 95 w 152"/>
                  <a:gd name="T9" fmla="*/ 59 h 158"/>
                  <a:gd name="T10" fmla="*/ 95 w 152"/>
                  <a:gd name="T11" fmla="*/ 65 h 158"/>
                  <a:gd name="T12" fmla="*/ 88 w 152"/>
                  <a:gd name="T13" fmla="*/ 65 h 158"/>
                  <a:gd name="T14" fmla="*/ 82 w 152"/>
                  <a:gd name="T15" fmla="*/ 78 h 158"/>
                  <a:gd name="T16" fmla="*/ 76 w 152"/>
                  <a:gd name="T17" fmla="*/ 78 h 158"/>
                  <a:gd name="T18" fmla="*/ 31 w 152"/>
                  <a:gd name="T19" fmla="*/ 131 h 158"/>
                  <a:gd name="T20" fmla="*/ 12 w 152"/>
                  <a:gd name="T21" fmla="*/ 131 h 158"/>
                  <a:gd name="T22" fmla="*/ 0 w 152"/>
                  <a:gd name="T23" fmla="*/ 124 h 158"/>
                  <a:gd name="T24" fmla="*/ 0 w 152"/>
                  <a:gd name="T25" fmla="*/ 144 h 158"/>
                  <a:gd name="T26" fmla="*/ 0 w 152"/>
                  <a:gd name="T27" fmla="*/ 157 h 158"/>
                  <a:gd name="T28" fmla="*/ 38 w 152"/>
                  <a:gd name="T29" fmla="*/ 157 h 158"/>
                  <a:gd name="T30" fmla="*/ 50 w 152"/>
                  <a:gd name="T31" fmla="*/ 131 h 158"/>
                  <a:gd name="T32" fmla="*/ 69 w 152"/>
                  <a:gd name="T33" fmla="*/ 111 h 158"/>
                  <a:gd name="T34" fmla="*/ 107 w 152"/>
                  <a:gd name="T35" fmla="*/ 78 h 158"/>
                  <a:gd name="T36" fmla="*/ 120 w 152"/>
                  <a:gd name="T37" fmla="*/ 59 h 158"/>
                  <a:gd name="T38" fmla="*/ 132 w 152"/>
                  <a:gd name="T39" fmla="*/ 46 h 158"/>
                  <a:gd name="T40" fmla="*/ 151 w 152"/>
                  <a:gd name="T41" fmla="*/ 33 h 158"/>
                  <a:gd name="T42" fmla="*/ 151 w 152"/>
                  <a:gd name="T43" fmla="*/ 26 h 158"/>
                  <a:gd name="T44" fmla="*/ 151 w 152"/>
                  <a:gd name="T45" fmla="*/ 13 h 158"/>
                  <a:gd name="T46" fmla="*/ 145 w 152"/>
                  <a:gd name="T47" fmla="*/ 0 h 158"/>
                  <a:gd name="T48" fmla="*/ 132 w 152"/>
                  <a:gd name="T49" fmla="*/ 0 h 158"/>
                  <a:gd name="T50" fmla="*/ 132 w 152"/>
                  <a:gd name="T51" fmla="*/ 0 h 15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2"/>
                  <a:gd name="T79" fmla="*/ 0 h 158"/>
                  <a:gd name="T80" fmla="*/ 152 w 152"/>
                  <a:gd name="T81" fmla="*/ 158 h 15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2" h="158">
                    <a:moveTo>
                      <a:pt x="132" y="0"/>
                    </a:moveTo>
                    <a:lnTo>
                      <a:pt x="132" y="20"/>
                    </a:lnTo>
                    <a:lnTo>
                      <a:pt x="126" y="33"/>
                    </a:lnTo>
                    <a:lnTo>
                      <a:pt x="114" y="52"/>
                    </a:lnTo>
                    <a:lnTo>
                      <a:pt x="95" y="59"/>
                    </a:lnTo>
                    <a:lnTo>
                      <a:pt x="95" y="65"/>
                    </a:lnTo>
                    <a:lnTo>
                      <a:pt x="88" y="65"/>
                    </a:lnTo>
                    <a:lnTo>
                      <a:pt x="82" y="78"/>
                    </a:lnTo>
                    <a:lnTo>
                      <a:pt x="76" y="78"/>
                    </a:lnTo>
                    <a:lnTo>
                      <a:pt x="31" y="131"/>
                    </a:lnTo>
                    <a:lnTo>
                      <a:pt x="12" y="131"/>
                    </a:lnTo>
                    <a:lnTo>
                      <a:pt x="0" y="124"/>
                    </a:lnTo>
                    <a:lnTo>
                      <a:pt x="0" y="144"/>
                    </a:lnTo>
                    <a:lnTo>
                      <a:pt x="0" y="157"/>
                    </a:lnTo>
                    <a:lnTo>
                      <a:pt x="38" y="157"/>
                    </a:lnTo>
                    <a:lnTo>
                      <a:pt x="50" y="131"/>
                    </a:lnTo>
                    <a:lnTo>
                      <a:pt x="69" y="111"/>
                    </a:lnTo>
                    <a:lnTo>
                      <a:pt x="107" y="78"/>
                    </a:lnTo>
                    <a:lnTo>
                      <a:pt x="120" y="59"/>
                    </a:lnTo>
                    <a:lnTo>
                      <a:pt x="132" y="46"/>
                    </a:lnTo>
                    <a:lnTo>
                      <a:pt x="151" y="33"/>
                    </a:lnTo>
                    <a:lnTo>
                      <a:pt x="151" y="26"/>
                    </a:lnTo>
                    <a:lnTo>
                      <a:pt x="151" y="13"/>
                    </a:lnTo>
                    <a:lnTo>
                      <a:pt x="145" y="0"/>
                    </a:lnTo>
                    <a:lnTo>
                      <a:pt x="132" y="0"/>
                    </a:lnTo>
                    <a:close/>
                  </a:path>
                </a:pathLst>
              </a:custGeom>
              <a:solidFill>
                <a:srgbClr val="FFFFFF"/>
              </a:solidFill>
              <a:ln w="3175" cap="flat">
                <a:solidFill>
                  <a:srgbClr val="000000"/>
                </a:solidFill>
                <a:prstDash val="solid"/>
                <a:round/>
                <a:headEnd/>
                <a:tailEnd/>
              </a:ln>
            </p:spPr>
            <p:txBody>
              <a:bodyPr wrap="none" anchor="ctr">
                <a:spAutoFit/>
              </a:bodyPr>
              <a:lstStyle/>
              <a:p>
                <a:endParaRPr lang="zh-CN" altLang="en-US"/>
              </a:p>
            </p:txBody>
          </p:sp>
          <p:sp>
            <p:nvSpPr>
              <p:cNvPr id="52247" name="Freeform 25"/>
              <p:cNvSpPr>
                <a:spLocks/>
              </p:cNvSpPr>
              <p:nvPr/>
            </p:nvSpPr>
            <p:spPr bwMode="auto">
              <a:xfrm>
                <a:off x="2812" y="3166"/>
                <a:ext cx="141" cy="112"/>
              </a:xfrm>
              <a:custGeom>
                <a:avLst/>
                <a:gdLst>
                  <a:gd name="T0" fmla="*/ 89 w 141"/>
                  <a:gd name="T1" fmla="*/ 6 h 112"/>
                  <a:gd name="T2" fmla="*/ 83 w 141"/>
                  <a:gd name="T3" fmla="*/ 0 h 112"/>
                  <a:gd name="T4" fmla="*/ 95 w 141"/>
                  <a:gd name="T5" fmla="*/ 13 h 112"/>
                  <a:gd name="T6" fmla="*/ 95 w 141"/>
                  <a:gd name="T7" fmla="*/ 13 h 112"/>
                  <a:gd name="T8" fmla="*/ 114 w 141"/>
                  <a:gd name="T9" fmla="*/ 32 h 112"/>
                  <a:gd name="T10" fmla="*/ 121 w 141"/>
                  <a:gd name="T11" fmla="*/ 52 h 112"/>
                  <a:gd name="T12" fmla="*/ 108 w 141"/>
                  <a:gd name="T13" fmla="*/ 78 h 112"/>
                  <a:gd name="T14" fmla="*/ 95 w 141"/>
                  <a:gd name="T15" fmla="*/ 91 h 112"/>
                  <a:gd name="T16" fmla="*/ 57 w 141"/>
                  <a:gd name="T17" fmla="*/ 91 h 112"/>
                  <a:gd name="T18" fmla="*/ 26 w 141"/>
                  <a:gd name="T19" fmla="*/ 65 h 112"/>
                  <a:gd name="T20" fmla="*/ 26 w 141"/>
                  <a:gd name="T21" fmla="*/ 52 h 112"/>
                  <a:gd name="T22" fmla="*/ 26 w 141"/>
                  <a:gd name="T23" fmla="*/ 39 h 112"/>
                  <a:gd name="T24" fmla="*/ 26 w 141"/>
                  <a:gd name="T25" fmla="*/ 45 h 112"/>
                  <a:gd name="T26" fmla="*/ 19 w 141"/>
                  <a:gd name="T27" fmla="*/ 59 h 112"/>
                  <a:gd name="T28" fmla="*/ 19 w 141"/>
                  <a:gd name="T29" fmla="*/ 65 h 112"/>
                  <a:gd name="T30" fmla="*/ 13 w 141"/>
                  <a:gd name="T31" fmla="*/ 59 h 112"/>
                  <a:gd name="T32" fmla="*/ 7 w 141"/>
                  <a:gd name="T33" fmla="*/ 39 h 112"/>
                  <a:gd name="T34" fmla="*/ 13 w 141"/>
                  <a:gd name="T35" fmla="*/ 26 h 112"/>
                  <a:gd name="T36" fmla="*/ 0 w 141"/>
                  <a:gd name="T37" fmla="*/ 32 h 112"/>
                  <a:gd name="T38" fmla="*/ 0 w 141"/>
                  <a:gd name="T39" fmla="*/ 45 h 112"/>
                  <a:gd name="T40" fmla="*/ 7 w 141"/>
                  <a:gd name="T41" fmla="*/ 59 h 112"/>
                  <a:gd name="T42" fmla="*/ 26 w 141"/>
                  <a:gd name="T43" fmla="*/ 72 h 112"/>
                  <a:gd name="T44" fmla="*/ 26 w 141"/>
                  <a:gd name="T45" fmla="*/ 78 h 112"/>
                  <a:gd name="T46" fmla="*/ 32 w 141"/>
                  <a:gd name="T47" fmla="*/ 91 h 112"/>
                  <a:gd name="T48" fmla="*/ 51 w 141"/>
                  <a:gd name="T49" fmla="*/ 104 h 112"/>
                  <a:gd name="T50" fmla="*/ 76 w 141"/>
                  <a:gd name="T51" fmla="*/ 111 h 112"/>
                  <a:gd name="T52" fmla="*/ 102 w 141"/>
                  <a:gd name="T53" fmla="*/ 104 h 112"/>
                  <a:gd name="T54" fmla="*/ 108 w 141"/>
                  <a:gd name="T55" fmla="*/ 98 h 112"/>
                  <a:gd name="T56" fmla="*/ 114 w 141"/>
                  <a:gd name="T57" fmla="*/ 98 h 112"/>
                  <a:gd name="T58" fmla="*/ 121 w 141"/>
                  <a:gd name="T59" fmla="*/ 91 h 112"/>
                  <a:gd name="T60" fmla="*/ 121 w 141"/>
                  <a:gd name="T61" fmla="*/ 78 h 112"/>
                  <a:gd name="T62" fmla="*/ 133 w 141"/>
                  <a:gd name="T63" fmla="*/ 72 h 112"/>
                  <a:gd name="T64" fmla="*/ 140 w 141"/>
                  <a:gd name="T65" fmla="*/ 65 h 112"/>
                  <a:gd name="T66" fmla="*/ 140 w 141"/>
                  <a:gd name="T67" fmla="*/ 52 h 112"/>
                  <a:gd name="T68" fmla="*/ 140 w 141"/>
                  <a:gd name="T69" fmla="*/ 39 h 112"/>
                  <a:gd name="T70" fmla="*/ 133 w 141"/>
                  <a:gd name="T71" fmla="*/ 19 h 112"/>
                  <a:gd name="T72" fmla="*/ 133 w 141"/>
                  <a:gd name="T73" fmla="*/ 39 h 112"/>
                  <a:gd name="T74" fmla="*/ 133 w 141"/>
                  <a:gd name="T75" fmla="*/ 59 h 112"/>
                  <a:gd name="T76" fmla="*/ 127 w 141"/>
                  <a:gd name="T77" fmla="*/ 65 h 112"/>
                  <a:gd name="T78" fmla="*/ 121 w 141"/>
                  <a:gd name="T79" fmla="*/ 32 h 112"/>
                  <a:gd name="T80" fmla="*/ 108 w 141"/>
                  <a:gd name="T81" fmla="*/ 13 h 112"/>
                  <a:gd name="T82" fmla="*/ 89 w 141"/>
                  <a:gd name="T83" fmla="*/ 6 h 112"/>
                  <a:gd name="T84" fmla="*/ 89 w 141"/>
                  <a:gd name="T85" fmla="*/ 6 h 11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41"/>
                  <a:gd name="T130" fmla="*/ 0 h 112"/>
                  <a:gd name="T131" fmla="*/ 141 w 141"/>
                  <a:gd name="T132" fmla="*/ 112 h 11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41" h="112">
                    <a:moveTo>
                      <a:pt x="89" y="6"/>
                    </a:moveTo>
                    <a:lnTo>
                      <a:pt x="83" y="0"/>
                    </a:lnTo>
                    <a:lnTo>
                      <a:pt x="95" y="13"/>
                    </a:lnTo>
                    <a:lnTo>
                      <a:pt x="114" y="32"/>
                    </a:lnTo>
                    <a:lnTo>
                      <a:pt x="121" y="52"/>
                    </a:lnTo>
                    <a:lnTo>
                      <a:pt x="108" y="78"/>
                    </a:lnTo>
                    <a:lnTo>
                      <a:pt x="95" y="91"/>
                    </a:lnTo>
                    <a:lnTo>
                      <a:pt x="57" y="91"/>
                    </a:lnTo>
                    <a:lnTo>
                      <a:pt x="26" y="65"/>
                    </a:lnTo>
                    <a:lnTo>
                      <a:pt x="26" y="52"/>
                    </a:lnTo>
                    <a:lnTo>
                      <a:pt x="26" y="39"/>
                    </a:lnTo>
                    <a:lnTo>
                      <a:pt x="26" y="45"/>
                    </a:lnTo>
                    <a:lnTo>
                      <a:pt x="19" y="59"/>
                    </a:lnTo>
                    <a:lnTo>
                      <a:pt x="19" y="65"/>
                    </a:lnTo>
                    <a:lnTo>
                      <a:pt x="13" y="59"/>
                    </a:lnTo>
                    <a:lnTo>
                      <a:pt x="7" y="39"/>
                    </a:lnTo>
                    <a:lnTo>
                      <a:pt x="13" y="26"/>
                    </a:lnTo>
                    <a:lnTo>
                      <a:pt x="0" y="32"/>
                    </a:lnTo>
                    <a:lnTo>
                      <a:pt x="0" y="45"/>
                    </a:lnTo>
                    <a:lnTo>
                      <a:pt x="7" y="59"/>
                    </a:lnTo>
                    <a:lnTo>
                      <a:pt x="26" y="72"/>
                    </a:lnTo>
                    <a:lnTo>
                      <a:pt x="26" y="78"/>
                    </a:lnTo>
                    <a:lnTo>
                      <a:pt x="32" y="91"/>
                    </a:lnTo>
                    <a:lnTo>
                      <a:pt x="51" y="104"/>
                    </a:lnTo>
                    <a:lnTo>
                      <a:pt x="76" y="111"/>
                    </a:lnTo>
                    <a:lnTo>
                      <a:pt x="102" y="104"/>
                    </a:lnTo>
                    <a:lnTo>
                      <a:pt x="108" y="98"/>
                    </a:lnTo>
                    <a:lnTo>
                      <a:pt x="114" y="98"/>
                    </a:lnTo>
                    <a:lnTo>
                      <a:pt x="121" y="91"/>
                    </a:lnTo>
                    <a:lnTo>
                      <a:pt x="121" y="78"/>
                    </a:lnTo>
                    <a:lnTo>
                      <a:pt x="133" y="72"/>
                    </a:lnTo>
                    <a:lnTo>
                      <a:pt x="140" y="65"/>
                    </a:lnTo>
                    <a:lnTo>
                      <a:pt x="140" y="52"/>
                    </a:lnTo>
                    <a:lnTo>
                      <a:pt x="140" y="39"/>
                    </a:lnTo>
                    <a:lnTo>
                      <a:pt x="133" y="19"/>
                    </a:lnTo>
                    <a:lnTo>
                      <a:pt x="133" y="39"/>
                    </a:lnTo>
                    <a:lnTo>
                      <a:pt x="133" y="59"/>
                    </a:lnTo>
                    <a:lnTo>
                      <a:pt x="127" y="65"/>
                    </a:lnTo>
                    <a:lnTo>
                      <a:pt x="121" y="32"/>
                    </a:lnTo>
                    <a:lnTo>
                      <a:pt x="108" y="13"/>
                    </a:lnTo>
                    <a:lnTo>
                      <a:pt x="89" y="6"/>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48" name="Freeform 26"/>
              <p:cNvSpPr>
                <a:spLocks/>
              </p:cNvSpPr>
              <p:nvPr/>
            </p:nvSpPr>
            <p:spPr bwMode="auto">
              <a:xfrm>
                <a:off x="2825" y="3511"/>
                <a:ext cx="39" cy="99"/>
              </a:xfrm>
              <a:custGeom>
                <a:avLst/>
                <a:gdLst>
                  <a:gd name="T0" fmla="*/ 32 w 39"/>
                  <a:gd name="T1" fmla="*/ 59 h 99"/>
                  <a:gd name="T2" fmla="*/ 25 w 39"/>
                  <a:gd name="T3" fmla="*/ 78 h 99"/>
                  <a:gd name="T4" fmla="*/ 25 w 39"/>
                  <a:gd name="T5" fmla="*/ 72 h 99"/>
                  <a:gd name="T6" fmla="*/ 6 w 39"/>
                  <a:gd name="T7" fmla="*/ 33 h 99"/>
                  <a:gd name="T8" fmla="*/ 0 w 39"/>
                  <a:gd name="T9" fmla="*/ 0 h 99"/>
                  <a:gd name="T10" fmla="*/ 6 w 39"/>
                  <a:gd name="T11" fmla="*/ 26 h 99"/>
                  <a:gd name="T12" fmla="*/ 6 w 39"/>
                  <a:gd name="T13" fmla="*/ 39 h 99"/>
                  <a:gd name="T14" fmla="*/ 13 w 39"/>
                  <a:gd name="T15" fmla="*/ 59 h 99"/>
                  <a:gd name="T16" fmla="*/ 25 w 39"/>
                  <a:gd name="T17" fmla="*/ 98 h 99"/>
                  <a:gd name="T18" fmla="*/ 38 w 39"/>
                  <a:gd name="T19" fmla="*/ 65 h 99"/>
                  <a:gd name="T20" fmla="*/ 32 w 39"/>
                  <a:gd name="T21" fmla="*/ 59 h 99"/>
                  <a:gd name="T22" fmla="*/ 32 w 39"/>
                  <a:gd name="T23" fmla="*/ 59 h 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99"/>
                  <a:gd name="T38" fmla="*/ 39 w 39"/>
                  <a:gd name="T39" fmla="*/ 99 h 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99">
                    <a:moveTo>
                      <a:pt x="32" y="59"/>
                    </a:moveTo>
                    <a:lnTo>
                      <a:pt x="25" y="78"/>
                    </a:lnTo>
                    <a:lnTo>
                      <a:pt x="25" y="72"/>
                    </a:lnTo>
                    <a:lnTo>
                      <a:pt x="6" y="33"/>
                    </a:lnTo>
                    <a:lnTo>
                      <a:pt x="0" y="0"/>
                    </a:lnTo>
                    <a:lnTo>
                      <a:pt x="6" y="26"/>
                    </a:lnTo>
                    <a:lnTo>
                      <a:pt x="6" y="39"/>
                    </a:lnTo>
                    <a:lnTo>
                      <a:pt x="13" y="59"/>
                    </a:lnTo>
                    <a:lnTo>
                      <a:pt x="25" y="98"/>
                    </a:lnTo>
                    <a:lnTo>
                      <a:pt x="38" y="65"/>
                    </a:lnTo>
                    <a:lnTo>
                      <a:pt x="32" y="59"/>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49" name="Freeform 27"/>
              <p:cNvSpPr>
                <a:spLocks/>
              </p:cNvSpPr>
              <p:nvPr/>
            </p:nvSpPr>
            <p:spPr bwMode="auto">
              <a:xfrm>
                <a:off x="2825" y="3498"/>
                <a:ext cx="45" cy="92"/>
              </a:xfrm>
              <a:custGeom>
                <a:avLst/>
                <a:gdLst>
                  <a:gd name="T0" fmla="*/ 44 w 45"/>
                  <a:gd name="T1" fmla="*/ 39 h 92"/>
                  <a:gd name="T2" fmla="*/ 13 w 45"/>
                  <a:gd name="T3" fmla="*/ 20 h 92"/>
                  <a:gd name="T4" fmla="*/ 6 w 45"/>
                  <a:gd name="T5" fmla="*/ 0 h 92"/>
                  <a:gd name="T6" fmla="*/ 0 w 45"/>
                  <a:gd name="T7" fmla="*/ 13 h 92"/>
                  <a:gd name="T8" fmla="*/ 6 w 45"/>
                  <a:gd name="T9" fmla="*/ 46 h 92"/>
                  <a:gd name="T10" fmla="*/ 25 w 45"/>
                  <a:gd name="T11" fmla="*/ 85 h 92"/>
                  <a:gd name="T12" fmla="*/ 25 w 45"/>
                  <a:gd name="T13" fmla="*/ 91 h 92"/>
                  <a:gd name="T14" fmla="*/ 32 w 45"/>
                  <a:gd name="T15" fmla="*/ 72 h 92"/>
                  <a:gd name="T16" fmla="*/ 44 w 45"/>
                  <a:gd name="T17" fmla="*/ 39 h 92"/>
                  <a:gd name="T18" fmla="*/ 44 w 45"/>
                  <a:gd name="T19" fmla="*/ 39 h 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5"/>
                  <a:gd name="T31" fmla="*/ 0 h 92"/>
                  <a:gd name="T32" fmla="*/ 45 w 45"/>
                  <a:gd name="T33" fmla="*/ 92 h 9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5" h="92">
                    <a:moveTo>
                      <a:pt x="44" y="39"/>
                    </a:moveTo>
                    <a:lnTo>
                      <a:pt x="13" y="20"/>
                    </a:lnTo>
                    <a:lnTo>
                      <a:pt x="6" y="0"/>
                    </a:lnTo>
                    <a:lnTo>
                      <a:pt x="0" y="13"/>
                    </a:lnTo>
                    <a:lnTo>
                      <a:pt x="6" y="46"/>
                    </a:lnTo>
                    <a:lnTo>
                      <a:pt x="25" y="85"/>
                    </a:lnTo>
                    <a:lnTo>
                      <a:pt x="25" y="91"/>
                    </a:lnTo>
                    <a:lnTo>
                      <a:pt x="32" y="72"/>
                    </a:lnTo>
                    <a:lnTo>
                      <a:pt x="44" y="39"/>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50" name="Freeform 28"/>
              <p:cNvSpPr>
                <a:spLocks/>
              </p:cNvSpPr>
              <p:nvPr/>
            </p:nvSpPr>
            <p:spPr bwMode="auto">
              <a:xfrm>
                <a:off x="2768" y="3146"/>
                <a:ext cx="83" cy="14"/>
              </a:xfrm>
              <a:custGeom>
                <a:avLst/>
                <a:gdLst>
                  <a:gd name="T0" fmla="*/ 63 w 83"/>
                  <a:gd name="T1" fmla="*/ 0 h 14"/>
                  <a:gd name="T2" fmla="*/ 63 w 83"/>
                  <a:gd name="T3" fmla="*/ 0 h 14"/>
                  <a:gd name="T4" fmla="*/ 63 w 83"/>
                  <a:gd name="T5" fmla="*/ 0 h 14"/>
                  <a:gd name="T6" fmla="*/ 51 w 83"/>
                  <a:gd name="T7" fmla="*/ 0 h 14"/>
                  <a:gd name="T8" fmla="*/ 38 w 83"/>
                  <a:gd name="T9" fmla="*/ 0 h 14"/>
                  <a:gd name="T10" fmla="*/ 25 w 83"/>
                  <a:gd name="T11" fmla="*/ 0 h 14"/>
                  <a:gd name="T12" fmla="*/ 13 w 83"/>
                  <a:gd name="T13" fmla="*/ 0 h 14"/>
                  <a:gd name="T14" fmla="*/ 6 w 83"/>
                  <a:gd name="T15" fmla="*/ 7 h 14"/>
                  <a:gd name="T16" fmla="*/ 0 w 83"/>
                  <a:gd name="T17" fmla="*/ 13 h 14"/>
                  <a:gd name="T18" fmla="*/ 13 w 83"/>
                  <a:gd name="T19" fmla="*/ 7 h 14"/>
                  <a:gd name="T20" fmla="*/ 19 w 83"/>
                  <a:gd name="T21" fmla="*/ 7 h 14"/>
                  <a:gd name="T22" fmla="*/ 38 w 83"/>
                  <a:gd name="T23" fmla="*/ 0 h 14"/>
                  <a:gd name="T24" fmla="*/ 57 w 83"/>
                  <a:gd name="T25" fmla="*/ 0 h 14"/>
                  <a:gd name="T26" fmla="*/ 70 w 83"/>
                  <a:gd name="T27" fmla="*/ 7 h 14"/>
                  <a:gd name="T28" fmla="*/ 82 w 83"/>
                  <a:gd name="T29" fmla="*/ 7 h 14"/>
                  <a:gd name="T30" fmla="*/ 76 w 83"/>
                  <a:gd name="T31" fmla="*/ 0 h 14"/>
                  <a:gd name="T32" fmla="*/ 63 w 83"/>
                  <a:gd name="T33" fmla="*/ 0 h 14"/>
                  <a:gd name="T34" fmla="*/ 63 w 83"/>
                  <a:gd name="T35" fmla="*/ 0 h 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3"/>
                  <a:gd name="T55" fmla="*/ 0 h 14"/>
                  <a:gd name="T56" fmla="*/ 83 w 83"/>
                  <a:gd name="T57" fmla="*/ 14 h 1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3" h="14">
                    <a:moveTo>
                      <a:pt x="63" y="0"/>
                    </a:moveTo>
                    <a:lnTo>
                      <a:pt x="63" y="0"/>
                    </a:lnTo>
                    <a:lnTo>
                      <a:pt x="51" y="0"/>
                    </a:lnTo>
                    <a:lnTo>
                      <a:pt x="38" y="0"/>
                    </a:lnTo>
                    <a:lnTo>
                      <a:pt x="25" y="0"/>
                    </a:lnTo>
                    <a:lnTo>
                      <a:pt x="13" y="0"/>
                    </a:lnTo>
                    <a:lnTo>
                      <a:pt x="6" y="7"/>
                    </a:lnTo>
                    <a:lnTo>
                      <a:pt x="0" y="13"/>
                    </a:lnTo>
                    <a:lnTo>
                      <a:pt x="13" y="7"/>
                    </a:lnTo>
                    <a:lnTo>
                      <a:pt x="19" y="7"/>
                    </a:lnTo>
                    <a:lnTo>
                      <a:pt x="38" y="0"/>
                    </a:lnTo>
                    <a:lnTo>
                      <a:pt x="57" y="0"/>
                    </a:lnTo>
                    <a:lnTo>
                      <a:pt x="70" y="7"/>
                    </a:lnTo>
                    <a:lnTo>
                      <a:pt x="82" y="7"/>
                    </a:lnTo>
                    <a:lnTo>
                      <a:pt x="76" y="0"/>
                    </a:lnTo>
                    <a:lnTo>
                      <a:pt x="63" y="0"/>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51" name="Freeform 29"/>
              <p:cNvSpPr>
                <a:spLocks/>
              </p:cNvSpPr>
              <p:nvPr/>
            </p:nvSpPr>
            <p:spPr bwMode="auto">
              <a:xfrm>
                <a:off x="2882" y="3505"/>
                <a:ext cx="39" cy="85"/>
              </a:xfrm>
              <a:custGeom>
                <a:avLst/>
                <a:gdLst>
                  <a:gd name="T0" fmla="*/ 25 w 39"/>
                  <a:gd name="T1" fmla="*/ 0 h 85"/>
                  <a:gd name="T2" fmla="*/ 25 w 39"/>
                  <a:gd name="T3" fmla="*/ 6 h 85"/>
                  <a:gd name="T4" fmla="*/ 25 w 39"/>
                  <a:gd name="T5" fmla="*/ 13 h 85"/>
                  <a:gd name="T6" fmla="*/ 13 w 39"/>
                  <a:gd name="T7" fmla="*/ 26 h 85"/>
                  <a:gd name="T8" fmla="*/ 0 w 39"/>
                  <a:gd name="T9" fmla="*/ 32 h 85"/>
                  <a:gd name="T10" fmla="*/ 19 w 39"/>
                  <a:gd name="T11" fmla="*/ 65 h 85"/>
                  <a:gd name="T12" fmla="*/ 25 w 39"/>
                  <a:gd name="T13" fmla="*/ 84 h 85"/>
                  <a:gd name="T14" fmla="*/ 38 w 39"/>
                  <a:gd name="T15" fmla="*/ 26 h 85"/>
                  <a:gd name="T16" fmla="*/ 38 w 39"/>
                  <a:gd name="T17" fmla="*/ 26 h 85"/>
                  <a:gd name="T18" fmla="*/ 25 w 39"/>
                  <a:gd name="T19" fmla="*/ 0 h 85"/>
                  <a:gd name="T20" fmla="*/ 25 w 39"/>
                  <a:gd name="T21" fmla="*/ 0 h 8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
                  <a:gd name="T34" fmla="*/ 0 h 85"/>
                  <a:gd name="T35" fmla="*/ 39 w 39"/>
                  <a:gd name="T36" fmla="*/ 85 h 8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 h="85">
                    <a:moveTo>
                      <a:pt x="25" y="0"/>
                    </a:moveTo>
                    <a:lnTo>
                      <a:pt x="25" y="6"/>
                    </a:lnTo>
                    <a:lnTo>
                      <a:pt x="25" y="13"/>
                    </a:lnTo>
                    <a:lnTo>
                      <a:pt x="13" y="26"/>
                    </a:lnTo>
                    <a:lnTo>
                      <a:pt x="0" y="32"/>
                    </a:lnTo>
                    <a:lnTo>
                      <a:pt x="19" y="65"/>
                    </a:lnTo>
                    <a:lnTo>
                      <a:pt x="25" y="84"/>
                    </a:lnTo>
                    <a:lnTo>
                      <a:pt x="38" y="26"/>
                    </a:lnTo>
                    <a:lnTo>
                      <a:pt x="25" y="0"/>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52" name="Freeform 30"/>
              <p:cNvSpPr>
                <a:spLocks/>
              </p:cNvSpPr>
              <p:nvPr/>
            </p:nvSpPr>
            <p:spPr bwMode="auto">
              <a:xfrm>
                <a:off x="2888" y="3570"/>
                <a:ext cx="20" cy="98"/>
              </a:xfrm>
              <a:custGeom>
                <a:avLst/>
                <a:gdLst>
                  <a:gd name="T0" fmla="*/ 7 w 20"/>
                  <a:gd name="T1" fmla="*/ 0 h 98"/>
                  <a:gd name="T2" fmla="*/ 0 w 20"/>
                  <a:gd name="T3" fmla="*/ 32 h 98"/>
                  <a:gd name="T4" fmla="*/ 13 w 20"/>
                  <a:gd name="T5" fmla="*/ 97 h 98"/>
                  <a:gd name="T6" fmla="*/ 19 w 20"/>
                  <a:gd name="T7" fmla="*/ 58 h 98"/>
                  <a:gd name="T8" fmla="*/ 19 w 20"/>
                  <a:gd name="T9" fmla="*/ 26 h 98"/>
                  <a:gd name="T10" fmla="*/ 7 w 20"/>
                  <a:gd name="T11" fmla="*/ 0 h 98"/>
                  <a:gd name="T12" fmla="*/ 7 w 20"/>
                  <a:gd name="T13" fmla="*/ 0 h 98"/>
                  <a:gd name="T14" fmla="*/ 0 60000 65536"/>
                  <a:gd name="T15" fmla="*/ 0 60000 65536"/>
                  <a:gd name="T16" fmla="*/ 0 60000 65536"/>
                  <a:gd name="T17" fmla="*/ 0 60000 65536"/>
                  <a:gd name="T18" fmla="*/ 0 60000 65536"/>
                  <a:gd name="T19" fmla="*/ 0 60000 65536"/>
                  <a:gd name="T20" fmla="*/ 0 60000 65536"/>
                  <a:gd name="T21" fmla="*/ 0 w 20"/>
                  <a:gd name="T22" fmla="*/ 0 h 98"/>
                  <a:gd name="T23" fmla="*/ 20 w 20"/>
                  <a:gd name="T24" fmla="*/ 98 h 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98">
                    <a:moveTo>
                      <a:pt x="7" y="0"/>
                    </a:moveTo>
                    <a:lnTo>
                      <a:pt x="0" y="32"/>
                    </a:lnTo>
                    <a:lnTo>
                      <a:pt x="13" y="97"/>
                    </a:lnTo>
                    <a:lnTo>
                      <a:pt x="19" y="58"/>
                    </a:lnTo>
                    <a:lnTo>
                      <a:pt x="19" y="26"/>
                    </a:lnTo>
                    <a:lnTo>
                      <a:pt x="7" y="0"/>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53" name="Freeform 31"/>
              <p:cNvSpPr>
                <a:spLocks/>
              </p:cNvSpPr>
              <p:nvPr/>
            </p:nvSpPr>
            <p:spPr bwMode="auto">
              <a:xfrm>
                <a:off x="2958" y="3270"/>
                <a:ext cx="58" cy="79"/>
              </a:xfrm>
              <a:custGeom>
                <a:avLst/>
                <a:gdLst>
                  <a:gd name="T0" fmla="*/ 57 w 58"/>
                  <a:gd name="T1" fmla="*/ 0 h 79"/>
                  <a:gd name="T2" fmla="*/ 50 w 58"/>
                  <a:gd name="T3" fmla="*/ 0 h 79"/>
                  <a:gd name="T4" fmla="*/ 19 w 58"/>
                  <a:gd name="T5" fmla="*/ 46 h 79"/>
                  <a:gd name="T6" fmla="*/ 6 w 58"/>
                  <a:gd name="T7" fmla="*/ 59 h 79"/>
                  <a:gd name="T8" fmla="*/ 0 w 58"/>
                  <a:gd name="T9" fmla="*/ 78 h 79"/>
                  <a:gd name="T10" fmla="*/ 44 w 58"/>
                  <a:gd name="T11" fmla="*/ 20 h 79"/>
                  <a:gd name="T12" fmla="*/ 57 w 58"/>
                  <a:gd name="T13" fmla="*/ 0 h 79"/>
                  <a:gd name="T14" fmla="*/ 57 w 58"/>
                  <a:gd name="T15" fmla="*/ 0 h 79"/>
                  <a:gd name="T16" fmla="*/ 0 60000 65536"/>
                  <a:gd name="T17" fmla="*/ 0 60000 65536"/>
                  <a:gd name="T18" fmla="*/ 0 60000 65536"/>
                  <a:gd name="T19" fmla="*/ 0 60000 65536"/>
                  <a:gd name="T20" fmla="*/ 0 60000 65536"/>
                  <a:gd name="T21" fmla="*/ 0 60000 65536"/>
                  <a:gd name="T22" fmla="*/ 0 60000 65536"/>
                  <a:gd name="T23" fmla="*/ 0 60000 65536"/>
                  <a:gd name="T24" fmla="*/ 0 w 58"/>
                  <a:gd name="T25" fmla="*/ 0 h 79"/>
                  <a:gd name="T26" fmla="*/ 58 w 58"/>
                  <a:gd name="T27" fmla="*/ 79 h 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8" h="79">
                    <a:moveTo>
                      <a:pt x="57" y="0"/>
                    </a:moveTo>
                    <a:lnTo>
                      <a:pt x="50" y="0"/>
                    </a:lnTo>
                    <a:lnTo>
                      <a:pt x="19" y="46"/>
                    </a:lnTo>
                    <a:lnTo>
                      <a:pt x="6" y="59"/>
                    </a:lnTo>
                    <a:lnTo>
                      <a:pt x="0" y="78"/>
                    </a:lnTo>
                    <a:lnTo>
                      <a:pt x="44" y="20"/>
                    </a:lnTo>
                    <a:lnTo>
                      <a:pt x="57" y="0"/>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54" name="Freeform 32"/>
              <p:cNvSpPr>
                <a:spLocks/>
              </p:cNvSpPr>
              <p:nvPr/>
            </p:nvSpPr>
            <p:spPr bwMode="auto">
              <a:xfrm>
                <a:off x="2692" y="3114"/>
                <a:ext cx="33" cy="79"/>
              </a:xfrm>
              <a:custGeom>
                <a:avLst/>
                <a:gdLst>
                  <a:gd name="T0" fmla="*/ 0 w 33"/>
                  <a:gd name="T1" fmla="*/ 78 h 79"/>
                  <a:gd name="T2" fmla="*/ 7 w 33"/>
                  <a:gd name="T3" fmla="*/ 39 h 79"/>
                  <a:gd name="T4" fmla="*/ 7 w 33"/>
                  <a:gd name="T5" fmla="*/ 6 h 79"/>
                  <a:gd name="T6" fmla="*/ 13 w 33"/>
                  <a:gd name="T7" fmla="*/ 0 h 79"/>
                  <a:gd name="T8" fmla="*/ 13 w 33"/>
                  <a:gd name="T9" fmla="*/ 0 h 79"/>
                  <a:gd name="T10" fmla="*/ 32 w 33"/>
                  <a:gd name="T11" fmla="*/ 0 h 79"/>
                  <a:gd name="T12" fmla="*/ 26 w 33"/>
                  <a:gd name="T13" fmla="*/ 32 h 79"/>
                  <a:gd name="T14" fmla="*/ 0 w 33"/>
                  <a:gd name="T15" fmla="*/ 78 h 79"/>
                  <a:gd name="T16" fmla="*/ 0 w 33"/>
                  <a:gd name="T17" fmla="*/ 78 h 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
                  <a:gd name="T28" fmla="*/ 0 h 79"/>
                  <a:gd name="T29" fmla="*/ 33 w 33"/>
                  <a:gd name="T30" fmla="*/ 79 h 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 h="79">
                    <a:moveTo>
                      <a:pt x="0" y="78"/>
                    </a:moveTo>
                    <a:lnTo>
                      <a:pt x="7" y="39"/>
                    </a:lnTo>
                    <a:lnTo>
                      <a:pt x="7" y="6"/>
                    </a:lnTo>
                    <a:lnTo>
                      <a:pt x="13" y="0"/>
                    </a:lnTo>
                    <a:lnTo>
                      <a:pt x="32" y="0"/>
                    </a:lnTo>
                    <a:lnTo>
                      <a:pt x="26" y="32"/>
                    </a:lnTo>
                    <a:lnTo>
                      <a:pt x="0" y="78"/>
                    </a:lnTo>
                    <a:close/>
                  </a:path>
                </a:pathLst>
              </a:custGeom>
              <a:solidFill>
                <a:srgbClr val="BBBBBB"/>
              </a:solidFill>
              <a:ln w="3175" cap="flat">
                <a:solidFill>
                  <a:srgbClr val="000000"/>
                </a:solidFill>
                <a:prstDash val="solid"/>
                <a:round/>
                <a:headEnd/>
                <a:tailEnd/>
              </a:ln>
            </p:spPr>
            <p:txBody>
              <a:bodyPr wrap="none" anchor="ctr">
                <a:spAutoFit/>
              </a:bodyPr>
              <a:lstStyle/>
              <a:p>
                <a:endParaRPr lang="zh-CN" altLang="en-US"/>
              </a:p>
            </p:txBody>
          </p:sp>
          <p:sp>
            <p:nvSpPr>
              <p:cNvPr id="52255" name="Freeform 33"/>
              <p:cNvSpPr>
                <a:spLocks/>
              </p:cNvSpPr>
              <p:nvPr/>
            </p:nvSpPr>
            <p:spPr bwMode="auto">
              <a:xfrm>
                <a:off x="3015" y="3114"/>
                <a:ext cx="20" cy="66"/>
              </a:xfrm>
              <a:custGeom>
                <a:avLst/>
                <a:gdLst>
                  <a:gd name="T0" fmla="*/ 19 w 20"/>
                  <a:gd name="T1" fmla="*/ 65 h 66"/>
                  <a:gd name="T2" fmla="*/ 0 w 20"/>
                  <a:gd name="T3" fmla="*/ 32 h 66"/>
                  <a:gd name="T4" fmla="*/ 0 w 20"/>
                  <a:gd name="T5" fmla="*/ 13 h 66"/>
                  <a:gd name="T6" fmla="*/ 0 w 20"/>
                  <a:gd name="T7" fmla="*/ 0 h 66"/>
                  <a:gd name="T8" fmla="*/ 12 w 20"/>
                  <a:gd name="T9" fmla="*/ 0 h 66"/>
                  <a:gd name="T10" fmla="*/ 19 w 20"/>
                  <a:gd name="T11" fmla="*/ 0 h 66"/>
                  <a:gd name="T12" fmla="*/ 19 w 20"/>
                  <a:gd name="T13" fmla="*/ 6 h 66"/>
                  <a:gd name="T14" fmla="*/ 19 w 20"/>
                  <a:gd name="T15" fmla="*/ 65 h 66"/>
                  <a:gd name="T16" fmla="*/ 19 w 20"/>
                  <a:gd name="T17" fmla="*/ 65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66"/>
                  <a:gd name="T29" fmla="*/ 20 w 20"/>
                  <a:gd name="T30" fmla="*/ 66 h 6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66">
                    <a:moveTo>
                      <a:pt x="19" y="65"/>
                    </a:moveTo>
                    <a:lnTo>
                      <a:pt x="0" y="32"/>
                    </a:lnTo>
                    <a:lnTo>
                      <a:pt x="0" y="13"/>
                    </a:lnTo>
                    <a:lnTo>
                      <a:pt x="0" y="0"/>
                    </a:lnTo>
                    <a:lnTo>
                      <a:pt x="12" y="0"/>
                    </a:lnTo>
                    <a:lnTo>
                      <a:pt x="19" y="0"/>
                    </a:lnTo>
                    <a:lnTo>
                      <a:pt x="19" y="6"/>
                    </a:lnTo>
                    <a:lnTo>
                      <a:pt x="19" y="65"/>
                    </a:lnTo>
                    <a:close/>
                  </a:path>
                </a:pathLst>
              </a:custGeom>
              <a:solidFill>
                <a:srgbClr val="BBBBBB"/>
              </a:solidFill>
              <a:ln w="3175" cap="flat">
                <a:solidFill>
                  <a:srgbClr val="000000"/>
                </a:solidFill>
                <a:prstDash val="solid"/>
                <a:round/>
                <a:headEnd/>
                <a:tailEnd/>
              </a:ln>
            </p:spPr>
            <p:txBody>
              <a:bodyPr wrap="none" anchor="ctr">
                <a:spAutoFit/>
              </a:bodyPr>
              <a:lstStyle/>
              <a:p>
                <a:endParaRPr lang="zh-CN" altLang="en-US"/>
              </a:p>
            </p:txBody>
          </p:sp>
          <p:sp>
            <p:nvSpPr>
              <p:cNvPr id="52256" name="Freeform 34"/>
              <p:cNvSpPr>
                <a:spLocks/>
              </p:cNvSpPr>
              <p:nvPr/>
            </p:nvSpPr>
            <p:spPr bwMode="auto">
              <a:xfrm>
                <a:off x="2781" y="3055"/>
                <a:ext cx="58" cy="40"/>
              </a:xfrm>
              <a:custGeom>
                <a:avLst/>
                <a:gdLst>
                  <a:gd name="T0" fmla="*/ 57 w 58"/>
                  <a:gd name="T1" fmla="*/ 0 h 40"/>
                  <a:gd name="T2" fmla="*/ 12 w 58"/>
                  <a:gd name="T3" fmla="*/ 20 h 40"/>
                  <a:gd name="T4" fmla="*/ 0 w 58"/>
                  <a:gd name="T5" fmla="*/ 39 h 40"/>
                  <a:gd name="T6" fmla="*/ 19 w 58"/>
                  <a:gd name="T7" fmla="*/ 20 h 40"/>
                  <a:gd name="T8" fmla="*/ 50 w 58"/>
                  <a:gd name="T9" fmla="*/ 20 h 40"/>
                  <a:gd name="T10" fmla="*/ 50 w 58"/>
                  <a:gd name="T11" fmla="*/ 20 h 40"/>
                  <a:gd name="T12" fmla="*/ 57 w 58"/>
                  <a:gd name="T13" fmla="*/ 0 h 40"/>
                  <a:gd name="T14" fmla="*/ 57 w 58"/>
                  <a:gd name="T15" fmla="*/ 0 h 40"/>
                  <a:gd name="T16" fmla="*/ 0 60000 65536"/>
                  <a:gd name="T17" fmla="*/ 0 60000 65536"/>
                  <a:gd name="T18" fmla="*/ 0 60000 65536"/>
                  <a:gd name="T19" fmla="*/ 0 60000 65536"/>
                  <a:gd name="T20" fmla="*/ 0 60000 65536"/>
                  <a:gd name="T21" fmla="*/ 0 60000 65536"/>
                  <a:gd name="T22" fmla="*/ 0 60000 65536"/>
                  <a:gd name="T23" fmla="*/ 0 60000 65536"/>
                  <a:gd name="T24" fmla="*/ 0 w 58"/>
                  <a:gd name="T25" fmla="*/ 0 h 40"/>
                  <a:gd name="T26" fmla="*/ 58 w 58"/>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8" h="40">
                    <a:moveTo>
                      <a:pt x="57" y="0"/>
                    </a:moveTo>
                    <a:lnTo>
                      <a:pt x="12" y="20"/>
                    </a:lnTo>
                    <a:lnTo>
                      <a:pt x="0" y="39"/>
                    </a:lnTo>
                    <a:lnTo>
                      <a:pt x="19" y="20"/>
                    </a:lnTo>
                    <a:lnTo>
                      <a:pt x="50" y="20"/>
                    </a:lnTo>
                    <a:lnTo>
                      <a:pt x="57" y="0"/>
                    </a:lnTo>
                    <a:close/>
                  </a:path>
                </a:pathLst>
              </a:custGeom>
              <a:solidFill>
                <a:srgbClr val="777777"/>
              </a:solidFill>
              <a:ln w="3175" cap="flat">
                <a:solidFill>
                  <a:srgbClr val="000000"/>
                </a:solidFill>
                <a:prstDash val="solid"/>
                <a:round/>
                <a:headEnd/>
                <a:tailEnd/>
              </a:ln>
            </p:spPr>
            <p:txBody>
              <a:bodyPr wrap="none" anchor="ctr">
                <a:spAutoFit/>
              </a:bodyPr>
              <a:lstStyle/>
              <a:p>
                <a:endParaRPr lang="zh-CN" altLang="en-US"/>
              </a:p>
            </p:txBody>
          </p:sp>
          <p:sp>
            <p:nvSpPr>
              <p:cNvPr id="52257" name="Freeform 35"/>
              <p:cNvSpPr>
                <a:spLocks/>
              </p:cNvSpPr>
              <p:nvPr/>
            </p:nvSpPr>
            <p:spPr bwMode="auto">
              <a:xfrm>
                <a:off x="2850" y="3505"/>
                <a:ext cx="52" cy="27"/>
              </a:xfrm>
              <a:custGeom>
                <a:avLst/>
                <a:gdLst>
                  <a:gd name="T0" fmla="*/ 51 w 52"/>
                  <a:gd name="T1" fmla="*/ 0 h 27"/>
                  <a:gd name="T2" fmla="*/ 51 w 52"/>
                  <a:gd name="T3" fmla="*/ 13 h 27"/>
                  <a:gd name="T4" fmla="*/ 45 w 52"/>
                  <a:gd name="T5" fmla="*/ 19 h 27"/>
                  <a:gd name="T6" fmla="*/ 32 w 52"/>
                  <a:gd name="T7" fmla="*/ 26 h 27"/>
                  <a:gd name="T8" fmla="*/ 13 w 52"/>
                  <a:gd name="T9" fmla="*/ 26 h 27"/>
                  <a:gd name="T10" fmla="*/ 0 w 52"/>
                  <a:gd name="T11" fmla="*/ 13 h 27"/>
                  <a:gd name="T12" fmla="*/ 0 w 52"/>
                  <a:gd name="T13" fmla="*/ 0 h 27"/>
                  <a:gd name="T14" fmla="*/ 51 w 52"/>
                  <a:gd name="T15" fmla="*/ 0 h 27"/>
                  <a:gd name="T16" fmla="*/ 51 w 52"/>
                  <a:gd name="T17" fmla="*/ 0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27"/>
                  <a:gd name="T29" fmla="*/ 52 w 5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27">
                    <a:moveTo>
                      <a:pt x="51" y="0"/>
                    </a:moveTo>
                    <a:lnTo>
                      <a:pt x="51" y="13"/>
                    </a:lnTo>
                    <a:lnTo>
                      <a:pt x="45" y="19"/>
                    </a:lnTo>
                    <a:lnTo>
                      <a:pt x="32" y="26"/>
                    </a:lnTo>
                    <a:lnTo>
                      <a:pt x="13" y="26"/>
                    </a:lnTo>
                    <a:lnTo>
                      <a:pt x="0" y="13"/>
                    </a:lnTo>
                    <a:lnTo>
                      <a:pt x="0" y="0"/>
                    </a:lnTo>
                    <a:lnTo>
                      <a:pt x="51" y="0"/>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58" name="Freeform 36"/>
              <p:cNvSpPr>
                <a:spLocks/>
              </p:cNvSpPr>
              <p:nvPr/>
            </p:nvSpPr>
            <p:spPr bwMode="auto">
              <a:xfrm>
                <a:off x="2787" y="3127"/>
                <a:ext cx="45" cy="20"/>
              </a:xfrm>
              <a:custGeom>
                <a:avLst/>
                <a:gdLst>
                  <a:gd name="T0" fmla="*/ 44 w 45"/>
                  <a:gd name="T1" fmla="*/ 19 h 20"/>
                  <a:gd name="T2" fmla="*/ 44 w 45"/>
                  <a:gd name="T3" fmla="*/ 6 h 20"/>
                  <a:gd name="T4" fmla="*/ 44 w 45"/>
                  <a:gd name="T5" fmla="*/ 0 h 20"/>
                  <a:gd name="T6" fmla="*/ 38 w 45"/>
                  <a:gd name="T7" fmla="*/ 0 h 20"/>
                  <a:gd name="T8" fmla="*/ 13 w 45"/>
                  <a:gd name="T9" fmla="*/ 0 h 20"/>
                  <a:gd name="T10" fmla="*/ 6 w 45"/>
                  <a:gd name="T11" fmla="*/ 6 h 20"/>
                  <a:gd name="T12" fmla="*/ 0 w 45"/>
                  <a:gd name="T13" fmla="*/ 19 h 20"/>
                  <a:gd name="T14" fmla="*/ 19 w 45"/>
                  <a:gd name="T15" fmla="*/ 19 h 20"/>
                  <a:gd name="T16" fmla="*/ 44 w 45"/>
                  <a:gd name="T17" fmla="*/ 19 h 20"/>
                  <a:gd name="T18" fmla="*/ 44 w 45"/>
                  <a:gd name="T19" fmla="*/ 19 h 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5"/>
                  <a:gd name="T31" fmla="*/ 0 h 20"/>
                  <a:gd name="T32" fmla="*/ 45 w 45"/>
                  <a:gd name="T33" fmla="*/ 20 h 2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5" h="20">
                    <a:moveTo>
                      <a:pt x="44" y="19"/>
                    </a:moveTo>
                    <a:lnTo>
                      <a:pt x="44" y="6"/>
                    </a:lnTo>
                    <a:lnTo>
                      <a:pt x="44" y="0"/>
                    </a:lnTo>
                    <a:lnTo>
                      <a:pt x="38" y="0"/>
                    </a:lnTo>
                    <a:lnTo>
                      <a:pt x="13" y="0"/>
                    </a:lnTo>
                    <a:lnTo>
                      <a:pt x="6" y="6"/>
                    </a:lnTo>
                    <a:lnTo>
                      <a:pt x="0" y="19"/>
                    </a:lnTo>
                    <a:lnTo>
                      <a:pt x="19" y="19"/>
                    </a:lnTo>
                    <a:lnTo>
                      <a:pt x="44" y="19"/>
                    </a:lnTo>
                    <a:close/>
                  </a:path>
                </a:pathLst>
              </a:custGeom>
              <a:solidFill>
                <a:srgbClr val="000000"/>
              </a:solidFill>
              <a:ln w="3175" cap="flat">
                <a:solidFill>
                  <a:srgbClr val="000000"/>
                </a:solidFill>
                <a:prstDash val="solid"/>
                <a:round/>
                <a:headEnd/>
                <a:tailEnd/>
              </a:ln>
            </p:spPr>
            <p:txBody>
              <a:bodyPr wrap="none" anchor="ctr">
                <a:spAutoFit/>
              </a:bodyPr>
              <a:lstStyle/>
              <a:p>
                <a:endParaRPr lang="zh-CN" altLang="en-US"/>
              </a:p>
            </p:txBody>
          </p:sp>
          <p:sp>
            <p:nvSpPr>
              <p:cNvPr id="52259" name="Freeform 37"/>
              <p:cNvSpPr>
                <a:spLocks/>
              </p:cNvSpPr>
              <p:nvPr/>
            </p:nvSpPr>
            <p:spPr bwMode="auto">
              <a:xfrm>
                <a:off x="2781" y="3101"/>
                <a:ext cx="51" cy="46"/>
              </a:xfrm>
              <a:custGeom>
                <a:avLst/>
                <a:gdLst>
                  <a:gd name="T0" fmla="*/ 50 w 51"/>
                  <a:gd name="T1" fmla="*/ 45 h 46"/>
                  <a:gd name="T2" fmla="*/ 50 w 51"/>
                  <a:gd name="T3" fmla="*/ 26 h 46"/>
                  <a:gd name="T4" fmla="*/ 50 w 51"/>
                  <a:gd name="T5" fmla="*/ 19 h 46"/>
                  <a:gd name="T6" fmla="*/ 50 w 51"/>
                  <a:gd name="T7" fmla="*/ 6 h 46"/>
                  <a:gd name="T8" fmla="*/ 44 w 51"/>
                  <a:gd name="T9" fmla="*/ 0 h 46"/>
                  <a:gd name="T10" fmla="*/ 31 w 51"/>
                  <a:gd name="T11" fmla="*/ 0 h 46"/>
                  <a:gd name="T12" fmla="*/ 25 w 51"/>
                  <a:gd name="T13" fmla="*/ 0 h 46"/>
                  <a:gd name="T14" fmla="*/ 12 w 51"/>
                  <a:gd name="T15" fmla="*/ 26 h 46"/>
                  <a:gd name="T16" fmla="*/ 0 w 51"/>
                  <a:gd name="T17" fmla="*/ 45 h 46"/>
                  <a:gd name="T18" fmla="*/ 6 w 51"/>
                  <a:gd name="T19" fmla="*/ 45 h 46"/>
                  <a:gd name="T20" fmla="*/ 6 w 51"/>
                  <a:gd name="T21" fmla="*/ 45 h 46"/>
                  <a:gd name="T22" fmla="*/ 12 w 51"/>
                  <a:gd name="T23" fmla="*/ 32 h 46"/>
                  <a:gd name="T24" fmla="*/ 19 w 51"/>
                  <a:gd name="T25" fmla="*/ 26 h 46"/>
                  <a:gd name="T26" fmla="*/ 25 w 51"/>
                  <a:gd name="T27" fmla="*/ 26 h 46"/>
                  <a:gd name="T28" fmla="*/ 38 w 51"/>
                  <a:gd name="T29" fmla="*/ 32 h 46"/>
                  <a:gd name="T30" fmla="*/ 50 w 51"/>
                  <a:gd name="T31" fmla="*/ 26 h 46"/>
                  <a:gd name="T32" fmla="*/ 50 w 51"/>
                  <a:gd name="T33" fmla="*/ 26 h 46"/>
                  <a:gd name="T34" fmla="*/ 50 w 51"/>
                  <a:gd name="T35" fmla="*/ 32 h 46"/>
                  <a:gd name="T36" fmla="*/ 50 w 51"/>
                  <a:gd name="T37" fmla="*/ 45 h 46"/>
                  <a:gd name="T38" fmla="*/ 50 w 51"/>
                  <a:gd name="T39" fmla="*/ 45 h 46"/>
                  <a:gd name="T40" fmla="*/ 50 w 51"/>
                  <a:gd name="T41" fmla="*/ 45 h 46"/>
                  <a:gd name="T42" fmla="*/ 50 w 51"/>
                  <a:gd name="T43" fmla="*/ 45 h 4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1"/>
                  <a:gd name="T67" fmla="*/ 0 h 46"/>
                  <a:gd name="T68" fmla="*/ 51 w 51"/>
                  <a:gd name="T69" fmla="*/ 46 h 4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1" h="46">
                    <a:moveTo>
                      <a:pt x="50" y="45"/>
                    </a:moveTo>
                    <a:lnTo>
                      <a:pt x="50" y="26"/>
                    </a:lnTo>
                    <a:lnTo>
                      <a:pt x="50" y="19"/>
                    </a:lnTo>
                    <a:lnTo>
                      <a:pt x="50" y="6"/>
                    </a:lnTo>
                    <a:lnTo>
                      <a:pt x="44" y="0"/>
                    </a:lnTo>
                    <a:lnTo>
                      <a:pt x="31" y="0"/>
                    </a:lnTo>
                    <a:lnTo>
                      <a:pt x="25" y="0"/>
                    </a:lnTo>
                    <a:lnTo>
                      <a:pt x="12" y="26"/>
                    </a:lnTo>
                    <a:lnTo>
                      <a:pt x="0" y="45"/>
                    </a:lnTo>
                    <a:lnTo>
                      <a:pt x="6" y="45"/>
                    </a:lnTo>
                    <a:lnTo>
                      <a:pt x="12" y="32"/>
                    </a:lnTo>
                    <a:lnTo>
                      <a:pt x="19" y="26"/>
                    </a:lnTo>
                    <a:lnTo>
                      <a:pt x="25" y="26"/>
                    </a:lnTo>
                    <a:lnTo>
                      <a:pt x="38" y="32"/>
                    </a:lnTo>
                    <a:lnTo>
                      <a:pt x="50" y="26"/>
                    </a:lnTo>
                    <a:lnTo>
                      <a:pt x="50" y="32"/>
                    </a:lnTo>
                    <a:lnTo>
                      <a:pt x="50" y="45"/>
                    </a:lnTo>
                    <a:close/>
                  </a:path>
                </a:pathLst>
              </a:custGeom>
              <a:solidFill>
                <a:srgbClr val="FFFFFF"/>
              </a:solidFill>
              <a:ln w="3175" cap="flat">
                <a:solidFill>
                  <a:srgbClr val="000000"/>
                </a:solidFill>
                <a:prstDash val="solid"/>
                <a:round/>
                <a:headEnd/>
                <a:tailEnd/>
              </a:ln>
            </p:spPr>
            <p:txBody>
              <a:bodyPr wrap="none" anchor="ctr">
                <a:spAutoFit/>
              </a:bodyPr>
              <a:lstStyle/>
              <a:p>
                <a:endParaRPr lang="zh-CN" altLang="en-US"/>
              </a:p>
            </p:txBody>
          </p:sp>
          <p:sp>
            <p:nvSpPr>
              <p:cNvPr id="52260" name="Freeform 38"/>
              <p:cNvSpPr>
                <a:spLocks/>
              </p:cNvSpPr>
              <p:nvPr/>
            </p:nvSpPr>
            <p:spPr bwMode="auto">
              <a:xfrm>
                <a:off x="2920" y="3036"/>
                <a:ext cx="58" cy="40"/>
              </a:xfrm>
              <a:custGeom>
                <a:avLst/>
                <a:gdLst>
                  <a:gd name="T0" fmla="*/ 6 w 58"/>
                  <a:gd name="T1" fmla="*/ 0 h 40"/>
                  <a:gd name="T2" fmla="*/ 0 w 58"/>
                  <a:gd name="T3" fmla="*/ 13 h 40"/>
                  <a:gd name="T4" fmla="*/ 32 w 58"/>
                  <a:gd name="T5" fmla="*/ 13 h 40"/>
                  <a:gd name="T6" fmla="*/ 57 w 58"/>
                  <a:gd name="T7" fmla="*/ 39 h 40"/>
                  <a:gd name="T8" fmla="*/ 44 w 58"/>
                  <a:gd name="T9" fmla="*/ 26 h 40"/>
                  <a:gd name="T10" fmla="*/ 38 w 58"/>
                  <a:gd name="T11" fmla="*/ 13 h 40"/>
                  <a:gd name="T12" fmla="*/ 6 w 58"/>
                  <a:gd name="T13" fmla="*/ 0 h 40"/>
                  <a:gd name="T14" fmla="*/ 6 w 58"/>
                  <a:gd name="T15" fmla="*/ 0 h 40"/>
                  <a:gd name="T16" fmla="*/ 0 60000 65536"/>
                  <a:gd name="T17" fmla="*/ 0 60000 65536"/>
                  <a:gd name="T18" fmla="*/ 0 60000 65536"/>
                  <a:gd name="T19" fmla="*/ 0 60000 65536"/>
                  <a:gd name="T20" fmla="*/ 0 60000 65536"/>
                  <a:gd name="T21" fmla="*/ 0 60000 65536"/>
                  <a:gd name="T22" fmla="*/ 0 60000 65536"/>
                  <a:gd name="T23" fmla="*/ 0 60000 65536"/>
                  <a:gd name="T24" fmla="*/ 0 w 58"/>
                  <a:gd name="T25" fmla="*/ 0 h 40"/>
                  <a:gd name="T26" fmla="*/ 58 w 58"/>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8" h="40">
                    <a:moveTo>
                      <a:pt x="6" y="0"/>
                    </a:moveTo>
                    <a:lnTo>
                      <a:pt x="0" y="13"/>
                    </a:lnTo>
                    <a:lnTo>
                      <a:pt x="32" y="13"/>
                    </a:lnTo>
                    <a:lnTo>
                      <a:pt x="57" y="39"/>
                    </a:lnTo>
                    <a:lnTo>
                      <a:pt x="44" y="26"/>
                    </a:lnTo>
                    <a:lnTo>
                      <a:pt x="38" y="13"/>
                    </a:lnTo>
                    <a:lnTo>
                      <a:pt x="6" y="0"/>
                    </a:lnTo>
                    <a:close/>
                  </a:path>
                </a:pathLst>
              </a:custGeom>
              <a:solidFill>
                <a:srgbClr val="777777"/>
              </a:solidFill>
              <a:ln w="3175" cap="flat">
                <a:solidFill>
                  <a:srgbClr val="000000"/>
                </a:solidFill>
                <a:prstDash val="solid"/>
                <a:round/>
                <a:headEnd/>
                <a:tailEnd/>
              </a:ln>
            </p:spPr>
            <p:txBody>
              <a:bodyPr wrap="none" anchor="ctr">
                <a:spAutoFit/>
              </a:bodyPr>
              <a:lstStyle/>
              <a:p>
                <a:endParaRPr lang="zh-CN" altLang="en-US"/>
              </a:p>
            </p:txBody>
          </p:sp>
          <p:sp>
            <p:nvSpPr>
              <p:cNvPr id="52261" name="Freeform 39"/>
              <p:cNvSpPr>
                <a:spLocks/>
              </p:cNvSpPr>
              <p:nvPr/>
            </p:nvSpPr>
            <p:spPr bwMode="auto">
              <a:xfrm>
                <a:off x="2895" y="3570"/>
                <a:ext cx="13" cy="40"/>
              </a:xfrm>
              <a:custGeom>
                <a:avLst/>
                <a:gdLst>
                  <a:gd name="T0" fmla="*/ 12 w 13"/>
                  <a:gd name="T1" fmla="*/ 19 h 40"/>
                  <a:gd name="T2" fmla="*/ 6 w 13"/>
                  <a:gd name="T3" fmla="*/ 0 h 40"/>
                  <a:gd name="T4" fmla="*/ 0 w 13"/>
                  <a:gd name="T5" fmla="*/ 0 h 40"/>
                  <a:gd name="T6" fmla="*/ 12 w 13"/>
                  <a:gd name="T7" fmla="*/ 39 h 40"/>
                  <a:gd name="T8" fmla="*/ 12 w 13"/>
                  <a:gd name="T9" fmla="*/ 19 h 40"/>
                  <a:gd name="T10" fmla="*/ 12 w 13"/>
                  <a:gd name="T11" fmla="*/ 19 h 40"/>
                  <a:gd name="T12" fmla="*/ 0 60000 65536"/>
                  <a:gd name="T13" fmla="*/ 0 60000 65536"/>
                  <a:gd name="T14" fmla="*/ 0 60000 65536"/>
                  <a:gd name="T15" fmla="*/ 0 60000 65536"/>
                  <a:gd name="T16" fmla="*/ 0 60000 65536"/>
                  <a:gd name="T17" fmla="*/ 0 60000 65536"/>
                  <a:gd name="T18" fmla="*/ 0 w 13"/>
                  <a:gd name="T19" fmla="*/ 0 h 40"/>
                  <a:gd name="T20" fmla="*/ 13 w 13"/>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13" h="40">
                    <a:moveTo>
                      <a:pt x="12" y="19"/>
                    </a:moveTo>
                    <a:lnTo>
                      <a:pt x="6" y="0"/>
                    </a:lnTo>
                    <a:lnTo>
                      <a:pt x="0" y="0"/>
                    </a:lnTo>
                    <a:lnTo>
                      <a:pt x="12" y="39"/>
                    </a:lnTo>
                    <a:lnTo>
                      <a:pt x="12" y="19"/>
                    </a:lnTo>
                    <a:close/>
                  </a:path>
                </a:pathLst>
              </a:custGeom>
              <a:solidFill>
                <a:srgbClr val="FFFFFF"/>
              </a:solidFill>
              <a:ln w="3175" cap="flat">
                <a:solidFill>
                  <a:srgbClr val="000000"/>
                </a:solidFill>
                <a:prstDash val="solid"/>
                <a:round/>
                <a:headEnd/>
                <a:tailEnd/>
              </a:ln>
            </p:spPr>
            <p:txBody>
              <a:bodyPr wrap="none" anchor="ctr">
                <a:spAutoFit/>
              </a:bodyPr>
              <a:lstStyle/>
              <a:p>
                <a:endParaRPr lang="zh-CN" altLang="en-US"/>
              </a:p>
            </p:txBody>
          </p:sp>
          <p:sp>
            <p:nvSpPr>
              <p:cNvPr id="52262" name="Freeform 40"/>
              <p:cNvSpPr>
                <a:spLocks/>
              </p:cNvSpPr>
              <p:nvPr/>
            </p:nvSpPr>
            <p:spPr bwMode="auto">
              <a:xfrm>
                <a:off x="2895" y="3570"/>
                <a:ext cx="13" cy="40"/>
              </a:xfrm>
              <a:custGeom>
                <a:avLst/>
                <a:gdLst>
                  <a:gd name="T0" fmla="*/ 12 w 13"/>
                  <a:gd name="T1" fmla="*/ 19 h 40"/>
                  <a:gd name="T2" fmla="*/ 6 w 13"/>
                  <a:gd name="T3" fmla="*/ 0 h 40"/>
                  <a:gd name="T4" fmla="*/ 0 w 13"/>
                  <a:gd name="T5" fmla="*/ 0 h 40"/>
                  <a:gd name="T6" fmla="*/ 12 w 13"/>
                  <a:gd name="T7" fmla="*/ 39 h 40"/>
                  <a:gd name="T8" fmla="*/ 12 w 13"/>
                  <a:gd name="T9" fmla="*/ 19 h 40"/>
                  <a:gd name="T10" fmla="*/ 0 60000 65536"/>
                  <a:gd name="T11" fmla="*/ 0 60000 65536"/>
                  <a:gd name="T12" fmla="*/ 0 60000 65536"/>
                  <a:gd name="T13" fmla="*/ 0 60000 65536"/>
                  <a:gd name="T14" fmla="*/ 0 60000 65536"/>
                  <a:gd name="T15" fmla="*/ 0 w 13"/>
                  <a:gd name="T16" fmla="*/ 0 h 40"/>
                  <a:gd name="T17" fmla="*/ 13 w 13"/>
                  <a:gd name="T18" fmla="*/ 40 h 40"/>
                </a:gdLst>
                <a:ahLst/>
                <a:cxnLst>
                  <a:cxn ang="T10">
                    <a:pos x="T0" y="T1"/>
                  </a:cxn>
                  <a:cxn ang="T11">
                    <a:pos x="T2" y="T3"/>
                  </a:cxn>
                  <a:cxn ang="T12">
                    <a:pos x="T4" y="T5"/>
                  </a:cxn>
                  <a:cxn ang="T13">
                    <a:pos x="T6" y="T7"/>
                  </a:cxn>
                  <a:cxn ang="T14">
                    <a:pos x="T8" y="T9"/>
                  </a:cxn>
                </a:cxnLst>
                <a:rect l="T15" t="T16" r="T17" b="T18"/>
                <a:pathLst>
                  <a:path w="13" h="40">
                    <a:moveTo>
                      <a:pt x="12" y="19"/>
                    </a:moveTo>
                    <a:lnTo>
                      <a:pt x="6" y="0"/>
                    </a:lnTo>
                    <a:lnTo>
                      <a:pt x="0" y="0"/>
                    </a:lnTo>
                    <a:lnTo>
                      <a:pt x="12" y="39"/>
                    </a:lnTo>
                    <a:lnTo>
                      <a:pt x="12" y="19"/>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63" name="Freeform 41"/>
              <p:cNvSpPr>
                <a:spLocks/>
              </p:cNvSpPr>
              <p:nvPr/>
            </p:nvSpPr>
            <p:spPr bwMode="auto">
              <a:xfrm>
                <a:off x="2939" y="3120"/>
                <a:ext cx="33" cy="27"/>
              </a:xfrm>
              <a:custGeom>
                <a:avLst/>
                <a:gdLst>
                  <a:gd name="T0" fmla="*/ 32 w 33"/>
                  <a:gd name="T1" fmla="*/ 26 h 27"/>
                  <a:gd name="T2" fmla="*/ 25 w 33"/>
                  <a:gd name="T3" fmla="*/ 13 h 27"/>
                  <a:gd name="T4" fmla="*/ 25 w 33"/>
                  <a:gd name="T5" fmla="*/ 0 h 27"/>
                  <a:gd name="T6" fmla="*/ 6 w 33"/>
                  <a:gd name="T7" fmla="*/ 0 h 27"/>
                  <a:gd name="T8" fmla="*/ 0 w 33"/>
                  <a:gd name="T9" fmla="*/ 7 h 27"/>
                  <a:gd name="T10" fmla="*/ 0 w 33"/>
                  <a:gd name="T11" fmla="*/ 20 h 27"/>
                  <a:gd name="T12" fmla="*/ 13 w 33"/>
                  <a:gd name="T13" fmla="*/ 20 h 27"/>
                  <a:gd name="T14" fmla="*/ 25 w 33"/>
                  <a:gd name="T15" fmla="*/ 20 h 27"/>
                  <a:gd name="T16" fmla="*/ 32 w 33"/>
                  <a:gd name="T17" fmla="*/ 26 h 27"/>
                  <a:gd name="T18" fmla="*/ 32 w 33"/>
                  <a:gd name="T19" fmla="*/ 26 h 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27"/>
                  <a:gd name="T32" fmla="*/ 33 w 33"/>
                  <a:gd name="T33" fmla="*/ 27 h 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27">
                    <a:moveTo>
                      <a:pt x="32" y="26"/>
                    </a:moveTo>
                    <a:lnTo>
                      <a:pt x="25" y="13"/>
                    </a:lnTo>
                    <a:lnTo>
                      <a:pt x="25" y="0"/>
                    </a:lnTo>
                    <a:lnTo>
                      <a:pt x="6" y="0"/>
                    </a:lnTo>
                    <a:lnTo>
                      <a:pt x="0" y="7"/>
                    </a:lnTo>
                    <a:lnTo>
                      <a:pt x="0" y="20"/>
                    </a:lnTo>
                    <a:lnTo>
                      <a:pt x="13" y="20"/>
                    </a:lnTo>
                    <a:lnTo>
                      <a:pt x="25" y="20"/>
                    </a:lnTo>
                    <a:lnTo>
                      <a:pt x="32" y="26"/>
                    </a:lnTo>
                    <a:close/>
                  </a:path>
                </a:pathLst>
              </a:custGeom>
              <a:solidFill>
                <a:srgbClr val="000000"/>
              </a:solidFill>
              <a:ln w="3175" cap="flat">
                <a:solidFill>
                  <a:srgbClr val="000000"/>
                </a:solidFill>
                <a:prstDash val="solid"/>
                <a:round/>
                <a:headEnd/>
                <a:tailEnd/>
              </a:ln>
            </p:spPr>
            <p:txBody>
              <a:bodyPr wrap="none" anchor="ctr">
                <a:spAutoFit/>
              </a:bodyPr>
              <a:lstStyle/>
              <a:p>
                <a:endParaRPr lang="zh-CN" altLang="en-US"/>
              </a:p>
            </p:txBody>
          </p:sp>
          <p:grpSp>
            <p:nvGrpSpPr>
              <p:cNvPr id="5" name="Group 42"/>
              <p:cNvGrpSpPr>
                <a:grpSpLocks/>
              </p:cNvGrpSpPr>
              <p:nvPr/>
            </p:nvGrpSpPr>
            <p:grpSpPr bwMode="auto">
              <a:xfrm>
                <a:off x="3015" y="2899"/>
                <a:ext cx="210" cy="157"/>
                <a:chOff x="3015" y="2899"/>
                <a:chExt cx="210" cy="157"/>
              </a:xfrm>
            </p:grpSpPr>
            <p:sp>
              <p:nvSpPr>
                <p:cNvPr id="52271" name="Freeform 43"/>
                <p:cNvSpPr>
                  <a:spLocks/>
                </p:cNvSpPr>
                <p:nvPr/>
              </p:nvSpPr>
              <p:spPr bwMode="auto">
                <a:xfrm>
                  <a:off x="3046" y="2918"/>
                  <a:ext cx="122" cy="99"/>
                </a:xfrm>
                <a:custGeom>
                  <a:avLst/>
                  <a:gdLst>
                    <a:gd name="T0" fmla="*/ 76 w 122"/>
                    <a:gd name="T1" fmla="*/ 13 h 99"/>
                    <a:gd name="T2" fmla="*/ 64 w 122"/>
                    <a:gd name="T3" fmla="*/ 7 h 99"/>
                    <a:gd name="T4" fmla="*/ 45 w 122"/>
                    <a:gd name="T5" fmla="*/ 13 h 99"/>
                    <a:gd name="T6" fmla="*/ 38 w 122"/>
                    <a:gd name="T7" fmla="*/ 13 h 99"/>
                    <a:gd name="T8" fmla="*/ 38 w 122"/>
                    <a:gd name="T9" fmla="*/ 13 h 99"/>
                    <a:gd name="T10" fmla="*/ 38 w 122"/>
                    <a:gd name="T11" fmla="*/ 7 h 99"/>
                    <a:gd name="T12" fmla="*/ 32 w 122"/>
                    <a:gd name="T13" fmla="*/ 0 h 99"/>
                    <a:gd name="T14" fmla="*/ 19 w 122"/>
                    <a:gd name="T15" fmla="*/ 0 h 99"/>
                    <a:gd name="T16" fmla="*/ 13 w 122"/>
                    <a:gd name="T17" fmla="*/ 0 h 99"/>
                    <a:gd name="T18" fmla="*/ 13 w 122"/>
                    <a:gd name="T19" fmla="*/ 0 h 99"/>
                    <a:gd name="T20" fmla="*/ 0 w 122"/>
                    <a:gd name="T21" fmla="*/ 7 h 99"/>
                    <a:gd name="T22" fmla="*/ 0 w 122"/>
                    <a:gd name="T23" fmla="*/ 26 h 99"/>
                    <a:gd name="T24" fmla="*/ 7 w 122"/>
                    <a:gd name="T25" fmla="*/ 26 h 99"/>
                    <a:gd name="T26" fmla="*/ 7 w 122"/>
                    <a:gd name="T27" fmla="*/ 33 h 99"/>
                    <a:gd name="T28" fmla="*/ 19 w 122"/>
                    <a:gd name="T29" fmla="*/ 40 h 99"/>
                    <a:gd name="T30" fmla="*/ 13 w 122"/>
                    <a:gd name="T31" fmla="*/ 46 h 99"/>
                    <a:gd name="T32" fmla="*/ 13 w 122"/>
                    <a:gd name="T33" fmla="*/ 53 h 99"/>
                    <a:gd name="T34" fmla="*/ 13 w 122"/>
                    <a:gd name="T35" fmla="*/ 53 h 99"/>
                    <a:gd name="T36" fmla="*/ 13 w 122"/>
                    <a:gd name="T37" fmla="*/ 53 h 99"/>
                    <a:gd name="T38" fmla="*/ 19 w 122"/>
                    <a:gd name="T39" fmla="*/ 59 h 99"/>
                    <a:gd name="T40" fmla="*/ 26 w 122"/>
                    <a:gd name="T41" fmla="*/ 59 h 99"/>
                    <a:gd name="T42" fmla="*/ 38 w 122"/>
                    <a:gd name="T43" fmla="*/ 59 h 99"/>
                    <a:gd name="T44" fmla="*/ 38 w 122"/>
                    <a:gd name="T45" fmla="*/ 59 h 99"/>
                    <a:gd name="T46" fmla="*/ 45 w 122"/>
                    <a:gd name="T47" fmla="*/ 72 h 99"/>
                    <a:gd name="T48" fmla="*/ 51 w 122"/>
                    <a:gd name="T49" fmla="*/ 79 h 99"/>
                    <a:gd name="T50" fmla="*/ 64 w 122"/>
                    <a:gd name="T51" fmla="*/ 98 h 99"/>
                    <a:gd name="T52" fmla="*/ 89 w 122"/>
                    <a:gd name="T53" fmla="*/ 98 h 99"/>
                    <a:gd name="T54" fmla="*/ 108 w 122"/>
                    <a:gd name="T55" fmla="*/ 79 h 99"/>
                    <a:gd name="T56" fmla="*/ 121 w 122"/>
                    <a:gd name="T57" fmla="*/ 59 h 99"/>
                    <a:gd name="T58" fmla="*/ 89 w 122"/>
                    <a:gd name="T59" fmla="*/ 40 h 99"/>
                    <a:gd name="T60" fmla="*/ 83 w 122"/>
                    <a:gd name="T61" fmla="*/ 40 h 99"/>
                    <a:gd name="T62" fmla="*/ 83 w 122"/>
                    <a:gd name="T63" fmla="*/ 33 h 99"/>
                    <a:gd name="T64" fmla="*/ 83 w 122"/>
                    <a:gd name="T65" fmla="*/ 33 h 99"/>
                    <a:gd name="T66" fmla="*/ 83 w 122"/>
                    <a:gd name="T67" fmla="*/ 26 h 99"/>
                    <a:gd name="T68" fmla="*/ 83 w 122"/>
                    <a:gd name="T69" fmla="*/ 26 h 99"/>
                    <a:gd name="T70" fmla="*/ 76 w 122"/>
                    <a:gd name="T71" fmla="*/ 13 h 99"/>
                    <a:gd name="T72" fmla="*/ 76 w 122"/>
                    <a:gd name="T73" fmla="*/ 13 h 9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2"/>
                    <a:gd name="T112" fmla="*/ 0 h 99"/>
                    <a:gd name="T113" fmla="*/ 122 w 122"/>
                    <a:gd name="T114" fmla="*/ 99 h 9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2" h="99">
                      <a:moveTo>
                        <a:pt x="76" y="13"/>
                      </a:moveTo>
                      <a:lnTo>
                        <a:pt x="64" y="7"/>
                      </a:lnTo>
                      <a:lnTo>
                        <a:pt x="45" y="13"/>
                      </a:lnTo>
                      <a:lnTo>
                        <a:pt x="38" y="13"/>
                      </a:lnTo>
                      <a:lnTo>
                        <a:pt x="38" y="7"/>
                      </a:lnTo>
                      <a:lnTo>
                        <a:pt x="32" y="0"/>
                      </a:lnTo>
                      <a:lnTo>
                        <a:pt x="19" y="0"/>
                      </a:lnTo>
                      <a:lnTo>
                        <a:pt x="13" y="0"/>
                      </a:lnTo>
                      <a:lnTo>
                        <a:pt x="0" y="7"/>
                      </a:lnTo>
                      <a:lnTo>
                        <a:pt x="0" y="26"/>
                      </a:lnTo>
                      <a:lnTo>
                        <a:pt x="7" y="26"/>
                      </a:lnTo>
                      <a:lnTo>
                        <a:pt x="7" y="33"/>
                      </a:lnTo>
                      <a:lnTo>
                        <a:pt x="19" y="40"/>
                      </a:lnTo>
                      <a:lnTo>
                        <a:pt x="13" y="46"/>
                      </a:lnTo>
                      <a:lnTo>
                        <a:pt x="13" y="53"/>
                      </a:lnTo>
                      <a:lnTo>
                        <a:pt x="19" y="59"/>
                      </a:lnTo>
                      <a:lnTo>
                        <a:pt x="26" y="59"/>
                      </a:lnTo>
                      <a:lnTo>
                        <a:pt x="38" y="59"/>
                      </a:lnTo>
                      <a:lnTo>
                        <a:pt x="45" y="72"/>
                      </a:lnTo>
                      <a:lnTo>
                        <a:pt x="51" y="79"/>
                      </a:lnTo>
                      <a:lnTo>
                        <a:pt x="64" y="98"/>
                      </a:lnTo>
                      <a:lnTo>
                        <a:pt x="89" y="98"/>
                      </a:lnTo>
                      <a:lnTo>
                        <a:pt x="108" y="79"/>
                      </a:lnTo>
                      <a:lnTo>
                        <a:pt x="121" y="59"/>
                      </a:lnTo>
                      <a:lnTo>
                        <a:pt x="89" y="40"/>
                      </a:lnTo>
                      <a:lnTo>
                        <a:pt x="83" y="40"/>
                      </a:lnTo>
                      <a:lnTo>
                        <a:pt x="83" y="33"/>
                      </a:lnTo>
                      <a:lnTo>
                        <a:pt x="83" y="26"/>
                      </a:lnTo>
                      <a:lnTo>
                        <a:pt x="76" y="13"/>
                      </a:lnTo>
                      <a:close/>
                    </a:path>
                  </a:pathLst>
                </a:custGeom>
                <a:solidFill>
                  <a:srgbClr val="FFFFFF"/>
                </a:solidFill>
                <a:ln w="3175" cap="flat">
                  <a:solidFill>
                    <a:srgbClr val="000000"/>
                  </a:solidFill>
                  <a:prstDash val="solid"/>
                  <a:round/>
                  <a:headEnd/>
                  <a:tailEnd/>
                </a:ln>
              </p:spPr>
              <p:txBody>
                <a:bodyPr wrap="none" anchor="ctr">
                  <a:spAutoFit/>
                </a:bodyPr>
                <a:lstStyle/>
                <a:p>
                  <a:endParaRPr lang="zh-CN" altLang="en-US"/>
                </a:p>
              </p:txBody>
            </p:sp>
            <p:sp>
              <p:nvSpPr>
                <p:cNvPr id="52272" name="Freeform 44"/>
                <p:cNvSpPr>
                  <a:spLocks/>
                </p:cNvSpPr>
                <p:nvPr/>
              </p:nvSpPr>
              <p:spPr bwMode="auto">
                <a:xfrm>
                  <a:off x="3034" y="2899"/>
                  <a:ext cx="140" cy="138"/>
                </a:xfrm>
                <a:custGeom>
                  <a:avLst/>
                  <a:gdLst>
                    <a:gd name="T0" fmla="*/ 0 w 140"/>
                    <a:gd name="T1" fmla="*/ 13 h 138"/>
                    <a:gd name="T2" fmla="*/ 0 w 140"/>
                    <a:gd name="T3" fmla="*/ 45 h 138"/>
                    <a:gd name="T4" fmla="*/ 19 w 140"/>
                    <a:gd name="T5" fmla="*/ 65 h 138"/>
                    <a:gd name="T6" fmla="*/ 19 w 140"/>
                    <a:gd name="T7" fmla="*/ 85 h 138"/>
                    <a:gd name="T8" fmla="*/ 31 w 140"/>
                    <a:gd name="T9" fmla="*/ 98 h 138"/>
                    <a:gd name="T10" fmla="*/ 44 w 140"/>
                    <a:gd name="T11" fmla="*/ 104 h 138"/>
                    <a:gd name="T12" fmla="*/ 57 w 140"/>
                    <a:gd name="T13" fmla="*/ 124 h 138"/>
                    <a:gd name="T14" fmla="*/ 107 w 140"/>
                    <a:gd name="T15" fmla="*/ 137 h 138"/>
                    <a:gd name="T16" fmla="*/ 139 w 140"/>
                    <a:gd name="T17" fmla="*/ 98 h 138"/>
                    <a:gd name="T18" fmla="*/ 126 w 140"/>
                    <a:gd name="T19" fmla="*/ 65 h 138"/>
                    <a:gd name="T20" fmla="*/ 107 w 140"/>
                    <a:gd name="T21" fmla="*/ 39 h 138"/>
                    <a:gd name="T22" fmla="*/ 95 w 140"/>
                    <a:gd name="T23" fmla="*/ 32 h 138"/>
                    <a:gd name="T24" fmla="*/ 95 w 140"/>
                    <a:gd name="T25" fmla="*/ 45 h 138"/>
                    <a:gd name="T26" fmla="*/ 95 w 140"/>
                    <a:gd name="T27" fmla="*/ 52 h 138"/>
                    <a:gd name="T28" fmla="*/ 101 w 140"/>
                    <a:gd name="T29" fmla="*/ 59 h 138"/>
                    <a:gd name="T30" fmla="*/ 120 w 140"/>
                    <a:gd name="T31" fmla="*/ 72 h 138"/>
                    <a:gd name="T32" fmla="*/ 120 w 140"/>
                    <a:gd name="T33" fmla="*/ 91 h 138"/>
                    <a:gd name="T34" fmla="*/ 101 w 140"/>
                    <a:gd name="T35" fmla="*/ 117 h 138"/>
                    <a:gd name="T36" fmla="*/ 57 w 140"/>
                    <a:gd name="T37" fmla="*/ 98 h 138"/>
                    <a:gd name="T38" fmla="*/ 50 w 140"/>
                    <a:gd name="T39" fmla="*/ 78 h 138"/>
                    <a:gd name="T40" fmla="*/ 44 w 140"/>
                    <a:gd name="T41" fmla="*/ 78 h 138"/>
                    <a:gd name="T42" fmla="*/ 31 w 140"/>
                    <a:gd name="T43" fmla="*/ 78 h 138"/>
                    <a:gd name="T44" fmla="*/ 25 w 140"/>
                    <a:gd name="T45" fmla="*/ 72 h 138"/>
                    <a:gd name="T46" fmla="*/ 25 w 140"/>
                    <a:gd name="T47" fmla="*/ 65 h 138"/>
                    <a:gd name="T48" fmla="*/ 31 w 140"/>
                    <a:gd name="T49" fmla="*/ 52 h 138"/>
                    <a:gd name="T50" fmla="*/ 19 w 140"/>
                    <a:gd name="T51" fmla="*/ 52 h 138"/>
                    <a:gd name="T52" fmla="*/ 12 w 140"/>
                    <a:gd name="T53" fmla="*/ 45 h 138"/>
                    <a:gd name="T54" fmla="*/ 12 w 140"/>
                    <a:gd name="T55" fmla="*/ 26 h 138"/>
                    <a:gd name="T56" fmla="*/ 25 w 140"/>
                    <a:gd name="T57" fmla="*/ 19 h 138"/>
                    <a:gd name="T58" fmla="*/ 38 w 140"/>
                    <a:gd name="T59" fmla="*/ 19 h 138"/>
                    <a:gd name="T60" fmla="*/ 50 w 140"/>
                    <a:gd name="T61" fmla="*/ 32 h 138"/>
                    <a:gd name="T62" fmla="*/ 63 w 140"/>
                    <a:gd name="T63" fmla="*/ 32 h 138"/>
                    <a:gd name="T64" fmla="*/ 76 w 140"/>
                    <a:gd name="T65" fmla="*/ 26 h 138"/>
                    <a:gd name="T66" fmla="*/ 76 w 140"/>
                    <a:gd name="T67" fmla="*/ 19 h 138"/>
                    <a:gd name="T68" fmla="*/ 50 w 140"/>
                    <a:gd name="T69" fmla="*/ 19 h 138"/>
                    <a:gd name="T70" fmla="*/ 25 w 140"/>
                    <a:gd name="T71" fmla="*/ 0 h 138"/>
                    <a:gd name="T72" fmla="*/ 25 w 140"/>
                    <a:gd name="T73" fmla="*/ 0 h 13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40"/>
                    <a:gd name="T112" fmla="*/ 0 h 138"/>
                    <a:gd name="T113" fmla="*/ 140 w 140"/>
                    <a:gd name="T114" fmla="*/ 138 h 13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40" h="138">
                      <a:moveTo>
                        <a:pt x="25" y="0"/>
                      </a:moveTo>
                      <a:lnTo>
                        <a:pt x="0" y="13"/>
                      </a:lnTo>
                      <a:lnTo>
                        <a:pt x="0" y="26"/>
                      </a:lnTo>
                      <a:lnTo>
                        <a:pt x="0" y="45"/>
                      </a:lnTo>
                      <a:lnTo>
                        <a:pt x="6" y="52"/>
                      </a:lnTo>
                      <a:lnTo>
                        <a:pt x="19" y="65"/>
                      </a:lnTo>
                      <a:lnTo>
                        <a:pt x="12" y="72"/>
                      </a:lnTo>
                      <a:lnTo>
                        <a:pt x="19" y="85"/>
                      </a:lnTo>
                      <a:lnTo>
                        <a:pt x="25" y="91"/>
                      </a:lnTo>
                      <a:lnTo>
                        <a:pt x="31" y="98"/>
                      </a:lnTo>
                      <a:lnTo>
                        <a:pt x="38" y="98"/>
                      </a:lnTo>
                      <a:lnTo>
                        <a:pt x="44" y="104"/>
                      </a:lnTo>
                      <a:lnTo>
                        <a:pt x="50" y="104"/>
                      </a:lnTo>
                      <a:lnTo>
                        <a:pt x="57" y="124"/>
                      </a:lnTo>
                      <a:lnTo>
                        <a:pt x="69" y="124"/>
                      </a:lnTo>
                      <a:lnTo>
                        <a:pt x="107" y="137"/>
                      </a:lnTo>
                      <a:lnTo>
                        <a:pt x="139" y="104"/>
                      </a:lnTo>
                      <a:lnTo>
                        <a:pt x="139" y="98"/>
                      </a:lnTo>
                      <a:lnTo>
                        <a:pt x="139" y="78"/>
                      </a:lnTo>
                      <a:lnTo>
                        <a:pt x="126" y="65"/>
                      </a:lnTo>
                      <a:lnTo>
                        <a:pt x="107" y="52"/>
                      </a:lnTo>
                      <a:lnTo>
                        <a:pt x="107" y="39"/>
                      </a:lnTo>
                      <a:lnTo>
                        <a:pt x="101" y="39"/>
                      </a:lnTo>
                      <a:lnTo>
                        <a:pt x="95" y="32"/>
                      </a:lnTo>
                      <a:lnTo>
                        <a:pt x="88" y="32"/>
                      </a:lnTo>
                      <a:lnTo>
                        <a:pt x="95" y="45"/>
                      </a:lnTo>
                      <a:lnTo>
                        <a:pt x="95" y="52"/>
                      </a:lnTo>
                      <a:lnTo>
                        <a:pt x="95" y="59"/>
                      </a:lnTo>
                      <a:lnTo>
                        <a:pt x="101" y="59"/>
                      </a:lnTo>
                      <a:lnTo>
                        <a:pt x="114" y="65"/>
                      </a:lnTo>
                      <a:lnTo>
                        <a:pt x="120" y="72"/>
                      </a:lnTo>
                      <a:lnTo>
                        <a:pt x="126" y="78"/>
                      </a:lnTo>
                      <a:lnTo>
                        <a:pt x="120" y="91"/>
                      </a:lnTo>
                      <a:lnTo>
                        <a:pt x="107" y="104"/>
                      </a:lnTo>
                      <a:lnTo>
                        <a:pt x="101" y="117"/>
                      </a:lnTo>
                      <a:lnTo>
                        <a:pt x="76" y="111"/>
                      </a:lnTo>
                      <a:lnTo>
                        <a:pt x="57" y="98"/>
                      </a:lnTo>
                      <a:lnTo>
                        <a:pt x="57" y="85"/>
                      </a:lnTo>
                      <a:lnTo>
                        <a:pt x="50" y="78"/>
                      </a:lnTo>
                      <a:lnTo>
                        <a:pt x="44" y="78"/>
                      </a:lnTo>
                      <a:lnTo>
                        <a:pt x="38" y="78"/>
                      </a:lnTo>
                      <a:lnTo>
                        <a:pt x="31" y="78"/>
                      </a:lnTo>
                      <a:lnTo>
                        <a:pt x="25" y="72"/>
                      </a:lnTo>
                      <a:lnTo>
                        <a:pt x="25" y="65"/>
                      </a:lnTo>
                      <a:lnTo>
                        <a:pt x="31" y="59"/>
                      </a:lnTo>
                      <a:lnTo>
                        <a:pt x="31" y="52"/>
                      </a:lnTo>
                      <a:lnTo>
                        <a:pt x="25" y="52"/>
                      </a:lnTo>
                      <a:lnTo>
                        <a:pt x="19" y="52"/>
                      </a:lnTo>
                      <a:lnTo>
                        <a:pt x="19" y="45"/>
                      </a:lnTo>
                      <a:lnTo>
                        <a:pt x="12" y="45"/>
                      </a:lnTo>
                      <a:lnTo>
                        <a:pt x="12" y="32"/>
                      </a:lnTo>
                      <a:lnTo>
                        <a:pt x="12" y="26"/>
                      </a:lnTo>
                      <a:lnTo>
                        <a:pt x="19" y="19"/>
                      </a:lnTo>
                      <a:lnTo>
                        <a:pt x="25" y="19"/>
                      </a:lnTo>
                      <a:lnTo>
                        <a:pt x="38" y="19"/>
                      </a:lnTo>
                      <a:lnTo>
                        <a:pt x="50" y="32"/>
                      </a:lnTo>
                      <a:lnTo>
                        <a:pt x="57" y="32"/>
                      </a:lnTo>
                      <a:lnTo>
                        <a:pt x="63" y="32"/>
                      </a:lnTo>
                      <a:lnTo>
                        <a:pt x="76" y="26"/>
                      </a:lnTo>
                      <a:lnTo>
                        <a:pt x="88" y="32"/>
                      </a:lnTo>
                      <a:lnTo>
                        <a:pt x="76" y="19"/>
                      </a:lnTo>
                      <a:lnTo>
                        <a:pt x="57" y="19"/>
                      </a:lnTo>
                      <a:lnTo>
                        <a:pt x="50" y="19"/>
                      </a:lnTo>
                      <a:lnTo>
                        <a:pt x="38" y="6"/>
                      </a:lnTo>
                      <a:lnTo>
                        <a:pt x="25" y="0"/>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73" name="Freeform 45"/>
                <p:cNvSpPr>
                  <a:spLocks/>
                </p:cNvSpPr>
                <p:nvPr/>
              </p:nvSpPr>
              <p:spPr bwMode="auto">
                <a:xfrm>
                  <a:off x="3015" y="2971"/>
                  <a:ext cx="89" cy="85"/>
                </a:xfrm>
                <a:custGeom>
                  <a:avLst/>
                  <a:gdLst>
                    <a:gd name="T0" fmla="*/ 31 w 89"/>
                    <a:gd name="T1" fmla="*/ 0 h 85"/>
                    <a:gd name="T2" fmla="*/ 19 w 89"/>
                    <a:gd name="T3" fmla="*/ 0 h 85"/>
                    <a:gd name="T4" fmla="*/ 12 w 89"/>
                    <a:gd name="T5" fmla="*/ 6 h 85"/>
                    <a:gd name="T6" fmla="*/ 6 w 89"/>
                    <a:gd name="T7" fmla="*/ 19 h 85"/>
                    <a:gd name="T8" fmla="*/ 0 w 89"/>
                    <a:gd name="T9" fmla="*/ 26 h 85"/>
                    <a:gd name="T10" fmla="*/ 0 w 89"/>
                    <a:gd name="T11" fmla="*/ 39 h 85"/>
                    <a:gd name="T12" fmla="*/ 12 w 89"/>
                    <a:gd name="T13" fmla="*/ 45 h 85"/>
                    <a:gd name="T14" fmla="*/ 12 w 89"/>
                    <a:gd name="T15" fmla="*/ 58 h 85"/>
                    <a:gd name="T16" fmla="*/ 12 w 89"/>
                    <a:gd name="T17" fmla="*/ 71 h 85"/>
                    <a:gd name="T18" fmla="*/ 31 w 89"/>
                    <a:gd name="T19" fmla="*/ 84 h 85"/>
                    <a:gd name="T20" fmla="*/ 57 w 89"/>
                    <a:gd name="T21" fmla="*/ 84 h 85"/>
                    <a:gd name="T22" fmla="*/ 57 w 89"/>
                    <a:gd name="T23" fmla="*/ 78 h 85"/>
                    <a:gd name="T24" fmla="*/ 69 w 89"/>
                    <a:gd name="T25" fmla="*/ 78 h 85"/>
                    <a:gd name="T26" fmla="*/ 76 w 89"/>
                    <a:gd name="T27" fmla="*/ 78 h 85"/>
                    <a:gd name="T28" fmla="*/ 82 w 89"/>
                    <a:gd name="T29" fmla="*/ 71 h 85"/>
                    <a:gd name="T30" fmla="*/ 88 w 89"/>
                    <a:gd name="T31" fmla="*/ 52 h 85"/>
                    <a:gd name="T32" fmla="*/ 76 w 89"/>
                    <a:gd name="T33" fmla="*/ 52 h 85"/>
                    <a:gd name="T34" fmla="*/ 69 w 89"/>
                    <a:gd name="T35" fmla="*/ 32 h 85"/>
                    <a:gd name="T36" fmla="*/ 69 w 89"/>
                    <a:gd name="T37" fmla="*/ 45 h 85"/>
                    <a:gd name="T38" fmla="*/ 69 w 89"/>
                    <a:gd name="T39" fmla="*/ 52 h 85"/>
                    <a:gd name="T40" fmla="*/ 69 w 89"/>
                    <a:gd name="T41" fmla="*/ 52 h 85"/>
                    <a:gd name="T42" fmla="*/ 69 w 89"/>
                    <a:gd name="T43" fmla="*/ 58 h 85"/>
                    <a:gd name="T44" fmla="*/ 69 w 89"/>
                    <a:gd name="T45" fmla="*/ 58 h 85"/>
                    <a:gd name="T46" fmla="*/ 63 w 89"/>
                    <a:gd name="T47" fmla="*/ 65 h 85"/>
                    <a:gd name="T48" fmla="*/ 57 w 89"/>
                    <a:gd name="T49" fmla="*/ 65 h 85"/>
                    <a:gd name="T50" fmla="*/ 50 w 89"/>
                    <a:gd name="T51" fmla="*/ 58 h 85"/>
                    <a:gd name="T52" fmla="*/ 44 w 89"/>
                    <a:gd name="T53" fmla="*/ 52 h 85"/>
                    <a:gd name="T54" fmla="*/ 44 w 89"/>
                    <a:gd name="T55" fmla="*/ 52 h 85"/>
                    <a:gd name="T56" fmla="*/ 44 w 89"/>
                    <a:gd name="T57" fmla="*/ 58 h 85"/>
                    <a:gd name="T58" fmla="*/ 38 w 89"/>
                    <a:gd name="T59" fmla="*/ 65 h 85"/>
                    <a:gd name="T60" fmla="*/ 38 w 89"/>
                    <a:gd name="T61" fmla="*/ 65 h 85"/>
                    <a:gd name="T62" fmla="*/ 31 w 89"/>
                    <a:gd name="T63" fmla="*/ 65 h 85"/>
                    <a:gd name="T64" fmla="*/ 25 w 89"/>
                    <a:gd name="T65" fmla="*/ 58 h 85"/>
                    <a:gd name="T66" fmla="*/ 19 w 89"/>
                    <a:gd name="T67" fmla="*/ 58 h 85"/>
                    <a:gd name="T68" fmla="*/ 19 w 89"/>
                    <a:gd name="T69" fmla="*/ 52 h 85"/>
                    <a:gd name="T70" fmla="*/ 19 w 89"/>
                    <a:gd name="T71" fmla="*/ 52 h 85"/>
                    <a:gd name="T72" fmla="*/ 19 w 89"/>
                    <a:gd name="T73" fmla="*/ 45 h 85"/>
                    <a:gd name="T74" fmla="*/ 19 w 89"/>
                    <a:gd name="T75" fmla="*/ 39 h 85"/>
                    <a:gd name="T76" fmla="*/ 19 w 89"/>
                    <a:gd name="T77" fmla="*/ 32 h 85"/>
                    <a:gd name="T78" fmla="*/ 19 w 89"/>
                    <a:gd name="T79" fmla="*/ 26 h 85"/>
                    <a:gd name="T80" fmla="*/ 19 w 89"/>
                    <a:gd name="T81" fmla="*/ 26 h 85"/>
                    <a:gd name="T82" fmla="*/ 19 w 89"/>
                    <a:gd name="T83" fmla="*/ 26 h 85"/>
                    <a:gd name="T84" fmla="*/ 19 w 89"/>
                    <a:gd name="T85" fmla="*/ 26 h 85"/>
                    <a:gd name="T86" fmla="*/ 19 w 89"/>
                    <a:gd name="T87" fmla="*/ 19 h 85"/>
                    <a:gd name="T88" fmla="*/ 25 w 89"/>
                    <a:gd name="T89" fmla="*/ 13 h 85"/>
                    <a:gd name="T90" fmla="*/ 31 w 89"/>
                    <a:gd name="T91" fmla="*/ 13 h 85"/>
                    <a:gd name="T92" fmla="*/ 31 w 89"/>
                    <a:gd name="T93" fmla="*/ 19 h 85"/>
                    <a:gd name="T94" fmla="*/ 38 w 89"/>
                    <a:gd name="T95" fmla="*/ 19 h 85"/>
                    <a:gd name="T96" fmla="*/ 38 w 89"/>
                    <a:gd name="T97" fmla="*/ 26 h 85"/>
                    <a:gd name="T98" fmla="*/ 38 w 89"/>
                    <a:gd name="T99" fmla="*/ 26 h 85"/>
                    <a:gd name="T100" fmla="*/ 44 w 89"/>
                    <a:gd name="T101" fmla="*/ 26 h 85"/>
                    <a:gd name="T102" fmla="*/ 44 w 89"/>
                    <a:gd name="T103" fmla="*/ 26 h 85"/>
                    <a:gd name="T104" fmla="*/ 50 w 89"/>
                    <a:gd name="T105" fmla="*/ 26 h 85"/>
                    <a:gd name="T106" fmla="*/ 57 w 89"/>
                    <a:gd name="T107" fmla="*/ 26 h 85"/>
                    <a:gd name="T108" fmla="*/ 50 w 89"/>
                    <a:gd name="T109" fmla="*/ 26 h 85"/>
                    <a:gd name="T110" fmla="*/ 44 w 89"/>
                    <a:gd name="T111" fmla="*/ 19 h 85"/>
                    <a:gd name="T112" fmla="*/ 38 w 89"/>
                    <a:gd name="T113" fmla="*/ 13 h 85"/>
                    <a:gd name="T114" fmla="*/ 31 w 89"/>
                    <a:gd name="T115" fmla="*/ 0 h 85"/>
                    <a:gd name="T116" fmla="*/ 31 w 89"/>
                    <a:gd name="T117" fmla="*/ 0 h 8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9"/>
                    <a:gd name="T178" fmla="*/ 0 h 85"/>
                    <a:gd name="T179" fmla="*/ 89 w 89"/>
                    <a:gd name="T180" fmla="*/ 85 h 8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9" h="85">
                      <a:moveTo>
                        <a:pt x="31" y="0"/>
                      </a:moveTo>
                      <a:lnTo>
                        <a:pt x="19" y="0"/>
                      </a:lnTo>
                      <a:lnTo>
                        <a:pt x="12" y="6"/>
                      </a:lnTo>
                      <a:lnTo>
                        <a:pt x="6" y="19"/>
                      </a:lnTo>
                      <a:lnTo>
                        <a:pt x="0" y="26"/>
                      </a:lnTo>
                      <a:lnTo>
                        <a:pt x="0" y="39"/>
                      </a:lnTo>
                      <a:lnTo>
                        <a:pt x="12" y="45"/>
                      </a:lnTo>
                      <a:lnTo>
                        <a:pt x="12" y="58"/>
                      </a:lnTo>
                      <a:lnTo>
                        <a:pt x="12" y="71"/>
                      </a:lnTo>
                      <a:lnTo>
                        <a:pt x="31" y="84"/>
                      </a:lnTo>
                      <a:lnTo>
                        <a:pt x="57" y="84"/>
                      </a:lnTo>
                      <a:lnTo>
                        <a:pt x="57" y="78"/>
                      </a:lnTo>
                      <a:lnTo>
                        <a:pt x="69" y="78"/>
                      </a:lnTo>
                      <a:lnTo>
                        <a:pt x="76" y="78"/>
                      </a:lnTo>
                      <a:lnTo>
                        <a:pt x="82" y="71"/>
                      </a:lnTo>
                      <a:lnTo>
                        <a:pt x="88" y="52"/>
                      </a:lnTo>
                      <a:lnTo>
                        <a:pt x="76" y="52"/>
                      </a:lnTo>
                      <a:lnTo>
                        <a:pt x="69" y="32"/>
                      </a:lnTo>
                      <a:lnTo>
                        <a:pt x="69" y="45"/>
                      </a:lnTo>
                      <a:lnTo>
                        <a:pt x="69" y="52"/>
                      </a:lnTo>
                      <a:lnTo>
                        <a:pt x="69" y="58"/>
                      </a:lnTo>
                      <a:lnTo>
                        <a:pt x="63" y="65"/>
                      </a:lnTo>
                      <a:lnTo>
                        <a:pt x="57" y="65"/>
                      </a:lnTo>
                      <a:lnTo>
                        <a:pt x="50" y="58"/>
                      </a:lnTo>
                      <a:lnTo>
                        <a:pt x="44" y="52"/>
                      </a:lnTo>
                      <a:lnTo>
                        <a:pt x="44" y="58"/>
                      </a:lnTo>
                      <a:lnTo>
                        <a:pt x="38" y="65"/>
                      </a:lnTo>
                      <a:lnTo>
                        <a:pt x="31" y="65"/>
                      </a:lnTo>
                      <a:lnTo>
                        <a:pt x="25" y="58"/>
                      </a:lnTo>
                      <a:lnTo>
                        <a:pt x="19" y="58"/>
                      </a:lnTo>
                      <a:lnTo>
                        <a:pt x="19" y="52"/>
                      </a:lnTo>
                      <a:lnTo>
                        <a:pt x="19" y="45"/>
                      </a:lnTo>
                      <a:lnTo>
                        <a:pt x="19" y="39"/>
                      </a:lnTo>
                      <a:lnTo>
                        <a:pt x="19" y="32"/>
                      </a:lnTo>
                      <a:lnTo>
                        <a:pt x="19" y="26"/>
                      </a:lnTo>
                      <a:lnTo>
                        <a:pt x="19" y="19"/>
                      </a:lnTo>
                      <a:lnTo>
                        <a:pt x="25" y="13"/>
                      </a:lnTo>
                      <a:lnTo>
                        <a:pt x="31" y="13"/>
                      </a:lnTo>
                      <a:lnTo>
                        <a:pt x="31" y="19"/>
                      </a:lnTo>
                      <a:lnTo>
                        <a:pt x="38" y="19"/>
                      </a:lnTo>
                      <a:lnTo>
                        <a:pt x="38" y="26"/>
                      </a:lnTo>
                      <a:lnTo>
                        <a:pt x="44" y="26"/>
                      </a:lnTo>
                      <a:lnTo>
                        <a:pt x="50" y="26"/>
                      </a:lnTo>
                      <a:lnTo>
                        <a:pt x="57" y="26"/>
                      </a:lnTo>
                      <a:lnTo>
                        <a:pt x="50" y="26"/>
                      </a:lnTo>
                      <a:lnTo>
                        <a:pt x="44" y="19"/>
                      </a:lnTo>
                      <a:lnTo>
                        <a:pt x="38" y="13"/>
                      </a:lnTo>
                      <a:lnTo>
                        <a:pt x="31" y="0"/>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74" name="Freeform 46"/>
                <p:cNvSpPr>
                  <a:spLocks/>
                </p:cNvSpPr>
                <p:nvPr/>
              </p:nvSpPr>
              <p:spPr bwMode="auto">
                <a:xfrm>
                  <a:off x="3034" y="2984"/>
                  <a:ext cx="51" cy="53"/>
                </a:xfrm>
                <a:custGeom>
                  <a:avLst/>
                  <a:gdLst>
                    <a:gd name="T0" fmla="*/ 38 w 51"/>
                    <a:gd name="T1" fmla="*/ 13 h 53"/>
                    <a:gd name="T2" fmla="*/ 31 w 51"/>
                    <a:gd name="T3" fmla="*/ 13 h 53"/>
                    <a:gd name="T4" fmla="*/ 25 w 51"/>
                    <a:gd name="T5" fmla="*/ 13 h 53"/>
                    <a:gd name="T6" fmla="*/ 19 w 51"/>
                    <a:gd name="T7" fmla="*/ 13 h 53"/>
                    <a:gd name="T8" fmla="*/ 19 w 51"/>
                    <a:gd name="T9" fmla="*/ 13 h 53"/>
                    <a:gd name="T10" fmla="*/ 19 w 51"/>
                    <a:gd name="T11" fmla="*/ 6 h 53"/>
                    <a:gd name="T12" fmla="*/ 12 w 51"/>
                    <a:gd name="T13" fmla="*/ 6 h 53"/>
                    <a:gd name="T14" fmla="*/ 12 w 51"/>
                    <a:gd name="T15" fmla="*/ 0 h 53"/>
                    <a:gd name="T16" fmla="*/ 6 w 51"/>
                    <a:gd name="T17" fmla="*/ 0 h 53"/>
                    <a:gd name="T18" fmla="*/ 0 w 51"/>
                    <a:gd name="T19" fmla="*/ 6 h 53"/>
                    <a:gd name="T20" fmla="*/ 0 w 51"/>
                    <a:gd name="T21" fmla="*/ 13 h 53"/>
                    <a:gd name="T22" fmla="*/ 0 w 51"/>
                    <a:gd name="T23" fmla="*/ 13 h 53"/>
                    <a:gd name="T24" fmla="*/ 0 w 51"/>
                    <a:gd name="T25" fmla="*/ 13 h 53"/>
                    <a:gd name="T26" fmla="*/ 0 w 51"/>
                    <a:gd name="T27" fmla="*/ 19 h 53"/>
                    <a:gd name="T28" fmla="*/ 0 w 51"/>
                    <a:gd name="T29" fmla="*/ 26 h 53"/>
                    <a:gd name="T30" fmla="*/ 0 w 51"/>
                    <a:gd name="T31" fmla="*/ 32 h 53"/>
                    <a:gd name="T32" fmla="*/ 0 w 51"/>
                    <a:gd name="T33" fmla="*/ 39 h 53"/>
                    <a:gd name="T34" fmla="*/ 0 w 51"/>
                    <a:gd name="T35" fmla="*/ 39 h 53"/>
                    <a:gd name="T36" fmla="*/ 0 w 51"/>
                    <a:gd name="T37" fmla="*/ 45 h 53"/>
                    <a:gd name="T38" fmla="*/ 6 w 51"/>
                    <a:gd name="T39" fmla="*/ 45 h 53"/>
                    <a:gd name="T40" fmla="*/ 12 w 51"/>
                    <a:gd name="T41" fmla="*/ 52 h 53"/>
                    <a:gd name="T42" fmla="*/ 19 w 51"/>
                    <a:gd name="T43" fmla="*/ 52 h 53"/>
                    <a:gd name="T44" fmla="*/ 19 w 51"/>
                    <a:gd name="T45" fmla="*/ 52 h 53"/>
                    <a:gd name="T46" fmla="*/ 25 w 51"/>
                    <a:gd name="T47" fmla="*/ 45 h 53"/>
                    <a:gd name="T48" fmla="*/ 25 w 51"/>
                    <a:gd name="T49" fmla="*/ 39 h 53"/>
                    <a:gd name="T50" fmla="*/ 25 w 51"/>
                    <a:gd name="T51" fmla="*/ 39 h 53"/>
                    <a:gd name="T52" fmla="*/ 31 w 51"/>
                    <a:gd name="T53" fmla="*/ 45 h 53"/>
                    <a:gd name="T54" fmla="*/ 38 w 51"/>
                    <a:gd name="T55" fmla="*/ 52 h 53"/>
                    <a:gd name="T56" fmla="*/ 44 w 51"/>
                    <a:gd name="T57" fmla="*/ 52 h 53"/>
                    <a:gd name="T58" fmla="*/ 50 w 51"/>
                    <a:gd name="T59" fmla="*/ 45 h 53"/>
                    <a:gd name="T60" fmla="*/ 50 w 51"/>
                    <a:gd name="T61" fmla="*/ 45 h 53"/>
                    <a:gd name="T62" fmla="*/ 50 w 51"/>
                    <a:gd name="T63" fmla="*/ 39 h 53"/>
                    <a:gd name="T64" fmla="*/ 50 w 51"/>
                    <a:gd name="T65" fmla="*/ 32 h 53"/>
                    <a:gd name="T66" fmla="*/ 50 w 51"/>
                    <a:gd name="T67" fmla="*/ 19 h 53"/>
                    <a:gd name="T68" fmla="*/ 44 w 51"/>
                    <a:gd name="T69" fmla="*/ 19 h 53"/>
                    <a:gd name="T70" fmla="*/ 38 w 51"/>
                    <a:gd name="T71" fmla="*/ 13 h 53"/>
                    <a:gd name="T72" fmla="*/ 38 w 51"/>
                    <a:gd name="T73" fmla="*/ 13 h 5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51"/>
                    <a:gd name="T112" fmla="*/ 0 h 53"/>
                    <a:gd name="T113" fmla="*/ 51 w 51"/>
                    <a:gd name="T114" fmla="*/ 53 h 53"/>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51" h="53">
                      <a:moveTo>
                        <a:pt x="38" y="13"/>
                      </a:moveTo>
                      <a:lnTo>
                        <a:pt x="31" y="13"/>
                      </a:lnTo>
                      <a:lnTo>
                        <a:pt x="25" y="13"/>
                      </a:lnTo>
                      <a:lnTo>
                        <a:pt x="19" y="13"/>
                      </a:lnTo>
                      <a:lnTo>
                        <a:pt x="19" y="6"/>
                      </a:lnTo>
                      <a:lnTo>
                        <a:pt x="12" y="6"/>
                      </a:lnTo>
                      <a:lnTo>
                        <a:pt x="12" y="0"/>
                      </a:lnTo>
                      <a:lnTo>
                        <a:pt x="6" y="0"/>
                      </a:lnTo>
                      <a:lnTo>
                        <a:pt x="0" y="6"/>
                      </a:lnTo>
                      <a:lnTo>
                        <a:pt x="0" y="13"/>
                      </a:lnTo>
                      <a:lnTo>
                        <a:pt x="0" y="19"/>
                      </a:lnTo>
                      <a:lnTo>
                        <a:pt x="0" y="26"/>
                      </a:lnTo>
                      <a:lnTo>
                        <a:pt x="0" y="32"/>
                      </a:lnTo>
                      <a:lnTo>
                        <a:pt x="0" y="39"/>
                      </a:lnTo>
                      <a:lnTo>
                        <a:pt x="0" y="45"/>
                      </a:lnTo>
                      <a:lnTo>
                        <a:pt x="6" y="45"/>
                      </a:lnTo>
                      <a:lnTo>
                        <a:pt x="12" y="52"/>
                      </a:lnTo>
                      <a:lnTo>
                        <a:pt x="19" y="52"/>
                      </a:lnTo>
                      <a:lnTo>
                        <a:pt x="25" y="45"/>
                      </a:lnTo>
                      <a:lnTo>
                        <a:pt x="25" y="39"/>
                      </a:lnTo>
                      <a:lnTo>
                        <a:pt x="31" y="45"/>
                      </a:lnTo>
                      <a:lnTo>
                        <a:pt x="38" y="52"/>
                      </a:lnTo>
                      <a:lnTo>
                        <a:pt x="44" y="52"/>
                      </a:lnTo>
                      <a:lnTo>
                        <a:pt x="50" y="45"/>
                      </a:lnTo>
                      <a:lnTo>
                        <a:pt x="50" y="39"/>
                      </a:lnTo>
                      <a:lnTo>
                        <a:pt x="50" y="32"/>
                      </a:lnTo>
                      <a:lnTo>
                        <a:pt x="50" y="19"/>
                      </a:lnTo>
                      <a:lnTo>
                        <a:pt x="44" y="19"/>
                      </a:lnTo>
                      <a:lnTo>
                        <a:pt x="38" y="13"/>
                      </a:lnTo>
                      <a:close/>
                    </a:path>
                  </a:pathLst>
                </a:custGeom>
                <a:solidFill>
                  <a:srgbClr val="FFFFFF"/>
                </a:solidFill>
                <a:ln w="3175" cap="flat">
                  <a:solidFill>
                    <a:srgbClr val="000000"/>
                  </a:solidFill>
                  <a:prstDash val="solid"/>
                  <a:round/>
                  <a:headEnd/>
                  <a:tailEnd/>
                </a:ln>
              </p:spPr>
              <p:txBody>
                <a:bodyPr wrap="none" anchor="ctr">
                  <a:spAutoFit/>
                </a:bodyPr>
                <a:lstStyle/>
                <a:p>
                  <a:endParaRPr lang="zh-CN" altLang="en-US"/>
                </a:p>
              </p:txBody>
            </p:sp>
            <p:sp>
              <p:nvSpPr>
                <p:cNvPr id="52275" name="Freeform 47"/>
                <p:cNvSpPr>
                  <a:spLocks/>
                </p:cNvSpPr>
                <p:nvPr/>
              </p:nvSpPr>
              <p:spPr bwMode="auto">
                <a:xfrm>
                  <a:off x="3211" y="3036"/>
                  <a:ext cx="7" cy="14"/>
                </a:xfrm>
                <a:custGeom>
                  <a:avLst/>
                  <a:gdLst>
                    <a:gd name="T0" fmla="*/ 0 w 7"/>
                    <a:gd name="T1" fmla="*/ 13 h 14"/>
                    <a:gd name="T2" fmla="*/ 0 w 7"/>
                    <a:gd name="T3" fmla="*/ 13 h 14"/>
                    <a:gd name="T4" fmla="*/ 0 w 7"/>
                    <a:gd name="T5" fmla="*/ 13 h 14"/>
                    <a:gd name="T6" fmla="*/ 6 w 7"/>
                    <a:gd name="T7" fmla="*/ 13 h 14"/>
                    <a:gd name="T8" fmla="*/ 0 w 7"/>
                    <a:gd name="T9" fmla="*/ 6 h 14"/>
                    <a:gd name="T10" fmla="*/ 0 w 7"/>
                    <a:gd name="T11" fmla="*/ 0 h 14"/>
                    <a:gd name="T12" fmla="*/ 0 w 7"/>
                    <a:gd name="T13" fmla="*/ 0 h 14"/>
                    <a:gd name="T14" fmla="*/ 0 w 7"/>
                    <a:gd name="T15" fmla="*/ 13 h 14"/>
                    <a:gd name="T16" fmla="*/ 0 w 7"/>
                    <a:gd name="T17" fmla="*/ 13 h 14"/>
                    <a:gd name="T18" fmla="*/ 0 w 7"/>
                    <a:gd name="T19" fmla="*/ 13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14"/>
                    <a:gd name="T32" fmla="*/ 7 w 7"/>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14">
                      <a:moveTo>
                        <a:pt x="0" y="13"/>
                      </a:moveTo>
                      <a:lnTo>
                        <a:pt x="0" y="13"/>
                      </a:lnTo>
                      <a:lnTo>
                        <a:pt x="6" y="13"/>
                      </a:lnTo>
                      <a:lnTo>
                        <a:pt x="0" y="6"/>
                      </a:lnTo>
                      <a:lnTo>
                        <a:pt x="0" y="0"/>
                      </a:lnTo>
                      <a:lnTo>
                        <a:pt x="0" y="13"/>
                      </a:lnTo>
                      <a:close/>
                    </a:path>
                  </a:pathLst>
                </a:custGeom>
                <a:solidFill>
                  <a:srgbClr val="FFFFFF"/>
                </a:solidFill>
                <a:ln w="3175" cap="flat">
                  <a:solidFill>
                    <a:srgbClr val="000000"/>
                  </a:solidFill>
                  <a:prstDash val="solid"/>
                  <a:round/>
                  <a:headEnd/>
                  <a:tailEnd/>
                </a:ln>
              </p:spPr>
              <p:txBody>
                <a:bodyPr wrap="none" anchor="ctr">
                  <a:spAutoFit/>
                </a:bodyPr>
                <a:lstStyle/>
                <a:p>
                  <a:endParaRPr lang="zh-CN" altLang="en-US"/>
                </a:p>
              </p:txBody>
            </p:sp>
            <p:sp>
              <p:nvSpPr>
                <p:cNvPr id="52276" name="Freeform 48"/>
                <p:cNvSpPr>
                  <a:spLocks/>
                </p:cNvSpPr>
                <p:nvPr/>
              </p:nvSpPr>
              <p:spPr bwMode="auto">
                <a:xfrm>
                  <a:off x="3211" y="3036"/>
                  <a:ext cx="7" cy="14"/>
                </a:xfrm>
                <a:custGeom>
                  <a:avLst/>
                  <a:gdLst>
                    <a:gd name="T0" fmla="*/ 0 w 7"/>
                    <a:gd name="T1" fmla="*/ 13 h 14"/>
                    <a:gd name="T2" fmla="*/ 6 w 7"/>
                    <a:gd name="T3" fmla="*/ 13 h 14"/>
                    <a:gd name="T4" fmla="*/ 0 w 7"/>
                    <a:gd name="T5" fmla="*/ 6 h 14"/>
                    <a:gd name="T6" fmla="*/ 0 w 7"/>
                    <a:gd name="T7" fmla="*/ 0 h 14"/>
                    <a:gd name="T8" fmla="*/ 0 w 7"/>
                    <a:gd name="T9" fmla="*/ 13 h 14"/>
                    <a:gd name="T10" fmla="*/ 0 60000 65536"/>
                    <a:gd name="T11" fmla="*/ 0 60000 65536"/>
                    <a:gd name="T12" fmla="*/ 0 60000 65536"/>
                    <a:gd name="T13" fmla="*/ 0 60000 65536"/>
                    <a:gd name="T14" fmla="*/ 0 60000 65536"/>
                    <a:gd name="T15" fmla="*/ 0 w 7"/>
                    <a:gd name="T16" fmla="*/ 0 h 14"/>
                    <a:gd name="T17" fmla="*/ 7 w 7"/>
                    <a:gd name="T18" fmla="*/ 14 h 14"/>
                  </a:gdLst>
                  <a:ahLst/>
                  <a:cxnLst>
                    <a:cxn ang="T10">
                      <a:pos x="T0" y="T1"/>
                    </a:cxn>
                    <a:cxn ang="T11">
                      <a:pos x="T2" y="T3"/>
                    </a:cxn>
                    <a:cxn ang="T12">
                      <a:pos x="T4" y="T5"/>
                    </a:cxn>
                    <a:cxn ang="T13">
                      <a:pos x="T6" y="T7"/>
                    </a:cxn>
                    <a:cxn ang="T14">
                      <a:pos x="T8" y="T9"/>
                    </a:cxn>
                  </a:cxnLst>
                  <a:rect l="T15" t="T16" r="T17" b="T18"/>
                  <a:pathLst>
                    <a:path w="7" h="14">
                      <a:moveTo>
                        <a:pt x="0" y="13"/>
                      </a:moveTo>
                      <a:lnTo>
                        <a:pt x="6" y="13"/>
                      </a:lnTo>
                      <a:lnTo>
                        <a:pt x="0" y="6"/>
                      </a:lnTo>
                      <a:lnTo>
                        <a:pt x="0" y="0"/>
                      </a:lnTo>
                      <a:lnTo>
                        <a:pt x="0" y="13"/>
                      </a:lnTo>
                      <a:close/>
                    </a:path>
                  </a:pathLst>
                </a:custGeom>
                <a:solidFill>
                  <a:srgbClr val="FFFFFF"/>
                </a:solidFill>
                <a:ln w="3175" cap="flat">
                  <a:solidFill>
                    <a:srgbClr val="000000"/>
                  </a:solidFill>
                  <a:prstDash val="solid"/>
                  <a:round/>
                  <a:headEnd/>
                  <a:tailEnd/>
                </a:ln>
              </p:spPr>
              <p:txBody>
                <a:bodyPr wrap="none" anchor="ctr">
                  <a:spAutoFit/>
                </a:bodyPr>
                <a:lstStyle/>
                <a:p>
                  <a:endParaRPr lang="zh-CN" altLang="en-US"/>
                </a:p>
              </p:txBody>
            </p:sp>
            <p:sp>
              <p:nvSpPr>
                <p:cNvPr id="52277" name="Freeform 49"/>
                <p:cNvSpPr>
                  <a:spLocks/>
                </p:cNvSpPr>
                <p:nvPr/>
              </p:nvSpPr>
              <p:spPr bwMode="auto">
                <a:xfrm>
                  <a:off x="3211" y="3049"/>
                  <a:ext cx="14" cy="7"/>
                </a:xfrm>
                <a:custGeom>
                  <a:avLst/>
                  <a:gdLst>
                    <a:gd name="T0" fmla="*/ 0 w 14"/>
                    <a:gd name="T1" fmla="*/ 0 h 7"/>
                    <a:gd name="T2" fmla="*/ 0 w 14"/>
                    <a:gd name="T3" fmla="*/ 0 h 7"/>
                    <a:gd name="T4" fmla="*/ 6 w 14"/>
                    <a:gd name="T5" fmla="*/ 6 h 7"/>
                    <a:gd name="T6" fmla="*/ 13 w 14"/>
                    <a:gd name="T7" fmla="*/ 6 h 7"/>
                    <a:gd name="T8" fmla="*/ 6 w 14"/>
                    <a:gd name="T9" fmla="*/ 0 h 7"/>
                    <a:gd name="T10" fmla="*/ 0 w 14"/>
                    <a:gd name="T11" fmla="*/ 0 h 7"/>
                    <a:gd name="T12" fmla="*/ 0 w 14"/>
                    <a:gd name="T13" fmla="*/ 0 h 7"/>
                    <a:gd name="T14" fmla="*/ 0 w 14"/>
                    <a:gd name="T15" fmla="*/ 0 h 7"/>
                    <a:gd name="T16" fmla="*/ 0 w 14"/>
                    <a:gd name="T17" fmla="*/ 0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7"/>
                    <a:gd name="T29" fmla="*/ 14 w 14"/>
                    <a:gd name="T30" fmla="*/ 7 h 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7">
                      <a:moveTo>
                        <a:pt x="0" y="0"/>
                      </a:moveTo>
                      <a:lnTo>
                        <a:pt x="0" y="0"/>
                      </a:lnTo>
                      <a:lnTo>
                        <a:pt x="6" y="6"/>
                      </a:lnTo>
                      <a:lnTo>
                        <a:pt x="13" y="6"/>
                      </a:lnTo>
                      <a:lnTo>
                        <a:pt x="6" y="0"/>
                      </a:lnTo>
                      <a:lnTo>
                        <a:pt x="0" y="0"/>
                      </a:lnTo>
                      <a:close/>
                    </a:path>
                  </a:pathLst>
                </a:custGeom>
                <a:solidFill>
                  <a:srgbClr val="FFFFFF"/>
                </a:solidFill>
                <a:ln w="3175" cap="flat">
                  <a:solidFill>
                    <a:srgbClr val="000000"/>
                  </a:solidFill>
                  <a:prstDash val="solid"/>
                  <a:round/>
                  <a:headEnd/>
                  <a:tailEnd/>
                </a:ln>
              </p:spPr>
              <p:txBody>
                <a:bodyPr wrap="none" anchor="ctr">
                  <a:spAutoFit/>
                </a:bodyPr>
                <a:lstStyle/>
                <a:p>
                  <a:endParaRPr lang="zh-CN" altLang="en-US"/>
                </a:p>
              </p:txBody>
            </p:sp>
            <p:sp>
              <p:nvSpPr>
                <p:cNvPr id="52278" name="Freeform 50"/>
                <p:cNvSpPr>
                  <a:spLocks/>
                </p:cNvSpPr>
                <p:nvPr/>
              </p:nvSpPr>
              <p:spPr bwMode="auto">
                <a:xfrm>
                  <a:off x="3211" y="3049"/>
                  <a:ext cx="14" cy="7"/>
                </a:xfrm>
                <a:custGeom>
                  <a:avLst/>
                  <a:gdLst>
                    <a:gd name="T0" fmla="*/ 0 w 14"/>
                    <a:gd name="T1" fmla="*/ 0 h 7"/>
                    <a:gd name="T2" fmla="*/ 6 w 14"/>
                    <a:gd name="T3" fmla="*/ 6 h 7"/>
                    <a:gd name="T4" fmla="*/ 13 w 14"/>
                    <a:gd name="T5" fmla="*/ 6 h 7"/>
                    <a:gd name="T6" fmla="*/ 6 w 14"/>
                    <a:gd name="T7" fmla="*/ 0 h 7"/>
                    <a:gd name="T8" fmla="*/ 0 w 14"/>
                    <a:gd name="T9" fmla="*/ 0 h 7"/>
                    <a:gd name="T10" fmla="*/ 0 60000 65536"/>
                    <a:gd name="T11" fmla="*/ 0 60000 65536"/>
                    <a:gd name="T12" fmla="*/ 0 60000 65536"/>
                    <a:gd name="T13" fmla="*/ 0 60000 65536"/>
                    <a:gd name="T14" fmla="*/ 0 60000 65536"/>
                    <a:gd name="T15" fmla="*/ 0 w 14"/>
                    <a:gd name="T16" fmla="*/ 0 h 7"/>
                    <a:gd name="T17" fmla="*/ 14 w 14"/>
                    <a:gd name="T18" fmla="*/ 7 h 7"/>
                  </a:gdLst>
                  <a:ahLst/>
                  <a:cxnLst>
                    <a:cxn ang="T10">
                      <a:pos x="T0" y="T1"/>
                    </a:cxn>
                    <a:cxn ang="T11">
                      <a:pos x="T2" y="T3"/>
                    </a:cxn>
                    <a:cxn ang="T12">
                      <a:pos x="T4" y="T5"/>
                    </a:cxn>
                    <a:cxn ang="T13">
                      <a:pos x="T6" y="T7"/>
                    </a:cxn>
                    <a:cxn ang="T14">
                      <a:pos x="T8" y="T9"/>
                    </a:cxn>
                  </a:cxnLst>
                  <a:rect l="T15" t="T16" r="T17" b="T18"/>
                  <a:pathLst>
                    <a:path w="14" h="7">
                      <a:moveTo>
                        <a:pt x="0" y="0"/>
                      </a:moveTo>
                      <a:lnTo>
                        <a:pt x="6" y="6"/>
                      </a:lnTo>
                      <a:lnTo>
                        <a:pt x="13" y="6"/>
                      </a:lnTo>
                      <a:lnTo>
                        <a:pt x="6" y="0"/>
                      </a:lnTo>
                      <a:lnTo>
                        <a:pt x="0" y="0"/>
                      </a:lnTo>
                      <a:close/>
                    </a:path>
                  </a:pathLst>
                </a:custGeom>
                <a:solidFill>
                  <a:srgbClr val="FFFFFF"/>
                </a:solidFill>
                <a:ln w="3175" cap="flat">
                  <a:solidFill>
                    <a:srgbClr val="000000"/>
                  </a:solidFill>
                  <a:prstDash val="solid"/>
                  <a:round/>
                  <a:headEnd/>
                  <a:tailEnd/>
                </a:ln>
              </p:spPr>
              <p:txBody>
                <a:bodyPr wrap="none" anchor="ctr">
                  <a:spAutoFit/>
                </a:bodyPr>
                <a:lstStyle/>
                <a:p>
                  <a:endParaRPr lang="zh-CN" altLang="en-US"/>
                </a:p>
              </p:txBody>
            </p:sp>
          </p:grpSp>
          <p:sp>
            <p:nvSpPr>
              <p:cNvPr id="52265" name="Freeform 51"/>
              <p:cNvSpPr>
                <a:spLocks/>
              </p:cNvSpPr>
              <p:nvPr/>
            </p:nvSpPr>
            <p:spPr bwMode="auto">
              <a:xfrm>
                <a:off x="2907" y="3140"/>
                <a:ext cx="84" cy="14"/>
              </a:xfrm>
              <a:custGeom>
                <a:avLst/>
                <a:gdLst>
                  <a:gd name="T0" fmla="*/ 70 w 84"/>
                  <a:gd name="T1" fmla="*/ 6 h 14"/>
                  <a:gd name="T2" fmla="*/ 70 w 84"/>
                  <a:gd name="T3" fmla="*/ 6 h 14"/>
                  <a:gd name="T4" fmla="*/ 64 w 84"/>
                  <a:gd name="T5" fmla="*/ 6 h 14"/>
                  <a:gd name="T6" fmla="*/ 57 w 84"/>
                  <a:gd name="T7" fmla="*/ 0 h 14"/>
                  <a:gd name="T8" fmla="*/ 57 w 84"/>
                  <a:gd name="T9" fmla="*/ 0 h 14"/>
                  <a:gd name="T10" fmla="*/ 45 w 84"/>
                  <a:gd name="T11" fmla="*/ 0 h 14"/>
                  <a:gd name="T12" fmla="*/ 32 w 84"/>
                  <a:gd name="T13" fmla="*/ 0 h 14"/>
                  <a:gd name="T14" fmla="*/ 26 w 84"/>
                  <a:gd name="T15" fmla="*/ 0 h 14"/>
                  <a:gd name="T16" fmla="*/ 26 w 84"/>
                  <a:gd name="T17" fmla="*/ 0 h 14"/>
                  <a:gd name="T18" fmla="*/ 13 w 84"/>
                  <a:gd name="T19" fmla="*/ 6 h 14"/>
                  <a:gd name="T20" fmla="*/ 0 w 84"/>
                  <a:gd name="T21" fmla="*/ 13 h 14"/>
                  <a:gd name="T22" fmla="*/ 45 w 84"/>
                  <a:gd name="T23" fmla="*/ 6 h 14"/>
                  <a:gd name="T24" fmla="*/ 83 w 84"/>
                  <a:gd name="T25" fmla="*/ 13 h 14"/>
                  <a:gd name="T26" fmla="*/ 76 w 84"/>
                  <a:gd name="T27" fmla="*/ 13 h 14"/>
                  <a:gd name="T28" fmla="*/ 70 w 84"/>
                  <a:gd name="T29" fmla="*/ 6 h 14"/>
                  <a:gd name="T30" fmla="*/ 70 w 84"/>
                  <a:gd name="T31" fmla="*/ 6 h 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14"/>
                  <a:gd name="T50" fmla="*/ 84 w 84"/>
                  <a:gd name="T51" fmla="*/ 14 h 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14">
                    <a:moveTo>
                      <a:pt x="70" y="6"/>
                    </a:moveTo>
                    <a:lnTo>
                      <a:pt x="70" y="6"/>
                    </a:lnTo>
                    <a:lnTo>
                      <a:pt x="64" y="6"/>
                    </a:lnTo>
                    <a:lnTo>
                      <a:pt x="57" y="0"/>
                    </a:lnTo>
                    <a:lnTo>
                      <a:pt x="45" y="0"/>
                    </a:lnTo>
                    <a:lnTo>
                      <a:pt x="32" y="0"/>
                    </a:lnTo>
                    <a:lnTo>
                      <a:pt x="26" y="0"/>
                    </a:lnTo>
                    <a:lnTo>
                      <a:pt x="13" y="6"/>
                    </a:lnTo>
                    <a:lnTo>
                      <a:pt x="0" y="13"/>
                    </a:lnTo>
                    <a:lnTo>
                      <a:pt x="45" y="6"/>
                    </a:lnTo>
                    <a:lnTo>
                      <a:pt x="83" y="13"/>
                    </a:lnTo>
                    <a:lnTo>
                      <a:pt x="76" y="13"/>
                    </a:lnTo>
                    <a:lnTo>
                      <a:pt x="70" y="6"/>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66" name="Freeform 52"/>
              <p:cNvSpPr>
                <a:spLocks/>
              </p:cNvSpPr>
              <p:nvPr/>
            </p:nvSpPr>
            <p:spPr bwMode="auto">
              <a:xfrm>
                <a:off x="2933" y="3101"/>
                <a:ext cx="45" cy="46"/>
              </a:xfrm>
              <a:custGeom>
                <a:avLst/>
                <a:gdLst>
                  <a:gd name="T0" fmla="*/ 44 w 45"/>
                  <a:gd name="T1" fmla="*/ 45 h 46"/>
                  <a:gd name="T2" fmla="*/ 44 w 45"/>
                  <a:gd name="T3" fmla="*/ 32 h 46"/>
                  <a:gd name="T4" fmla="*/ 38 w 45"/>
                  <a:gd name="T5" fmla="*/ 26 h 46"/>
                  <a:gd name="T6" fmla="*/ 31 w 45"/>
                  <a:gd name="T7" fmla="*/ 13 h 46"/>
                  <a:gd name="T8" fmla="*/ 25 w 45"/>
                  <a:gd name="T9" fmla="*/ 0 h 46"/>
                  <a:gd name="T10" fmla="*/ 25 w 45"/>
                  <a:gd name="T11" fmla="*/ 0 h 46"/>
                  <a:gd name="T12" fmla="*/ 19 w 45"/>
                  <a:gd name="T13" fmla="*/ 0 h 46"/>
                  <a:gd name="T14" fmla="*/ 12 w 45"/>
                  <a:gd name="T15" fmla="*/ 0 h 46"/>
                  <a:gd name="T16" fmla="*/ 12 w 45"/>
                  <a:gd name="T17" fmla="*/ 0 h 46"/>
                  <a:gd name="T18" fmla="*/ 0 w 45"/>
                  <a:gd name="T19" fmla="*/ 26 h 46"/>
                  <a:gd name="T20" fmla="*/ 0 w 45"/>
                  <a:gd name="T21" fmla="*/ 39 h 46"/>
                  <a:gd name="T22" fmla="*/ 0 w 45"/>
                  <a:gd name="T23" fmla="*/ 39 h 46"/>
                  <a:gd name="T24" fmla="*/ 6 w 45"/>
                  <a:gd name="T25" fmla="*/ 39 h 46"/>
                  <a:gd name="T26" fmla="*/ 6 w 45"/>
                  <a:gd name="T27" fmla="*/ 32 h 46"/>
                  <a:gd name="T28" fmla="*/ 6 w 45"/>
                  <a:gd name="T29" fmla="*/ 26 h 46"/>
                  <a:gd name="T30" fmla="*/ 12 w 45"/>
                  <a:gd name="T31" fmla="*/ 19 h 46"/>
                  <a:gd name="T32" fmla="*/ 19 w 45"/>
                  <a:gd name="T33" fmla="*/ 32 h 46"/>
                  <a:gd name="T34" fmla="*/ 31 w 45"/>
                  <a:gd name="T35" fmla="*/ 26 h 46"/>
                  <a:gd name="T36" fmla="*/ 31 w 45"/>
                  <a:gd name="T37" fmla="*/ 26 h 46"/>
                  <a:gd name="T38" fmla="*/ 31 w 45"/>
                  <a:gd name="T39" fmla="*/ 26 h 46"/>
                  <a:gd name="T40" fmla="*/ 38 w 45"/>
                  <a:gd name="T41" fmla="*/ 45 h 46"/>
                  <a:gd name="T42" fmla="*/ 38 w 45"/>
                  <a:gd name="T43" fmla="*/ 45 h 46"/>
                  <a:gd name="T44" fmla="*/ 44 w 45"/>
                  <a:gd name="T45" fmla="*/ 45 h 46"/>
                  <a:gd name="T46" fmla="*/ 44 w 45"/>
                  <a:gd name="T47" fmla="*/ 45 h 46"/>
                  <a:gd name="T48" fmla="*/ 44 w 45"/>
                  <a:gd name="T49" fmla="*/ 45 h 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5"/>
                  <a:gd name="T76" fmla="*/ 0 h 46"/>
                  <a:gd name="T77" fmla="*/ 45 w 45"/>
                  <a:gd name="T78" fmla="*/ 46 h 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5" h="46">
                    <a:moveTo>
                      <a:pt x="44" y="45"/>
                    </a:moveTo>
                    <a:lnTo>
                      <a:pt x="44" y="32"/>
                    </a:lnTo>
                    <a:lnTo>
                      <a:pt x="38" y="26"/>
                    </a:lnTo>
                    <a:lnTo>
                      <a:pt x="31" y="13"/>
                    </a:lnTo>
                    <a:lnTo>
                      <a:pt x="25" y="0"/>
                    </a:lnTo>
                    <a:lnTo>
                      <a:pt x="19" y="0"/>
                    </a:lnTo>
                    <a:lnTo>
                      <a:pt x="12" y="0"/>
                    </a:lnTo>
                    <a:lnTo>
                      <a:pt x="0" y="26"/>
                    </a:lnTo>
                    <a:lnTo>
                      <a:pt x="0" y="39"/>
                    </a:lnTo>
                    <a:lnTo>
                      <a:pt x="6" y="39"/>
                    </a:lnTo>
                    <a:lnTo>
                      <a:pt x="6" y="32"/>
                    </a:lnTo>
                    <a:lnTo>
                      <a:pt x="6" y="26"/>
                    </a:lnTo>
                    <a:lnTo>
                      <a:pt x="12" y="19"/>
                    </a:lnTo>
                    <a:lnTo>
                      <a:pt x="19" y="32"/>
                    </a:lnTo>
                    <a:lnTo>
                      <a:pt x="31" y="26"/>
                    </a:lnTo>
                    <a:lnTo>
                      <a:pt x="38" y="45"/>
                    </a:lnTo>
                    <a:lnTo>
                      <a:pt x="44" y="45"/>
                    </a:lnTo>
                    <a:close/>
                  </a:path>
                </a:pathLst>
              </a:custGeom>
              <a:gradFill rotWithShape="1">
                <a:gsLst>
                  <a:gs pos="0">
                    <a:schemeClr val="accent1"/>
                  </a:gs>
                  <a:gs pos="100000">
                    <a:srgbClr val="EF9100"/>
                  </a:gs>
                </a:gsLst>
                <a:lin ang="5400000" scaled="1"/>
              </a:gradFill>
              <a:ln w="3175" cap="flat">
                <a:solidFill>
                  <a:srgbClr val="000000"/>
                </a:solidFill>
                <a:prstDash val="solid"/>
                <a:round/>
                <a:headEnd/>
                <a:tailEnd/>
              </a:ln>
            </p:spPr>
            <p:txBody>
              <a:bodyPr wrap="none" anchor="ctr">
                <a:spAutoFit/>
              </a:bodyPr>
              <a:lstStyle/>
              <a:p>
                <a:endParaRPr lang="zh-CN" altLang="en-US"/>
              </a:p>
            </p:txBody>
          </p:sp>
          <p:sp>
            <p:nvSpPr>
              <p:cNvPr id="52267" name="Freeform 53"/>
              <p:cNvSpPr>
                <a:spLocks/>
              </p:cNvSpPr>
              <p:nvPr/>
            </p:nvSpPr>
            <p:spPr bwMode="auto">
              <a:xfrm>
                <a:off x="2964" y="3290"/>
                <a:ext cx="273" cy="382"/>
              </a:xfrm>
              <a:custGeom>
                <a:avLst/>
                <a:gdLst>
                  <a:gd name="T0" fmla="*/ 108 w 273"/>
                  <a:gd name="T1" fmla="*/ 6 h 382"/>
                  <a:gd name="T2" fmla="*/ 89 w 273"/>
                  <a:gd name="T3" fmla="*/ 45 h 382"/>
                  <a:gd name="T4" fmla="*/ 63 w 273"/>
                  <a:gd name="T5" fmla="*/ 117 h 382"/>
                  <a:gd name="T6" fmla="*/ 44 w 273"/>
                  <a:gd name="T7" fmla="*/ 215 h 382"/>
                  <a:gd name="T8" fmla="*/ 0 w 273"/>
                  <a:gd name="T9" fmla="*/ 351 h 382"/>
                  <a:gd name="T10" fmla="*/ 16 w 273"/>
                  <a:gd name="T11" fmla="*/ 364 h 382"/>
                  <a:gd name="T12" fmla="*/ 82 w 273"/>
                  <a:gd name="T13" fmla="*/ 306 h 382"/>
                  <a:gd name="T14" fmla="*/ 108 w 273"/>
                  <a:gd name="T15" fmla="*/ 299 h 382"/>
                  <a:gd name="T16" fmla="*/ 133 w 273"/>
                  <a:gd name="T17" fmla="*/ 267 h 382"/>
                  <a:gd name="T18" fmla="*/ 133 w 273"/>
                  <a:gd name="T19" fmla="*/ 182 h 382"/>
                  <a:gd name="T20" fmla="*/ 146 w 273"/>
                  <a:gd name="T21" fmla="*/ 149 h 382"/>
                  <a:gd name="T22" fmla="*/ 165 w 273"/>
                  <a:gd name="T23" fmla="*/ 123 h 382"/>
                  <a:gd name="T24" fmla="*/ 177 w 273"/>
                  <a:gd name="T25" fmla="*/ 136 h 382"/>
                  <a:gd name="T26" fmla="*/ 165 w 273"/>
                  <a:gd name="T27" fmla="*/ 149 h 382"/>
                  <a:gd name="T28" fmla="*/ 152 w 273"/>
                  <a:gd name="T29" fmla="*/ 156 h 382"/>
                  <a:gd name="T30" fmla="*/ 152 w 273"/>
                  <a:gd name="T31" fmla="*/ 175 h 382"/>
                  <a:gd name="T32" fmla="*/ 152 w 273"/>
                  <a:gd name="T33" fmla="*/ 149 h 382"/>
                  <a:gd name="T34" fmla="*/ 146 w 273"/>
                  <a:gd name="T35" fmla="*/ 182 h 382"/>
                  <a:gd name="T36" fmla="*/ 171 w 273"/>
                  <a:gd name="T37" fmla="*/ 188 h 382"/>
                  <a:gd name="T38" fmla="*/ 209 w 273"/>
                  <a:gd name="T39" fmla="*/ 149 h 382"/>
                  <a:gd name="T40" fmla="*/ 228 w 273"/>
                  <a:gd name="T41" fmla="*/ 130 h 382"/>
                  <a:gd name="T42" fmla="*/ 228 w 273"/>
                  <a:gd name="T43" fmla="*/ 123 h 382"/>
                  <a:gd name="T44" fmla="*/ 171 w 273"/>
                  <a:gd name="T45" fmla="*/ 78 h 382"/>
                  <a:gd name="T46" fmla="*/ 228 w 273"/>
                  <a:gd name="T47" fmla="*/ 117 h 382"/>
                  <a:gd name="T48" fmla="*/ 260 w 273"/>
                  <a:gd name="T49" fmla="*/ 97 h 382"/>
                  <a:gd name="T50" fmla="*/ 272 w 273"/>
                  <a:gd name="T51" fmla="*/ 71 h 382"/>
                  <a:gd name="T52" fmla="*/ 196 w 273"/>
                  <a:gd name="T53" fmla="*/ 45 h 382"/>
                  <a:gd name="T54" fmla="*/ 253 w 273"/>
                  <a:gd name="T55" fmla="*/ 65 h 382"/>
                  <a:gd name="T56" fmla="*/ 272 w 273"/>
                  <a:gd name="T57" fmla="*/ 52 h 382"/>
                  <a:gd name="T58" fmla="*/ 215 w 273"/>
                  <a:gd name="T59" fmla="*/ 32 h 382"/>
                  <a:gd name="T60" fmla="*/ 146 w 273"/>
                  <a:gd name="T61" fmla="*/ 19 h 382"/>
                  <a:gd name="T62" fmla="*/ 120 w 273"/>
                  <a:gd name="T63" fmla="*/ 0 h 38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73"/>
                  <a:gd name="T97" fmla="*/ 0 h 382"/>
                  <a:gd name="T98" fmla="*/ 273 w 273"/>
                  <a:gd name="T99" fmla="*/ 382 h 38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73" h="382">
                    <a:moveTo>
                      <a:pt x="120" y="0"/>
                    </a:moveTo>
                    <a:lnTo>
                      <a:pt x="108" y="6"/>
                    </a:lnTo>
                    <a:lnTo>
                      <a:pt x="95" y="13"/>
                    </a:lnTo>
                    <a:lnTo>
                      <a:pt x="89" y="45"/>
                    </a:lnTo>
                    <a:lnTo>
                      <a:pt x="76" y="71"/>
                    </a:lnTo>
                    <a:lnTo>
                      <a:pt x="63" y="117"/>
                    </a:lnTo>
                    <a:lnTo>
                      <a:pt x="44" y="162"/>
                    </a:lnTo>
                    <a:lnTo>
                      <a:pt x="44" y="215"/>
                    </a:lnTo>
                    <a:lnTo>
                      <a:pt x="26" y="260"/>
                    </a:lnTo>
                    <a:lnTo>
                      <a:pt x="0" y="351"/>
                    </a:lnTo>
                    <a:lnTo>
                      <a:pt x="10" y="338"/>
                    </a:lnTo>
                    <a:lnTo>
                      <a:pt x="16" y="364"/>
                    </a:lnTo>
                    <a:lnTo>
                      <a:pt x="35" y="381"/>
                    </a:lnTo>
                    <a:lnTo>
                      <a:pt x="82" y="306"/>
                    </a:lnTo>
                    <a:lnTo>
                      <a:pt x="63" y="306"/>
                    </a:lnTo>
                    <a:lnTo>
                      <a:pt x="108" y="299"/>
                    </a:lnTo>
                    <a:lnTo>
                      <a:pt x="127" y="280"/>
                    </a:lnTo>
                    <a:lnTo>
                      <a:pt x="133" y="267"/>
                    </a:lnTo>
                    <a:lnTo>
                      <a:pt x="133" y="234"/>
                    </a:lnTo>
                    <a:lnTo>
                      <a:pt x="133" y="182"/>
                    </a:lnTo>
                    <a:lnTo>
                      <a:pt x="139" y="123"/>
                    </a:lnTo>
                    <a:lnTo>
                      <a:pt x="146" y="149"/>
                    </a:lnTo>
                    <a:lnTo>
                      <a:pt x="146" y="143"/>
                    </a:lnTo>
                    <a:lnTo>
                      <a:pt x="165" y="123"/>
                    </a:lnTo>
                    <a:lnTo>
                      <a:pt x="165" y="143"/>
                    </a:lnTo>
                    <a:lnTo>
                      <a:pt x="177" y="136"/>
                    </a:lnTo>
                    <a:lnTo>
                      <a:pt x="171" y="149"/>
                    </a:lnTo>
                    <a:lnTo>
                      <a:pt x="165" y="149"/>
                    </a:lnTo>
                    <a:lnTo>
                      <a:pt x="158" y="156"/>
                    </a:lnTo>
                    <a:lnTo>
                      <a:pt x="152" y="156"/>
                    </a:lnTo>
                    <a:lnTo>
                      <a:pt x="152" y="175"/>
                    </a:lnTo>
                    <a:lnTo>
                      <a:pt x="146" y="162"/>
                    </a:lnTo>
                    <a:lnTo>
                      <a:pt x="152" y="149"/>
                    </a:lnTo>
                    <a:lnTo>
                      <a:pt x="146" y="149"/>
                    </a:lnTo>
                    <a:lnTo>
                      <a:pt x="146" y="182"/>
                    </a:lnTo>
                    <a:lnTo>
                      <a:pt x="171" y="188"/>
                    </a:lnTo>
                    <a:lnTo>
                      <a:pt x="196" y="169"/>
                    </a:lnTo>
                    <a:lnTo>
                      <a:pt x="209" y="149"/>
                    </a:lnTo>
                    <a:lnTo>
                      <a:pt x="222" y="130"/>
                    </a:lnTo>
                    <a:lnTo>
                      <a:pt x="228" y="130"/>
                    </a:lnTo>
                    <a:lnTo>
                      <a:pt x="228" y="123"/>
                    </a:lnTo>
                    <a:lnTo>
                      <a:pt x="184" y="91"/>
                    </a:lnTo>
                    <a:lnTo>
                      <a:pt x="171" y="78"/>
                    </a:lnTo>
                    <a:lnTo>
                      <a:pt x="184" y="91"/>
                    </a:lnTo>
                    <a:lnTo>
                      <a:pt x="228" y="117"/>
                    </a:lnTo>
                    <a:lnTo>
                      <a:pt x="247" y="110"/>
                    </a:lnTo>
                    <a:lnTo>
                      <a:pt x="260" y="97"/>
                    </a:lnTo>
                    <a:lnTo>
                      <a:pt x="272" y="91"/>
                    </a:lnTo>
                    <a:lnTo>
                      <a:pt x="272" y="71"/>
                    </a:lnTo>
                    <a:lnTo>
                      <a:pt x="234" y="65"/>
                    </a:lnTo>
                    <a:lnTo>
                      <a:pt x="196" y="45"/>
                    </a:lnTo>
                    <a:lnTo>
                      <a:pt x="222" y="52"/>
                    </a:lnTo>
                    <a:lnTo>
                      <a:pt x="253" y="65"/>
                    </a:lnTo>
                    <a:lnTo>
                      <a:pt x="266" y="65"/>
                    </a:lnTo>
                    <a:lnTo>
                      <a:pt x="272" y="52"/>
                    </a:lnTo>
                    <a:lnTo>
                      <a:pt x="266" y="45"/>
                    </a:lnTo>
                    <a:lnTo>
                      <a:pt x="215" y="32"/>
                    </a:lnTo>
                    <a:lnTo>
                      <a:pt x="158" y="19"/>
                    </a:lnTo>
                    <a:lnTo>
                      <a:pt x="146" y="19"/>
                    </a:lnTo>
                    <a:lnTo>
                      <a:pt x="120" y="0"/>
                    </a:lnTo>
                    <a:close/>
                  </a:path>
                </a:pathLst>
              </a:custGeom>
              <a:solidFill>
                <a:srgbClr val="FFFFFF"/>
              </a:solidFill>
              <a:ln w="3175" cap="flat">
                <a:solidFill>
                  <a:srgbClr val="000000"/>
                </a:solidFill>
                <a:prstDash val="solid"/>
                <a:round/>
                <a:headEnd/>
                <a:tailEnd/>
              </a:ln>
            </p:spPr>
            <p:txBody>
              <a:bodyPr wrap="none" anchor="ctr">
                <a:spAutoFit/>
              </a:bodyPr>
              <a:lstStyle/>
              <a:p>
                <a:endParaRPr lang="zh-CN" altLang="en-US"/>
              </a:p>
            </p:txBody>
          </p:sp>
          <p:sp>
            <p:nvSpPr>
              <p:cNvPr id="52268" name="Freeform 54"/>
              <p:cNvSpPr>
                <a:spLocks/>
              </p:cNvSpPr>
              <p:nvPr/>
            </p:nvSpPr>
            <p:spPr bwMode="auto">
              <a:xfrm>
                <a:off x="2939" y="3615"/>
                <a:ext cx="77" cy="105"/>
              </a:xfrm>
              <a:custGeom>
                <a:avLst/>
                <a:gdLst>
                  <a:gd name="T0" fmla="*/ 32 w 77"/>
                  <a:gd name="T1" fmla="*/ 7 h 105"/>
                  <a:gd name="T2" fmla="*/ 54 w 77"/>
                  <a:gd name="T3" fmla="*/ 30 h 105"/>
                  <a:gd name="T4" fmla="*/ 69 w 77"/>
                  <a:gd name="T5" fmla="*/ 52 h 105"/>
                  <a:gd name="T6" fmla="*/ 76 w 77"/>
                  <a:gd name="T7" fmla="*/ 46 h 105"/>
                  <a:gd name="T8" fmla="*/ 69 w 77"/>
                  <a:gd name="T9" fmla="*/ 59 h 105"/>
                  <a:gd name="T10" fmla="*/ 69 w 77"/>
                  <a:gd name="T11" fmla="*/ 91 h 105"/>
                  <a:gd name="T12" fmla="*/ 63 w 77"/>
                  <a:gd name="T13" fmla="*/ 104 h 105"/>
                  <a:gd name="T14" fmla="*/ 51 w 77"/>
                  <a:gd name="T15" fmla="*/ 98 h 105"/>
                  <a:gd name="T16" fmla="*/ 44 w 77"/>
                  <a:gd name="T17" fmla="*/ 85 h 105"/>
                  <a:gd name="T18" fmla="*/ 32 w 77"/>
                  <a:gd name="T19" fmla="*/ 78 h 105"/>
                  <a:gd name="T20" fmla="*/ 19 w 77"/>
                  <a:gd name="T21" fmla="*/ 72 h 105"/>
                  <a:gd name="T22" fmla="*/ 0 w 77"/>
                  <a:gd name="T23" fmla="*/ 59 h 105"/>
                  <a:gd name="T24" fmla="*/ 0 w 77"/>
                  <a:gd name="T25" fmla="*/ 52 h 105"/>
                  <a:gd name="T26" fmla="*/ 6 w 77"/>
                  <a:gd name="T27" fmla="*/ 46 h 105"/>
                  <a:gd name="T28" fmla="*/ 13 w 77"/>
                  <a:gd name="T29" fmla="*/ 33 h 105"/>
                  <a:gd name="T30" fmla="*/ 19 w 77"/>
                  <a:gd name="T31" fmla="*/ 33 h 105"/>
                  <a:gd name="T32" fmla="*/ 25 w 77"/>
                  <a:gd name="T33" fmla="*/ 0 h 105"/>
                  <a:gd name="T34" fmla="*/ 25 w 77"/>
                  <a:gd name="T35" fmla="*/ 7 h 105"/>
                  <a:gd name="T36" fmla="*/ 32 w 77"/>
                  <a:gd name="T37" fmla="*/ 7 h 105"/>
                  <a:gd name="T38" fmla="*/ 32 w 77"/>
                  <a:gd name="T39" fmla="*/ 7 h 10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105"/>
                  <a:gd name="T62" fmla="*/ 77 w 77"/>
                  <a:gd name="T63" fmla="*/ 105 h 10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105">
                    <a:moveTo>
                      <a:pt x="32" y="7"/>
                    </a:moveTo>
                    <a:lnTo>
                      <a:pt x="54" y="30"/>
                    </a:lnTo>
                    <a:lnTo>
                      <a:pt x="69" y="52"/>
                    </a:lnTo>
                    <a:lnTo>
                      <a:pt x="76" y="46"/>
                    </a:lnTo>
                    <a:lnTo>
                      <a:pt x="69" y="59"/>
                    </a:lnTo>
                    <a:lnTo>
                      <a:pt x="69" y="91"/>
                    </a:lnTo>
                    <a:lnTo>
                      <a:pt x="63" y="104"/>
                    </a:lnTo>
                    <a:lnTo>
                      <a:pt x="51" y="98"/>
                    </a:lnTo>
                    <a:lnTo>
                      <a:pt x="44" y="85"/>
                    </a:lnTo>
                    <a:lnTo>
                      <a:pt x="32" y="78"/>
                    </a:lnTo>
                    <a:lnTo>
                      <a:pt x="19" y="72"/>
                    </a:lnTo>
                    <a:lnTo>
                      <a:pt x="0" y="59"/>
                    </a:lnTo>
                    <a:lnTo>
                      <a:pt x="0" y="52"/>
                    </a:lnTo>
                    <a:lnTo>
                      <a:pt x="6" y="46"/>
                    </a:lnTo>
                    <a:lnTo>
                      <a:pt x="13" y="33"/>
                    </a:lnTo>
                    <a:lnTo>
                      <a:pt x="19" y="33"/>
                    </a:lnTo>
                    <a:lnTo>
                      <a:pt x="25" y="0"/>
                    </a:lnTo>
                    <a:lnTo>
                      <a:pt x="25" y="7"/>
                    </a:lnTo>
                    <a:lnTo>
                      <a:pt x="32" y="7"/>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69" name="Freeform 55"/>
              <p:cNvSpPr>
                <a:spLocks/>
              </p:cNvSpPr>
              <p:nvPr/>
            </p:nvSpPr>
            <p:spPr bwMode="auto">
              <a:xfrm>
                <a:off x="2787" y="3296"/>
                <a:ext cx="172" cy="92"/>
              </a:xfrm>
              <a:custGeom>
                <a:avLst/>
                <a:gdLst>
                  <a:gd name="T0" fmla="*/ 171 w 172"/>
                  <a:gd name="T1" fmla="*/ 0 h 92"/>
                  <a:gd name="T2" fmla="*/ 171 w 172"/>
                  <a:gd name="T3" fmla="*/ 0 h 92"/>
                  <a:gd name="T4" fmla="*/ 158 w 172"/>
                  <a:gd name="T5" fmla="*/ 13 h 92"/>
                  <a:gd name="T6" fmla="*/ 152 w 172"/>
                  <a:gd name="T7" fmla="*/ 13 h 92"/>
                  <a:gd name="T8" fmla="*/ 146 w 172"/>
                  <a:gd name="T9" fmla="*/ 33 h 92"/>
                  <a:gd name="T10" fmla="*/ 133 w 172"/>
                  <a:gd name="T11" fmla="*/ 39 h 92"/>
                  <a:gd name="T12" fmla="*/ 120 w 172"/>
                  <a:gd name="T13" fmla="*/ 39 h 92"/>
                  <a:gd name="T14" fmla="*/ 120 w 172"/>
                  <a:gd name="T15" fmla="*/ 39 h 92"/>
                  <a:gd name="T16" fmla="*/ 108 w 172"/>
                  <a:gd name="T17" fmla="*/ 46 h 92"/>
                  <a:gd name="T18" fmla="*/ 108 w 172"/>
                  <a:gd name="T19" fmla="*/ 46 h 92"/>
                  <a:gd name="T20" fmla="*/ 95 w 172"/>
                  <a:gd name="T21" fmla="*/ 46 h 92"/>
                  <a:gd name="T22" fmla="*/ 95 w 172"/>
                  <a:gd name="T23" fmla="*/ 52 h 92"/>
                  <a:gd name="T24" fmla="*/ 101 w 172"/>
                  <a:gd name="T25" fmla="*/ 65 h 92"/>
                  <a:gd name="T26" fmla="*/ 89 w 172"/>
                  <a:gd name="T27" fmla="*/ 46 h 92"/>
                  <a:gd name="T28" fmla="*/ 89 w 172"/>
                  <a:gd name="T29" fmla="*/ 46 h 92"/>
                  <a:gd name="T30" fmla="*/ 57 w 172"/>
                  <a:gd name="T31" fmla="*/ 39 h 92"/>
                  <a:gd name="T32" fmla="*/ 32 w 172"/>
                  <a:gd name="T33" fmla="*/ 26 h 92"/>
                  <a:gd name="T34" fmla="*/ 13 w 172"/>
                  <a:gd name="T35" fmla="*/ 13 h 92"/>
                  <a:gd name="T36" fmla="*/ 0 w 172"/>
                  <a:gd name="T37" fmla="*/ 7 h 92"/>
                  <a:gd name="T38" fmla="*/ 6 w 172"/>
                  <a:gd name="T39" fmla="*/ 13 h 92"/>
                  <a:gd name="T40" fmla="*/ 19 w 172"/>
                  <a:gd name="T41" fmla="*/ 39 h 92"/>
                  <a:gd name="T42" fmla="*/ 32 w 172"/>
                  <a:gd name="T43" fmla="*/ 65 h 92"/>
                  <a:gd name="T44" fmla="*/ 44 w 172"/>
                  <a:gd name="T45" fmla="*/ 72 h 92"/>
                  <a:gd name="T46" fmla="*/ 57 w 172"/>
                  <a:gd name="T47" fmla="*/ 85 h 92"/>
                  <a:gd name="T48" fmla="*/ 63 w 172"/>
                  <a:gd name="T49" fmla="*/ 85 h 92"/>
                  <a:gd name="T50" fmla="*/ 63 w 172"/>
                  <a:gd name="T51" fmla="*/ 85 h 92"/>
                  <a:gd name="T52" fmla="*/ 82 w 172"/>
                  <a:gd name="T53" fmla="*/ 91 h 92"/>
                  <a:gd name="T54" fmla="*/ 95 w 172"/>
                  <a:gd name="T55" fmla="*/ 91 h 92"/>
                  <a:gd name="T56" fmla="*/ 108 w 172"/>
                  <a:gd name="T57" fmla="*/ 85 h 92"/>
                  <a:gd name="T58" fmla="*/ 120 w 172"/>
                  <a:gd name="T59" fmla="*/ 85 h 92"/>
                  <a:gd name="T60" fmla="*/ 120 w 172"/>
                  <a:gd name="T61" fmla="*/ 85 h 92"/>
                  <a:gd name="T62" fmla="*/ 127 w 172"/>
                  <a:gd name="T63" fmla="*/ 78 h 92"/>
                  <a:gd name="T64" fmla="*/ 127 w 172"/>
                  <a:gd name="T65" fmla="*/ 78 h 92"/>
                  <a:gd name="T66" fmla="*/ 152 w 172"/>
                  <a:gd name="T67" fmla="*/ 46 h 92"/>
                  <a:gd name="T68" fmla="*/ 152 w 172"/>
                  <a:gd name="T69" fmla="*/ 46 h 92"/>
                  <a:gd name="T70" fmla="*/ 158 w 172"/>
                  <a:gd name="T71" fmla="*/ 39 h 92"/>
                  <a:gd name="T72" fmla="*/ 171 w 172"/>
                  <a:gd name="T73" fmla="*/ 13 h 92"/>
                  <a:gd name="T74" fmla="*/ 171 w 172"/>
                  <a:gd name="T75" fmla="*/ 7 h 92"/>
                  <a:gd name="T76" fmla="*/ 171 w 172"/>
                  <a:gd name="T77" fmla="*/ 7 h 92"/>
                  <a:gd name="T78" fmla="*/ 171 w 172"/>
                  <a:gd name="T79" fmla="*/ 0 h 92"/>
                  <a:gd name="T80" fmla="*/ 171 w 172"/>
                  <a:gd name="T81" fmla="*/ 0 h 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2"/>
                  <a:gd name="T124" fmla="*/ 0 h 92"/>
                  <a:gd name="T125" fmla="*/ 172 w 172"/>
                  <a:gd name="T126" fmla="*/ 92 h 9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2" h="92">
                    <a:moveTo>
                      <a:pt x="171" y="0"/>
                    </a:moveTo>
                    <a:lnTo>
                      <a:pt x="171" y="0"/>
                    </a:lnTo>
                    <a:lnTo>
                      <a:pt x="158" y="13"/>
                    </a:lnTo>
                    <a:lnTo>
                      <a:pt x="152" y="13"/>
                    </a:lnTo>
                    <a:lnTo>
                      <a:pt x="146" y="33"/>
                    </a:lnTo>
                    <a:lnTo>
                      <a:pt x="133" y="39"/>
                    </a:lnTo>
                    <a:lnTo>
                      <a:pt x="120" y="39"/>
                    </a:lnTo>
                    <a:lnTo>
                      <a:pt x="108" y="46"/>
                    </a:lnTo>
                    <a:lnTo>
                      <a:pt x="95" y="46"/>
                    </a:lnTo>
                    <a:lnTo>
                      <a:pt x="95" y="52"/>
                    </a:lnTo>
                    <a:lnTo>
                      <a:pt x="101" y="65"/>
                    </a:lnTo>
                    <a:lnTo>
                      <a:pt x="89" y="46"/>
                    </a:lnTo>
                    <a:lnTo>
                      <a:pt x="57" y="39"/>
                    </a:lnTo>
                    <a:lnTo>
                      <a:pt x="32" y="26"/>
                    </a:lnTo>
                    <a:lnTo>
                      <a:pt x="13" y="13"/>
                    </a:lnTo>
                    <a:lnTo>
                      <a:pt x="0" y="7"/>
                    </a:lnTo>
                    <a:lnTo>
                      <a:pt x="6" y="13"/>
                    </a:lnTo>
                    <a:lnTo>
                      <a:pt x="19" y="39"/>
                    </a:lnTo>
                    <a:lnTo>
                      <a:pt x="32" y="65"/>
                    </a:lnTo>
                    <a:lnTo>
                      <a:pt x="44" y="72"/>
                    </a:lnTo>
                    <a:lnTo>
                      <a:pt x="57" y="85"/>
                    </a:lnTo>
                    <a:lnTo>
                      <a:pt x="63" y="85"/>
                    </a:lnTo>
                    <a:lnTo>
                      <a:pt x="82" y="91"/>
                    </a:lnTo>
                    <a:lnTo>
                      <a:pt x="95" y="91"/>
                    </a:lnTo>
                    <a:lnTo>
                      <a:pt x="108" y="85"/>
                    </a:lnTo>
                    <a:lnTo>
                      <a:pt x="120" y="85"/>
                    </a:lnTo>
                    <a:lnTo>
                      <a:pt x="127" y="78"/>
                    </a:lnTo>
                    <a:lnTo>
                      <a:pt x="152" y="46"/>
                    </a:lnTo>
                    <a:lnTo>
                      <a:pt x="158" y="39"/>
                    </a:lnTo>
                    <a:lnTo>
                      <a:pt x="171" y="13"/>
                    </a:lnTo>
                    <a:lnTo>
                      <a:pt x="171" y="7"/>
                    </a:lnTo>
                    <a:lnTo>
                      <a:pt x="171" y="0"/>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sp>
            <p:nvSpPr>
              <p:cNvPr id="52270" name="Freeform 56"/>
              <p:cNvSpPr>
                <a:spLocks/>
              </p:cNvSpPr>
              <p:nvPr/>
            </p:nvSpPr>
            <p:spPr bwMode="auto">
              <a:xfrm>
                <a:off x="2787" y="3283"/>
                <a:ext cx="166" cy="27"/>
              </a:xfrm>
              <a:custGeom>
                <a:avLst/>
                <a:gdLst>
                  <a:gd name="T0" fmla="*/ 165 w 166"/>
                  <a:gd name="T1" fmla="*/ 13 h 27"/>
                  <a:gd name="T2" fmla="*/ 146 w 166"/>
                  <a:gd name="T3" fmla="*/ 7 h 27"/>
                  <a:gd name="T4" fmla="*/ 127 w 166"/>
                  <a:gd name="T5" fmla="*/ 13 h 27"/>
                  <a:gd name="T6" fmla="*/ 70 w 166"/>
                  <a:gd name="T7" fmla="*/ 7 h 27"/>
                  <a:gd name="T8" fmla="*/ 19 w 166"/>
                  <a:gd name="T9" fmla="*/ 0 h 27"/>
                  <a:gd name="T10" fmla="*/ 0 w 166"/>
                  <a:gd name="T11" fmla="*/ 7 h 27"/>
                  <a:gd name="T12" fmla="*/ 38 w 166"/>
                  <a:gd name="T13" fmla="*/ 13 h 27"/>
                  <a:gd name="T14" fmla="*/ 70 w 166"/>
                  <a:gd name="T15" fmla="*/ 26 h 27"/>
                  <a:gd name="T16" fmla="*/ 89 w 166"/>
                  <a:gd name="T17" fmla="*/ 20 h 27"/>
                  <a:gd name="T18" fmla="*/ 114 w 166"/>
                  <a:gd name="T19" fmla="*/ 26 h 27"/>
                  <a:gd name="T20" fmla="*/ 139 w 166"/>
                  <a:gd name="T21" fmla="*/ 26 h 27"/>
                  <a:gd name="T22" fmla="*/ 165 w 166"/>
                  <a:gd name="T23" fmla="*/ 13 h 27"/>
                  <a:gd name="T24" fmla="*/ 165 w 166"/>
                  <a:gd name="T25" fmla="*/ 13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6"/>
                  <a:gd name="T40" fmla="*/ 0 h 27"/>
                  <a:gd name="T41" fmla="*/ 166 w 166"/>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6" h="27">
                    <a:moveTo>
                      <a:pt x="165" y="13"/>
                    </a:moveTo>
                    <a:lnTo>
                      <a:pt x="146" y="7"/>
                    </a:lnTo>
                    <a:lnTo>
                      <a:pt x="127" y="13"/>
                    </a:lnTo>
                    <a:lnTo>
                      <a:pt x="70" y="7"/>
                    </a:lnTo>
                    <a:lnTo>
                      <a:pt x="19" y="0"/>
                    </a:lnTo>
                    <a:lnTo>
                      <a:pt x="0" y="7"/>
                    </a:lnTo>
                    <a:lnTo>
                      <a:pt x="38" y="13"/>
                    </a:lnTo>
                    <a:lnTo>
                      <a:pt x="70" y="26"/>
                    </a:lnTo>
                    <a:lnTo>
                      <a:pt x="89" y="20"/>
                    </a:lnTo>
                    <a:lnTo>
                      <a:pt x="114" y="26"/>
                    </a:lnTo>
                    <a:lnTo>
                      <a:pt x="139" y="26"/>
                    </a:lnTo>
                    <a:lnTo>
                      <a:pt x="165" y="13"/>
                    </a:lnTo>
                    <a:close/>
                  </a:path>
                </a:pathLst>
              </a:custGeom>
              <a:solidFill>
                <a:srgbClr val="EEEEEE"/>
              </a:solidFill>
              <a:ln w="3175" cap="flat">
                <a:solidFill>
                  <a:srgbClr val="000000"/>
                </a:solidFill>
                <a:prstDash val="solid"/>
                <a:round/>
                <a:headEnd/>
                <a:tailEnd/>
              </a:ln>
            </p:spPr>
            <p:txBody>
              <a:bodyPr wrap="none" anchor="ctr">
                <a:spAutoFit/>
              </a:bodyPr>
              <a:lstStyle/>
              <a:p>
                <a:endParaRPr lang="zh-CN" altLang="en-US"/>
              </a:p>
            </p:txBody>
          </p:sp>
        </p:grpSp>
      </p:grpSp>
      <p:sp>
        <p:nvSpPr>
          <p:cNvPr id="52229" name="WordArt 57"/>
          <p:cNvSpPr>
            <a:spLocks noChangeArrowheads="1" noChangeShapeType="1" noTextEdit="1"/>
          </p:cNvSpPr>
          <p:nvPr/>
        </p:nvSpPr>
        <p:spPr bwMode="auto">
          <a:xfrm>
            <a:off x="1403350" y="3644900"/>
            <a:ext cx="1828800" cy="457200"/>
          </a:xfrm>
          <a:prstGeom prst="rect">
            <a:avLst/>
          </a:prstGeom>
        </p:spPr>
        <p:txBody>
          <a:bodyPr wrap="none" fromWordArt="1">
            <a:prstTxWarp prst="textPlain">
              <a:avLst>
                <a:gd name="adj" fmla="val 50000"/>
              </a:avLst>
            </a:prstTxWarp>
          </a:bodyPr>
          <a:lstStyle/>
          <a:p>
            <a:r>
              <a:rPr lang="zh-CN" altLang="en-US" sz="3600" kern="10">
                <a:ln w="12700">
                  <a:solidFill>
                    <a:srgbClr val="3333CC"/>
                  </a:solidFill>
                  <a:round/>
                  <a:headEnd/>
                  <a:tailEnd/>
                </a:ln>
                <a:solidFill>
                  <a:srgbClr val="B2B2B2">
                    <a:alpha val="50195"/>
                  </a:srgbClr>
                </a:solidFill>
                <a:effectLst>
                  <a:outerShdw dist="45791" dir="2021404" algn="ctr" rotWithShape="0">
                    <a:srgbClr val="9999FF"/>
                  </a:outerShdw>
                </a:effectLst>
                <a:latin typeface="宋体"/>
                <a:ea typeface="宋体"/>
              </a:rPr>
              <a:t>就这样</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98435"/>
                                        </p:tgtEl>
                                        <p:attrNameLst>
                                          <p:attrName>style.visibility</p:attrName>
                                        </p:attrNameLst>
                                      </p:cBhvr>
                                      <p:to>
                                        <p:strVal val="visible"/>
                                      </p:to>
                                    </p:set>
                                    <p:animEffect transition="in" filter="dissolve">
                                      <p:cBhvr>
                                        <p:cTn id="7" dur="500"/>
                                        <p:tgtEl>
                                          <p:spTgt spid="1298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8435"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1547813" y="304800"/>
            <a:ext cx="7056437" cy="1143000"/>
          </a:xfrm>
          <a:noFill/>
        </p:spPr>
        <p:txBody>
          <a:bodyPr/>
          <a:lstStyle/>
          <a:p>
            <a:pPr eaLnBrk="1" hangingPunct="1"/>
            <a:r>
              <a:rPr lang="en-US" altLang="zh-CN" dirty="0">
                <a:solidFill>
                  <a:srgbClr val="800000"/>
                </a:solidFill>
              </a:rPr>
              <a:t> </a:t>
            </a:r>
            <a:r>
              <a:rPr lang="zh-CN" altLang="en-US" dirty="0">
                <a:solidFill>
                  <a:srgbClr val="FFFF66"/>
                </a:solidFill>
                <a:latin typeface="宋体" pitchFamily="2" charset="-122"/>
              </a:rPr>
              <a:t>自我发展</a:t>
            </a:r>
            <a:endParaRPr lang="zh-CN" altLang="en-AU" dirty="0">
              <a:solidFill>
                <a:srgbClr val="FFFF66"/>
              </a:solidFill>
              <a:latin typeface="宋体" pitchFamily="2" charset="-122"/>
            </a:endParaRPr>
          </a:p>
        </p:txBody>
      </p:sp>
      <p:sp>
        <p:nvSpPr>
          <p:cNvPr id="1331203" name="Rectangle 3"/>
          <p:cNvSpPr>
            <a:spLocks noChangeArrowheads="1"/>
          </p:cNvSpPr>
          <p:nvPr/>
        </p:nvSpPr>
        <p:spPr bwMode="auto">
          <a:xfrm>
            <a:off x="2195736" y="2636912"/>
            <a:ext cx="6551612" cy="3600450"/>
          </a:xfrm>
          <a:prstGeom prst="rect">
            <a:avLst/>
          </a:prstGeom>
          <a:gradFill rotWithShape="0">
            <a:gsLst>
              <a:gs pos="0">
                <a:srgbClr val="FFCC99"/>
              </a:gs>
              <a:gs pos="100000">
                <a:srgbClr val="FFECDA"/>
              </a:gs>
            </a:gsLst>
            <a:path path="shape">
              <a:fillToRect l="50000" t="50000" r="50000" b="50000"/>
            </a:path>
          </a:gradFill>
          <a:ln w="12700">
            <a:solidFill>
              <a:srgbClr val="800000"/>
            </a:solidFill>
            <a:miter lim="800000"/>
            <a:headEnd type="none" w="sm" len="sm"/>
            <a:tailEnd type="none" w="sm" len="sm"/>
          </a:ln>
        </p:spPr>
        <p:txBody>
          <a:bodyPr/>
          <a:lstStyle/>
          <a:p>
            <a:pPr marL="952500" indent="-279400" algn="l">
              <a:spcBef>
                <a:spcPct val="50000"/>
              </a:spcBef>
              <a:buSzPct val="80000"/>
            </a:pPr>
            <a:r>
              <a:rPr lang="zh-CN" altLang="en-US" sz="2000" dirty="0">
                <a:solidFill>
                  <a:srgbClr val="003366"/>
                </a:solidFill>
                <a:latin typeface="Arial" pitchFamily="34" charset="0"/>
                <a:ea typeface="宋体" pitchFamily="2" charset="-122"/>
              </a:rPr>
              <a:t>适宜情形：</a:t>
            </a:r>
            <a:endParaRPr lang="en-US" altLang="zh-CN" sz="2000" dirty="0">
              <a:solidFill>
                <a:srgbClr val="003366"/>
              </a:solidFill>
              <a:latin typeface="Arial" pitchFamily="34" charset="0"/>
              <a:ea typeface="宋体" pitchFamily="2" charset="-122"/>
            </a:endParaRPr>
          </a:p>
          <a:p>
            <a:pPr marL="952500" indent="-279400" algn="l">
              <a:spcBef>
                <a:spcPct val="50000"/>
              </a:spcBef>
              <a:buSzPct val="80000"/>
              <a:buFont typeface="Arial" pitchFamily="34" charset="0"/>
              <a:buChar char="•"/>
            </a:pPr>
            <a:r>
              <a:rPr kumimoji="0" lang="zh-CN" altLang="en-US" sz="2000" dirty="0">
                <a:solidFill>
                  <a:srgbClr val="003366"/>
                </a:solidFill>
                <a:latin typeface="Arial" pitchFamily="34" charset="0"/>
                <a:ea typeface="宋体" pitchFamily="2" charset="-122"/>
              </a:rPr>
              <a:t>有足够的时间从头发展新业务</a:t>
            </a:r>
            <a:endParaRPr kumimoji="0" lang="en-US" altLang="zh-CN" sz="2000" dirty="0">
              <a:solidFill>
                <a:srgbClr val="003366"/>
              </a:solidFill>
              <a:latin typeface="Arial" pitchFamily="34" charset="0"/>
              <a:ea typeface="宋体" pitchFamily="2" charset="-122"/>
            </a:endParaRPr>
          </a:p>
          <a:p>
            <a:pPr marL="952500" indent="-279400" algn="l">
              <a:spcBef>
                <a:spcPct val="50000"/>
              </a:spcBef>
              <a:buSzPct val="80000"/>
              <a:buFontTx/>
              <a:buChar char="•"/>
            </a:pPr>
            <a:r>
              <a:rPr kumimoji="0" lang="zh-CN" altLang="en-US" sz="2000" dirty="0">
                <a:solidFill>
                  <a:srgbClr val="003366"/>
                </a:solidFill>
                <a:latin typeface="Arial" pitchFamily="34" charset="0"/>
                <a:ea typeface="宋体" pitchFamily="2" charset="-122"/>
              </a:rPr>
              <a:t>现有企业对新进入者反应迟钝，不会有激烈反抗</a:t>
            </a:r>
            <a:endParaRPr kumimoji="0" lang="en-US" altLang="zh-CN" sz="2000" dirty="0">
              <a:solidFill>
                <a:srgbClr val="003366"/>
              </a:solidFill>
              <a:latin typeface="Arial" pitchFamily="34" charset="0"/>
              <a:ea typeface="宋体" pitchFamily="2" charset="-122"/>
            </a:endParaRPr>
          </a:p>
          <a:p>
            <a:pPr marL="952500" indent="-279400" algn="l">
              <a:spcBef>
                <a:spcPct val="50000"/>
              </a:spcBef>
              <a:buSzPct val="80000"/>
              <a:buFontTx/>
              <a:buChar char="•"/>
            </a:pPr>
            <a:r>
              <a:rPr lang="zh-CN" altLang="en-US" sz="2000" dirty="0">
                <a:solidFill>
                  <a:srgbClr val="003366"/>
                </a:solidFill>
                <a:latin typeface="Arial" pitchFamily="34" charset="0"/>
                <a:ea typeface="宋体" pitchFamily="2" charset="-122"/>
              </a:rPr>
              <a:t>自我发展比并购成本低</a:t>
            </a:r>
            <a:endParaRPr lang="en-US" altLang="zh-CN" sz="2000" dirty="0">
              <a:solidFill>
                <a:srgbClr val="003366"/>
              </a:solidFill>
              <a:latin typeface="Arial" pitchFamily="34" charset="0"/>
              <a:ea typeface="宋体" pitchFamily="2" charset="-122"/>
            </a:endParaRPr>
          </a:p>
          <a:p>
            <a:pPr marL="952500" indent="-279400" algn="l">
              <a:spcBef>
                <a:spcPct val="50000"/>
              </a:spcBef>
              <a:buSzPct val="80000"/>
              <a:buFontTx/>
              <a:buChar char="•"/>
            </a:pPr>
            <a:r>
              <a:rPr kumimoji="0" lang="zh-CN" altLang="en-US" sz="2000" dirty="0">
                <a:solidFill>
                  <a:srgbClr val="003366"/>
                </a:solidFill>
                <a:latin typeface="Arial" pitchFamily="34" charset="0"/>
                <a:ea typeface="宋体" pitchFamily="2" charset="-122"/>
              </a:rPr>
              <a:t>企业具备所需的资源和能力</a:t>
            </a:r>
          </a:p>
          <a:p>
            <a:pPr marL="952500" indent="-279400" algn="l">
              <a:spcBef>
                <a:spcPct val="50000"/>
              </a:spcBef>
              <a:buSzPct val="80000"/>
              <a:buFontTx/>
              <a:buChar char="•"/>
            </a:pPr>
            <a:r>
              <a:rPr lang="zh-CN" altLang="en-US" sz="2000" dirty="0">
                <a:solidFill>
                  <a:srgbClr val="003366"/>
                </a:solidFill>
                <a:latin typeface="Arial" pitchFamily="34" charset="0"/>
                <a:ea typeface="宋体" pitchFamily="2" charset="-122"/>
              </a:rPr>
              <a:t>在市场上增加额外的生产能力不会对行业供求产生明显的负面影响</a:t>
            </a:r>
            <a:endParaRPr lang="en-US" altLang="zh-CN" sz="2000" dirty="0">
              <a:solidFill>
                <a:srgbClr val="003366"/>
              </a:solidFill>
              <a:latin typeface="Arial" pitchFamily="34" charset="0"/>
              <a:ea typeface="宋体" pitchFamily="2" charset="-122"/>
            </a:endParaRPr>
          </a:p>
        </p:txBody>
      </p:sp>
      <p:sp>
        <p:nvSpPr>
          <p:cNvPr id="1331257" name="Sound"/>
          <p:cNvSpPr>
            <a:spLocks noEditPoints="1" noChangeArrowheads="1"/>
          </p:cNvSpPr>
          <p:nvPr/>
        </p:nvSpPr>
        <p:spPr bwMode="auto">
          <a:xfrm>
            <a:off x="467544" y="3573016"/>
            <a:ext cx="1809750" cy="1809750"/>
          </a:xfrm>
          <a:custGeom>
            <a:avLst/>
            <a:gdLst>
              <a:gd name="T0" fmla="*/ 11164 w 21600"/>
              <a:gd name="T1" fmla="*/ 21159 h 21600"/>
              <a:gd name="T2" fmla="*/ 11164 w 21600"/>
              <a:gd name="T3" fmla="*/ 0 h 21600"/>
              <a:gd name="T4" fmla="*/ 0 w 21600"/>
              <a:gd name="T5" fmla="*/ 10800 h 21600"/>
              <a:gd name="T6" fmla="*/ 21600 w 21600"/>
              <a:gd name="T7" fmla="*/ 10800 h 21600"/>
              <a:gd name="T8" fmla="*/ 761 w 21600"/>
              <a:gd name="T9" fmla="*/ 22454 h 21600"/>
              <a:gd name="T10" fmla="*/ 21069 w 21600"/>
              <a:gd name="T11" fmla="*/ 28282 h 21600"/>
            </a:gdLst>
            <a:ahLst/>
            <a:cxnLst>
              <a:cxn ang="0">
                <a:pos x="T0" y="T1"/>
              </a:cxn>
              <a:cxn ang="0">
                <a:pos x="T2" y="T3"/>
              </a:cxn>
              <a:cxn ang="0">
                <a:pos x="T4" y="T5"/>
              </a:cxn>
              <a:cxn ang="0">
                <a:pos x="T6" y="T7"/>
              </a:cxn>
            </a:cxnLst>
            <a:rect l="T8" t="T9" r="T10" b="T11"/>
            <a:pathLst>
              <a:path w="21600" h="21600">
                <a:moveTo>
                  <a:pt x="0" y="7273"/>
                </a:moveTo>
                <a:lnTo>
                  <a:pt x="5824" y="7273"/>
                </a:lnTo>
                <a:lnTo>
                  <a:pt x="11164" y="0"/>
                </a:lnTo>
                <a:lnTo>
                  <a:pt x="11164" y="21159"/>
                </a:lnTo>
                <a:lnTo>
                  <a:pt x="5824" y="13885"/>
                </a:lnTo>
                <a:lnTo>
                  <a:pt x="0" y="13885"/>
                </a:lnTo>
                <a:lnTo>
                  <a:pt x="0" y="7273"/>
                </a:lnTo>
                <a:close/>
              </a:path>
              <a:path w="21600" h="21600">
                <a:moveTo>
                  <a:pt x="13024" y="7273"/>
                </a:moveTo>
                <a:lnTo>
                  <a:pt x="13591" y="6722"/>
                </a:lnTo>
                <a:lnTo>
                  <a:pt x="13833" y="7548"/>
                </a:lnTo>
                <a:lnTo>
                  <a:pt x="14076" y="8485"/>
                </a:lnTo>
                <a:lnTo>
                  <a:pt x="14157" y="9367"/>
                </a:lnTo>
                <a:lnTo>
                  <a:pt x="14197" y="10524"/>
                </a:lnTo>
                <a:lnTo>
                  <a:pt x="14197" y="11406"/>
                </a:lnTo>
                <a:lnTo>
                  <a:pt x="14116" y="12012"/>
                </a:lnTo>
                <a:lnTo>
                  <a:pt x="13995" y="12728"/>
                </a:lnTo>
                <a:lnTo>
                  <a:pt x="13833" y="13444"/>
                </a:lnTo>
                <a:lnTo>
                  <a:pt x="13712" y="14106"/>
                </a:lnTo>
                <a:lnTo>
                  <a:pt x="13591" y="14546"/>
                </a:lnTo>
                <a:lnTo>
                  <a:pt x="13065" y="13885"/>
                </a:lnTo>
                <a:lnTo>
                  <a:pt x="13307" y="12893"/>
                </a:lnTo>
                <a:lnTo>
                  <a:pt x="13469" y="11791"/>
                </a:lnTo>
                <a:lnTo>
                  <a:pt x="13550" y="10910"/>
                </a:lnTo>
                <a:lnTo>
                  <a:pt x="13591" y="10138"/>
                </a:lnTo>
                <a:lnTo>
                  <a:pt x="13469" y="9367"/>
                </a:lnTo>
                <a:lnTo>
                  <a:pt x="13388" y="8595"/>
                </a:lnTo>
                <a:lnTo>
                  <a:pt x="13267" y="7934"/>
                </a:lnTo>
                <a:lnTo>
                  <a:pt x="13024" y="7273"/>
                </a:lnTo>
                <a:close/>
              </a:path>
              <a:path w="21600" h="21600">
                <a:moveTo>
                  <a:pt x="16382" y="3967"/>
                </a:moveTo>
                <a:lnTo>
                  <a:pt x="16786" y="5179"/>
                </a:lnTo>
                <a:lnTo>
                  <a:pt x="17150" y="6612"/>
                </a:lnTo>
                <a:lnTo>
                  <a:pt x="17474" y="8651"/>
                </a:lnTo>
                <a:lnTo>
                  <a:pt x="17595" y="9753"/>
                </a:lnTo>
                <a:lnTo>
                  <a:pt x="17635" y="12012"/>
                </a:lnTo>
                <a:lnTo>
                  <a:pt x="17393" y="13665"/>
                </a:lnTo>
                <a:lnTo>
                  <a:pt x="17150" y="15208"/>
                </a:lnTo>
                <a:lnTo>
                  <a:pt x="16786" y="16310"/>
                </a:lnTo>
                <a:lnTo>
                  <a:pt x="16341" y="17687"/>
                </a:lnTo>
                <a:lnTo>
                  <a:pt x="15815" y="17081"/>
                </a:lnTo>
                <a:lnTo>
                  <a:pt x="16503" y="14602"/>
                </a:lnTo>
                <a:lnTo>
                  <a:pt x="16786" y="13169"/>
                </a:lnTo>
                <a:lnTo>
                  <a:pt x="16867" y="12012"/>
                </a:lnTo>
                <a:lnTo>
                  <a:pt x="16867" y="9642"/>
                </a:lnTo>
                <a:lnTo>
                  <a:pt x="16705" y="7989"/>
                </a:lnTo>
                <a:lnTo>
                  <a:pt x="16422" y="6612"/>
                </a:lnTo>
                <a:lnTo>
                  <a:pt x="16220" y="5675"/>
                </a:lnTo>
                <a:lnTo>
                  <a:pt x="15856" y="4518"/>
                </a:lnTo>
                <a:lnTo>
                  <a:pt x="16382" y="3967"/>
                </a:lnTo>
                <a:close/>
              </a:path>
              <a:path w="21600" h="21600">
                <a:moveTo>
                  <a:pt x="18889" y="1377"/>
                </a:moveTo>
                <a:lnTo>
                  <a:pt x="19415" y="826"/>
                </a:lnTo>
                <a:lnTo>
                  <a:pt x="20194" y="2576"/>
                </a:lnTo>
                <a:lnTo>
                  <a:pt x="20831" y="4683"/>
                </a:lnTo>
                <a:lnTo>
                  <a:pt x="21357" y="7204"/>
                </a:lnTo>
                <a:lnTo>
                  <a:pt x="21650" y="9450"/>
                </a:lnTo>
                <a:lnTo>
                  <a:pt x="21600" y="12301"/>
                </a:lnTo>
                <a:lnTo>
                  <a:pt x="21215" y="15938"/>
                </a:lnTo>
                <a:lnTo>
                  <a:pt x="20629" y="18348"/>
                </a:lnTo>
                <a:lnTo>
                  <a:pt x="19415" y="21655"/>
                </a:lnTo>
                <a:lnTo>
                  <a:pt x="18889" y="21159"/>
                </a:lnTo>
                <a:lnTo>
                  <a:pt x="19901" y="18404"/>
                </a:lnTo>
                <a:lnTo>
                  <a:pt x="20467" y="15593"/>
                </a:lnTo>
                <a:lnTo>
                  <a:pt x="20791" y="12342"/>
                </a:lnTo>
                <a:lnTo>
                  <a:pt x="20871" y="9532"/>
                </a:lnTo>
                <a:lnTo>
                  <a:pt x="20629" y="7411"/>
                </a:lnTo>
                <a:lnTo>
                  <a:pt x="20062" y="4628"/>
                </a:lnTo>
                <a:lnTo>
                  <a:pt x="19415" y="2810"/>
                </a:lnTo>
                <a:lnTo>
                  <a:pt x="18889" y="1377"/>
                </a:lnTo>
                <a:close/>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a:lstStyle/>
          <a:p>
            <a:pPr>
              <a:defRPr/>
            </a:pPr>
            <a:endParaRPr lang="zh-CN" altLang="en-US"/>
          </a:p>
        </p:txBody>
      </p:sp>
      <p:sp>
        <p:nvSpPr>
          <p:cNvPr id="5" name="TextBox 4"/>
          <p:cNvSpPr txBox="1"/>
          <p:nvPr/>
        </p:nvSpPr>
        <p:spPr>
          <a:xfrm>
            <a:off x="755576" y="1988840"/>
            <a:ext cx="7366119" cy="523220"/>
          </a:xfrm>
          <a:prstGeom prst="rect">
            <a:avLst/>
          </a:prstGeom>
          <a:noFill/>
        </p:spPr>
        <p:txBody>
          <a:bodyPr wrap="none" rtlCol="0">
            <a:spAutoFit/>
          </a:bodyPr>
          <a:lstStyle/>
          <a:p>
            <a:r>
              <a:rPr lang="zh-CN" altLang="en-US" sz="2800" dirty="0"/>
              <a:t>企业依靠自己的力量进入新业务或新地区市场</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1203"/>
                                        </p:tgtEl>
                                        <p:attrNameLst>
                                          <p:attrName>style.visibility</p:attrName>
                                        </p:attrNameLst>
                                      </p:cBhvr>
                                      <p:to>
                                        <p:strVal val="visible"/>
                                      </p:to>
                                    </p:set>
                                    <p:animEffect transition="in" filter="dissolve">
                                      <p:cBhvr>
                                        <p:cTn id="7" dur="500"/>
                                        <p:tgtEl>
                                          <p:spTgt spid="1331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03"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自我发展的优势和风险</a:t>
            </a:r>
          </a:p>
        </p:txBody>
      </p:sp>
      <p:sp>
        <p:nvSpPr>
          <p:cNvPr id="3" name="内容占位符 2"/>
          <p:cNvSpPr>
            <a:spLocks noGrp="1"/>
          </p:cNvSpPr>
          <p:nvPr>
            <p:ph idx="1"/>
          </p:nvPr>
        </p:nvSpPr>
        <p:spPr/>
        <p:txBody>
          <a:bodyPr>
            <a:normAutofit lnSpcReduction="10000"/>
          </a:bodyPr>
          <a:lstStyle/>
          <a:p>
            <a:r>
              <a:rPr lang="zh-CN" altLang="en-US" dirty="0"/>
              <a:t>优势</a:t>
            </a:r>
            <a:endParaRPr lang="en-US" altLang="zh-CN" dirty="0"/>
          </a:p>
          <a:p>
            <a:pPr lvl="1"/>
            <a:r>
              <a:rPr lang="zh-CN" altLang="en-US" dirty="0"/>
              <a:t>成本低</a:t>
            </a:r>
            <a:endParaRPr lang="en-US" altLang="zh-CN" dirty="0"/>
          </a:p>
          <a:p>
            <a:pPr lvl="1"/>
            <a:r>
              <a:rPr lang="zh-CN" altLang="en-US" dirty="0"/>
              <a:t>有利于积累必要的知识、技能和经验</a:t>
            </a:r>
            <a:endParaRPr lang="en-US" altLang="zh-CN" dirty="0"/>
          </a:p>
          <a:p>
            <a:pPr lvl="1"/>
            <a:r>
              <a:rPr lang="zh-CN" altLang="en-US" dirty="0"/>
              <a:t>股票市场更看重自我发展带来的有机增长，而不是并购增长</a:t>
            </a:r>
            <a:endParaRPr lang="en-US" altLang="zh-CN" dirty="0"/>
          </a:p>
          <a:p>
            <a:pPr lvl="1"/>
            <a:r>
              <a:rPr lang="zh-CN" altLang="en-US" dirty="0"/>
              <a:t>自我发展能避免并购和联盟过程中所产生的利益冲突和文化传统</a:t>
            </a:r>
            <a:endParaRPr lang="en-US" altLang="zh-CN" dirty="0"/>
          </a:p>
          <a:p>
            <a:r>
              <a:rPr lang="zh-CN" altLang="en-US" dirty="0"/>
              <a:t>风险</a:t>
            </a:r>
            <a:endParaRPr lang="en-US" altLang="zh-CN" dirty="0"/>
          </a:p>
          <a:p>
            <a:pPr lvl="1"/>
            <a:r>
              <a:rPr lang="zh-CN" altLang="en-US" dirty="0"/>
              <a:t>自己承担风险</a:t>
            </a:r>
            <a:endParaRPr lang="en-US" altLang="zh-CN" dirty="0"/>
          </a:p>
          <a:p>
            <a:pPr lvl="1"/>
            <a:r>
              <a:rPr lang="zh-CN" altLang="en-US" dirty="0"/>
              <a:t>开发新产品或进入新市场的速度慢</a:t>
            </a:r>
            <a:endParaRPr lang="en-US" altLang="zh-CN" dirty="0"/>
          </a:p>
          <a:p>
            <a:pPr lvl="1"/>
            <a:endParaRPr lang="en-US" altLang="zh-CN" dirty="0"/>
          </a:p>
          <a:p>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战略联盟的定义及分类</a:t>
            </a:r>
          </a:p>
        </p:txBody>
      </p:sp>
      <p:sp>
        <p:nvSpPr>
          <p:cNvPr id="3" name="内容占位符 2"/>
          <p:cNvSpPr>
            <a:spLocks noGrp="1"/>
          </p:cNvSpPr>
          <p:nvPr>
            <p:ph idx="1"/>
          </p:nvPr>
        </p:nvSpPr>
        <p:spPr/>
        <p:txBody>
          <a:bodyPr/>
          <a:lstStyle/>
          <a:p>
            <a:r>
              <a:rPr lang="zh-CN" altLang="en-US" dirty="0"/>
              <a:t>战略联盟</a:t>
            </a:r>
            <a:endParaRPr lang="en-US" altLang="zh-CN" dirty="0"/>
          </a:p>
          <a:p>
            <a:pPr lvl="1"/>
            <a:r>
              <a:rPr lang="zh-CN" altLang="en-US" dirty="0"/>
              <a:t>两个或多个企业为了实现特定的战略目标而采取的任何股权或非股权形式的共担风险、共享利益的联合行动</a:t>
            </a:r>
            <a:endParaRPr lang="en-US" altLang="zh-CN" dirty="0"/>
          </a:p>
          <a:p>
            <a:r>
              <a:rPr lang="zh-CN" altLang="en-US" dirty="0"/>
              <a:t>分类</a:t>
            </a:r>
            <a:endParaRPr lang="en-US" altLang="zh-CN" dirty="0"/>
          </a:p>
          <a:p>
            <a:pPr lvl="1"/>
            <a:r>
              <a:rPr lang="zh-CN" altLang="en-US" dirty="0"/>
              <a:t>合资、共同研究与开发、贴牌生产、特许经营、相互持股、战略外包</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适合战略联盟的情形</a:t>
            </a:r>
          </a:p>
        </p:txBody>
      </p:sp>
      <p:sp>
        <p:nvSpPr>
          <p:cNvPr id="3" name="内容占位符 2"/>
          <p:cNvSpPr>
            <a:spLocks noGrp="1"/>
          </p:cNvSpPr>
          <p:nvPr>
            <p:ph idx="1"/>
          </p:nvPr>
        </p:nvSpPr>
        <p:spPr/>
        <p:txBody>
          <a:bodyPr/>
          <a:lstStyle/>
          <a:p>
            <a:r>
              <a:rPr lang="zh-CN" altLang="en-US" dirty="0"/>
              <a:t>自我发展经济上不可行，风险较大</a:t>
            </a:r>
            <a:endParaRPr lang="en-US" altLang="zh-CN" dirty="0"/>
          </a:p>
          <a:p>
            <a:r>
              <a:rPr lang="zh-CN" altLang="en-US" dirty="0"/>
              <a:t>合作伙伴间的竞争能力合并可以产生更大的竞争力</a:t>
            </a:r>
            <a:endParaRPr lang="en-US" altLang="zh-CN" dirty="0"/>
          </a:p>
          <a:p>
            <a:r>
              <a:rPr lang="zh-CN" altLang="en-US" dirty="0"/>
              <a:t>利用国外合作伙伴，可以越过进口配额限制、高关税、国家主义的政治利益及文化障碍等因素对企业发展的影响</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C21DA2C-1BB5-C643-9612-6F3DAFA42972}"/>
              </a:ext>
            </a:extLst>
          </p:cNvPr>
          <p:cNvPicPr>
            <a:picLocks noChangeAspect="1"/>
          </p:cNvPicPr>
          <p:nvPr/>
        </p:nvPicPr>
        <p:blipFill>
          <a:blip r:embed="rId2"/>
          <a:stretch>
            <a:fillRect/>
          </a:stretch>
        </p:blipFill>
        <p:spPr>
          <a:xfrm>
            <a:off x="539552" y="476250"/>
            <a:ext cx="8064896" cy="5905500"/>
          </a:xfrm>
          <a:prstGeom prst="rect">
            <a:avLst/>
          </a:prstGeom>
          <a:solidFill>
            <a:schemeClr val="tx1"/>
          </a:solidFill>
        </p:spPr>
      </p:pic>
    </p:spTree>
    <p:extLst>
      <p:ext uri="{BB962C8B-B14F-4D97-AF65-F5344CB8AC3E}">
        <p14:creationId xmlns:p14="http://schemas.microsoft.com/office/powerpoint/2010/main" val="32612745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1026"/>
          <p:cNvSpPr>
            <a:spLocks noGrp="1" noChangeArrowheads="1"/>
          </p:cNvSpPr>
          <p:nvPr>
            <p:ph type="title"/>
          </p:nvPr>
        </p:nvSpPr>
        <p:spPr>
          <a:noFill/>
        </p:spPr>
        <p:txBody>
          <a:bodyPr/>
          <a:lstStyle/>
          <a:p>
            <a:pPr eaLnBrk="1" hangingPunct="1"/>
            <a:r>
              <a:rPr lang="zh-CN" altLang="en-AU">
                <a:solidFill>
                  <a:srgbClr val="FFFF66"/>
                </a:solidFill>
              </a:rPr>
              <a:t>战略联盟</a:t>
            </a:r>
          </a:p>
        </p:txBody>
      </p:sp>
      <p:sp>
        <p:nvSpPr>
          <p:cNvPr id="1369091" name="Rectangle 1027"/>
          <p:cNvSpPr>
            <a:spLocks noChangeArrowheads="1"/>
          </p:cNvSpPr>
          <p:nvPr/>
        </p:nvSpPr>
        <p:spPr bwMode="auto">
          <a:xfrm>
            <a:off x="179388" y="1628775"/>
            <a:ext cx="8534400" cy="5410200"/>
          </a:xfrm>
          <a:prstGeom prst="rect">
            <a:avLst/>
          </a:prstGeom>
          <a:noFill/>
          <a:ln w="12700">
            <a:noFill/>
            <a:miter lim="800000"/>
            <a:headEnd/>
            <a:tailEnd/>
          </a:ln>
        </p:spPr>
        <p:txBody>
          <a:bodyPr lIns="92075" tIns="46038" rIns="92075" bIns="46038"/>
          <a:lstStyle/>
          <a:p>
            <a:pPr marL="342900" indent="-342900" algn="l">
              <a:spcBef>
                <a:spcPct val="30000"/>
              </a:spcBef>
              <a:buClr>
                <a:schemeClr val="bg1"/>
              </a:buClr>
              <a:buFont typeface="Wingdings" pitchFamily="2" charset="2"/>
              <a:buChar char="l"/>
            </a:pPr>
            <a:r>
              <a:rPr kumimoji="0" lang="en-US" altLang="zh-CN" sz="3200" dirty="0">
                <a:latin typeface="Arial" pitchFamily="34" charset="0"/>
                <a:ea typeface="宋体" pitchFamily="2" charset="-122"/>
              </a:rPr>
              <a:t>Google</a:t>
            </a:r>
            <a:r>
              <a:rPr lang="zh-CN" altLang="en-US" sz="3200" dirty="0">
                <a:latin typeface="Arial" pitchFamily="34" charset="0"/>
                <a:ea typeface="宋体" pitchFamily="2" charset="-122"/>
              </a:rPr>
              <a:t>、</a:t>
            </a:r>
            <a:r>
              <a:rPr kumimoji="0" lang="en-US" altLang="zh-CN" sz="3200" dirty="0">
                <a:latin typeface="Arial" pitchFamily="34" charset="0"/>
                <a:ea typeface="宋体" pitchFamily="2" charset="-122"/>
              </a:rPr>
              <a:t> </a:t>
            </a:r>
            <a:r>
              <a:rPr kumimoji="0" lang="zh-CN" altLang="en-US" sz="3200" dirty="0">
                <a:latin typeface="Arial" pitchFamily="34" charset="0"/>
                <a:ea typeface="宋体" pitchFamily="2" charset="-122"/>
              </a:rPr>
              <a:t>三星、摩托罗拉等手机合作</a:t>
            </a:r>
            <a:endParaRPr kumimoji="0" lang="en-US" altLang="zh-CN" sz="3200" dirty="0">
              <a:latin typeface="Arial" pitchFamily="34" charset="0"/>
              <a:ea typeface="宋体" pitchFamily="2" charset="-122"/>
            </a:endParaRPr>
          </a:p>
          <a:p>
            <a:pPr marL="342900" indent="-342900" algn="l">
              <a:spcBef>
                <a:spcPct val="30000"/>
              </a:spcBef>
              <a:buClr>
                <a:schemeClr val="bg1"/>
              </a:buClr>
              <a:buFont typeface="Wingdings" pitchFamily="2" charset="2"/>
              <a:buChar char="l"/>
            </a:pPr>
            <a:r>
              <a:rPr kumimoji="0" lang="zh-CN" altLang="en-US" sz="3200" dirty="0">
                <a:latin typeface="Arial" pitchFamily="34" charset="0"/>
                <a:ea typeface="宋体" pitchFamily="2" charset="-122"/>
              </a:rPr>
              <a:t>可口可乐、麦当劳与</a:t>
            </a:r>
            <a:r>
              <a:rPr kumimoji="0" lang="en-US" altLang="zh-CN" sz="3200" dirty="0">
                <a:latin typeface="Arial" pitchFamily="34" charset="0"/>
                <a:ea typeface="宋体" pitchFamily="2" charset="-122"/>
              </a:rPr>
              <a:t>DISNEYLAND</a:t>
            </a:r>
            <a:r>
              <a:rPr kumimoji="0" lang="zh-CN" altLang="en-US" sz="3200" dirty="0">
                <a:latin typeface="Arial" pitchFamily="34" charset="0"/>
                <a:ea typeface="宋体" pitchFamily="2" charset="-122"/>
              </a:rPr>
              <a:t>的全球联盟</a:t>
            </a:r>
          </a:p>
          <a:p>
            <a:pPr marL="342900" indent="-342900" algn="l">
              <a:spcBef>
                <a:spcPct val="30000"/>
              </a:spcBef>
              <a:buClr>
                <a:schemeClr val="bg1"/>
              </a:buClr>
              <a:buFont typeface="Wingdings" pitchFamily="2" charset="2"/>
              <a:buChar char="l"/>
            </a:pPr>
            <a:r>
              <a:rPr kumimoji="0" lang="zh-CN" altLang="en-US" sz="3200" dirty="0">
                <a:latin typeface="Arial" pitchFamily="34" charset="0"/>
                <a:ea typeface="宋体" pitchFamily="2" charset="-122"/>
              </a:rPr>
              <a:t>未来的竞争将是联盟与联盟之间的竞争</a:t>
            </a:r>
          </a:p>
        </p:txBody>
      </p:sp>
      <p:graphicFrame>
        <p:nvGraphicFramePr>
          <p:cNvPr id="2050" name="Object 1028"/>
          <p:cNvGraphicFramePr>
            <a:graphicFrameLocks noGrp="1" noChangeAspect="1"/>
          </p:cNvGraphicFramePr>
          <p:nvPr>
            <p:ph idx="1"/>
          </p:nvPr>
        </p:nvGraphicFramePr>
        <p:xfrm>
          <a:off x="2268538" y="3860800"/>
          <a:ext cx="3455987" cy="1800225"/>
        </p:xfrm>
        <a:graphic>
          <a:graphicData uri="http://schemas.openxmlformats.org/presentationml/2006/ole">
            <mc:AlternateContent xmlns:mc="http://schemas.openxmlformats.org/markup-compatibility/2006">
              <mc:Choice xmlns:v="urn:schemas-microsoft-com:vml" Requires="v">
                <p:oleObj spid="_x0000_s89107" name="绘图" r:id="rId4" imgW="1497600" imgH="568800" progId="">
                  <p:embed/>
                </p:oleObj>
              </mc:Choice>
              <mc:Fallback>
                <p:oleObj name="绘图" r:id="rId4" imgW="1497600" imgH="568800" progId="">
                  <p:embed/>
                  <p:pic>
                    <p:nvPicPr>
                      <p:cNvPr id="0" name="Object 10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8538" y="3860800"/>
                        <a:ext cx="3455987" cy="1800225"/>
                      </a:xfrm>
                      <a:prstGeom prst="rect">
                        <a:avLst/>
                      </a:prstGeom>
                      <a:noFill/>
                      <a:ln>
                        <a:noFill/>
                      </a:ln>
                      <a:effectLst/>
                      <a:extLst>
                        <a:ext uri="{909E8E84-426E-40dd-AFC4-6F175D3DCCD1}">
                          <a14:hiddenFill xmlns="" xmlns:a14="http://schemas.microsoft.com/office/drawing/2010/main">
                            <a:solidFill>
                              <a:srgbClr val="F2F8C4"/>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69091"/>
                                        </p:tgtEl>
                                        <p:attrNameLst>
                                          <p:attrName>style.visibility</p:attrName>
                                        </p:attrNameLst>
                                      </p:cBhvr>
                                      <p:to>
                                        <p:strVal val="visible"/>
                                      </p:to>
                                    </p:set>
                                    <p:anim calcmode="lin" valueType="num">
                                      <p:cBhvr additive="base">
                                        <p:cTn id="7" dur="500" fill="hold"/>
                                        <p:tgtEl>
                                          <p:spTgt spid="1369091"/>
                                        </p:tgtEl>
                                        <p:attrNameLst>
                                          <p:attrName>ppt_x</p:attrName>
                                        </p:attrNameLst>
                                      </p:cBhvr>
                                      <p:tavLst>
                                        <p:tav tm="0">
                                          <p:val>
                                            <p:strVal val="0-#ppt_w/2"/>
                                          </p:val>
                                        </p:tav>
                                        <p:tav tm="100000">
                                          <p:val>
                                            <p:strVal val="#ppt_x"/>
                                          </p:val>
                                        </p:tav>
                                      </p:tavLst>
                                    </p:anim>
                                    <p:anim calcmode="lin" valueType="num">
                                      <p:cBhvr additive="base">
                                        <p:cTn id="8" dur="500" fill="hold"/>
                                        <p:tgtEl>
                                          <p:spTgt spid="13690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909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战略联盟的优势和劣势</a:t>
            </a:r>
          </a:p>
        </p:txBody>
      </p:sp>
      <p:sp>
        <p:nvSpPr>
          <p:cNvPr id="3" name="内容占位符 2"/>
          <p:cNvSpPr>
            <a:spLocks noGrp="1"/>
          </p:cNvSpPr>
          <p:nvPr>
            <p:ph idx="1"/>
          </p:nvPr>
        </p:nvSpPr>
        <p:spPr/>
        <p:txBody>
          <a:bodyPr>
            <a:normAutofit/>
          </a:bodyPr>
          <a:lstStyle/>
          <a:p>
            <a:r>
              <a:rPr lang="zh-CN" altLang="en-US" sz="2800" dirty="0"/>
              <a:t>优势</a:t>
            </a:r>
            <a:endParaRPr lang="en-US" altLang="zh-CN" sz="2800" dirty="0"/>
          </a:p>
          <a:p>
            <a:pPr lvl="1"/>
            <a:r>
              <a:rPr lang="zh-CN" altLang="en-US" sz="2200" dirty="0"/>
              <a:t>能获得生产和营销上的规模经济性</a:t>
            </a:r>
            <a:endParaRPr lang="en-US" altLang="zh-CN" sz="2200" dirty="0"/>
          </a:p>
          <a:p>
            <a:pPr lvl="1"/>
            <a:r>
              <a:rPr lang="zh-CN" altLang="en-US" sz="2200" dirty="0"/>
              <a:t>弥补技术技能和有关当地市场知识方面的不足</a:t>
            </a:r>
            <a:endParaRPr lang="en-US" altLang="zh-CN" sz="2200" dirty="0"/>
          </a:p>
          <a:p>
            <a:pPr lvl="1"/>
            <a:r>
              <a:rPr lang="zh-CN" altLang="en-US" sz="2200" dirty="0"/>
              <a:t>分享销售设施和销售网络</a:t>
            </a:r>
            <a:endParaRPr lang="en-US" altLang="zh-CN" sz="2200" dirty="0"/>
          </a:p>
          <a:p>
            <a:pPr lvl="1"/>
            <a:r>
              <a:rPr lang="zh-CN" altLang="en-US" sz="2200" dirty="0"/>
              <a:t>结合力量对付共同的对手</a:t>
            </a:r>
            <a:endParaRPr lang="en-US" altLang="zh-CN" sz="2200" dirty="0"/>
          </a:p>
          <a:p>
            <a:r>
              <a:rPr lang="zh-CN" altLang="en-US" sz="2800" dirty="0"/>
              <a:t>劣势</a:t>
            </a:r>
            <a:endParaRPr lang="en-US" altLang="zh-CN" sz="2800" dirty="0"/>
          </a:p>
          <a:p>
            <a:pPr lvl="1"/>
            <a:r>
              <a:rPr lang="zh-CN" altLang="en-US" sz="2200" dirty="0"/>
              <a:t>容易产生职责分工和有效控制的问题</a:t>
            </a:r>
            <a:endParaRPr lang="en-US" altLang="zh-CN" sz="2200" dirty="0"/>
          </a:p>
          <a:p>
            <a:pPr lvl="1"/>
            <a:r>
              <a:rPr lang="zh-CN" altLang="en-US" sz="2200" dirty="0"/>
              <a:t>联盟各方由于动机和目的不同，在战略的长期方向、如何从事经营、如何控制现金流和利润、如何保持个性和文化等方面存在冲突</a:t>
            </a:r>
            <a:endParaRPr lang="en-US" altLang="zh-CN" sz="2200" dirty="0"/>
          </a:p>
          <a:p>
            <a:pPr lvl="1"/>
            <a:r>
              <a:rPr lang="zh-CN" altLang="en-US" sz="2200" dirty="0"/>
              <a:t>在必要的技能上长期过于依赖另一家企业</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22" name="AutoShape 2"/>
          <p:cNvSpPr>
            <a:spLocks noChangeArrowheads="1"/>
          </p:cNvSpPr>
          <p:nvPr/>
        </p:nvSpPr>
        <p:spPr bwMode="auto">
          <a:xfrm>
            <a:off x="468313" y="152400"/>
            <a:ext cx="8351837" cy="635000"/>
          </a:xfrm>
          <a:prstGeom prst="roundRect">
            <a:avLst>
              <a:gd name="adj" fmla="val 12477"/>
            </a:avLst>
          </a:prstGeom>
          <a:noFill/>
          <a:ln w="12700">
            <a:noFill/>
            <a:round/>
            <a:headEnd/>
            <a:tailEnd/>
          </a:ln>
          <a:effectLst>
            <a:outerShdw dist="53882" dir="2700000" algn="ctr" rotWithShape="0">
              <a:srgbClr val="919191"/>
            </a:outerShdw>
          </a:effectLst>
        </p:spPr>
        <p:txBody>
          <a:bodyPr wrap="none" anchor="ctr"/>
          <a:lstStyle/>
          <a:p>
            <a:pPr>
              <a:defRPr/>
            </a:pPr>
            <a:endParaRPr lang="zh-CN" altLang="en-US"/>
          </a:p>
        </p:txBody>
      </p:sp>
      <p:sp>
        <p:nvSpPr>
          <p:cNvPr id="1413123" name="Rectangle 3"/>
          <p:cNvSpPr>
            <a:spLocks noChangeArrowheads="1"/>
          </p:cNvSpPr>
          <p:nvPr/>
        </p:nvSpPr>
        <p:spPr bwMode="auto">
          <a:xfrm>
            <a:off x="2246313" y="184150"/>
            <a:ext cx="4992687" cy="698500"/>
          </a:xfrm>
          <a:prstGeom prst="rect">
            <a:avLst/>
          </a:prstGeom>
          <a:noFill/>
          <a:ln w="12700">
            <a:noFill/>
            <a:miter lim="800000"/>
            <a:headEnd/>
            <a:tailEnd/>
          </a:ln>
          <a:effectLst/>
        </p:spPr>
        <p:txBody>
          <a:bodyPr lIns="90488" tIns="44450" rIns="90488" bIns="44450">
            <a:spAutoFit/>
          </a:bodyPr>
          <a:lstStyle/>
          <a:p>
            <a:pPr eaLnBrk="0" hangingPunct="0">
              <a:defRPr/>
            </a:pPr>
            <a:r>
              <a:rPr lang="zh-CN" altLang="en-US" sz="4000" dirty="0">
                <a:solidFill>
                  <a:srgbClr val="FFFF66"/>
                </a:solidFill>
                <a:effectLst>
                  <a:outerShdw blurRad="38100" dist="38100" dir="2700000" algn="tl">
                    <a:srgbClr val="C0C0C0"/>
                  </a:outerShdw>
                </a:effectLst>
                <a:ea typeface="宋体" pitchFamily="2" charset="-122"/>
              </a:rPr>
              <a:t>兼</a:t>
            </a:r>
            <a:r>
              <a:rPr kumimoji="0" lang="zh-CN" altLang="en-NZ" sz="4000" dirty="0">
                <a:solidFill>
                  <a:srgbClr val="FFFF66"/>
                </a:solidFill>
                <a:effectLst>
                  <a:outerShdw blurRad="38100" dist="38100" dir="2700000" algn="tl">
                    <a:srgbClr val="C0C0C0"/>
                  </a:outerShdw>
                </a:effectLst>
                <a:ea typeface="宋体" pitchFamily="2" charset="-122"/>
              </a:rPr>
              <a:t>并与收购</a:t>
            </a:r>
          </a:p>
        </p:txBody>
      </p:sp>
      <p:sp>
        <p:nvSpPr>
          <p:cNvPr id="1413126" name="AutoShape 6"/>
          <p:cNvSpPr>
            <a:spLocks noChangeArrowheads="1"/>
          </p:cNvSpPr>
          <p:nvPr/>
        </p:nvSpPr>
        <p:spPr bwMode="auto">
          <a:xfrm>
            <a:off x="250825" y="1844675"/>
            <a:ext cx="8675688" cy="1655763"/>
          </a:xfrm>
          <a:prstGeom prst="roundRect">
            <a:avLst>
              <a:gd name="adj" fmla="val 12477"/>
            </a:avLst>
          </a:prstGeom>
          <a:solidFill>
            <a:schemeClr val="accent2"/>
          </a:solidFill>
          <a:ln w="12700">
            <a:noFill/>
            <a:round/>
            <a:headEnd/>
            <a:tailEnd/>
          </a:ln>
          <a:effectLst>
            <a:outerShdw dist="53882" dir="2700000" algn="ctr" rotWithShape="0">
              <a:srgbClr val="919191"/>
            </a:outerShdw>
          </a:effectLst>
        </p:spPr>
        <p:txBody>
          <a:bodyPr wrap="none" anchor="ctr"/>
          <a:lstStyle/>
          <a:p>
            <a:pPr>
              <a:defRPr/>
            </a:pPr>
            <a:endParaRPr lang="zh-CN" altLang="en-US"/>
          </a:p>
        </p:txBody>
      </p:sp>
      <p:sp>
        <p:nvSpPr>
          <p:cNvPr id="1413127" name="Rectangle 7"/>
          <p:cNvSpPr>
            <a:spLocks noChangeArrowheads="1"/>
          </p:cNvSpPr>
          <p:nvPr/>
        </p:nvSpPr>
        <p:spPr bwMode="auto">
          <a:xfrm>
            <a:off x="468313" y="1989138"/>
            <a:ext cx="8353425" cy="1345497"/>
          </a:xfrm>
          <a:prstGeom prst="rect">
            <a:avLst/>
          </a:prstGeom>
          <a:solidFill>
            <a:srgbClr val="FFFF00"/>
          </a:solidFill>
          <a:ln w="12700">
            <a:noFill/>
            <a:miter lim="800000"/>
            <a:headEnd/>
            <a:tailEnd/>
          </a:ln>
        </p:spPr>
        <p:txBody>
          <a:bodyPr lIns="90488" tIns="44450" rIns="90488" bIns="44450">
            <a:spAutoFit/>
          </a:bodyPr>
          <a:lstStyle/>
          <a:p>
            <a:pPr algn="l" eaLnBrk="0" hangingPunct="0">
              <a:lnSpc>
                <a:spcPct val="85000"/>
              </a:lnSpc>
            </a:pPr>
            <a:r>
              <a:rPr lang="zh-CN" altLang="en-US" sz="3200" dirty="0">
                <a:solidFill>
                  <a:schemeClr val="bg1"/>
                </a:solidFill>
                <a:latin typeface="宋体" pitchFamily="2" charset="-122"/>
                <a:ea typeface="宋体" pitchFamily="2" charset="-122"/>
              </a:rPr>
              <a:t>兼并：</a:t>
            </a:r>
            <a:r>
              <a:rPr lang="en-US" altLang="zh-CN" sz="3200" dirty="0">
                <a:solidFill>
                  <a:schemeClr val="bg1"/>
                </a:solidFill>
                <a:latin typeface="宋体" pitchFamily="2" charset="-122"/>
                <a:ea typeface="宋体" pitchFamily="2" charset="-122"/>
              </a:rPr>
              <a:t>A+B=C</a:t>
            </a:r>
          </a:p>
          <a:p>
            <a:pPr algn="l" eaLnBrk="0" hangingPunct="0">
              <a:lnSpc>
                <a:spcPct val="85000"/>
              </a:lnSpc>
            </a:pPr>
            <a:r>
              <a:rPr lang="zh-CN" altLang="en-US" sz="3200" dirty="0">
                <a:solidFill>
                  <a:schemeClr val="bg1"/>
                </a:solidFill>
                <a:latin typeface="宋体" pitchFamily="2" charset="-122"/>
                <a:ea typeface="宋体" pitchFamily="2" charset="-122"/>
              </a:rPr>
              <a:t>收购：</a:t>
            </a:r>
            <a:r>
              <a:rPr lang="en-US" altLang="zh-CN" sz="3200" dirty="0">
                <a:solidFill>
                  <a:schemeClr val="bg1"/>
                </a:solidFill>
                <a:latin typeface="宋体" pitchFamily="2" charset="-122"/>
                <a:ea typeface="宋体" pitchFamily="2" charset="-122"/>
              </a:rPr>
              <a:t>A+B=A</a:t>
            </a:r>
          </a:p>
          <a:p>
            <a:pPr algn="l" eaLnBrk="0" hangingPunct="0">
              <a:lnSpc>
                <a:spcPct val="85000"/>
              </a:lnSpc>
            </a:pPr>
            <a:r>
              <a:rPr kumimoji="0" lang="zh-CN" altLang="en-US" sz="3200" dirty="0">
                <a:solidFill>
                  <a:schemeClr val="bg1"/>
                </a:solidFill>
                <a:latin typeface="宋体" pitchFamily="2" charset="-122"/>
                <a:ea typeface="宋体" pitchFamily="2" charset="-122"/>
              </a:rPr>
              <a:t>分类：横向并购、纵向并购、混合并购</a:t>
            </a:r>
            <a:endParaRPr kumimoji="0" lang="en-NZ" altLang="zh-CN" sz="3200" dirty="0">
              <a:solidFill>
                <a:schemeClr val="bg1"/>
              </a:solidFill>
              <a:latin typeface="宋体" pitchFamily="2" charset="-122"/>
              <a:ea typeface="宋体" pitchFamily="2" charset="-122"/>
            </a:endParaRPr>
          </a:p>
        </p:txBody>
      </p:sp>
      <p:sp>
        <p:nvSpPr>
          <p:cNvPr id="53254" name="AutoShape 8"/>
          <p:cNvSpPr>
            <a:spLocks noChangeArrowheads="1"/>
          </p:cNvSpPr>
          <p:nvPr/>
        </p:nvSpPr>
        <p:spPr bwMode="auto">
          <a:xfrm>
            <a:off x="395288" y="3573463"/>
            <a:ext cx="8424862" cy="2598737"/>
          </a:xfrm>
          <a:prstGeom prst="horizontalScroll">
            <a:avLst>
              <a:gd name="adj" fmla="val 12500"/>
            </a:avLst>
          </a:prstGeom>
          <a:solidFill>
            <a:srgbClr val="FFCCFF"/>
          </a:solidFill>
          <a:ln w="9525">
            <a:solidFill>
              <a:schemeClr val="tx1"/>
            </a:solidFill>
            <a:round/>
            <a:headEnd/>
            <a:tailEnd/>
          </a:ln>
        </p:spPr>
        <p:txBody>
          <a:bodyPr wrap="none" anchor="ctr"/>
          <a:lstStyle/>
          <a:p>
            <a:r>
              <a:rPr kumimoji="0" lang="zh-CN" altLang="en-US" sz="2800" b="1" dirty="0">
                <a:solidFill>
                  <a:schemeClr val="bg1"/>
                </a:solidFill>
                <a:latin typeface="Arial" pitchFamily="34" charset="0"/>
                <a:ea typeface="宋体" pitchFamily="2" charset="-122"/>
              </a:rPr>
              <a:t>没有一个美国大公司不是通过某种程度、</a:t>
            </a:r>
          </a:p>
          <a:p>
            <a:r>
              <a:rPr kumimoji="0" lang="zh-CN" altLang="en-US" sz="2800" b="1" dirty="0">
                <a:solidFill>
                  <a:schemeClr val="bg1"/>
                </a:solidFill>
                <a:latin typeface="Arial" pitchFamily="34" charset="0"/>
                <a:ea typeface="宋体" pitchFamily="2" charset="-122"/>
              </a:rPr>
              <a:t>某种方式的兼并而成长起来的，几乎没</a:t>
            </a:r>
          </a:p>
          <a:p>
            <a:r>
              <a:rPr kumimoji="0" lang="zh-CN" altLang="en-US" sz="2800" b="1" dirty="0">
                <a:solidFill>
                  <a:schemeClr val="bg1"/>
                </a:solidFill>
                <a:latin typeface="Arial" pitchFamily="34" charset="0"/>
                <a:ea typeface="宋体" pitchFamily="2" charset="-122"/>
              </a:rPr>
              <a:t>有一家大公司主要靠内部扩张成长起来。</a:t>
            </a:r>
          </a:p>
          <a:p>
            <a:r>
              <a:rPr kumimoji="0" lang="zh-CN" altLang="en-US" sz="2800" b="1" dirty="0">
                <a:solidFill>
                  <a:schemeClr val="bg1"/>
                </a:solidFill>
                <a:latin typeface="Arial" pitchFamily="34" charset="0"/>
                <a:ea typeface="宋体" pitchFamily="2" charset="-122"/>
              </a:rPr>
              <a:t>                                                     </a:t>
            </a:r>
            <a:endParaRPr kumimoji="0" lang="en-US" altLang="zh-CN" sz="1800" b="1" dirty="0">
              <a:solidFill>
                <a:schemeClr val="tx1"/>
              </a:solidFill>
              <a:latin typeface="Arial" pitchFamily="34" charset="0"/>
              <a:ea typeface="宋体" pitchFamily="2" charset="-122"/>
            </a:endParaRPr>
          </a:p>
        </p:txBody>
      </p:sp>
      <p:sp>
        <p:nvSpPr>
          <p:cNvPr id="2" name="矩形 1"/>
          <p:cNvSpPr/>
          <p:nvPr/>
        </p:nvSpPr>
        <p:spPr>
          <a:xfrm>
            <a:off x="5004048" y="5373216"/>
            <a:ext cx="3272358" cy="523220"/>
          </a:xfrm>
          <a:prstGeom prst="rect">
            <a:avLst/>
          </a:prstGeom>
        </p:spPr>
        <p:txBody>
          <a:bodyPr wrap="square">
            <a:spAutoFit/>
          </a:bodyPr>
          <a:lstStyle/>
          <a:p>
            <a:pPr lvl="0"/>
            <a:r>
              <a:rPr lang="en-US" altLang="zh-CN" sz="2800" b="1" dirty="0">
                <a:solidFill>
                  <a:prstClr val="black"/>
                </a:solidFill>
                <a:latin typeface="Arial" pitchFamily="34" charset="0"/>
                <a:ea typeface="宋体" pitchFamily="2" charset="-122"/>
              </a:rPr>
              <a:t>——</a:t>
            </a:r>
            <a:r>
              <a:rPr lang="zh-CN" altLang="en-US" sz="2800" b="1" dirty="0">
                <a:solidFill>
                  <a:prstClr val="black"/>
                </a:solidFill>
                <a:latin typeface="Arial" pitchFamily="34" charset="0"/>
                <a:ea typeface="宋体" pitchFamily="2" charset="-122"/>
              </a:rPr>
              <a:t>乔治</a:t>
            </a:r>
            <a:r>
              <a:rPr lang="zh-CN" altLang="en-US" sz="2800" b="1" dirty="0">
                <a:solidFill>
                  <a:prstClr val="black"/>
                </a:solidFill>
                <a:latin typeface="Arial" pitchFamily="34" charset="0"/>
                <a:ea typeface="宋体" pitchFamily="2" charset="-122"/>
                <a:sym typeface="Symbol" pitchFamily="18" charset="2"/>
              </a:rPr>
              <a:t>斯蒂格勒</a:t>
            </a:r>
          </a:p>
        </p:txBody>
      </p:sp>
    </p:spTree>
  </p:cSld>
  <p:clrMapOvr>
    <a:masterClrMapping/>
  </p:clrMapOvr>
  <p:transition spd="slow">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13126"/>
                                        </p:tgtEl>
                                        <p:attrNameLst>
                                          <p:attrName>style.visibility</p:attrName>
                                        </p:attrNameLst>
                                      </p:cBhvr>
                                      <p:to>
                                        <p:strVal val="visible"/>
                                      </p:to>
                                    </p:set>
                                    <p:animEffect transition="in" filter="wipe(up)">
                                      <p:cBhvr>
                                        <p:cTn id="7" dur="500"/>
                                        <p:tgtEl>
                                          <p:spTgt spid="141312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413127"/>
                                        </p:tgtEl>
                                        <p:attrNameLst>
                                          <p:attrName>style.visibility</p:attrName>
                                        </p:attrNameLst>
                                      </p:cBhvr>
                                      <p:to>
                                        <p:strVal val="visible"/>
                                      </p:to>
                                    </p:set>
                                    <p:animEffect transition="in" filter="wipe(up)">
                                      <p:cBhvr>
                                        <p:cTn id="11" dur="500"/>
                                        <p:tgtEl>
                                          <p:spTgt spid="1413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26" grpId="0" animBg="1"/>
      <p:bldP spid="1413127" grpId="0" animBg="1"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2124075" y="0"/>
            <a:ext cx="6335713" cy="1089025"/>
          </a:xfrm>
          <a:noFill/>
        </p:spPr>
        <p:txBody>
          <a:bodyPr/>
          <a:lstStyle/>
          <a:p>
            <a:pPr eaLnBrk="1" hangingPunct="1"/>
            <a:r>
              <a:rPr lang="zh-CN" altLang="en-US" sz="4800" dirty="0">
                <a:solidFill>
                  <a:srgbClr val="FFFF66"/>
                </a:solidFill>
              </a:rPr>
              <a:t>并</a:t>
            </a:r>
            <a:r>
              <a:rPr lang="zh-CN" altLang="en-AU" sz="4800" dirty="0">
                <a:solidFill>
                  <a:srgbClr val="FFFF66"/>
                </a:solidFill>
              </a:rPr>
              <a:t>购</a:t>
            </a:r>
            <a:r>
              <a:rPr lang="zh-CN" altLang="en-US" sz="4800" dirty="0">
                <a:solidFill>
                  <a:srgbClr val="FFFF66"/>
                </a:solidFill>
              </a:rPr>
              <a:t>战略的优势</a:t>
            </a:r>
            <a:endParaRPr lang="zh-CN" altLang="en-AU" sz="4800" dirty="0">
              <a:solidFill>
                <a:srgbClr val="FFFF66"/>
              </a:solidFill>
            </a:endParaRPr>
          </a:p>
        </p:txBody>
      </p:sp>
      <p:sp>
        <p:nvSpPr>
          <p:cNvPr id="1415171" name="Rectangle 3"/>
          <p:cNvSpPr>
            <a:spLocks noChangeArrowheads="1"/>
          </p:cNvSpPr>
          <p:nvPr/>
        </p:nvSpPr>
        <p:spPr bwMode="auto">
          <a:xfrm>
            <a:off x="395288" y="1700213"/>
            <a:ext cx="8534400" cy="4370387"/>
          </a:xfrm>
          <a:prstGeom prst="rect">
            <a:avLst/>
          </a:prstGeom>
          <a:noFill/>
          <a:ln w="12700">
            <a:noFill/>
            <a:miter lim="800000"/>
            <a:headEnd/>
            <a:tailEnd/>
          </a:ln>
        </p:spPr>
        <p:txBody>
          <a:bodyPr lIns="92075" tIns="46038" rIns="92075" bIns="46038"/>
          <a:lstStyle/>
          <a:p>
            <a:pPr marL="342900" indent="-342900" algn="l">
              <a:spcBef>
                <a:spcPct val="20000"/>
              </a:spcBef>
              <a:buClr>
                <a:schemeClr val="bg1"/>
              </a:buClr>
              <a:buFont typeface="Wingdings" pitchFamily="2" charset="2"/>
              <a:buChar char="l"/>
            </a:pPr>
            <a:r>
              <a:rPr kumimoji="0" lang="zh-CN" altLang="en-US" sz="3200" dirty="0">
                <a:latin typeface="Arial" pitchFamily="34" charset="0"/>
                <a:ea typeface="宋体" pitchFamily="2" charset="-122"/>
              </a:rPr>
              <a:t>企业为何要通过收购实现增长战略？</a:t>
            </a:r>
          </a:p>
          <a:p>
            <a:pPr marL="742950" lvl="1" indent="-285750" algn="l">
              <a:spcBef>
                <a:spcPct val="20000"/>
              </a:spcBef>
              <a:buClr>
                <a:schemeClr val="bg1"/>
              </a:buClr>
              <a:buSzPct val="85000"/>
              <a:buFont typeface="Wingdings" pitchFamily="2" charset="2"/>
              <a:buChar char="l"/>
            </a:pPr>
            <a:r>
              <a:rPr kumimoji="0" lang="zh-CN" altLang="en-US" sz="2800" dirty="0">
                <a:latin typeface="Arial" pitchFamily="34" charset="0"/>
                <a:ea typeface="宋体" pitchFamily="2" charset="-122"/>
              </a:rPr>
              <a:t>速度更快地进入新的产品和市场领域</a:t>
            </a:r>
            <a:endParaRPr kumimoji="0" lang="en-US" altLang="zh-CN" sz="2800" dirty="0">
              <a:latin typeface="Arial" pitchFamily="34" charset="0"/>
              <a:ea typeface="宋体" pitchFamily="2" charset="-122"/>
            </a:endParaRPr>
          </a:p>
          <a:p>
            <a:pPr marL="742950" lvl="1" indent="-285750" algn="l">
              <a:spcBef>
                <a:spcPct val="20000"/>
              </a:spcBef>
              <a:buClr>
                <a:schemeClr val="bg1"/>
              </a:buClr>
              <a:buSzPct val="85000"/>
              <a:buFont typeface="Wingdings" pitchFamily="2" charset="2"/>
              <a:buChar char="l"/>
            </a:pPr>
            <a:r>
              <a:rPr lang="zh-CN" altLang="en-US" sz="2800" dirty="0">
                <a:latin typeface="Arial" pitchFamily="34" charset="0"/>
                <a:ea typeface="宋体" pitchFamily="2" charset="-122"/>
              </a:rPr>
              <a:t>对行业内现有企业或国外市场上的现有企业进行并购，能帮助企业越过壁垒，促进跨行业或跨国发展</a:t>
            </a:r>
            <a:endParaRPr lang="en-US" altLang="zh-CN" sz="2800" dirty="0">
              <a:latin typeface="Arial" pitchFamily="34" charset="0"/>
              <a:ea typeface="宋体" pitchFamily="2" charset="-122"/>
            </a:endParaRPr>
          </a:p>
          <a:p>
            <a:pPr marL="742950" lvl="1" indent="-285750" algn="l">
              <a:spcBef>
                <a:spcPct val="20000"/>
              </a:spcBef>
              <a:buClr>
                <a:schemeClr val="bg1"/>
              </a:buClr>
              <a:buSzPct val="85000"/>
              <a:buFont typeface="Wingdings" pitchFamily="2" charset="2"/>
              <a:buChar char="l"/>
            </a:pPr>
            <a:r>
              <a:rPr kumimoji="0" lang="zh-CN" altLang="en-US" sz="2800" dirty="0">
                <a:latin typeface="Arial" pitchFamily="34" charset="0"/>
                <a:ea typeface="宋体" pitchFamily="2" charset="-122"/>
              </a:rPr>
              <a:t>发挥协同效应，创造生产经营协同、财务协同、资源协同及技术协同等方面的利益</a:t>
            </a:r>
            <a:endParaRPr kumimoji="0" lang="en-US" altLang="zh-CN" sz="2800" dirty="0">
              <a:latin typeface="Arial" pitchFamily="34" charset="0"/>
              <a:ea typeface="宋体" pitchFamily="2" charset="-122"/>
            </a:endParaRPr>
          </a:p>
          <a:p>
            <a:pPr marL="742950" lvl="1" indent="-285750" algn="l">
              <a:spcBef>
                <a:spcPct val="20000"/>
              </a:spcBef>
              <a:buClr>
                <a:schemeClr val="bg1"/>
              </a:buClr>
              <a:buSzPct val="85000"/>
              <a:buFont typeface="Wingdings" pitchFamily="2" charset="2"/>
              <a:buChar char="l"/>
            </a:pPr>
            <a:r>
              <a:rPr lang="zh-CN" altLang="en-US" sz="2800" dirty="0">
                <a:latin typeface="Arial" pitchFamily="34" charset="0"/>
                <a:ea typeface="宋体" pitchFamily="2" charset="-122"/>
              </a:rPr>
              <a:t>提高生产和经营规模，获得效率和成本优势，提高企业对市场的控制能力</a:t>
            </a:r>
            <a:endParaRPr kumimoji="0" lang="zh-CN" altLang="en-US" sz="2800" dirty="0">
              <a:latin typeface="Arial" pitchFamily="34" charset="0"/>
              <a:ea typeface="宋体" pitchFamily="2" charset="-122"/>
            </a:endParaRP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15171"/>
                                        </p:tgtEl>
                                        <p:attrNameLst>
                                          <p:attrName>style.visibility</p:attrName>
                                        </p:attrNameLst>
                                      </p:cBhvr>
                                      <p:to>
                                        <p:strVal val="visible"/>
                                      </p:to>
                                    </p:set>
                                    <p:anim calcmode="lin" valueType="num">
                                      <p:cBhvr additive="base">
                                        <p:cTn id="7" dur="500" fill="hold"/>
                                        <p:tgtEl>
                                          <p:spTgt spid="1415171"/>
                                        </p:tgtEl>
                                        <p:attrNameLst>
                                          <p:attrName>ppt_x</p:attrName>
                                        </p:attrNameLst>
                                      </p:cBhvr>
                                      <p:tavLst>
                                        <p:tav tm="0">
                                          <p:val>
                                            <p:strVal val="0-#ppt_w/2"/>
                                          </p:val>
                                        </p:tav>
                                        <p:tav tm="100000">
                                          <p:val>
                                            <p:strVal val="#ppt_x"/>
                                          </p:val>
                                        </p:tav>
                                      </p:tavLst>
                                    </p:anim>
                                    <p:anim calcmode="lin" valueType="num">
                                      <p:cBhvr additive="base">
                                        <p:cTn id="8" dur="500" fill="hold"/>
                                        <p:tgtEl>
                                          <p:spTgt spid="14151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517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2124075" y="0"/>
            <a:ext cx="5919788" cy="1089025"/>
          </a:xfrm>
          <a:noFill/>
        </p:spPr>
        <p:txBody>
          <a:bodyPr/>
          <a:lstStyle/>
          <a:p>
            <a:pPr eaLnBrk="1" hangingPunct="1"/>
            <a:r>
              <a:rPr lang="zh-CN" altLang="en-US" sz="4800" dirty="0">
                <a:solidFill>
                  <a:srgbClr val="FFFF66"/>
                </a:solidFill>
              </a:rPr>
              <a:t>并</a:t>
            </a:r>
            <a:r>
              <a:rPr lang="zh-CN" altLang="en-AU" sz="4800" dirty="0">
                <a:solidFill>
                  <a:srgbClr val="FFFF66"/>
                </a:solidFill>
              </a:rPr>
              <a:t>购</a:t>
            </a:r>
            <a:r>
              <a:rPr lang="zh-CN" altLang="en-US" sz="4800" dirty="0">
                <a:solidFill>
                  <a:srgbClr val="FFFF66"/>
                </a:solidFill>
              </a:rPr>
              <a:t>面临的问题</a:t>
            </a:r>
            <a:endParaRPr lang="zh-CN" altLang="en-AU" sz="4800" dirty="0">
              <a:solidFill>
                <a:srgbClr val="FFFF66"/>
              </a:solidFill>
            </a:endParaRPr>
          </a:p>
        </p:txBody>
      </p:sp>
      <p:sp>
        <p:nvSpPr>
          <p:cNvPr id="1360899" name="Rectangle 3"/>
          <p:cNvSpPr>
            <a:spLocks noChangeArrowheads="1"/>
          </p:cNvSpPr>
          <p:nvPr/>
        </p:nvSpPr>
        <p:spPr bwMode="auto">
          <a:xfrm>
            <a:off x="323850" y="1557338"/>
            <a:ext cx="8443913" cy="4586287"/>
          </a:xfrm>
          <a:prstGeom prst="rect">
            <a:avLst/>
          </a:prstGeom>
          <a:noFill/>
          <a:ln w="12700">
            <a:noFill/>
            <a:miter lim="800000"/>
            <a:headEnd/>
            <a:tailEnd/>
          </a:ln>
        </p:spPr>
        <p:txBody>
          <a:bodyPr lIns="92075" tIns="46038" rIns="92075" bIns="46038"/>
          <a:lstStyle/>
          <a:p>
            <a:pPr marL="342900" indent="-342900" algn="l">
              <a:spcBef>
                <a:spcPct val="30000"/>
              </a:spcBef>
              <a:buClr>
                <a:schemeClr val="bg1"/>
              </a:buClr>
              <a:buFont typeface="Wingdings" pitchFamily="2" charset="2"/>
              <a:buChar char="l"/>
            </a:pPr>
            <a:r>
              <a:rPr lang="zh-CN" altLang="en-US" sz="2800" dirty="0">
                <a:latin typeface="Arial" pitchFamily="34" charset="0"/>
                <a:ea typeface="宋体" pitchFamily="2" charset="-122"/>
              </a:rPr>
              <a:t>并</a:t>
            </a:r>
            <a:r>
              <a:rPr kumimoji="0" lang="zh-CN" altLang="en-US" sz="2800" dirty="0">
                <a:latin typeface="Arial" pitchFamily="34" charset="0"/>
                <a:ea typeface="宋体" pitchFamily="2" charset="-122"/>
              </a:rPr>
              <a:t>购面临的问题</a:t>
            </a:r>
          </a:p>
          <a:p>
            <a:pPr marL="742950" lvl="1" indent="-285750" algn="l">
              <a:spcBef>
                <a:spcPct val="30000"/>
              </a:spcBef>
              <a:buClr>
                <a:schemeClr val="bg1"/>
              </a:buClr>
              <a:buSzPct val="85000"/>
              <a:buFont typeface="Wingdings" pitchFamily="2" charset="2"/>
              <a:buChar char="l"/>
            </a:pPr>
            <a:r>
              <a:rPr kumimoji="0" lang="zh-CN" altLang="en-US" sz="2400" dirty="0">
                <a:latin typeface="Arial" pitchFamily="34" charset="0"/>
                <a:ea typeface="宋体" pitchFamily="2" charset="-122"/>
              </a:rPr>
              <a:t>对象难找、时间长、谈判繁琐、自主性不定</a:t>
            </a:r>
          </a:p>
          <a:p>
            <a:pPr marL="742950" lvl="1" indent="-285750" algn="l">
              <a:spcBef>
                <a:spcPct val="30000"/>
              </a:spcBef>
              <a:buClr>
                <a:schemeClr val="bg1"/>
              </a:buClr>
              <a:buSzPct val="85000"/>
              <a:buFont typeface="Wingdings" pitchFamily="2" charset="2"/>
              <a:buChar char="l"/>
            </a:pPr>
            <a:r>
              <a:rPr kumimoji="0" lang="zh-CN" altLang="en-US" sz="2400" dirty="0">
                <a:latin typeface="Arial" pitchFamily="34" charset="0"/>
                <a:ea typeface="宋体" pitchFamily="2" charset="-122"/>
              </a:rPr>
              <a:t>新旧企业的文化差异</a:t>
            </a:r>
          </a:p>
          <a:p>
            <a:pPr marL="742950" lvl="1" indent="-285750" algn="l">
              <a:spcBef>
                <a:spcPct val="30000"/>
              </a:spcBef>
              <a:buClr>
                <a:schemeClr val="bg1"/>
              </a:buClr>
              <a:buSzPct val="85000"/>
              <a:buFont typeface="Wingdings" pitchFamily="2" charset="2"/>
              <a:buChar char="l"/>
            </a:pPr>
            <a:r>
              <a:rPr kumimoji="0" lang="zh-CN" altLang="en-US" sz="2400" dirty="0">
                <a:latin typeface="Arial" pitchFamily="34" charset="0"/>
                <a:ea typeface="宋体" pitchFamily="2" charset="-122"/>
              </a:rPr>
              <a:t>负债过大或过度</a:t>
            </a:r>
            <a:endParaRPr kumimoji="0" lang="en-NZ" sz="2400" dirty="0">
              <a:latin typeface="Arial" pitchFamily="34" charset="0"/>
              <a:ea typeface="宋体" pitchFamily="2" charset="-122"/>
            </a:endParaRPr>
          </a:p>
          <a:p>
            <a:pPr marL="742950" lvl="1" indent="-285750" algn="l">
              <a:spcBef>
                <a:spcPct val="30000"/>
              </a:spcBef>
              <a:buClr>
                <a:schemeClr val="bg1"/>
              </a:buClr>
              <a:buSzPct val="85000"/>
              <a:buFont typeface="Wingdings" pitchFamily="2" charset="2"/>
              <a:buChar char="l"/>
            </a:pPr>
            <a:r>
              <a:rPr kumimoji="0" lang="zh-CN" altLang="en-US" sz="2400" dirty="0">
                <a:latin typeface="Arial" pitchFamily="34" charset="0"/>
                <a:ea typeface="宋体" pitchFamily="2" charset="-122"/>
              </a:rPr>
              <a:t>对目标企业的评价不充分</a:t>
            </a:r>
          </a:p>
          <a:p>
            <a:pPr marL="742950" lvl="1" indent="-285750" algn="l">
              <a:spcBef>
                <a:spcPct val="30000"/>
              </a:spcBef>
              <a:buClr>
                <a:schemeClr val="bg1"/>
              </a:buClr>
              <a:buSzPct val="85000"/>
              <a:buFont typeface="Wingdings" pitchFamily="2" charset="2"/>
              <a:buChar char="l"/>
            </a:pPr>
            <a:r>
              <a:rPr kumimoji="0" lang="zh-CN" altLang="en-US" sz="2400" dirty="0">
                <a:latin typeface="Arial" pitchFamily="34" charset="0"/>
                <a:ea typeface="宋体" pitchFamily="2" charset="-122"/>
              </a:rPr>
              <a:t>经理过分关注购并业务</a:t>
            </a:r>
          </a:p>
          <a:p>
            <a:pPr marL="742950" lvl="1" indent="-285750" algn="l">
              <a:spcBef>
                <a:spcPct val="30000"/>
              </a:spcBef>
              <a:buClr>
                <a:schemeClr val="bg1"/>
              </a:buClr>
              <a:buSzPct val="85000"/>
              <a:buFont typeface="Wingdings" pitchFamily="2" charset="2"/>
              <a:buChar char="l"/>
            </a:pPr>
            <a:r>
              <a:rPr kumimoji="0" lang="zh-CN" altLang="en-US" sz="2400" dirty="0">
                <a:latin typeface="Arial" pitchFamily="34" charset="0"/>
                <a:ea typeface="宋体" pitchFamily="2" charset="-122"/>
              </a:rPr>
              <a:t>名字都可能成问题</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60899"/>
                                        </p:tgtEl>
                                        <p:attrNameLst>
                                          <p:attrName>style.visibility</p:attrName>
                                        </p:attrNameLst>
                                      </p:cBhvr>
                                      <p:to>
                                        <p:strVal val="visible"/>
                                      </p:to>
                                    </p:set>
                                    <p:anim calcmode="lin" valueType="num">
                                      <p:cBhvr additive="base">
                                        <p:cTn id="7" dur="500" fill="hold"/>
                                        <p:tgtEl>
                                          <p:spTgt spid="1360899"/>
                                        </p:tgtEl>
                                        <p:attrNameLst>
                                          <p:attrName>ppt_x</p:attrName>
                                        </p:attrNameLst>
                                      </p:cBhvr>
                                      <p:tavLst>
                                        <p:tav tm="0">
                                          <p:val>
                                            <p:strVal val="0-#ppt_w/2"/>
                                          </p:val>
                                        </p:tav>
                                        <p:tav tm="100000">
                                          <p:val>
                                            <p:strVal val="#ppt_x"/>
                                          </p:val>
                                        </p:tav>
                                      </p:tavLst>
                                    </p:anim>
                                    <p:anim calcmode="lin" valueType="num">
                                      <p:cBhvr additive="base">
                                        <p:cTn id="8" dur="500" fill="hold"/>
                                        <p:tgtEl>
                                          <p:spTgt spid="13608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0899"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重组战略</a:t>
            </a:r>
          </a:p>
        </p:txBody>
      </p:sp>
      <p:sp>
        <p:nvSpPr>
          <p:cNvPr id="3" name="内容占位符 2"/>
          <p:cNvSpPr>
            <a:spLocks noGrp="1"/>
          </p:cNvSpPr>
          <p:nvPr>
            <p:ph idx="1"/>
          </p:nvPr>
        </p:nvSpPr>
        <p:spPr/>
        <p:txBody>
          <a:bodyPr/>
          <a:lstStyle/>
          <a:p>
            <a:r>
              <a:rPr lang="zh-CN" altLang="en-US" dirty="0"/>
              <a:t>重组：公司对其业务架构和财务系统进行改变的战略</a:t>
            </a:r>
            <a:endParaRPr lang="en-US" altLang="zh-CN" dirty="0"/>
          </a:p>
          <a:p>
            <a:r>
              <a:rPr lang="zh-CN" altLang="en-US" dirty="0"/>
              <a:t>重组</a:t>
            </a:r>
            <a:endParaRPr lang="en-US" altLang="zh-CN" dirty="0"/>
          </a:p>
          <a:p>
            <a:pPr lvl="1"/>
            <a:r>
              <a:rPr lang="zh-CN" altLang="en-US" dirty="0"/>
              <a:t>精简：减少费用和成本</a:t>
            </a:r>
            <a:endParaRPr lang="en-US" altLang="zh-CN" dirty="0"/>
          </a:p>
          <a:p>
            <a:pPr lvl="1"/>
            <a:r>
              <a:rPr lang="zh-CN" altLang="en-US" dirty="0"/>
              <a:t>收缩：剥离一部分业务</a:t>
            </a:r>
            <a:endParaRPr lang="en-US" altLang="zh-CN" dirty="0"/>
          </a:p>
          <a:p>
            <a:pPr lvl="1"/>
            <a:r>
              <a:rPr lang="zh-CN" altLang="en-US" dirty="0"/>
              <a:t>杠杆并购：一方为了将公司私有化而买下公司全部资产的一种重组战略</a:t>
            </a:r>
            <a:endParaRPr lang="en-US" altLang="zh-CN" dirty="0"/>
          </a:p>
          <a:p>
            <a:pPr lvl="3"/>
            <a:r>
              <a:rPr lang="zh-CN" altLang="en-US" dirty="0"/>
              <a:t>管理层并购</a:t>
            </a:r>
            <a:endParaRPr lang="en-US" altLang="zh-CN" dirty="0"/>
          </a:p>
          <a:p>
            <a:pPr lvl="3"/>
            <a:r>
              <a:rPr lang="zh-CN" altLang="en-US" dirty="0"/>
              <a:t>职工并购</a:t>
            </a:r>
            <a:endParaRPr lang="en-US" altLang="zh-CN" dirty="0"/>
          </a:p>
          <a:p>
            <a:pPr lvl="3"/>
            <a:r>
              <a:rPr lang="zh-CN" altLang="en-US" dirty="0"/>
              <a:t>公司整体并购</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重组战略及其结果</a:t>
            </a:r>
          </a:p>
        </p:txBody>
      </p:sp>
      <p:sp>
        <p:nvSpPr>
          <p:cNvPr id="6" name="矩形 5"/>
          <p:cNvSpPr/>
          <p:nvPr/>
        </p:nvSpPr>
        <p:spPr>
          <a:xfrm>
            <a:off x="1043608" y="2204864"/>
            <a:ext cx="1584176"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精简</a:t>
            </a:r>
          </a:p>
        </p:txBody>
      </p:sp>
      <p:sp>
        <p:nvSpPr>
          <p:cNvPr id="7" name="矩形 6"/>
          <p:cNvSpPr/>
          <p:nvPr/>
        </p:nvSpPr>
        <p:spPr>
          <a:xfrm>
            <a:off x="1043608" y="3284984"/>
            <a:ext cx="1584176"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收缩</a:t>
            </a:r>
          </a:p>
        </p:txBody>
      </p:sp>
      <p:sp>
        <p:nvSpPr>
          <p:cNvPr id="8" name="矩形 7"/>
          <p:cNvSpPr/>
          <p:nvPr/>
        </p:nvSpPr>
        <p:spPr>
          <a:xfrm>
            <a:off x="1043608" y="4365104"/>
            <a:ext cx="1584176"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杠杆并购</a:t>
            </a:r>
          </a:p>
        </p:txBody>
      </p:sp>
      <p:sp>
        <p:nvSpPr>
          <p:cNvPr id="9" name="矩形 8"/>
          <p:cNvSpPr/>
          <p:nvPr/>
        </p:nvSpPr>
        <p:spPr>
          <a:xfrm>
            <a:off x="3419872" y="1772816"/>
            <a:ext cx="1584176" cy="86409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劳动力成本降低</a:t>
            </a:r>
          </a:p>
        </p:txBody>
      </p:sp>
      <p:sp>
        <p:nvSpPr>
          <p:cNvPr id="10" name="矩形 9"/>
          <p:cNvSpPr/>
          <p:nvPr/>
        </p:nvSpPr>
        <p:spPr>
          <a:xfrm>
            <a:off x="3419872" y="2852936"/>
            <a:ext cx="1584176" cy="86409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债务成本降低</a:t>
            </a:r>
          </a:p>
        </p:txBody>
      </p:sp>
      <p:sp>
        <p:nvSpPr>
          <p:cNvPr id="11" name="矩形 10"/>
          <p:cNvSpPr/>
          <p:nvPr/>
        </p:nvSpPr>
        <p:spPr>
          <a:xfrm>
            <a:off x="3419872" y="3933056"/>
            <a:ext cx="1584176" cy="86409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强调战略性控制</a:t>
            </a:r>
          </a:p>
        </p:txBody>
      </p:sp>
      <p:sp>
        <p:nvSpPr>
          <p:cNvPr id="12" name="矩形 11"/>
          <p:cNvSpPr/>
          <p:nvPr/>
        </p:nvSpPr>
        <p:spPr>
          <a:xfrm>
            <a:off x="3419872" y="5013176"/>
            <a:ext cx="1584176" cy="86409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高昂的债务成本</a:t>
            </a:r>
          </a:p>
        </p:txBody>
      </p:sp>
      <p:sp>
        <p:nvSpPr>
          <p:cNvPr id="13" name="矩形 12"/>
          <p:cNvSpPr/>
          <p:nvPr/>
        </p:nvSpPr>
        <p:spPr>
          <a:xfrm>
            <a:off x="6012160" y="1772816"/>
            <a:ext cx="1584176" cy="86409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人力资本损失</a:t>
            </a:r>
          </a:p>
        </p:txBody>
      </p:sp>
      <p:sp>
        <p:nvSpPr>
          <p:cNvPr id="14" name="矩形 13"/>
          <p:cNvSpPr/>
          <p:nvPr/>
        </p:nvSpPr>
        <p:spPr>
          <a:xfrm>
            <a:off x="6012160" y="2852936"/>
            <a:ext cx="1584176" cy="86409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经营业绩滑坡</a:t>
            </a:r>
          </a:p>
        </p:txBody>
      </p:sp>
      <p:sp>
        <p:nvSpPr>
          <p:cNvPr id="15" name="矩形 14"/>
          <p:cNvSpPr/>
          <p:nvPr/>
        </p:nvSpPr>
        <p:spPr>
          <a:xfrm>
            <a:off x="6012160" y="3933056"/>
            <a:ext cx="1584176" cy="86409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经营业绩改善</a:t>
            </a:r>
          </a:p>
        </p:txBody>
      </p:sp>
      <p:sp>
        <p:nvSpPr>
          <p:cNvPr id="16" name="矩形 15"/>
          <p:cNvSpPr/>
          <p:nvPr/>
        </p:nvSpPr>
        <p:spPr>
          <a:xfrm>
            <a:off x="6012160" y="5013176"/>
            <a:ext cx="1584176" cy="86409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更大的风险</a:t>
            </a:r>
          </a:p>
        </p:txBody>
      </p:sp>
      <p:cxnSp>
        <p:nvCxnSpPr>
          <p:cNvPr id="20" name="直接箭头连接符 19"/>
          <p:cNvCxnSpPr>
            <a:stCxn id="6" idx="3"/>
            <a:endCxn id="9" idx="1"/>
          </p:cNvCxnSpPr>
          <p:nvPr/>
        </p:nvCxnSpPr>
        <p:spPr>
          <a:xfrm flipV="1">
            <a:off x="2627784" y="2204864"/>
            <a:ext cx="792088" cy="43204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V="1">
            <a:off x="2627784" y="3284984"/>
            <a:ext cx="792088" cy="43204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V="1">
            <a:off x="2627784" y="4437112"/>
            <a:ext cx="792088" cy="43204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7" idx="3"/>
          </p:cNvCxnSpPr>
          <p:nvPr/>
        </p:nvCxnSpPr>
        <p:spPr>
          <a:xfrm>
            <a:off x="2627784" y="3717032"/>
            <a:ext cx="864096" cy="7200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2627784" y="4941168"/>
            <a:ext cx="864096" cy="7200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endCxn id="13" idx="1"/>
          </p:cNvCxnSpPr>
          <p:nvPr/>
        </p:nvCxnSpPr>
        <p:spPr>
          <a:xfrm flipV="1">
            <a:off x="5004048" y="2204864"/>
            <a:ext cx="1008112" cy="7200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endCxn id="14" idx="1"/>
          </p:cNvCxnSpPr>
          <p:nvPr/>
        </p:nvCxnSpPr>
        <p:spPr>
          <a:xfrm rot="16200000" flipH="1">
            <a:off x="5004048" y="2276872"/>
            <a:ext cx="1008112" cy="10081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11" idx="3"/>
          </p:cNvCxnSpPr>
          <p:nvPr/>
        </p:nvCxnSpPr>
        <p:spPr>
          <a:xfrm>
            <a:off x="5004048" y="4365104"/>
            <a:ext cx="1008112" cy="7200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rot="16200000" flipH="1">
            <a:off x="5004048" y="3429000"/>
            <a:ext cx="1008112" cy="10081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5004048" y="5445224"/>
            <a:ext cx="1008112" cy="7200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国际化战略的动因</a:t>
            </a:r>
          </a:p>
        </p:txBody>
      </p:sp>
      <p:sp>
        <p:nvSpPr>
          <p:cNvPr id="3" name="内容占位符 2"/>
          <p:cNvSpPr>
            <a:spLocks noGrp="1"/>
          </p:cNvSpPr>
          <p:nvPr>
            <p:ph idx="1"/>
          </p:nvPr>
        </p:nvSpPr>
        <p:spPr/>
        <p:txBody>
          <a:bodyPr>
            <a:normAutofit/>
          </a:bodyPr>
          <a:lstStyle/>
          <a:p>
            <a:r>
              <a:rPr lang="zh-CN" altLang="en-US" sz="2800" dirty="0"/>
              <a:t>本国政策的限制和国外政策的吸引</a:t>
            </a:r>
            <a:endParaRPr lang="en-US" altLang="zh-CN" sz="2800" dirty="0"/>
          </a:p>
          <a:p>
            <a:r>
              <a:rPr lang="zh-CN" altLang="en-US" sz="2800" dirty="0"/>
              <a:t>国内市场需求的减缓及国外市场需求的发展</a:t>
            </a:r>
            <a:endParaRPr lang="en-US" altLang="zh-CN" sz="2800" dirty="0"/>
          </a:p>
          <a:p>
            <a:r>
              <a:rPr lang="zh-CN" altLang="en-US" sz="2800" dirty="0"/>
              <a:t>高研发投入需要更大的市场以获得规模经济性</a:t>
            </a:r>
            <a:endParaRPr lang="en-US" altLang="zh-CN" sz="2800" dirty="0"/>
          </a:p>
          <a:p>
            <a:r>
              <a:rPr lang="zh-CN" altLang="en-US" sz="2800" dirty="0"/>
              <a:t>获得更多客户、更多资源</a:t>
            </a:r>
            <a:endParaRPr lang="en-US" altLang="zh-CN" sz="2800" dirty="0"/>
          </a:p>
          <a:p>
            <a:r>
              <a:rPr lang="zh-CN" altLang="en-US" sz="2800" dirty="0"/>
              <a:t>发挥现有资源和能力优势</a:t>
            </a:r>
            <a:endParaRPr lang="en-US" altLang="zh-CN" sz="2800" dirty="0"/>
          </a:p>
          <a:p>
            <a:r>
              <a:rPr lang="zh-CN" altLang="en-US" sz="2800" dirty="0"/>
              <a:t>分散市场风险</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国际化战略的条件和分类</a:t>
            </a:r>
          </a:p>
        </p:txBody>
      </p:sp>
      <p:sp>
        <p:nvSpPr>
          <p:cNvPr id="3" name="内容占位符 2"/>
          <p:cNvSpPr>
            <a:spLocks noGrp="1"/>
          </p:cNvSpPr>
          <p:nvPr>
            <p:ph idx="1"/>
          </p:nvPr>
        </p:nvSpPr>
        <p:spPr>
          <a:xfrm>
            <a:off x="539552" y="1412776"/>
            <a:ext cx="8229600" cy="4526280"/>
          </a:xfrm>
        </p:spPr>
        <p:txBody>
          <a:bodyPr/>
          <a:lstStyle/>
          <a:p>
            <a:r>
              <a:rPr lang="zh-CN" altLang="en-US" sz="2400" dirty="0"/>
              <a:t>分类</a:t>
            </a:r>
            <a:endParaRPr lang="en-US" altLang="zh-CN" sz="2400" dirty="0"/>
          </a:p>
          <a:p>
            <a:pPr lvl="1"/>
            <a:r>
              <a:rPr lang="zh-CN" altLang="en-US" sz="2000" dirty="0"/>
              <a:t>多国战略</a:t>
            </a:r>
            <a:endParaRPr lang="en-US" altLang="zh-CN" sz="2000" dirty="0"/>
          </a:p>
          <a:p>
            <a:pPr lvl="1"/>
            <a:r>
              <a:rPr lang="zh-CN" altLang="en-US" sz="2000" dirty="0"/>
              <a:t>全球战略</a:t>
            </a:r>
            <a:endParaRPr lang="en-US" altLang="zh-CN" sz="2000" dirty="0"/>
          </a:p>
          <a:p>
            <a:r>
              <a:rPr lang="zh-CN" altLang="en-US" sz="2400" dirty="0"/>
              <a:t>多国战略的条件</a:t>
            </a:r>
            <a:endParaRPr lang="en-US" altLang="zh-CN" sz="2400" dirty="0"/>
          </a:p>
          <a:p>
            <a:pPr lvl="1"/>
            <a:r>
              <a:rPr lang="zh-CN" altLang="en-US" sz="2000" dirty="0"/>
              <a:t>在不同的国家市场上存在不同的顾客需求，一国的市场竞争与其他国家的竞争没有联系，竞争对手也不相同，不存在统一的国际市场，只是国家市场的集合。目标是争取各国国内市场的领导地位</a:t>
            </a:r>
            <a:endParaRPr lang="en-US" altLang="zh-CN" sz="2000" dirty="0"/>
          </a:p>
          <a:p>
            <a:r>
              <a:rPr lang="zh-CN" altLang="en-US" sz="2400" dirty="0"/>
              <a:t>全球战略的条件</a:t>
            </a:r>
            <a:endParaRPr lang="en-US" altLang="zh-CN" sz="2400" dirty="0"/>
          </a:p>
          <a:p>
            <a:pPr lvl="1"/>
            <a:r>
              <a:rPr lang="zh-CN" altLang="en-US" sz="2000" dirty="0"/>
              <a:t>各国的市场竞争条件联系紧密，参与竞争的对手相似，存在一个统一的国际市场，企业在一国的竞争地位受到它在其他国家的竞争地位的影响，企业的总体竞争优势建立在世界范围的经营基础之上。企业在各个国家采取的是大致相同的战略，目标是争夺世界领导地位</a:t>
            </a:r>
            <a:endParaRPr lang="en-US" altLang="zh-CN" sz="2000" dirty="0"/>
          </a:p>
          <a:p>
            <a:pPr lvl="1"/>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实施国际化战略的途径</a:t>
            </a:r>
          </a:p>
        </p:txBody>
      </p:sp>
      <p:sp>
        <p:nvSpPr>
          <p:cNvPr id="3" name="内容占位符 2"/>
          <p:cNvSpPr>
            <a:spLocks noGrp="1"/>
          </p:cNvSpPr>
          <p:nvPr>
            <p:ph idx="1"/>
          </p:nvPr>
        </p:nvSpPr>
        <p:spPr/>
        <p:txBody>
          <a:bodyPr/>
          <a:lstStyle/>
          <a:p>
            <a:r>
              <a:rPr lang="zh-CN" altLang="en-US" dirty="0"/>
              <a:t>在各国之间布局活动，实现较低的成本和较高的产品差异化程度</a:t>
            </a:r>
            <a:endParaRPr lang="en-US" altLang="zh-CN" dirty="0"/>
          </a:p>
          <a:p>
            <a:r>
              <a:rPr lang="zh-CN" altLang="en-US" dirty="0"/>
              <a:t>在各国的经营单位间有效转移具有竞争价值的资源和能力</a:t>
            </a:r>
            <a:endParaRPr lang="en-US" altLang="zh-CN" dirty="0"/>
          </a:p>
          <a:p>
            <a:r>
              <a:rPr lang="zh-CN" altLang="en-US" dirty="0"/>
              <a:t>以国内企业所不具备的方式协调各种分散的活动</a:t>
            </a:r>
            <a:endParaRPr lang="en-US" altLang="zh-CN"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竞争战略及选择</a:t>
            </a:r>
          </a:p>
        </p:txBody>
      </p:sp>
      <p:sp>
        <p:nvSpPr>
          <p:cNvPr id="3" name="内容占位符 2"/>
          <p:cNvSpPr>
            <a:spLocks noGrp="1"/>
          </p:cNvSpPr>
          <p:nvPr>
            <p:ph idx="1"/>
          </p:nvPr>
        </p:nvSpPr>
        <p:spPr/>
        <p:txBody>
          <a:bodyPr/>
          <a:lstStyle/>
          <a:p>
            <a:r>
              <a:rPr lang="zh-CN" altLang="en-US" dirty="0"/>
              <a:t>竞争战略：单一业务的增长战略</a:t>
            </a:r>
            <a:endParaRPr lang="en-US" altLang="zh-CN" dirty="0"/>
          </a:p>
          <a:p>
            <a:r>
              <a:rPr lang="zh-CN" altLang="en-US" dirty="0"/>
              <a:t>分类</a:t>
            </a:r>
            <a:endParaRPr lang="en-US" altLang="zh-CN" dirty="0"/>
          </a:p>
          <a:p>
            <a:pPr lvl="1"/>
            <a:r>
              <a:rPr lang="zh-CN" altLang="en-US" dirty="0"/>
              <a:t>内部增长</a:t>
            </a:r>
            <a:endParaRPr lang="en-US" altLang="zh-CN" dirty="0"/>
          </a:p>
          <a:p>
            <a:pPr lvl="2"/>
            <a:r>
              <a:rPr lang="zh-CN" altLang="en-US" dirty="0"/>
              <a:t>市场渗透</a:t>
            </a:r>
            <a:endParaRPr lang="en-US" altLang="zh-CN" dirty="0"/>
          </a:p>
          <a:p>
            <a:pPr lvl="2"/>
            <a:r>
              <a:rPr lang="zh-CN" altLang="en-US" dirty="0"/>
              <a:t>市场开发</a:t>
            </a:r>
            <a:endParaRPr lang="en-US" altLang="zh-CN" dirty="0"/>
          </a:p>
          <a:p>
            <a:pPr lvl="2"/>
            <a:r>
              <a:rPr lang="zh-CN" altLang="en-US" dirty="0"/>
              <a:t>产品</a:t>
            </a:r>
            <a:r>
              <a:rPr lang="en-US" altLang="zh-CN" dirty="0"/>
              <a:t>/</a:t>
            </a:r>
            <a:r>
              <a:rPr lang="zh-CN" altLang="en-US" dirty="0"/>
              <a:t>服务开发</a:t>
            </a:r>
            <a:endParaRPr lang="en-US" altLang="zh-CN" dirty="0"/>
          </a:p>
          <a:p>
            <a:pPr lvl="1"/>
            <a:r>
              <a:rPr lang="zh-CN" altLang="en-US" dirty="0"/>
              <a:t>外部增长</a:t>
            </a:r>
            <a:endParaRPr lang="en-US" altLang="zh-CN" dirty="0"/>
          </a:p>
          <a:p>
            <a:pPr lvl="2"/>
            <a:r>
              <a:rPr lang="zh-CN" altLang="en-US" dirty="0"/>
              <a:t>横向一体化</a:t>
            </a:r>
            <a:endParaRPr lang="en-US" altLang="zh-CN" dirty="0"/>
          </a:p>
          <a:p>
            <a:pPr lvl="2"/>
            <a:r>
              <a:rPr lang="zh-CN" altLang="en-US" dirty="0"/>
              <a:t>战略联盟</a:t>
            </a:r>
            <a:endParaRPr lang="en-US" altLang="zh-CN" dirty="0"/>
          </a:p>
          <a:p>
            <a:pPr lvl="1"/>
            <a:r>
              <a:rPr lang="zh-CN" altLang="en-US" dirty="0"/>
              <a:t>稳定增长</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8434" name="AutoShape 2"/>
          <p:cNvSpPr>
            <a:spLocks noChangeArrowheads="1"/>
          </p:cNvSpPr>
          <p:nvPr/>
        </p:nvSpPr>
        <p:spPr bwMode="auto">
          <a:xfrm>
            <a:off x="3984625" y="1346200"/>
            <a:ext cx="2646363" cy="914400"/>
          </a:xfrm>
          <a:prstGeom prst="roundRect">
            <a:avLst>
              <a:gd name="adj" fmla="val 16667"/>
            </a:avLst>
          </a:prstGeom>
          <a:solidFill>
            <a:schemeClr val="tx1"/>
          </a:solidFill>
          <a:ln w="38100">
            <a:solidFill>
              <a:schemeClr val="tx1"/>
            </a:solidFill>
            <a:round/>
            <a:headEnd/>
            <a:tailEnd/>
          </a:ln>
          <a:effectLst/>
        </p:spPr>
        <p:txBody>
          <a:bodyPr wrap="none" anchor="ctr"/>
          <a:lstStyle/>
          <a:p>
            <a:pPr eaLnBrk="0" hangingPunct="0"/>
            <a:r>
              <a:rPr kumimoji="0" lang="en-US" altLang="zh-CN" sz="2000" b="1" i="1">
                <a:solidFill>
                  <a:srgbClr val="990099"/>
                </a:solidFill>
                <a:latin typeface="Arial" pitchFamily="34" charset="0"/>
                <a:ea typeface="宋体" pitchFamily="2" charset="-122"/>
              </a:rPr>
              <a:t>Corporate  </a:t>
            </a:r>
            <a:br>
              <a:rPr kumimoji="0" lang="en-US" altLang="zh-CN" sz="2000" b="1" i="1">
                <a:solidFill>
                  <a:srgbClr val="990099"/>
                </a:solidFill>
                <a:latin typeface="Arial" pitchFamily="34" charset="0"/>
                <a:ea typeface="宋体" pitchFamily="2" charset="-122"/>
              </a:rPr>
            </a:br>
            <a:r>
              <a:rPr kumimoji="0" lang="en-US" altLang="zh-CN" sz="2000" b="1" i="1">
                <a:solidFill>
                  <a:srgbClr val="990099"/>
                </a:solidFill>
                <a:latin typeface="Arial" pitchFamily="34" charset="0"/>
                <a:ea typeface="宋体" pitchFamily="2" charset="-122"/>
              </a:rPr>
              <a:t>Strategy</a:t>
            </a:r>
          </a:p>
        </p:txBody>
      </p:sp>
      <p:sp>
        <p:nvSpPr>
          <p:cNvPr id="1298435" name="AutoShape 3"/>
          <p:cNvSpPr>
            <a:spLocks noChangeArrowheads="1"/>
          </p:cNvSpPr>
          <p:nvPr/>
        </p:nvSpPr>
        <p:spPr bwMode="auto">
          <a:xfrm>
            <a:off x="1992313" y="3124200"/>
            <a:ext cx="1741487" cy="914400"/>
          </a:xfrm>
          <a:prstGeom prst="roundRect">
            <a:avLst>
              <a:gd name="adj" fmla="val 16667"/>
            </a:avLst>
          </a:prstGeom>
          <a:solidFill>
            <a:schemeClr val="tx1"/>
          </a:solidFill>
          <a:ln w="38100">
            <a:solidFill>
              <a:schemeClr val="tx1"/>
            </a:solidFill>
            <a:round/>
            <a:headEnd/>
            <a:tailEnd/>
          </a:ln>
          <a:effectLst/>
        </p:spPr>
        <p:txBody>
          <a:bodyPr wrap="none" anchor="ctr"/>
          <a:lstStyle/>
          <a:p>
            <a:pPr eaLnBrk="0" hangingPunct="0"/>
            <a:r>
              <a:rPr kumimoji="0" lang="en-US" altLang="zh-CN" sz="2000" b="1" i="1">
                <a:solidFill>
                  <a:srgbClr val="CC0000"/>
                </a:solidFill>
                <a:latin typeface="Arial" pitchFamily="34" charset="0"/>
                <a:ea typeface="宋体" pitchFamily="2" charset="-122"/>
              </a:rPr>
              <a:t>SBU 1</a:t>
            </a:r>
            <a:br>
              <a:rPr kumimoji="0" lang="en-US" altLang="zh-CN" sz="2000" b="1" i="1">
                <a:solidFill>
                  <a:srgbClr val="CC0000"/>
                </a:solidFill>
                <a:latin typeface="Arial" pitchFamily="34" charset="0"/>
                <a:ea typeface="宋体" pitchFamily="2" charset="-122"/>
              </a:rPr>
            </a:br>
            <a:r>
              <a:rPr kumimoji="0" lang="en-US" altLang="zh-CN" sz="2000" b="1" i="1">
                <a:solidFill>
                  <a:srgbClr val="CC0000"/>
                </a:solidFill>
                <a:latin typeface="Arial" pitchFamily="34" charset="0"/>
                <a:ea typeface="宋体" pitchFamily="2" charset="-122"/>
              </a:rPr>
              <a:t>Strategy</a:t>
            </a:r>
          </a:p>
        </p:txBody>
      </p:sp>
      <p:sp>
        <p:nvSpPr>
          <p:cNvPr id="1298436" name="AutoShape 4"/>
          <p:cNvSpPr>
            <a:spLocks noChangeArrowheads="1"/>
          </p:cNvSpPr>
          <p:nvPr/>
        </p:nvSpPr>
        <p:spPr bwMode="auto">
          <a:xfrm>
            <a:off x="4505325" y="3124200"/>
            <a:ext cx="1744663" cy="914400"/>
          </a:xfrm>
          <a:prstGeom prst="roundRect">
            <a:avLst>
              <a:gd name="adj" fmla="val 16667"/>
            </a:avLst>
          </a:prstGeom>
          <a:solidFill>
            <a:schemeClr val="tx1"/>
          </a:solidFill>
          <a:ln w="38100">
            <a:solidFill>
              <a:schemeClr val="tx1"/>
            </a:solidFill>
            <a:round/>
            <a:headEnd/>
            <a:tailEnd/>
          </a:ln>
          <a:effectLst/>
        </p:spPr>
        <p:txBody>
          <a:bodyPr wrap="none" anchor="ctr"/>
          <a:lstStyle/>
          <a:p>
            <a:pPr eaLnBrk="0" hangingPunct="0"/>
            <a:r>
              <a:rPr kumimoji="0" lang="en-US" altLang="zh-CN" sz="2000" b="1" i="1">
                <a:solidFill>
                  <a:srgbClr val="CC0000"/>
                </a:solidFill>
                <a:latin typeface="Arial" pitchFamily="34" charset="0"/>
                <a:ea typeface="宋体" pitchFamily="2" charset="-122"/>
              </a:rPr>
              <a:t>SBU 2</a:t>
            </a:r>
            <a:br>
              <a:rPr kumimoji="0" lang="en-US" altLang="zh-CN" sz="2000" b="1" i="1">
                <a:solidFill>
                  <a:srgbClr val="CC0000"/>
                </a:solidFill>
                <a:latin typeface="Arial" pitchFamily="34" charset="0"/>
                <a:ea typeface="宋体" pitchFamily="2" charset="-122"/>
              </a:rPr>
            </a:br>
            <a:r>
              <a:rPr kumimoji="0" lang="en-US" altLang="zh-CN" sz="2000" b="1" i="1">
                <a:solidFill>
                  <a:srgbClr val="CC0000"/>
                </a:solidFill>
                <a:latin typeface="Arial" pitchFamily="34" charset="0"/>
                <a:ea typeface="宋体" pitchFamily="2" charset="-122"/>
              </a:rPr>
              <a:t>Strategy</a:t>
            </a:r>
          </a:p>
        </p:txBody>
      </p:sp>
      <p:sp>
        <p:nvSpPr>
          <p:cNvPr id="1298437" name="AutoShape 5"/>
          <p:cNvSpPr>
            <a:spLocks noChangeArrowheads="1"/>
          </p:cNvSpPr>
          <p:nvPr/>
        </p:nvSpPr>
        <p:spPr bwMode="auto">
          <a:xfrm>
            <a:off x="7097713" y="3124200"/>
            <a:ext cx="1743075" cy="914400"/>
          </a:xfrm>
          <a:prstGeom prst="roundRect">
            <a:avLst>
              <a:gd name="adj" fmla="val 16667"/>
            </a:avLst>
          </a:prstGeom>
          <a:solidFill>
            <a:schemeClr val="tx1"/>
          </a:solidFill>
          <a:ln w="38100">
            <a:solidFill>
              <a:schemeClr val="tx1"/>
            </a:solidFill>
            <a:round/>
            <a:headEnd/>
            <a:tailEnd/>
          </a:ln>
          <a:effectLst/>
        </p:spPr>
        <p:txBody>
          <a:bodyPr wrap="none" anchor="ctr"/>
          <a:lstStyle/>
          <a:p>
            <a:pPr eaLnBrk="0" hangingPunct="0"/>
            <a:r>
              <a:rPr kumimoji="0" lang="en-US" altLang="zh-CN" sz="2000" b="1" i="1">
                <a:solidFill>
                  <a:srgbClr val="CC0000"/>
                </a:solidFill>
                <a:latin typeface="Arial" pitchFamily="34" charset="0"/>
                <a:ea typeface="宋体" pitchFamily="2" charset="-122"/>
              </a:rPr>
              <a:t>SBU 3</a:t>
            </a:r>
            <a:br>
              <a:rPr kumimoji="0" lang="en-US" altLang="zh-CN" sz="2000" b="1" i="1">
                <a:solidFill>
                  <a:srgbClr val="CC0000"/>
                </a:solidFill>
                <a:latin typeface="Arial" pitchFamily="34" charset="0"/>
                <a:ea typeface="宋体" pitchFamily="2" charset="-122"/>
              </a:rPr>
            </a:br>
            <a:r>
              <a:rPr kumimoji="0" lang="en-US" altLang="zh-CN" sz="2000" b="1" i="1">
                <a:solidFill>
                  <a:srgbClr val="CC0000"/>
                </a:solidFill>
                <a:latin typeface="Arial" pitchFamily="34" charset="0"/>
                <a:ea typeface="宋体" pitchFamily="2" charset="-122"/>
              </a:rPr>
              <a:t>Strategy</a:t>
            </a:r>
          </a:p>
        </p:txBody>
      </p:sp>
      <p:sp>
        <p:nvSpPr>
          <p:cNvPr id="1298438" name="AutoShape 6"/>
          <p:cNvSpPr>
            <a:spLocks noChangeArrowheads="1"/>
          </p:cNvSpPr>
          <p:nvPr/>
        </p:nvSpPr>
        <p:spPr bwMode="auto">
          <a:xfrm>
            <a:off x="3038475" y="4930775"/>
            <a:ext cx="1382713" cy="784225"/>
          </a:xfrm>
          <a:prstGeom prst="roundRect">
            <a:avLst>
              <a:gd name="adj" fmla="val 16667"/>
            </a:avLst>
          </a:prstGeom>
          <a:solidFill>
            <a:schemeClr val="tx1"/>
          </a:solidFill>
          <a:ln w="38100">
            <a:solidFill>
              <a:schemeClr val="tx1"/>
            </a:solidFill>
            <a:round/>
            <a:headEnd/>
            <a:tailEnd/>
          </a:ln>
          <a:effectLst/>
        </p:spPr>
        <p:txBody>
          <a:bodyPr wrap="none" anchor="ctr"/>
          <a:lstStyle/>
          <a:p>
            <a:pPr eaLnBrk="0" hangingPunct="0"/>
            <a:r>
              <a:rPr kumimoji="0" lang="en-US" altLang="zh-CN" sz="2000" b="1" i="1">
                <a:solidFill>
                  <a:srgbClr val="006600"/>
                </a:solidFill>
                <a:latin typeface="Arial" pitchFamily="34" charset="0"/>
                <a:ea typeface="宋体" pitchFamily="2" charset="-122"/>
              </a:rPr>
              <a:t>Marketing</a:t>
            </a:r>
            <a:br>
              <a:rPr kumimoji="0" lang="en-US" altLang="zh-CN" sz="2000" b="1" i="1">
                <a:solidFill>
                  <a:srgbClr val="006600"/>
                </a:solidFill>
                <a:latin typeface="Arial" pitchFamily="34" charset="0"/>
                <a:ea typeface="宋体" pitchFamily="2" charset="-122"/>
              </a:rPr>
            </a:br>
            <a:r>
              <a:rPr kumimoji="0" lang="en-US" altLang="zh-CN" sz="2000" b="1" i="1">
                <a:solidFill>
                  <a:srgbClr val="006600"/>
                </a:solidFill>
                <a:latin typeface="Arial" pitchFamily="34" charset="0"/>
                <a:ea typeface="宋体" pitchFamily="2" charset="-122"/>
              </a:rPr>
              <a:t>Strategy</a:t>
            </a:r>
          </a:p>
        </p:txBody>
      </p:sp>
      <p:sp>
        <p:nvSpPr>
          <p:cNvPr id="1298439" name="AutoShape 7"/>
          <p:cNvSpPr>
            <a:spLocks noChangeArrowheads="1"/>
          </p:cNvSpPr>
          <p:nvPr/>
        </p:nvSpPr>
        <p:spPr bwMode="auto">
          <a:xfrm>
            <a:off x="5094288" y="4930775"/>
            <a:ext cx="1384300" cy="784225"/>
          </a:xfrm>
          <a:prstGeom prst="roundRect">
            <a:avLst>
              <a:gd name="adj" fmla="val 16667"/>
            </a:avLst>
          </a:prstGeom>
          <a:solidFill>
            <a:schemeClr val="tx1"/>
          </a:solidFill>
          <a:ln w="38100">
            <a:solidFill>
              <a:schemeClr val="tx1"/>
            </a:solidFill>
            <a:round/>
            <a:headEnd/>
            <a:tailEnd/>
          </a:ln>
          <a:effectLst/>
        </p:spPr>
        <p:txBody>
          <a:bodyPr wrap="none" anchor="ctr"/>
          <a:lstStyle/>
          <a:p>
            <a:pPr eaLnBrk="0" hangingPunct="0"/>
            <a:r>
              <a:rPr kumimoji="0" lang="en-US" altLang="zh-CN" sz="2000" b="1" i="1">
                <a:solidFill>
                  <a:srgbClr val="006600"/>
                </a:solidFill>
                <a:latin typeface="Arial" pitchFamily="34" charset="0"/>
                <a:ea typeface="宋体" pitchFamily="2" charset="-122"/>
              </a:rPr>
              <a:t>Operations</a:t>
            </a:r>
            <a:br>
              <a:rPr kumimoji="0" lang="en-US" altLang="zh-CN" sz="2000" b="1" i="1">
                <a:solidFill>
                  <a:srgbClr val="006600"/>
                </a:solidFill>
                <a:latin typeface="Arial" pitchFamily="34" charset="0"/>
                <a:ea typeface="宋体" pitchFamily="2" charset="-122"/>
              </a:rPr>
            </a:br>
            <a:r>
              <a:rPr kumimoji="0" lang="en-US" altLang="zh-CN" sz="2000" b="1" i="1">
                <a:solidFill>
                  <a:srgbClr val="006600"/>
                </a:solidFill>
                <a:latin typeface="Arial" pitchFamily="34" charset="0"/>
                <a:ea typeface="宋体" pitchFamily="2" charset="-122"/>
              </a:rPr>
              <a:t>Strategy</a:t>
            </a:r>
          </a:p>
        </p:txBody>
      </p:sp>
      <p:sp>
        <p:nvSpPr>
          <p:cNvPr id="1298440" name="AutoShape 8"/>
          <p:cNvSpPr>
            <a:spLocks noChangeArrowheads="1"/>
          </p:cNvSpPr>
          <p:nvPr/>
        </p:nvSpPr>
        <p:spPr bwMode="auto">
          <a:xfrm>
            <a:off x="7077075" y="4930775"/>
            <a:ext cx="1381125" cy="784225"/>
          </a:xfrm>
          <a:prstGeom prst="roundRect">
            <a:avLst>
              <a:gd name="adj" fmla="val 16667"/>
            </a:avLst>
          </a:prstGeom>
          <a:solidFill>
            <a:schemeClr val="tx1"/>
          </a:solidFill>
          <a:ln w="38100">
            <a:solidFill>
              <a:schemeClr val="tx1"/>
            </a:solidFill>
            <a:round/>
            <a:headEnd/>
            <a:tailEnd/>
          </a:ln>
          <a:effectLst/>
        </p:spPr>
        <p:txBody>
          <a:bodyPr wrap="none" anchor="ctr"/>
          <a:lstStyle/>
          <a:p>
            <a:pPr eaLnBrk="0" hangingPunct="0"/>
            <a:r>
              <a:rPr kumimoji="0" lang="en-US" altLang="zh-CN" sz="2000" b="1" i="1">
                <a:solidFill>
                  <a:srgbClr val="006600"/>
                </a:solidFill>
                <a:latin typeface="Arial" pitchFamily="34" charset="0"/>
                <a:ea typeface="宋体" pitchFamily="2" charset="-122"/>
              </a:rPr>
              <a:t>HRM</a:t>
            </a:r>
            <a:br>
              <a:rPr kumimoji="0" lang="en-US" altLang="zh-CN" sz="2000" b="1" i="1">
                <a:solidFill>
                  <a:srgbClr val="006600"/>
                </a:solidFill>
                <a:latin typeface="Arial" pitchFamily="34" charset="0"/>
                <a:ea typeface="宋体" pitchFamily="2" charset="-122"/>
              </a:rPr>
            </a:br>
            <a:r>
              <a:rPr kumimoji="0" lang="en-US" altLang="zh-CN" sz="2000" b="1" i="1">
                <a:solidFill>
                  <a:srgbClr val="006600"/>
                </a:solidFill>
                <a:latin typeface="Arial" pitchFamily="34" charset="0"/>
                <a:ea typeface="宋体" pitchFamily="2" charset="-122"/>
              </a:rPr>
              <a:t>Strategy</a:t>
            </a:r>
          </a:p>
        </p:txBody>
      </p:sp>
      <p:sp>
        <p:nvSpPr>
          <p:cNvPr id="1298441" name="Line 9"/>
          <p:cNvSpPr>
            <a:spLocks noChangeShapeType="1"/>
          </p:cNvSpPr>
          <p:nvPr/>
        </p:nvSpPr>
        <p:spPr bwMode="auto">
          <a:xfrm flipH="1">
            <a:off x="3492500" y="2373313"/>
            <a:ext cx="1201738" cy="522287"/>
          </a:xfrm>
          <a:prstGeom prst="line">
            <a:avLst/>
          </a:prstGeom>
          <a:noFill/>
          <a:ln w="76200">
            <a:solidFill>
              <a:schemeClr val="tx1"/>
            </a:solidFill>
            <a:round/>
            <a:headEnd/>
            <a:tailEnd type="triangle" w="med" len="med"/>
          </a:ln>
          <a:effectLst/>
        </p:spPr>
        <p:txBody>
          <a:bodyPr wrap="none" anchor="ctr"/>
          <a:lstStyle/>
          <a:p>
            <a:endParaRPr lang="zh-CN" altLang="en-US"/>
          </a:p>
        </p:txBody>
      </p:sp>
      <p:sp>
        <p:nvSpPr>
          <p:cNvPr id="1298442" name="Line 10"/>
          <p:cNvSpPr>
            <a:spLocks noChangeShapeType="1"/>
          </p:cNvSpPr>
          <p:nvPr/>
        </p:nvSpPr>
        <p:spPr bwMode="auto">
          <a:xfrm flipH="1">
            <a:off x="5392738" y="2384425"/>
            <a:ext cx="1587" cy="587375"/>
          </a:xfrm>
          <a:prstGeom prst="line">
            <a:avLst/>
          </a:prstGeom>
          <a:noFill/>
          <a:ln w="76200">
            <a:solidFill>
              <a:schemeClr val="tx1"/>
            </a:solidFill>
            <a:round/>
            <a:headEnd/>
            <a:tailEnd type="triangle" w="med" len="med"/>
          </a:ln>
          <a:effectLst/>
        </p:spPr>
        <p:txBody>
          <a:bodyPr wrap="none" anchor="ctr"/>
          <a:lstStyle/>
          <a:p>
            <a:endParaRPr lang="zh-CN" altLang="en-US"/>
          </a:p>
        </p:txBody>
      </p:sp>
      <p:sp>
        <p:nvSpPr>
          <p:cNvPr id="1298443" name="Line 11"/>
          <p:cNvSpPr>
            <a:spLocks noChangeShapeType="1"/>
          </p:cNvSpPr>
          <p:nvPr/>
        </p:nvSpPr>
        <p:spPr bwMode="auto">
          <a:xfrm>
            <a:off x="6219825" y="2373313"/>
            <a:ext cx="1565275" cy="522287"/>
          </a:xfrm>
          <a:prstGeom prst="line">
            <a:avLst/>
          </a:prstGeom>
          <a:noFill/>
          <a:ln w="76200">
            <a:solidFill>
              <a:schemeClr val="tx1"/>
            </a:solidFill>
            <a:round/>
            <a:headEnd/>
            <a:tailEnd type="triangle" w="med" len="med"/>
          </a:ln>
          <a:effectLst/>
        </p:spPr>
        <p:txBody>
          <a:bodyPr wrap="none" anchor="ctr"/>
          <a:lstStyle/>
          <a:p>
            <a:endParaRPr lang="zh-CN" altLang="en-US"/>
          </a:p>
        </p:txBody>
      </p:sp>
      <p:sp>
        <p:nvSpPr>
          <p:cNvPr id="1298444" name="Line 12"/>
          <p:cNvSpPr>
            <a:spLocks noChangeShapeType="1"/>
          </p:cNvSpPr>
          <p:nvPr/>
        </p:nvSpPr>
        <p:spPr bwMode="auto">
          <a:xfrm flipH="1">
            <a:off x="3773488" y="4164013"/>
            <a:ext cx="1203325" cy="522287"/>
          </a:xfrm>
          <a:prstGeom prst="line">
            <a:avLst/>
          </a:prstGeom>
          <a:noFill/>
          <a:ln w="76200">
            <a:solidFill>
              <a:schemeClr val="tx1"/>
            </a:solidFill>
            <a:round/>
            <a:headEnd/>
            <a:tailEnd type="triangle" w="med" len="med"/>
          </a:ln>
          <a:effectLst/>
        </p:spPr>
        <p:txBody>
          <a:bodyPr wrap="none" anchor="ctr"/>
          <a:lstStyle/>
          <a:p>
            <a:endParaRPr lang="zh-CN" altLang="en-US"/>
          </a:p>
        </p:txBody>
      </p:sp>
      <p:sp>
        <p:nvSpPr>
          <p:cNvPr id="1298445" name="Line 13"/>
          <p:cNvSpPr>
            <a:spLocks noChangeShapeType="1"/>
          </p:cNvSpPr>
          <p:nvPr/>
        </p:nvSpPr>
        <p:spPr bwMode="auto">
          <a:xfrm flipH="1">
            <a:off x="5532438" y="4175125"/>
            <a:ext cx="1587" cy="587375"/>
          </a:xfrm>
          <a:prstGeom prst="line">
            <a:avLst/>
          </a:prstGeom>
          <a:noFill/>
          <a:ln w="76200">
            <a:solidFill>
              <a:schemeClr val="tx1"/>
            </a:solidFill>
            <a:round/>
            <a:headEnd/>
            <a:tailEnd type="triangle" w="med" len="med"/>
          </a:ln>
          <a:effectLst/>
        </p:spPr>
        <p:txBody>
          <a:bodyPr wrap="none" anchor="ctr"/>
          <a:lstStyle/>
          <a:p>
            <a:endParaRPr lang="zh-CN" altLang="en-US"/>
          </a:p>
        </p:txBody>
      </p:sp>
      <p:sp>
        <p:nvSpPr>
          <p:cNvPr id="1298446" name="Line 14"/>
          <p:cNvSpPr>
            <a:spLocks noChangeShapeType="1"/>
          </p:cNvSpPr>
          <p:nvPr/>
        </p:nvSpPr>
        <p:spPr bwMode="auto">
          <a:xfrm>
            <a:off x="6219825" y="4164013"/>
            <a:ext cx="1565275" cy="522287"/>
          </a:xfrm>
          <a:prstGeom prst="line">
            <a:avLst/>
          </a:prstGeom>
          <a:noFill/>
          <a:ln w="76200">
            <a:solidFill>
              <a:schemeClr val="tx1"/>
            </a:solidFill>
            <a:round/>
            <a:headEnd/>
            <a:tailEnd type="triangle" w="med" len="med"/>
          </a:ln>
          <a:effectLst/>
        </p:spPr>
        <p:txBody>
          <a:bodyPr wrap="none" anchor="ctr"/>
          <a:lstStyle/>
          <a:p>
            <a:endParaRPr lang="zh-CN" altLang="en-US"/>
          </a:p>
        </p:txBody>
      </p:sp>
      <p:sp>
        <p:nvSpPr>
          <p:cNvPr id="1298447" name="Rectangle 15"/>
          <p:cNvSpPr>
            <a:spLocks noGrp="1" noChangeArrowheads="1"/>
          </p:cNvSpPr>
          <p:nvPr>
            <p:ph type="body" idx="4294967295"/>
          </p:nvPr>
        </p:nvSpPr>
        <p:spPr>
          <a:xfrm>
            <a:off x="263525" y="1181100"/>
            <a:ext cx="2174875" cy="4800600"/>
          </a:xfrm>
          <a:noFill/>
          <a:ln/>
        </p:spPr>
        <p:txBody>
          <a:bodyPr lIns="0" tIns="0" rIns="0" bIns="0"/>
          <a:lstStyle/>
          <a:p>
            <a:pPr marL="0" indent="0">
              <a:spcBef>
                <a:spcPct val="100000"/>
              </a:spcBef>
              <a:buFont typeface="Wingdings" pitchFamily="2" charset="2"/>
              <a:buNone/>
              <a:tabLst>
                <a:tab pos="3429000" algn="l"/>
              </a:tabLst>
            </a:pPr>
            <a:r>
              <a:rPr lang="en-GB" sz="2200" b="1" u="sng">
                <a:solidFill>
                  <a:schemeClr val="tx1"/>
                </a:solidFill>
              </a:rPr>
              <a:t>Strategy level</a:t>
            </a:r>
            <a:endParaRPr lang="en-GB" sz="2200" b="1">
              <a:solidFill>
                <a:schemeClr val="tx1"/>
              </a:solidFill>
            </a:endParaRPr>
          </a:p>
          <a:p>
            <a:pPr marL="0" indent="0">
              <a:spcBef>
                <a:spcPct val="50000"/>
              </a:spcBef>
              <a:buFont typeface="Wingdings" pitchFamily="2" charset="2"/>
              <a:buNone/>
              <a:tabLst>
                <a:tab pos="3429000" algn="l"/>
              </a:tabLst>
            </a:pPr>
            <a:r>
              <a:rPr lang="en-GB" sz="2200" b="1">
                <a:solidFill>
                  <a:schemeClr val="tx1"/>
                </a:solidFill>
              </a:rPr>
              <a:t>Corporate</a:t>
            </a:r>
          </a:p>
          <a:p>
            <a:pPr marL="0" indent="0">
              <a:spcBef>
                <a:spcPct val="440000"/>
              </a:spcBef>
              <a:buFont typeface="Wingdings" pitchFamily="2" charset="2"/>
              <a:buNone/>
              <a:tabLst>
                <a:tab pos="3429000" algn="l"/>
              </a:tabLst>
            </a:pPr>
            <a:r>
              <a:rPr lang="en-GB" sz="2200" b="1">
                <a:solidFill>
                  <a:schemeClr val="tx1"/>
                </a:solidFill>
              </a:rPr>
              <a:t>Business</a:t>
            </a:r>
          </a:p>
          <a:p>
            <a:pPr marL="0" indent="0">
              <a:spcBef>
                <a:spcPct val="440000"/>
              </a:spcBef>
              <a:buFont typeface="Wingdings" pitchFamily="2" charset="2"/>
              <a:buNone/>
              <a:tabLst>
                <a:tab pos="3429000" algn="l"/>
              </a:tabLst>
            </a:pPr>
            <a:r>
              <a:rPr lang="en-GB" sz="2200" b="1">
                <a:solidFill>
                  <a:schemeClr val="tx1"/>
                </a:solidFill>
              </a:rPr>
              <a:t>Function</a:t>
            </a:r>
          </a:p>
        </p:txBody>
      </p:sp>
      <p:sp>
        <p:nvSpPr>
          <p:cNvPr id="1298448" name="Rectangle 16"/>
          <p:cNvSpPr>
            <a:spLocks noGrp="1" noChangeArrowheads="1"/>
          </p:cNvSpPr>
          <p:nvPr>
            <p:ph type="title"/>
          </p:nvPr>
        </p:nvSpPr>
        <p:spPr>
          <a:xfrm>
            <a:off x="76200" y="0"/>
            <a:ext cx="8991600" cy="1143000"/>
          </a:xfrm>
        </p:spPr>
        <p:txBody>
          <a:bodyPr/>
          <a:lstStyle/>
          <a:p>
            <a:r>
              <a:rPr lang="zh-CN" altLang="en-US" sz="3400">
                <a:solidFill>
                  <a:schemeClr val="accent2"/>
                </a:solidFill>
              </a:rPr>
              <a:t>企业战略往往分为三个层次</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98434"/>
                                        </p:tgtEl>
                                        <p:attrNameLst>
                                          <p:attrName>style.visibility</p:attrName>
                                        </p:attrNameLst>
                                      </p:cBhvr>
                                      <p:to>
                                        <p:strVal val="visible"/>
                                      </p:to>
                                    </p:set>
                                    <p:animEffect transition="in" filter="dissolve">
                                      <p:cBhvr>
                                        <p:cTn id="7" dur="500"/>
                                        <p:tgtEl>
                                          <p:spTgt spid="129843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98441"/>
                                        </p:tgtEl>
                                        <p:attrNameLst>
                                          <p:attrName>style.visibility</p:attrName>
                                        </p:attrNameLst>
                                      </p:cBhvr>
                                      <p:to>
                                        <p:strVal val="visible"/>
                                      </p:to>
                                    </p:set>
                                    <p:animEffect transition="in" filter="dissolve">
                                      <p:cBhvr>
                                        <p:cTn id="12" dur="500"/>
                                        <p:tgtEl>
                                          <p:spTgt spid="1298441"/>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298435"/>
                                        </p:tgtEl>
                                        <p:attrNameLst>
                                          <p:attrName>style.visibility</p:attrName>
                                        </p:attrNameLst>
                                      </p:cBhvr>
                                      <p:to>
                                        <p:strVal val="visible"/>
                                      </p:to>
                                    </p:set>
                                    <p:animEffect transition="in" filter="dissolve">
                                      <p:cBhvr>
                                        <p:cTn id="16" dur="500"/>
                                        <p:tgtEl>
                                          <p:spTgt spid="1298435"/>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1298442"/>
                                        </p:tgtEl>
                                        <p:attrNameLst>
                                          <p:attrName>style.visibility</p:attrName>
                                        </p:attrNameLst>
                                      </p:cBhvr>
                                      <p:to>
                                        <p:strVal val="visible"/>
                                      </p:to>
                                    </p:set>
                                    <p:animEffect transition="in" filter="dissolve">
                                      <p:cBhvr>
                                        <p:cTn id="20" dur="500"/>
                                        <p:tgtEl>
                                          <p:spTgt spid="1298442"/>
                                        </p:tgtEl>
                                      </p:cBhvr>
                                    </p:animEffect>
                                  </p:childTnLst>
                                </p:cTn>
                              </p:par>
                            </p:childTnLst>
                          </p:cTn>
                        </p:par>
                        <p:par>
                          <p:cTn id="21" fill="hold">
                            <p:stCondLst>
                              <p:cond delay="1500"/>
                            </p:stCondLst>
                            <p:childTnLst>
                              <p:par>
                                <p:cTn id="22" presetID="9" presetClass="entr" presetSubtype="0" fill="hold" grpId="0" nodeType="afterEffect">
                                  <p:stCondLst>
                                    <p:cond delay="0"/>
                                  </p:stCondLst>
                                  <p:childTnLst>
                                    <p:set>
                                      <p:cBhvr>
                                        <p:cTn id="23" dur="1" fill="hold">
                                          <p:stCondLst>
                                            <p:cond delay="0"/>
                                          </p:stCondLst>
                                        </p:cTn>
                                        <p:tgtEl>
                                          <p:spTgt spid="1298436"/>
                                        </p:tgtEl>
                                        <p:attrNameLst>
                                          <p:attrName>style.visibility</p:attrName>
                                        </p:attrNameLst>
                                      </p:cBhvr>
                                      <p:to>
                                        <p:strVal val="visible"/>
                                      </p:to>
                                    </p:set>
                                    <p:animEffect transition="in" filter="dissolve">
                                      <p:cBhvr>
                                        <p:cTn id="24" dur="500"/>
                                        <p:tgtEl>
                                          <p:spTgt spid="1298436"/>
                                        </p:tgtEl>
                                      </p:cBhvr>
                                    </p:animEffect>
                                  </p:childTnLst>
                                </p:cTn>
                              </p:par>
                            </p:childTnLst>
                          </p:cTn>
                        </p:par>
                        <p:par>
                          <p:cTn id="25" fill="hold">
                            <p:stCondLst>
                              <p:cond delay="2000"/>
                            </p:stCondLst>
                            <p:childTnLst>
                              <p:par>
                                <p:cTn id="26" presetID="9" presetClass="entr" presetSubtype="0" fill="hold" grpId="0" nodeType="afterEffect">
                                  <p:stCondLst>
                                    <p:cond delay="0"/>
                                  </p:stCondLst>
                                  <p:childTnLst>
                                    <p:set>
                                      <p:cBhvr>
                                        <p:cTn id="27" dur="1" fill="hold">
                                          <p:stCondLst>
                                            <p:cond delay="0"/>
                                          </p:stCondLst>
                                        </p:cTn>
                                        <p:tgtEl>
                                          <p:spTgt spid="1298443"/>
                                        </p:tgtEl>
                                        <p:attrNameLst>
                                          <p:attrName>style.visibility</p:attrName>
                                        </p:attrNameLst>
                                      </p:cBhvr>
                                      <p:to>
                                        <p:strVal val="visible"/>
                                      </p:to>
                                    </p:set>
                                    <p:animEffect transition="in" filter="dissolve">
                                      <p:cBhvr>
                                        <p:cTn id="28" dur="500"/>
                                        <p:tgtEl>
                                          <p:spTgt spid="1298443"/>
                                        </p:tgtEl>
                                      </p:cBhvr>
                                    </p:animEffect>
                                  </p:childTnLst>
                                </p:cTn>
                              </p:par>
                            </p:childTnLst>
                          </p:cTn>
                        </p:par>
                        <p:par>
                          <p:cTn id="29" fill="hold">
                            <p:stCondLst>
                              <p:cond delay="2500"/>
                            </p:stCondLst>
                            <p:childTnLst>
                              <p:par>
                                <p:cTn id="30" presetID="9" presetClass="entr" presetSubtype="0" fill="hold" grpId="0" nodeType="afterEffect">
                                  <p:stCondLst>
                                    <p:cond delay="0"/>
                                  </p:stCondLst>
                                  <p:childTnLst>
                                    <p:set>
                                      <p:cBhvr>
                                        <p:cTn id="31" dur="1" fill="hold">
                                          <p:stCondLst>
                                            <p:cond delay="0"/>
                                          </p:stCondLst>
                                        </p:cTn>
                                        <p:tgtEl>
                                          <p:spTgt spid="1298437"/>
                                        </p:tgtEl>
                                        <p:attrNameLst>
                                          <p:attrName>style.visibility</p:attrName>
                                        </p:attrNameLst>
                                      </p:cBhvr>
                                      <p:to>
                                        <p:strVal val="visible"/>
                                      </p:to>
                                    </p:set>
                                    <p:animEffect transition="in" filter="dissolve">
                                      <p:cBhvr>
                                        <p:cTn id="32" dur="500"/>
                                        <p:tgtEl>
                                          <p:spTgt spid="129843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298444"/>
                                        </p:tgtEl>
                                        <p:attrNameLst>
                                          <p:attrName>style.visibility</p:attrName>
                                        </p:attrNameLst>
                                      </p:cBhvr>
                                      <p:to>
                                        <p:strVal val="visible"/>
                                      </p:to>
                                    </p:set>
                                    <p:animEffect transition="in" filter="dissolve">
                                      <p:cBhvr>
                                        <p:cTn id="37" dur="500"/>
                                        <p:tgtEl>
                                          <p:spTgt spid="1298444"/>
                                        </p:tgtEl>
                                      </p:cBhvr>
                                    </p:animEffect>
                                  </p:childTnLst>
                                </p:cTn>
                              </p:par>
                            </p:childTnLst>
                          </p:cTn>
                        </p:par>
                        <p:par>
                          <p:cTn id="38" fill="hold">
                            <p:stCondLst>
                              <p:cond delay="500"/>
                            </p:stCondLst>
                            <p:childTnLst>
                              <p:par>
                                <p:cTn id="39" presetID="9" presetClass="entr" presetSubtype="0" fill="hold" grpId="0" nodeType="afterEffect">
                                  <p:stCondLst>
                                    <p:cond delay="0"/>
                                  </p:stCondLst>
                                  <p:childTnLst>
                                    <p:set>
                                      <p:cBhvr>
                                        <p:cTn id="40" dur="1" fill="hold">
                                          <p:stCondLst>
                                            <p:cond delay="0"/>
                                          </p:stCondLst>
                                        </p:cTn>
                                        <p:tgtEl>
                                          <p:spTgt spid="1298438"/>
                                        </p:tgtEl>
                                        <p:attrNameLst>
                                          <p:attrName>style.visibility</p:attrName>
                                        </p:attrNameLst>
                                      </p:cBhvr>
                                      <p:to>
                                        <p:strVal val="visible"/>
                                      </p:to>
                                    </p:set>
                                    <p:animEffect transition="in" filter="dissolve">
                                      <p:cBhvr>
                                        <p:cTn id="41" dur="500"/>
                                        <p:tgtEl>
                                          <p:spTgt spid="1298438"/>
                                        </p:tgtEl>
                                      </p:cBhvr>
                                    </p:animEffect>
                                  </p:childTnLst>
                                </p:cTn>
                              </p:par>
                            </p:childTnLst>
                          </p:cTn>
                        </p:par>
                        <p:par>
                          <p:cTn id="42" fill="hold">
                            <p:stCondLst>
                              <p:cond delay="1000"/>
                            </p:stCondLst>
                            <p:childTnLst>
                              <p:par>
                                <p:cTn id="43" presetID="9" presetClass="entr" presetSubtype="0" fill="hold" grpId="0" nodeType="afterEffect">
                                  <p:stCondLst>
                                    <p:cond delay="0"/>
                                  </p:stCondLst>
                                  <p:childTnLst>
                                    <p:set>
                                      <p:cBhvr>
                                        <p:cTn id="44" dur="1" fill="hold">
                                          <p:stCondLst>
                                            <p:cond delay="0"/>
                                          </p:stCondLst>
                                        </p:cTn>
                                        <p:tgtEl>
                                          <p:spTgt spid="1298445"/>
                                        </p:tgtEl>
                                        <p:attrNameLst>
                                          <p:attrName>style.visibility</p:attrName>
                                        </p:attrNameLst>
                                      </p:cBhvr>
                                      <p:to>
                                        <p:strVal val="visible"/>
                                      </p:to>
                                    </p:set>
                                    <p:animEffect transition="in" filter="dissolve">
                                      <p:cBhvr>
                                        <p:cTn id="45" dur="500"/>
                                        <p:tgtEl>
                                          <p:spTgt spid="1298445"/>
                                        </p:tgtEl>
                                      </p:cBhvr>
                                    </p:animEffect>
                                  </p:childTnLst>
                                </p:cTn>
                              </p:par>
                            </p:childTnLst>
                          </p:cTn>
                        </p:par>
                        <p:par>
                          <p:cTn id="46" fill="hold">
                            <p:stCondLst>
                              <p:cond delay="1500"/>
                            </p:stCondLst>
                            <p:childTnLst>
                              <p:par>
                                <p:cTn id="47" presetID="9" presetClass="entr" presetSubtype="0" fill="hold" grpId="0" nodeType="afterEffect">
                                  <p:stCondLst>
                                    <p:cond delay="0"/>
                                  </p:stCondLst>
                                  <p:childTnLst>
                                    <p:set>
                                      <p:cBhvr>
                                        <p:cTn id="48" dur="1" fill="hold">
                                          <p:stCondLst>
                                            <p:cond delay="0"/>
                                          </p:stCondLst>
                                        </p:cTn>
                                        <p:tgtEl>
                                          <p:spTgt spid="1298439"/>
                                        </p:tgtEl>
                                        <p:attrNameLst>
                                          <p:attrName>style.visibility</p:attrName>
                                        </p:attrNameLst>
                                      </p:cBhvr>
                                      <p:to>
                                        <p:strVal val="visible"/>
                                      </p:to>
                                    </p:set>
                                    <p:animEffect transition="in" filter="dissolve">
                                      <p:cBhvr>
                                        <p:cTn id="49" dur="500"/>
                                        <p:tgtEl>
                                          <p:spTgt spid="1298439"/>
                                        </p:tgtEl>
                                      </p:cBhvr>
                                    </p:animEffect>
                                  </p:childTnLst>
                                </p:cTn>
                              </p:par>
                            </p:childTnLst>
                          </p:cTn>
                        </p:par>
                        <p:par>
                          <p:cTn id="50" fill="hold">
                            <p:stCondLst>
                              <p:cond delay="2000"/>
                            </p:stCondLst>
                            <p:childTnLst>
                              <p:par>
                                <p:cTn id="51" presetID="9" presetClass="entr" presetSubtype="0" fill="hold" grpId="0" nodeType="afterEffect">
                                  <p:stCondLst>
                                    <p:cond delay="0"/>
                                  </p:stCondLst>
                                  <p:childTnLst>
                                    <p:set>
                                      <p:cBhvr>
                                        <p:cTn id="52" dur="1" fill="hold">
                                          <p:stCondLst>
                                            <p:cond delay="0"/>
                                          </p:stCondLst>
                                        </p:cTn>
                                        <p:tgtEl>
                                          <p:spTgt spid="1298446"/>
                                        </p:tgtEl>
                                        <p:attrNameLst>
                                          <p:attrName>style.visibility</p:attrName>
                                        </p:attrNameLst>
                                      </p:cBhvr>
                                      <p:to>
                                        <p:strVal val="visible"/>
                                      </p:to>
                                    </p:set>
                                    <p:animEffect transition="in" filter="dissolve">
                                      <p:cBhvr>
                                        <p:cTn id="53" dur="500"/>
                                        <p:tgtEl>
                                          <p:spTgt spid="1298446"/>
                                        </p:tgtEl>
                                      </p:cBhvr>
                                    </p:animEffect>
                                  </p:childTnLst>
                                </p:cTn>
                              </p:par>
                            </p:childTnLst>
                          </p:cTn>
                        </p:par>
                        <p:par>
                          <p:cTn id="54" fill="hold">
                            <p:stCondLst>
                              <p:cond delay="2500"/>
                            </p:stCondLst>
                            <p:childTnLst>
                              <p:par>
                                <p:cTn id="55" presetID="9" presetClass="entr" presetSubtype="0" fill="hold" grpId="0" nodeType="afterEffect">
                                  <p:stCondLst>
                                    <p:cond delay="0"/>
                                  </p:stCondLst>
                                  <p:childTnLst>
                                    <p:set>
                                      <p:cBhvr>
                                        <p:cTn id="56" dur="1" fill="hold">
                                          <p:stCondLst>
                                            <p:cond delay="0"/>
                                          </p:stCondLst>
                                        </p:cTn>
                                        <p:tgtEl>
                                          <p:spTgt spid="1298440"/>
                                        </p:tgtEl>
                                        <p:attrNameLst>
                                          <p:attrName>style.visibility</p:attrName>
                                        </p:attrNameLst>
                                      </p:cBhvr>
                                      <p:to>
                                        <p:strVal val="visible"/>
                                      </p:to>
                                    </p:set>
                                    <p:animEffect transition="in" filter="dissolve">
                                      <p:cBhvr>
                                        <p:cTn id="57" dur="500"/>
                                        <p:tgtEl>
                                          <p:spTgt spid="1298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8434" grpId="0" animBg="1" autoUpdateAnimBg="0"/>
      <p:bldP spid="1298435" grpId="0" animBg="1" autoUpdateAnimBg="0"/>
      <p:bldP spid="1298436" grpId="0" animBg="1" autoUpdateAnimBg="0"/>
      <p:bldP spid="1298437" grpId="0" animBg="1" autoUpdateAnimBg="0"/>
      <p:bldP spid="1298438" grpId="0" animBg="1" autoUpdateAnimBg="0"/>
      <p:bldP spid="1298439" grpId="0" animBg="1" autoUpdateAnimBg="0"/>
      <p:bldP spid="1298440" grpId="0" animBg="1" autoUpdateAnimBg="0"/>
      <p:bldP spid="1298441" grpId="0" animBg="1"/>
      <p:bldP spid="1298442" grpId="0" animBg="1"/>
      <p:bldP spid="1298443" grpId="0" animBg="1"/>
      <p:bldP spid="1298444" grpId="0" animBg="1"/>
      <p:bldP spid="1298445" grpId="0" animBg="1"/>
      <p:bldP spid="129844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基本竞争战略</a:t>
            </a:r>
          </a:p>
        </p:txBody>
      </p:sp>
      <p:sp>
        <p:nvSpPr>
          <p:cNvPr id="3" name="内容占位符 2"/>
          <p:cNvSpPr>
            <a:spLocks noGrp="1"/>
          </p:cNvSpPr>
          <p:nvPr>
            <p:ph idx="1"/>
          </p:nvPr>
        </p:nvSpPr>
        <p:spPr/>
        <p:txBody>
          <a:bodyPr/>
          <a:lstStyle/>
          <a:p>
            <a:r>
              <a:rPr lang="zh-CN" altLang="en-US" dirty="0"/>
              <a:t>成本领先</a:t>
            </a:r>
            <a:endParaRPr lang="en-US" altLang="zh-CN" dirty="0"/>
          </a:p>
          <a:p>
            <a:r>
              <a:rPr lang="zh-CN" altLang="en-US" dirty="0"/>
              <a:t>差异化</a:t>
            </a:r>
            <a:endParaRPr lang="en-US" altLang="zh-CN" dirty="0"/>
          </a:p>
          <a:p>
            <a:r>
              <a:rPr lang="zh-CN" altLang="en-US" dirty="0"/>
              <a:t>目标集中</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三种基本竞争战略的比较</a:t>
            </a:r>
          </a:p>
        </p:txBody>
      </p:sp>
      <p:graphicFrame>
        <p:nvGraphicFramePr>
          <p:cNvPr id="4" name="内容占位符 3"/>
          <p:cNvGraphicFramePr>
            <a:graphicFrameLocks noGrp="1"/>
          </p:cNvGraphicFramePr>
          <p:nvPr>
            <p:ph idx="1"/>
          </p:nvPr>
        </p:nvGraphicFramePr>
        <p:xfrm>
          <a:off x="251520" y="1556792"/>
          <a:ext cx="8507288" cy="4856480"/>
        </p:xfrm>
        <a:graphic>
          <a:graphicData uri="http://schemas.openxmlformats.org/drawingml/2006/table">
            <a:tbl>
              <a:tblPr firstRow="1" bandRow="1">
                <a:tableStyleId>{5C22544A-7EE6-4342-B048-85BDC9FD1C3A}</a:tableStyleId>
              </a:tblPr>
              <a:tblGrid>
                <a:gridCol w="2126822">
                  <a:extLst>
                    <a:ext uri="{9D8B030D-6E8A-4147-A177-3AD203B41FA5}">
                      <a16:colId xmlns:a16="http://schemas.microsoft.com/office/drawing/2014/main" val="20000"/>
                    </a:ext>
                  </a:extLst>
                </a:gridCol>
                <a:gridCol w="2126822">
                  <a:extLst>
                    <a:ext uri="{9D8B030D-6E8A-4147-A177-3AD203B41FA5}">
                      <a16:colId xmlns:a16="http://schemas.microsoft.com/office/drawing/2014/main" val="20001"/>
                    </a:ext>
                  </a:extLst>
                </a:gridCol>
                <a:gridCol w="2126822">
                  <a:extLst>
                    <a:ext uri="{9D8B030D-6E8A-4147-A177-3AD203B41FA5}">
                      <a16:colId xmlns:a16="http://schemas.microsoft.com/office/drawing/2014/main" val="20002"/>
                    </a:ext>
                  </a:extLst>
                </a:gridCol>
                <a:gridCol w="2126822">
                  <a:extLst>
                    <a:ext uri="{9D8B030D-6E8A-4147-A177-3AD203B41FA5}">
                      <a16:colId xmlns:a16="http://schemas.microsoft.com/office/drawing/2014/main" val="20003"/>
                    </a:ext>
                  </a:extLst>
                </a:gridCol>
              </a:tblGrid>
              <a:tr h="370840">
                <a:tc>
                  <a:txBody>
                    <a:bodyPr/>
                    <a:lstStyle/>
                    <a:p>
                      <a:endParaRPr lang="zh-CN" altLang="en-US" dirty="0"/>
                    </a:p>
                  </a:txBody>
                  <a:tcPr/>
                </a:tc>
                <a:tc>
                  <a:txBody>
                    <a:bodyPr/>
                    <a:lstStyle/>
                    <a:p>
                      <a:r>
                        <a:rPr lang="zh-CN" altLang="en-US" dirty="0"/>
                        <a:t>成本领先战略</a:t>
                      </a:r>
                    </a:p>
                  </a:txBody>
                  <a:tcPr/>
                </a:tc>
                <a:tc>
                  <a:txBody>
                    <a:bodyPr/>
                    <a:lstStyle/>
                    <a:p>
                      <a:r>
                        <a:rPr lang="zh-CN" altLang="en-US" dirty="0"/>
                        <a:t>差异化战略</a:t>
                      </a:r>
                    </a:p>
                  </a:txBody>
                  <a:tcPr/>
                </a:tc>
                <a:tc>
                  <a:txBody>
                    <a:bodyPr/>
                    <a:lstStyle/>
                    <a:p>
                      <a:r>
                        <a:rPr lang="zh-CN" altLang="en-US" dirty="0"/>
                        <a:t>目标集中战略</a:t>
                      </a:r>
                    </a:p>
                  </a:txBody>
                  <a:tcPr/>
                </a:tc>
                <a:extLst>
                  <a:ext uri="{0D108BD9-81ED-4DB2-BD59-A6C34878D82A}">
                    <a16:rowId xmlns:a16="http://schemas.microsoft.com/office/drawing/2014/main" val="10000"/>
                  </a:ext>
                </a:extLst>
              </a:tr>
              <a:tr h="370840">
                <a:tc>
                  <a:txBody>
                    <a:bodyPr/>
                    <a:lstStyle/>
                    <a:p>
                      <a:r>
                        <a:rPr lang="zh-CN" altLang="en-US" sz="1600" dirty="0"/>
                        <a:t>目标市场</a:t>
                      </a:r>
                    </a:p>
                  </a:txBody>
                  <a:tcPr/>
                </a:tc>
                <a:tc>
                  <a:txBody>
                    <a:bodyPr/>
                    <a:lstStyle/>
                    <a:p>
                      <a:r>
                        <a:rPr lang="zh-CN" altLang="en-US" sz="1600" dirty="0"/>
                        <a:t>全行业市场</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dirty="0"/>
                        <a:t>全行业市场</a:t>
                      </a:r>
                    </a:p>
                  </a:txBody>
                  <a:tcPr/>
                </a:tc>
                <a:tc>
                  <a:txBody>
                    <a:bodyPr/>
                    <a:lstStyle/>
                    <a:p>
                      <a:r>
                        <a:rPr lang="zh-CN" altLang="en-US" sz="1600" dirty="0"/>
                        <a:t>特定细分市场</a:t>
                      </a:r>
                    </a:p>
                  </a:txBody>
                  <a:tcPr/>
                </a:tc>
                <a:extLst>
                  <a:ext uri="{0D108BD9-81ED-4DB2-BD59-A6C34878D82A}">
                    <a16:rowId xmlns:a16="http://schemas.microsoft.com/office/drawing/2014/main" val="10001"/>
                  </a:ext>
                </a:extLst>
              </a:tr>
              <a:tr h="370840">
                <a:tc>
                  <a:txBody>
                    <a:bodyPr/>
                    <a:lstStyle/>
                    <a:p>
                      <a:r>
                        <a:rPr lang="zh-CN" altLang="en-US" sz="1600" dirty="0"/>
                        <a:t>竞争重点</a:t>
                      </a:r>
                    </a:p>
                  </a:txBody>
                  <a:tcPr/>
                </a:tc>
                <a:tc>
                  <a:txBody>
                    <a:bodyPr/>
                    <a:lstStyle/>
                    <a:p>
                      <a:r>
                        <a:rPr lang="zh-CN" altLang="en-US" sz="1600" dirty="0"/>
                        <a:t>低于竞争对手的成本</a:t>
                      </a:r>
                    </a:p>
                  </a:txBody>
                  <a:tcPr/>
                </a:tc>
                <a:tc>
                  <a:txBody>
                    <a:bodyPr/>
                    <a:lstStyle/>
                    <a:p>
                      <a:r>
                        <a:rPr lang="zh-CN" altLang="en-US" sz="1600" dirty="0"/>
                        <a:t>不同于竞争对手的质量、特点、性能</a:t>
                      </a:r>
                    </a:p>
                  </a:txBody>
                  <a:tcPr/>
                </a:tc>
                <a:tc>
                  <a:txBody>
                    <a:bodyPr/>
                    <a:lstStyle/>
                    <a:p>
                      <a:r>
                        <a:rPr lang="zh-CN" altLang="en-US" sz="1600" dirty="0"/>
                        <a:t>细分市场的低成本或细分市场的差异化</a:t>
                      </a:r>
                    </a:p>
                  </a:txBody>
                  <a:tcPr/>
                </a:tc>
                <a:extLst>
                  <a:ext uri="{0D108BD9-81ED-4DB2-BD59-A6C34878D82A}">
                    <a16:rowId xmlns:a16="http://schemas.microsoft.com/office/drawing/2014/main" val="10002"/>
                  </a:ext>
                </a:extLst>
              </a:tr>
              <a:tr h="370840">
                <a:tc>
                  <a:txBody>
                    <a:bodyPr/>
                    <a:lstStyle/>
                    <a:p>
                      <a:r>
                        <a:rPr lang="zh-CN" altLang="en-US" sz="1600" dirty="0"/>
                        <a:t>生产开发重点</a:t>
                      </a:r>
                    </a:p>
                  </a:txBody>
                  <a:tcPr/>
                </a:tc>
                <a:tc>
                  <a:txBody>
                    <a:bodyPr/>
                    <a:lstStyle/>
                    <a:p>
                      <a:r>
                        <a:rPr lang="zh-CN" altLang="en-US" sz="1600" dirty="0"/>
                        <a:t>在保证质量的前提下不断寻求成本降低</a:t>
                      </a:r>
                    </a:p>
                  </a:txBody>
                  <a:tcPr/>
                </a:tc>
                <a:tc>
                  <a:txBody>
                    <a:bodyPr/>
                    <a:lstStyle/>
                    <a:p>
                      <a:r>
                        <a:rPr lang="zh-CN" altLang="en-US" sz="1600" dirty="0"/>
                        <a:t>不断寻求能被顾客认同的产品差异</a:t>
                      </a:r>
                    </a:p>
                  </a:txBody>
                  <a:tcPr/>
                </a:tc>
                <a:tc>
                  <a:txBody>
                    <a:bodyPr/>
                    <a:lstStyle/>
                    <a:p>
                      <a:r>
                        <a:rPr lang="zh-CN" altLang="en-US" sz="1600" dirty="0"/>
                        <a:t>开发细分市场中顾客的特殊需求</a:t>
                      </a:r>
                    </a:p>
                  </a:txBody>
                  <a:tcPr/>
                </a:tc>
                <a:extLst>
                  <a:ext uri="{0D108BD9-81ED-4DB2-BD59-A6C34878D82A}">
                    <a16:rowId xmlns:a16="http://schemas.microsoft.com/office/drawing/2014/main" val="10003"/>
                  </a:ext>
                </a:extLst>
              </a:tr>
              <a:tr h="370840">
                <a:tc>
                  <a:txBody>
                    <a:bodyPr/>
                    <a:lstStyle/>
                    <a:p>
                      <a:r>
                        <a:rPr lang="zh-CN" altLang="en-US" sz="1600" dirty="0"/>
                        <a:t>产品特点</a:t>
                      </a:r>
                    </a:p>
                  </a:txBody>
                  <a:tcPr/>
                </a:tc>
                <a:tc>
                  <a:txBody>
                    <a:bodyPr/>
                    <a:lstStyle/>
                    <a:p>
                      <a:r>
                        <a:rPr lang="zh-CN" altLang="en-US" sz="1600" dirty="0"/>
                        <a:t>特色不多，质量有保证的产品</a:t>
                      </a:r>
                    </a:p>
                  </a:txBody>
                  <a:tcPr/>
                </a:tc>
                <a:tc>
                  <a:txBody>
                    <a:bodyPr/>
                    <a:lstStyle/>
                    <a:p>
                      <a:r>
                        <a:rPr lang="zh-CN" altLang="en-US" sz="1600" dirty="0"/>
                        <a:t>产品型号多，选择余地大，强调产品差异化特色</a:t>
                      </a:r>
                    </a:p>
                  </a:txBody>
                  <a:tcPr/>
                </a:tc>
                <a:tc>
                  <a:txBody>
                    <a:bodyPr/>
                    <a:lstStyle/>
                    <a:p>
                      <a:r>
                        <a:rPr lang="zh-CN" altLang="en-US" sz="1600" dirty="0"/>
                        <a:t>按照目标顾客的特殊需要提供产品和服务</a:t>
                      </a:r>
                    </a:p>
                  </a:txBody>
                  <a:tcPr/>
                </a:tc>
                <a:extLst>
                  <a:ext uri="{0D108BD9-81ED-4DB2-BD59-A6C34878D82A}">
                    <a16:rowId xmlns:a16="http://schemas.microsoft.com/office/drawing/2014/main" val="10004"/>
                  </a:ext>
                </a:extLst>
              </a:tr>
              <a:tr h="370840">
                <a:tc>
                  <a:txBody>
                    <a:bodyPr/>
                    <a:lstStyle/>
                    <a:p>
                      <a:r>
                        <a:rPr lang="zh-CN" altLang="en-US" sz="1600" dirty="0"/>
                        <a:t>市场营销重点</a:t>
                      </a:r>
                    </a:p>
                  </a:txBody>
                  <a:tcPr/>
                </a:tc>
                <a:tc>
                  <a:txBody>
                    <a:bodyPr/>
                    <a:lstStyle/>
                    <a:p>
                      <a:r>
                        <a:rPr lang="zh-CN" altLang="en-US" sz="1600" dirty="0"/>
                        <a:t>低成本的特色营销</a:t>
                      </a:r>
                    </a:p>
                  </a:txBody>
                  <a:tcPr/>
                </a:tc>
                <a:tc>
                  <a:txBody>
                    <a:bodyPr/>
                    <a:lstStyle/>
                    <a:p>
                      <a:r>
                        <a:rPr lang="zh-CN" altLang="en-US" sz="1600" dirty="0"/>
                        <a:t>建立顾客愿意支付的特色营销，收取高价补偿因寻求差异化而承担的高额成本</a:t>
                      </a:r>
                    </a:p>
                  </a:txBody>
                  <a:tcPr/>
                </a:tc>
                <a:tc>
                  <a:txBody>
                    <a:bodyPr/>
                    <a:lstStyle/>
                    <a:p>
                      <a:r>
                        <a:rPr lang="zh-CN" altLang="en-US" sz="1600" dirty="0"/>
                        <a:t>传播本企业有哪些能够满足购买者特殊需求的能力</a:t>
                      </a:r>
                    </a:p>
                  </a:txBody>
                  <a:tcPr/>
                </a:tc>
                <a:extLst>
                  <a:ext uri="{0D108BD9-81ED-4DB2-BD59-A6C34878D82A}">
                    <a16:rowId xmlns:a16="http://schemas.microsoft.com/office/drawing/2014/main" val="10005"/>
                  </a:ext>
                </a:extLst>
              </a:tr>
              <a:tr h="370840">
                <a:tc>
                  <a:txBody>
                    <a:bodyPr/>
                    <a:lstStyle/>
                    <a:p>
                      <a:r>
                        <a:rPr lang="zh-CN" altLang="en-US" sz="1600" dirty="0"/>
                        <a:t>战略的维持途径</a:t>
                      </a:r>
                    </a:p>
                  </a:txBody>
                  <a:tcPr/>
                </a:tc>
                <a:tc>
                  <a:txBody>
                    <a:bodyPr/>
                    <a:lstStyle/>
                    <a:p>
                      <a:r>
                        <a:rPr lang="zh-CN" altLang="en-US" sz="1600" dirty="0"/>
                        <a:t>以获取成本优势为目的，不断挖掘降低成本的潜力</a:t>
                      </a:r>
                    </a:p>
                  </a:txBody>
                  <a:tcPr/>
                </a:tc>
                <a:tc>
                  <a:txBody>
                    <a:bodyPr/>
                    <a:lstStyle/>
                    <a:p>
                      <a:r>
                        <a:rPr lang="zh-CN" altLang="en-US" sz="1600" dirty="0"/>
                        <a:t>不断改善和革新产品的差异性，走在竞争对手的前面</a:t>
                      </a:r>
                    </a:p>
                  </a:txBody>
                  <a:tcPr/>
                </a:tc>
                <a:tc>
                  <a:txBody>
                    <a:bodyPr/>
                    <a:lstStyle/>
                    <a:p>
                      <a:r>
                        <a:rPr lang="zh-CN" altLang="en-US" sz="1600" dirty="0"/>
                        <a:t>比竞争对手更好地为特定细分市场提供低成本的产品或者差异化的产品</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灯片编号占位符 3"/>
          <p:cNvSpPr txBox="1">
            <a:spLocks noGrp="1"/>
          </p:cNvSpPr>
          <p:nvPr/>
        </p:nvSpPr>
        <p:spPr bwMode="auto">
          <a:xfrm>
            <a:off x="8482013" y="6573838"/>
            <a:ext cx="661987" cy="241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4000">
                <a:solidFill>
                  <a:schemeClr val="tx1"/>
                </a:solidFill>
                <a:latin typeface="Arial" charset="0"/>
                <a:ea typeface="黑体" charset="0"/>
                <a:cs typeface="黑体" charset="0"/>
              </a:defRPr>
            </a:lvl1pPr>
            <a:lvl2pPr marL="742950" indent="-285750" eaLnBrk="0" hangingPunct="0">
              <a:defRPr sz="4000">
                <a:solidFill>
                  <a:schemeClr val="tx1"/>
                </a:solidFill>
                <a:latin typeface="Arial" charset="0"/>
                <a:ea typeface="黑体" charset="0"/>
                <a:cs typeface="黑体" charset="0"/>
              </a:defRPr>
            </a:lvl2pPr>
            <a:lvl3pPr marL="1143000" indent="-228600" eaLnBrk="0" hangingPunct="0">
              <a:defRPr sz="4000">
                <a:solidFill>
                  <a:schemeClr val="tx1"/>
                </a:solidFill>
                <a:latin typeface="Arial" charset="0"/>
                <a:ea typeface="黑体" charset="0"/>
                <a:cs typeface="黑体" charset="0"/>
              </a:defRPr>
            </a:lvl3pPr>
            <a:lvl4pPr marL="1600200" indent="-228600" eaLnBrk="0" hangingPunct="0">
              <a:defRPr sz="4000">
                <a:solidFill>
                  <a:schemeClr val="tx1"/>
                </a:solidFill>
                <a:latin typeface="Arial" charset="0"/>
                <a:ea typeface="黑体" charset="0"/>
                <a:cs typeface="黑体" charset="0"/>
              </a:defRPr>
            </a:lvl4pPr>
            <a:lvl5pPr marL="2057400" indent="-228600" eaLnBrk="0" hangingPunct="0">
              <a:defRPr sz="4000">
                <a:solidFill>
                  <a:schemeClr val="tx1"/>
                </a:solidFill>
                <a:latin typeface="Arial" charset="0"/>
                <a:ea typeface="黑体" charset="0"/>
                <a:cs typeface="黑体" charset="0"/>
              </a:defRPr>
            </a:lvl5pPr>
            <a:lvl6pPr marL="2514600" indent="-228600" algn="ctr" eaLnBrk="0" fontAlgn="base" hangingPunct="0">
              <a:spcBef>
                <a:spcPct val="0"/>
              </a:spcBef>
              <a:spcAft>
                <a:spcPct val="0"/>
              </a:spcAft>
              <a:defRPr sz="4000">
                <a:solidFill>
                  <a:schemeClr val="tx1"/>
                </a:solidFill>
                <a:latin typeface="Arial" charset="0"/>
                <a:ea typeface="黑体" charset="0"/>
                <a:cs typeface="黑体" charset="0"/>
              </a:defRPr>
            </a:lvl6pPr>
            <a:lvl7pPr marL="2971800" indent="-228600" algn="ctr" eaLnBrk="0" fontAlgn="base" hangingPunct="0">
              <a:spcBef>
                <a:spcPct val="0"/>
              </a:spcBef>
              <a:spcAft>
                <a:spcPct val="0"/>
              </a:spcAft>
              <a:defRPr sz="4000">
                <a:solidFill>
                  <a:schemeClr val="tx1"/>
                </a:solidFill>
                <a:latin typeface="Arial" charset="0"/>
                <a:ea typeface="黑体" charset="0"/>
                <a:cs typeface="黑体" charset="0"/>
              </a:defRPr>
            </a:lvl7pPr>
            <a:lvl8pPr marL="3429000" indent="-228600" algn="ctr" eaLnBrk="0" fontAlgn="base" hangingPunct="0">
              <a:spcBef>
                <a:spcPct val="0"/>
              </a:spcBef>
              <a:spcAft>
                <a:spcPct val="0"/>
              </a:spcAft>
              <a:defRPr sz="4000">
                <a:solidFill>
                  <a:schemeClr val="tx1"/>
                </a:solidFill>
                <a:latin typeface="Arial" charset="0"/>
                <a:ea typeface="黑体" charset="0"/>
                <a:cs typeface="黑体" charset="0"/>
              </a:defRPr>
            </a:lvl8pPr>
            <a:lvl9pPr marL="3886200" indent="-228600" algn="ctr" eaLnBrk="0" fontAlgn="base" hangingPunct="0">
              <a:spcBef>
                <a:spcPct val="0"/>
              </a:spcBef>
              <a:spcAft>
                <a:spcPct val="0"/>
              </a:spcAft>
              <a:defRPr sz="4000">
                <a:solidFill>
                  <a:schemeClr val="tx1"/>
                </a:solidFill>
                <a:latin typeface="Arial" charset="0"/>
                <a:ea typeface="黑体" charset="0"/>
                <a:cs typeface="黑体" charset="0"/>
              </a:defRPr>
            </a:lvl9pPr>
          </a:lstStyle>
          <a:p>
            <a:pPr algn="r" eaLnBrk="1" hangingPunct="1"/>
            <a:fld id="{024522F6-E90B-524B-8DBC-958372C00C64}" type="slidenum">
              <a:rPr lang="zh-CN" altLang="en-US" sz="1600" b="1">
                <a:ea typeface="宋体" charset="0"/>
                <a:cs typeface="宋体" charset="0"/>
              </a:rPr>
              <a:pPr algn="r" eaLnBrk="1" hangingPunct="1"/>
              <a:t>63</a:t>
            </a:fld>
            <a:endParaRPr lang="en-US" altLang="zh-CN" sz="1600" b="1">
              <a:ea typeface="宋体" charset="0"/>
              <a:cs typeface="宋体" charset="0"/>
            </a:endParaRPr>
          </a:p>
        </p:txBody>
      </p:sp>
      <p:sp>
        <p:nvSpPr>
          <p:cNvPr id="115715" name="Text Box 31"/>
          <p:cNvSpPr txBox="1">
            <a:spLocks noChangeArrowheads="1"/>
          </p:cNvSpPr>
          <p:nvPr/>
        </p:nvSpPr>
        <p:spPr bwMode="auto">
          <a:xfrm>
            <a:off x="947738" y="212725"/>
            <a:ext cx="7624762" cy="701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lIns="0" rIns="0">
            <a:spAutoFit/>
          </a:bodyPr>
          <a:lstStyle>
            <a:lvl1pPr eaLnBrk="0" hangingPunct="0">
              <a:defRPr sz="4000">
                <a:solidFill>
                  <a:schemeClr val="tx1"/>
                </a:solidFill>
                <a:latin typeface="Arial" charset="0"/>
                <a:ea typeface="黑体" charset="0"/>
                <a:cs typeface="黑体" charset="0"/>
              </a:defRPr>
            </a:lvl1pPr>
            <a:lvl2pPr marL="742950" indent="-285750" eaLnBrk="0" hangingPunct="0">
              <a:defRPr sz="4000">
                <a:solidFill>
                  <a:schemeClr val="tx1"/>
                </a:solidFill>
                <a:latin typeface="Arial" charset="0"/>
                <a:ea typeface="黑体" charset="0"/>
                <a:cs typeface="黑体" charset="0"/>
              </a:defRPr>
            </a:lvl2pPr>
            <a:lvl3pPr marL="1143000" indent="-228600" eaLnBrk="0" hangingPunct="0">
              <a:defRPr sz="4000">
                <a:solidFill>
                  <a:schemeClr val="tx1"/>
                </a:solidFill>
                <a:latin typeface="Arial" charset="0"/>
                <a:ea typeface="黑体" charset="0"/>
                <a:cs typeface="黑体" charset="0"/>
              </a:defRPr>
            </a:lvl3pPr>
            <a:lvl4pPr marL="1600200" indent="-228600" eaLnBrk="0" hangingPunct="0">
              <a:defRPr sz="4000">
                <a:solidFill>
                  <a:schemeClr val="tx1"/>
                </a:solidFill>
                <a:latin typeface="Arial" charset="0"/>
                <a:ea typeface="黑体" charset="0"/>
                <a:cs typeface="黑体" charset="0"/>
              </a:defRPr>
            </a:lvl4pPr>
            <a:lvl5pPr marL="2057400" indent="-228600" eaLnBrk="0" hangingPunct="0">
              <a:defRPr sz="4000">
                <a:solidFill>
                  <a:schemeClr val="tx1"/>
                </a:solidFill>
                <a:latin typeface="Arial" charset="0"/>
                <a:ea typeface="黑体" charset="0"/>
                <a:cs typeface="黑体" charset="0"/>
              </a:defRPr>
            </a:lvl5pPr>
            <a:lvl6pPr marL="2514600" indent="-228600" algn="ctr" eaLnBrk="0" fontAlgn="base" hangingPunct="0">
              <a:spcBef>
                <a:spcPct val="0"/>
              </a:spcBef>
              <a:spcAft>
                <a:spcPct val="0"/>
              </a:spcAft>
              <a:defRPr sz="4000">
                <a:solidFill>
                  <a:schemeClr val="tx1"/>
                </a:solidFill>
                <a:latin typeface="Arial" charset="0"/>
                <a:ea typeface="黑体" charset="0"/>
                <a:cs typeface="黑体" charset="0"/>
              </a:defRPr>
            </a:lvl6pPr>
            <a:lvl7pPr marL="2971800" indent="-228600" algn="ctr" eaLnBrk="0" fontAlgn="base" hangingPunct="0">
              <a:spcBef>
                <a:spcPct val="0"/>
              </a:spcBef>
              <a:spcAft>
                <a:spcPct val="0"/>
              </a:spcAft>
              <a:defRPr sz="4000">
                <a:solidFill>
                  <a:schemeClr val="tx1"/>
                </a:solidFill>
                <a:latin typeface="Arial" charset="0"/>
                <a:ea typeface="黑体" charset="0"/>
                <a:cs typeface="黑体" charset="0"/>
              </a:defRPr>
            </a:lvl7pPr>
            <a:lvl8pPr marL="3429000" indent="-228600" algn="ctr" eaLnBrk="0" fontAlgn="base" hangingPunct="0">
              <a:spcBef>
                <a:spcPct val="0"/>
              </a:spcBef>
              <a:spcAft>
                <a:spcPct val="0"/>
              </a:spcAft>
              <a:defRPr sz="4000">
                <a:solidFill>
                  <a:schemeClr val="tx1"/>
                </a:solidFill>
                <a:latin typeface="Arial" charset="0"/>
                <a:ea typeface="黑体" charset="0"/>
                <a:cs typeface="黑体" charset="0"/>
              </a:defRPr>
            </a:lvl8pPr>
            <a:lvl9pPr marL="3886200" indent="-228600" algn="ctr" eaLnBrk="0" fontAlgn="base" hangingPunct="0">
              <a:spcBef>
                <a:spcPct val="0"/>
              </a:spcBef>
              <a:spcAft>
                <a:spcPct val="0"/>
              </a:spcAft>
              <a:defRPr sz="4000">
                <a:solidFill>
                  <a:schemeClr val="tx1"/>
                </a:solidFill>
                <a:latin typeface="Arial" charset="0"/>
                <a:ea typeface="黑体" charset="0"/>
                <a:cs typeface="黑体" charset="0"/>
              </a:defRPr>
            </a:lvl9pPr>
          </a:lstStyle>
          <a:p>
            <a:pPr eaLnBrk="1" hangingPunct="1"/>
            <a:r>
              <a:rPr lang="zh-CN" altLang="en-US" b="1" dirty="0">
                <a:solidFill>
                  <a:schemeClr val="tx2"/>
                </a:solidFill>
                <a:ea typeface="宋体" charset="0"/>
                <a:cs typeface="宋体" charset="0"/>
              </a:rPr>
              <a:t>产品生命周期理论</a:t>
            </a:r>
            <a:endParaRPr lang="zh-CN" altLang="en-US" dirty="0"/>
          </a:p>
        </p:txBody>
      </p:sp>
      <p:sp>
        <p:nvSpPr>
          <p:cNvPr id="115716" name="Rectangle 4"/>
          <p:cNvSpPr>
            <a:spLocks noChangeArrowheads="1"/>
          </p:cNvSpPr>
          <p:nvPr/>
        </p:nvSpPr>
        <p:spPr bwMode="auto">
          <a:xfrm>
            <a:off x="1179513" y="1485900"/>
            <a:ext cx="5494337" cy="2227263"/>
          </a:xfrm>
          <a:prstGeom prst="rect">
            <a:avLst/>
          </a:prstGeom>
          <a:noFill/>
          <a:ln>
            <a:noFill/>
          </a:ln>
          <a:effectLst>
            <a:prstShdw prst="shdw12">
              <a:srgbClr val="080808">
                <a:alpha val="50000"/>
              </a:srgbClr>
            </a:prst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FFFFFF"/>
                </a:solidFill>
                <a:miter lim="800000"/>
                <a:headEnd/>
                <a:tailEnd/>
              </a14:hiddenLine>
            </a:ext>
          </a:extLst>
        </p:spPr>
        <p:txBody>
          <a:bodyPr anchor="ctr">
            <a:spAutoFit/>
          </a:bodyPr>
          <a:lstStyle/>
          <a:p>
            <a:pPr algn="l" eaLnBrk="0" hangingPunct="0"/>
            <a:r>
              <a:rPr lang="zh-CN" altLang="en-US" sz="2800"/>
              <a:t>        产品生命周期理论</a:t>
            </a:r>
            <a:r>
              <a:rPr lang="zh-CN" altLang="en-US" sz="2800">
                <a:solidFill>
                  <a:srgbClr val="FF0000"/>
                </a:solidFill>
              </a:rPr>
              <a:t>（</a:t>
            </a:r>
            <a:r>
              <a:rPr lang="en-US" altLang="zh-CN" sz="2800">
                <a:solidFill>
                  <a:srgbClr val="FF0000"/>
                </a:solidFill>
              </a:rPr>
              <a:t>Product Life Cycle Theory)</a:t>
            </a:r>
            <a:r>
              <a:rPr lang="zh-CN" altLang="en-US" sz="2800"/>
              <a:t>是由美国经济学家弗农（</a:t>
            </a:r>
            <a:r>
              <a:rPr lang="en-US" altLang="zh-CN" sz="2800"/>
              <a:t>Vernon.R)</a:t>
            </a:r>
            <a:r>
              <a:rPr lang="zh-CN" altLang="en-US" sz="2800"/>
              <a:t>于</a:t>
            </a:r>
            <a:r>
              <a:rPr lang="en-US" altLang="zh-CN" sz="2800"/>
              <a:t>1966</a:t>
            </a:r>
            <a:r>
              <a:rPr lang="zh-CN" altLang="en-US" sz="2800"/>
              <a:t>年在他的</a:t>
            </a:r>
            <a:r>
              <a:rPr lang="en-US" altLang="zh-CN" sz="2800"/>
              <a:t>《</a:t>
            </a:r>
            <a:r>
              <a:rPr lang="zh-CN" altLang="en-US" sz="2800"/>
              <a:t>产品周期中的国际投资与国际贸易</a:t>
            </a:r>
            <a:r>
              <a:rPr lang="en-US" altLang="zh-CN" sz="2800"/>
              <a:t>》</a:t>
            </a:r>
            <a:r>
              <a:rPr lang="zh-CN" altLang="en-US" sz="2800"/>
              <a:t>一文中首先提出。</a:t>
            </a:r>
            <a:r>
              <a:rPr lang="zh-CN" altLang="en-US" sz="2400"/>
              <a:t>       </a:t>
            </a:r>
            <a:endParaRPr lang="zh-CN" altLang="en-US"/>
          </a:p>
        </p:txBody>
      </p:sp>
      <p:pic>
        <p:nvPicPr>
          <p:cNvPr id="11571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0075" y="1157288"/>
            <a:ext cx="1906588" cy="2713037"/>
          </a:xfrm>
          <a:prstGeom prst="rect">
            <a:avLst/>
          </a:prstGeom>
          <a:noFill/>
          <a:effectLst>
            <a:outerShdw blurRad="63500" dist="107763" dir="18900000" algn="ctr" rotWithShape="0">
              <a:srgbClr val="000000">
                <a:alpha val="50000"/>
              </a:srgbClr>
            </a:outerShdw>
          </a:effectLst>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4763563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img-2.jpe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66800"/>
            <a:ext cx="9144000" cy="4701953"/>
          </a:xfrm>
          <a:prstGeom prst="rect">
            <a:avLst/>
          </a:prstGeom>
        </p:spPr>
      </p:pic>
    </p:spTree>
    <p:extLst>
      <p:ext uri="{BB962C8B-B14F-4D97-AF65-F5344CB8AC3E}">
        <p14:creationId xmlns:p14="http://schemas.microsoft.com/office/powerpoint/2010/main" val="16024337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5"/>
          <p:cNvSpPr>
            <a:spLocks noChangeArrowheads="1"/>
          </p:cNvSpPr>
          <p:nvPr/>
        </p:nvSpPr>
        <p:spPr bwMode="auto">
          <a:xfrm>
            <a:off x="1125538" y="1271588"/>
            <a:ext cx="2578100" cy="4468812"/>
          </a:xfrm>
          <a:prstGeom prst="rect">
            <a:avLst/>
          </a:prstGeom>
          <a:gradFill rotWithShape="1">
            <a:gsLst>
              <a:gs pos="0">
                <a:srgbClr val="F2B5A2"/>
              </a:gs>
              <a:gs pos="100000">
                <a:srgbClr val="F1B19D">
                  <a:alpha val="39998"/>
                </a:srgbClr>
              </a:gs>
            </a:gsLst>
            <a:lin ang="2700000" scaled="1"/>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pPr algn="l" latinLnBrk="1"/>
            <a:endParaRPr kumimoji="1" lang="zh-CN" altLang="en-US" sz="1800" i="1">
              <a:latin typeface="Gulim" charset="0"/>
              <a:ea typeface="Gulim" charset="0"/>
              <a:cs typeface="Gulim" charset="0"/>
            </a:endParaRPr>
          </a:p>
        </p:txBody>
      </p:sp>
      <p:sp>
        <p:nvSpPr>
          <p:cNvPr id="117763" name="灯片编号占位符 3"/>
          <p:cNvSpPr txBox="1">
            <a:spLocks noGrp="1"/>
          </p:cNvSpPr>
          <p:nvPr/>
        </p:nvSpPr>
        <p:spPr bwMode="auto">
          <a:xfrm>
            <a:off x="8482013" y="6573838"/>
            <a:ext cx="661987" cy="241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4000">
                <a:solidFill>
                  <a:schemeClr val="tx1"/>
                </a:solidFill>
                <a:latin typeface="Arial" charset="0"/>
                <a:ea typeface="黑体" charset="0"/>
                <a:cs typeface="黑体" charset="0"/>
              </a:defRPr>
            </a:lvl1pPr>
            <a:lvl2pPr marL="742950" indent="-285750" eaLnBrk="0" hangingPunct="0">
              <a:defRPr sz="4000">
                <a:solidFill>
                  <a:schemeClr val="tx1"/>
                </a:solidFill>
                <a:latin typeface="Arial" charset="0"/>
                <a:ea typeface="黑体" charset="0"/>
                <a:cs typeface="黑体" charset="0"/>
              </a:defRPr>
            </a:lvl2pPr>
            <a:lvl3pPr marL="1143000" indent="-228600" eaLnBrk="0" hangingPunct="0">
              <a:defRPr sz="4000">
                <a:solidFill>
                  <a:schemeClr val="tx1"/>
                </a:solidFill>
                <a:latin typeface="Arial" charset="0"/>
                <a:ea typeface="黑体" charset="0"/>
                <a:cs typeface="黑体" charset="0"/>
              </a:defRPr>
            </a:lvl3pPr>
            <a:lvl4pPr marL="1600200" indent="-228600" eaLnBrk="0" hangingPunct="0">
              <a:defRPr sz="4000">
                <a:solidFill>
                  <a:schemeClr val="tx1"/>
                </a:solidFill>
                <a:latin typeface="Arial" charset="0"/>
                <a:ea typeface="黑体" charset="0"/>
                <a:cs typeface="黑体" charset="0"/>
              </a:defRPr>
            </a:lvl4pPr>
            <a:lvl5pPr marL="2057400" indent="-228600" eaLnBrk="0" hangingPunct="0">
              <a:defRPr sz="4000">
                <a:solidFill>
                  <a:schemeClr val="tx1"/>
                </a:solidFill>
                <a:latin typeface="Arial" charset="0"/>
                <a:ea typeface="黑体" charset="0"/>
                <a:cs typeface="黑体" charset="0"/>
              </a:defRPr>
            </a:lvl5pPr>
            <a:lvl6pPr marL="2514600" indent="-228600" algn="ctr" eaLnBrk="0" fontAlgn="base" hangingPunct="0">
              <a:spcBef>
                <a:spcPct val="0"/>
              </a:spcBef>
              <a:spcAft>
                <a:spcPct val="0"/>
              </a:spcAft>
              <a:defRPr sz="4000">
                <a:solidFill>
                  <a:schemeClr val="tx1"/>
                </a:solidFill>
                <a:latin typeface="Arial" charset="0"/>
                <a:ea typeface="黑体" charset="0"/>
                <a:cs typeface="黑体" charset="0"/>
              </a:defRPr>
            </a:lvl6pPr>
            <a:lvl7pPr marL="2971800" indent="-228600" algn="ctr" eaLnBrk="0" fontAlgn="base" hangingPunct="0">
              <a:spcBef>
                <a:spcPct val="0"/>
              </a:spcBef>
              <a:spcAft>
                <a:spcPct val="0"/>
              </a:spcAft>
              <a:defRPr sz="4000">
                <a:solidFill>
                  <a:schemeClr val="tx1"/>
                </a:solidFill>
                <a:latin typeface="Arial" charset="0"/>
                <a:ea typeface="黑体" charset="0"/>
                <a:cs typeface="黑体" charset="0"/>
              </a:defRPr>
            </a:lvl7pPr>
            <a:lvl8pPr marL="3429000" indent="-228600" algn="ctr" eaLnBrk="0" fontAlgn="base" hangingPunct="0">
              <a:spcBef>
                <a:spcPct val="0"/>
              </a:spcBef>
              <a:spcAft>
                <a:spcPct val="0"/>
              </a:spcAft>
              <a:defRPr sz="4000">
                <a:solidFill>
                  <a:schemeClr val="tx1"/>
                </a:solidFill>
                <a:latin typeface="Arial" charset="0"/>
                <a:ea typeface="黑体" charset="0"/>
                <a:cs typeface="黑体" charset="0"/>
              </a:defRPr>
            </a:lvl8pPr>
            <a:lvl9pPr marL="3886200" indent="-228600" algn="ctr" eaLnBrk="0" fontAlgn="base" hangingPunct="0">
              <a:spcBef>
                <a:spcPct val="0"/>
              </a:spcBef>
              <a:spcAft>
                <a:spcPct val="0"/>
              </a:spcAft>
              <a:defRPr sz="4000">
                <a:solidFill>
                  <a:schemeClr val="tx1"/>
                </a:solidFill>
                <a:latin typeface="Arial" charset="0"/>
                <a:ea typeface="黑体" charset="0"/>
                <a:cs typeface="黑体" charset="0"/>
              </a:defRPr>
            </a:lvl9pPr>
          </a:lstStyle>
          <a:p>
            <a:pPr algn="r" eaLnBrk="1" hangingPunct="1"/>
            <a:fld id="{0E6D52A5-88FD-FE47-AFBC-C471E8EE438B}" type="slidenum">
              <a:rPr lang="zh-CN" altLang="en-US" sz="1600" b="1">
                <a:ea typeface="宋体" charset="0"/>
                <a:cs typeface="宋体" charset="0"/>
              </a:rPr>
              <a:pPr algn="r" eaLnBrk="1" hangingPunct="1"/>
              <a:t>65</a:t>
            </a:fld>
            <a:endParaRPr lang="en-US" altLang="zh-CN" sz="1600" b="1">
              <a:ea typeface="宋体" charset="0"/>
              <a:cs typeface="宋体" charset="0"/>
            </a:endParaRPr>
          </a:p>
        </p:txBody>
      </p:sp>
      <p:sp>
        <p:nvSpPr>
          <p:cNvPr id="117765" name="Rectangle 5"/>
          <p:cNvSpPr>
            <a:spLocks noChangeArrowheads="1"/>
          </p:cNvSpPr>
          <p:nvPr/>
        </p:nvSpPr>
        <p:spPr bwMode="auto">
          <a:xfrm>
            <a:off x="1027113" y="136516"/>
            <a:ext cx="7780337" cy="954107"/>
          </a:xfrm>
          <a:prstGeom prst="rect">
            <a:avLst/>
          </a:prstGeom>
          <a:noFill/>
          <a:ln>
            <a:noFill/>
          </a:ln>
          <a:effectLst>
            <a:prstShdw prst="shdw12">
              <a:srgbClr val="080808">
                <a:alpha val="50000"/>
              </a:srgbClr>
            </a:prst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FFFFFF"/>
                </a:solidFill>
                <a:miter lim="800000"/>
                <a:headEnd/>
                <a:tailEnd/>
              </a14:hiddenLine>
            </a:ext>
          </a:extLst>
        </p:spPr>
        <p:txBody>
          <a:bodyPr anchor="ctr">
            <a:spAutoFit/>
          </a:bodyPr>
          <a:lstStyle/>
          <a:p>
            <a:pPr algn="l" eaLnBrk="0" hangingPunct="0"/>
            <a:r>
              <a:rPr lang="zh-CN" altLang="en-US" sz="2800" b="1" dirty="0"/>
              <a:t>产品创新阶段，引入期</a:t>
            </a:r>
            <a:r>
              <a:rPr lang="en-US" altLang="zh-CN" sz="2800" b="1" dirty="0"/>
              <a:t>(The Phase of Introduction)</a:t>
            </a:r>
          </a:p>
        </p:txBody>
      </p:sp>
      <p:graphicFrame>
        <p:nvGraphicFramePr>
          <p:cNvPr id="117766" name="Group 6"/>
          <p:cNvGraphicFramePr>
            <a:graphicFrameLocks noGrp="1"/>
          </p:cNvGraphicFramePr>
          <p:nvPr>
            <p:extLst>
              <p:ext uri="{D42A27DB-BD31-4B8C-83A1-F6EECF244321}">
                <p14:modId xmlns:p14="http://schemas.microsoft.com/office/powerpoint/2010/main" val="3740241815"/>
              </p:ext>
            </p:extLst>
          </p:nvPr>
        </p:nvGraphicFramePr>
        <p:xfrm>
          <a:off x="1157288" y="1250950"/>
          <a:ext cx="7677150" cy="4509135"/>
        </p:xfrm>
        <a:graphic>
          <a:graphicData uri="http://schemas.openxmlformats.org/drawingml/2006/table">
            <a:tbl>
              <a:tblPr/>
              <a:tblGrid>
                <a:gridCol w="2398712">
                  <a:extLst>
                    <a:ext uri="{9D8B030D-6E8A-4147-A177-3AD203B41FA5}">
                      <a16:colId xmlns:a16="http://schemas.microsoft.com/office/drawing/2014/main" val="20000"/>
                    </a:ext>
                  </a:extLst>
                </a:gridCol>
                <a:gridCol w="5278438">
                  <a:extLst>
                    <a:ext uri="{9D8B030D-6E8A-4147-A177-3AD203B41FA5}">
                      <a16:colId xmlns:a16="http://schemas.microsoft.com/office/drawing/2014/main" val="20001"/>
                    </a:ext>
                  </a:extLst>
                </a:gridCol>
              </a:tblGrid>
              <a:tr h="508000">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a:ln>
                            <a:noFill/>
                          </a:ln>
                          <a:solidFill>
                            <a:schemeClr val="tx1"/>
                          </a:solidFill>
                          <a:effectLst/>
                          <a:latin typeface="Arial" charset="0"/>
                          <a:ea typeface="宋体" charset="0"/>
                          <a:cs typeface="宋体" charset="0"/>
                        </a:rPr>
                        <a:t>技术特性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Arial" charset="0"/>
                          <a:ea typeface="宋体" charset="0"/>
                          <a:cs typeface="宋体" charset="0"/>
                        </a:rPr>
                        <a:t>创新者发明并垄断技术、技术尚需改进、工艺流程尚未定型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7467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Arial" charset="0"/>
                          <a:ea typeface="宋体" charset="0"/>
                          <a:cs typeface="宋体" charset="0"/>
                        </a:rPr>
                        <a:t>生产特性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Arial" charset="0"/>
                          <a:ea typeface="宋体" charset="0"/>
                          <a:cs typeface="宋体" charset="0"/>
                        </a:rPr>
                        <a:t>单件小批量生产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86677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a:ln>
                            <a:noFill/>
                          </a:ln>
                          <a:solidFill>
                            <a:schemeClr val="tx1"/>
                          </a:solidFill>
                          <a:effectLst/>
                          <a:latin typeface="Arial" charset="0"/>
                          <a:ea typeface="宋体" charset="0"/>
                          <a:cs typeface="宋体" charset="0"/>
                        </a:rPr>
                        <a:t>产品要素特性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a:ln>
                            <a:noFill/>
                          </a:ln>
                          <a:solidFill>
                            <a:schemeClr val="tx1"/>
                          </a:solidFill>
                          <a:effectLst/>
                          <a:latin typeface="Arial" charset="0"/>
                          <a:ea typeface="宋体" charset="0"/>
                          <a:cs typeface="宋体" charset="0"/>
                        </a:rPr>
                        <a:t>需要科学家、工程师等高度技术熟练工人的大量劳动，是技术密集型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60007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a:ln>
                            <a:noFill/>
                          </a:ln>
                          <a:solidFill>
                            <a:schemeClr val="tx1"/>
                          </a:solidFill>
                          <a:effectLst/>
                          <a:latin typeface="Arial" charset="0"/>
                          <a:ea typeface="宋体" charset="0"/>
                          <a:cs typeface="宋体" charset="0"/>
                        </a:rPr>
                        <a:t>成本特性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a:ln>
                            <a:noFill/>
                          </a:ln>
                          <a:solidFill>
                            <a:schemeClr val="tx1"/>
                          </a:solidFill>
                          <a:effectLst/>
                          <a:latin typeface="Arial" charset="0"/>
                          <a:ea typeface="宋体" charset="0"/>
                          <a:cs typeface="宋体" charset="0"/>
                        </a:rPr>
                        <a:t>对于企业来说不是最重要的问题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69532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a:ln>
                            <a:noFill/>
                          </a:ln>
                          <a:solidFill>
                            <a:schemeClr val="tx1"/>
                          </a:solidFill>
                          <a:effectLst/>
                          <a:latin typeface="Arial" charset="0"/>
                          <a:ea typeface="宋体" charset="0"/>
                          <a:cs typeface="宋体" charset="0"/>
                        </a:rPr>
                        <a:t>价格特性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a:ln>
                            <a:noFill/>
                          </a:ln>
                          <a:solidFill>
                            <a:schemeClr val="tx1"/>
                          </a:solidFill>
                          <a:effectLst/>
                          <a:latin typeface="Arial" charset="0"/>
                          <a:ea typeface="宋体" charset="0"/>
                          <a:cs typeface="宋体" charset="0"/>
                        </a:rPr>
                        <a:t>价格比较高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94932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Arial" charset="0"/>
                          <a:ea typeface="宋体" charset="0"/>
                          <a:cs typeface="宋体" charset="0"/>
                        </a:rPr>
                        <a:t>财务特性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Arial" charset="0"/>
                          <a:ea typeface="宋体" charset="0"/>
                          <a:cs typeface="宋体" charset="0"/>
                        </a:rPr>
                        <a:t>亏损</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763213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灯片编号占位符 3"/>
          <p:cNvSpPr txBox="1">
            <a:spLocks noGrp="1"/>
          </p:cNvSpPr>
          <p:nvPr/>
        </p:nvSpPr>
        <p:spPr bwMode="auto">
          <a:xfrm>
            <a:off x="8482013" y="6573838"/>
            <a:ext cx="661987" cy="241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4000">
                <a:solidFill>
                  <a:schemeClr val="tx1"/>
                </a:solidFill>
                <a:latin typeface="Arial" charset="0"/>
                <a:ea typeface="黑体" charset="0"/>
                <a:cs typeface="黑体" charset="0"/>
              </a:defRPr>
            </a:lvl1pPr>
            <a:lvl2pPr marL="742950" indent="-285750" eaLnBrk="0" hangingPunct="0">
              <a:defRPr sz="4000">
                <a:solidFill>
                  <a:schemeClr val="tx1"/>
                </a:solidFill>
                <a:latin typeface="Arial" charset="0"/>
                <a:ea typeface="黑体" charset="0"/>
                <a:cs typeface="黑体" charset="0"/>
              </a:defRPr>
            </a:lvl2pPr>
            <a:lvl3pPr marL="1143000" indent="-228600" eaLnBrk="0" hangingPunct="0">
              <a:defRPr sz="4000">
                <a:solidFill>
                  <a:schemeClr val="tx1"/>
                </a:solidFill>
                <a:latin typeface="Arial" charset="0"/>
                <a:ea typeface="黑体" charset="0"/>
                <a:cs typeface="黑体" charset="0"/>
              </a:defRPr>
            </a:lvl3pPr>
            <a:lvl4pPr marL="1600200" indent="-228600" eaLnBrk="0" hangingPunct="0">
              <a:defRPr sz="4000">
                <a:solidFill>
                  <a:schemeClr val="tx1"/>
                </a:solidFill>
                <a:latin typeface="Arial" charset="0"/>
                <a:ea typeface="黑体" charset="0"/>
                <a:cs typeface="黑体" charset="0"/>
              </a:defRPr>
            </a:lvl4pPr>
            <a:lvl5pPr marL="2057400" indent="-228600" eaLnBrk="0" hangingPunct="0">
              <a:defRPr sz="4000">
                <a:solidFill>
                  <a:schemeClr val="tx1"/>
                </a:solidFill>
                <a:latin typeface="Arial" charset="0"/>
                <a:ea typeface="黑体" charset="0"/>
                <a:cs typeface="黑体" charset="0"/>
              </a:defRPr>
            </a:lvl5pPr>
            <a:lvl6pPr marL="2514600" indent="-228600" algn="ctr" eaLnBrk="0" fontAlgn="base" hangingPunct="0">
              <a:spcBef>
                <a:spcPct val="0"/>
              </a:spcBef>
              <a:spcAft>
                <a:spcPct val="0"/>
              </a:spcAft>
              <a:defRPr sz="4000">
                <a:solidFill>
                  <a:schemeClr val="tx1"/>
                </a:solidFill>
                <a:latin typeface="Arial" charset="0"/>
                <a:ea typeface="黑体" charset="0"/>
                <a:cs typeface="黑体" charset="0"/>
              </a:defRPr>
            </a:lvl6pPr>
            <a:lvl7pPr marL="2971800" indent="-228600" algn="ctr" eaLnBrk="0" fontAlgn="base" hangingPunct="0">
              <a:spcBef>
                <a:spcPct val="0"/>
              </a:spcBef>
              <a:spcAft>
                <a:spcPct val="0"/>
              </a:spcAft>
              <a:defRPr sz="4000">
                <a:solidFill>
                  <a:schemeClr val="tx1"/>
                </a:solidFill>
                <a:latin typeface="Arial" charset="0"/>
                <a:ea typeface="黑体" charset="0"/>
                <a:cs typeface="黑体" charset="0"/>
              </a:defRPr>
            </a:lvl7pPr>
            <a:lvl8pPr marL="3429000" indent="-228600" algn="ctr" eaLnBrk="0" fontAlgn="base" hangingPunct="0">
              <a:spcBef>
                <a:spcPct val="0"/>
              </a:spcBef>
              <a:spcAft>
                <a:spcPct val="0"/>
              </a:spcAft>
              <a:defRPr sz="4000">
                <a:solidFill>
                  <a:schemeClr val="tx1"/>
                </a:solidFill>
                <a:latin typeface="Arial" charset="0"/>
                <a:ea typeface="黑体" charset="0"/>
                <a:cs typeface="黑体" charset="0"/>
              </a:defRPr>
            </a:lvl8pPr>
            <a:lvl9pPr marL="3886200" indent="-228600" algn="ctr" eaLnBrk="0" fontAlgn="base" hangingPunct="0">
              <a:spcBef>
                <a:spcPct val="0"/>
              </a:spcBef>
              <a:spcAft>
                <a:spcPct val="0"/>
              </a:spcAft>
              <a:defRPr sz="4000">
                <a:solidFill>
                  <a:schemeClr val="tx1"/>
                </a:solidFill>
                <a:latin typeface="Arial" charset="0"/>
                <a:ea typeface="黑体" charset="0"/>
                <a:cs typeface="黑体" charset="0"/>
              </a:defRPr>
            </a:lvl9pPr>
          </a:lstStyle>
          <a:p>
            <a:pPr algn="r" eaLnBrk="1" hangingPunct="1"/>
            <a:fld id="{36CCAFA8-2227-A345-A2A4-31A34F632E3D}" type="slidenum">
              <a:rPr lang="zh-CN" altLang="en-US" sz="1600" b="1">
                <a:ea typeface="宋体" charset="0"/>
                <a:cs typeface="宋体" charset="0"/>
              </a:rPr>
              <a:pPr algn="r" eaLnBrk="1" hangingPunct="1"/>
              <a:t>66</a:t>
            </a:fld>
            <a:endParaRPr lang="en-US" altLang="zh-CN" sz="1600" b="1">
              <a:ea typeface="宋体" charset="0"/>
              <a:cs typeface="宋体" charset="0"/>
            </a:endParaRPr>
          </a:p>
        </p:txBody>
      </p:sp>
      <p:sp>
        <p:nvSpPr>
          <p:cNvPr id="118789" name="Rectangle 5"/>
          <p:cNvSpPr>
            <a:spLocks noChangeArrowheads="1"/>
          </p:cNvSpPr>
          <p:nvPr/>
        </p:nvSpPr>
        <p:spPr bwMode="auto">
          <a:xfrm>
            <a:off x="1042988" y="381000"/>
            <a:ext cx="7780337" cy="519113"/>
          </a:xfrm>
          <a:prstGeom prst="rect">
            <a:avLst/>
          </a:prstGeom>
          <a:noFill/>
          <a:ln>
            <a:noFill/>
          </a:ln>
          <a:effectLst>
            <a:prstShdw prst="shdw12">
              <a:srgbClr val="080808">
                <a:alpha val="50000"/>
              </a:srgbClr>
            </a:prst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FFFFFF"/>
                </a:solidFill>
                <a:miter lim="800000"/>
                <a:headEnd/>
                <a:tailEnd/>
              </a14:hiddenLine>
            </a:ext>
          </a:extLst>
        </p:spPr>
        <p:txBody>
          <a:bodyPr anchor="ctr">
            <a:spAutoFit/>
          </a:bodyPr>
          <a:lstStyle/>
          <a:p>
            <a:pPr algn="l" eaLnBrk="0" hangingPunct="0"/>
            <a:r>
              <a:rPr lang="en-US" altLang="zh-CN" sz="2800" b="1" dirty="0"/>
              <a:t>2</a:t>
            </a:r>
            <a:r>
              <a:rPr lang="zh-CN" altLang="en-US" sz="2800" b="1" dirty="0"/>
              <a:t>、产品发展阶段，成长期</a:t>
            </a:r>
            <a:endParaRPr lang="en-US" altLang="zh-CN" sz="2800" b="1" dirty="0"/>
          </a:p>
        </p:txBody>
      </p:sp>
      <p:graphicFrame>
        <p:nvGraphicFramePr>
          <p:cNvPr id="118790" name="Group 6"/>
          <p:cNvGraphicFramePr>
            <a:graphicFrameLocks noGrp="1"/>
          </p:cNvGraphicFramePr>
          <p:nvPr>
            <p:extLst>
              <p:ext uri="{D42A27DB-BD31-4B8C-83A1-F6EECF244321}">
                <p14:modId xmlns:p14="http://schemas.microsoft.com/office/powerpoint/2010/main" val="1172711041"/>
              </p:ext>
            </p:extLst>
          </p:nvPr>
        </p:nvGraphicFramePr>
        <p:xfrm>
          <a:off x="1043608" y="1412776"/>
          <a:ext cx="7677150" cy="4547871"/>
        </p:xfrm>
        <a:graphic>
          <a:graphicData uri="http://schemas.openxmlformats.org/drawingml/2006/table">
            <a:tbl>
              <a:tblPr/>
              <a:tblGrid>
                <a:gridCol w="2444750">
                  <a:extLst>
                    <a:ext uri="{9D8B030D-6E8A-4147-A177-3AD203B41FA5}">
                      <a16:colId xmlns:a16="http://schemas.microsoft.com/office/drawing/2014/main" val="20000"/>
                    </a:ext>
                  </a:extLst>
                </a:gridCol>
                <a:gridCol w="5232400">
                  <a:extLst>
                    <a:ext uri="{9D8B030D-6E8A-4147-A177-3AD203B41FA5}">
                      <a16:colId xmlns:a16="http://schemas.microsoft.com/office/drawing/2014/main" val="20001"/>
                    </a:ext>
                  </a:extLst>
                </a:gridCol>
              </a:tblGrid>
              <a:tr h="508000">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FFFFFF"/>
                          </a:solidFill>
                          <a:effectLst/>
                          <a:latin typeface="Arial" charset="0"/>
                          <a:ea typeface="宋体" charset="0"/>
                          <a:cs typeface="宋体" charset="0"/>
                        </a:rPr>
                        <a:t>技术特性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accent6">
                              <a:lumMod val="75000"/>
                            </a:schemeClr>
                          </a:solidFill>
                          <a:effectLst/>
                          <a:latin typeface="Arial" charset="0"/>
                          <a:ea typeface="宋体" charset="0"/>
                          <a:cs typeface="宋体" charset="0"/>
                        </a:rPr>
                        <a:t>生产技术定型，技术诀窍扩散竞争开始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544513">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FFFFFF"/>
                          </a:solidFill>
                          <a:effectLst/>
                          <a:latin typeface="Arial" charset="0"/>
                          <a:ea typeface="宋体" charset="0"/>
                          <a:cs typeface="宋体" charset="0"/>
                        </a:rPr>
                        <a:t>生产特性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accent6">
                              <a:lumMod val="75000"/>
                            </a:schemeClr>
                          </a:solidFill>
                          <a:effectLst/>
                          <a:latin typeface="Arial" charset="0"/>
                          <a:ea typeface="宋体" charset="0"/>
                          <a:cs typeface="宋体" charset="0"/>
                        </a:rPr>
                        <a:t>批量生产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82232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FFFFFF"/>
                          </a:solidFill>
                          <a:effectLst/>
                          <a:latin typeface="Arial" charset="0"/>
                          <a:ea typeface="宋体" charset="0"/>
                          <a:cs typeface="宋体" charset="0"/>
                        </a:rPr>
                        <a:t>产品要素特性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accent6">
                              <a:lumMod val="75000"/>
                            </a:schemeClr>
                          </a:solidFill>
                          <a:effectLst/>
                          <a:latin typeface="Arial" charset="0"/>
                          <a:ea typeface="宋体" charset="0"/>
                          <a:cs typeface="宋体" charset="0"/>
                        </a:rPr>
                        <a:t>半熟练劳动力，产品由技术密集型转变为资本密集型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56832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a:ln>
                            <a:noFill/>
                          </a:ln>
                          <a:solidFill>
                            <a:srgbClr val="FFFFFF"/>
                          </a:solidFill>
                          <a:effectLst/>
                          <a:latin typeface="Arial" charset="0"/>
                          <a:ea typeface="宋体" charset="0"/>
                          <a:cs typeface="宋体" charset="0"/>
                        </a:rPr>
                        <a:t>成本特性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accent6">
                              <a:lumMod val="75000"/>
                            </a:schemeClr>
                          </a:solidFill>
                          <a:effectLst/>
                          <a:latin typeface="Arial" charset="0"/>
                          <a:ea typeface="宋体" charset="0"/>
                          <a:cs typeface="宋体" charset="0"/>
                        </a:rPr>
                        <a:t>成本大幅度降低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658813">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a:ln>
                            <a:noFill/>
                          </a:ln>
                          <a:solidFill>
                            <a:srgbClr val="FFFFFF"/>
                          </a:solidFill>
                          <a:effectLst/>
                          <a:latin typeface="Arial" charset="0"/>
                          <a:ea typeface="宋体" charset="0"/>
                          <a:cs typeface="宋体" charset="0"/>
                        </a:rPr>
                        <a:t>价格特性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accent6">
                              <a:lumMod val="75000"/>
                            </a:schemeClr>
                          </a:solidFill>
                          <a:effectLst/>
                          <a:latin typeface="Arial" charset="0"/>
                          <a:ea typeface="宋体" charset="0"/>
                          <a:cs typeface="宋体" charset="0"/>
                        </a:rPr>
                        <a:t>降低价格扩大销路</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1130300">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FFFFFF"/>
                          </a:solidFill>
                          <a:effectLst/>
                          <a:latin typeface="Arial" charset="0"/>
                          <a:ea typeface="宋体" charset="0"/>
                          <a:cs typeface="宋体" charset="0"/>
                        </a:rPr>
                        <a:t>财务特性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accent6">
                              <a:lumMod val="75000"/>
                            </a:schemeClr>
                          </a:solidFill>
                          <a:effectLst/>
                          <a:latin typeface="Arial" charset="0"/>
                          <a:ea typeface="宋体" charset="0"/>
                          <a:cs typeface="宋体" charset="0"/>
                        </a:rPr>
                        <a:t>开始盈利</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5639666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灯片编号占位符 3"/>
          <p:cNvSpPr txBox="1">
            <a:spLocks noGrp="1"/>
          </p:cNvSpPr>
          <p:nvPr/>
        </p:nvSpPr>
        <p:spPr bwMode="auto">
          <a:xfrm>
            <a:off x="8482013" y="6573838"/>
            <a:ext cx="661987" cy="241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4000">
                <a:solidFill>
                  <a:schemeClr val="tx1"/>
                </a:solidFill>
                <a:latin typeface="Arial" charset="0"/>
                <a:ea typeface="黑体" charset="0"/>
                <a:cs typeface="黑体" charset="0"/>
              </a:defRPr>
            </a:lvl1pPr>
            <a:lvl2pPr marL="742950" indent="-285750" eaLnBrk="0" hangingPunct="0">
              <a:defRPr sz="4000">
                <a:solidFill>
                  <a:schemeClr val="tx1"/>
                </a:solidFill>
                <a:latin typeface="Arial" charset="0"/>
                <a:ea typeface="黑体" charset="0"/>
                <a:cs typeface="黑体" charset="0"/>
              </a:defRPr>
            </a:lvl2pPr>
            <a:lvl3pPr marL="1143000" indent="-228600" eaLnBrk="0" hangingPunct="0">
              <a:defRPr sz="4000">
                <a:solidFill>
                  <a:schemeClr val="tx1"/>
                </a:solidFill>
                <a:latin typeface="Arial" charset="0"/>
                <a:ea typeface="黑体" charset="0"/>
                <a:cs typeface="黑体" charset="0"/>
              </a:defRPr>
            </a:lvl3pPr>
            <a:lvl4pPr marL="1600200" indent="-228600" eaLnBrk="0" hangingPunct="0">
              <a:defRPr sz="4000">
                <a:solidFill>
                  <a:schemeClr val="tx1"/>
                </a:solidFill>
                <a:latin typeface="Arial" charset="0"/>
                <a:ea typeface="黑体" charset="0"/>
                <a:cs typeface="黑体" charset="0"/>
              </a:defRPr>
            </a:lvl4pPr>
            <a:lvl5pPr marL="2057400" indent="-228600" eaLnBrk="0" hangingPunct="0">
              <a:defRPr sz="4000">
                <a:solidFill>
                  <a:schemeClr val="tx1"/>
                </a:solidFill>
                <a:latin typeface="Arial" charset="0"/>
                <a:ea typeface="黑体" charset="0"/>
                <a:cs typeface="黑体" charset="0"/>
              </a:defRPr>
            </a:lvl5pPr>
            <a:lvl6pPr marL="2514600" indent="-228600" algn="ctr" eaLnBrk="0" fontAlgn="base" hangingPunct="0">
              <a:spcBef>
                <a:spcPct val="0"/>
              </a:spcBef>
              <a:spcAft>
                <a:spcPct val="0"/>
              </a:spcAft>
              <a:defRPr sz="4000">
                <a:solidFill>
                  <a:schemeClr val="tx1"/>
                </a:solidFill>
                <a:latin typeface="Arial" charset="0"/>
                <a:ea typeface="黑体" charset="0"/>
                <a:cs typeface="黑体" charset="0"/>
              </a:defRPr>
            </a:lvl6pPr>
            <a:lvl7pPr marL="2971800" indent="-228600" algn="ctr" eaLnBrk="0" fontAlgn="base" hangingPunct="0">
              <a:spcBef>
                <a:spcPct val="0"/>
              </a:spcBef>
              <a:spcAft>
                <a:spcPct val="0"/>
              </a:spcAft>
              <a:defRPr sz="4000">
                <a:solidFill>
                  <a:schemeClr val="tx1"/>
                </a:solidFill>
                <a:latin typeface="Arial" charset="0"/>
                <a:ea typeface="黑体" charset="0"/>
                <a:cs typeface="黑体" charset="0"/>
              </a:defRPr>
            </a:lvl7pPr>
            <a:lvl8pPr marL="3429000" indent="-228600" algn="ctr" eaLnBrk="0" fontAlgn="base" hangingPunct="0">
              <a:spcBef>
                <a:spcPct val="0"/>
              </a:spcBef>
              <a:spcAft>
                <a:spcPct val="0"/>
              </a:spcAft>
              <a:defRPr sz="4000">
                <a:solidFill>
                  <a:schemeClr val="tx1"/>
                </a:solidFill>
                <a:latin typeface="Arial" charset="0"/>
                <a:ea typeface="黑体" charset="0"/>
                <a:cs typeface="黑体" charset="0"/>
              </a:defRPr>
            </a:lvl8pPr>
            <a:lvl9pPr marL="3886200" indent="-228600" algn="ctr" eaLnBrk="0" fontAlgn="base" hangingPunct="0">
              <a:spcBef>
                <a:spcPct val="0"/>
              </a:spcBef>
              <a:spcAft>
                <a:spcPct val="0"/>
              </a:spcAft>
              <a:defRPr sz="4000">
                <a:solidFill>
                  <a:schemeClr val="tx1"/>
                </a:solidFill>
                <a:latin typeface="Arial" charset="0"/>
                <a:ea typeface="黑体" charset="0"/>
                <a:cs typeface="黑体" charset="0"/>
              </a:defRPr>
            </a:lvl9pPr>
          </a:lstStyle>
          <a:p>
            <a:pPr algn="r" eaLnBrk="1" hangingPunct="1"/>
            <a:fld id="{3B6788B6-D528-8B46-8900-AB59E43A9041}" type="slidenum">
              <a:rPr lang="zh-CN" altLang="en-US" sz="1600" b="1">
                <a:ea typeface="宋体" charset="0"/>
                <a:cs typeface="宋体" charset="0"/>
              </a:rPr>
              <a:pPr algn="r" eaLnBrk="1" hangingPunct="1"/>
              <a:t>67</a:t>
            </a:fld>
            <a:endParaRPr lang="en-US" altLang="zh-CN" sz="1600" b="1">
              <a:ea typeface="宋体" charset="0"/>
              <a:cs typeface="宋体" charset="0"/>
            </a:endParaRPr>
          </a:p>
        </p:txBody>
      </p:sp>
      <p:sp>
        <p:nvSpPr>
          <p:cNvPr id="119813" name="Rectangle 5"/>
          <p:cNvSpPr>
            <a:spLocks noChangeArrowheads="1"/>
          </p:cNvSpPr>
          <p:nvPr/>
        </p:nvSpPr>
        <p:spPr bwMode="auto">
          <a:xfrm>
            <a:off x="1058863" y="100013"/>
            <a:ext cx="7461250" cy="946150"/>
          </a:xfrm>
          <a:prstGeom prst="rect">
            <a:avLst/>
          </a:prstGeom>
          <a:noFill/>
          <a:ln>
            <a:noFill/>
          </a:ln>
          <a:effectLst>
            <a:prstShdw prst="shdw12">
              <a:srgbClr val="080808">
                <a:alpha val="50000"/>
              </a:srgbClr>
            </a:prst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FFFFFF"/>
                </a:solidFill>
                <a:miter lim="800000"/>
                <a:headEnd/>
                <a:tailEnd/>
              </a14:hiddenLine>
            </a:ext>
          </a:extLst>
        </p:spPr>
        <p:txBody>
          <a:bodyPr anchor="ctr">
            <a:spAutoFit/>
          </a:bodyPr>
          <a:lstStyle/>
          <a:p>
            <a:pPr algn="l" eaLnBrk="0" hangingPunct="0"/>
            <a:r>
              <a:rPr lang="en-US" altLang="zh-CN" sz="2800" b="1" dirty="0"/>
              <a:t>3</a:t>
            </a:r>
            <a:r>
              <a:rPr lang="zh-CN" altLang="en-US" sz="2800" b="1" dirty="0"/>
              <a:t>、产品标准化阶段 </a:t>
            </a:r>
            <a:r>
              <a:rPr lang="en-US" altLang="zh-CN" sz="2800" b="1" dirty="0"/>
              <a:t>(The Phase of Standardization</a:t>
            </a:r>
            <a:r>
              <a:rPr lang="zh-CN" altLang="en-US" sz="2800" b="1" dirty="0"/>
              <a:t>，成熟期</a:t>
            </a:r>
            <a:r>
              <a:rPr lang="en-US" altLang="zh-CN" sz="2800" b="1" dirty="0"/>
              <a:t>)</a:t>
            </a:r>
          </a:p>
        </p:txBody>
      </p:sp>
      <p:graphicFrame>
        <p:nvGraphicFramePr>
          <p:cNvPr id="119814" name="Group 6"/>
          <p:cNvGraphicFramePr>
            <a:graphicFrameLocks noGrp="1"/>
          </p:cNvGraphicFramePr>
          <p:nvPr>
            <p:extLst>
              <p:ext uri="{D42A27DB-BD31-4B8C-83A1-F6EECF244321}">
                <p14:modId xmlns:p14="http://schemas.microsoft.com/office/powerpoint/2010/main" val="2280654092"/>
              </p:ext>
            </p:extLst>
          </p:nvPr>
        </p:nvGraphicFramePr>
        <p:xfrm>
          <a:off x="1114425" y="1431925"/>
          <a:ext cx="7721600" cy="3971925"/>
        </p:xfrm>
        <a:graphic>
          <a:graphicData uri="http://schemas.openxmlformats.org/drawingml/2006/table">
            <a:tbl>
              <a:tblPr/>
              <a:tblGrid>
                <a:gridCol w="2398713">
                  <a:extLst>
                    <a:ext uri="{9D8B030D-6E8A-4147-A177-3AD203B41FA5}">
                      <a16:colId xmlns:a16="http://schemas.microsoft.com/office/drawing/2014/main" val="20000"/>
                    </a:ext>
                  </a:extLst>
                </a:gridCol>
                <a:gridCol w="5322887">
                  <a:extLst>
                    <a:ext uri="{9D8B030D-6E8A-4147-A177-3AD203B41FA5}">
                      <a16:colId xmlns:a16="http://schemas.microsoft.com/office/drawing/2014/main" val="20001"/>
                    </a:ext>
                  </a:extLst>
                </a:gridCol>
              </a:tblGrid>
              <a:tr h="508000">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Arial" charset="0"/>
                          <a:ea typeface="宋体" charset="0"/>
                          <a:cs typeface="宋体" charset="0"/>
                        </a:rPr>
                        <a:t>技术特性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CF6868"/>
                          </a:solidFill>
                          <a:effectLst/>
                          <a:latin typeface="Arial" charset="0"/>
                          <a:ea typeface="宋体" charset="0"/>
                          <a:cs typeface="宋体" charset="0"/>
                        </a:rPr>
                        <a:t>产品已完全标准化，完全掌握技术</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57467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Arial" charset="0"/>
                          <a:ea typeface="宋体" charset="0"/>
                          <a:cs typeface="宋体" charset="0"/>
                        </a:rPr>
                        <a:t>生产特性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CF6868"/>
                          </a:solidFill>
                          <a:effectLst/>
                          <a:latin typeface="Arial" charset="0"/>
                          <a:ea typeface="宋体" charset="0"/>
                          <a:cs typeface="宋体" charset="0"/>
                        </a:rPr>
                        <a:t>大批量生产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1"/>
                  </a:ext>
                </a:extLst>
              </a:tr>
              <a:tr h="654050">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Arial" charset="0"/>
                          <a:ea typeface="宋体" charset="0"/>
                          <a:cs typeface="宋体" charset="0"/>
                        </a:rPr>
                        <a:t>产品要素特性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sz="2400" b="1" i="0" u="none" strike="noStrike" cap="none" normalizeH="0" baseline="0">
                          <a:ln>
                            <a:noFill/>
                          </a:ln>
                          <a:solidFill>
                            <a:srgbClr val="CF6868"/>
                          </a:solidFill>
                          <a:effectLst/>
                          <a:latin typeface="Arial" charset="0"/>
                          <a:ea typeface="宋体" charset="0"/>
                          <a:cs typeface="宋体" charset="0"/>
                        </a:rPr>
                        <a:t>劳动密集型产品</a:t>
                      </a:r>
                      <a:r>
                        <a:rPr kumimoji="0" lang="zh-CN" altLang="en-US" sz="2400" b="1" i="0" u="none" strike="noStrike" cap="none" normalizeH="0" baseline="0">
                          <a:ln>
                            <a:noFill/>
                          </a:ln>
                          <a:solidFill>
                            <a:srgbClr val="CF6868"/>
                          </a:solidFill>
                          <a:effectLst/>
                          <a:latin typeface="Arial" charset="0"/>
                          <a:ea typeface="宋体" charset="0"/>
                          <a:cs typeface="宋体"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2"/>
                  </a:ext>
                </a:extLst>
              </a:tr>
              <a:tr h="60007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a:ln>
                            <a:noFill/>
                          </a:ln>
                          <a:solidFill>
                            <a:schemeClr val="tx1"/>
                          </a:solidFill>
                          <a:effectLst/>
                          <a:latin typeface="Arial" charset="0"/>
                          <a:ea typeface="宋体" charset="0"/>
                          <a:cs typeface="宋体" charset="0"/>
                        </a:rPr>
                        <a:t>成本特性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a:ln>
                            <a:noFill/>
                          </a:ln>
                          <a:solidFill>
                            <a:srgbClr val="CF6868"/>
                          </a:solidFill>
                          <a:effectLst/>
                          <a:latin typeface="Arial" charset="0"/>
                          <a:ea typeface="宋体" charset="0"/>
                          <a:cs typeface="宋体" charset="0"/>
                        </a:rPr>
                        <a:t>产品成本开始下降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3"/>
                  </a:ext>
                </a:extLst>
              </a:tr>
              <a:tr h="711200">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Arial" charset="0"/>
                          <a:ea typeface="宋体" charset="0"/>
                          <a:cs typeface="宋体" charset="0"/>
                        </a:rPr>
                        <a:t>价格特性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CF6868"/>
                          </a:solidFill>
                          <a:effectLst/>
                          <a:latin typeface="Arial" charset="0"/>
                          <a:ea typeface="宋体" charset="0"/>
                          <a:cs typeface="宋体" charset="0"/>
                        </a:rPr>
                        <a:t>价格大众化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4"/>
                  </a:ext>
                </a:extLst>
              </a:tr>
              <a:tr h="923925">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chemeClr val="tx1"/>
                          </a:solidFill>
                          <a:effectLst/>
                          <a:latin typeface="Arial" charset="0"/>
                          <a:ea typeface="宋体" charset="0"/>
                          <a:cs typeface="宋体" charset="0"/>
                        </a:rPr>
                        <a:t>财务特性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85000"/>
                        <a:buFont typeface="Wingdings" charset="0"/>
                        <a:buNone/>
                        <a:tabLst/>
                      </a:pPr>
                      <a:r>
                        <a:rPr kumimoji="0" lang="zh-CN" altLang="en-US" sz="2400" b="1" i="0" u="none" strike="noStrike" cap="none" normalizeH="0" baseline="0" dirty="0">
                          <a:ln>
                            <a:noFill/>
                          </a:ln>
                          <a:solidFill>
                            <a:srgbClr val="CF6868"/>
                          </a:solidFill>
                          <a:effectLst/>
                          <a:latin typeface="Arial" charset="0"/>
                          <a:ea typeface="宋体" charset="0"/>
                          <a:cs typeface="宋体" charset="0"/>
                        </a:rPr>
                        <a:t>盈利</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958731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11560" y="332656"/>
            <a:ext cx="8229600" cy="1143000"/>
          </a:xfrm>
        </p:spPr>
        <p:txBody>
          <a:bodyPr/>
          <a:lstStyle/>
          <a:p>
            <a:r>
              <a:rPr lang="zh-CN" altLang="en-US" sz="3600" dirty="0">
                <a:solidFill>
                  <a:schemeClr val="tx1"/>
                </a:solidFill>
                <a:latin typeface="华文细黑" pitchFamily="2" charset="-122"/>
                <a:ea typeface="华文细黑" pitchFamily="2" charset="-122"/>
              </a:rPr>
              <a:t>引入期市场策略</a:t>
            </a:r>
          </a:p>
        </p:txBody>
      </p:sp>
      <p:sp>
        <p:nvSpPr>
          <p:cNvPr id="46083" name="Rectangle 3"/>
          <p:cNvSpPr>
            <a:spLocks noGrp="1" noChangeArrowheads="1"/>
          </p:cNvSpPr>
          <p:nvPr>
            <p:ph type="body" idx="1"/>
          </p:nvPr>
        </p:nvSpPr>
        <p:spPr>
          <a:xfrm>
            <a:off x="611560" y="1628800"/>
            <a:ext cx="8229600" cy="4525963"/>
          </a:xfrm>
        </p:spPr>
        <p:txBody>
          <a:bodyPr/>
          <a:lstStyle/>
          <a:p>
            <a:pPr>
              <a:lnSpc>
                <a:spcPct val="90000"/>
              </a:lnSpc>
            </a:pPr>
            <a:r>
              <a:rPr lang="zh-CN" altLang="en-US" u="sng" dirty="0">
                <a:solidFill>
                  <a:srgbClr val="FF0000"/>
                </a:solidFill>
              </a:rPr>
              <a:t>引入期</a:t>
            </a:r>
            <a:r>
              <a:rPr lang="zh-CN" altLang="en-US" sz="2400" dirty="0"/>
              <a:t>：产品刚刚投入市场，不稳定，需改进，生产量小，成本高，损耗大，消费者对产品仍有待适应。</a:t>
            </a:r>
          </a:p>
          <a:p>
            <a:pPr>
              <a:lnSpc>
                <a:spcPct val="90000"/>
              </a:lnSpc>
            </a:pPr>
            <a:endParaRPr lang="zh-CN" altLang="en-US" sz="2400" dirty="0"/>
          </a:p>
          <a:p>
            <a:pPr>
              <a:lnSpc>
                <a:spcPct val="90000"/>
              </a:lnSpc>
            </a:pPr>
            <a:r>
              <a:rPr lang="zh-CN" altLang="en-US" sz="2400" dirty="0"/>
              <a:t>市场策略：</a:t>
            </a:r>
            <a:r>
              <a:rPr lang="en-US" altLang="zh-CN" sz="2400" dirty="0">
                <a:latin typeface="华文细黑" pitchFamily="2" charset="-122"/>
                <a:ea typeface="华文细黑" pitchFamily="2" charset="-122"/>
              </a:rPr>
              <a:t>——</a:t>
            </a:r>
            <a:r>
              <a:rPr lang="zh-CN" altLang="en-US" dirty="0">
                <a:solidFill>
                  <a:srgbClr val="FF0000"/>
                </a:solidFill>
                <a:latin typeface="华文细黑" pitchFamily="2" charset="-122"/>
                <a:ea typeface="华文细黑" pitchFamily="2" charset="-122"/>
              </a:rPr>
              <a:t>快</a:t>
            </a:r>
            <a:endParaRPr lang="zh-CN" altLang="en-US" sz="2400" dirty="0">
              <a:solidFill>
                <a:srgbClr val="FF0000"/>
              </a:solidFill>
            </a:endParaRPr>
          </a:p>
          <a:p>
            <a:pPr lvl="1">
              <a:lnSpc>
                <a:spcPct val="90000"/>
              </a:lnSpc>
            </a:pPr>
            <a:r>
              <a:rPr lang="zh-CN" altLang="en-US" sz="1800" dirty="0"/>
              <a:t>高价快速策略。（采取高价格的同时，配合大量的宣传推销活动，把新产品推入市场。 ）</a:t>
            </a:r>
          </a:p>
          <a:p>
            <a:pPr lvl="1">
              <a:lnSpc>
                <a:spcPct val="90000"/>
              </a:lnSpc>
            </a:pPr>
            <a:r>
              <a:rPr lang="zh-CN" altLang="en-US" sz="1800" dirty="0"/>
              <a:t>选择渗透战略。 （在采用高价格的同时，只用很少的促销努力。 ）</a:t>
            </a:r>
          </a:p>
          <a:p>
            <a:pPr lvl="1">
              <a:lnSpc>
                <a:spcPct val="90000"/>
              </a:lnSpc>
            </a:pPr>
            <a:r>
              <a:rPr lang="zh-CN" altLang="en-US" sz="1800" dirty="0"/>
              <a:t>低价快速策略 。（在采用低价格的同时做出巨大的促销努力。 ）</a:t>
            </a:r>
          </a:p>
          <a:p>
            <a:pPr lvl="1">
              <a:lnSpc>
                <a:spcPct val="90000"/>
              </a:lnSpc>
            </a:pPr>
            <a:r>
              <a:rPr lang="zh-CN" altLang="en-US" sz="1800" dirty="0"/>
              <a:t>缓慢渗透策略。（在新产品进入市场时采取低价格，同时不做大的促销努力。 ）</a:t>
            </a:r>
          </a:p>
          <a:p>
            <a:pPr>
              <a:lnSpc>
                <a:spcPct val="90000"/>
              </a:lnSpc>
            </a:pPr>
            <a:r>
              <a:rPr lang="zh-CN" altLang="en-US" sz="2400" dirty="0"/>
              <a:t>常用的是宣传、介绍、快速进入市场并站稳脚跟。</a:t>
            </a:r>
          </a:p>
          <a:p>
            <a:pPr>
              <a:lnSpc>
                <a:spcPct val="90000"/>
              </a:lnSpc>
            </a:pPr>
            <a:endParaRPr lang="en-US" altLang="zh-CN" sz="2400" dirty="0"/>
          </a:p>
        </p:txBody>
      </p:sp>
    </p:spTree>
    <p:extLst>
      <p:ext uri="{BB962C8B-B14F-4D97-AF65-F5344CB8AC3E}">
        <p14:creationId xmlns:p14="http://schemas.microsoft.com/office/powerpoint/2010/main" val="37934010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a:t>引入期产品：电动汽车</a:t>
            </a:r>
          </a:p>
        </p:txBody>
      </p:sp>
      <p:pic>
        <p:nvPicPr>
          <p:cNvPr id="47107" name="Picture 3" descr="W020090914360557031352"/>
          <p:cNvPicPr>
            <a:picLocks noChangeAspect="1" noChangeArrowheads="1"/>
          </p:cNvPicPr>
          <p:nvPr/>
        </p:nvPicPr>
        <p:blipFill>
          <a:blip r:embed="rId2" cstate="print"/>
          <a:srcRect/>
          <a:stretch>
            <a:fillRect/>
          </a:stretch>
        </p:blipFill>
        <p:spPr bwMode="auto">
          <a:xfrm>
            <a:off x="609600" y="1676400"/>
            <a:ext cx="3798888" cy="2530475"/>
          </a:xfrm>
          <a:prstGeom prst="rect">
            <a:avLst/>
          </a:prstGeom>
          <a:noFill/>
          <a:ln w="9525">
            <a:noFill/>
            <a:miter lim="800000"/>
            <a:headEnd/>
            <a:tailEnd/>
          </a:ln>
        </p:spPr>
      </p:pic>
      <p:pic>
        <p:nvPicPr>
          <p:cNvPr id="47108" name="Picture 4" descr="12524026951948"/>
          <p:cNvPicPr>
            <a:picLocks noChangeAspect="1" noChangeArrowheads="1"/>
          </p:cNvPicPr>
          <p:nvPr/>
        </p:nvPicPr>
        <p:blipFill>
          <a:blip r:embed="rId3" cstate="print"/>
          <a:srcRect/>
          <a:stretch>
            <a:fillRect/>
          </a:stretch>
        </p:blipFill>
        <p:spPr bwMode="auto">
          <a:xfrm>
            <a:off x="4572000" y="2286000"/>
            <a:ext cx="4129088" cy="2732088"/>
          </a:xfrm>
          <a:prstGeom prst="rect">
            <a:avLst/>
          </a:prstGeom>
          <a:noFill/>
          <a:ln w="9525">
            <a:noFill/>
            <a:miter lim="800000"/>
            <a:headEnd/>
            <a:tailEnd/>
          </a:ln>
        </p:spPr>
      </p:pic>
      <p:pic>
        <p:nvPicPr>
          <p:cNvPr id="47109" name="Picture 5" descr="1224578758_48fd96c64899e"/>
          <p:cNvPicPr>
            <a:picLocks noChangeAspect="1" noChangeArrowheads="1"/>
          </p:cNvPicPr>
          <p:nvPr/>
        </p:nvPicPr>
        <p:blipFill>
          <a:blip r:embed="rId4" cstate="print"/>
          <a:srcRect/>
          <a:stretch>
            <a:fillRect/>
          </a:stretch>
        </p:blipFill>
        <p:spPr bwMode="auto">
          <a:xfrm>
            <a:off x="609600" y="4267200"/>
            <a:ext cx="3810000" cy="2266950"/>
          </a:xfrm>
          <a:prstGeom prst="rect">
            <a:avLst/>
          </a:prstGeom>
          <a:noFill/>
          <a:ln w="9525">
            <a:noFill/>
            <a:miter lim="800000"/>
            <a:headEnd/>
            <a:tailEnd/>
          </a:ln>
        </p:spPr>
      </p:pic>
    </p:spTree>
    <p:extLst>
      <p:ext uri="{BB962C8B-B14F-4D97-AF65-F5344CB8AC3E}">
        <p14:creationId xmlns:p14="http://schemas.microsoft.com/office/powerpoint/2010/main" val="19432741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304800" y="457200"/>
            <a:ext cx="8540750" cy="1143000"/>
          </a:xfrm>
        </p:spPr>
        <p:txBody>
          <a:bodyPr/>
          <a:lstStyle/>
          <a:p>
            <a:r>
              <a:rPr lang="zh-CN" altLang="en-US"/>
              <a:t>引入期产品：万用拼词包装纸</a:t>
            </a:r>
          </a:p>
        </p:txBody>
      </p:sp>
      <p:pic>
        <p:nvPicPr>
          <p:cNvPr id="49155" name="Picture 3" descr="1405086Vx"/>
          <p:cNvPicPr>
            <a:picLocks noGrp="1" noChangeAspect="1" noChangeArrowheads="1"/>
          </p:cNvPicPr>
          <p:nvPr>
            <p:ph sz="half" idx="1"/>
          </p:nvPr>
        </p:nvPicPr>
        <p:blipFill>
          <a:blip r:embed="rId2" cstate="print"/>
          <a:srcRect/>
          <a:stretch>
            <a:fillRect/>
          </a:stretch>
        </p:blipFill>
        <p:spPr>
          <a:xfrm>
            <a:off x="454025" y="2713038"/>
            <a:ext cx="4192588" cy="2493962"/>
          </a:xfrm>
          <a:noFill/>
          <a:ln/>
        </p:spPr>
      </p:pic>
      <p:pic>
        <p:nvPicPr>
          <p:cNvPr id="49156" name="Picture 4" descr="1405093e6"/>
          <p:cNvPicPr>
            <a:picLocks noGrp="1" noChangeAspect="1" noChangeArrowheads="1"/>
          </p:cNvPicPr>
          <p:nvPr>
            <p:ph sz="quarter" idx="2"/>
          </p:nvPr>
        </p:nvPicPr>
        <p:blipFill>
          <a:blip r:embed="rId3" cstate="print"/>
          <a:srcRect/>
          <a:stretch>
            <a:fillRect/>
          </a:stretch>
        </p:blipFill>
        <p:spPr>
          <a:xfrm>
            <a:off x="5105400" y="1381125"/>
            <a:ext cx="3040063" cy="2276475"/>
          </a:xfrm>
          <a:noFill/>
          <a:ln/>
        </p:spPr>
      </p:pic>
      <p:pic>
        <p:nvPicPr>
          <p:cNvPr id="49157" name="Picture 5" descr="140509V2R"/>
          <p:cNvPicPr>
            <a:picLocks noGrp="1" noChangeAspect="1" noChangeArrowheads="1"/>
          </p:cNvPicPr>
          <p:nvPr>
            <p:ph sz="quarter" idx="3"/>
          </p:nvPr>
        </p:nvPicPr>
        <p:blipFill>
          <a:blip r:embed="rId4" cstate="print"/>
          <a:srcRect/>
          <a:stretch>
            <a:fillRect/>
          </a:stretch>
        </p:blipFill>
        <p:spPr>
          <a:xfrm>
            <a:off x="4724400" y="3724275"/>
            <a:ext cx="3886200" cy="2905125"/>
          </a:xfrm>
          <a:noFill/>
          <a:ln/>
        </p:spPr>
      </p:pic>
    </p:spTree>
    <p:extLst>
      <p:ext uri="{BB962C8B-B14F-4D97-AF65-F5344CB8AC3E}">
        <p14:creationId xmlns:p14="http://schemas.microsoft.com/office/powerpoint/2010/main" val="26342539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67544" y="260648"/>
            <a:ext cx="8229600" cy="1143000"/>
          </a:xfrm>
        </p:spPr>
        <p:txBody>
          <a:bodyPr/>
          <a:lstStyle/>
          <a:p>
            <a:r>
              <a:rPr lang="zh-CN" altLang="en-US" sz="3600" dirty="0">
                <a:solidFill>
                  <a:schemeClr val="tx1"/>
                </a:solidFill>
                <a:latin typeface="华文细黑" pitchFamily="2" charset="-122"/>
                <a:ea typeface="华文细黑" pitchFamily="2" charset="-122"/>
              </a:rPr>
              <a:t>成长期策略</a:t>
            </a:r>
            <a:endParaRPr lang="zh-CN" altLang="en-US" sz="3600" dirty="0">
              <a:solidFill>
                <a:srgbClr val="000000"/>
              </a:solidFill>
              <a:latin typeface="华文细黑" pitchFamily="2" charset="-122"/>
              <a:ea typeface="华文细黑" pitchFamily="2" charset="-122"/>
            </a:endParaRPr>
          </a:p>
        </p:txBody>
      </p:sp>
      <p:sp>
        <p:nvSpPr>
          <p:cNvPr id="50179" name="Rectangle 3"/>
          <p:cNvSpPr>
            <a:spLocks noGrp="1" noChangeArrowheads="1"/>
          </p:cNvSpPr>
          <p:nvPr>
            <p:ph type="body" idx="1"/>
          </p:nvPr>
        </p:nvSpPr>
        <p:spPr>
          <a:xfrm>
            <a:off x="457200" y="1556792"/>
            <a:ext cx="8229600" cy="5018112"/>
          </a:xfrm>
        </p:spPr>
        <p:txBody>
          <a:bodyPr/>
          <a:lstStyle/>
          <a:p>
            <a:pPr>
              <a:lnSpc>
                <a:spcPct val="90000"/>
              </a:lnSpc>
            </a:pPr>
            <a:r>
              <a:rPr lang="zh-CN" altLang="en-US" sz="3600" dirty="0">
                <a:solidFill>
                  <a:srgbClr val="FF0000"/>
                </a:solidFill>
                <a:latin typeface="华文细黑" pitchFamily="2" charset="-122"/>
                <a:ea typeface="华文细黑" pitchFamily="2" charset="-122"/>
              </a:rPr>
              <a:t>成长期</a:t>
            </a:r>
            <a:r>
              <a:rPr lang="zh-CN" altLang="en-US" sz="2800" dirty="0">
                <a:latin typeface="华文细黑" pitchFamily="2" charset="-122"/>
                <a:ea typeface="华文细黑" pitchFamily="2" charset="-122"/>
              </a:rPr>
              <a:t>：产品定型，销量显著上升，利润增加，竞争者较少但逐渐增加。</a:t>
            </a:r>
          </a:p>
          <a:p>
            <a:pPr>
              <a:lnSpc>
                <a:spcPct val="90000"/>
              </a:lnSpc>
            </a:pPr>
            <a:r>
              <a:rPr lang="zh-CN" altLang="en-US" sz="2800" dirty="0">
                <a:latin typeface="华文细黑" pitchFamily="2" charset="-122"/>
                <a:ea typeface="华文细黑" pitchFamily="2" charset="-122"/>
              </a:rPr>
              <a:t>市场策略：</a:t>
            </a:r>
            <a:r>
              <a:rPr lang="en-US" sz="2800" dirty="0">
                <a:latin typeface="华文细黑" pitchFamily="2" charset="-122"/>
                <a:ea typeface="华文细黑" pitchFamily="2" charset="-122"/>
              </a:rPr>
              <a:t>——</a:t>
            </a:r>
            <a:r>
              <a:rPr lang="zh-CN" altLang="en-US" sz="3600" dirty="0">
                <a:solidFill>
                  <a:srgbClr val="FF0000"/>
                </a:solidFill>
                <a:latin typeface="华文细黑" pitchFamily="2" charset="-122"/>
                <a:ea typeface="华文细黑" pitchFamily="2" charset="-122"/>
              </a:rPr>
              <a:t>优</a:t>
            </a:r>
            <a:endParaRPr lang="zh-CN" altLang="en-US" sz="2800" dirty="0">
              <a:solidFill>
                <a:srgbClr val="FF0000"/>
              </a:solidFill>
              <a:latin typeface="华文细黑" pitchFamily="2" charset="-122"/>
              <a:ea typeface="华文细黑" pitchFamily="2" charset="-122"/>
            </a:endParaRPr>
          </a:p>
          <a:p>
            <a:pPr lvl="1">
              <a:lnSpc>
                <a:spcPct val="90000"/>
              </a:lnSpc>
            </a:pPr>
            <a:r>
              <a:rPr lang="zh-CN" altLang="en-US" sz="2200" dirty="0">
                <a:latin typeface="华文细黑" pitchFamily="2" charset="-122"/>
                <a:ea typeface="华文细黑" pitchFamily="2" charset="-122"/>
              </a:rPr>
              <a:t>加大基本建设或技术改造，迅速增加或者扩大生产批量。</a:t>
            </a:r>
          </a:p>
          <a:p>
            <a:pPr lvl="1">
              <a:lnSpc>
                <a:spcPct val="90000"/>
              </a:lnSpc>
            </a:pPr>
            <a:r>
              <a:rPr lang="zh-CN" altLang="en-US" sz="2200" dirty="0">
                <a:latin typeface="华文细黑" pitchFamily="2" charset="-122"/>
                <a:ea typeface="华文细黑" pitchFamily="2" charset="-122"/>
              </a:rPr>
              <a:t>改进商品质量，增加商品特色或功能。</a:t>
            </a:r>
          </a:p>
          <a:p>
            <a:pPr lvl="1">
              <a:lnSpc>
                <a:spcPct val="90000"/>
              </a:lnSpc>
            </a:pPr>
            <a:r>
              <a:rPr lang="zh-CN" altLang="en-US" sz="2200" dirty="0">
                <a:latin typeface="华文细黑" pitchFamily="2" charset="-122"/>
                <a:ea typeface="华文细黑" pitchFamily="2" charset="-122"/>
              </a:rPr>
              <a:t>加大市场细分力度，开拓新市场、新用户。</a:t>
            </a:r>
          </a:p>
          <a:p>
            <a:pPr lvl="1">
              <a:lnSpc>
                <a:spcPct val="90000"/>
              </a:lnSpc>
            </a:pPr>
            <a:r>
              <a:rPr lang="zh-CN" altLang="en-US" sz="2200" dirty="0">
                <a:latin typeface="华文细黑" pitchFamily="2" charset="-122"/>
                <a:ea typeface="华文细黑" pitchFamily="2" charset="-122"/>
              </a:rPr>
              <a:t>加大企业品牌形象的宣传力度。</a:t>
            </a:r>
          </a:p>
          <a:p>
            <a:pPr lvl="1">
              <a:lnSpc>
                <a:spcPct val="90000"/>
              </a:lnSpc>
            </a:pPr>
            <a:r>
              <a:rPr lang="zh-CN" altLang="en-US" sz="2200" dirty="0">
                <a:latin typeface="华文细黑" pitchFamily="2" charset="-122"/>
                <a:ea typeface="华文细黑" pitchFamily="2" charset="-122"/>
              </a:rPr>
              <a:t>适当采取保守的价格策略。</a:t>
            </a:r>
          </a:p>
          <a:p>
            <a:pPr>
              <a:lnSpc>
                <a:spcPct val="90000"/>
              </a:lnSpc>
            </a:pPr>
            <a:r>
              <a:rPr lang="zh-CN" altLang="en-US" sz="2800" dirty="0">
                <a:latin typeface="华文细黑" pitchFamily="2" charset="-122"/>
                <a:ea typeface="华文细黑" pitchFamily="2" charset="-122"/>
              </a:rPr>
              <a:t>常见策略，是要巩固产品销量上升趋势，并加强自身实力形象，为未来的竞争做好准备。</a:t>
            </a:r>
          </a:p>
        </p:txBody>
      </p:sp>
    </p:spTree>
    <p:extLst>
      <p:ext uri="{BB962C8B-B14F-4D97-AF65-F5344CB8AC3E}">
        <p14:creationId xmlns:p14="http://schemas.microsoft.com/office/powerpoint/2010/main" val="40425996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381000" y="228600"/>
            <a:ext cx="8540750" cy="1143000"/>
          </a:xfrm>
        </p:spPr>
        <p:txBody>
          <a:bodyPr/>
          <a:lstStyle/>
          <a:p>
            <a:r>
              <a:rPr lang="zh-CN" altLang="en-US" dirty="0"/>
              <a:t>成长期产品：电子书</a:t>
            </a:r>
          </a:p>
        </p:txBody>
      </p:sp>
      <p:pic>
        <p:nvPicPr>
          <p:cNvPr id="51203" name="Picture 3" descr="984f44f7678e6227ddc47498"/>
          <p:cNvPicPr>
            <a:picLocks noChangeAspect="1" noChangeArrowheads="1"/>
          </p:cNvPicPr>
          <p:nvPr/>
        </p:nvPicPr>
        <p:blipFill>
          <a:blip r:embed="rId2" cstate="print"/>
          <a:srcRect/>
          <a:stretch>
            <a:fillRect/>
          </a:stretch>
        </p:blipFill>
        <p:spPr bwMode="auto">
          <a:xfrm>
            <a:off x="457200" y="1828800"/>
            <a:ext cx="3814763" cy="3943350"/>
          </a:xfrm>
          <a:prstGeom prst="rect">
            <a:avLst/>
          </a:prstGeom>
          <a:noFill/>
          <a:ln w="9525">
            <a:noFill/>
            <a:miter lim="800000"/>
            <a:headEnd/>
            <a:tailEnd/>
          </a:ln>
        </p:spPr>
      </p:pic>
      <p:pic>
        <p:nvPicPr>
          <p:cNvPr id="51204" name="Picture 4" descr="f5ef5cb77ed480e6d8335a90"/>
          <p:cNvPicPr>
            <a:picLocks noChangeAspect="1" noChangeArrowheads="1"/>
          </p:cNvPicPr>
          <p:nvPr/>
        </p:nvPicPr>
        <p:blipFill>
          <a:blip r:embed="rId3" cstate="print"/>
          <a:srcRect/>
          <a:stretch>
            <a:fillRect/>
          </a:stretch>
        </p:blipFill>
        <p:spPr bwMode="auto">
          <a:xfrm>
            <a:off x="4876800" y="1371600"/>
            <a:ext cx="2846388" cy="2619375"/>
          </a:xfrm>
          <a:prstGeom prst="rect">
            <a:avLst/>
          </a:prstGeom>
          <a:noFill/>
          <a:ln w="9525">
            <a:noFill/>
            <a:miter lim="800000"/>
            <a:headEnd/>
            <a:tailEnd/>
          </a:ln>
        </p:spPr>
      </p:pic>
      <p:pic>
        <p:nvPicPr>
          <p:cNvPr id="51205" name="Picture 5" descr="200908061227427931"/>
          <p:cNvPicPr>
            <a:picLocks noChangeAspect="1" noChangeArrowheads="1"/>
          </p:cNvPicPr>
          <p:nvPr/>
        </p:nvPicPr>
        <p:blipFill>
          <a:blip r:embed="rId4" cstate="print"/>
          <a:srcRect/>
          <a:stretch>
            <a:fillRect/>
          </a:stretch>
        </p:blipFill>
        <p:spPr bwMode="auto">
          <a:xfrm>
            <a:off x="5181600" y="4267200"/>
            <a:ext cx="2295525" cy="2273300"/>
          </a:xfrm>
          <a:prstGeom prst="rect">
            <a:avLst/>
          </a:prstGeom>
          <a:noFill/>
          <a:ln w="9525">
            <a:noFill/>
            <a:miter lim="800000"/>
            <a:headEnd/>
            <a:tailEnd/>
          </a:ln>
        </p:spPr>
      </p:pic>
    </p:spTree>
    <p:extLst>
      <p:ext uri="{BB962C8B-B14F-4D97-AF65-F5344CB8AC3E}">
        <p14:creationId xmlns:p14="http://schemas.microsoft.com/office/powerpoint/2010/main" val="7658998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type="body" idx="1"/>
          </p:nvPr>
        </p:nvSpPr>
        <p:spPr>
          <a:xfrm>
            <a:off x="553081" y="1484784"/>
            <a:ext cx="8229600" cy="4525963"/>
          </a:xfrm>
        </p:spPr>
        <p:txBody>
          <a:bodyPr>
            <a:normAutofit/>
          </a:bodyPr>
          <a:lstStyle/>
          <a:p>
            <a:r>
              <a:rPr lang="zh-CN" altLang="en-US" sz="3600" dirty="0"/>
              <a:t>成熟期</a:t>
            </a:r>
            <a:r>
              <a:rPr lang="zh-CN" altLang="en-US" sz="2800" dirty="0"/>
              <a:t>：生产量大，销售量大，时间持续长，竞争最激烈。</a:t>
            </a:r>
          </a:p>
          <a:p>
            <a:endParaRPr lang="zh-CN" altLang="en-US" sz="2800" dirty="0"/>
          </a:p>
          <a:p>
            <a:r>
              <a:rPr lang="zh-CN" altLang="en-US" sz="2800" dirty="0"/>
              <a:t>市场策略：</a:t>
            </a:r>
            <a:r>
              <a:rPr lang="en-US" sz="2800" dirty="0"/>
              <a:t>——</a:t>
            </a:r>
            <a:r>
              <a:rPr lang="zh-CN" altLang="en-US" sz="2800" dirty="0">
                <a:solidFill>
                  <a:srgbClr val="FF0000"/>
                </a:solidFill>
              </a:rPr>
              <a:t>长</a:t>
            </a:r>
          </a:p>
          <a:p>
            <a:pPr lvl="1"/>
            <a:r>
              <a:rPr lang="zh-CN" altLang="en-US" sz="2200" dirty="0"/>
              <a:t>市场修正策略。（开发新市场，寻找新市场、新客户。）</a:t>
            </a:r>
          </a:p>
          <a:p>
            <a:pPr lvl="1"/>
            <a:r>
              <a:rPr lang="zh-CN" altLang="en-US" sz="2200" dirty="0"/>
              <a:t>产品改良策略。（改进产品的质量、特性或式样，提高销量。）</a:t>
            </a:r>
          </a:p>
          <a:p>
            <a:pPr lvl="1"/>
            <a:r>
              <a:rPr lang="zh-CN" altLang="en-US" sz="2200" dirty="0"/>
              <a:t>营销组合策略</a:t>
            </a:r>
          </a:p>
          <a:p>
            <a:r>
              <a:rPr lang="zh-CN" altLang="en-US" sz="2800" dirty="0"/>
              <a:t>总的来说，就是要想尽办法，施展各方面的营销策略，打一场持久战。</a:t>
            </a:r>
          </a:p>
        </p:txBody>
      </p:sp>
      <p:sp>
        <p:nvSpPr>
          <p:cNvPr id="6" name="Rectangle 2">
            <a:extLst>
              <a:ext uri="{FF2B5EF4-FFF2-40B4-BE49-F238E27FC236}">
                <a16:creationId xmlns:a16="http://schemas.microsoft.com/office/drawing/2014/main" id="{7628370A-F3FC-ED48-B6AB-0D1D46BCDC7E}"/>
              </a:ext>
            </a:extLst>
          </p:cNvPr>
          <p:cNvSpPr txBox="1">
            <a:spLocks noChangeArrowheads="1"/>
          </p:cNvSpPr>
          <p:nvPr/>
        </p:nvSpPr>
        <p:spPr>
          <a:xfrm>
            <a:off x="457200" y="275753"/>
            <a:ext cx="8229600" cy="1143000"/>
          </a:xfrm>
          <a:prstGeom prst="rect">
            <a:avLst/>
          </a:prstGeom>
        </p:spPr>
        <p:txBody>
          <a:bodyPr rIns="91440" anchor="b">
            <a:normAutofit/>
            <a:scene3d>
              <a:camera prst="orthographicFront"/>
              <a:lightRig rig="soft" dir="t">
                <a:rot lat="0" lon="0" rev="2400000"/>
              </a:lightRig>
            </a:scene3d>
            <a:sp3d>
              <a:bevelT w="19050" h="12700"/>
            </a:sp3d>
          </a:bodyPr>
          <a:lstStyle>
            <a:lvl1pPr marL="54864" algn="r" rtl="0" eaLnBrk="1" latinLnBrk="0" hangingPunct="1">
              <a:spcBef>
                <a:spcPct val="0"/>
              </a:spcBef>
              <a:buNone/>
              <a:defRPr kumimoji="0" sz="4600" kern="1200">
                <a:solidFill>
                  <a:schemeClr val="tx2">
                    <a:tint val="100000"/>
                    <a:shade val="90000"/>
                    <a:satMod val="250000"/>
                    <a:alpha val="100000"/>
                  </a:schemeClr>
                </a:solidFill>
                <a:effectLst>
                  <a:outerShdw blurRad="38100" dist="25500" dir="5400000" algn="tl" rotWithShape="0">
                    <a:srgbClr val="000000">
                      <a:satMod val="180000"/>
                      <a:alpha val="75000"/>
                    </a:srgbClr>
                  </a:outerShdw>
                </a:effectLst>
                <a:latin typeface="+mj-lt"/>
                <a:ea typeface="+mj-ea"/>
                <a:cs typeface="+mj-cs"/>
              </a:defRPr>
            </a:lvl1pPr>
            <a:extLst/>
          </a:lstStyle>
          <a:p>
            <a:r>
              <a:rPr lang="zh-CN" altLang="en-US" sz="3600" dirty="0">
                <a:solidFill>
                  <a:schemeClr val="tx1"/>
                </a:solidFill>
                <a:latin typeface="华文细黑" pitchFamily="2" charset="-122"/>
                <a:ea typeface="华文细黑" pitchFamily="2" charset="-122"/>
              </a:rPr>
              <a:t>成熟期策略</a:t>
            </a:r>
            <a:endParaRPr lang="zh-CN" altLang="en-US" sz="3600" dirty="0">
              <a:solidFill>
                <a:srgbClr val="000000"/>
              </a:solidFill>
              <a:latin typeface="华文细黑" pitchFamily="2" charset="-122"/>
              <a:ea typeface="华文细黑" pitchFamily="2" charset="-122"/>
            </a:endParaRPr>
          </a:p>
        </p:txBody>
      </p:sp>
    </p:spTree>
    <p:extLst>
      <p:ext uri="{BB962C8B-B14F-4D97-AF65-F5344CB8AC3E}">
        <p14:creationId xmlns:p14="http://schemas.microsoft.com/office/powerpoint/2010/main" val="16239725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zh-CN" altLang="en-US"/>
              <a:t>成熟期产品</a:t>
            </a:r>
            <a:r>
              <a:rPr lang="en-US" altLang="zh-CN"/>
              <a:t>——</a:t>
            </a:r>
            <a:r>
              <a:rPr lang="zh-CN" altLang="en-US"/>
              <a:t>手机的改良</a:t>
            </a:r>
          </a:p>
        </p:txBody>
      </p:sp>
      <p:pic>
        <p:nvPicPr>
          <p:cNvPr id="55299" name="Picture 3" descr="Img307331734"/>
          <p:cNvPicPr>
            <a:picLocks noGrp="1" noChangeAspect="1" noChangeArrowheads="1"/>
          </p:cNvPicPr>
          <p:nvPr>
            <p:ph sz="quarter" idx="1"/>
          </p:nvPr>
        </p:nvPicPr>
        <p:blipFill>
          <a:blip r:embed="rId2" cstate="print"/>
          <a:srcRect/>
          <a:stretch>
            <a:fillRect/>
          </a:stretch>
        </p:blipFill>
        <p:spPr>
          <a:xfrm>
            <a:off x="1570038" y="1981200"/>
            <a:ext cx="2352675" cy="1870075"/>
          </a:xfrm>
          <a:noFill/>
          <a:ln/>
        </p:spPr>
      </p:pic>
      <p:pic>
        <p:nvPicPr>
          <p:cNvPr id="55300" name="Picture 4" descr="986615"/>
          <p:cNvPicPr>
            <a:picLocks noGrp="1" noChangeAspect="1" noChangeArrowheads="1"/>
          </p:cNvPicPr>
          <p:nvPr>
            <p:ph sz="quarter" idx="2"/>
          </p:nvPr>
        </p:nvPicPr>
        <p:blipFill>
          <a:blip r:embed="rId3" cstate="print"/>
          <a:srcRect/>
          <a:stretch>
            <a:fillRect/>
          </a:stretch>
        </p:blipFill>
        <p:spPr>
          <a:xfrm>
            <a:off x="5175250" y="1981200"/>
            <a:ext cx="3149600" cy="1878013"/>
          </a:xfrm>
          <a:noFill/>
          <a:ln/>
        </p:spPr>
      </p:pic>
      <p:pic>
        <p:nvPicPr>
          <p:cNvPr id="55301" name="Picture 5" descr="20080523132843714"/>
          <p:cNvPicPr>
            <a:picLocks noGrp="1" noChangeAspect="1" noChangeArrowheads="1"/>
          </p:cNvPicPr>
          <p:nvPr>
            <p:ph sz="quarter" idx="3"/>
          </p:nvPr>
        </p:nvPicPr>
        <p:blipFill>
          <a:blip r:embed="rId4" cstate="print"/>
          <a:srcRect/>
          <a:stretch>
            <a:fillRect/>
          </a:stretch>
        </p:blipFill>
        <p:spPr>
          <a:xfrm>
            <a:off x="641350" y="3989388"/>
            <a:ext cx="3516313" cy="1876425"/>
          </a:xfrm>
          <a:noFill/>
          <a:ln/>
        </p:spPr>
      </p:pic>
      <p:pic>
        <p:nvPicPr>
          <p:cNvPr id="55302" name="Picture 6" descr="20110510005714694306"/>
          <p:cNvPicPr>
            <a:picLocks noGrp="1" noChangeAspect="1" noChangeArrowheads="1"/>
          </p:cNvPicPr>
          <p:nvPr>
            <p:ph sz="quarter" idx="4"/>
          </p:nvPr>
        </p:nvPicPr>
        <p:blipFill>
          <a:blip r:embed="rId5" cstate="print"/>
          <a:srcRect/>
          <a:stretch>
            <a:fillRect/>
          </a:stretch>
        </p:blipFill>
        <p:spPr>
          <a:xfrm>
            <a:off x="5038725" y="3989388"/>
            <a:ext cx="3421063" cy="1876425"/>
          </a:xfrm>
          <a:noFill/>
          <a:ln/>
        </p:spPr>
      </p:pic>
    </p:spTree>
    <p:extLst>
      <p:ext uri="{BB962C8B-B14F-4D97-AF65-F5344CB8AC3E}">
        <p14:creationId xmlns:p14="http://schemas.microsoft.com/office/powerpoint/2010/main" val="1172243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zh-CN" altLang="en-US"/>
              <a:t>成熟期产品</a:t>
            </a:r>
            <a:r>
              <a:rPr lang="en-US" altLang="zh-CN"/>
              <a:t>——</a:t>
            </a:r>
            <a:r>
              <a:rPr lang="zh-CN" altLang="en-US"/>
              <a:t>汽车的改良</a:t>
            </a:r>
          </a:p>
        </p:txBody>
      </p:sp>
      <p:pic>
        <p:nvPicPr>
          <p:cNvPr id="56323" name="Picture 3" descr="5-14-30-18-569305213"/>
          <p:cNvPicPr>
            <a:picLocks noGrp="1" noChangeAspect="1" noChangeArrowheads="1"/>
          </p:cNvPicPr>
          <p:nvPr>
            <p:ph sz="quarter" idx="1"/>
          </p:nvPr>
        </p:nvPicPr>
        <p:blipFill>
          <a:blip r:embed="rId2" cstate="print"/>
          <a:srcRect/>
          <a:stretch>
            <a:fillRect/>
          </a:stretch>
        </p:blipFill>
        <p:spPr>
          <a:xfrm>
            <a:off x="4759325" y="1981200"/>
            <a:ext cx="3554413" cy="1878013"/>
          </a:xfrm>
          <a:noFill/>
          <a:ln/>
        </p:spPr>
      </p:pic>
      <p:pic>
        <p:nvPicPr>
          <p:cNvPr id="56324" name="Picture 4" descr="5-14-30-20-607473611"/>
          <p:cNvPicPr>
            <a:picLocks noGrp="1" noChangeAspect="1" noChangeArrowheads="1"/>
          </p:cNvPicPr>
          <p:nvPr>
            <p:ph sz="quarter" idx="2"/>
          </p:nvPr>
        </p:nvPicPr>
        <p:blipFill>
          <a:blip r:embed="rId3" cstate="print"/>
          <a:srcRect/>
          <a:stretch>
            <a:fillRect/>
          </a:stretch>
        </p:blipFill>
        <p:spPr>
          <a:xfrm>
            <a:off x="990600" y="2030413"/>
            <a:ext cx="3306763" cy="1876425"/>
          </a:xfrm>
          <a:noFill/>
          <a:ln/>
        </p:spPr>
      </p:pic>
      <p:pic>
        <p:nvPicPr>
          <p:cNvPr id="56325" name="Picture 5" descr="145927U5X"/>
          <p:cNvPicPr>
            <a:picLocks noGrp="1" noChangeAspect="1" noChangeArrowheads="1"/>
          </p:cNvPicPr>
          <p:nvPr>
            <p:ph sz="quarter" idx="3"/>
          </p:nvPr>
        </p:nvPicPr>
        <p:blipFill>
          <a:blip r:embed="rId4" cstate="print"/>
          <a:srcRect/>
          <a:stretch>
            <a:fillRect/>
          </a:stretch>
        </p:blipFill>
        <p:spPr>
          <a:xfrm>
            <a:off x="304800" y="3989388"/>
            <a:ext cx="4189413" cy="1876425"/>
          </a:xfrm>
          <a:noFill/>
          <a:ln/>
        </p:spPr>
      </p:pic>
      <p:pic>
        <p:nvPicPr>
          <p:cNvPr id="56326" name="Picture 6" descr="145930kbt"/>
          <p:cNvPicPr>
            <a:picLocks noGrp="1" noChangeAspect="1" noChangeArrowheads="1"/>
          </p:cNvPicPr>
          <p:nvPr>
            <p:ph sz="quarter" idx="4"/>
          </p:nvPr>
        </p:nvPicPr>
        <p:blipFill>
          <a:blip r:embed="rId5" cstate="print"/>
          <a:srcRect/>
          <a:stretch>
            <a:fillRect/>
          </a:stretch>
        </p:blipFill>
        <p:spPr>
          <a:xfrm>
            <a:off x="4660900" y="3989388"/>
            <a:ext cx="4178300" cy="1876425"/>
          </a:xfrm>
          <a:noFill/>
          <a:ln/>
        </p:spPr>
      </p:pic>
    </p:spTree>
    <p:extLst>
      <p:ext uri="{BB962C8B-B14F-4D97-AF65-F5344CB8AC3E}">
        <p14:creationId xmlns:p14="http://schemas.microsoft.com/office/powerpoint/2010/main" val="24862270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type="body" idx="1"/>
          </p:nvPr>
        </p:nvSpPr>
        <p:spPr>
          <a:xfrm>
            <a:off x="457200" y="1371600"/>
            <a:ext cx="8229600" cy="4525963"/>
          </a:xfrm>
        </p:spPr>
        <p:txBody>
          <a:bodyPr/>
          <a:lstStyle/>
          <a:p>
            <a:r>
              <a:rPr lang="zh-CN" altLang="en-US" sz="3600" dirty="0"/>
              <a:t>衰退期</a:t>
            </a:r>
            <a:r>
              <a:rPr lang="zh-CN" altLang="en-US" sz="2800" dirty="0"/>
              <a:t>：商品逐渐老化，转入商品更新换代的时期 。销售成本增加，利润减少，竞争减少。</a:t>
            </a:r>
          </a:p>
          <a:p>
            <a:endParaRPr lang="en-US" sz="2800" dirty="0"/>
          </a:p>
          <a:p>
            <a:r>
              <a:rPr lang="zh-CN" altLang="en-US" sz="2800" dirty="0"/>
              <a:t>市场策略</a:t>
            </a:r>
            <a:r>
              <a:rPr lang="en-US" sz="2800" dirty="0"/>
              <a:t>——</a:t>
            </a:r>
            <a:r>
              <a:rPr lang="zh-CN" altLang="en-US" sz="2800" dirty="0">
                <a:solidFill>
                  <a:srgbClr val="FF0000"/>
                </a:solidFill>
              </a:rPr>
              <a:t>转</a:t>
            </a:r>
          </a:p>
          <a:p>
            <a:pPr lvl="1"/>
            <a:r>
              <a:rPr lang="zh-CN" altLang="en-US" sz="2200" dirty="0"/>
              <a:t>维持。维持现有产品销售并在各方面做出改进，利用竞争者减少的机会，促进销售。</a:t>
            </a:r>
          </a:p>
          <a:p>
            <a:pPr lvl="1"/>
            <a:r>
              <a:rPr lang="zh-CN" altLang="en-US" sz="2200" dirty="0"/>
              <a:t>缩减。停止市场扩张，将目标停留在目标市场或少数几个细分市场。</a:t>
            </a:r>
          </a:p>
          <a:p>
            <a:pPr lvl="1"/>
            <a:r>
              <a:rPr lang="zh-CN" altLang="en-US" sz="2200" dirty="0"/>
              <a:t>撤退。考虑转入新产品市场，原有产品及资源的转让和出卖，保留原有产品的售后服务资源。</a:t>
            </a:r>
          </a:p>
        </p:txBody>
      </p:sp>
      <p:sp>
        <p:nvSpPr>
          <p:cNvPr id="6" name="Rectangle 2">
            <a:extLst>
              <a:ext uri="{FF2B5EF4-FFF2-40B4-BE49-F238E27FC236}">
                <a16:creationId xmlns:a16="http://schemas.microsoft.com/office/drawing/2014/main" id="{3256641B-E8AB-5549-BC9C-7E0649E26F13}"/>
              </a:ext>
            </a:extLst>
          </p:cNvPr>
          <p:cNvSpPr txBox="1">
            <a:spLocks noChangeArrowheads="1"/>
          </p:cNvSpPr>
          <p:nvPr/>
        </p:nvSpPr>
        <p:spPr>
          <a:xfrm>
            <a:off x="457200" y="275753"/>
            <a:ext cx="8229600" cy="1143000"/>
          </a:xfrm>
          <a:prstGeom prst="rect">
            <a:avLst/>
          </a:prstGeom>
        </p:spPr>
        <p:txBody>
          <a:bodyPr rIns="91440" anchor="b">
            <a:normAutofit/>
            <a:scene3d>
              <a:camera prst="orthographicFront"/>
              <a:lightRig rig="soft" dir="t">
                <a:rot lat="0" lon="0" rev="2400000"/>
              </a:lightRig>
            </a:scene3d>
            <a:sp3d>
              <a:bevelT w="19050" h="12700"/>
            </a:sp3d>
          </a:bodyPr>
          <a:lstStyle>
            <a:lvl1pPr marL="54864" algn="r" rtl="0" eaLnBrk="1" latinLnBrk="0" hangingPunct="1">
              <a:spcBef>
                <a:spcPct val="0"/>
              </a:spcBef>
              <a:buNone/>
              <a:defRPr kumimoji="0" sz="4600" kern="1200">
                <a:solidFill>
                  <a:schemeClr val="tx2">
                    <a:tint val="100000"/>
                    <a:shade val="90000"/>
                    <a:satMod val="250000"/>
                    <a:alpha val="100000"/>
                  </a:schemeClr>
                </a:solidFill>
                <a:effectLst>
                  <a:outerShdw blurRad="38100" dist="25500" dir="5400000" algn="tl" rotWithShape="0">
                    <a:srgbClr val="000000">
                      <a:satMod val="180000"/>
                      <a:alpha val="75000"/>
                    </a:srgbClr>
                  </a:outerShdw>
                </a:effectLst>
                <a:latin typeface="+mj-lt"/>
                <a:ea typeface="+mj-ea"/>
                <a:cs typeface="+mj-cs"/>
              </a:defRPr>
            </a:lvl1pPr>
            <a:extLst/>
          </a:lstStyle>
          <a:p>
            <a:r>
              <a:rPr lang="zh-CN" altLang="en-US" sz="3600" dirty="0">
                <a:solidFill>
                  <a:schemeClr val="tx1"/>
                </a:solidFill>
                <a:latin typeface="华文细黑" pitchFamily="2" charset="-122"/>
                <a:ea typeface="华文细黑" pitchFamily="2" charset="-122"/>
              </a:rPr>
              <a:t>衰退期策略</a:t>
            </a:r>
            <a:endParaRPr lang="zh-CN" altLang="en-US" sz="3600" dirty="0">
              <a:solidFill>
                <a:srgbClr val="000000"/>
              </a:solidFill>
              <a:latin typeface="华文细黑" pitchFamily="2" charset="-122"/>
              <a:ea typeface="华文细黑" pitchFamily="2" charset="-122"/>
            </a:endParaRPr>
          </a:p>
        </p:txBody>
      </p:sp>
    </p:spTree>
    <p:extLst>
      <p:ext uri="{BB962C8B-B14F-4D97-AF65-F5344CB8AC3E}">
        <p14:creationId xmlns:p14="http://schemas.microsoft.com/office/powerpoint/2010/main" val="38457076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zh-CN" altLang="en-US"/>
              <a:t>衰退期产品：胶片相机</a:t>
            </a:r>
          </a:p>
        </p:txBody>
      </p:sp>
      <p:pic>
        <p:nvPicPr>
          <p:cNvPr id="58371" name="Picture 3" descr="20091207_e4b3bd99a645a57accb2VO0YzvTpe0bP"/>
          <p:cNvPicPr>
            <a:picLocks noChangeAspect="1" noChangeArrowheads="1"/>
          </p:cNvPicPr>
          <p:nvPr/>
        </p:nvPicPr>
        <p:blipFill>
          <a:blip r:embed="rId2" cstate="print"/>
          <a:srcRect/>
          <a:stretch>
            <a:fillRect/>
          </a:stretch>
        </p:blipFill>
        <p:spPr bwMode="auto">
          <a:xfrm>
            <a:off x="814388" y="2024063"/>
            <a:ext cx="4916487" cy="3281362"/>
          </a:xfrm>
          <a:prstGeom prst="rect">
            <a:avLst/>
          </a:prstGeom>
          <a:noFill/>
          <a:ln w="9525">
            <a:noFill/>
            <a:miter lim="800000"/>
            <a:headEnd/>
            <a:tailEnd/>
          </a:ln>
        </p:spPr>
      </p:pic>
      <p:pic>
        <p:nvPicPr>
          <p:cNvPr id="58372" name="Picture 4" descr="2193378_0"/>
          <p:cNvPicPr>
            <a:picLocks noChangeAspect="1" noChangeArrowheads="1"/>
          </p:cNvPicPr>
          <p:nvPr/>
        </p:nvPicPr>
        <p:blipFill>
          <a:blip r:embed="rId3" cstate="print"/>
          <a:srcRect/>
          <a:stretch>
            <a:fillRect/>
          </a:stretch>
        </p:blipFill>
        <p:spPr bwMode="auto">
          <a:xfrm>
            <a:off x="6176963" y="3275013"/>
            <a:ext cx="2409825" cy="1927225"/>
          </a:xfrm>
          <a:prstGeom prst="rect">
            <a:avLst/>
          </a:prstGeom>
          <a:noFill/>
          <a:ln w="9525">
            <a:noFill/>
            <a:miter lim="800000"/>
            <a:headEnd/>
            <a:tailEnd/>
          </a:ln>
        </p:spPr>
      </p:pic>
    </p:spTree>
    <p:extLst>
      <p:ext uri="{BB962C8B-B14F-4D97-AF65-F5344CB8AC3E}">
        <p14:creationId xmlns:p14="http://schemas.microsoft.com/office/powerpoint/2010/main" val="42922000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zh-CN" altLang="en-US"/>
              <a:t>衰退期产品：显像管电视</a:t>
            </a:r>
          </a:p>
        </p:txBody>
      </p:sp>
      <p:pic>
        <p:nvPicPr>
          <p:cNvPr id="59395" name="Picture 3" descr="2jq5w4785vx2"/>
          <p:cNvPicPr>
            <a:picLocks noChangeAspect="1" noChangeArrowheads="1"/>
          </p:cNvPicPr>
          <p:nvPr/>
        </p:nvPicPr>
        <p:blipFill>
          <a:blip r:embed="rId2" cstate="print"/>
          <a:srcRect/>
          <a:stretch>
            <a:fillRect/>
          </a:stretch>
        </p:blipFill>
        <p:spPr bwMode="auto">
          <a:xfrm>
            <a:off x="3898900" y="4133850"/>
            <a:ext cx="4421188" cy="2463800"/>
          </a:xfrm>
          <a:prstGeom prst="rect">
            <a:avLst/>
          </a:prstGeom>
          <a:noFill/>
          <a:ln w="9525">
            <a:noFill/>
            <a:miter lim="800000"/>
            <a:headEnd/>
            <a:tailEnd/>
          </a:ln>
        </p:spPr>
      </p:pic>
      <p:pic>
        <p:nvPicPr>
          <p:cNvPr id="59396" name="Picture 4" descr="ae6c8e82a9c5038ff703a63b"/>
          <p:cNvPicPr>
            <a:picLocks noChangeAspect="1" noChangeArrowheads="1"/>
          </p:cNvPicPr>
          <p:nvPr/>
        </p:nvPicPr>
        <p:blipFill>
          <a:blip r:embed="rId3" cstate="print"/>
          <a:srcRect/>
          <a:stretch>
            <a:fillRect/>
          </a:stretch>
        </p:blipFill>
        <p:spPr bwMode="auto">
          <a:xfrm>
            <a:off x="4419600" y="1570038"/>
            <a:ext cx="3503613" cy="2773362"/>
          </a:xfrm>
          <a:prstGeom prst="rect">
            <a:avLst/>
          </a:prstGeom>
          <a:noFill/>
          <a:ln w="9525">
            <a:noFill/>
            <a:miter lim="800000"/>
            <a:headEnd/>
            <a:tailEnd/>
          </a:ln>
        </p:spPr>
      </p:pic>
      <p:pic>
        <p:nvPicPr>
          <p:cNvPr id="59397" name="Picture 5" descr="http_imgload"/>
          <p:cNvPicPr>
            <a:picLocks noChangeAspect="1" noChangeArrowheads="1"/>
          </p:cNvPicPr>
          <p:nvPr/>
        </p:nvPicPr>
        <p:blipFill>
          <a:blip r:embed="rId4" cstate="print"/>
          <a:srcRect/>
          <a:stretch>
            <a:fillRect/>
          </a:stretch>
        </p:blipFill>
        <p:spPr bwMode="auto">
          <a:xfrm>
            <a:off x="523875" y="2187575"/>
            <a:ext cx="3305175" cy="2794000"/>
          </a:xfrm>
          <a:prstGeom prst="rect">
            <a:avLst/>
          </a:prstGeom>
          <a:noFill/>
          <a:ln w="9525">
            <a:noFill/>
            <a:miter lim="800000"/>
            <a:headEnd/>
            <a:tailEnd/>
          </a:ln>
        </p:spPr>
      </p:pic>
    </p:spTree>
    <p:extLst>
      <p:ext uri="{BB962C8B-B14F-4D97-AF65-F5344CB8AC3E}">
        <p14:creationId xmlns:p14="http://schemas.microsoft.com/office/powerpoint/2010/main" val="10225949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沉稳">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沉稳">
      <a:majorFont>
        <a:latin typeface="Rockwell"/>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沉稳">
      <a:fillStyleLst>
        <a:solidFill>
          <a:schemeClr val="phClr"/>
        </a:solidFill>
        <a:gradFill rotWithShape="1">
          <a:gsLst>
            <a:gs pos="0">
              <a:schemeClr val="phClr">
                <a:tint val="70000"/>
                <a:satMod val="180000"/>
              </a:schemeClr>
            </a:gs>
            <a:gs pos="62000">
              <a:schemeClr val="phClr">
                <a:tint val="30000"/>
                <a:satMod val="180000"/>
              </a:schemeClr>
            </a:gs>
            <a:gs pos="100000">
              <a:schemeClr val="phClr">
                <a:tint val="22000"/>
                <a:satMod val="180000"/>
              </a:schemeClr>
            </a:gs>
          </a:gsLst>
          <a:lin ang="16200000" scaled="0"/>
        </a:gradFill>
        <a:gradFill rotWithShape="1">
          <a:gsLst>
            <a:gs pos="0">
              <a:schemeClr val="phClr">
                <a:shade val="58000"/>
                <a:satMod val="150000"/>
              </a:schemeClr>
            </a:gs>
            <a:gs pos="72000">
              <a:schemeClr val="phClr">
                <a:tint val="90000"/>
                <a:satMod val="135000"/>
              </a:schemeClr>
            </a:gs>
            <a:gs pos="100000">
              <a:schemeClr val="phClr">
                <a:tint val="80000"/>
                <a:satMod val="155000"/>
              </a:schemeClr>
            </a:gs>
          </a:gsLst>
          <a:lin ang="16200000" scaled="0"/>
        </a:gradFill>
      </a:fillStyleLst>
      <a:lnStyleLst>
        <a:ln w="9525" cap="flat" cmpd="sng" algn="ctr">
          <a:solidFill>
            <a:schemeClr val="phClr">
              <a:shade val="80000"/>
            </a:schemeClr>
          </a:solidFill>
          <a:prstDash val="solid"/>
        </a:ln>
        <a:ln w="381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a:effectStyle>
      </a:effectStyleLst>
      <a:bgFillStyleLst>
        <a:solidFill>
          <a:schemeClr val="phClr"/>
        </a:solidFill>
        <a:gradFill rotWithShape="1">
          <a:gsLst>
            <a:gs pos="0">
              <a:schemeClr val="phClr">
                <a:tint val="75000"/>
                <a:satMod val="400000"/>
              </a:schemeClr>
            </a:gs>
            <a:gs pos="20000">
              <a:schemeClr val="phClr">
                <a:tint val="80000"/>
                <a:satMod val="355000"/>
              </a:schemeClr>
            </a:gs>
            <a:gs pos="100000">
              <a:schemeClr val="phClr">
                <a:tint val="95000"/>
                <a:shade val="55000"/>
                <a:satMod val="355000"/>
              </a:schemeClr>
            </a:gs>
          </a:gsLst>
          <a:path path="circle">
            <a:fillToRect l="67500" t="35000" r="32500" b="65000"/>
          </a:path>
        </a:gradFill>
        <a:blipFill>
          <a:blip xmlns:r="http://schemas.openxmlformats.org/officeDocument/2006/relationships" r:embed="rId1">
            <a:duotone>
              <a:schemeClr val="phClr">
                <a:shade val="30000"/>
                <a:satMod val="120000"/>
              </a:schemeClr>
              <a:schemeClr val="phClr">
                <a:tint val="70000"/>
                <a:satMod val="250000"/>
              </a:schemeClr>
            </a:duotone>
          </a:blip>
          <a:tile tx="0" ty="0" sx="50000" sy="50000" flip="none" algn="t"/>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Foundry</Template>
  <TotalTime>1275</TotalTime>
  <Words>4428</Words>
  <Application>Microsoft Macintosh PowerPoint</Application>
  <PresentationFormat>全屏显示(4:3)</PresentationFormat>
  <Paragraphs>674</Paragraphs>
  <Slides>78</Slides>
  <Notes>23</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78</vt:i4>
      </vt:variant>
    </vt:vector>
  </HeadingPairs>
  <TitlesOfParts>
    <vt:vector size="94" baseType="lpstr">
      <vt:lpstr>华文细黑</vt:lpstr>
      <vt:lpstr>楷体</vt:lpstr>
      <vt:lpstr>隶书</vt:lpstr>
      <vt:lpstr>宋体</vt:lpstr>
      <vt:lpstr>Gulim</vt:lpstr>
      <vt:lpstr>Arial</vt:lpstr>
      <vt:lpstr>Arial Black</vt:lpstr>
      <vt:lpstr>Calibri</vt:lpstr>
      <vt:lpstr>Monotype Sorts</vt:lpstr>
      <vt:lpstr>Rockwell</vt:lpstr>
      <vt:lpstr>Times New Roman</vt:lpstr>
      <vt:lpstr>Wingdings</vt:lpstr>
      <vt:lpstr>Wingdings 2</vt:lpstr>
      <vt:lpstr>沉稳</vt:lpstr>
      <vt:lpstr>文档</vt:lpstr>
      <vt:lpstr>绘图</vt:lpstr>
      <vt:lpstr>战略管理2</vt:lpstr>
      <vt:lpstr>企业增长是全世界企业首脑所关注的问题</vt:lpstr>
      <vt:lpstr>为什么增长对公司来讲十分重要? </vt:lpstr>
      <vt:lpstr>企业首先需要制定增长策略，这个策略要能够回答两个关键问题</vt:lpstr>
      <vt:lpstr>在此过程中还需要作出许多艰难的选择...</vt:lpstr>
      <vt:lpstr>PowerPoint 演示文稿</vt:lpstr>
      <vt:lpstr>PowerPoint 演示文稿</vt:lpstr>
      <vt:lpstr>公司发展战略的思考维度</vt:lpstr>
      <vt:lpstr>PowerPoint 演示文稿</vt:lpstr>
      <vt:lpstr>发展战略的分类</vt:lpstr>
      <vt:lpstr>专业化战略分类</vt:lpstr>
      <vt:lpstr>市场渗透</vt:lpstr>
      <vt:lpstr>市场开发</vt:lpstr>
      <vt:lpstr>产品开发</vt:lpstr>
      <vt:lpstr>一体化战略</vt:lpstr>
      <vt:lpstr>前向一体化</vt:lpstr>
      <vt:lpstr>后向一体化</vt:lpstr>
      <vt:lpstr>PowerPoint 演示文稿</vt:lpstr>
      <vt:lpstr>PowerPoint 演示文稿</vt:lpstr>
      <vt:lpstr>在下述情况下采用前向一体化战略比较有效</vt:lpstr>
      <vt:lpstr>在下述情况下采用后向一体化战略比较有效</vt:lpstr>
      <vt:lpstr>横向一体化</vt:lpstr>
      <vt:lpstr>在下述情况下采用横向一体化战略比较有效</vt:lpstr>
      <vt:lpstr>横向一体化战略的优势和弱点</vt:lpstr>
      <vt:lpstr>专业化战略的优势和劣势</vt:lpstr>
      <vt:lpstr>PowerPoint 演示文稿</vt:lpstr>
      <vt:lpstr>多元化战略的定义</vt:lpstr>
      <vt:lpstr>波士顿矩阵</vt:lpstr>
      <vt:lpstr>PowerPoint 演示文稿</vt:lpstr>
      <vt:lpstr>PowerPoint 演示文稿</vt:lpstr>
      <vt:lpstr>PowerPoint 演示文稿</vt:lpstr>
      <vt:lpstr>不同经营单位的特点及应采取的战略</vt:lpstr>
      <vt:lpstr>PowerPoint 演示文稿</vt:lpstr>
      <vt:lpstr>多元化战略的分类</vt:lpstr>
      <vt:lpstr>选择多元化战略的条件</vt:lpstr>
      <vt:lpstr>多元化战略的动机</vt:lpstr>
      <vt:lpstr>PowerPoint 演示文稿</vt:lpstr>
      <vt:lpstr>PowerPoint 演示文稿</vt:lpstr>
      <vt:lpstr>PowerPoint 演示文稿</vt:lpstr>
      <vt:lpstr>多元化战略的优势</vt:lpstr>
      <vt:lpstr>多元化战略的优势</vt:lpstr>
      <vt:lpstr>劣势</vt:lpstr>
      <vt:lpstr> 发展战略的方式选择</vt:lpstr>
      <vt:lpstr> 自我发展</vt:lpstr>
      <vt:lpstr>自我发展的优势和风险</vt:lpstr>
      <vt:lpstr>战略联盟的定义及分类</vt:lpstr>
      <vt:lpstr>适合战略联盟的情形</vt:lpstr>
      <vt:lpstr>PowerPoint 演示文稿</vt:lpstr>
      <vt:lpstr>战略联盟</vt:lpstr>
      <vt:lpstr>战略联盟的优势和劣势</vt:lpstr>
      <vt:lpstr>PowerPoint 演示文稿</vt:lpstr>
      <vt:lpstr>并购战略的优势</vt:lpstr>
      <vt:lpstr>并购面临的问题</vt:lpstr>
      <vt:lpstr>重组战略</vt:lpstr>
      <vt:lpstr>重组战略及其结果</vt:lpstr>
      <vt:lpstr>国际化战略的动因</vt:lpstr>
      <vt:lpstr>国际化战略的条件和分类</vt:lpstr>
      <vt:lpstr>实施国际化战略的途径</vt:lpstr>
      <vt:lpstr>竞争战略及选择</vt:lpstr>
      <vt:lpstr>企业战略往往分为三个层次</vt:lpstr>
      <vt:lpstr>基本竞争战略</vt:lpstr>
      <vt:lpstr>三种基本竞争战略的比较</vt:lpstr>
      <vt:lpstr>PowerPoint 演示文稿</vt:lpstr>
      <vt:lpstr>PowerPoint 演示文稿</vt:lpstr>
      <vt:lpstr>PowerPoint 演示文稿</vt:lpstr>
      <vt:lpstr>PowerPoint 演示文稿</vt:lpstr>
      <vt:lpstr>PowerPoint 演示文稿</vt:lpstr>
      <vt:lpstr>引入期市场策略</vt:lpstr>
      <vt:lpstr>引入期产品：电动汽车</vt:lpstr>
      <vt:lpstr>引入期产品：万用拼词包装纸</vt:lpstr>
      <vt:lpstr>成长期策略</vt:lpstr>
      <vt:lpstr>成长期产品：电子书</vt:lpstr>
      <vt:lpstr>PowerPoint 演示文稿</vt:lpstr>
      <vt:lpstr>成熟期产品——手机的改良</vt:lpstr>
      <vt:lpstr>成熟期产品——汽车的改良</vt:lpstr>
      <vt:lpstr>PowerPoint 演示文稿</vt:lpstr>
      <vt:lpstr>衰退期产品：胶片相机</vt:lpstr>
      <vt:lpstr>衰退期产品：显像管电视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战略管理2</dc:title>
  <dc:creator>Julia</dc:creator>
  <cp:lastModifiedBy>zhongjg@ruc.edu.cn</cp:lastModifiedBy>
  <cp:revision>36</cp:revision>
  <dcterms:created xsi:type="dcterms:W3CDTF">2011-03-12T01:12:15Z</dcterms:created>
  <dcterms:modified xsi:type="dcterms:W3CDTF">2019-10-19T12:55:44Z</dcterms:modified>
</cp:coreProperties>
</file>